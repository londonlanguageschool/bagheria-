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1. OPENING (2 min)
LESSON 2 (60 min). Aims: kitchen equipment, there is / there are, this / these, prepositions of place. Click 1 and 2: the problem of not knowing the word — today we fix it. (2 min)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2. REVISION · Lesson 1 (5 min)
REVISION (5 min). VARIATION: reverse the obvious — answers first, students make the question. Many questions are possible; accept any correct one. Click 1: example questions. Quick extra: teacher mimes 3 kitchen calls (Hot! Behind! Sharp!).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3. VOCABULARY · Equipment (8 min)
VOCABULARY (8 min). Cover the words with your hand / say the number and they say the word. Then teach orally (no picture): tongs (pinze), peeler (pelapatate), grater (grattugia), sieve (colino), chopping board (tagliere), frying pan (padella), tray (teglia). Point at real objects if possible.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4. VOCABULARY · Verbs with equipment (6 min)
VOCABULARY (6 min). VARIATION: vocabulary branching — each object gets its verb. Click 1. Then quick-fire: teacher says a verb (weigh!), students name the equipment. Extra verbs: drain pasta in a colander, turn a steak with tongs, peel with a peeler, grate with a grater.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5. GRAMMAR · there is / are · prepositions (6 min)
GRAMMAR (6 min). Demonstrate prepositions with a pen and a cup. Practise: Where's the salt? It's on the shelf above the hob.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6. GRAMMAR · Practice (5 min)
GRAMMAR PRACTICE (5 min). Individually, then compare. Click 1. Fast finishers: write 2 sentences about the classroom.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7. READING · A message (6 min)
READING (6 min). VARIATION: prediction — before reading, ask: What's in a new kitchen? Then read, decide T/F, correct the false ones with there is / there are. Click 1.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8. SPEAKING · Information gap (10 min)
INFORMATION GAP (12 min). VARIATION: curiosity gap — B really needs the information. Give B a blank piece of paper. Feedback: 3 good sentences, 3 corrections.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9. GAME · equipment + prepositions (8 min)
GAME (8 min). Use real kitchen objects or the icons slide on screen (they point at the screen). Speed up each round.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10. Exit · what can you remember? (3 min)
EXIT (3 min). Homework sheet L2 in the portal.
Can-dos: I can name kitchen equipment. · I can use there is / there are and this / these. · I can say where things are: next to, under, between…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11. Review · what did you do today? (1 min)
TODAY YOU… (1 min). Read each line (one per click: the tick appears). Students show thumbs up / middle / down: can they do it now? Note any thumbs down for the next lesson's recap.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12. OPTIONAL EXTENSIONS
The lesson ended on the previous slide ("Today you…"). Use the next slides only if there is time left, or keep them for a quick start next lesson.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13. SPEAKING · Choices (6 min)
FORCED CHOICE (6 min). VARIATION: forced choice + 'forbidden easy answer' (no 'both', no 'I don't know'). Follow up: Why? Really? Which is worse?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14. VOCABULARY · Thinking (5 min)
ODD ONE OUT (5 min). VARIATION: categorise + justify. Accept any answer with a good reason (e.g. 'knife – you hold the food, not the tool'). Click 1: suggested answers only.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15. Game · describing (8 min)
EXTRA (8 min). VARIATION: constraint challenge. Useful language: It's made of… / You use it for + -ing / It's similar to…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jpe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jpe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jpe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jpe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jpe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jpe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jpe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jpe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jpe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jpe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jpe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jpe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jpe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jpe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image" Target="../media/image-1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jpe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image" Target="../media/image-15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rs_1"/>
          <p:cNvSpPr/>
          <p:nvPr/>
        </p:nvSpPr>
        <p:spPr>
          <a:xfrm>
            <a:off x="411480" y="292608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00" kern="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Kitchen English · Lesson 2 of 10</a:t>
            </a:r>
            <a:endParaRPr lang="en-US" sz="1000" dirty="0"/>
          </a:p>
        </p:txBody>
      </p:sp>
      <p:sp>
        <p:nvSpPr>
          <p:cNvPr id="4" name="bd_2"/>
          <p:cNvSpPr/>
          <p:nvPr/>
        </p:nvSpPr>
        <p:spPr>
          <a:xfrm>
            <a:off x="365760" y="640080"/>
            <a:ext cx="1051560" cy="1051560"/>
          </a:xfrm>
          <a:prstGeom prst="ellipse">
            <a:avLst/>
          </a:prstGeom>
          <a:solidFill>
            <a:srgbClr val="E8508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L2</a:t>
            </a:r>
            <a:endParaRPr lang="en-US" sz="2800" dirty="0"/>
          </a:p>
        </p:txBody>
      </p:sp>
      <p:pic>
        <p:nvPicPr>
          <p:cNvPr id="5" name="bry_3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63040" y="713232"/>
            <a:ext cx="3566160" cy="868680"/>
          </a:xfrm>
          <a:prstGeom prst="rect">
            <a:avLst/>
          </a:prstGeom>
        </p:spPr>
      </p:pic>
      <p:sp>
        <p:nvSpPr>
          <p:cNvPr id="6" name="t_4"/>
          <p:cNvSpPr/>
          <p:nvPr/>
        </p:nvSpPr>
        <p:spPr>
          <a:xfrm>
            <a:off x="1645920" y="731520"/>
            <a:ext cx="3108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Kitchen equipment</a:t>
            </a:r>
            <a:endParaRPr lang="en-US" sz="1900" dirty="0"/>
          </a:p>
        </p:txBody>
      </p:sp>
      <p:pic>
        <p:nvPicPr>
          <p:cNvPr id="7" name="brp_5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54480" y="1517904"/>
            <a:ext cx="3017520" cy="384048"/>
          </a:xfrm>
          <a:prstGeom prst="rect">
            <a:avLst/>
          </a:prstGeom>
        </p:spPr>
      </p:pic>
      <p:sp>
        <p:nvSpPr>
          <p:cNvPr id="8" name="st_6"/>
          <p:cNvSpPr/>
          <p:nvPr/>
        </p:nvSpPr>
        <p:spPr>
          <a:xfrm>
            <a:off x="1691640" y="1517904"/>
            <a:ext cx="2834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equipment · there is / there are · where is it?</a:t>
            </a:r>
            <a:endParaRPr lang="en-US" sz="1050" dirty="0"/>
          </a:p>
        </p:txBody>
      </p:sp>
      <p:sp>
        <p:nvSpPr>
          <p:cNvPr id="9" name="cd_7"/>
          <p:cNvSpPr/>
          <p:nvPr/>
        </p:nvSpPr>
        <p:spPr>
          <a:xfrm>
            <a:off x="365760" y="2148840"/>
            <a:ext cx="4206240" cy="1551432"/>
          </a:xfrm>
          <a:prstGeom prst="roundRect">
            <a:avLst>
              <a:gd name="adj" fmla="val 8251"/>
            </a:avLst>
          </a:prstGeom>
          <a:solidFill>
            <a:srgbClr val="E3F1FD"/>
          </a:solidFill>
          <a:ln w="28575">
            <a:solidFill>
              <a:srgbClr val="A9D3F5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0" name="ii_8"/>
          <p:cNvSpPr/>
          <p:nvPr/>
        </p:nvSpPr>
        <p:spPr>
          <a:xfrm>
            <a:off x="457200" y="22219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🎯</a:t>
            </a:r>
            <a:endParaRPr lang="en-US" sz="2200" dirty="0"/>
          </a:p>
        </p:txBody>
      </p:sp>
      <p:sp>
        <p:nvSpPr>
          <p:cNvPr id="11" name="ih_9"/>
          <p:cNvSpPr/>
          <p:nvPr/>
        </p:nvSpPr>
        <p:spPr>
          <a:xfrm>
            <a:off x="932688" y="224028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Today you're going to…</a:t>
            </a:r>
            <a:endParaRPr lang="en-US" sz="1600" dirty="0"/>
          </a:p>
        </p:txBody>
      </p:sp>
      <p:sp>
        <p:nvSpPr>
          <p:cNvPr id="12" name="il_10"/>
          <p:cNvSpPr/>
          <p:nvPr/>
        </p:nvSpPr>
        <p:spPr>
          <a:xfrm>
            <a:off x="932688" y="2642616"/>
            <a:ext cx="3547872" cy="9845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spcAft>
                <a:spcPts val="200"/>
              </a:spcAft>
              <a:buNone/>
            </a:pPr>
            <a:r>
              <a:rPr lang="en-US" sz="12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🔑  learn equipment</a:t>
            </a:r>
            <a:endParaRPr lang="en-US" sz="1250" dirty="0"/>
          </a:p>
          <a:p>
            <a:pPr indent="0" marL="0">
              <a:spcBef>
                <a:spcPts val="600"/>
              </a:spcBef>
              <a:spcAft>
                <a:spcPts val="200"/>
              </a:spcAft>
              <a:buNone/>
            </a:pPr>
            <a:r>
              <a:rPr lang="en-US" sz="12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🧩  practise there is / there are</a:t>
            </a:r>
            <a:endParaRPr lang="en-US" sz="1250" dirty="0"/>
          </a:p>
          <a:p>
            <a:pPr indent="0" marL="0">
              <a:spcBef>
                <a:spcPts val="600"/>
              </a:spcBef>
              <a:spcAft>
                <a:spcPts val="200"/>
              </a:spcAft>
              <a:buNone/>
            </a:pPr>
            <a:r>
              <a:rPr lang="en-US" sz="12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💬  practise speaking: where is it?</a:t>
            </a:r>
            <a:endParaRPr lang="en-US" sz="1250" dirty="0"/>
          </a:p>
        </p:txBody>
      </p:sp>
      <p:sp>
        <p:nvSpPr>
          <p:cNvPr id="13" name="R1_ex11"/>
          <p:cNvSpPr/>
          <p:nvPr/>
        </p:nvSpPr>
        <p:spPr>
          <a:xfrm>
            <a:off x="365760" y="3950208"/>
            <a:ext cx="4206240" cy="603504"/>
          </a:xfrm>
          <a:prstGeom prst="roundRect">
            <a:avLst>
              <a:gd name="adj" fmla="val 18182"/>
            </a:avLst>
          </a:prstGeom>
          <a:solidFill>
            <a:srgbClr val="FFF6CC"/>
          </a:solidFill>
          <a:ln w="28575">
            <a:solidFill>
              <a:srgbClr val="FFE07A"/>
            </a:solidFill>
          </a:ln>
        </p:spPr>
        <p:txBody>
          <a:bodyPr wrap="square" lIns="152400" tIns="25400" rIns="152400" bIns="2540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E8508F"/>
                </a:solidFill>
                <a:latin typeface="Segoe UI Black" pitchFamily="34" charset="0"/>
                <a:ea typeface="Segoe UI Black" pitchFamily="34" charset="-122"/>
                <a:cs typeface="Segoe UI Black" pitchFamily="34" charset="-120"/>
              </a:rPr>
              <a:t>EXAMPLE  </a:t>
            </a:r>
            <a:pPr indent="0" marL="0">
              <a:buNone/>
            </a:pPr>
            <a:r>
              <a:rPr lang="en-US" sz="130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The ladle, Chef? Here you are.</a:t>
            </a:r>
            <a:endParaRPr lang="en-US" sz="1000" dirty="0"/>
          </a:p>
        </p:txBody>
      </p:sp>
      <p:sp>
        <p:nvSpPr>
          <p:cNvPr id="14" name="pf_12"/>
          <p:cNvSpPr/>
          <p:nvPr/>
        </p:nvSpPr>
        <p:spPr>
          <a:xfrm rot="90000">
            <a:off x="4846320" y="777240"/>
            <a:ext cx="3977640" cy="3200400"/>
          </a:xfrm>
          <a:prstGeom prst="roundRect">
            <a:avLst>
              <a:gd name="adj" fmla="val 485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15" name="ph_13" descr="/home/claude/lls-course/v2/cache/chef_ic_saucepan_png_935x748_31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90000">
            <a:off x="4892040" y="822960"/>
            <a:ext cx="3886200" cy="3108960"/>
          </a:xfrm>
          <a:prstGeom prst="rect">
            <a:avLst/>
          </a:prstGeom>
        </p:spPr>
      </p:pic>
      <p:sp>
        <p:nvSpPr>
          <p:cNvPr id="16" name="bb_14"/>
          <p:cNvSpPr/>
          <p:nvPr/>
        </p:nvSpPr>
        <p:spPr>
          <a:xfrm>
            <a:off x="5120640" y="3611880"/>
            <a:ext cx="3566160" cy="822960"/>
          </a:xfrm>
          <a:prstGeom prst="wedgeRoundRectCallout">
            <a:avLst/>
          </a:prstGeom>
          <a:solidFill>
            <a:srgbClr val="FFFFF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0000"/>
              </a:srgbClr>
            </a:outerShdw>
          </a:effectLst>
        </p:spPr>
        <p:txBody>
          <a:bodyPr wrap="square" lIns="127000" tIns="50800" rIns="1270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16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Pass me the… thing, please!</a:t>
            </a:r>
            <a:endParaRPr lang="en-US" sz="1600" dirty="0"/>
          </a:p>
        </p:txBody>
      </p:sp>
      <p:sp>
        <p:nvSpPr>
          <p:cNvPr id="17" name="st_15"/>
          <p:cNvSpPr/>
          <p:nvPr/>
        </p:nvSpPr>
        <p:spPr>
          <a:xfrm rot="360000">
            <a:off x="7543800" y="502920"/>
            <a:ext cx="1325880" cy="384048"/>
          </a:xfrm>
          <a:prstGeom prst="rect">
            <a:avLst/>
          </a:prstGeom>
          <a:solidFill>
            <a:srgbClr val="FFC2DA"/>
          </a:solidFill>
          <a:ln>
            <a:solidFill>
              <a:srgbClr val="FFC2D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50800" tIns="50800" rIns="508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💡 THINK · PENSA</a:t>
            </a:r>
            <a:endParaRPr lang="en-US" sz="950" dirty="0"/>
          </a:p>
        </p:txBody>
      </p:sp>
      <p:pic>
        <p:nvPicPr>
          <p:cNvPr id="18" name="logo_16" descr="/home/claude/lls-course/v2/img/logo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85632" y="4526280"/>
            <a:ext cx="502920" cy="502920"/>
          </a:xfrm>
          <a:prstGeom prst="rect">
            <a:avLst/>
          </a:prstGeom>
        </p:spPr>
      </p:pic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17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2F8DE4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2800" dirty="0"/>
          </a:p>
        </p:txBody>
      </p:sp>
      <p:pic>
        <p:nvPicPr>
          <p:cNvPr id="4" name="brY_18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2933395" cy="621792"/>
          </a:xfrm>
          <a:prstGeom prst="rect">
            <a:avLst/>
          </a:prstGeom>
        </p:spPr>
      </p:pic>
      <p:sp>
        <p:nvSpPr>
          <p:cNvPr id="5" name="title_19"/>
          <p:cNvSpPr/>
          <p:nvPr/>
        </p:nvSpPr>
        <p:spPr>
          <a:xfrm>
            <a:off x="1261872" y="164592"/>
            <a:ext cx="265907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Answers first!</a:t>
            </a:r>
            <a:endParaRPr lang="en-US" sz="2500" dirty="0"/>
          </a:p>
        </p:txBody>
      </p:sp>
      <p:pic>
        <p:nvPicPr>
          <p:cNvPr id="6" name="brP_20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4640580" cy="402336"/>
          </a:xfrm>
          <a:prstGeom prst="rect">
            <a:avLst/>
          </a:prstGeom>
        </p:spPr>
      </p:pic>
      <p:sp>
        <p:nvSpPr>
          <p:cNvPr id="7" name="ins_21"/>
          <p:cNvSpPr/>
          <p:nvPr/>
        </p:nvSpPr>
        <p:spPr>
          <a:xfrm>
            <a:off x="1353312" y="731520"/>
            <a:ext cx="43845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Here are the ANSWERS. What are the questions?</a:t>
            </a:r>
            <a:endParaRPr lang="en-US" sz="1250" dirty="0"/>
          </a:p>
        </p:txBody>
      </p:sp>
      <p:sp>
        <p:nvSpPr>
          <p:cNvPr id="8" name="insIT_22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Ecco le RISPOSTE. Quali sono le domande?</a:t>
            </a:r>
            <a:endParaRPr lang="en-US" sz="950" dirty="0"/>
          </a:p>
        </p:txBody>
      </p:sp>
      <p:sp>
        <p:nvSpPr>
          <p:cNvPr id="9" name="note_23"/>
          <p:cNvSpPr/>
          <p:nvPr/>
        </p:nvSpPr>
        <p:spPr>
          <a:xfrm rot="180000">
            <a:off x="6382512" y="128016"/>
            <a:ext cx="2029968" cy="1024128"/>
          </a:xfrm>
          <a:prstGeom prst="rect">
            <a:avLst/>
          </a:prstGeom>
          <a:solidFill>
            <a:srgbClr val="FFC2DA"/>
          </a:solidFill>
          <a:ln>
            <a:solidFill>
              <a:srgbClr val="FFC2D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50800" tIns="50800" rIns="508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💡 THINK</a:t>
            </a:r>
            <a:pPr algn="ctr"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 · PENSA</a:t>
            </a:r>
            <a:endParaRPr lang="en-US" sz="125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5 min   👥 pairs</a:t>
            </a:r>
            <a:endParaRPr lang="en-US" sz="125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Revision · Controlled practice</a:t>
            </a:r>
            <a:endParaRPr lang="en-US" sz="1250" dirty="0"/>
          </a:p>
        </p:txBody>
      </p:sp>
      <p:pic>
        <p:nvPicPr>
          <p:cNvPr id="10" name="logo_24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1" name="foot_25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L2 · REVISION · Lesson 1</a:t>
            </a:r>
            <a:endParaRPr lang="en-US" sz="800" dirty="0"/>
          </a:p>
        </p:txBody>
      </p:sp>
      <p:sp>
        <p:nvSpPr>
          <p:cNvPr id="12" name="bd_26"/>
          <p:cNvSpPr/>
          <p:nvPr/>
        </p:nvSpPr>
        <p:spPr>
          <a:xfrm>
            <a:off x="548640" y="1513332"/>
            <a:ext cx="310896" cy="310896"/>
          </a:xfrm>
          <a:prstGeom prst="ellipse">
            <a:avLst/>
          </a:prstGeom>
          <a:solidFill>
            <a:srgbClr val="E8508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</a:t>
            </a:r>
            <a:endParaRPr lang="en-US" sz="1000" dirty="0"/>
          </a:p>
        </p:txBody>
      </p:sp>
      <p:sp>
        <p:nvSpPr>
          <p:cNvPr id="13" name="q_27"/>
          <p:cNvSpPr/>
          <p:nvPr/>
        </p:nvSpPr>
        <p:spPr>
          <a:xfrm>
            <a:off x="932688" y="1417320"/>
            <a:ext cx="3291840" cy="502920"/>
          </a:xfrm>
          <a:prstGeom prst="roundRect">
            <a:avLst>
              <a:gd name="adj" fmla="val 18182"/>
            </a:avLst>
          </a:prstGeom>
          <a:solidFill>
            <a:srgbClr val="FFFFFF"/>
          </a:solidFill>
          <a:ln w="28575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Yes, I am.</a:t>
            </a:r>
            <a:endParaRPr lang="en-US" sz="1300" dirty="0"/>
          </a:p>
        </p:txBody>
      </p:sp>
      <p:sp>
        <p:nvSpPr>
          <p:cNvPr id="14" name="R1_chip28"/>
          <p:cNvSpPr/>
          <p:nvPr/>
        </p:nvSpPr>
        <p:spPr>
          <a:xfrm>
            <a:off x="4297680" y="1417320"/>
            <a:ext cx="4480560" cy="502920"/>
          </a:xfrm>
          <a:prstGeom prst="roundRect">
            <a:avLst>
              <a:gd name="adj" fmla="val 18182"/>
            </a:avLst>
          </a:prstGeom>
          <a:solidFill>
            <a:srgbClr val="E3F7EA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Are you the head chef?</a:t>
            </a:r>
            <a:endParaRPr lang="en-US" sz="1200" dirty="0"/>
          </a:p>
        </p:txBody>
      </p:sp>
      <p:sp>
        <p:nvSpPr>
          <p:cNvPr id="15" name="bd_29"/>
          <p:cNvSpPr/>
          <p:nvPr/>
        </p:nvSpPr>
        <p:spPr>
          <a:xfrm>
            <a:off x="548640" y="2061972"/>
            <a:ext cx="310896" cy="310896"/>
          </a:xfrm>
          <a:prstGeom prst="ellipse">
            <a:avLst/>
          </a:prstGeom>
          <a:solidFill>
            <a:srgbClr val="2F8DE4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1000" dirty="0"/>
          </a:p>
        </p:txBody>
      </p:sp>
      <p:sp>
        <p:nvSpPr>
          <p:cNvPr id="16" name="q_30"/>
          <p:cNvSpPr/>
          <p:nvPr/>
        </p:nvSpPr>
        <p:spPr>
          <a:xfrm>
            <a:off x="932688" y="1965960"/>
            <a:ext cx="3291840" cy="502920"/>
          </a:xfrm>
          <a:prstGeom prst="roundRect">
            <a:avLst>
              <a:gd name="adj" fmla="val 18182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No, she isn't. She's the sous chef.</a:t>
            </a:r>
            <a:endParaRPr lang="en-US" sz="1300" dirty="0"/>
          </a:p>
        </p:txBody>
      </p:sp>
      <p:sp>
        <p:nvSpPr>
          <p:cNvPr id="17" name="R2_chip31"/>
          <p:cNvSpPr/>
          <p:nvPr/>
        </p:nvSpPr>
        <p:spPr>
          <a:xfrm>
            <a:off x="4297680" y="1965960"/>
            <a:ext cx="4480560" cy="502920"/>
          </a:xfrm>
          <a:prstGeom prst="roundRect">
            <a:avLst>
              <a:gd name="adj" fmla="val 18182"/>
            </a:avLst>
          </a:prstGeom>
          <a:solidFill>
            <a:srgbClr val="E3F7EA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Is she the head chef?</a:t>
            </a:r>
            <a:endParaRPr lang="en-US" sz="1200" dirty="0"/>
          </a:p>
        </p:txBody>
      </p:sp>
      <p:sp>
        <p:nvSpPr>
          <p:cNvPr id="18" name="bd_32"/>
          <p:cNvSpPr/>
          <p:nvPr/>
        </p:nvSpPr>
        <p:spPr>
          <a:xfrm>
            <a:off x="548640" y="2610612"/>
            <a:ext cx="310896" cy="310896"/>
          </a:xfrm>
          <a:prstGeom prst="ellipse">
            <a:avLst/>
          </a:prstGeom>
          <a:solidFill>
            <a:srgbClr val="2EB872"/>
          </a:solidFill>
          <a:ln w="28575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1000" dirty="0"/>
          </a:p>
        </p:txBody>
      </p:sp>
      <p:sp>
        <p:nvSpPr>
          <p:cNvPr id="19" name="q_33"/>
          <p:cNvSpPr/>
          <p:nvPr/>
        </p:nvSpPr>
        <p:spPr>
          <a:xfrm>
            <a:off x="932688" y="2514600"/>
            <a:ext cx="3291840" cy="502920"/>
          </a:xfrm>
          <a:prstGeom prst="roundRect">
            <a:avLst>
              <a:gd name="adj" fmla="val 18182"/>
            </a:avLst>
          </a:prstGeom>
          <a:solidFill>
            <a:srgbClr val="FFFFFF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He's from Bagheria.</a:t>
            </a:r>
            <a:endParaRPr lang="en-US" sz="1300" dirty="0"/>
          </a:p>
        </p:txBody>
      </p:sp>
      <p:sp>
        <p:nvSpPr>
          <p:cNvPr id="20" name="R3_chip34"/>
          <p:cNvSpPr/>
          <p:nvPr/>
        </p:nvSpPr>
        <p:spPr>
          <a:xfrm>
            <a:off x="4297680" y="2514600"/>
            <a:ext cx="4480560" cy="502920"/>
          </a:xfrm>
          <a:prstGeom prst="roundRect">
            <a:avLst>
              <a:gd name="adj" fmla="val 18182"/>
            </a:avLst>
          </a:prstGeom>
          <a:solidFill>
            <a:srgbClr val="E3F7EA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Where is he from?</a:t>
            </a:r>
            <a:endParaRPr lang="en-US" sz="1200" dirty="0"/>
          </a:p>
        </p:txBody>
      </p:sp>
      <p:sp>
        <p:nvSpPr>
          <p:cNvPr id="21" name="bd_35"/>
          <p:cNvSpPr/>
          <p:nvPr/>
        </p:nvSpPr>
        <p:spPr>
          <a:xfrm>
            <a:off x="548640" y="3159252"/>
            <a:ext cx="310896" cy="310896"/>
          </a:xfrm>
          <a:prstGeom prst="ellipse">
            <a:avLst/>
          </a:prstGeom>
          <a:solidFill>
            <a:srgbClr val="F2B705"/>
          </a:solidFill>
          <a:ln w="28575"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4</a:t>
            </a:r>
            <a:endParaRPr lang="en-US" sz="1000" dirty="0"/>
          </a:p>
        </p:txBody>
      </p:sp>
      <p:sp>
        <p:nvSpPr>
          <p:cNvPr id="22" name="q_36"/>
          <p:cNvSpPr/>
          <p:nvPr/>
        </p:nvSpPr>
        <p:spPr>
          <a:xfrm>
            <a:off x="932688" y="3063240"/>
            <a:ext cx="3291840" cy="502920"/>
          </a:xfrm>
          <a:prstGeom prst="roundRect">
            <a:avLst>
              <a:gd name="adj" fmla="val 18182"/>
            </a:avLst>
          </a:prstGeom>
          <a:solidFill>
            <a:srgbClr val="FFFFFF"/>
          </a:solidFill>
          <a:ln w="28575">
            <a:solidFill>
              <a:srgbClr val="FFE07A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They're in the changing room.</a:t>
            </a:r>
            <a:endParaRPr lang="en-US" sz="1300" dirty="0"/>
          </a:p>
        </p:txBody>
      </p:sp>
      <p:sp>
        <p:nvSpPr>
          <p:cNvPr id="23" name="R4_chip37"/>
          <p:cNvSpPr/>
          <p:nvPr/>
        </p:nvSpPr>
        <p:spPr>
          <a:xfrm>
            <a:off x="4297680" y="3063240"/>
            <a:ext cx="4480560" cy="502920"/>
          </a:xfrm>
          <a:prstGeom prst="roundRect">
            <a:avLst>
              <a:gd name="adj" fmla="val 18182"/>
            </a:avLst>
          </a:prstGeom>
          <a:solidFill>
            <a:srgbClr val="E3F7EA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Where are they?</a:t>
            </a:r>
            <a:endParaRPr lang="en-US" sz="1200" dirty="0"/>
          </a:p>
        </p:txBody>
      </p:sp>
      <p:sp>
        <p:nvSpPr>
          <p:cNvPr id="24" name="bd_38"/>
          <p:cNvSpPr/>
          <p:nvPr/>
        </p:nvSpPr>
        <p:spPr>
          <a:xfrm>
            <a:off x="548640" y="3707892"/>
            <a:ext cx="310896" cy="310896"/>
          </a:xfrm>
          <a:prstGeom prst="ellipse">
            <a:avLst/>
          </a:prstGeom>
          <a:solidFill>
            <a:srgbClr val="E8508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5</a:t>
            </a:r>
            <a:endParaRPr lang="en-US" sz="1000" dirty="0"/>
          </a:p>
        </p:txBody>
      </p:sp>
      <p:sp>
        <p:nvSpPr>
          <p:cNvPr id="25" name="q_39"/>
          <p:cNvSpPr/>
          <p:nvPr/>
        </p:nvSpPr>
        <p:spPr>
          <a:xfrm>
            <a:off x="932688" y="3611880"/>
            <a:ext cx="3291840" cy="502920"/>
          </a:xfrm>
          <a:prstGeom prst="roundRect">
            <a:avLst>
              <a:gd name="adj" fmla="val 18182"/>
            </a:avLst>
          </a:prstGeom>
          <a:solidFill>
            <a:srgbClr val="FFFFFF"/>
          </a:solidFill>
          <a:ln w="28575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At seven o'clock.</a:t>
            </a:r>
            <a:endParaRPr lang="en-US" sz="1300" dirty="0"/>
          </a:p>
        </p:txBody>
      </p:sp>
      <p:sp>
        <p:nvSpPr>
          <p:cNvPr id="26" name="R5_chip40"/>
          <p:cNvSpPr/>
          <p:nvPr/>
        </p:nvSpPr>
        <p:spPr>
          <a:xfrm>
            <a:off x="4297680" y="3611880"/>
            <a:ext cx="4480560" cy="502920"/>
          </a:xfrm>
          <a:prstGeom prst="roundRect">
            <a:avLst>
              <a:gd name="adj" fmla="val 18182"/>
            </a:avLst>
          </a:prstGeom>
          <a:solidFill>
            <a:srgbClr val="E3F7EA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What time is service?</a:t>
            </a:r>
            <a:endParaRPr lang="en-US" sz="1200" dirty="0"/>
          </a:p>
        </p:txBody>
      </p:sp>
      <p:sp>
        <p:nvSpPr>
          <p:cNvPr id="27" name="bd_41"/>
          <p:cNvSpPr/>
          <p:nvPr/>
        </p:nvSpPr>
        <p:spPr>
          <a:xfrm>
            <a:off x="548640" y="4256532"/>
            <a:ext cx="310896" cy="310896"/>
          </a:xfrm>
          <a:prstGeom prst="ellipse">
            <a:avLst/>
          </a:prstGeom>
          <a:solidFill>
            <a:srgbClr val="2F8DE4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6</a:t>
            </a:r>
            <a:endParaRPr lang="en-US" sz="1000" dirty="0"/>
          </a:p>
        </p:txBody>
      </p:sp>
      <p:sp>
        <p:nvSpPr>
          <p:cNvPr id="28" name="q_42"/>
          <p:cNvSpPr/>
          <p:nvPr/>
        </p:nvSpPr>
        <p:spPr>
          <a:xfrm>
            <a:off x="932688" y="4160520"/>
            <a:ext cx="3291840" cy="502920"/>
          </a:xfrm>
          <a:prstGeom prst="roundRect">
            <a:avLst>
              <a:gd name="adj" fmla="val 18182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Heard, Chef!</a:t>
            </a:r>
            <a:endParaRPr lang="en-US" sz="1300" dirty="0"/>
          </a:p>
        </p:txBody>
      </p:sp>
      <p:sp>
        <p:nvSpPr>
          <p:cNvPr id="29" name="R6_chip43"/>
          <p:cNvSpPr/>
          <p:nvPr/>
        </p:nvSpPr>
        <p:spPr>
          <a:xfrm>
            <a:off x="4297680" y="4160520"/>
            <a:ext cx="4480560" cy="502920"/>
          </a:xfrm>
          <a:prstGeom prst="roundRect">
            <a:avLst>
              <a:gd name="adj" fmla="val 18182"/>
            </a:avLst>
          </a:prstGeom>
          <a:solidFill>
            <a:srgbClr val="E3F7EA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(any order from the chef)</a:t>
            </a:r>
            <a:endParaRPr lang="en-US" sz="12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44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2EB872"/>
          </a:solidFill>
          <a:ln w="28575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2800" dirty="0"/>
          </a:p>
        </p:txBody>
      </p:sp>
      <p:pic>
        <p:nvPicPr>
          <p:cNvPr id="4" name="brY_45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3719779" cy="621792"/>
          </a:xfrm>
          <a:prstGeom prst="rect">
            <a:avLst/>
          </a:prstGeom>
        </p:spPr>
      </p:pic>
      <p:sp>
        <p:nvSpPr>
          <p:cNvPr id="5" name="title_46"/>
          <p:cNvSpPr/>
          <p:nvPr/>
        </p:nvSpPr>
        <p:spPr>
          <a:xfrm>
            <a:off x="1261872" y="164592"/>
            <a:ext cx="344545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What's this called?</a:t>
            </a:r>
            <a:endParaRPr lang="en-US" sz="2500" dirty="0"/>
          </a:p>
        </p:txBody>
      </p:sp>
      <p:pic>
        <p:nvPicPr>
          <p:cNvPr id="6" name="brP_47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4988052" cy="402336"/>
          </a:xfrm>
          <a:prstGeom prst="rect">
            <a:avLst/>
          </a:prstGeom>
        </p:spPr>
      </p:pic>
      <p:sp>
        <p:nvSpPr>
          <p:cNvPr id="7" name="ins_48"/>
          <p:cNvSpPr/>
          <p:nvPr/>
        </p:nvSpPr>
        <p:spPr>
          <a:xfrm>
            <a:off x="1353312" y="731520"/>
            <a:ext cx="47320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Say the English word. Click to check the Italian.</a:t>
            </a:r>
            <a:endParaRPr lang="en-US" sz="1250" dirty="0"/>
          </a:p>
        </p:txBody>
      </p:sp>
      <p:sp>
        <p:nvSpPr>
          <p:cNvPr id="8" name="insIT_49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Di' la parola inglese. Clicca per l'italiano.</a:t>
            </a:r>
            <a:endParaRPr lang="en-US" sz="950" dirty="0"/>
          </a:p>
        </p:txBody>
      </p:sp>
      <p:sp>
        <p:nvSpPr>
          <p:cNvPr id="9" name="note_50"/>
          <p:cNvSpPr/>
          <p:nvPr/>
        </p:nvSpPr>
        <p:spPr>
          <a:xfrm rot="180000">
            <a:off x="6382512" y="128016"/>
            <a:ext cx="2029968" cy="1024128"/>
          </a:xfrm>
          <a:prstGeom prst="rect">
            <a:avLst/>
          </a:prstGeom>
          <a:solidFill>
            <a:srgbClr val="FFC2DA"/>
          </a:solidFill>
          <a:ln>
            <a:solidFill>
              <a:srgbClr val="FFC2D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50800" tIns="50800" rIns="508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💡 THINK</a:t>
            </a:r>
            <a:pPr algn="ctr"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 · PENSA</a:t>
            </a:r>
            <a:endParaRPr lang="en-US" sz="125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8 min   👥 pairs</a:t>
            </a:r>
            <a:endParaRPr lang="en-US" sz="125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Vocabulary · TPRS · meaning</a:t>
            </a:r>
            <a:endParaRPr lang="en-US" sz="1250" dirty="0"/>
          </a:p>
        </p:txBody>
      </p:sp>
      <p:pic>
        <p:nvPicPr>
          <p:cNvPr id="10" name="logo_51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1" name="foot_52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L2 · VOCABULARY · Equipment</a:t>
            </a:r>
            <a:endParaRPr lang="en-US" sz="800" dirty="0"/>
          </a:p>
        </p:txBody>
      </p:sp>
      <p:sp>
        <p:nvSpPr>
          <p:cNvPr id="12" name="cd_53"/>
          <p:cNvSpPr/>
          <p:nvPr/>
        </p:nvSpPr>
        <p:spPr>
          <a:xfrm>
            <a:off x="320040" y="1417320"/>
            <a:ext cx="2075688" cy="731520"/>
          </a:xfrm>
          <a:prstGeom prst="roundRect">
            <a:avLst>
              <a:gd name="adj" fmla="val 17500"/>
            </a:avLst>
          </a:prstGeom>
          <a:solidFill>
            <a:srgbClr val="FFFFFF"/>
          </a:solidFill>
          <a:ln w="28575">
            <a:solidFill>
              <a:srgbClr val="F7A6C4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3" name="e_54"/>
          <p:cNvSpPr/>
          <p:nvPr/>
        </p:nvSpPr>
        <p:spPr>
          <a:xfrm>
            <a:off x="393192" y="1527048"/>
            <a:ext cx="512064" cy="512064"/>
          </a:xfrm>
          <a:prstGeom prst="ellipse">
            <a:avLst/>
          </a:prstGeom>
          <a:solidFill>
            <a:srgbClr val="FFE3E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🔪</a:t>
            </a:r>
            <a:endParaRPr lang="en-US" sz="2000" dirty="0"/>
          </a:p>
        </p:txBody>
      </p:sp>
      <p:sp>
        <p:nvSpPr>
          <p:cNvPr id="14" name="en_55"/>
          <p:cNvSpPr/>
          <p:nvPr/>
        </p:nvSpPr>
        <p:spPr>
          <a:xfrm>
            <a:off x="978408" y="1472184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a knife</a:t>
            </a:r>
            <a:endParaRPr lang="en-US" sz="1200" dirty="0"/>
          </a:p>
        </p:txBody>
      </p:sp>
      <p:sp>
        <p:nvSpPr>
          <p:cNvPr id="15" name="R1_it56"/>
          <p:cNvSpPr/>
          <p:nvPr/>
        </p:nvSpPr>
        <p:spPr>
          <a:xfrm>
            <a:off x="978408" y="1801368"/>
            <a:ext cx="13624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i="1" dirty="0">
                <a:solidFill>
                  <a:srgbClr val="2EB87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coltello</a:t>
            </a:r>
            <a:endParaRPr lang="en-US" sz="1000" dirty="0"/>
          </a:p>
        </p:txBody>
      </p:sp>
      <p:sp>
        <p:nvSpPr>
          <p:cNvPr id="16" name="cd_57"/>
          <p:cNvSpPr/>
          <p:nvPr/>
        </p:nvSpPr>
        <p:spPr>
          <a:xfrm>
            <a:off x="2487168" y="1417320"/>
            <a:ext cx="2075688" cy="731520"/>
          </a:xfrm>
          <a:prstGeom prst="roundRect">
            <a:avLst>
              <a:gd name="adj" fmla="val 17500"/>
            </a:avLst>
          </a:prstGeom>
          <a:solidFill>
            <a:srgbClr val="FFFFFF"/>
          </a:solidFill>
          <a:ln w="28575">
            <a:solidFill>
              <a:srgbClr val="A9D3F5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7" name="e_58"/>
          <p:cNvSpPr/>
          <p:nvPr/>
        </p:nvSpPr>
        <p:spPr>
          <a:xfrm>
            <a:off x="2560320" y="1527048"/>
            <a:ext cx="512064" cy="512064"/>
          </a:xfrm>
          <a:prstGeom prst="ellipse">
            <a:avLst/>
          </a:prstGeom>
          <a:solidFill>
            <a:srgbClr val="E3F1F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🔹</a:t>
            </a:r>
            <a:endParaRPr lang="en-US" sz="2000" dirty="0"/>
          </a:p>
        </p:txBody>
      </p:sp>
      <p:sp>
        <p:nvSpPr>
          <p:cNvPr id="18" name="en_59"/>
          <p:cNvSpPr/>
          <p:nvPr/>
        </p:nvSpPr>
        <p:spPr>
          <a:xfrm>
            <a:off x="3145536" y="1472184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a cleaver</a:t>
            </a:r>
            <a:endParaRPr lang="en-US" sz="1200" dirty="0"/>
          </a:p>
        </p:txBody>
      </p:sp>
      <p:sp>
        <p:nvSpPr>
          <p:cNvPr id="19" name="R2_it60"/>
          <p:cNvSpPr/>
          <p:nvPr/>
        </p:nvSpPr>
        <p:spPr>
          <a:xfrm>
            <a:off x="3145536" y="1801368"/>
            <a:ext cx="13624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i="1" dirty="0">
                <a:solidFill>
                  <a:srgbClr val="2EB87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mannaia</a:t>
            </a:r>
            <a:endParaRPr lang="en-US" sz="1000" dirty="0"/>
          </a:p>
        </p:txBody>
      </p:sp>
      <p:sp>
        <p:nvSpPr>
          <p:cNvPr id="20" name="cd_61"/>
          <p:cNvSpPr/>
          <p:nvPr/>
        </p:nvSpPr>
        <p:spPr>
          <a:xfrm>
            <a:off x="4654296" y="1417320"/>
            <a:ext cx="2075688" cy="731520"/>
          </a:xfrm>
          <a:prstGeom prst="roundRect">
            <a:avLst>
              <a:gd name="adj" fmla="val 17500"/>
            </a:avLst>
          </a:prstGeom>
          <a:solidFill>
            <a:srgbClr val="FFFFFF"/>
          </a:solidFill>
          <a:ln w="28575">
            <a:solidFill>
              <a:srgbClr val="A8E5BE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21" name="e_62"/>
          <p:cNvSpPr/>
          <p:nvPr/>
        </p:nvSpPr>
        <p:spPr>
          <a:xfrm>
            <a:off x="4727448" y="1527048"/>
            <a:ext cx="512064" cy="512064"/>
          </a:xfrm>
          <a:prstGeom prst="ellipse">
            <a:avLst/>
          </a:prstGeom>
          <a:solidFill>
            <a:srgbClr val="E3F7E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🔹</a:t>
            </a:r>
            <a:endParaRPr lang="en-US" sz="2000" dirty="0"/>
          </a:p>
        </p:txBody>
      </p:sp>
      <p:sp>
        <p:nvSpPr>
          <p:cNvPr id="22" name="en_63"/>
          <p:cNvSpPr/>
          <p:nvPr/>
        </p:nvSpPr>
        <p:spPr>
          <a:xfrm>
            <a:off x="5312664" y="1472184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a saucepan</a:t>
            </a:r>
            <a:endParaRPr lang="en-US" sz="1200" dirty="0"/>
          </a:p>
        </p:txBody>
      </p:sp>
      <p:sp>
        <p:nvSpPr>
          <p:cNvPr id="23" name="R3_it64"/>
          <p:cNvSpPr/>
          <p:nvPr/>
        </p:nvSpPr>
        <p:spPr>
          <a:xfrm>
            <a:off x="5312664" y="1801368"/>
            <a:ext cx="13624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2EB87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pentola / casseruola</a:t>
            </a:r>
            <a:endParaRPr lang="en-US" sz="950" dirty="0"/>
          </a:p>
        </p:txBody>
      </p:sp>
      <p:sp>
        <p:nvSpPr>
          <p:cNvPr id="24" name="cd_65"/>
          <p:cNvSpPr/>
          <p:nvPr/>
        </p:nvSpPr>
        <p:spPr>
          <a:xfrm>
            <a:off x="6821424" y="1417320"/>
            <a:ext cx="2075688" cy="731520"/>
          </a:xfrm>
          <a:prstGeom prst="roundRect">
            <a:avLst>
              <a:gd name="adj" fmla="val 17500"/>
            </a:avLst>
          </a:prstGeom>
          <a:solidFill>
            <a:srgbClr val="FFFFFF"/>
          </a:solidFill>
          <a:ln w="28575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25" name="e_66"/>
          <p:cNvSpPr/>
          <p:nvPr/>
        </p:nvSpPr>
        <p:spPr>
          <a:xfrm>
            <a:off x="6894576" y="1527048"/>
            <a:ext cx="512064" cy="512064"/>
          </a:xfrm>
          <a:prstGeom prst="ellipse">
            <a:avLst/>
          </a:prstGeom>
          <a:solidFill>
            <a:srgbClr val="FFF6C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🔹</a:t>
            </a:r>
            <a:endParaRPr lang="en-US" sz="2000" dirty="0"/>
          </a:p>
        </p:txBody>
      </p:sp>
      <p:sp>
        <p:nvSpPr>
          <p:cNvPr id="26" name="en_67"/>
          <p:cNvSpPr/>
          <p:nvPr/>
        </p:nvSpPr>
        <p:spPr>
          <a:xfrm>
            <a:off x="7479792" y="1472184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a ladle</a:t>
            </a:r>
            <a:endParaRPr lang="en-US" sz="1200" dirty="0"/>
          </a:p>
        </p:txBody>
      </p:sp>
      <p:sp>
        <p:nvSpPr>
          <p:cNvPr id="27" name="R4_it68"/>
          <p:cNvSpPr/>
          <p:nvPr/>
        </p:nvSpPr>
        <p:spPr>
          <a:xfrm>
            <a:off x="7479792" y="1801368"/>
            <a:ext cx="13624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i="1" dirty="0">
                <a:solidFill>
                  <a:srgbClr val="2EB87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mestolo</a:t>
            </a:r>
            <a:endParaRPr lang="en-US" sz="1000" dirty="0"/>
          </a:p>
        </p:txBody>
      </p:sp>
      <p:sp>
        <p:nvSpPr>
          <p:cNvPr id="28" name="cd_69"/>
          <p:cNvSpPr/>
          <p:nvPr/>
        </p:nvSpPr>
        <p:spPr>
          <a:xfrm>
            <a:off x="320040" y="2240280"/>
            <a:ext cx="2075688" cy="731520"/>
          </a:xfrm>
          <a:prstGeom prst="roundRect">
            <a:avLst>
              <a:gd name="adj" fmla="val 17500"/>
            </a:avLst>
          </a:prstGeom>
          <a:solidFill>
            <a:srgbClr val="FFFFFF"/>
          </a:solidFill>
          <a:ln w="28575">
            <a:solidFill>
              <a:srgbClr val="F7A6C4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29" name="e_70"/>
          <p:cNvSpPr/>
          <p:nvPr/>
        </p:nvSpPr>
        <p:spPr>
          <a:xfrm>
            <a:off x="393192" y="2350008"/>
            <a:ext cx="512064" cy="512064"/>
          </a:xfrm>
          <a:prstGeom prst="ellipse">
            <a:avLst/>
          </a:prstGeom>
          <a:solidFill>
            <a:srgbClr val="FFE3E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🥣</a:t>
            </a:r>
            <a:endParaRPr lang="en-US" sz="2000" dirty="0"/>
          </a:p>
        </p:txBody>
      </p:sp>
      <p:sp>
        <p:nvSpPr>
          <p:cNvPr id="30" name="en_71"/>
          <p:cNvSpPr/>
          <p:nvPr/>
        </p:nvSpPr>
        <p:spPr>
          <a:xfrm>
            <a:off x="978408" y="2295144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a whisk</a:t>
            </a:r>
            <a:endParaRPr lang="en-US" sz="1200" dirty="0"/>
          </a:p>
        </p:txBody>
      </p:sp>
      <p:sp>
        <p:nvSpPr>
          <p:cNvPr id="31" name="R5_it72"/>
          <p:cNvSpPr/>
          <p:nvPr/>
        </p:nvSpPr>
        <p:spPr>
          <a:xfrm>
            <a:off x="978408" y="2624328"/>
            <a:ext cx="13624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i="1" dirty="0">
                <a:solidFill>
                  <a:srgbClr val="2EB87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frusta</a:t>
            </a:r>
            <a:endParaRPr lang="en-US" sz="1000" dirty="0"/>
          </a:p>
        </p:txBody>
      </p:sp>
      <p:sp>
        <p:nvSpPr>
          <p:cNvPr id="32" name="cd_73"/>
          <p:cNvSpPr/>
          <p:nvPr/>
        </p:nvSpPr>
        <p:spPr>
          <a:xfrm>
            <a:off x="2487168" y="2240280"/>
            <a:ext cx="2075688" cy="731520"/>
          </a:xfrm>
          <a:prstGeom prst="roundRect">
            <a:avLst>
              <a:gd name="adj" fmla="val 17500"/>
            </a:avLst>
          </a:prstGeom>
          <a:solidFill>
            <a:srgbClr val="FFFFFF"/>
          </a:solidFill>
          <a:ln w="28575">
            <a:solidFill>
              <a:srgbClr val="A9D3F5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33" name="e_74"/>
          <p:cNvSpPr/>
          <p:nvPr/>
        </p:nvSpPr>
        <p:spPr>
          <a:xfrm>
            <a:off x="2560320" y="2350008"/>
            <a:ext cx="512064" cy="512064"/>
          </a:xfrm>
          <a:prstGeom prst="ellipse">
            <a:avLst/>
          </a:prstGeom>
          <a:solidFill>
            <a:srgbClr val="E3F1F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🔹</a:t>
            </a:r>
            <a:endParaRPr lang="en-US" sz="2000" dirty="0"/>
          </a:p>
        </p:txBody>
      </p:sp>
      <p:sp>
        <p:nvSpPr>
          <p:cNvPr id="34" name="en_75"/>
          <p:cNvSpPr/>
          <p:nvPr/>
        </p:nvSpPr>
        <p:spPr>
          <a:xfrm>
            <a:off x="3145536" y="2295144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scales</a:t>
            </a:r>
            <a:endParaRPr lang="en-US" sz="1200" dirty="0"/>
          </a:p>
        </p:txBody>
      </p:sp>
      <p:sp>
        <p:nvSpPr>
          <p:cNvPr id="35" name="R6_it76"/>
          <p:cNvSpPr/>
          <p:nvPr/>
        </p:nvSpPr>
        <p:spPr>
          <a:xfrm>
            <a:off x="3145536" y="2624328"/>
            <a:ext cx="13624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i="1" dirty="0">
                <a:solidFill>
                  <a:srgbClr val="2EB87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bilancia</a:t>
            </a:r>
            <a:endParaRPr lang="en-US" sz="1000" dirty="0"/>
          </a:p>
        </p:txBody>
      </p:sp>
      <p:sp>
        <p:nvSpPr>
          <p:cNvPr id="36" name="cd_77"/>
          <p:cNvSpPr/>
          <p:nvPr/>
        </p:nvSpPr>
        <p:spPr>
          <a:xfrm>
            <a:off x="4654296" y="2240280"/>
            <a:ext cx="2075688" cy="731520"/>
          </a:xfrm>
          <a:prstGeom prst="roundRect">
            <a:avLst>
              <a:gd name="adj" fmla="val 17500"/>
            </a:avLst>
          </a:prstGeom>
          <a:solidFill>
            <a:srgbClr val="FFFFFF"/>
          </a:solidFill>
          <a:ln w="28575">
            <a:solidFill>
              <a:srgbClr val="A8E5BE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37" name="e_78"/>
          <p:cNvSpPr/>
          <p:nvPr/>
        </p:nvSpPr>
        <p:spPr>
          <a:xfrm>
            <a:off x="4727448" y="2350008"/>
            <a:ext cx="512064" cy="512064"/>
          </a:xfrm>
          <a:prstGeom prst="ellipse">
            <a:avLst/>
          </a:prstGeom>
          <a:solidFill>
            <a:srgbClr val="E3F7E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🔹</a:t>
            </a:r>
            <a:endParaRPr lang="en-US" sz="2000" dirty="0"/>
          </a:p>
        </p:txBody>
      </p:sp>
      <p:sp>
        <p:nvSpPr>
          <p:cNvPr id="38" name="en_79"/>
          <p:cNvSpPr/>
          <p:nvPr/>
        </p:nvSpPr>
        <p:spPr>
          <a:xfrm>
            <a:off x="5312664" y="2295144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an oven</a:t>
            </a:r>
            <a:endParaRPr lang="en-US" sz="1200" dirty="0"/>
          </a:p>
        </p:txBody>
      </p:sp>
      <p:sp>
        <p:nvSpPr>
          <p:cNvPr id="39" name="R7_it80"/>
          <p:cNvSpPr/>
          <p:nvPr/>
        </p:nvSpPr>
        <p:spPr>
          <a:xfrm>
            <a:off x="5312664" y="2624328"/>
            <a:ext cx="13624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i="1" dirty="0">
                <a:solidFill>
                  <a:srgbClr val="2EB87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forno</a:t>
            </a:r>
            <a:endParaRPr lang="en-US" sz="1000" dirty="0"/>
          </a:p>
        </p:txBody>
      </p:sp>
      <p:sp>
        <p:nvSpPr>
          <p:cNvPr id="40" name="cd_81"/>
          <p:cNvSpPr/>
          <p:nvPr/>
        </p:nvSpPr>
        <p:spPr>
          <a:xfrm>
            <a:off x="6821424" y="2240280"/>
            <a:ext cx="2075688" cy="731520"/>
          </a:xfrm>
          <a:prstGeom prst="roundRect">
            <a:avLst>
              <a:gd name="adj" fmla="val 17500"/>
            </a:avLst>
          </a:prstGeom>
          <a:solidFill>
            <a:srgbClr val="FFFFFF"/>
          </a:solidFill>
          <a:ln w="28575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41" name="e_82"/>
          <p:cNvSpPr/>
          <p:nvPr/>
        </p:nvSpPr>
        <p:spPr>
          <a:xfrm>
            <a:off x="6894576" y="2350008"/>
            <a:ext cx="512064" cy="512064"/>
          </a:xfrm>
          <a:prstGeom prst="ellipse">
            <a:avLst/>
          </a:prstGeom>
          <a:solidFill>
            <a:srgbClr val="FFF6C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🧊</a:t>
            </a:r>
            <a:endParaRPr lang="en-US" sz="2000" dirty="0"/>
          </a:p>
        </p:txBody>
      </p:sp>
      <p:sp>
        <p:nvSpPr>
          <p:cNvPr id="42" name="en_83"/>
          <p:cNvSpPr/>
          <p:nvPr/>
        </p:nvSpPr>
        <p:spPr>
          <a:xfrm>
            <a:off x="7479792" y="2295144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a fridge</a:t>
            </a:r>
            <a:endParaRPr lang="en-US" sz="1200" dirty="0"/>
          </a:p>
        </p:txBody>
      </p:sp>
      <p:sp>
        <p:nvSpPr>
          <p:cNvPr id="43" name="R8_it84"/>
          <p:cNvSpPr/>
          <p:nvPr/>
        </p:nvSpPr>
        <p:spPr>
          <a:xfrm>
            <a:off x="7479792" y="2624328"/>
            <a:ext cx="13624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i="1" dirty="0">
                <a:solidFill>
                  <a:srgbClr val="2EB87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frigo</a:t>
            </a:r>
            <a:endParaRPr lang="en-US" sz="1000" dirty="0"/>
          </a:p>
        </p:txBody>
      </p:sp>
      <p:sp>
        <p:nvSpPr>
          <p:cNvPr id="44" name="cd_85"/>
          <p:cNvSpPr/>
          <p:nvPr/>
        </p:nvSpPr>
        <p:spPr>
          <a:xfrm>
            <a:off x="320040" y="3063240"/>
            <a:ext cx="2075688" cy="731520"/>
          </a:xfrm>
          <a:prstGeom prst="roundRect">
            <a:avLst>
              <a:gd name="adj" fmla="val 17500"/>
            </a:avLst>
          </a:prstGeom>
          <a:solidFill>
            <a:srgbClr val="FFFFFF"/>
          </a:solidFill>
          <a:ln w="28575">
            <a:solidFill>
              <a:srgbClr val="F7A6C4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45" name="e_86"/>
          <p:cNvSpPr/>
          <p:nvPr/>
        </p:nvSpPr>
        <p:spPr>
          <a:xfrm>
            <a:off x="393192" y="3172968"/>
            <a:ext cx="512064" cy="512064"/>
          </a:xfrm>
          <a:prstGeom prst="ellipse">
            <a:avLst/>
          </a:prstGeom>
          <a:solidFill>
            <a:srgbClr val="FFE3E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🔹</a:t>
            </a:r>
            <a:endParaRPr lang="en-US" sz="2000" dirty="0"/>
          </a:p>
        </p:txBody>
      </p:sp>
      <p:sp>
        <p:nvSpPr>
          <p:cNvPr id="46" name="en_87"/>
          <p:cNvSpPr/>
          <p:nvPr/>
        </p:nvSpPr>
        <p:spPr>
          <a:xfrm>
            <a:off x="978408" y="3118104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a hob</a:t>
            </a:r>
            <a:endParaRPr lang="en-US" sz="1200" dirty="0"/>
          </a:p>
        </p:txBody>
      </p:sp>
      <p:sp>
        <p:nvSpPr>
          <p:cNvPr id="47" name="R9_it88"/>
          <p:cNvSpPr/>
          <p:nvPr/>
        </p:nvSpPr>
        <p:spPr>
          <a:xfrm>
            <a:off x="978408" y="3447288"/>
            <a:ext cx="13624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i="1" dirty="0">
                <a:solidFill>
                  <a:srgbClr val="2EB87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piano cottura</a:t>
            </a:r>
            <a:endParaRPr lang="en-US" sz="1000" dirty="0"/>
          </a:p>
        </p:txBody>
      </p:sp>
      <p:sp>
        <p:nvSpPr>
          <p:cNvPr id="48" name="cd_89"/>
          <p:cNvSpPr/>
          <p:nvPr/>
        </p:nvSpPr>
        <p:spPr>
          <a:xfrm>
            <a:off x="2487168" y="3063240"/>
            <a:ext cx="2075688" cy="731520"/>
          </a:xfrm>
          <a:prstGeom prst="roundRect">
            <a:avLst>
              <a:gd name="adj" fmla="val 17500"/>
            </a:avLst>
          </a:prstGeom>
          <a:solidFill>
            <a:srgbClr val="FFFFFF"/>
          </a:solidFill>
          <a:ln w="28575">
            <a:solidFill>
              <a:srgbClr val="A9D3F5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49" name="e_90"/>
          <p:cNvSpPr/>
          <p:nvPr/>
        </p:nvSpPr>
        <p:spPr>
          <a:xfrm>
            <a:off x="2560320" y="3172968"/>
            <a:ext cx="512064" cy="512064"/>
          </a:xfrm>
          <a:prstGeom prst="ellipse">
            <a:avLst/>
          </a:prstGeom>
          <a:solidFill>
            <a:srgbClr val="E3F1F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📟</a:t>
            </a:r>
            <a:endParaRPr lang="en-US" sz="2000" dirty="0"/>
          </a:p>
        </p:txBody>
      </p:sp>
      <p:sp>
        <p:nvSpPr>
          <p:cNvPr id="50" name="en_91"/>
          <p:cNvSpPr/>
          <p:nvPr/>
        </p:nvSpPr>
        <p:spPr>
          <a:xfrm>
            <a:off x="3145536" y="3118104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a microwave</a:t>
            </a:r>
            <a:endParaRPr lang="en-US" sz="1200" dirty="0"/>
          </a:p>
        </p:txBody>
      </p:sp>
      <p:sp>
        <p:nvSpPr>
          <p:cNvPr id="51" name="R10_it92"/>
          <p:cNvSpPr/>
          <p:nvPr/>
        </p:nvSpPr>
        <p:spPr>
          <a:xfrm>
            <a:off x="3145536" y="3447288"/>
            <a:ext cx="13624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i="1" dirty="0">
                <a:solidFill>
                  <a:srgbClr val="2EB87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microonde</a:t>
            </a:r>
            <a:endParaRPr lang="en-US" sz="1000" dirty="0"/>
          </a:p>
        </p:txBody>
      </p:sp>
      <p:sp>
        <p:nvSpPr>
          <p:cNvPr id="52" name="cd_93"/>
          <p:cNvSpPr/>
          <p:nvPr/>
        </p:nvSpPr>
        <p:spPr>
          <a:xfrm>
            <a:off x="4654296" y="3063240"/>
            <a:ext cx="2075688" cy="731520"/>
          </a:xfrm>
          <a:prstGeom prst="roundRect">
            <a:avLst>
              <a:gd name="adj" fmla="val 17500"/>
            </a:avLst>
          </a:prstGeom>
          <a:solidFill>
            <a:srgbClr val="FFFFFF"/>
          </a:solidFill>
          <a:ln w="28575">
            <a:solidFill>
              <a:srgbClr val="A8E5BE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53" name="e_94"/>
          <p:cNvSpPr/>
          <p:nvPr/>
        </p:nvSpPr>
        <p:spPr>
          <a:xfrm>
            <a:off x="4727448" y="3172968"/>
            <a:ext cx="512064" cy="512064"/>
          </a:xfrm>
          <a:prstGeom prst="ellipse">
            <a:avLst/>
          </a:prstGeom>
          <a:solidFill>
            <a:srgbClr val="E3F7E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🔹</a:t>
            </a:r>
            <a:endParaRPr lang="en-US" sz="2000" dirty="0"/>
          </a:p>
        </p:txBody>
      </p:sp>
      <p:sp>
        <p:nvSpPr>
          <p:cNvPr id="54" name="en_95"/>
          <p:cNvSpPr/>
          <p:nvPr/>
        </p:nvSpPr>
        <p:spPr>
          <a:xfrm>
            <a:off x="5312664" y="3118104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a wooden spoon</a:t>
            </a:r>
            <a:endParaRPr lang="en-US" sz="1200" dirty="0"/>
          </a:p>
        </p:txBody>
      </p:sp>
      <p:sp>
        <p:nvSpPr>
          <p:cNvPr id="55" name="R11_it96"/>
          <p:cNvSpPr/>
          <p:nvPr/>
        </p:nvSpPr>
        <p:spPr>
          <a:xfrm>
            <a:off x="5312664" y="3447288"/>
            <a:ext cx="13624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i="1" dirty="0">
                <a:solidFill>
                  <a:srgbClr val="2EB87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cucchiaio di legno</a:t>
            </a:r>
            <a:endParaRPr lang="en-US" sz="1000" dirty="0"/>
          </a:p>
        </p:txBody>
      </p:sp>
      <p:sp>
        <p:nvSpPr>
          <p:cNvPr id="56" name="cd_97"/>
          <p:cNvSpPr/>
          <p:nvPr/>
        </p:nvSpPr>
        <p:spPr>
          <a:xfrm>
            <a:off x="6821424" y="3063240"/>
            <a:ext cx="2075688" cy="731520"/>
          </a:xfrm>
          <a:prstGeom prst="roundRect">
            <a:avLst>
              <a:gd name="adj" fmla="val 17500"/>
            </a:avLst>
          </a:prstGeom>
          <a:solidFill>
            <a:srgbClr val="FFFFFF"/>
          </a:solidFill>
          <a:ln w="28575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57" name="e_98"/>
          <p:cNvSpPr/>
          <p:nvPr/>
        </p:nvSpPr>
        <p:spPr>
          <a:xfrm>
            <a:off x="6894576" y="3172968"/>
            <a:ext cx="512064" cy="512064"/>
          </a:xfrm>
          <a:prstGeom prst="ellipse">
            <a:avLst/>
          </a:prstGeom>
          <a:solidFill>
            <a:srgbClr val="FFF6C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🧤</a:t>
            </a:r>
            <a:endParaRPr lang="en-US" sz="2000" dirty="0"/>
          </a:p>
        </p:txBody>
      </p:sp>
      <p:sp>
        <p:nvSpPr>
          <p:cNvPr id="58" name="en_99"/>
          <p:cNvSpPr/>
          <p:nvPr/>
        </p:nvSpPr>
        <p:spPr>
          <a:xfrm>
            <a:off x="7479792" y="3118104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oven gloves</a:t>
            </a:r>
            <a:endParaRPr lang="en-US" sz="1200" dirty="0"/>
          </a:p>
        </p:txBody>
      </p:sp>
      <p:sp>
        <p:nvSpPr>
          <p:cNvPr id="59" name="R12_it100"/>
          <p:cNvSpPr/>
          <p:nvPr/>
        </p:nvSpPr>
        <p:spPr>
          <a:xfrm>
            <a:off x="7479792" y="3447288"/>
            <a:ext cx="13624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i="1" dirty="0">
                <a:solidFill>
                  <a:srgbClr val="2EB87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guanti da forno</a:t>
            </a:r>
            <a:endParaRPr lang="en-US" sz="10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4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4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4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40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101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2F8DE4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4</a:t>
            </a:r>
            <a:endParaRPr lang="en-US" sz="2800" dirty="0"/>
          </a:p>
        </p:txBody>
      </p:sp>
      <p:pic>
        <p:nvPicPr>
          <p:cNvPr id="4" name="brY_102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4348886" cy="621792"/>
          </a:xfrm>
          <a:prstGeom prst="rect">
            <a:avLst/>
          </a:prstGeom>
        </p:spPr>
      </p:pic>
      <p:sp>
        <p:nvSpPr>
          <p:cNvPr id="5" name="title_103"/>
          <p:cNvSpPr/>
          <p:nvPr/>
        </p:nvSpPr>
        <p:spPr>
          <a:xfrm>
            <a:off x="1261872" y="164592"/>
            <a:ext cx="40745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What do you do with it?</a:t>
            </a:r>
            <a:endParaRPr lang="en-US" sz="2500" dirty="0"/>
          </a:p>
        </p:txBody>
      </p:sp>
      <p:pic>
        <p:nvPicPr>
          <p:cNvPr id="6" name="brP_104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3685032" cy="402336"/>
          </a:xfrm>
          <a:prstGeom prst="rect">
            <a:avLst/>
          </a:prstGeom>
        </p:spPr>
      </p:pic>
      <p:sp>
        <p:nvSpPr>
          <p:cNvPr id="7" name="ins_105"/>
          <p:cNvSpPr/>
          <p:nvPr/>
        </p:nvSpPr>
        <p:spPr>
          <a:xfrm>
            <a:off x="1353312" y="731520"/>
            <a:ext cx="34290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Which verb? Say the full sentence.</a:t>
            </a:r>
            <a:endParaRPr lang="en-US" sz="1250" dirty="0"/>
          </a:p>
        </p:txBody>
      </p:sp>
      <p:sp>
        <p:nvSpPr>
          <p:cNvPr id="8" name="insIT_106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Quale verbo? Di' la frase intera.</a:t>
            </a:r>
            <a:endParaRPr lang="en-US" sz="950" dirty="0"/>
          </a:p>
        </p:txBody>
      </p:sp>
      <p:sp>
        <p:nvSpPr>
          <p:cNvPr id="9" name="note_107"/>
          <p:cNvSpPr/>
          <p:nvPr/>
        </p:nvSpPr>
        <p:spPr>
          <a:xfrm rot="180000">
            <a:off x="6382512" y="128016"/>
            <a:ext cx="2029968" cy="1024128"/>
          </a:xfrm>
          <a:prstGeom prst="rect">
            <a:avLst/>
          </a:prstGeom>
          <a:solidFill>
            <a:srgbClr val="FFC2DA"/>
          </a:solidFill>
          <a:ln>
            <a:solidFill>
              <a:srgbClr val="FFC2D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50800" tIns="50800" rIns="508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💡 THINK</a:t>
            </a:r>
            <a:pPr algn="ctr"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 · PENSA</a:t>
            </a:r>
            <a:endParaRPr lang="en-US" sz="125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6 min   👥 pairs</a:t>
            </a:r>
            <a:endParaRPr lang="en-US" sz="125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Vocabulary · Controlled practice</a:t>
            </a:r>
            <a:endParaRPr lang="en-US" sz="1250" dirty="0"/>
          </a:p>
        </p:txBody>
      </p:sp>
      <p:pic>
        <p:nvPicPr>
          <p:cNvPr id="10" name="logo_108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1" name="foot_109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L2 · VOCABULARY · Verbs with equipment</a:t>
            </a:r>
            <a:endParaRPr lang="en-US" sz="800" dirty="0"/>
          </a:p>
        </p:txBody>
      </p:sp>
      <p:sp>
        <p:nvSpPr>
          <p:cNvPr id="12" name="bd_110"/>
          <p:cNvSpPr/>
          <p:nvPr/>
        </p:nvSpPr>
        <p:spPr>
          <a:xfrm>
            <a:off x="548640" y="1444752"/>
            <a:ext cx="310896" cy="310896"/>
          </a:xfrm>
          <a:prstGeom prst="ellipse">
            <a:avLst/>
          </a:prstGeom>
          <a:solidFill>
            <a:srgbClr val="E8508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</a:t>
            </a:r>
            <a:endParaRPr lang="en-US" sz="1000" dirty="0"/>
          </a:p>
        </p:txBody>
      </p:sp>
      <p:sp>
        <p:nvSpPr>
          <p:cNvPr id="13" name="q_111"/>
          <p:cNvSpPr/>
          <p:nvPr/>
        </p:nvSpPr>
        <p:spPr>
          <a:xfrm>
            <a:off x="932688" y="1417320"/>
            <a:ext cx="3291840" cy="36576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28575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You ___ eggs with a whisk.</a:t>
            </a:r>
            <a:endParaRPr lang="en-US" sz="1250" dirty="0"/>
          </a:p>
        </p:txBody>
      </p:sp>
      <p:sp>
        <p:nvSpPr>
          <p:cNvPr id="14" name="R1_chip112"/>
          <p:cNvSpPr/>
          <p:nvPr/>
        </p:nvSpPr>
        <p:spPr>
          <a:xfrm>
            <a:off x="4297680" y="1417320"/>
            <a:ext cx="4480560" cy="365760"/>
          </a:xfrm>
          <a:prstGeom prst="roundRect">
            <a:avLst>
              <a:gd name="adj" fmla="val 25000"/>
            </a:avLst>
          </a:prstGeom>
          <a:solidFill>
            <a:srgbClr val="E3F7EA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whisk / beat</a:t>
            </a:r>
            <a:endParaRPr lang="en-US" sz="1200" dirty="0"/>
          </a:p>
        </p:txBody>
      </p:sp>
      <p:sp>
        <p:nvSpPr>
          <p:cNvPr id="15" name="bd_113"/>
          <p:cNvSpPr/>
          <p:nvPr/>
        </p:nvSpPr>
        <p:spPr>
          <a:xfrm>
            <a:off x="548640" y="1856232"/>
            <a:ext cx="310896" cy="310896"/>
          </a:xfrm>
          <a:prstGeom prst="ellipse">
            <a:avLst/>
          </a:prstGeom>
          <a:solidFill>
            <a:srgbClr val="2F8DE4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1000" dirty="0"/>
          </a:p>
        </p:txBody>
      </p:sp>
      <p:sp>
        <p:nvSpPr>
          <p:cNvPr id="16" name="q_114"/>
          <p:cNvSpPr/>
          <p:nvPr/>
        </p:nvSpPr>
        <p:spPr>
          <a:xfrm>
            <a:off x="932688" y="1828800"/>
            <a:ext cx="3291840" cy="36576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You ___ soup with a ladle.</a:t>
            </a:r>
            <a:endParaRPr lang="en-US" sz="1250" dirty="0"/>
          </a:p>
        </p:txBody>
      </p:sp>
      <p:sp>
        <p:nvSpPr>
          <p:cNvPr id="17" name="R2_chip115"/>
          <p:cNvSpPr/>
          <p:nvPr/>
        </p:nvSpPr>
        <p:spPr>
          <a:xfrm>
            <a:off x="4297680" y="1828800"/>
            <a:ext cx="4480560" cy="365760"/>
          </a:xfrm>
          <a:prstGeom prst="roundRect">
            <a:avLst>
              <a:gd name="adj" fmla="val 25000"/>
            </a:avLst>
          </a:prstGeom>
          <a:solidFill>
            <a:srgbClr val="E3F7EA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serve</a:t>
            </a:r>
            <a:endParaRPr lang="en-US" sz="1200" dirty="0"/>
          </a:p>
        </p:txBody>
      </p:sp>
      <p:sp>
        <p:nvSpPr>
          <p:cNvPr id="18" name="bd_116"/>
          <p:cNvSpPr/>
          <p:nvPr/>
        </p:nvSpPr>
        <p:spPr>
          <a:xfrm>
            <a:off x="548640" y="2267712"/>
            <a:ext cx="310896" cy="310896"/>
          </a:xfrm>
          <a:prstGeom prst="ellipse">
            <a:avLst/>
          </a:prstGeom>
          <a:solidFill>
            <a:srgbClr val="2EB872"/>
          </a:solidFill>
          <a:ln w="28575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1000" dirty="0"/>
          </a:p>
        </p:txBody>
      </p:sp>
      <p:sp>
        <p:nvSpPr>
          <p:cNvPr id="19" name="q_117"/>
          <p:cNvSpPr/>
          <p:nvPr/>
        </p:nvSpPr>
        <p:spPr>
          <a:xfrm>
            <a:off x="932688" y="2240280"/>
            <a:ext cx="3291840" cy="36576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You ___ flour on the scales.</a:t>
            </a:r>
            <a:endParaRPr lang="en-US" sz="1250" dirty="0"/>
          </a:p>
        </p:txBody>
      </p:sp>
      <p:sp>
        <p:nvSpPr>
          <p:cNvPr id="20" name="R3_chip118"/>
          <p:cNvSpPr/>
          <p:nvPr/>
        </p:nvSpPr>
        <p:spPr>
          <a:xfrm>
            <a:off x="4297680" y="2240280"/>
            <a:ext cx="4480560" cy="365760"/>
          </a:xfrm>
          <a:prstGeom prst="roundRect">
            <a:avLst>
              <a:gd name="adj" fmla="val 25000"/>
            </a:avLst>
          </a:prstGeom>
          <a:solidFill>
            <a:srgbClr val="E3F7EA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weigh</a:t>
            </a:r>
            <a:endParaRPr lang="en-US" sz="1200" dirty="0"/>
          </a:p>
        </p:txBody>
      </p:sp>
      <p:sp>
        <p:nvSpPr>
          <p:cNvPr id="21" name="bd_119"/>
          <p:cNvSpPr/>
          <p:nvPr/>
        </p:nvSpPr>
        <p:spPr>
          <a:xfrm>
            <a:off x="548640" y="2679192"/>
            <a:ext cx="310896" cy="310896"/>
          </a:xfrm>
          <a:prstGeom prst="ellipse">
            <a:avLst/>
          </a:prstGeom>
          <a:solidFill>
            <a:srgbClr val="F2B705"/>
          </a:solidFill>
          <a:ln w="28575"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4</a:t>
            </a:r>
            <a:endParaRPr lang="en-US" sz="1000" dirty="0"/>
          </a:p>
        </p:txBody>
      </p:sp>
      <p:sp>
        <p:nvSpPr>
          <p:cNvPr id="22" name="q_120"/>
          <p:cNvSpPr/>
          <p:nvPr/>
        </p:nvSpPr>
        <p:spPr>
          <a:xfrm>
            <a:off x="932688" y="2651760"/>
            <a:ext cx="3291840" cy="36576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28575">
            <a:solidFill>
              <a:srgbClr val="FFE07A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You ___ the oven to 180°C.</a:t>
            </a:r>
            <a:endParaRPr lang="en-US" sz="1250" dirty="0"/>
          </a:p>
        </p:txBody>
      </p:sp>
      <p:sp>
        <p:nvSpPr>
          <p:cNvPr id="23" name="R4_chip121"/>
          <p:cNvSpPr/>
          <p:nvPr/>
        </p:nvSpPr>
        <p:spPr>
          <a:xfrm>
            <a:off x="4297680" y="2651760"/>
            <a:ext cx="4480560" cy="365760"/>
          </a:xfrm>
          <a:prstGeom prst="roundRect">
            <a:avLst>
              <a:gd name="adj" fmla="val 25000"/>
            </a:avLst>
          </a:prstGeom>
          <a:solidFill>
            <a:srgbClr val="E3F7EA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preheat / heat</a:t>
            </a:r>
            <a:endParaRPr lang="en-US" sz="1200" dirty="0"/>
          </a:p>
        </p:txBody>
      </p:sp>
      <p:sp>
        <p:nvSpPr>
          <p:cNvPr id="24" name="bd_122"/>
          <p:cNvSpPr/>
          <p:nvPr/>
        </p:nvSpPr>
        <p:spPr>
          <a:xfrm>
            <a:off x="548640" y="3090672"/>
            <a:ext cx="310896" cy="310896"/>
          </a:xfrm>
          <a:prstGeom prst="ellipse">
            <a:avLst/>
          </a:prstGeom>
          <a:solidFill>
            <a:srgbClr val="E8508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5</a:t>
            </a:r>
            <a:endParaRPr lang="en-US" sz="1000" dirty="0"/>
          </a:p>
        </p:txBody>
      </p:sp>
      <p:sp>
        <p:nvSpPr>
          <p:cNvPr id="25" name="q_123"/>
          <p:cNvSpPr/>
          <p:nvPr/>
        </p:nvSpPr>
        <p:spPr>
          <a:xfrm>
            <a:off x="932688" y="3063240"/>
            <a:ext cx="3291840" cy="36576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28575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You ___ onions with a knife.</a:t>
            </a:r>
            <a:endParaRPr lang="en-US" sz="1250" dirty="0"/>
          </a:p>
        </p:txBody>
      </p:sp>
      <p:sp>
        <p:nvSpPr>
          <p:cNvPr id="26" name="R5_chip124"/>
          <p:cNvSpPr/>
          <p:nvPr/>
        </p:nvSpPr>
        <p:spPr>
          <a:xfrm>
            <a:off x="4297680" y="3063240"/>
            <a:ext cx="4480560" cy="365760"/>
          </a:xfrm>
          <a:prstGeom prst="roundRect">
            <a:avLst>
              <a:gd name="adj" fmla="val 25000"/>
            </a:avLst>
          </a:prstGeom>
          <a:solidFill>
            <a:srgbClr val="E3F7EA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chop / slice</a:t>
            </a:r>
            <a:endParaRPr lang="en-US" sz="1200" dirty="0"/>
          </a:p>
        </p:txBody>
      </p:sp>
      <p:sp>
        <p:nvSpPr>
          <p:cNvPr id="27" name="bd_125"/>
          <p:cNvSpPr/>
          <p:nvPr/>
        </p:nvSpPr>
        <p:spPr>
          <a:xfrm>
            <a:off x="548640" y="3502152"/>
            <a:ext cx="310896" cy="310896"/>
          </a:xfrm>
          <a:prstGeom prst="ellipse">
            <a:avLst/>
          </a:prstGeom>
          <a:solidFill>
            <a:srgbClr val="2F8DE4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6</a:t>
            </a:r>
            <a:endParaRPr lang="en-US" sz="1000" dirty="0"/>
          </a:p>
        </p:txBody>
      </p:sp>
      <p:sp>
        <p:nvSpPr>
          <p:cNvPr id="28" name="q_126"/>
          <p:cNvSpPr/>
          <p:nvPr/>
        </p:nvSpPr>
        <p:spPr>
          <a:xfrm>
            <a:off x="932688" y="3474720"/>
            <a:ext cx="3291840" cy="36576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You ___ pasta in a saucepan.</a:t>
            </a:r>
            <a:endParaRPr lang="en-US" sz="1250" dirty="0"/>
          </a:p>
        </p:txBody>
      </p:sp>
      <p:sp>
        <p:nvSpPr>
          <p:cNvPr id="29" name="R6_chip127"/>
          <p:cNvSpPr/>
          <p:nvPr/>
        </p:nvSpPr>
        <p:spPr>
          <a:xfrm>
            <a:off x="4297680" y="3474720"/>
            <a:ext cx="4480560" cy="365760"/>
          </a:xfrm>
          <a:prstGeom prst="roundRect">
            <a:avLst>
              <a:gd name="adj" fmla="val 25000"/>
            </a:avLst>
          </a:prstGeom>
          <a:solidFill>
            <a:srgbClr val="E3F7EA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boil / cook</a:t>
            </a:r>
            <a:endParaRPr lang="en-US" sz="1200" dirty="0"/>
          </a:p>
        </p:txBody>
      </p:sp>
      <p:sp>
        <p:nvSpPr>
          <p:cNvPr id="30" name="bd_128"/>
          <p:cNvSpPr/>
          <p:nvPr/>
        </p:nvSpPr>
        <p:spPr>
          <a:xfrm>
            <a:off x="548640" y="3913632"/>
            <a:ext cx="310896" cy="310896"/>
          </a:xfrm>
          <a:prstGeom prst="ellipse">
            <a:avLst/>
          </a:prstGeom>
          <a:solidFill>
            <a:srgbClr val="2EB872"/>
          </a:solidFill>
          <a:ln w="28575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7</a:t>
            </a:r>
            <a:endParaRPr lang="en-US" sz="1000" dirty="0"/>
          </a:p>
        </p:txBody>
      </p:sp>
      <p:sp>
        <p:nvSpPr>
          <p:cNvPr id="31" name="q_129"/>
          <p:cNvSpPr/>
          <p:nvPr/>
        </p:nvSpPr>
        <p:spPr>
          <a:xfrm>
            <a:off x="932688" y="3886200"/>
            <a:ext cx="3291840" cy="36576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You ___ hot trays with oven gloves.</a:t>
            </a:r>
            <a:endParaRPr lang="en-US" sz="1250" dirty="0"/>
          </a:p>
        </p:txBody>
      </p:sp>
      <p:sp>
        <p:nvSpPr>
          <p:cNvPr id="32" name="R7_chip130"/>
          <p:cNvSpPr/>
          <p:nvPr/>
        </p:nvSpPr>
        <p:spPr>
          <a:xfrm>
            <a:off x="4297680" y="3886200"/>
            <a:ext cx="4480560" cy="365760"/>
          </a:xfrm>
          <a:prstGeom prst="roundRect">
            <a:avLst>
              <a:gd name="adj" fmla="val 25000"/>
            </a:avLst>
          </a:prstGeom>
          <a:solidFill>
            <a:srgbClr val="E3F7EA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hold / take out</a:t>
            </a:r>
            <a:endParaRPr lang="en-US" sz="1200" dirty="0"/>
          </a:p>
        </p:txBody>
      </p:sp>
      <p:sp>
        <p:nvSpPr>
          <p:cNvPr id="33" name="bd_131"/>
          <p:cNvSpPr/>
          <p:nvPr/>
        </p:nvSpPr>
        <p:spPr>
          <a:xfrm>
            <a:off x="548640" y="4325112"/>
            <a:ext cx="310896" cy="310896"/>
          </a:xfrm>
          <a:prstGeom prst="ellipse">
            <a:avLst/>
          </a:prstGeom>
          <a:solidFill>
            <a:srgbClr val="F2B705"/>
          </a:solidFill>
          <a:ln w="28575"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8</a:t>
            </a:r>
            <a:endParaRPr lang="en-US" sz="1000" dirty="0"/>
          </a:p>
        </p:txBody>
      </p:sp>
      <p:sp>
        <p:nvSpPr>
          <p:cNvPr id="34" name="q_132"/>
          <p:cNvSpPr/>
          <p:nvPr/>
        </p:nvSpPr>
        <p:spPr>
          <a:xfrm>
            <a:off x="932688" y="4297680"/>
            <a:ext cx="3291840" cy="36576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28575">
            <a:solidFill>
              <a:srgbClr val="FFE07A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You ___ fish in the fridge.</a:t>
            </a:r>
            <a:endParaRPr lang="en-US" sz="1250" dirty="0"/>
          </a:p>
        </p:txBody>
      </p:sp>
      <p:sp>
        <p:nvSpPr>
          <p:cNvPr id="35" name="R8_chip133"/>
          <p:cNvSpPr/>
          <p:nvPr/>
        </p:nvSpPr>
        <p:spPr>
          <a:xfrm>
            <a:off x="4297680" y="4297680"/>
            <a:ext cx="4480560" cy="365760"/>
          </a:xfrm>
          <a:prstGeom prst="roundRect">
            <a:avLst>
              <a:gd name="adj" fmla="val 25000"/>
            </a:avLst>
          </a:prstGeom>
          <a:solidFill>
            <a:srgbClr val="E3F7EA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keep / store</a:t>
            </a:r>
            <a:endParaRPr lang="en-US" sz="12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4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134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E8508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5</a:t>
            </a:r>
            <a:endParaRPr lang="en-US" sz="2800" dirty="0"/>
          </a:p>
        </p:txBody>
      </p:sp>
      <p:pic>
        <p:nvPicPr>
          <p:cNvPr id="4" name="brY_135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5135270" cy="621792"/>
          </a:xfrm>
          <a:prstGeom prst="rect">
            <a:avLst/>
          </a:prstGeom>
        </p:spPr>
      </p:pic>
      <p:sp>
        <p:nvSpPr>
          <p:cNvPr id="5" name="title_136"/>
          <p:cNvSpPr/>
          <p:nvPr/>
        </p:nvSpPr>
        <p:spPr>
          <a:xfrm>
            <a:off x="1261872" y="164592"/>
            <a:ext cx="486095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There's a knife on the board</a:t>
            </a:r>
            <a:endParaRPr lang="en-US" sz="2500" dirty="0"/>
          </a:p>
        </p:txBody>
      </p:sp>
      <p:sp>
        <p:nvSpPr>
          <p:cNvPr id="6" name="note_137"/>
          <p:cNvSpPr/>
          <p:nvPr/>
        </p:nvSpPr>
        <p:spPr>
          <a:xfrm rot="180000">
            <a:off x="6382512" y="128016"/>
            <a:ext cx="2029968" cy="749808"/>
          </a:xfrm>
          <a:prstGeom prst="rect">
            <a:avLst/>
          </a:prstGeom>
          <a:solidFill>
            <a:srgbClr val="FFC2DA"/>
          </a:solidFill>
          <a:ln>
            <a:solidFill>
              <a:srgbClr val="FFC2D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50800" tIns="50800" rIns="508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6 min   🙋 whole class</a:t>
            </a:r>
            <a:endParaRPr lang="en-US" sz="11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Grammar · Guided discovery</a:t>
            </a:r>
            <a:endParaRPr lang="en-US" sz="1100" dirty="0"/>
          </a:p>
        </p:txBody>
      </p:sp>
      <p:pic>
        <p:nvPicPr>
          <p:cNvPr id="7" name="logo_138" descr="/home/claude/lls-course/v2/img/log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8" name="foot_139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L2 · GRAMMAR · there is / are · prepositions</a:t>
            </a:r>
            <a:endParaRPr lang="en-US" sz="800" dirty="0"/>
          </a:p>
        </p:txBody>
      </p:sp>
      <p:sp>
        <p:nvSpPr>
          <p:cNvPr id="9" name="cd_140"/>
          <p:cNvSpPr/>
          <p:nvPr/>
        </p:nvSpPr>
        <p:spPr>
          <a:xfrm>
            <a:off x="320040" y="1417320"/>
            <a:ext cx="2758440" cy="3017520"/>
          </a:xfrm>
          <a:prstGeom prst="roundRect">
            <a:avLst>
              <a:gd name="adj" fmla="val 4641"/>
            </a:avLst>
          </a:prstGeom>
          <a:solidFill>
            <a:srgbClr val="FFFFFF"/>
          </a:solidFill>
          <a:ln w="28575">
            <a:solidFill>
              <a:srgbClr val="F7A6C4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0" name="rh_141"/>
          <p:cNvSpPr/>
          <p:nvPr/>
        </p:nvSpPr>
        <p:spPr>
          <a:xfrm>
            <a:off x="429768" y="1508760"/>
            <a:ext cx="2538984" cy="365760"/>
          </a:xfrm>
          <a:prstGeom prst="roundRect">
            <a:avLst>
              <a:gd name="adj" fmla="val 50000"/>
            </a:avLst>
          </a:prstGeom>
          <a:solidFill>
            <a:srgbClr val="E8508F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 thing</a:t>
            </a:r>
            <a:endParaRPr lang="en-US" sz="1250" dirty="0"/>
          </a:p>
        </p:txBody>
      </p:sp>
      <p:sp>
        <p:nvSpPr>
          <p:cNvPr id="11" name="R1_rx142"/>
          <p:cNvSpPr/>
          <p:nvPr/>
        </p:nvSpPr>
        <p:spPr>
          <a:xfrm>
            <a:off x="457200" y="2011680"/>
            <a:ext cx="2484120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There's a knife on the board.</a:t>
            </a:r>
            <a:endParaRPr lang="en-US" sz="1400" dirty="0"/>
          </a:p>
          <a:p>
            <a:pPr algn="ctr"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Is there a sieve?</a:t>
            </a:r>
            <a:endParaRPr lang="en-US" sz="1400" dirty="0"/>
          </a:p>
          <a:p>
            <a:pPr algn="ctr"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There isn't a grater.</a:t>
            </a:r>
            <a:endParaRPr lang="en-US" sz="1400" dirty="0"/>
          </a:p>
          <a:p>
            <a:pPr algn="ctr"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this pan (here)</a:t>
            </a:r>
            <a:endParaRPr lang="en-US" sz="1400" dirty="0"/>
          </a:p>
          <a:p>
            <a:pPr algn="ctr"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that pan (there)</a:t>
            </a:r>
            <a:endParaRPr lang="en-US" sz="1400" dirty="0"/>
          </a:p>
        </p:txBody>
      </p:sp>
      <p:sp>
        <p:nvSpPr>
          <p:cNvPr id="12" name="cd_143"/>
          <p:cNvSpPr/>
          <p:nvPr/>
        </p:nvSpPr>
        <p:spPr>
          <a:xfrm>
            <a:off x="3215640" y="1417320"/>
            <a:ext cx="2758440" cy="3017520"/>
          </a:xfrm>
          <a:prstGeom prst="roundRect">
            <a:avLst>
              <a:gd name="adj" fmla="val 4641"/>
            </a:avLst>
          </a:prstGeom>
          <a:solidFill>
            <a:srgbClr val="FFFFFF"/>
          </a:solidFill>
          <a:ln w="28575">
            <a:solidFill>
              <a:srgbClr val="A9D3F5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3" name="rh_144"/>
          <p:cNvSpPr/>
          <p:nvPr/>
        </p:nvSpPr>
        <p:spPr>
          <a:xfrm>
            <a:off x="3325368" y="1508760"/>
            <a:ext cx="2538984" cy="365760"/>
          </a:xfrm>
          <a:prstGeom prst="roundRect">
            <a:avLst>
              <a:gd name="adj" fmla="val 50000"/>
            </a:avLst>
          </a:prstGeom>
          <a:solidFill>
            <a:srgbClr val="2F8DE4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2+ things</a:t>
            </a:r>
            <a:endParaRPr lang="en-US" sz="1250" dirty="0"/>
          </a:p>
        </p:txBody>
      </p:sp>
      <p:sp>
        <p:nvSpPr>
          <p:cNvPr id="14" name="R2_rx145"/>
          <p:cNvSpPr/>
          <p:nvPr/>
        </p:nvSpPr>
        <p:spPr>
          <a:xfrm>
            <a:off x="3352800" y="2011680"/>
            <a:ext cx="2484120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There are some trays in the oven.</a:t>
            </a:r>
            <a:endParaRPr lang="en-US" sz="1400" dirty="0"/>
          </a:p>
          <a:p>
            <a:pPr algn="ctr"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Are there any clean pans?</a:t>
            </a:r>
            <a:endParaRPr lang="en-US" sz="1400" dirty="0"/>
          </a:p>
          <a:p>
            <a:pPr algn="ctr"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There aren't any spoons.</a:t>
            </a:r>
            <a:endParaRPr lang="en-US" sz="1400" dirty="0"/>
          </a:p>
          <a:p>
            <a:pPr algn="ctr"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these pans (here)</a:t>
            </a:r>
            <a:endParaRPr lang="en-US" sz="1400" dirty="0"/>
          </a:p>
          <a:p>
            <a:pPr algn="ctr"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those pans (there)</a:t>
            </a:r>
            <a:endParaRPr lang="en-US" sz="1400" dirty="0"/>
          </a:p>
        </p:txBody>
      </p:sp>
      <p:sp>
        <p:nvSpPr>
          <p:cNvPr id="15" name="cd_146"/>
          <p:cNvSpPr/>
          <p:nvPr/>
        </p:nvSpPr>
        <p:spPr>
          <a:xfrm>
            <a:off x="6111240" y="1417320"/>
            <a:ext cx="2758440" cy="3017520"/>
          </a:xfrm>
          <a:prstGeom prst="roundRect">
            <a:avLst>
              <a:gd name="adj" fmla="val 4641"/>
            </a:avLst>
          </a:prstGeom>
          <a:solidFill>
            <a:srgbClr val="FFFFFF"/>
          </a:solidFill>
          <a:ln w="28575">
            <a:solidFill>
              <a:srgbClr val="A8E5BE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6" name="rh_147"/>
          <p:cNvSpPr/>
          <p:nvPr/>
        </p:nvSpPr>
        <p:spPr>
          <a:xfrm>
            <a:off x="6220968" y="1508760"/>
            <a:ext cx="2538984" cy="365760"/>
          </a:xfrm>
          <a:prstGeom prst="roundRect">
            <a:avLst>
              <a:gd name="adj" fmla="val 50000"/>
            </a:avLst>
          </a:prstGeom>
          <a:solidFill>
            <a:srgbClr val="2EB872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Where?</a:t>
            </a:r>
            <a:endParaRPr lang="en-US" sz="1250" dirty="0"/>
          </a:p>
        </p:txBody>
      </p:sp>
      <p:sp>
        <p:nvSpPr>
          <p:cNvPr id="17" name="R3_rx148"/>
          <p:cNvSpPr/>
          <p:nvPr/>
        </p:nvSpPr>
        <p:spPr>
          <a:xfrm>
            <a:off x="6248400" y="2011680"/>
            <a:ext cx="2484120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in · on · under</a:t>
            </a:r>
            <a:endParaRPr lang="en-US" sz="1400" dirty="0"/>
          </a:p>
          <a:p>
            <a:pPr algn="ctr"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above · behind</a:t>
            </a:r>
            <a:endParaRPr lang="en-US" sz="1400" dirty="0"/>
          </a:p>
          <a:p>
            <a:pPr algn="ctr"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next to</a:t>
            </a:r>
            <a:endParaRPr lang="en-US" sz="1400" dirty="0"/>
          </a:p>
          <a:p>
            <a:pPr algn="ctr"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in front of</a:t>
            </a:r>
            <a:endParaRPr lang="en-US" sz="1400" dirty="0"/>
          </a:p>
          <a:p>
            <a:pPr algn="ctr"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between</a:t>
            </a:r>
            <a:endParaRPr lang="en-US" sz="1400" dirty="0"/>
          </a:p>
        </p:txBody>
      </p:sp>
      <p:sp>
        <p:nvSpPr>
          <p:cNvPr id="18" name="R4_wc149"/>
          <p:cNvSpPr/>
          <p:nvPr/>
        </p:nvSpPr>
        <p:spPr>
          <a:xfrm>
            <a:off x="320040" y="4544568"/>
            <a:ext cx="8549640" cy="329184"/>
          </a:xfrm>
          <a:prstGeom prst="roundRect">
            <a:avLst>
              <a:gd name="adj" fmla="val 38889"/>
            </a:avLst>
          </a:prstGeom>
          <a:solidFill>
            <a:srgbClr val="FFE3EE"/>
          </a:solidFill>
          <a:ln w="28575">
            <a:solidFill>
              <a:srgbClr val="F7A6C4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9" name="R4_w150"/>
          <p:cNvSpPr/>
          <p:nvPr/>
        </p:nvSpPr>
        <p:spPr>
          <a:xfrm>
            <a:off x="457200" y="4544568"/>
            <a:ext cx="8321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⚠ ✗ There is two pans → ✓ There are two pans.     ✗ a oven → ✓ an oven.     ✗ This knifes → ✓ These knives.</a:t>
            </a:r>
            <a:endParaRPr lang="en-US" sz="10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151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2F8DE4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6</a:t>
            </a:r>
            <a:endParaRPr lang="en-US" sz="2800" dirty="0"/>
          </a:p>
        </p:txBody>
      </p:sp>
      <p:pic>
        <p:nvPicPr>
          <p:cNvPr id="4" name="brY_152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4034333" cy="621792"/>
          </a:xfrm>
          <a:prstGeom prst="rect">
            <a:avLst/>
          </a:prstGeom>
        </p:spPr>
      </p:pic>
      <p:sp>
        <p:nvSpPr>
          <p:cNvPr id="5" name="title_153"/>
          <p:cNvSpPr/>
          <p:nvPr/>
        </p:nvSpPr>
        <p:spPr>
          <a:xfrm>
            <a:off x="1261872" y="164592"/>
            <a:ext cx="3760013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There's or there are?</a:t>
            </a:r>
            <a:endParaRPr lang="en-US" sz="2500" dirty="0"/>
          </a:p>
        </p:txBody>
      </p:sp>
      <p:pic>
        <p:nvPicPr>
          <p:cNvPr id="6" name="brP_154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5248656" cy="402336"/>
          </a:xfrm>
          <a:prstGeom prst="rect">
            <a:avLst/>
          </a:prstGeom>
        </p:spPr>
      </p:pic>
      <p:sp>
        <p:nvSpPr>
          <p:cNvPr id="7" name="ins_155"/>
          <p:cNvSpPr/>
          <p:nvPr/>
        </p:nvSpPr>
        <p:spPr>
          <a:xfrm>
            <a:off x="1353312" y="731520"/>
            <a:ext cx="499262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Complete: there's · there are · is there · are there</a:t>
            </a:r>
            <a:endParaRPr lang="en-US" sz="1250" dirty="0"/>
          </a:p>
        </p:txBody>
      </p:sp>
      <p:sp>
        <p:nvSpPr>
          <p:cNvPr id="8" name="insIT_156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Completa con there's / there are / is there / are there</a:t>
            </a:r>
            <a:endParaRPr lang="en-US" sz="950" dirty="0"/>
          </a:p>
        </p:txBody>
      </p:sp>
      <p:sp>
        <p:nvSpPr>
          <p:cNvPr id="9" name="note_157"/>
          <p:cNvSpPr/>
          <p:nvPr/>
        </p:nvSpPr>
        <p:spPr>
          <a:xfrm rot="180000">
            <a:off x="6382512" y="128016"/>
            <a:ext cx="2029968" cy="1024128"/>
          </a:xfrm>
          <a:prstGeom prst="rect">
            <a:avLst/>
          </a:prstGeom>
          <a:solidFill>
            <a:srgbClr val="FFC2DA"/>
          </a:solidFill>
          <a:ln>
            <a:solidFill>
              <a:srgbClr val="FFC2D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50800" tIns="50800" rIns="508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✍️ WRITE</a:t>
            </a:r>
            <a:pPr algn="ctr"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 · SCRIVI</a:t>
            </a:r>
            <a:endParaRPr lang="en-US" sz="125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5 min   👥 pairs</a:t>
            </a:r>
            <a:endParaRPr lang="en-US" sz="125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Grammar · Controlled practice</a:t>
            </a:r>
            <a:endParaRPr lang="en-US" sz="1250" dirty="0"/>
          </a:p>
        </p:txBody>
      </p:sp>
      <p:pic>
        <p:nvPicPr>
          <p:cNvPr id="10" name="logo_158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1" name="foot_159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L2 · GRAMMAR · Practice</a:t>
            </a:r>
            <a:endParaRPr lang="en-US" sz="800" dirty="0"/>
          </a:p>
        </p:txBody>
      </p:sp>
      <p:sp>
        <p:nvSpPr>
          <p:cNvPr id="12" name="bd_160"/>
          <p:cNvSpPr/>
          <p:nvPr/>
        </p:nvSpPr>
        <p:spPr>
          <a:xfrm>
            <a:off x="548640" y="1513332"/>
            <a:ext cx="310896" cy="310896"/>
          </a:xfrm>
          <a:prstGeom prst="ellipse">
            <a:avLst/>
          </a:prstGeom>
          <a:solidFill>
            <a:srgbClr val="E8508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</a:t>
            </a:r>
            <a:endParaRPr lang="en-US" sz="1000" dirty="0"/>
          </a:p>
        </p:txBody>
      </p:sp>
      <p:sp>
        <p:nvSpPr>
          <p:cNvPr id="13" name="q_161"/>
          <p:cNvSpPr/>
          <p:nvPr/>
        </p:nvSpPr>
        <p:spPr>
          <a:xfrm>
            <a:off x="932688" y="1417320"/>
            <a:ext cx="3291840" cy="502920"/>
          </a:xfrm>
          <a:prstGeom prst="roundRect">
            <a:avLst>
              <a:gd name="adj" fmla="val 18182"/>
            </a:avLst>
          </a:prstGeom>
          <a:solidFill>
            <a:srgbClr val="FFFFFF"/>
          </a:solidFill>
          <a:ln w="28575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___ a problem with the oven.</a:t>
            </a:r>
            <a:endParaRPr lang="en-US" sz="1300" dirty="0"/>
          </a:p>
        </p:txBody>
      </p:sp>
      <p:sp>
        <p:nvSpPr>
          <p:cNvPr id="14" name="R1_chip162"/>
          <p:cNvSpPr/>
          <p:nvPr/>
        </p:nvSpPr>
        <p:spPr>
          <a:xfrm>
            <a:off x="4297680" y="1417320"/>
            <a:ext cx="4480560" cy="502920"/>
          </a:xfrm>
          <a:prstGeom prst="roundRect">
            <a:avLst>
              <a:gd name="adj" fmla="val 18182"/>
            </a:avLst>
          </a:prstGeom>
          <a:solidFill>
            <a:srgbClr val="E3F7EA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There's</a:t>
            </a:r>
            <a:endParaRPr lang="en-US" sz="1200" dirty="0"/>
          </a:p>
        </p:txBody>
      </p:sp>
      <p:sp>
        <p:nvSpPr>
          <p:cNvPr id="15" name="bd_163"/>
          <p:cNvSpPr/>
          <p:nvPr/>
        </p:nvSpPr>
        <p:spPr>
          <a:xfrm>
            <a:off x="548640" y="2061972"/>
            <a:ext cx="310896" cy="310896"/>
          </a:xfrm>
          <a:prstGeom prst="ellipse">
            <a:avLst/>
          </a:prstGeom>
          <a:solidFill>
            <a:srgbClr val="2F8DE4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1000" dirty="0"/>
          </a:p>
        </p:txBody>
      </p:sp>
      <p:sp>
        <p:nvSpPr>
          <p:cNvPr id="16" name="q_164"/>
          <p:cNvSpPr/>
          <p:nvPr/>
        </p:nvSpPr>
        <p:spPr>
          <a:xfrm>
            <a:off x="932688" y="1965960"/>
            <a:ext cx="3291840" cy="502920"/>
          </a:xfrm>
          <a:prstGeom prst="roundRect">
            <a:avLst>
              <a:gd name="adj" fmla="val 18182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___ any clean spoons?</a:t>
            </a:r>
            <a:endParaRPr lang="en-US" sz="1300" dirty="0"/>
          </a:p>
        </p:txBody>
      </p:sp>
      <p:sp>
        <p:nvSpPr>
          <p:cNvPr id="17" name="R2_chip165"/>
          <p:cNvSpPr/>
          <p:nvPr/>
        </p:nvSpPr>
        <p:spPr>
          <a:xfrm>
            <a:off x="4297680" y="1965960"/>
            <a:ext cx="4480560" cy="502920"/>
          </a:xfrm>
          <a:prstGeom prst="roundRect">
            <a:avLst>
              <a:gd name="adj" fmla="val 18182"/>
            </a:avLst>
          </a:prstGeom>
          <a:solidFill>
            <a:srgbClr val="E3F7EA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Are there</a:t>
            </a:r>
            <a:endParaRPr lang="en-US" sz="1200" dirty="0"/>
          </a:p>
        </p:txBody>
      </p:sp>
      <p:sp>
        <p:nvSpPr>
          <p:cNvPr id="18" name="bd_166"/>
          <p:cNvSpPr/>
          <p:nvPr/>
        </p:nvSpPr>
        <p:spPr>
          <a:xfrm>
            <a:off x="548640" y="2610612"/>
            <a:ext cx="310896" cy="310896"/>
          </a:xfrm>
          <a:prstGeom prst="ellipse">
            <a:avLst/>
          </a:prstGeom>
          <a:solidFill>
            <a:srgbClr val="2EB872"/>
          </a:solidFill>
          <a:ln w="28575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1000" dirty="0"/>
          </a:p>
        </p:txBody>
      </p:sp>
      <p:sp>
        <p:nvSpPr>
          <p:cNvPr id="19" name="q_167"/>
          <p:cNvSpPr/>
          <p:nvPr/>
        </p:nvSpPr>
        <p:spPr>
          <a:xfrm>
            <a:off x="932688" y="2514600"/>
            <a:ext cx="3291840" cy="502920"/>
          </a:xfrm>
          <a:prstGeom prst="roundRect">
            <a:avLst>
              <a:gd name="adj" fmla="val 18182"/>
            </a:avLst>
          </a:prstGeom>
          <a:solidFill>
            <a:srgbClr val="FFFFFF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___ three chefs in today.</a:t>
            </a:r>
            <a:endParaRPr lang="en-US" sz="1300" dirty="0"/>
          </a:p>
        </p:txBody>
      </p:sp>
      <p:sp>
        <p:nvSpPr>
          <p:cNvPr id="20" name="R3_chip168"/>
          <p:cNvSpPr/>
          <p:nvPr/>
        </p:nvSpPr>
        <p:spPr>
          <a:xfrm>
            <a:off x="4297680" y="2514600"/>
            <a:ext cx="4480560" cy="502920"/>
          </a:xfrm>
          <a:prstGeom prst="roundRect">
            <a:avLst>
              <a:gd name="adj" fmla="val 18182"/>
            </a:avLst>
          </a:prstGeom>
          <a:solidFill>
            <a:srgbClr val="E3F7EA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There are</a:t>
            </a:r>
            <a:endParaRPr lang="en-US" sz="1200" dirty="0"/>
          </a:p>
        </p:txBody>
      </p:sp>
      <p:sp>
        <p:nvSpPr>
          <p:cNvPr id="21" name="bd_169"/>
          <p:cNvSpPr/>
          <p:nvPr/>
        </p:nvSpPr>
        <p:spPr>
          <a:xfrm>
            <a:off x="548640" y="3159252"/>
            <a:ext cx="310896" cy="310896"/>
          </a:xfrm>
          <a:prstGeom prst="ellipse">
            <a:avLst/>
          </a:prstGeom>
          <a:solidFill>
            <a:srgbClr val="F2B705"/>
          </a:solidFill>
          <a:ln w="28575"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4</a:t>
            </a:r>
            <a:endParaRPr lang="en-US" sz="1000" dirty="0"/>
          </a:p>
        </p:txBody>
      </p:sp>
      <p:sp>
        <p:nvSpPr>
          <p:cNvPr id="22" name="q_170"/>
          <p:cNvSpPr/>
          <p:nvPr/>
        </p:nvSpPr>
        <p:spPr>
          <a:xfrm>
            <a:off x="932688" y="3063240"/>
            <a:ext cx="3291840" cy="502920"/>
          </a:xfrm>
          <a:prstGeom prst="roundRect">
            <a:avLst>
              <a:gd name="adj" fmla="val 18182"/>
            </a:avLst>
          </a:prstGeom>
          <a:solidFill>
            <a:srgbClr val="FFFFFF"/>
          </a:solidFill>
          <a:ln w="28575">
            <a:solidFill>
              <a:srgbClr val="FFE07A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___ a sieve in the drawer?</a:t>
            </a:r>
            <a:endParaRPr lang="en-US" sz="1300" dirty="0"/>
          </a:p>
        </p:txBody>
      </p:sp>
      <p:sp>
        <p:nvSpPr>
          <p:cNvPr id="23" name="R4_chip171"/>
          <p:cNvSpPr/>
          <p:nvPr/>
        </p:nvSpPr>
        <p:spPr>
          <a:xfrm>
            <a:off x="4297680" y="3063240"/>
            <a:ext cx="4480560" cy="502920"/>
          </a:xfrm>
          <a:prstGeom prst="roundRect">
            <a:avLst>
              <a:gd name="adj" fmla="val 18182"/>
            </a:avLst>
          </a:prstGeom>
          <a:solidFill>
            <a:srgbClr val="E3F7EA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Is there</a:t>
            </a:r>
            <a:endParaRPr lang="en-US" sz="1200" dirty="0"/>
          </a:p>
        </p:txBody>
      </p:sp>
      <p:sp>
        <p:nvSpPr>
          <p:cNvPr id="24" name="bd_172"/>
          <p:cNvSpPr/>
          <p:nvPr/>
        </p:nvSpPr>
        <p:spPr>
          <a:xfrm>
            <a:off x="548640" y="3707892"/>
            <a:ext cx="310896" cy="310896"/>
          </a:xfrm>
          <a:prstGeom prst="ellipse">
            <a:avLst/>
          </a:prstGeom>
          <a:solidFill>
            <a:srgbClr val="E8508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5</a:t>
            </a:r>
            <a:endParaRPr lang="en-US" sz="1000" dirty="0"/>
          </a:p>
        </p:txBody>
      </p:sp>
      <p:sp>
        <p:nvSpPr>
          <p:cNvPr id="25" name="q_173"/>
          <p:cNvSpPr/>
          <p:nvPr/>
        </p:nvSpPr>
        <p:spPr>
          <a:xfrm>
            <a:off x="932688" y="3611880"/>
            <a:ext cx="3291840" cy="502920"/>
          </a:xfrm>
          <a:prstGeom prst="roundRect">
            <a:avLst>
              <a:gd name="adj" fmla="val 18182"/>
            </a:avLst>
          </a:prstGeom>
          <a:solidFill>
            <a:srgbClr val="FFFFFF"/>
          </a:solidFill>
          <a:ln w="28575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___ no salt! Who used it?</a:t>
            </a:r>
            <a:endParaRPr lang="en-US" sz="1300" dirty="0"/>
          </a:p>
        </p:txBody>
      </p:sp>
      <p:sp>
        <p:nvSpPr>
          <p:cNvPr id="26" name="R5_chip174"/>
          <p:cNvSpPr/>
          <p:nvPr/>
        </p:nvSpPr>
        <p:spPr>
          <a:xfrm>
            <a:off x="4297680" y="3611880"/>
            <a:ext cx="4480560" cy="502920"/>
          </a:xfrm>
          <a:prstGeom prst="roundRect">
            <a:avLst>
              <a:gd name="adj" fmla="val 18182"/>
            </a:avLst>
          </a:prstGeom>
          <a:solidFill>
            <a:srgbClr val="E3F7EA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There's</a:t>
            </a:r>
            <a:endParaRPr lang="en-US" sz="1200" dirty="0"/>
          </a:p>
        </p:txBody>
      </p:sp>
      <p:sp>
        <p:nvSpPr>
          <p:cNvPr id="27" name="bd_175"/>
          <p:cNvSpPr/>
          <p:nvPr/>
        </p:nvSpPr>
        <p:spPr>
          <a:xfrm>
            <a:off x="548640" y="4256532"/>
            <a:ext cx="310896" cy="310896"/>
          </a:xfrm>
          <a:prstGeom prst="ellipse">
            <a:avLst/>
          </a:prstGeom>
          <a:solidFill>
            <a:srgbClr val="2F8DE4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6</a:t>
            </a:r>
            <a:endParaRPr lang="en-US" sz="1000" dirty="0"/>
          </a:p>
        </p:txBody>
      </p:sp>
      <p:sp>
        <p:nvSpPr>
          <p:cNvPr id="28" name="q_176"/>
          <p:cNvSpPr/>
          <p:nvPr/>
        </p:nvSpPr>
        <p:spPr>
          <a:xfrm>
            <a:off x="932688" y="4160520"/>
            <a:ext cx="3291840" cy="502920"/>
          </a:xfrm>
          <a:prstGeom prst="roundRect">
            <a:avLst>
              <a:gd name="adj" fmla="val 18182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How many knives ___?</a:t>
            </a:r>
            <a:endParaRPr lang="en-US" sz="1300" dirty="0"/>
          </a:p>
        </p:txBody>
      </p:sp>
      <p:sp>
        <p:nvSpPr>
          <p:cNvPr id="29" name="R6_chip177"/>
          <p:cNvSpPr/>
          <p:nvPr/>
        </p:nvSpPr>
        <p:spPr>
          <a:xfrm>
            <a:off x="4297680" y="4160520"/>
            <a:ext cx="4480560" cy="502920"/>
          </a:xfrm>
          <a:prstGeom prst="roundRect">
            <a:avLst>
              <a:gd name="adj" fmla="val 18182"/>
            </a:avLst>
          </a:prstGeom>
          <a:solidFill>
            <a:srgbClr val="E3F7EA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are there</a:t>
            </a:r>
            <a:endParaRPr lang="en-US" sz="12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178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2EB872"/>
          </a:solidFill>
          <a:ln w="28575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7</a:t>
            </a:r>
            <a:endParaRPr lang="en-US" sz="2800" dirty="0"/>
          </a:p>
        </p:txBody>
      </p:sp>
      <p:pic>
        <p:nvPicPr>
          <p:cNvPr id="4" name="brY_179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3090672" cy="621792"/>
          </a:xfrm>
          <a:prstGeom prst="rect">
            <a:avLst/>
          </a:prstGeom>
        </p:spPr>
      </p:pic>
      <p:sp>
        <p:nvSpPr>
          <p:cNvPr id="5" name="title_180"/>
          <p:cNvSpPr/>
          <p:nvPr/>
        </p:nvSpPr>
        <p:spPr>
          <a:xfrm>
            <a:off x="1261872" y="164592"/>
            <a:ext cx="28163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Our new kitchen</a:t>
            </a:r>
            <a:endParaRPr lang="en-US" sz="2500" dirty="0"/>
          </a:p>
        </p:txBody>
      </p:sp>
      <p:pic>
        <p:nvPicPr>
          <p:cNvPr id="6" name="brP_181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4293108" cy="402336"/>
          </a:xfrm>
          <a:prstGeom prst="rect">
            <a:avLst/>
          </a:prstGeom>
        </p:spPr>
      </p:pic>
      <p:sp>
        <p:nvSpPr>
          <p:cNvPr id="7" name="ins_182"/>
          <p:cNvSpPr/>
          <p:nvPr/>
        </p:nvSpPr>
        <p:spPr>
          <a:xfrm>
            <a:off x="1353312" y="731520"/>
            <a:ext cx="403707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Read Chef Marco's message. True or false?</a:t>
            </a:r>
            <a:endParaRPr lang="en-US" sz="1250" dirty="0"/>
          </a:p>
        </p:txBody>
      </p:sp>
      <p:sp>
        <p:nvSpPr>
          <p:cNvPr id="8" name="insIT_183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Leggi il messaggio. Vero o falso?</a:t>
            </a:r>
            <a:endParaRPr lang="en-US" sz="950" dirty="0"/>
          </a:p>
        </p:txBody>
      </p:sp>
      <p:sp>
        <p:nvSpPr>
          <p:cNvPr id="9" name="note_184"/>
          <p:cNvSpPr/>
          <p:nvPr/>
        </p:nvSpPr>
        <p:spPr>
          <a:xfrm rot="180000">
            <a:off x="6382512" y="128016"/>
            <a:ext cx="2029968" cy="1024128"/>
          </a:xfrm>
          <a:prstGeom prst="rect">
            <a:avLst/>
          </a:prstGeom>
          <a:solidFill>
            <a:srgbClr val="FFC2DA"/>
          </a:solidFill>
          <a:ln>
            <a:solidFill>
              <a:srgbClr val="FFC2D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50800" tIns="50800" rIns="508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👀 READ</a:t>
            </a:r>
            <a:pPr algn="ctr"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 · LEGGI</a:t>
            </a:r>
            <a:endParaRPr lang="en-US" sz="125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6 min   👤 alone</a:t>
            </a:r>
            <a:endParaRPr lang="en-US" sz="125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Reading · Communicative</a:t>
            </a:r>
            <a:endParaRPr lang="en-US" sz="1250" dirty="0"/>
          </a:p>
        </p:txBody>
      </p:sp>
      <p:pic>
        <p:nvPicPr>
          <p:cNvPr id="10" name="logo_185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1" name="foot_186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L2 · READING · A message</a:t>
            </a:r>
            <a:endParaRPr lang="en-US" sz="800" dirty="0"/>
          </a:p>
        </p:txBody>
      </p:sp>
      <p:sp>
        <p:nvSpPr>
          <p:cNvPr id="12" name="cd_187"/>
          <p:cNvSpPr/>
          <p:nvPr/>
        </p:nvSpPr>
        <p:spPr>
          <a:xfrm>
            <a:off x="320040" y="1417320"/>
            <a:ext cx="5760720" cy="3364992"/>
          </a:xfrm>
          <a:prstGeom prst="roundRect">
            <a:avLst>
              <a:gd name="adj" fmla="val 3804"/>
            </a:avLst>
          </a:prstGeom>
          <a:solidFill>
            <a:srgbClr val="FFFFFF"/>
          </a:solidFill>
          <a:ln w="28575">
            <a:solidFill>
              <a:srgbClr val="A8E5BE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3" name="rd_188"/>
          <p:cNvSpPr/>
          <p:nvPr/>
        </p:nvSpPr>
        <p:spPr>
          <a:xfrm>
            <a:off x="457200" y="1527048"/>
            <a:ext cx="5486400" cy="3090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spcAft>
                <a:spcPts val="400"/>
              </a:spcAft>
              <a:buNone/>
            </a:pPr>
            <a:r>
              <a:rPr lang="en-US" sz="2000" b="1" dirty="0">
                <a:solidFill>
                  <a:srgbClr val="1F6F4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📱 From: Chef Marco</a:t>
            </a:r>
            <a:endParaRPr lang="en-US" sz="1500" dirty="0"/>
          </a:p>
          <a:p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5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Hi team! Welcome to our new kitchen. There are two big ovens next to the back door, and there's a new hob between them. The fridges are on the left. There isn't a dishwasher yet – it arrives on Friday, sorry KP! The pans are under the table and the knives are on the wall above the sink. Please keep it clean. See you at 8 tomorrow! Marco</a:t>
            </a:r>
            <a:endParaRPr lang="en-US" sz="1500" dirty="0"/>
          </a:p>
        </p:txBody>
      </p:sp>
      <p:sp>
        <p:nvSpPr>
          <p:cNvPr id="14" name="bd_189"/>
          <p:cNvSpPr/>
          <p:nvPr/>
        </p:nvSpPr>
        <p:spPr>
          <a:xfrm>
            <a:off x="6172200" y="1427836"/>
            <a:ext cx="274320" cy="274320"/>
          </a:xfrm>
          <a:prstGeom prst="ellipse">
            <a:avLst/>
          </a:prstGeom>
          <a:solidFill>
            <a:srgbClr val="E8508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</a:t>
            </a:r>
            <a:endParaRPr lang="en-US" sz="900" dirty="0"/>
          </a:p>
        </p:txBody>
      </p:sp>
      <p:sp>
        <p:nvSpPr>
          <p:cNvPr id="15" name="rq_190"/>
          <p:cNvSpPr/>
          <p:nvPr/>
        </p:nvSpPr>
        <p:spPr>
          <a:xfrm>
            <a:off x="6492240" y="1417320"/>
            <a:ext cx="2423160" cy="295351"/>
          </a:xfrm>
          <a:prstGeom prst="roundRect">
            <a:avLst>
              <a:gd name="adj" fmla="val 24768"/>
            </a:avLst>
          </a:prstGeom>
          <a:solidFill>
            <a:srgbClr val="FFFFFF"/>
          </a:solidFill>
          <a:ln w="28575">
            <a:solidFill>
              <a:srgbClr val="F7A6C4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indent="0" marL="0">
              <a:buNone/>
            </a:pPr>
            <a:r>
              <a:rPr lang="en-US" sz="9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There are two ovens.</a:t>
            </a:r>
            <a:endParaRPr lang="en-US" sz="900" dirty="0"/>
          </a:p>
        </p:txBody>
      </p:sp>
      <p:sp>
        <p:nvSpPr>
          <p:cNvPr id="16" name="R1_chip191"/>
          <p:cNvSpPr/>
          <p:nvPr/>
        </p:nvSpPr>
        <p:spPr>
          <a:xfrm>
            <a:off x="6492240" y="1740103"/>
            <a:ext cx="2423160" cy="267919"/>
          </a:xfrm>
          <a:prstGeom prst="roundRect">
            <a:avLst>
              <a:gd name="adj" fmla="val 34130"/>
            </a:avLst>
          </a:prstGeom>
          <a:solidFill>
            <a:srgbClr val="E3F7EA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True</a:t>
            </a:r>
            <a:endParaRPr lang="en-US" sz="1050" dirty="0"/>
          </a:p>
        </p:txBody>
      </p:sp>
      <p:sp>
        <p:nvSpPr>
          <p:cNvPr id="17" name="bd_192"/>
          <p:cNvSpPr/>
          <p:nvPr/>
        </p:nvSpPr>
        <p:spPr>
          <a:xfrm>
            <a:off x="6172200" y="2109978"/>
            <a:ext cx="274320" cy="274320"/>
          </a:xfrm>
          <a:prstGeom prst="ellipse">
            <a:avLst/>
          </a:prstGeom>
          <a:solidFill>
            <a:srgbClr val="2F8DE4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900" dirty="0"/>
          </a:p>
        </p:txBody>
      </p:sp>
      <p:sp>
        <p:nvSpPr>
          <p:cNvPr id="18" name="rq_193"/>
          <p:cNvSpPr/>
          <p:nvPr/>
        </p:nvSpPr>
        <p:spPr>
          <a:xfrm>
            <a:off x="6492240" y="2099462"/>
            <a:ext cx="2423160" cy="295351"/>
          </a:xfrm>
          <a:prstGeom prst="roundRect">
            <a:avLst>
              <a:gd name="adj" fmla="val 24768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indent="0" marL="0">
              <a:buNone/>
            </a:pPr>
            <a:r>
              <a:rPr lang="en-US" sz="9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The hob is next to the fridges.</a:t>
            </a:r>
            <a:endParaRPr lang="en-US" sz="900" dirty="0"/>
          </a:p>
        </p:txBody>
      </p:sp>
      <p:sp>
        <p:nvSpPr>
          <p:cNvPr id="19" name="R2_chip194"/>
          <p:cNvSpPr/>
          <p:nvPr/>
        </p:nvSpPr>
        <p:spPr>
          <a:xfrm>
            <a:off x="6492240" y="2422246"/>
            <a:ext cx="2423160" cy="267919"/>
          </a:xfrm>
          <a:prstGeom prst="roundRect">
            <a:avLst>
              <a:gd name="adj" fmla="val 34130"/>
            </a:avLst>
          </a:prstGeom>
          <a:solidFill>
            <a:srgbClr val="E3F7EA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False – between the ovens</a:t>
            </a:r>
            <a:endParaRPr lang="en-US" sz="1050" dirty="0"/>
          </a:p>
        </p:txBody>
      </p:sp>
      <p:sp>
        <p:nvSpPr>
          <p:cNvPr id="20" name="bd_195"/>
          <p:cNvSpPr/>
          <p:nvPr/>
        </p:nvSpPr>
        <p:spPr>
          <a:xfrm>
            <a:off x="6172200" y="2792120"/>
            <a:ext cx="274320" cy="274320"/>
          </a:xfrm>
          <a:prstGeom prst="ellipse">
            <a:avLst/>
          </a:prstGeom>
          <a:solidFill>
            <a:srgbClr val="2EB872"/>
          </a:solidFill>
          <a:ln w="28575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900" dirty="0"/>
          </a:p>
        </p:txBody>
      </p:sp>
      <p:sp>
        <p:nvSpPr>
          <p:cNvPr id="21" name="rq_196"/>
          <p:cNvSpPr/>
          <p:nvPr/>
        </p:nvSpPr>
        <p:spPr>
          <a:xfrm>
            <a:off x="6492240" y="2781605"/>
            <a:ext cx="2423160" cy="295351"/>
          </a:xfrm>
          <a:prstGeom prst="roundRect">
            <a:avLst>
              <a:gd name="adj" fmla="val 24768"/>
            </a:avLst>
          </a:prstGeom>
          <a:solidFill>
            <a:srgbClr val="FFFFFF"/>
          </a:solidFill>
          <a:ln w="28575">
            <a:solidFill>
              <a:srgbClr val="A8E5BE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indent="0" marL="0">
              <a:buNone/>
            </a:pPr>
            <a:r>
              <a:rPr lang="en-US" sz="9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There's a dishwasher.</a:t>
            </a:r>
            <a:endParaRPr lang="en-US" sz="900" dirty="0"/>
          </a:p>
        </p:txBody>
      </p:sp>
      <p:sp>
        <p:nvSpPr>
          <p:cNvPr id="22" name="R3_chip197"/>
          <p:cNvSpPr/>
          <p:nvPr/>
        </p:nvSpPr>
        <p:spPr>
          <a:xfrm>
            <a:off x="6492240" y="3104388"/>
            <a:ext cx="2423160" cy="267919"/>
          </a:xfrm>
          <a:prstGeom prst="roundRect">
            <a:avLst>
              <a:gd name="adj" fmla="val 34130"/>
            </a:avLst>
          </a:prstGeom>
          <a:solidFill>
            <a:srgbClr val="E3F7EA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False – it arrives Friday</a:t>
            </a:r>
            <a:endParaRPr lang="en-US" sz="1050" dirty="0"/>
          </a:p>
        </p:txBody>
      </p:sp>
      <p:sp>
        <p:nvSpPr>
          <p:cNvPr id="23" name="bd_198"/>
          <p:cNvSpPr/>
          <p:nvPr/>
        </p:nvSpPr>
        <p:spPr>
          <a:xfrm>
            <a:off x="6172200" y="3474263"/>
            <a:ext cx="274320" cy="274320"/>
          </a:xfrm>
          <a:prstGeom prst="ellipse">
            <a:avLst/>
          </a:prstGeom>
          <a:solidFill>
            <a:srgbClr val="F2B705"/>
          </a:solidFill>
          <a:ln w="28575"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4</a:t>
            </a:r>
            <a:endParaRPr lang="en-US" sz="900" dirty="0"/>
          </a:p>
        </p:txBody>
      </p:sp>
      <p:sp>
        <p:nvSpPr>
          <p:cNvPr id="24" name="rq_199"/>
          <p:cNvSpPr/>
          <p:nvPr/>
        </p:nvSpPr>
        <p:spPr>
          <a:xfrm>
            <a:off x="6492240" y="3463747"/>
            <a:ext cx="2423160" cy="295351"/>
          </a:xfrm>
          <a:prstGeom prst="roundRect">
            <a:avLst>
              <a:gd name="adj" fmla="val 24768"/>
            </a:avLst>
          </a:prstGeom>
          <a:solidFill>
            <a:srgbClr val="FFFFFF"/>
          </a:solidFill>
          <a:ln w="28575">
            <a:solidFill>
              <a:srgbClr val="FFE07A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indent="0" marL="0">
              <a:buNone/>
            </a:pPr>
            <a:r>
              <a:rPr lang="en-US" sz="9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The knives are above the sink.</a:t>
            </a:r>
            <a:endParaRPr lang="en-US" sz="900" dirty="0"/>
          </a:p>
        </p:txBody>
      </p:sp>
      <p:sp>
        <p:nvSpPr>
          <p:cNvPr id="25" name="R4_chip200"/>
          <p:cNvSpPr/>
          <p:nvPr/>
        </p:nvSpPr>
        <p:spPr>
          <a:xfrm>
            <a:off x="6492240" y="3786530"/>
            <a:ext cx="2423160" cy="267919"/>
          </a:xfrm>
          <a:prstGeom prst="roundRect">
            <a:avLst>
              <a:gd name="adj" fmla="val 34130"/>
            </a:avLst>
          </a:prstGeom>
          <a:solidFill>
            <a:srgbClr val="E3F7EA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True</a:t>
            </a:r>
            <a:endParaRPr lang="en-US" sz="1050" dirty="0"/>
          </a:p>
        </p:txBody>
      </p:sp>
      <p:sp>
        <p:nvSpPr>
          <p:cNvPr id="26" name="bd_201"/>
          <p:cNvSpPr/>
          <p:nvPr/>
        </p:nvSpPr>
        <p:spPr>
          <a:xfrm>
            <a:off x="6172200" y="4156405"/>
            <a:ext cx="274320" cy="274320"/>
          </a:xfrm>
          <a:prstGeom prst="ellipse">
            <a:avLst/>
          </a:prstGeom>
          <a:solidFill>
            <a:srgbClr val="E8508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5</a:t>
            </a:r>
            <a:endParaRPr lang="en-US" sz="900" dirty="0"/>
          </a:p>
        </p:txBody>
      </p:sp>
      <p:sp>
        <p:nvSpPr>
          <p:cNvPr id="27" name="rq_202"/>
          <p:cNvSpPr/>
          <p:nvPr/>
        </p:nvSpPr>
        <p:spPr>
          <a:xfrm>
            <a:off x="6492240" y="4145890"/>
            <a:ext cx="2423160" cy="295351"/>
          </a:xfrm>
          <a:prstGeom prst="roundRect">
            <a:avLst>
              <a:gd name="adj" fmla="val 24768"/>
            </a:avLst>
          </a:prstGeom>
          <a:solidFill>
            <a:srgbClr val="FFFFFF"/>
          </a:solidFill>
          <a:ln w="28575">
            <a:solidFill>
              <a:srgbClr val="F7A6C4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indent="0" marL="0">
              <a:buNone/>
            </a:pPr>
            <a:r>
              <a:rPr lang="en-US" sz="9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The team starts at 9.</a:t>
            </a:r>
            <a:endParaRPr lang="en-US" sz="900" dirty="0"/>
          </a:p>
        </p:txBody>
      </p:sp>
      <p:sp>
        <p:nvSpPr>
          <p:cNvPr id="28" name="R5_chip203"/>
          <p:cNvSpPr/>
          <p:nvPr/>
        </p:nvSpPr>
        <p:spPr>
          <a:xfrm>
            <a:off x="6492240" y="4468673"/>
            <a:ext cx="2423160" cy="267919"/>
          </a:xfrm>
          <a:prstGeom prst="roundRect">
            <a:avLst>
              <a:gd name="adj" fmla="val 34130"/>
            </a:avLst>
          </a:prstGeom>
          <a:solidFill>
            <a:srgbClr val="E3F7EA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False – at 8</a:t>
            </a:r>
            <a:endParaRPr lang="en-US" sz="105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204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E8508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8</a:t>
            </a:r>
            <a:endParaRPr lang="en-US" sz="2800" dirty="0"/>
          </a:p>
        </p:txBody>
      </p:sp>
      <p:pic>
        <p:nvPicPr>
          <p:cNvPr id="4" name="brY_205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4663440" cy="621792"/>
          </a:xfrm>
          <a:prstGeom prst="rect">
            <a:avLst/>
          </a:prstGeom>
        </p:spPr>
      </p:pic>
      <p:sp>
        <p:nvSpPr>
          <p:cNvPr id="5" name="title_206"/>
          <p:cNvSpPr/>
          <p:nvPr/>
        </p:nvSpPr>
        <p:spPr>
          <a:xfrm>
            <a:off x="1261872" y="164592"/>
            <a:ext cx="4389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Describe it, I'll draw it</a:t>
            </a:r>
            <a:endParaRPr lang="en-US" sz="2500" dirty="0"/>
          </a:p>
        </p:txBody>
      </p:sp>
      <p:pic>
        <p:nvPicPr>
          <p:cNvPr id="6" name="brP_207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5257800" cy="402336"/>
          </a:xfrm>
          <a:prstGeom prst="rect">
            <a:avLst/>
          </a:prstGeom>
        </p:spPr>
      </p:pic>
      <p:sp>
        <p:nvSpPr>
          <p:cNvPr id="7" name="ins_208"/>
          <p:cNvSpPr/>
          <p:nvPr/>
        </p:nvSpPr>
        <p:spPr>
          <a:xfrm>
            <a:off x="1353312" y="731520"/>
            <a:ext cx="50017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Describe your kitchen at work. Your partner draws it.</a:t>
            </a:r>
            <a:endParaRPr lang="en-US" sz="1250" dirty="0"/>
          </a:p>
        </p:txBody>
      </p:sp>
      <p:sp>
        <p:nvSpPr>
          <p:cNvPr id="8" name="insIT_209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Descrivi la tua cucina. Il collega la disegna.</a:t>
            </a:r>
            <a:endParaRPr lang="en-US" sz="950" dirty="0"/>
          </a:p>
        </p:txBody>
      </p:sp>
      <p:sp>
        <p:nvSpPr>
          <p:cNvPr id="9" name="note_210"/>
          <p:cNvSpPr/>
          <p:nvPr/>
        </p:nvSpPr>
        <p:spPr>
          <a:xfrm rot="180000">
            <a:off x="6382512" y="128016"/>
            <a:ext cx="2029968" cy="1024128"/>
          </a:xfrm>
          <a:prstGeom prst="rect">
            <a:avLst/>
          </a:prstGeom>
          <a:solidFill>
            <a:srgbClr val="FFC2DA"/>
          </a:solidFill>
          <a:ln>
            <a:solidFill>
              <a:srgbClr val="FFC2D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50800" tIns="50800" rIns="508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💬 TALK</a:t>
            </a:r>
            <a:pPr algn="ctr"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 · PARLA</a:t>
            </a:r>
            <a:endParaRPr lang="en-US" sz="125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10 min   👥 pairs</a:t>
            </a:r>
            <a:endParaRPr lang="en-US" sz="125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Speaking · Communicative</a:t>
            </a:r>
            <a:endParaRPr lang="en-US" sz="1250" dirty="0"/>
          </a:p>
        </p:txBody>
      </p:sp>
      <p:pic>
        <p:nvPicPr>
          <p:cNvPr id="10" name="logo_211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1" name="foot_212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L2 · SPEAKING · Information gap</a:t>
            </a:r>
            <a:endParaRPr lang="en-US" sz="800" dirty="0"/>
          </a:p>
        </p:txBody>
      </p:sp>
      <p:sp>
        <p:nvSpPr>
          <p:cNvPr id="12" name="R1_qb213"/>
          <p:cNvSpPr/>
          <p:nvPr/>
        </p:nvSpPr>
        <p:spPr>
          <a:xfrm>
            <a:off x="576072" y="1453896"/>
            <a:ext cx="329184" cy="329184"/>
          </a:xfrm>
          <a:prstGeom prst="ellipse">
            <a:avLst/>
          </a:prstGeom>
          <a:solidFill>
            <a:srgbClr val="E8508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</a:t>
            </a:r>
            <a:endParaRPr lang="en-US" sz="1100" dirty="0"/>
          </a:p>
        </p:txBody>
      </p:sp>
      <p:sp>
        <p:nvSpPr>
          <p:cNvPr id="13" name="R1_sq214"/>
          <p:cNvSpPr/>
          <p:nvPr/>
        </p:nvSpPr>
        <p:spPr>
          <a:xfrm>
            <a:off x="978408" y="1417320"/>
            <a:ext cx="7891272" cy="530352"/>
          </a:xfrm>
          <a:prstGeom prst="roundRect">
            <a:avLst>
              <a:gd name="adj" fmla="val 20690"/>
            </a:avLst>
          </a:prstGeom>
          <a:solidFill>
            <a:srgbClr val="FFFFF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Chef A describes his / her kitchen at work. Chef B draws it – no looking!</a:t>
            </a:r>
            <a:endParaRPr lang="en-US" sz="1300" dirty="0"/>
          </a:p>
          <a:p>
            <a:pPr indent="0" marL="0">
              <a:buNone/>
            </a:pPr>
            <a:r>
              <a:rPr lang="en-US" sz="10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e.g. There's a big fridge on the left, next to the door. The hob is between…</a:t>
            </a:r>
            <a:endParaRPr lang="en-US" sz="1300" dirty="0"/>
          </a:p>
        </p:txBody>
      </p:sp>
      <p:sp>
        <p:nvSpPr>
          <p:cNvPr id="14" name="R2_qb215"/>
          <p:cNvSpPr/>
          <p:nvPr/>
        </p:nvSpPr>
        <p:spPr>
          <a:xfrm>
            <a:off x="576072" y="2057400"/>
            <a:ext cx="329184" cy="329184"/>
          </a:xfrm>
          <a:prstGeom prst="ellipse">
            <a:avLst/>
          </a:prstGeom>
          <a:solidFill>
            <a:srgbClr val="2F8DE4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1100" dirty="0"/>
          </a:p>
        </p:txBody>
      </p:sp>
      <p:sp>
        <p:nvSpPr>
          <p:cNvPr id="15" name="R2_sq216"/>
          <p:cNvSpPr/>
          <p:nvPr/>
        </p:nvSpPr>
        <p:spPr>
          <a:xfrm>
            <a:off x="978408" y="2020824"/>
            <a:ext cx="7891272" cy="530352"/>
          </a:xfrm>
          <a:prstGeom prst="roundRect">
            <a:avLst>
              <a:gd name="adj" fmla="val 20690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Use: There's a… next to the… / There are two… under the…</a:t>
            </a:r>
            <a:endParaRPr lang="en-US" sz="1300" dirty="0"/>
          </a:p>
        </p:txBody>
      </p:sp>
      <p:sp>
        <p:nvSpPr>
          <p:cNvPr id="16" name="R3_qb217"/>
          <p:cNvSpPr/>
          <p:nvPr/>
        </p:nvSpPr>
        <p:spPr>
          <a:xfrm>
            <a:off x="576072" y="2660904"/>
            <a:ext cx="329184" cy="329184"/>
          </a:xfrm>
          <a:prstGeom prst="ellipse">
            <a:avLst/>
          </a:prstGeom>
          <a:solidFill>
            <a:srgbClr val="2EB872"/>
          </a:solidFill>
          <a:ln w="28575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1100" dirty="0"/>
          </a:p>
        </p:txBody>
      </p:sp>
      <p:sp>
        <p:nvSpPr>
          <p:cNvPr id="17" name="R3_sq218"/>
          <p:cNvSpPr/>
          <p:nvPr/>
        </p:nvSpPr>
        <p:spPr>
          <a:xfrm>
            <a:off x="978408" y="2624328"/>
            <a:ext cx="7891272" cy="530352"/>
          </a:xfrm>
          <a:prstGeom prst="roundRect">
            <a:avLst>
              <a:gd name="adj" fmla="val 20690"/>
            </a:avLst>
          </a:prstGeom>
          <a:solidFill>
            <a:srgbClr val="FFFFFF"/>
          </a:solidFill>
          <a:ln w="28575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B asks questions: Is there a…? Where's the…? Are there any…?</a:t>
            </a:r>
            <a:endParaRPr lang="en-US" sz="1300" dirty="0"/>
          </a:p>
        </p:txBody>
      </p:sp>
      <p:sp>
        <p:nvSpPr>
          <p:cNvPr id="18" name="R4_qb219"/>
          <p:cNvSpPr/>
          <p:nvPr/>
        </p:nvSpPr>
        <p:spPr>
          <a:xfrm>
            <a:off x="576072" y="3264408"/>
            <a:ext cx="329184" cy="329184"/>
          </a:xfrm>
          <a:prstGeom prst="ellipse">
            <a:avLst/>
          </a:prstGeom>
          <a:solidFill>
            <a:srgbClr val="F2B705"/>
          </a:solidFill>
          <a:ln w="28575"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4</a:t>
            </a:r>
            <a:endParaRPr lang="en-US" sz="1100" dirty="0"/>
          </a:p>
        </p:txBody>
      </p:sp>
      <p:sp>
        <p:nvSpPr>
          <p:cNvPr id="19" name="R4_sq220"/>
          <p:cNvSpPr/>
          <p:nvPr/>
        </p:nvSpPr>
        <p:spPr>
          <a:xfrm>
            <a:off x="978408" y="3227832"/>
            <a:ext cx="7891272" cy="530352"/>
          </a:xfrm>
          <a:prstGeom prst="roundRect">
            <a:avLst>
              <a:gd name="adj" fmla="val 20690"/>
            </a:avLst>
          </a:prstGeom>
          <a:solidFill>
            <a:srgbClr val="FFFFFF"/>
          </a:solidFill>
          <a:ln w="28575"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Compare the drawing with the real kitchen. Then swap.</a:t>
            </a:r>
            <a:endParaRPr lang="en-US" sz="13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221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E8508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9</a:t>
            </a:r>
            <a:endParaRPr lang="en-US" sz="2800" dirty="0"/>
          </a:p>
        </p:txBody>
      </p:sp>
      <p:pic>
        <p:nvPicPr>
          <p:cNvPr id="4" name="brY_222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3719779" cy="621792"/>
          </a:xfrm>
          <a:prstGeom prst="rect">
            <a:avLst/>
          </a:prstGeom>
        </p:spPr>
      </p:pic>
      <p:sp>
        <p:nvSpPr>
          <p:cNvPr id="5" name="title_223"/>
          <p:cNvSpPr/>
          <p:nvPr/>
        </p:nvSpPr>
        <p:spPr>
          <a:xfrm>
            <a:off x="1261872" y="164592"/>
            <a:ext cx="344545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Pass me the…, Chef!</a:t>
            </a:r>
            <a:endParaRPr lang="en-US" sz="2500" dirty="0"/>
          </a:p>
        </p:txBody>
      </p:sp>
      <p:pic>
        <p:nvPicPr>
          <p:cNvPr id="6" name="brP_224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4553712" cy="402336"/>
          </a:xfrm>
          <a:prstGeom prst="rect">
            <a:avLst/>
          </a:prstGeom>
        </p:spPr>
      </p:pic>
      <p:sp>
        <p:nvSpPr>
          <p:cNvPr id="7" name="ins_225"/>
          <p:cNvSpPr/>
          <p:nvPr/>
        </p:nvSpPr>
        <p:spPr>
          <a:xfrm>
            <a:off x="1353312" y="731520"/>
            <a:ext cx="4297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Ask for it – your partner points to it fast!</a:t>
            </a:r>
            <a:endParaRPr lang="en-US" sz="1250" dirty="0"/>
          </a:p>
        </p:txBody>
      </p:sp>
      <p:sp>
        <p:nvSpPr>
          <p:cNvPr id="8" name="insIT_226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Chiedi l'oggetto – il collega lo indica veloce!</a:t>
            </a:r>
            <a:endParaRPr lang="en-US" sz="950" dirty="0"/>
          </a:p>
        </p:txBody>
      </p:sp>
      <p:sp>
        <p:nvSpPr>
          <p:cNvPr id="9" name="note_227"/>
          <p:cNvSpPr/>
          <p:nvPr/>
        </p:nvSpPr>
        <p:spPr>
          <a:xfrm rot="180000">
            <a:off x="6382512" y="128016"/>
            <a:ext cx="2029968" cy="1024128"/>
          </a:xfrm>
          <a:prstGeom prst="rect">
            <a:avLst/>
          </a:prstGeom>
          <a:solidFill>
            <a:srgbClr val="FFC2DA"/>
          </a:solidFill>
          <a:ln>
            <a:solidFill>
              <a:srgbClr val="FFC2D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50800" tIns="50800" rIns="508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🎲 PLAY</a:t>
            </a:r>
            <a:pPr algn="ctr"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 · GIOCA</a:t>
            </a:r>
            <a:endParaRPr lang="en-US" sz="125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8 min   🏆 teams</a:t>
            </a:r>
            <a:endParaRPr lang="en-US" sz="125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Speaking · Communicative</a:t>
            </a:r>
            <a:endParaRPr lang="en-US" sz="1250" dirty="0"/>
          </a:p>
        </p:txBody>
      </p:sp>
      <p:pic>
        <p:nvPicPr>
          <p:cNvPr id="10" name="logo_228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1" name="foot_229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L2 · GAME · equipment + prepositions</a:t>
            </a:r>
            <a:endParaRPr lang="en-US" sz="800" dirty="0"/>
          </a:p>
        </p:txBody>
      </p:sp>
      <p:sp>
        <p:nvSpPr>
          <p:cNvPr id="12" name="R1_qb230"/>
          <p:cNvSpPr/>
          <p:nvPr/>
        </p:nvSpPr>
        <p:spPr>
          <a:xfrm>
            <a:off x="576072" y="1453896"/>
            <a:ext cx="329184" cy="329184"/>
          </a:xfrm>
          <a:prstGeom prst="ellipse">
            <a:avLst/>
          </a:prstGeom>
          <a:solidFill>
            <a:srgbClr val="E8508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</a:t>
            </a:r>
            <a:endParaRPr lang="en-US" sz="1100" dirty="0"/>
          </a:p>
        </p:txBody>
      </p:sp>
      <p:sp>
        <p:nvSpPr>
          <p:cNvPr id="13" name="R1_sq231"/>
          <p:cNvSpPr/>
          <p:nvPr/>
        </p:nvSpPr>
        <p:spPr>
          <a:xfrm>
            <a:off x="978408" y="1417320"/>
            <a:ext cx="7891272" cy="530352"/>
          </a:xfrm>
          <a:prstGeom prst="roundRect">
            <a:avLst>
              <a:gd name="adj" fmla="val 20690"/>
            </a:avLst>
          </a:prstGeom>
          <a:solidFill>
            <a:srgbClr val="FFFFF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Put the equipment (real things or pictures) on the table.</a:t>
            </a:r>
            <a:endParaRPr lang="en-US" sz="1400" dirty="0"/>
          </a:p>
        </p:txBody>
      </p:sp>
      <p:sp>
        <p:nvSpPr>
          <p:cNvPr id="14" name="R2_qb232"/>
          <p:cNvSpPr/>
          <p:nvPr/>
        </p:nvSpPr>
        <p:spPr>
          <a:xfrm>
            <a:off x="576072" y="2057400"/>
            <a:ext cx="329184" cy="329184"/>
          </a:xfrm>
          <a:prstGeom prst="ellipse">
            <a:avLst/>
          </a:prstGeom>
          <a:solidFill>
            <a:srgbClr val="2F8DE4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1100" dirty="0"/>
          </a:p>
        </p:txBody>
      </p:sp>
      <p:sp>
        <p:nvSpPr>
          <p:cNvPr id="15" name="R2_sq233"/>
          <p:cNvSpPr/>
          <p:nvPr/>
        </p:nvSpPr>
        <p:spPr>
          <a:xfrm>
            <a:off x="978408" y="2020824"/>
            <a:ext cx="7891272" cy="530352"/>
          </a:xfrm>
          <a:prstGeom prst="roundRect">
            <a:avLst>
              <a:gd name="adj" fmla="val 20690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Chef A: Pass me the ladle, please! – Chef B points or passes it: Here you are, Chef.</a:t>
            </a:r>
            <a:endParaRPr lang="en-US" sz="1400" dirty="0"/>
          </a:p>
        </p:txBody>
      </p:sp>
      <p:sp>
        <p:nvSpPr>
          <p:cNvPr id="16" name="R3_qb234"/>
          <p:cNvSpPr/>
          <p:nvPr/>
        </p:nvSpPr>
        <p:spPr>
          <a:xfrm>
            <a:off x="576072" y="2660904"/>
            <a:ext cx="329184" cy="329184"/>
          </a:xfrm>
          <a:prstGeom prst="ellipse">
            <a:avLst/>
          </a:prstGeom>
          <a:solidFill>
            <a:srgbClr val="2EB872"/>
          </a:solidFill>
          <a:ln w="28575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1100" dirty="0"/>
          </a:p>
        </p:txBody>
      </p:sp>
      <p:sp>
        <p:nvSpPr>
          <p:cNvPr id="17" name="R3_sq235"/>
          <p:cNvSpPr/>
          <p:nvPr/>
        </p:nvSpPr>
        <p:spPr>
          <a:xfrm>
            <a:off x="978408" y="2624328"/>
            <a:ext cx="7891272" cy="530352"/>
          </a:xfrm>
          <a:prstGeom prst="roundRect">
            <a:avLst>
              <a:gd name="adj" fmla="val 20690"/>
            </a:avLst>
          </a:prstGeom>
          <a:solidFill>
            <a:srgbClr val="FFFFFF"/>
          </a:solidFill>
          <a:ln w="28575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Fast and correct = 1 point. Swap after 10.</a:t>
            </a:r>
            <a:endParaRPr lang="en-US" sz="1400" dirty="0"/>
          </a:p>
        </p:txBody>
      </p:sp>
      <p:sp>
        <p:nvSpPr>
          <p:cNvPr id="18" name="R4_qb236"/>
          <p:cNvSpPr/>
          <p:nvPr/>
        </p:nvSpPr>
        <p:spPr>
          <a:xfrm>
            <a:off x="576072" y="3264408"/>
            <a:ext cx="329184" cy="329184"/>
          </a:xfrm>
          <a:prstGeom prst="ellipse">
            <a:avLst/>
          </a:prstGeom>
          <a:solidFill>
            <a:srgbClr val="F2B705"/>
          </a:solidFill>
          <a:ln w="28575"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4</a:t>
            </a:r>
            <a:endParaRPr lang="en-US" sz="1100" dirty="0"/>
          </a:p>
        </p:txBody>
      </p:sp>
      <p:sp>
        <p:nvSpPr>
          <p:cNvPr id="19" name="R4_sq237"/>
          <p:cNvSpPr/>
          <p:nvPr/>
        </p:nvSpPr>
        <p:spPr>
          <a:xfrm>
            <a:off x="978408" y="3227832"/>
            <a:ext cx="7891272" cy="530352"/>
          </a:xfrm>
          <a:prstGeom prst="roundRect">
            <a:avLst>
              <a:gd name="adj" fmla="val 20690"/>
            </a:avLst>
          </a:prstGeom>
          <a:solidFill>
            <a:srgbClr val="FFFFFF"/>
          </a:solidFill>
          <a:ln w="28575"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Level 2: Pass me the tongs. They're next to the frying pan.</a:t>
            </a:r>
            <a:endParaRPr lang="en-US" sz="14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238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2F8DE4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10</a:t>
            </a:r>
            <a:endParaRPr lang="en-US" sz="2200" dirty="0"/>
          </a:p>
        </p:txBody>
      </p:sp>
      <p:pic>
        <p:nvPicPr>
          <p:cNvPr id="4" name="brY_239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2147011" cy="621792"/>
          </a:xfrm>
          <a:prstGeom prst="rect">
            <a:avLst/>
          </a:prstGeom>
        </p:spPr>
      </p:pic>
      <p:sp>
        <p:nvSpPr>
          <p:cNvPr id="5" name="title_240"/>
          <p:cNvSpPr/>
          <p:nvPr/>
        </p:nvSpPr>
        <p:spPr>
          <a:xfrm>
            <a:off x="1261872" y="164592"/>
            <a:ext cx="1872691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 · 2 · 1</a:t>
            </a:r>
            <a:endParaRPr lang="en-US" sz="2500" dirty="0"/>
          </a:p>
        </p:txBody>
      </p:sp>
      <p:pic>
        <p:nvPicPr>
          <p:cNvPr id="6" name="brP_241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2295144" cy="402336"/>
          </a:xfrm>
          <a:prstGeom prst="rect">
            <a:avLst/>
          </a:prstGeom>
        </p:spPr>
      </p:pic>
      <p:sp>
        <p:nvSpPr>
          <p:cNvPr id="7" name="ins_242"/>
          <p:cNvSpPr/>
          <p:nvPr/>
        </p:nvSpPr>
        <p:spPr>
          <a:xfrm>
            <a:off x="1353312" y="731520"/>
            <a:ext cx="203911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Tell your partner…</a:t>
            </a:r>
            <a:endParaRPr lang="en-US" sz="1250" dirty="0"/>
          </a:p>
        </p:txBody>
      </p:sp>
      <p:sp>
        <p:nvSpPr>
          <p:cNvPr id="8" name="insIT_243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Di' al collega…</a:t>
            </a:r>
            <a:endParaRPr lang="en-US" sz="950" dirty="0"/>
          </a:p>
        </p:txBody>
      </p:sp>
      <p:sp>
        <p:nvSpPr>
          <p:cNvPr id="9" name="note_244"/>
          <p:cNvSpPr/>
          <p:nvPr/>
        </p:nvSpPr>
        <p:spPr>
          <a:xfrm rot="180000">
            <a:off x="6382512" y="128016"/>
            <a:ext cx="2029968" cy="749808"/>
          </a:xfrm>
          <a:prstGeom prst="rect">
            <a:avLst/>
          </a:prstGeom>
          <a:solidFill>
            <a:srgbClr val="FFC2DA"/>
          </a:solidFill>
          <a:ln>
            <a:solidFill>
              <a:srgbClr val="FFC2D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50800" tIns="50800" rIns="508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3 min   👥 pairs</a:t>
            </a:r>
            <a:endParaRPr lang="en-US" sz="11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Revision · Retrieval</a:t>
            </a:r>
            <a:endParaRPr lang="en-US" sz="1100" dirty="0"/>
          </a:p>
        </p:txBody>
      </p:sp>
      <p:pic>
        <p:nvPicPr>
          <p:cNvPr id="10" name="logo_245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1" name="foot_246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L2 · Exit · what can you remember?</a:t>
            </a:r>
            <a:endParaRPr lang="en-US" sz="800" dirty="0"/>
          </a:p>
        </p:txBody>
      </p:sp>
      <p:sp>
        <p:nvSpPr>
          <p:cNvPr id="12" name="bd_247"/>
          <p:cNvSpPr/>
          <p:nvPr/>
        </p:nvSpPr>
        <p:spPr>
          <a:xfrm>
            <a:off x="457200" y="1508760"/>
            <a:ext cx="777240" cy="777240"/>
          </a:xfrm>
          <a:prstGeom prst="ellipse">
            <a:avLst/>
          </a:prstGeom>
          <a:solidFill>
            <a:srgbClr val="E8508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2600" dirty="0"/>
          </a:p>
        </p:txBody>
      </p:sp>
      <p:sp>
        <p:nvSpPr>
          <p:cNvPr id="13" name="rt_248"/>
          <p:cNvSpPr/>
          <p:nvPr/>
        </p:nvSpPr>
        <p:spPr>
          <a:xfrm>
            <a:off x="1417320" y="1581912"/>
            <a:ext cx="3931920" cy="6400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52400" tIns="0" rIns="15240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Tell me 3 new words from today.</a:t>
            </a:r>
            <a:endParaRPr lang="en-US" sz="1400" dirty="0"/>
          </a:p>
        </p:txBody>
      </p:sp>
      <p:sp>
        <p:nvSpPr>
          <p:cNvPr id="14" name="bd_249"/>
          <p:cNvSpPr/>
          <p:nvPr/>
        </p:nvSpPr>
        <p:spPr>
          <a:xfrm>
            <a:off x="457200" y="2468880"/>
            <a:ext cx="777240" cy="777240"/>
          </a:xfrm>
          <a:prstGeom prst="ellipse">
            <a:avLst/>
          </a:prstGeom>
          <a:solidFill>
            <a:srgbClr val="2F8DE4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2600" dirty="0"/>
          </a:p>
        </p:txBody>
      </p:sp>
      <p:sp>
        <p:nvSpPr>
          <p:cNvPr id="15" name="rt_250"/>
          <p:cNvSpPr/>
          <p:nvPr/>
        </p:nvSpPr>
        <p:spPr>
          <a:xfrm>
            <a:off x="1417320" y="2542032"/>
            <a:ext cx="3931920" cy="6400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52400" tIns="0" rIns="15240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Tell me 2 sentences with today's grammar.</a:t>
            </a:r>
            <a:endParaRPr lang="en-US" sz="1400" dirty="0"/>
          </a:p>
        </p:txBody>
      </p:sp>
      <p:sp>
        <p:nvSpPr>
          <p:cNvPr id="16" name="bd_251"/>
          <p:cNvSpPr/>
          <p:nvPr/>
        </p:nvSpPr>
        <p:spPr>
          <a:xfrm>
            <a:off x="457200" y="3429000"/>
            <a:ext cx="777240" cy="777240"/>
          </a:xfrm>
          <a:prstGeom prst="ellipse">
            <a:avLst/>
          </a:prstGeom>
          <a:solidFill>
            <a:srgbClr val="2EB872"/>
          </a:solidFill>
          <a:ln w="28575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</a:t>
            </a:r>
            <a:endParaRPr lang="en-US" sz="2600" dirty="0"/>
          </a:p>
        </p:txBody>
      </p:sp>
      <p:sp>
        <p:nvSpPr>
          <p:cNvPr id="17" name="rt_252"/>
          <p:cNvSpPr/>
          <p:nvPr/>
        </p:nvSpPr>
        <p:spPr>
          <a:xfrm>
            <a:off x="1417320" y="3502152"/>
            <a:ext cx="3931920" cy="6400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8575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52400" tIns="0" rIns="15240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Tell me 1 thing you'll say at work this week.</a:t>
            </a:r>
            <a:endParaRPr lang="en-US" sz="1400" dirty="0"/>
          </a:p>
        </p:txBody>
      </p:sp>
      <p:sp>
        <p:nvSpPr>
          <p:cNvPr id="18" name="cd_253"/>
          <p:cNvSpPr/>
          <p:nvPr/>
        </p:nvSpPr>
        <p:spPr>
          <a:xfrm>
            <a:off x="5669280" y="1417320"/>
            <a:ext cx="3200400" cy="1069848"/>
          </a:xfrm>
          <a:prstGeom prst="roundRect">
            <a:avLst>
              <a:gd name="adj" fmla="val 11966"/>
            </a:avLst>
          </a:prstGeom>
          <a:solidFill>
            <a:srgbClr val="EEE8FB"/>
          </a:solidFill>
          <a:ln w="28575">
            <a:solidFill>
              <a:srgbClr val="CDBFF3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9" name="ii_254"/>
          <p:cNvSpPr/>
          <p:nvPr/>
        </p:nvSpPr>
        <p:spPr>
          <a:xfrm>
            <a:off x="5760720" y="14904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📝</a:t>
            </a:r>
            <a:endParaRPr lang="en-US" sz="2200" dirty="0"/>
          </a:p>
        </p:txBody>
      </p:sp>
      <p:sp>
        <p:nvSpPr>
          <p:cNvPr id="20" name="ih_255"/>
          <p:cNvSpPr/>
          <p:nvPr/>
        </p:nvSpPr>
        <p:spPr>
          <a:xfrm>
            <a:off x="6236208" y="150876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Homework · Compiti</a:t>
            </a:r>
            <a:endParaRPr lang="en-US" sz="1400" dirty="0"/>
          </a:p>
        </p:txBody>
      </p:sp>
      <p:sp>
        <p:nvSpPr>
          <p:cNvPr id="21" name="il_256"/>
          <p:cNvSpPr/>
          <p:nvPr/>
        </p:nvSpPr>
        <p:spPr>
          <a:xfrm>
            <a:off x="6236208" y="1911096"/>
            <a:ext cx="254203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Take 5 photos of equipment in your kitchen. Write: This is a… It's next to the…</a:t>
            </a:r>
            <a:endParaRPr lang="en-US" sz="900" dirty="0"/>
          </a:p>
        </p:txBody>
      </p:sp>
      <p:sp>
        <p:nvSpPr>
          <p:cNvPr id="22" name="st_257"/>
          <p:cNvSpPr/>
          <p:nvPr/>
        </p:nvSpPr>
        <p:spPr>
          <a:xfrm rot="-180000">
            <a:off x="5806440" y="2715768"/>
            <a:ext cx="2926080" cy="685800"/>
          </a:xfrm>
          <a:prstGeom prst="rect">
            <a:avLst/>
          </a:prstGeom>
          <a:solidFill>
            <a:srgbClr val="FFC2DA"/>
          </a:solidFill>
          <a:ln>
            <a:solidFill>
              <a:srgbClr val="FFC2D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50800" tIns="50800" rIns="508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Next lesson: L3 · Ingredients</a:t>
            </a:r>
            <a:endParaRPr lang="en-US" sz="1100" dirty="0"/>
          </a:p>
        </p:txBody>
      </p:sp>
    </p:spTree>
  </p:cSld>
  <p:clrMapOvr>
    <a:masterClrMapping/>
  </p:clrMapOvr>
  <p:transition spd="med">
    <p:push dir="l"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258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2EB872"/>
          </a:solidFill>
          <a:ln w="28575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11</a:t>
            </a:r>
            <a:endParaRPr lang="en-US" sz="2200" dirty="0"/>
          </a:p>
        </p:txBody>
      </p:sp>
      <p:pic>
        <p:nvPicPr>
          <p:cNvPr id="4" name="brY_259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2304288" cy="621792"/>
          </a:xfrm>
          <a:prstGeom prst="rect">
            <a:avLst/>
          </a:prstGeom>
        </p:spPr>
      </p:pic>
      <p:sp>
        <p:nvSpPr>
          <p:cNvPr id="5" name="title_260"/>
          <p:cNvSpPr/>
          <p:nvPr/>
        </p:nvSpPr>
        <p:spPr>
          <a:xfrm>
            <a:off x="1261872" y="164592"/>
            <a:ext cx="202996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Today you…</a:t>
            </a:r>
            <a:endParaRPr lang="en-US" sz="2400" dirty="0"/>
          </a:p>
        </p:txBody>
      </p:sp>
      <p:pic>
        <p:nvPicPr>
          <p:cNvPr id="6" name="brP_261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4553712" cy="402336"/>
          </a:xfrm>
          <a:prstGeom prst="rect">
            <a:avLst/>
          </a:prstGeom>
        </p:spPr>
      </p:pic>
      <p:sp>
        <p:nvSpPr>
          <p:cNvPr id="7" name="ins_262"/>
          <p:cNvSpPr/>
          <p:nvPr/>
        </p:nvSpPr>
        <p:spPr>
          <a:xfrm>
            <a:off x="1353312" y="731520"/>
            <a:ext cx="4297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Can you do it now? Thumbs up or thumbs down!</a:t>
            </a:r>
            <a:endParaRPr lang="en-US" sz="1250" dirty="0"/>
          </a:p>
        </p:txBody>
      </p:sp>
      <p:sp>
        <p:nvSpPr>
          <p:cNvPr id="8" name="insIT_263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Ora sai farlo? Pollice su o pollice giù!</a:t>
            </a:r>
            <a:endParaRPr lang="en-US" sz="950" dirty="0"/>
          </a:p>
        </p:txBody>
      </p:sp>
      <p:sp>
        <p:nvSpPr>
          <p:cNvPr id="9" name="note_264"/>
          <p:cNvSpPr/>
          <p:nvPr/>
        </p:nvSpPr>
        <p:spPr>
          <a:xfrm rot="180000">
            <a:off x="6382512" y="128016"/>
            <a:ext cx="2029968" cy="1024128"/>
          </a:xfrm>
          <a:prstGeom prst="rect">
            <a:avLst/>
          </a:prstGeom>
          <a:solidFill>
            <a:srgbClr val="FFC2DA"/>
          </a:solidFill>
          <a:ln>
            <a:solidFill>
              <a:srgbClr val="FFC2D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50800" tIns="50800" rIns="508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💡 THINK</a:t>
            </a:r>
            <a:pPr algn="ctr"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 · PENSA</a:t>
            </a:r>
            <a:endParaRPr lang="en-US" sz="125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1 min   🙋 whole class</a:t>
            </a:r>
            <a:endParaRPr lang="en-US" sz="125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Revision · Reflection</a:t>
            </a:r>
            <a:endParaRPr lang="en-US" sz="1250" dirty="0"/>
          </a:p>
        </p:txBody>
      </p:sp>
      <p:pic>
        <p:nvPicPr>
          <p:cNvPr id="10" name="logo_265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1" name="foot_266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L2 · Review · what did you do today?</a:t>
            </a:r>
            <a:endParaRPr lang="en-US" sz="800" dirty="0"/>
          </a:p>
        </p:txBody>
      </p:sp>
      <p:sp>
        <p:nvSpPr>
          <p:cNvPr id="12" name="cd_267"/>
          <p:cNvSpPr/>
          <p:nvPr/>
        </p:nvSpPr>
        <p:spPr>
          <a:xfrm>
            <a:off x="548640" y="1417320"/>
            <a:ext cx="6035040" cy="530352"/>
          </a:xfrm>
          <a:prstGeom prst="roundRect">
            <a:avLst>
              <a:gd name="adj" fmla="val 24138"/>
            </a:avLst>
          </a:prstGeom>
          <a:solidFill>
            <a:srgbClr val="FFFFFF"/>
          </a:solidFill>
          <a:ln w="28575">
            <a:solidFill>
              <a:srgbClr val="F7A6C4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3" name="te_268"/>
          <p:cNvSpPr/>
          <p:nvPr/>
        </p:nvSpPr>
        <p:spPr>
          <a:xfrm>
            <a:off x="640080" y="145389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🔑</a:t>
            </a:r>
            <a:endParaRPr lang="en-US" sz="1800" dirty="0"/>
          </a:p>
        </p:txBody>
      </p:sp>
      <p:sp>
        <p:nvSpPr>
          <p:cNvPr id="14" name="tt_269"/>
          <p:cNvSpPr/>
          <p:nvPr/>
        </p:nvSpPr>
        <p:spPr>
          <a:xfrm>
            <a:off x="1188720" y="1417320"/>
            <a:ext cx="47548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Learnt equipment</a:t>
            </a:r>
            <a:endParaRPr lang="en-US" sz="1350" dirty="0"/>
          </a:p>
        </p:txBody>
      </p:sp>
      <p:sp>
        <p:nvSpPr>
          <p:cNvPr id="15" name="R1_tk270"/>
          <p:cNvSpPr/>
          <p:nvPr/>
        </p:nvSpPr>
        <p:spPr>
          <a:xfrm>
            <a:off x="5989320" y="1453896"/>
            <a:ext cx="502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✅</a:t>
            </a:r>
            <a:endParaRPr lang="en-US" sz="1800" dirty="0"/>
          </a:p>
        </p:txBody>
      </p:sp>
      <p:sp>
        <p:nvSpPr>
          <p:cNvPr id="16" name="cd_271"/>
          <p:cNvSpPr/>
          <p:nvPr/>
        </p:nvSpPr>
        <p:spPr>
          <a:xfrm>
            <a:off x="548640" y="2020824"/>
            <a:ext cx="6035040" cy="530352"/>
          </a:xfrm>
          <a:prstGeom prst="roundRect">
            <a:avLst>
              <a:gd name="adj" fmla="val 24138"/>
            </a:avLst>
          </a:prstGeom>
          <a:solidFill>
            <a:srgbClr val="FFFFFF"/>
          </a:solidFill>
          <a:ln w="28575">
            <a:solidFill>
              <a:srgbClr val="A9D3F5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7" name="te_272"/>
          <p:cNvSpPr/>
          <p:nvPr/>
        </p:nvSpPr>
        <p:spPr>
          <a:xfrm>
            <a:off x="640080" y="20574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🧩</a:t>
            </a:r>
            <a:endParaRPr lang="en-US" sz="1800" dirty="0"/>
          </a:p>
        </p:txBody>
      </p:sp>
      <p:sp>
        <p:nvSpPr>
          <p:cNvPr id="18" name="tt_273"/>
          <p:cNvSpPr/>
          <p:nvPr/>
        </p:nvSpPr>
        <p:spPr>
          <a:xfrm>
            <a:off x="1188720" y="2020824"/>
            <a:ext cx="47548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Practised there is / there are</a:t>
            </a:r>
            <a:endParaRPr lang="en-US" sz="1350" dirty="0"/>
          </a:p>
        </p:txBody>
      </p:sp>
      <p:sp>
        <p:nvSpPr>
          <p:cNvPr id="19" name="R2_tk274"/>
          <p:cNvSpPr/>
          <p:nvPr/>
        </p:nvSpPr>
        <p:spPr>
          <a:xfrm>
            <a:off x="5989320" y="2057400"/>
            <a:ext cx="502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✅</a:t>
            </a:r>
            <a:endParaRPr lang="en-US" sz="1800" dirty="0"/>
          </a:p>
        </p:txBody>
      </p:sp>
      <p:sp>
        <p:nvSpPr>
          <p:cNvPr id="20" name="cd_275"/>
          <p:cNvSpPr/>
          <p:nvPr/>
        </p:nvSpPr>
        <p:spPr>
          <a:xfrm>
            <a:off x="548640" y="2624328"/>
            <a:ext cx="6035040" cy="530352"/>
          </a:xfrm>
          <a:prstGeom prst="roundRect">
            <a:avLst>
              <a:gd name="adj" fmla="val 24138"/>
            </a:avLst>
          </a:prstGeom>
          <a:solidFill>
            <a:srgbClr val="FFFFFF"/>
          </a:solidFill>
          <a:ln w="28575">
            <a:solidFill>
              <a:srgbClr val="A8E5BE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21" name="te_276"/>
          <p:cNvSpPr/>
          <p:nvPr/>
        </p:nvSpPr>
        <p:spPr>
          <a:xfrm>
            <a:off x="640080" y="266090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💬</a:t>
            </a:r>
            <a:endParaRPr lang="en-US" sz="1800" dirty="0"/>
          </a:p>
        </p:txBody>
      </p:sp>
      <p:sp>
        <p:nvSpPr>
          <p:cNvPr id="22" name="tt_277"/>
          <p:cNvSpPr/>
          <p:nvPr/>
        </p:nvSpPr>
        <p:spPr>
          <a:xfrm>
            <a:off x="1188720" y="2624328"/>
            <a:ext cx="47548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Practised speaking: where is it?</a:t>
            </a:r>
            <a:endParaRPr lang="en-US" sz="1350" dirty="0"/>
          </a:p>
        </p:txBody>
      </p:sp>
      <p:sp>
        <p:nvSpPr>
          <p:cNvPr id="23" name="R3_tk278"/>
          <p:cNvSpPr/>
          <p:nvPr/>
        </p:nvSpPr>
        <p:spPr>
          <a:xfrm>
            <a:off x="5989320" y="2660904"/>
            <a:ext cx="502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✅</a:t>
            </a:r>
            <a:endParaRPr lang="en-US" sz="1800" dirty="0"/>
          </a:p>
        </p:txBody>
      </p:sp>
      <p:sp>
        <p:nvSpPr>
          <p:cNvPr id="24" name="st_279"/>
          <p:cNvSpPr/>
          <p:nvPr/>
        </p:nvSpPr>
        <p:spPr>
          <a:xfrm rot="180000">
            <a:off x="6949440" y="1691640"/>
            <a:ext cx="1828800" cy="1188720"/>
          </a:xfrm>
          <a:prstGeom prst="rect">
            <a:avLst/>
          </a:prstGeom>
          <a:solidFill>
            <a:srgbClr val="FFE07A"/>
          </a:solidFill>
          <a:ln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50800" tIns="50800" rIns="508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👍  👌  👎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Can you do it now?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Ora sai farlo?</a:t>
            </a:r>
            <a:endParaRPr lang="en-US" sz="13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v_280"/>
          <p:cNvSpPr/>
          <p:nvPr/>
        </p:nvSpPr>
        <p:spPr>
          <a:xfrm>
            <a:off x="4023360" y="914400"/>
            <a:ext cx="1097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dirty="0">
                <a:solidFill>
                  <a:srgbClr val="000000"/>
                </a:solidFill>
              </a:rPr>
              <a:t>⭐</a:t>
            </a:r>
            <a:endParaRPr lang="en-US" sz="5400" dirty="0"/>
          </a:p>
        </p:txBody>
      </p:sp>
      <p:sp>
        <p:nvSpPr>
          <p:cNvPr id="4" name="dvt_281"/>
          <p:cNvSpPr/>
          <p:nvPr/>
        </p:nvSpPr>
        <p:spPr>
          <a:xfrm>
            <a:off x="914400" y="1828800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Optional extensions</a:t>
            </a:r>
            <a:endParaRPr lang="en-US" sz="3400" dirty="0"/>
          </a:p>
        </p:txBody>
      </p:sp>
      <p:sp>
        <p:nvSpPr>
          <p:cNvPr id="5" name="dvs_282"/>
          <p:cNvSpPr/>
          <p:nvPr/>
        </p:nvSpPr>
        <p:spPr>
          <a:xfrm>
            <a:off x="914400" y="26060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Only if there's time – the lesson is finished. · Solo se c'è tempo – la lezione è finita.</a:t>
            </a:r>
            <a:endParaRPr lang="en-US" sz="1250" dirty="0"/>
          </a:p>
        </p:txBody>
      </p:sp>
      <p:pic>
        <p:nvPicPr>
          <p:cNvPr id="6" name="logo_283" descr="/home/claude/lls-course/v2/img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85632" y="4526280"/>
            <a:ext cx="502920" cy="502920"/>
          </a:xfrm>
          <a:prstGeom prst="rect">
            <a:avLst/>
          </a:prstGeom>
        </p:spPr>
      </p:pic>
    </p:spTree>
  </p:cSld>
  <p:clrMapOvr>
    <a:masterClrMapping/>
  </p:clrMapOvr>
  <p:transition spd="med">
    <p:push dir="l"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284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E8508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13</a:t>
            </a:r>
            <a:endParaRPr lang="en-US" sz="2200" dirty="0"/>
          </a:p>
        </p:txBody>
      </p:sp>
      <p:pic>
        <p:nvPicPr>
          <p:cNvPr id="4" name="brY_285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2776118" cy="621792"/>
          </a:xfrm>
          <a:prstGeom prst="rect">
            <a:avLst/>
          </a:prstGeom>
        </p:spPr>
      </p:pic>
      <p:sp>
        <p:nvSpPr>
          <p:cNvPr id="5" name="title_286"/>
          <p:cNvSpPr/>
          <p:nvPr/>
        </p:nvSpPr>
        <p:spPr>
          <a:xfrm>
            <a:off x="1261872" y="164592"/>
            <a:ext cx="250179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This or that?</a:t>
            </a:r>
            <a:endParaRPr lang="en-US" sz="2500" dirty="0"/>
          </a:p>
        </p:txBody>
      </p:sp>
      <p:pic>
        <p:nvPicPr>
          <p:cNvPr id="6" name="brP_287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3945636" cy="402336"/>
          </a:xfrm>
          <a:prstGeom prst="rect">
            <a:avLst/>
          </a:prstGeom>
        </p:spPr>
      </p:pic>
      <p:sp>
        <p:nvSpPr>
          <p:cNvPr id="7" name="ins_288"/>
          <p:cNvSpPr/>
          <p:nvPr/>
        </p:nvSpPr>
        <p:spPr>
          <a:xfrm>
            <a:off x="1353312" y="731520"/>
            <a:ext cx="368960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Choose one. Give a reason. No 'both'!</a:t>
            </a:r>
            <a:endParaRPr lang="en-US" sz="1250" dirty="0"/>
          </a:p>
        </p:txBody>
      </p:sp>
      <p:sp>
        <p:nvSpPr>
          <p:cNvPr id="8" name="insIT_289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Scegline uno. Dai un motivo. Non vale 'tutti e due'!</a:t>
            </a:r>
            <a:endParaRPr lang="en-US" sz="950" dirty="0"/>
          </a:p>
        </p:txBody>
      </p:sp>
      <p:sp>
        <p:nvSpPr>
          <p:cNvPr id="9" name="note_290"/>
          <p:cNvSpPr/>
          <p:nvPr/>
        </p:nvSpPr>
        <p:spPr>
          <a:xfrm rot="180000">
            <a:off x="6382512" y="128016"/>
            <a:ext cx="2029968" cy="1024128"/>
          </a:xfrm>
          <a:prstGeom prst="rect">
            <a:avLst/>
          </a:prstGeom>
          <a:solidFill>
            <a:srgbClr val="FFC2DA"/>
          </a:solidFill>
          <a:ln>
            <a:solidFill>
              <a:srgbClr val="FFC2D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50800" tIns="50800" rIns="508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💬 TALK</a:t>
            </a:r>
            <a:pPr algn="ctr"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 · PARLA</a:t>
            </a:r>
            <a:endParaRPr lang="en-US" sz="125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6 min   👥 pairs</a:t>
            </a:r>
            <a:endParaRPr lang="en-US" sz="125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Speaking · Communicative</a:t>
            </a:r>
            <a:endParaRPr lang="en-US" sz="1250" dirty="0"/>
          </a:p>
        </p:txBody>
      </p:sp>
      <p:pic>
        <p:nvPicPr>
          <p:cNvPr id="10" name="logo_291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1" name="foot_292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L2 · SPEAKING · Choices</a:t>
            </a:r>
            <a:endParaRPr lang="en-US" sz="800" dirty="0"/>
          </a:p>
        </p:txBody>
      </p:sp>
      <p:sp>
        <p:nvSpPr>
          <p:cNvPr id="12" name="ext_293"/>
          <p:cNvSpPr/>
          <p:nvPr/>
        </p:nvSpPr>
        <p:spPr>
          <a:xfrm>
            <a:off x="5120640" y="4727448"/>
            <a:ext cx="3291840" cy="310896"/>
          </a:xfrm>
          <a:prstGeom prst="roundRect">
            <a:avLst>
              <a:gd name="adj" fmla="val 50000"/>
            </a:avLst>
          </a:prstGeom>
          <a:solidFill>
            <a:srgbClr val="EEE8FB"/>
          </a:solidFill>
          <a:ln w="28575">
            <a:solidFill>
              <a:srgbClr val="CDBFF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7B5CD6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⭐ OPTIONAL EXTENSION · only if there's time</a:t>
            </a:r>
            <a:endParaRPr lang="en-US" sz="1050" dirty="0"/>
          </a:p>
        </p:txBody>
      </p:sp>
      <p:sp>
        <p:nvSpPr>
          <p:cNvPr id="13" name="R1_qb294"/>
          <p:cNvSpPr/>
          <p:nvPr/>
        </p:nvSpPr>
        <p:spPr>
          <a:xfrm>
            <a:off x="576072" y="1453896"/>
            <a:ext cx="329184" cy="329184"/>
          </a:xfrm>
          <a:prstGeom prst="ellipse">
            <a:avLst/>
          </a:prstGeom>
          <a:solidFill>
            <a:srgbClr val="E8508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</a:t>
            </a:r>
            <a:endParaRPr lang="en-US" sz="1100" dirty="0"/>
          </a:p>
        </p:txBody>
      </p:sp>
      <p:sp>
        <p:nvSpPr>
          <p:cNvPr id="14" name="R1_sq295"/>
          <p:cNvSpPr/>
          <p:nvPr/>
        </p:nvSpPr>
        <p:spPr>
          <a:xfrm>
            <a:off x="978408" y="1417320"/>
            <a:ext cx="7891272" cy="530352"/>
          </a:xfrm>
          <a:prstGeom prst="roundRect">
            <a:avLst>
              <a:gd name="adj" fmla="val 20690"/>
            </a:avLst>
          </a:prstGeom>
          <a:solidFill>
            <a:srgbClr val="FFFFF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 very sharp knife or a very good pan?</a:t>
            </a:r>
            <a:endParaRPr lang="en-US" sz="1400" dirty="0"/>
          </a:p>
        </p:txBody>
      </p:sp>
      <p:sp>
        <p:nvSpPr>
          <p:cNvPr id="15" name="R2_qb296"/>
          <p:cNvSpPr/>
          <p:nvPr/>
        </p:nvSpPr>
        <p:spPr>
          <a:xfrm>
            <a:off x="576072" y="2057400"/>
            <a:ext cx="329184" cy="329184"/>
          </a:xfrm>
          <a:prstGeom prst="ellipse">
            <a:avLst/>
          </a:prstGeom>
          <a:solidFill>
            <a:srgbClr val="2F8DE4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1100" dirty="0"/>
          </a:p>
        </p:txBody>
      </p:sp>
      <p:sp>
        <p:nvSpPr>
          <p:cNvPr id="16" name="R2_sq297"/>
          <p:cNvSpPr/>
          <p:nvPr/>
        </p:nvSpPr>
        <p:spPr>
          <a:xfrm>
            <a:off x="978408" y="2020824"/>
            <a:ext cx="7891272" cy="530352"/>
          </a:xfrm>
          <a:prstGeom prst="roundRect">
            <a:avLst>
              <a:gd name="adj" fmla="val 20690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 gas hob or an induction hob?</a:t>
            </a:r>
            <a:endParaRPr lang="en-US" sz="1400" dirty="0"/>
          </a:p>
        </p:txBody>
      </p:sp>
      <p:sp>
        <p:nvSpPr>
          <p:cNvPr id="17" name="R3_qb298"/>
          <p:cNvSpPr/>
          <p:nvPr/>
        </p:nvSpPr>
        <p:spPr>
          <a:xfrm>
            <a:off x="576072" y="2660904"/>
            <a:ext cx="329184" cy="329184"/>
          </a:xfrm>
          <a:prstGeom prst="ellipse">
            <a:avLst/>
          </a:prstGeom>
          <a:solidFill>
            <a:srgbClr val="2EB872"/>
          </a:solidFill>
          <a:ln w="28575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1100" dirty="0"/>
          </a:p>
        </p:txBody>
      </p:sp>
      <p:sp>
        <p:nvSpPr>
          <p:cNvPr id="18" name="R3_sq299"/>
          <p:cNvSpPr/>
          <p:nvPr/>
        </p:nvSpPr>
        <p:spPr>
          <a:xfrm>
            <a:off x="978408" y="2624328"/>
            <a:ext cx="7891272" cy="530352"/>
          </a:xfrm>
          <a:prstGeom prst="roundRect">
            <a:avLst>
              <a:gd name="adj" fmla="val 20690"/>
            </a:avLst>
          </a:prstGeom>
          <a:solidFill>
            <a:srgbClr val="FFFFFF"/>
          </a:solidFill>
          <a:ln w="28575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 kitchen with a microwave or a kitchen without one?</a:t>
            </a:r>
            <a:endParaRPr lang="en-US" sz="1400" dirty="0"/>
          </a:p>
        </p:txBody>
      </p:sp>
      <p:sp>
        <p:nvSpPr>
          <p:cNvPr id="19" name="R4_qb300"/>
          <p:cNvSpPr/>
          <p:nvPr/>
        </p:nvSpPr>
        <p:spPr>
          <a:xfrm>
            <a:off x="576072" y="3264408"/>
            <a:ext cx="329184" cy="329184"/>
          </a:xfrm>
          <a:prstGeom prst="ellipse">
            <a:avLst/>
          </a:prstGeom>
          <a:solidFill>
            <a:srgbClr val="F2B705"/>
          </a:solidFill>
          <a:ln w="28575"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4</a:t>
            </a:r>
            <a:endParaRPr lang="en-US" sz="1100" dirty="0"/>
          </a:p>
        </p:txBody>
      </p:sp>
      <p:sp>
        <p:nvSpPr>
          <p:cNvPr id="20" name="R4_sq301"/>
          <p:cNvSpPr/>
          <p:nvPr/>
        </p:nvSpPr>
        <p:spPr>
          <a:xfrm>
            <a:off x="978408" y="3227832"/>
            <a:ext cx="7891272" cy="530352"/>
          </a:xfrm>
          <a:prstGeom prst="roundRect">
            <a:avLst>
              <a:gd name="adj" fmla="val 20690"/>
            </a:avLst>
          </a:prstGeom>
          <a:solidFill>
            <a:srgbClr val="FFFFFF"/>
          </a:solidFill>
          <a:ln w="28575"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 big kitchen and a small team or a small kitchen and a big team?</a:t>
            </a:r>
            <a:endParaRPr lang="en-US" sz="1400" dirty="0"/>
          </a:p>
        </p:txBody>
      </p:sp>
      <p:sp>
        <p:nvSpPr>
          <p:cNvPr id="21" name="R5_qb302"/>
          <p:cNvSpPr/>
          <p:nvPr/>
        </p:nvSpPr>
        <p:spPr>
          <a:xfrm>
            <a:off x="576072" y="3867912"/>
            <a:ext cx="329184" cy="329184"/>
          </a:xfrm>
          <a:prstGeom prst="ellipse">
            <a:avLst/>
          </a:prstGeom>
          <a:solidFill>
            <a:srgbClr val="E8508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5</a:t>
            </a:r>
            <a:endParaRPr lang="en-US" sz="1100" dirty="0"/>
          </a:p>
        </p:txBody>
      </p:sp>
      <p:sp>
        <p:nvSpPr>
          <p:cNvPr id="22" name="R5_sq303"/>
          <p:cNvSpPr/>
          <p:nvPr/>
        </p:nvSpPr>
        <p:spPr>
          <a:xfrm>
            <a:off x="978408" y="3831336"/>
            <a:ext cx="7891272" cy="530352"/>
          </a:xfrm>
          <a:prstGeom prst="roundRect">
            <a:avLst>
              <a:gd name="adj" fmla="val 20690"/>
            </a:avLst>
          </a:prstGeom>
          <a:solidFill>
            <a:srgbClr val="FFFFF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Your kitchen is on fire! You can save only 3 things. Which ones?</a:t>
            </a:r>
            <a:endParaRPr lang="en-US" sz="14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304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2F8DE4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14</a:t>
            </a:r>
            <a:endParaRPr lang="en-US" sz="2200" dirty="0"/>
          </a:p>
        </p:txBody>
      </p:sp>
      <p:pic>
        <p:nvPicPr>
          <p:cNvPr id="4" name="brY_305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2461565" cy="621792"/>
          </a:xfrm>
          <a:prstGeom prst="rect">
            <a:avLst/>
          </a:prstGeom>
        </p:spPr>
      </p:pic>
      <p:sp>
        <p:nvSpPr>
          <p:cNvPr id="5" name="title_306"/>
          <p:cNvSpPr/>
          <p:nvPr/>
        </p:nvSpPr>
        <p:spPr>
          <a:xfrm>
            <a:off x="1261872" y="164592"/>
            <a:ext cx="218724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Odd one out</a:t>
            </a:r>
            <a:endParaRPr lang="en-US" sz="2500" dirty="0"/>
          </a:p>
        </p:txBody>
      </p:sp>
      <p:pic>
        <p:nvPicPr>
          <p:cNvPr id="6" name="brP_307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5257800" cy="402336"/>
          </a:xfrm>
          <a:prstGeom prst="rect">
            <a:avLst/>
          </a:prstGeom>
        </p:spPr>
      </p:pic>
      <p:sp>
        <p:nvSpPr>
          <p:cNvPr id="7" name="ins_308"/>
          <p:cNvSpPr/>
          <p:nvPr/>
        </p:nvSpPr>
        <p:spPr>
          <a:xfrm>
            <a:off x="1353312" y="731520"/>
            <a:ext cx="50017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Which one doesn't belong? Why? More than one answer can be right!</a:t>
            </a:r>
            <a:endParaRPr lang="en-US" sz="1100" dirty="0"/>
          </a:p>
        </p:txBody>
      </p:sp>
      <p:sp>
        <p:nvSpPr>
          <p:cNvPr id="8" name="insIT_309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Quale non c'entra? Perché? Più risposte possibili!</a:t>
            </a:r>
            <a:endParaRPr lang="en-US" sz="950" dirty="0"/>
          </a:p>
        </p:txBody>
      </p:sp>
      <p:sp>
        <p:nvSpPr>
          <p:cNvPr id="9" name="note_310"/>
          <p:cNvSpPr/>
          <p:nvPr/>
        </p:nvSpPr>
        <p:spPr>
          <a:xfrm rot="180000">
            <a:off x="6382512" y="128016"/>
            <a:ext cx="2029968" cy="1024128"/>
          </a:xfrm>
          <a:prstGeom prst="rect">
            <a:avLst/>
          </a:prstGeom>
          <a:solidFill>
            <a:srgbClr val="FFC2DA"/>
          </a:solidFill>
          <a:ln>
            <a:solidFill>
              <a:srgbClr val="FFC2D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50800" tIns="50800" rIns="508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💡 THINK</a:t>
            </a:r>
            <a:pPr algn="ctr"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 · PENSA</a:t>
            </a:r>
            <a:endParaRPr lang="en-US" sz="125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5 min   👥 pairs</a:t>
            </a:r>
            <a:endParaRPr lang="en-US" sz="125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Vocabulary · Controlled practice</a:t>
            </a:r>
            <a:endParaRPr lang="en-US" sz="1250" dirty="0"/>
          </a:p>
        </p:txBody>
      </p:sp>
      <p:pic>
        <p:nvPicPr>
          <p:cNvPr id="10" name="logo_311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1" name="foot_312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L2 · VOCABULARY · Thinking</a:t>
            </a:r>
            <a:endParaRPr lang="en-US" sz="800" dirty="0"/>
          </a:p>
        </p:txBody>
      </p:sp>
      <p:sp>
        <p:nvSpPr>
          <p:cNvPr id="12" name="ext_313"/>
          <p:cNvSpPr/>
          <p:nvPr/>
        </p:nvSpPr>
        <p:spPr>
          <a:xfrm>
            <a:off x="5120640" y="4727448"/>
            <a:ext cx="3291840" cy="310896"/>
          </a:xfrm>
          <a:prstGeom prst="roundRect">
            <a:avLst>
              <a:gd name="adj" fmla="val 50000"/>
            </a:avLst>
          </a:prstGeom>
          <a:solidFill>
            <a:srgbClr val="EEE8FB"/>
          </a:solidFill>
          <a:ln w="28575">
            <a:solidFill>
              <a:srgbClr val="CDBFF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7B5CD6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⭐ OPTIONAL EXTENSION · only if there's time</a:t>
            </a:r>
            <a:endParaRPr lang="en-US" sz="1050" dirty="0"/>
          </a:p>
        </p:txBody>
      </p:sp>
      <p:sp>
        <p:nvSpPr>
          <p:cNvPr id="13" name="bd_314"/>
          <p:cNvSpPr/>
          <p:nvPr/>
        </p:nvSpPr>
        <p:spPr>
          <a:xfrm>
            <a:off x="548640" y="1545336"/>
            <a:ext cx="310896" cy="310896"/>
          </a:xfrm>
          <a:prstGeom prst="ellipse">
            <a:avLst/>
          </a:prstGeom>
          <a:solidFill>
            <a:srgbClr val="E8508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</a:t>
            </a:r>
            <a:endParaRPr lang="en-US" sz="1000" dirty="0"/>
          </a:p>
        </p:txBody>
      </p:sp>
      <p:sp>
        <p:nvSpPr>
          <p:cNvPr id="14" name="q_315"/>
          <p:cNvSpPr/>
          <p:nvPr/>
        </p:nvSpPr>
        <p:spPr>
          <a:xfrm>
            <a:off x="932688" y="1417320"/>
            <a:ext cx="3291840" cy="566928"/>
          </a:xfrm>
          <a:prstGeom prst="roundRect">
            <a:avLst>
              <a:gd name="adj" fmla="val 16129"/>
            </a:avLst>
          </a:prstGeom>
          <a:solidFill>
            <a:srgbClr val="FFFFFF"/>
          </a:solidFill>
          <a:ln w="28575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knife · peeler · grater · ladle</a:t>
            </a:r>
            <a:endParaRPr lang="en-US" sz="1300" dirty="0"/>
          </a:p>
        </p:txBody>
      </p:sp>
      <p:sp>
        <p:nvSpPr>
          <p:cNvPr id="15" name="R1_chip316"/>
          <p:cNvSpPr/>
          <p:nvPr/>
        </p:nvSpPr>
        <p:spPr>
          <a:xfrm>
            <a:off x="4297680" y="1417320"/>
            <a:ext cx="4480560" cy="566928"/>
          </a:xfrm>
          <a:prstGeom prst="roundRect">
            <a:avLst>
              <a:gd name="adj" fmla="val 16129"/>
            </a:avLst>
          </a:prstGeom>
          <a:solidFill>
            <a:srgbClr val="E3F7EA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ladle – it doesn't cut</a:t>
            </a:r>
            <a:endParaRPr lang="en-US" sz="1200" dirty="0"/>
          </a:p>
        </p:txBody>
      </p:sp>
      <p:sp>
        <p:nvSpPr>
          <p:cNvPr id="16" name="bd_317"/>
          <p:cNvSpPr/>
          <p:nvPr/>
        </p:nvSpPr>
        <p:spPr>
          <a:xfrm>
            <a:off x="548640" y="2157984"/>
            <a:ext cx="310896" cy="310896"/>
          </a:xfrm>
          <a:prstGeom prst="ellipse">
            <a:avLst/>
          </a:prstGeom>
          <a:solidFill>
            <a:srgbClr val="2F8DE4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1000" dirty="0"/>
          </a:p>
        </p:txBody>
      </p:sp>
      <p:sp>
        <p:nvSpPr>
          <p:cNvPr id="17" name="q_318"/>
          <p:cNvSpPr/>
          <p:nvPr/>
        </p:nvSpPr>
        <p:spPr>
          <a:xfrm>
            <a:off x="932688" y="2029968"/>
            <a:ext cx="3291840" cy="566928"/>
          </a:xfrm>
          <a:prstGeom prst="roundRect">
            <a:avLst>
              <a:gd name="adj" fmla="val 16129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oven · fridge · freezer · cold room</a:t>
            </a:r>
            <a:endParaRPr lang="en-US" sz="1300" dirty="0"/>
          </a:p>
        </p:txBody>
      </p:sp>
      <p:sp>
        <p:nvSpPr>
          <p:cNvPr id="18" name="R2_chip319"/>
          <p:cNvSpPr/>
          <p:nvPr/>
        </p:nvSpPr>
        <p:spPr>
          <a:xfrm>
            <a:off x="4297680" y="2029968"/>
            <a:ext cx="4480560" cy="566928"/>
          </a:xfrm>
          <a:prstGeom prst="roundRect">
            <a:avLst>
              <a:gd name="adj" fmla="val 16129"/>
            </a:avLst>
          </a:prstGeom>
          <a:solidFill>
            <a:srgbClr val="E3F7EA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oven – it's hot</a:t>
            </a:r>
            <a:endParaRPr lang="en-US" sz="1200" dirty="0"/>
          </a:p>
        </p:txBody>
      </p:sp>
      <p:sp>
        <p:nvSpPr>
          <p:cNvPr id="19" name="bd_320"/>
          <p:cNvSpPr/>
          <p:nvPr/>
        </p:nvSpPr>
        <p:spPr>
          <a:xfrm>
            <a:off x="548640" y="2770632"/>
            <a:ext cx="310896" cy="310896"/>
          </a:xfrm>
          <a:prstGeom prst="ellipse">
            <a:avLst/>
          </a:prstGeom>
          <a:solidFill>
            <a:srgbClr val="2EB872"/>
          </a:solidFill>
          <a:ln w="28575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1000" dirty="0"/>
          </a:p>
        </p:txBody>
      </p:sp>
      <p:sp>
        <p:nvSpPr>
          <p:cNvPr id="20" name="q_321"/>
          <p:cNvSpPr/>
          <p:nvPr/>
        </p:nvSpPr>
        <p:spPr>
          <a:xfrm>
            <a:off x="932688" y="2642616"/>
            <a:ext cx="3291840" cy="566928"/>
          </a:xfrm>
          <a:prstGeom prst="roundRect">
            <a:avLst>
              <a:gd name="adj" fmla="val 16129"/>
            </a:avLst>
          </a:prstGeom>
          <a:solidFill>
            <a:srgbClr val="FFFFFF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saucepan · frying pan · tray · chopping board</a:t>
            </a:r>
            <a:endParaRPr lang="en-US" sz="1300" dirty="0"/>
          </a:p>
        </p:txBody>
      </p:sp>
      <p:sp>
        <p:nvSpPr>
          <p:cNvPr id="21" name="R3_chip322"/>
          <p:cNvSpPr/>
          <p:nvPr/>
        </p:nvSpPr>
        <p:spPr>
          <a:xfrm>
            <a:off x="4297680" y="2642616"/>
            <a:ext cx="4480560" cy="566928"/>
          </a:xfrm>
          <a:prstGeom prst="roundRect">
            <a:avLst>
              <a:gd name="adj" fmla="val 16129"/>
            </a:avLst>
          </a:prstGeom>
          <a:solidFill>
            <a:srgbClr val="E3F7EA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board – no cooking</a:t>
            </a:r>
            <a:endParaRPr lang="en-US" sz="1200" dirty="0"/>
          </a:p>
        </p:txBody>
      </p:sp>
      <p:sp>
        <p:nvSpPr>
          <p:cNvPr id="22" name="bd_323"/>
          <p:cNvSpPr/>
          <p:nvPr/>
        </p:nvSpPr>
        <p:spPr>
          <a:xfrm>
            <a:off x="548640" y="3383280"/>
            <a:ext cx="310896" cy="310896"/>
          </a:xfrm>
          <a:prstGeom prst="ellipse">
            <a:avLst/>
          </a:prstGeom>
          <a:solidFill>
            <a:srgbClr val="F2B705"/>
          </a:solidFill>
          <a:ln w="28575"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4</a:t>
            </a:r>
            <a:endParaRPr lang="en-US" sz="1000" dirty="0"/>
          </a:p>
        </p:txBody>
      </p:sp>
      <p:sp>
        <p:nvSpPr>
          <p:cNvPr id="23" name="q_324"/>
          <p:cNvSpPr/>
          <p:nvPr/>
        </p:nvSpPr>
        <p:spPr>
          <a:xfrm>
            <a:off x="932688" y="3255264"/>
            <a:ext cx="3291840" cy="566928"/>
          </a:xfrm>
          <a:prstGeom prst="roundRect">
            <a:avLst>
              <a:gd name="adj" fmla="val 16129"/>
            </a:avLst>
          </a:prstGeom>
          <a:solidFill>
            <a:srgbClr val="FFFFFF"/>
          </a:solidFill>
          <a:ln w="28575">
            <a:solidFill>
              <a:srgbClr val="FFE07A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scales · thermometer · timer · whisk</a:t>
            </a:r>
            <a:endParaRPr lang="en-US" sz="1300" dirty="0"/>
          </a:p>
        </p:txBody>
      </p:sp>
      <p:sp>
        <p:nvSpPr>
          <p:cNvPr id="24" name="R4_chip325"/>
          <p:cNvSpPr/>
          <p:nvPr/>
        </p:nvSpPr>
        <p:spPr>
          <a:xfrm>
            <a:off x="4297680" y="3255264"/>
            <a:ext cx="4480560" cy="566928"/>
          </a:xfrm>
          <a:prstGeom prst="roundRect">
            <a:avLst>
              <a:gd name="adj" fmla="val 16129"/>
            </a:avLst>
          </a:prstGeom>
          <a:solidFill>
            <a:srgbClr val="E3F7EA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whisk – no measuring</a:t>
            </a:r>
            <a:endParaRPr lang="en-US" sz="1200" dirty="0"/>
          </a:p>
        </p:txBody>
      </p:sp>
      <p:sp>
        <p:nvSpPr>
          <p:cNvPr id="25" name="bd_326"/>
          <p:cNvSpPr/>
          <p:nvPr/>
        </p:nvSpPr>
        <p:spPr>
          <a:xfrm>
            <a:off x="548640" y="3995928"/>
            <a:ext cx="310896" cy="310896"/>
          </a:xfrm>
          <a:prstGeom prst="ellipse">
            <a:avLst/>
          </a:prstGeom>
          <a:solidFill>
            <a:srgbClr val="E8508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5</a:t>
            </a:r>
            <a:endParaRPr lang="en-US" sz="1000" dirty="0"/>
          </a:p>
        </p:txBody>
      </p:sp>
      <p:sp>
        <p:nvSpPr>
          <p:cNvPr id="26" name="q_327"/>
          <p:cNvSpPr/>
          <p:nvPr/>
        </p:nvSpPr>
        <p:spPr>
          <a:xfrm>
            <a:off x="932688" y="3867912"/>
            <a:ext cx="3291840" cy="566928"/>
          </a:xfrm>
          <a:prstGeom prst="roundRect">
            <a:avLst>
              <a:gd name="adj" fmla="val 16129"/>
            </a:avLst>
          </a:prstGeom>
          <a:solidFill>
            <a:srgbClr val="FFFFFF"/>
          </a:solidFill>
          <a:ln w="28575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hob · grill · microwave · sink</a:t>
            </a:r>
            <a:endParaRPr lang="en-US" sz="1300" dirty="0"/>
          </a:p>
        </p:txBody>
      </p:sp>
      <p:sp>
        <p:nvSpPr>
          <p:cNvPr id="27" name="R5_chip328"/>
          <p:cNvSpPr/>
          <p:nvPr/>
        </p:nvSpPr>
        <p:spPr>
          <a:xfrm>
            <a:off x="4297680" y="3867912"/>
            <a:ext cx="4480560" cy="566928"/>
          </a:xfrm>
          <a:prstGeom prst="roundRect">
            <a:avLst>
              <a:gd name="adj" fmla="val 16129"/>
            </a:avLst>
          </a:prstGeom>
          <a:solidFill>
            <a:srgbClr val="E3F7EA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sink – it doesn't heat</a:t>
            </a:r>
            <a:endParaRPr lang="en-US" sz="12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329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E8508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15</a:t>
            </a:r>
            <a:endParaRPr lang="en-US" sz="2200" dirty="0"/>
          </a:p>
        </p:txBody>
      </p:sp>
      <p:pic>
        <p:nvPicPr>
          <p:cNvPr id="4" name="brY_330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3562502" cy="621792"/>
          </a:xfrm>
          <a:prstGeom prst="rect">
            <a:avLst/>
          </a:prstGeom>
        </p:spPr>
      </p:pic>
      <p:sp>
        <p:nvSpPr>
          <p:cNvPr id="5" name="title_331"/>
          <p:cNvSpPr/>
          <p:nvPr/>
        </p:nvSpPr>
        <p:spPr>
          <a:xfrm>
            <a:off x="1261872" y="164592"/>
            <a:ext cx="328818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The forbidden word</a:t>
            </a:r>
            <a:endParaRPr lang="en-US" sz="2500" dirty="0"/>
          </a:p>
        </p:txBody>
      </p:sp>
      <p:pic>
        <p:nvPicPr>
          <p:cNvPr id="6" name="brP_332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4466844" cy="402336"/>
          </a:xfrm>
          <a:prstGeom prst="rect">
            <a:avLst/>
          </a:prstGeom>
        </p:spPr>
      </p:pic>
      <p:sp>
        <p:nvSpPr>
          <p:cNvPr id="7" name="ins_333"/>
          <p:cNvSpPr/>
          <p:nvPr/>
        </p:nvSpPr>
        <p:spPr>
          <a:xfrm>
            <a:off x="1353312" y="731520"/>
            <a:ext cx="421081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Describe the equipment. Don't say its name!</a:t>
            </a:r>
            <a:endParaRPr lang="en-US" sz="1250" dirty="0"/>
          </a:p>
        </p:txBody>
      </p:sp>
      <p:sp>
        <p:nvSpPr>
          <p:cNvPr id="8" name="insIT_334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Descrivi l'oggetto. Non dire il nome!</a:t>
            </a:r>
            <a:endParaRPr lang="en-US" sz="950" dirty="0"/>
          </a:p>
        </p:txBody>
      </p:sp>
      <p:sp>
        <p:nvSpPr>
          <p:cNvPr id="9" name="note_335"/>
          <p:cNvSpPr/>
          <p:nvPr/>
        </p:nvSpPr>
        <p:spPr>
          <a:xfrm rot="180000">
            <a:off x="6382512" y="128016"/>
            <a:ext cx="2029968" cy="1024128"/>
          </a:xfrm>
          <a:prstGeom prst="rect">
            <a:avLst/>
          </a:prstGeom>
          <a:solidFill>
            <a:srgbClr val="FFC2DA"/>
          </a:solidFill>
          <a:ln>
            <a:solidFill>
              <a:srgbClr val="FFC2D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50800" tIns="50800" rIns="508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🎲 PLAY</a:t>
            </a:r>
            <a:pPr algn="ctr"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 · GIOCA</a:t>
            </a:r>
            <a:endParaRPr lang="en-US" sz="125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8 min   🏆 teams</a:t>
            </a:r>
            <a:endParaRPr lang="en-US" sz="125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Speaking · Communicative</a:t>
            </a:r>
            <a:endParaRPr lang="en-US" sz="1250" dirty="0"/>
          </a:p>
        </p:txBody>
      </p:sp>
      <p:pic>
        <p:nvPicPr>
          <p:cNvPr id="10" name="logo_336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1" name="foot_337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L2 · Game · describing</a:t>
            </a:r>
            <a:endParaRPr lang="en-US" sz="800" dirty="0"/>
          </a:p>
        </p:txBody>
      </p:sp>
      <p:sp>
        <p:nvSpPr>
          <p:cNvPr id="12" name="ext_338"/>
          <p:cNvSpPr/>
          <p:nvPr/>
        </p:nvSpPr>
        <p:spPr>
          <a:xfrm>
            <a:off x="5120640" y="4727448"/>
            <a:ext cx="3291840" cy="310896"/>
          </a:xfrm>
          <a:prstGeom prst="roundRect">
            <a:avLst>
              <a:gd name="adj" fmla="val 50000"/>
            </a:avLst>
          </a:prstGeom>
          <a:solidFill>
            <a:srgbClr val="EEE8FB"/>
          </a:solidFill>
          <a:ln w="28575">
            <a:solidFill>
              <a:srgbClr val="CDBFF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7B5CD6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⭐ OPTIONAL EXTENSION · only if there's time</a:t>
            </a:r>
            <a:endParaRPr lang="en-US" sz="1050" dirty="0"/>
          </a:p>
        </p:txBody>
      </p:sp>
      <p:sp>
        <p:nvSpPr>
          <p:cNvPr id="13" name="R1_qb339"/>
          <p:cNvSpPr/>
          <p:nvPr/>
        </p:nvSpPr>
        <p:spPr>
          <a:xfrm>
            <a:off x="576072" y="1453896"/>
            <a:ext cx="329184" cy="329184"/>
          </a:xfrm>
          <a:prstGeom prst="ellipse">
            <a:avLst/>
          </a:prstGeom>
          <a:solidFill>
            <a:srgbClr val="E8508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</a:t>
            </a:r>
            <a:endParaRPr lang="en-US" sz="1100" dirty="0"/>
          </a:p>
        </p:txBody>
      </p:sp>
      <p:sp>
        <p:nvSpPr>
          <p:cNvPr id="14" name="R1_sq340"/>
          <p:cNvSpPr/>
          <p:nvPr/>
        </p:nvSpPr>
        <p:spPr>
          <a:xfrm>
            <a:off x="978408" y="1417320"/>
            <a:ext cx="7891272" cy="530352"/>
          </a:xfrm>
          <a:prstGeom prst="roundRect">
            <a:avLst>
              <a:gd name="adj" fmla="val 20690"/>
            </a:avLst>
          </a:prstGeom>
          <a:solidFill>
            <a:srgbClr val="FFFFF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Chef A thinks of a piece of equipment.</a:t>
            </a:r>
            <a:endParaRPr lang="en-US" sz="1400" dirty="0"/>
          </a:p>
        </p:txBody>
      </p:sp>
      <p:sp>
        <p:nvSpPr>
          <p:cNvPr id="15" name="R2_qb341"/>
          <p:cNvSpPr/>
          <p:nvPr/>
        </p:nvSpPr>
        <p:spPr>
          <a:xfrm>
            <a:off x="576072" y="2057400"/>
            <a:ext cx="329184" cy="329184"/>
          </a:xfrm>
          <a:prstGeom prst="ellipse">
            <a:avLst/>
          </a:prstGeom>
          <a:solidFill>
            <a:srgbClr val="2F8DE4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1100" dirty="0"/>
          </a:p>
        </p:txBody>
      </p:sp>
      <p:sp>
        <p:nvSpPr>
          <p:cNvPr id="16" name="R2_sq342"/>
          <p:cNvSpPr/>
          <p:nvPr/>
        </p:nvSpPr>
        <p:spPr>
          <a:xfrm>
            <a:off x="978408" y="2020824"/>
            <a:ext cx="7891272" cy="530352"/>
          </a:xfrm>
          <a:prstGeom prst="roundRect">
            <a:avLst>
              <a:gd name="adj" fmla="val 20690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Describe it – but you can't say the name, or 'cook' or 'cut'!</a:t>
            </a:r>
            <a:endParaRPr lang="en-US" sz="1400" dirty="0"/>
          </a:p>
        </p:txBody>
      </p:sp>
      <p:sp>
        <p:nvSpPr>
          <p:cNvPr id="17" name="R3_qb343"/>
          <p:cNvSpPr/>
          <p:nvPr/>
        </p:nvSpPr>
        <p:spPr>
          <a:xfrm>
            <a:off x="576072" y="2660904"/>
            <a:ext cx="329184" cy="329184"/>
          </a:xfrm>
          <a:prstGeom prst="ellipse">
            <a:avLst/>
          </a:prstGeom>
          <a:solidFill>
            <a:srgbClr val="2EB872"/>
          </a:solidFill>
          <a:ln w="28575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1100" dirty="0"/>
          </a:p>
        </p:txBody>
      </p:sp>
      <p:sp>
        <p:nvSpPr>
          <p:cNvPr id="18" name="R3_sq344"/>
          <p:cNvSpPr/>
          <p:nvPr/>
        </p:nvSpPr>
        <p:spPr>
          <a:xfrm>
            <a:off x="978408" y="2624328"/>
            <a:ext cx="7891272" cy="530352"/>
          </a:xfrm>
          <a:prstGeom prst="roundRect">
            <a:avLst>
              <a:gd name="adj" fmla="val 20690"/>
            </a:avLst>
          </a:prstGeom>
          <a:solidFill>
            <a:srgbClr val="FFFFFF"/>
          </a:solidFill>
          <a:ln w="28575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It's metal. It's long. You use it for soup… – A ladle!</a:t>
            </a:r>
            <a:endParaRPr lang="en-US" sz="1400" dirty="0"/>
          </a:p>
        </p:txBody>
      </p:sp>
      <p:sp>
        <p:nvSpPr>
          <p:cNvPr id="19" name="R4_qb345"/>
          <p:cNvSpPr/>
          <p:nvPr/>
        </p:nvSpPr>
        <p:spPr>
          <a:xfrm>
            <a:off x="576072" y="3264408"/>
            <a:ext cx="329184" cy="329184"/>
          </a:xfrm>
          <a:prstGeom prst="ellipse">
            <a:avLst/>
          </a:prstGeom>
          <a:solidFill>
            <a:srgbClr val="F2B705"/>
          </a:solidFill>
          <a:ln w="28575"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4</a:t>
            </a:r>
            <a:endParaRPr lang="en-US" sz="1100" dirty="0"/>
          </a:p>
        </p:txBody>
      </p:sp>
      <p:sp>
        <p:nvSpPr>
          <p:cNvPr id="20" name="R4_sq346"/>
          <p:cNvSpPr/>
          <p:nvPr/>
        </p:nvSpPr>
        <p:spPr>
          <a:xfrm>
            <a:off x="978408" y="3227832"/>
            <a:ext cx="7891272" cy="530352"/>
          </a:xfrm>
          <a:prstGeom prst="roundRect">
            <a:avLst>
              <a:gd name="adj" fmla="val 20690"/>
            </a:avLst>
          </a:prstGeom>
          <a:solidFill>
            <a:srgbClr val="FFFFFF"/>
          </a:solidFill>
          <a:ln w="28575"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1 point for each correct guess in 1 minute. Swap!</a:t>
            </a:r>
            <a:endParaRPr lang="en-US" sz="14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L2 Kitchen equipment</dc:title>
  <dc:subject>PptxGenJS Presentation</dc:subject>
  <dc:creator>PptxGenJS</dc:creator>
  <cp:lastModifiedBy>PptxGenJS</cp:lastModifiedBy>
  <cp:revision>1</cp:revision>
  <dcterms:created xsi:type="dcterms:W3CDTF">2026-10-21T09:56:04Z</dcterms:created>
  <dcterms:modified xsi:type="dcterms:W3CDTF">2026-10-21T09:56:04Z</dcterms:modified>
</cp:coreProperties>
</file>