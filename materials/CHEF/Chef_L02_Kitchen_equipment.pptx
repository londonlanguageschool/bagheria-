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 (60 min). Aims: kitchen equipment, there is / there are, this / these, prepositions of place. Click 1 and 2: the problem of not knowing the word — today we fix it.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(5 min). VARIATION: reverse the obvious — answers first, students make the question. Many questions are possible; accept any correct one. Click 1: example questions. Quick extra: teacher mimes 3 kitchen calls (Hot! Behind! Sharp!).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(8 min). Cover the words with your hand / say the number and they say the word. Then teach orally (no picture): tongs (pinze), peeler (pelapatate), grater (grattugia), sieve (colino), chopping board (tagliere), frying pan (padella), tray (teglia). Point at real objects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VARIATION: vocabulary branching — each object gets its verb. Click 1. Then quick-fire: teacher says a verb (weigh!), students name the equipment. Extra verbs: drain pasta in a colander, turn a steak with tongs, peel with a peeler, grate with a grater.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Demonstrate prepositions with a pen and a cup. Practise: Where's the salt? It's on the shelf above the hob.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PRACTICE (5 min). Individually, then compare. Click 1. Fast finishers: write 2 sentences about the classroom.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VARIATION: prediction — before reading, ask: What's in a new kitchen? Then read, decide T/F, correct the false ones with there is / there are.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GAP (12 min). VARIATION: curiosity gap — B really needs the information. Give B a blank piece of paper. Feedback: 3 good sentences, 3 corrections.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(8 min). Use real kitchen objects or the icons slide on screen (they point at the screen). Speed up each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 sheet L2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FORCED CHOICE (6 min). VARIATION: forced choice + 'forbidden easy answer' (no 'both', no 'I don't know'). Follow up: Why? Really? Which is worse?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 ONE OUT (5 min). VARIATION: categorise + justify. Accept any answer with a good reason (e.g. 'knife – you hold the food, not the tool'). Click 1: suggested answers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constraint challenge. Useful language: It's made of… / You use it for + -ing / It's similar to…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3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4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B24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6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5400" dirty="0"/>
          </a:p>
        </p:txBody>
      </p:sp>
      <p:sp>
        <p:nvSpPr>
          <p:cNvPr id="7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2 of 10</a:t>
            </a:r>
            <a:endParaRPr lang="en-US" sz="1200" dirty="0"/>
          </a:p>
        </p:txBody>
      </p:sp>
      <p:sp>
        <p:nvSpPr>
          <p:cNvPr id="8" name="title_7"/>
          <p:cNvSpPr txBox="1"/>
          <p:nvPr/>
        </p:nvSpPr>
        <p:spPr>
          <a:xfrm rot="-180000">
            <a:off x="411480" y="1325880"/>
            <a:ext cx="4837176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EQUIPMENT</a:t>
            </a:r>
            <a:endParaRPr lang="en-US" sz="2800" dirty="0"/>
          </a:p>
        </p:txBody>
      </p:sp>
      <p:sp>
        <p:nvSpPr>
          <p:cNvPr id="9" name="stamp_8"/>
          <p:cNvSpPr txBox="1"/>
          <p:nvPr/>
        </p:nvSpPr>
        <p:spPr>
          <a:xfrm>
            <a:off x="457200" y="2468880"/>
            <a:ext cx="2660904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equipment</a:t>
            </a:r>
            <a:endParaRPr lang="en-US" sz="1200" dirty="0"/>
          </a:p>
        </p:txBody>
      </p:sp>
      <p:sp>
        <p:nvSpPr>
          <p:cNvPr id="10" name="stamp_9"/>
          <p:cNvSpPr txBox="1"/>
          <p:nvPr/>
        </p:nvSpPr>
        <p:spPr>
          <a:xfrm>
            <a:off x="457200" y="294436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there is / there are · this / these</a:t>
            </a:r>
            <a:endParaRPr lang="en-US" sz="1200" dirty="0"/>
          </a:p>
        </p:txBody>
      </p:sp>
      <p:sp>
        <p:nvSpPr>
          <p:cNvPr id="11" name="stamp_10"/>
          <p:cNvSpPr txBox="1"/>
          <p:nvPr/>
        </p:nvSpPr>
        <p:spPr>
          <a:xfrm>
            <a:off x="457200" y="3419856"/>
            <a:ext cx="2756916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where is it?</a:t>
            </a:r>
            <a:endParaRPr lang="en-US" sz="1200" dirty="0"/>
          </a:p>
        </p:txBody>
      </p:sp>
      <p:sp>
        <p:nvSpPr>
          <p:cNvPr id="12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2" descr="saucep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4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4" descr="whi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6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con_16" descr="lad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8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me the… thing, please!</a:t>
            </a:r>
            <a:endParaRPr lang="en-US" sz="1400" dirty="0"/>
          </a:p>
        </p:txBody>
      </p:sp>
      <p:sp>
        <p:nvSpPr>
          <p:cNvPr id="19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ladle, Chef? Here you are.</a:t>
            </a:r>
            <a:endParaRPr lang="en-US" sz="1300" dirty="0"/>
          </a:p>
        </p:txBody>
      </p:sp>
      <p:sp>
        <p:nvSpPr>
          <p:cNvPr id="20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1</a:t>
            </a:r>
            <a:endParaRPr lang="en-US" sz="1100" dirty="0"/>
          </a:p>
        </p:txBody>
      </p:sp>
      <p:sp>
        <p:nvSpPr>
          <p:cNvPr id="5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7" name="title_23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Answers first!</a:t>
            </a:r>
            <a:endParaRPr lang="en-US" sz="2000" dirty="0"/>
          </a:p>
        </p:txBody>
      </p:sp>
      <p:sp>
        <p:nvSpPr>
          <p:cNvPr id="8" name="tape_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25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2" name="signB_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ANSWERS. What are the questions?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Ecco le RISPOSTE. Quali sono le domande?</a:t>
            </a:r>
            <a:endParaRPr lang="en-US" sz="1250" dirty="0"/>
          </a:p>
        </p:txBody>
      </p:sp>
      <p:sp>
        <p:nvSpPr>
          <p:cNvPr id="13" name="box_29"/>
          <p:cNvSpPr txBox="1"/>
          <p:nvPr/>
        </p:nvSpPr>
        <p:spPr>
          <a:xfrm>
            <a:off x="2788920" y="1371600"/>
            <a:ext cx="1476756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Yes, I am.</a:t>
            </a:r>
            <a:endParaRPr lang="en-US" sz="1350" dirty="0"/>
          </a:p>
        </p:txBody>
      </p:sp>
      <p:sp>
        <p:nvSpPr>
          <p:cNvPr id="14" name="R1_a0"/>
          <p:cNvSpPr txBox="1"/>
          <p:nvPr/>
        </p:nvSpPr>
        <p:spPr>
          <a:xfrm>
            <a:off x="4320540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the head chef?</a:t>
            </a:r>
            <a:endParaRPr lang="en-US" sz="1100" dirty="0"/>
          </a:p>
        </p:txBody>
      </p:sp>
      <p:sp>
        <p:nvSpPr>
          <p:cNvPr id="15" name="box_30"/>
          <p:cNvSpPr txBox="1"/>
          <p:nvPr/>
        </p:nvSpPr>
        <p:spPr>
          <a:xfrm>
            <a:off x="5870448" y="1371600"/>
            <a:ext cx="1476756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No, she isn't. She's the sous chef.</a:t>
            </a:r>
            <a:endParaRPr lang="en-US" sz="1350" dirty="0"/>
          </a:p>
        </p:txBody>
      </p:sp>
      <p:sp>
        <p:nvSpPr>
          <p:cNvPr id="16" name="R1_a1"/>
          <p:cNvSpPr txBox="1"/>
          <p:nvPr/>
        </p:nvSpPr>
        <p:spPr>
          <a:xfrm>
            <a:off x="7402068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she the head chef?</a:t>
            </a:r>
            <a:endParaRPr lang="en-US" sz="1100" dirty="0"/>
          </a:p>
        </p:txBody>
      </p:sp>
      <p:sp>
        <p:nvSpPr>
          <p:cNvPr id="17" name="box_31"/>
          <p:cNvSpPr txBox="1"/>
          <p:nvPr/>
        </p:nvSpPr>
        <p:spPr>
          <a:xfrm>
            <a:off x="2788920" y="2368296"/>
            <a:ext cx="1476756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He's from Bagheria.</a:t>
            </a:r>
            <a:endParaRPr lang="en-US" sz="1350" dirty="0"/>
          </a:p>
        </p:txBody>
      </p:sp>
      <p:sp>
        <p:nvSpPr>
          <p:cNvPr id="18" name="R1_a2"/>
          <p:cNvSpPr txBox="1"/>
          <p:nvPr/>
        </p:nvSpPr>
        <p:spPr>
          <a:xfrm>
            <a:off x="4320540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he from?</a:t>
            </a:r>
            <a:endParaRPr lang="en-US" sz="1100" dirty="0"/>
          </a:p>
        </p:txBody>
      </p:sp>
      <p:sp>
        <p:nvSpPr>
          <p:cNvPr id="19" name="box_32"/>
          <p:cNvSpPr txBox="1"/>
          <p:nvPr/>
        </p:nvSpPr>
        <p:spPr>
          <a:xfrm>
            <a:off x="5870448" y="2368296"/>
            <a:ext cx="1476756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They're in the changing room.</a:t>
            </a:r>
            <a:endParaRPr lang="en-US" sz="1350" dirty="0"/>
          </a:p>
        </p:txBody>
      </p:sp>
      <p:sp>
        <p:nvSpPr>
          <p:cNvPr id="20" name="R1_a3"/>
          <p:cNvSpPr txBox="1"/>
          <p:nvPr/>
        </p:nvSpPr>
        <p:spPr>
          <a:xfrm>
            <a:off x="7402068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they?</a:t>
            </a:r>
            <a:endParaRPr lang="en-US" sz="1100" dirty="0"/>
          </a:p>
        </p:txBody>
      </p:sp>
      <p:sp>
        <p:nvSpPr>
          <p:cNvPr id="21" name="box_33"/>
          <p:cNvSpPr txBox="1"/>
          <p:nvPr/>
        </p:nvSpPr>
        <p:spPr>
          <a:xfrm>
            <a:off x="2788920" y="3364992"/>
            <a:ext cx="1476756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At seven o'clock.</a:t>
            </a:r>
            <a:endParaRPr lang="en-US" sz="1350" dirty="0"/>
          </a:p>
        </p:txBody>
      </p:sp>
      <p:sp>
        <p:nvSpPr>
          <p:cNvPr id="22" name="R1_a4"/>
          <p:cNvSpPr txBox="1"/>
          <p:nvPr/>
        </p:nvSpPr>
        <p:spPr>
          <a:xfrm>
            <a:off x="4320540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is service?</a:t>
            </a:r>
            <a:endParaRPr lang="en-US" sz="1100" dirty="0"/>
          </a:p>
        </p:txBody>
      </p:sp>
      <p:sp>
        <p:nvSpPr>
          <p:cNvPr id="23" name="box_34"/>
          <p:cNvSpPr txBox="1"/>
          <p:nvPr/>
        </p:nvSpPr>
        <p:spPr>
          <a:xfrm>
            <a:off x="5870448" y="3364992"/>
            <a:ext cx="1476756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Heard, Chef!</a:t>
            </a:r>
            <a:endParaRPr lang="en-US" sz="1350" dirty="0"/>
          </a:p>
        </p:txBody>
      </p:sp>
      <p:sp>
        <p:nvSpPr>
          <p:cNvPr id="24" name="R1_a5"/>
          <p:cNvSpPr txBox="1"/>
          <p:nvPr/>
        </p:nvSpPr>
        <p:spPr>
          <a:xfrm>
            <a:off x="7402068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order from the chef)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3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3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3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Equipment</a:t>
            </a:r>
            <a:endParaRPr lang="en-US" sz="1100" dirty="0"/>
          </a:p>
        </p:txBody>
      </p:sp>
      <p:sp>
        <p:nvSpPr>
          <p:cNvPr id="5" name="timer_3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footer_3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7" name="title_40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 called?</a:t>
            </a:r>
            <a:endParaRPr lang="en-US" sz="2000" dirty="0"/>
          </a:p>
        </p:txBody>
      </p:sp>
      <p:sp>
        <p:nvSpPr>
          <p:cNvPr id="8" name="tape_4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42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4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4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2" name="signB_4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English word. Click to check the Italian.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la parola inglese. Clicca per l'italiano.</a:t>
            </a:r>
            <a:endParaRPr lang="en-US" sz="1250" dirty="0"/>
          </a:p>
        </p:txBody>
      </p:sp>
      <p:sp>
        <p:nvSpPr>
          <p:cNvPr id="13" name="tile_46"/>
          <p:cNvSpPr/>
          <p:nvPr/>
        </p:nvSpPr>
        <p:spPr>
          <a:xfrm>
            <a:off x="2788920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4" name="ti_47" descr="a 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107" y="1426464"/>
            <a:ext cx="412090" cy="412090"/>
          </a:xfrm>
          <a:prstGeom prst="rect">
            <a:avLst/>
          </a:prstGeom>
        </p:spPr>
      </p:pic>
      <p:sp>
        <p:nvSpPr>
          <p:cNvPr id="15" name="tw_48"/>
          <p:cNvSpPr txBox="1"/>
          <p:nvPr/>
        </p:nvSpPr>
        <p:spPr>
          <a:xfrm>
            <a:off x="2825496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knife</a:t>
            </a:r>
            <a:endParaRPr lang="en-US" sz="1250" dirty="0"/>
          </a:p>
        </p:txBody>
      </p:sp>
      <p:sp>
        <p:nvSpPr>
          <p:cNvPr id="16" name="R1_it0"/>
          <p:cNvSpPr txBox="1"/>
          <p:nvPr/>
        </p:nvSpPr>
        <p:spPr>
          <a:xfrm>
            <a:off x="2825496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coltello</a:t>
            </a:r>
            <a:endParaRPr lang="en-US" sz="1050" dirty="0"/>
          </a:p>
        </p:txBody>
      </p:sp>
      <p:sp>
        <p:nvSpPr>
          <p:cNvPr id="17" name="tile_49"/>
          <p:cNvSpPr/>
          <p:nvPr/>
        </p:nvSpPr>
        <p:spPr>
          <a:xfrm>
            <a:off x="4325112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8" name="ti_50" descr="a clea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99" y="1426464"/>
            <a:ext cx="412090" cy="412090"/>
          </a:xfrm>
          <a:prstGeom prst="rect">
            <a:avLst/>
          </a:prstGeom>
        </p:spPr>
      </p:pic>
      <p:sp>
        <p:nvSpPr>
          <p:cNvPr id="19" name="tw_51"/>
          <p:cNvSpPr txBox="1"/>
          <p:nvPr/>
        </p:nvSpPr>
        <p:spPr>
          <a:xfrm>
            <a:off x="4361688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cleaver</a:t>
            </a:r>
            <a:endParaRPr lang="en-US" sz="1250" dirty="0"/>
          </a:p>
        </p:txBody>
      </p:sp>
      <p:sp>
        <p:nvSpPr>
          <p:cNvPr id="20" name="R1_it1"/>
          <p:cNvSpPr txBox="1"/>
          <p:nvPr/>
        </p:nvSpPr>
        <p:spPr>
          <a:xfrm>
            <a:off x="4361688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mannaia</a:t>
            </a:r>
            <a:endParaRPr lang="en-US" sz="1050" dirty="0"/>
          </a:p>
        </p:txBody>
      </p:sp>
      <p:sp>
        <p:nvSpPr>
          <p:cNvPr id="21" name="tile_52"/>
          <p:cNvSpPr/>
          <p:nvPr/>
        </p:nvSpPr>
        <p:spPr>
          <a:xfrm>
            <a:off x="5861304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2" name="ti_53" descr="a saucep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491" y="1426464"/>
            <a:ext cx="412090" cy="412090"/>
          </a:xfrm>
          <a:prstGeom prst="rect">
            <a:avLst/>
          </a:prstGeom>
        </p:spPr>
      </p:pic>
      <p:sp>
        <p:nvSpPr>
          <p:cNvPr id="23" name="tw_54"/>
          <p:cNvSpPr txBox="1"/>
          <p:nvPr/>
        </p:nvSpPr>
        <p:spPr>
          <a:xfrm>
            <a:off x="5897880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saucepan</a:t>
            </a:r>
            <a:endParaRPr lang="en-US" sz="1250" dirty="0"/>
          </a:p>
        </p:txBody>
      </p:sp>
      <p:sp>
        <p:nvSpPr>
          <p:cNvPr id="24" name="R1_it2"/>
          <p:cNvSpPr txBox="1"/>
          <p:nvPr/>
        </p:nvSpPr>
        <p:spPr>
          <a:xfrm>
            <a:off x="5897880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pentola / casseruola</a:t>
            </a:r>
            <a:endParaRPr lang="en-US" sz="1050" dirty="0"/>
          </a:p>
        </p:txBody>
      </p:sp>
      <p:sp>
        <p:nvSpPr>
          <p:cNvPr id="25" name="tile_55"/>
          <p:cNvSpPr/>
          <p:nvPr/>
        </p:nvSpPr>
        <p:spPr>
          <a:xfrm>
            <a:off x="7397496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6" name="ti_56" descr="a lad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683" y="1426464"/>
            <a:ext cx="412090" cy="412090"/>
          </a:xfrm>
          <a:prstGeom prst="rect">
            <a:avLst/>
          </a:prstGeom>
        </p:spPr>
      </p:pic>
      <p:sp>
        <p:nvSpPr>
          <p:cNvPr id="27" name="tw_57"/>
          <p:cNvSpPr txBox="1"/>
          <p:nvPr/>
        </p:nvSpPr>
        <p:spPr>
          <a:xfrm>
            <a:off x="7434072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ladle</a:t>
            </a:r>
            <a:endParaRPr lang="en-US" sz="1250" dirty="0"/>
          </a:p>
        </p:txBody>
      </p:sp>
      <p:sp>
        <p:nvSpPr>
          <p:cNvPr id="28" name="R1_it3"/>
          <p:cNvSpPr txBox="1"/>
          <p:nvPr/>
        </p:nvSpPr>
        <p:spPr>
          <a:xfrm>
            <a:off x="7434072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mestolo</a:t>
            </a:r>
            <a:endParaRPr lang="en-US" sz="1050" dirty="0"/>
          </a:p>
        </p:txBody>
      </p:sp>
      <p:sp>
        <p:nvSpPr>
          <p:cNvPr id="29" name="tile_58"/>
          <p:cNvSpPr/>
          <p:nvPr/>
        </p:nvSpPr>
        <p:spPr>
          <a:xfrm>
            <a:off x="2788920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0" name="ti_59" descr="a whis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07" y="2566416"/>
            <a:ext cx="412090" cy="412090"/>
          </a:xfrm>
          <a:prstGeom prst="rect">
            <a:avLst/>
          </a:prstGeom>
        </p:spPr>
      </p:pic>
      <p:sp>
        <p:nvSpPr>
          <p:cNvPr id="31" name="tw_60"/>
          <p:cNvSpPr txBox="1"/>
          <p:nvPr/>
        </p:nvSpPr>
        <p:spPr>
          <a:xfrm>
            <a:off x="2825496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whisk</a:t>
            </a:r>
            <a:endParaRPr lang="en-US" sz="1250" dirty="0"/>
          </a:p>
        </p:txBody>
      </p:sp>
      <p:sp>
        <p:nvSpPr>
          <p:cNvPr id="32" name="R1_it4"/>
          <p:cNvSpPr txBox="1"/>
          <p:nvPr/>
        </p:nvSpPr>
        <p:spPr>
          <a:xfrm>
            <a:off x="2825496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frusta</a:t>
            </a:r>
            <a:endParaRPr lang="en-US" sz="1050" dirty="0"/>
          </a:p>
        </p:txBody>
      </p:sp>
      <p:sp>
        <p:nvSpPr>
          <p:cNvPr id="33" name="tile_61"/>
          <p:cNvSpPr/>
          <p:nvPr/>
        </p:nvSpPr>
        <p:spPr>
          <a:xfrm>
            <a:off x="4325112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4" name="ti_62" descr="scal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299" y="2566416"/>
            <a:ext cx="412090" cy="412090"/>
          </a:xfrm>
          <a:prstGeom prst="rect">
            <a:avLst/>
          </a:prstGeom>
        </p:spPr>
      </p:pic>
      <p:sp>
        <p:nvSpPr>
          <p:cNvPr id="35" name="tw_63"/>
          <p:cNvSpPr txBox="1"/>
          <p:nvPr/>
        </p:nvSpPr>
        <p:spPr>
          <a:xfrm>
            <a:off x="4361688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endParaRPr lang="en-US" sz="1250" dirty="0"/>
          </a:p>
        </p:txBody>
      </p:sp>
      <p:sp>
        <p:nvSpPr>
          <p:cNvPr id="36" name="R1_it5"/>
          <p:cNvSpPr txBox="1"/>
          <p:nvPr/>
        </p:nvSpPr>
        <p:spPr>
          <a:xfrm>
            <a:off x="4361688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bilancia</a:t>
            </a:r>
            <a:endParaRPr lang="en-US" sz="1050" dirty="0"/>
          </a:p>
        </p:txBody>
      </p:sp>
      <p:sp>
        <p:nvSpPr>
          <p:cNvPr id="37" name="tile_64"/>
          <p:cNvSpPr/>
          <p:nvPr/>
        </p:nvSpPr>
        <p:spPr>
          <a:xfrm>
            <a:off x="5861304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8" name="ti_65" descr="an ove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491" y="2566416"/>
            <a:ext cx="412090" cy="412090"/>
          </a:xfrm>
          <a:prstGeom prst="rect">
            <a:avLst/>
          </a:prstGeom>
        </p:spPr>
      </p:pic>
      <p:sp>
        <p:nvSpPr>
          <p:cNvPr id="39" name="tw_66"/>
          <p:cNvSpPr txBox="1"/>
          <p:nvPr/>
        </p:nvSpPr>
        <p:spPr>
          <a:xfrm>
            <a:off x="5897880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oven</a:t>
            </a:r>
            <a:endParaRPr lang="en-US" sz="1250" dirty="0"/>
          </a:p>
        </p:txBody>
      </p:sp>
      <p:sp>
        <p:nvSpPr>
          <p:cNvPr id="40" name="R1_it6"/>
          <p:cNvSpPr txBox="1"/>
          <p:nvPr/>
        </p:nvSpPr>
        <p:spPr>
          <a:xfrm>
            <a:off x="5897880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forno</a:t>
            </a:r>
            <a:endParaRPr lang="en-US" sz="1050" dirty="0"/>
          </a:p>
        </p:txBody>
      </p:sp>
      <p:sp>
        <p:nvSpPr>
          <p:cNvPr id="41" name="tile_67"/>
          <p:cNvSpPr/>
          <p:nvPr/>
        </p:nvSpPr>
        <p:spPr>
          <a:xfrm>
            <a:off x="7397496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2" name="ti_68" descr="a fridg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4683" y="2566416"/>
            <a:ext cx="412090" cy="412090"/>
          </a:xfrm>
          <a:prstGeom prst="rect">
            <a:avLst/>
          </a:prstGeom>
        </p:spPr>
      </p:pic>
      <p:sp>
        <p:nvSpPr>
          <p:cNvPr id="43" name="tw_69"/>
          <p:cNvSpPr txBox="1"/>
          <p:nvPr/>
        </p:nvSpPr>
        <p:spPr>
          <a:xfrm>
            <a:off x="7434072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fridge</a:t>
            </a:r>
            <a:endParaRPr lang="en-US" sz="1250" dirty="0"/>
          </a:p>
        </p:txBody>
      </p:sp>
      <p:sp>
        <p:nvSpPr>
          <p:cNvPr id="44" name="R1_it7"/>
          <p:cNvSpPr txBox="1"/>
          <p:nvPr/>
        </p:nvSpPr>
        <p:spPr>
          <a:xfrm>
            <a:off x="7434072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</a:t>
            </a:r>
            <a:endParaRPr lang="en-US" sz="1050" dirty="0"/>
          </a:p>
        </p:txBody>
      </p:sp>
      <p:sp>
        <p:nvSpPr>
          <p:cNvPr id="45" name="tile_70"/>
          <p:cNvSpPr/>
          <p:nvPr/>
        </p:nvSpPr>
        <p:spPr>
          <a:xfrm>
            <a:off x="2788920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6" name="ti_71" descr="a hob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6107" y="3706368"/>
            <a:ext cx="412090" cy="412090"/>
          </a:xfrm>
          <a:prstGeom prst="rect">
            <a:avLst/>
          </a:prstGeom>
        </p:spPr>
      </p:pic>
      <p:sp>
        <p:nvSpPr>
          <p:cNvPr id="47" name="tw_72"/>
          <p:cNvSpPr txBox="1"/>
          <p:nvPr/>
        </p:nvSpPr>
        <p:spPr>
          <a:xfrm>
            <a:off x="2825496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hob</a:t>
            </a:r>
            <a:endParaRPr lang="en-US" sz="1250" dirty="0"/>
          </a:p>
        </p:txBody>
      </p:sp>
      <p:sp>
        <p:nvSpPr>
          <p:cNvPr id="48" name="R1_it8"/>
          <p:cNvSpPr txBox="1"/>
          <p:nvPr/>
        </p:nvSpPr>
        <p:spPr>
          <a:xfrm>
            <a:off x="2825496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cottura</a:t>
            </a:r>
            <a:endParaRPr lang="en-US" sz="1050" dirty="0"/>
          </a:p>
        </p:txBody>
      </p:sp>
      <p:sp>
        <p:nvSpPr>
          <p:cNvPr id="49" name="tile_73"/>
          <p:cNvSpPr/>
          <p:nvPr/>
        </p:nvSpPr>
        <p:spPr>
          <a:xfrm>
            <a:off x="4325112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0" name="ti_74" descr="a microwav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2299" y="3706368"/>
            <a:ext cx="412090" cy="412090"/>
          </a:xfrm>
          <a:prstGeom prst="rect">
            <a:avLst/>
          </a:prstGeom>
        </p:spPr>
      </p:pic>
      <p:sp>
        <p:nvSpPr>
          <p:cNvPr id="51" name="tw_75"/>
          <p:cNvSpPr txBox="1"/>
          <p:nvPr/>
        </p:nvSpPr>
        <p:spPr>
          <a:xfrm>
            <a:off x="4361688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microwave</a:t>
            </a:r>
            <a:endParaRPr lang="en-US" sz="1250" dirty="0"/>
          </a:p>
        </p:txBody>
      </p:sp>
      <p:sp>
        <p:nvSpPr>
          <p:cNvPr id="52" name="R1_it9"/>
          <p:cNvSpPr txBox="1"/>
          <p:nvPr/>
        </p:nvSpPr>
        <p:spPr>
          <a:xfrm>
            <a:off x="4361688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microonde</a:t>
            </a:r>
            <a:endParaRPr lang="en-US" sz="1050" dirty="0"/>
          </a:p>
        </p:txBody>
      </p:sp>
      <p:sp>
        <p:nvSpPr>
          <p:cNvPr id="53" name="tile_76"/>
          <p:cNvSpPr/>
          <p:nvPr/>
        </p:nvSpPr>
        <p:spPr>
          <a:xfrm>
            <a:off x="5861304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4" name="ti_77" descr="a wooden spo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8491" y="3706368"/>
            <a:ext cx="412090" cy="412090"/>
          </a:xfrm>
          <a:prstGeom prst="rect">
            <a:avLst/>
          </a:prstGeom>
        </p:spPr>
      </p:pic>
      <p:sp>
        <p:nvSpPr>
          <p:cNvPr id="55" name="tw_78"/>
          <p:cNvSpPr txBox="1"/>
          <p:nvPr/>
        </p:nvSpPr>
        <p:spPr>
          <a:xfrm>
            <a:off x="5897880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wooden spoon</a:t>
            </a:r>
            <a:endParaRPr lang="en-US" sz="1250" dirty="0"/>
          </a:p>
        </p:txBody>
      </p:sp>
      <p:sp>
        <p:nvSpPr>
          <p:cNvPr id="56" name="R1_it10"/>
          <p:cNvSpPr txBox="1"/>
          <p:nvPr/>
        </p:nvSpPr>
        <p:spPr>
          <a:xfrm>
            <a:off x="5897880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cucchiaio di legno</a:t>
            </a:r>
            <a:endParaRPr lang="en-US" sz="1050" dirty="0"/>
          </a:p>
        </p:txBody>
      </p:sp>
      <p:sp>
        <p:nvSpPr>
          <p:cNvPr id="57" name="tile_79"/>
          <p:cNvSpPr/>
          <p:nvPr/>
        </p:nvSpPr>
        <p:spPr>
          <a:xfrm>
            <a:off x="7397496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8" name="ti_80" descr="oven glove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4683" y="3706368"/>
            <a:ext cx="412090" cy="412090"/>
          </a:xfrm>
          <a:prstGeom prst="rect">
            <a:avLst/>
          </a:prstGeom>
        </p:spPr>
      </p:pic>
      <p:sp>
        <p:nvSpPr>
          <p:cNvPr id="59" name="tw_81"/>
          <p:cNvSpPr txBox="1"/>
          <p:nvPr/>
        </p:nvSpPr>
        <p:spPr>
          <a:xfrm>
            <a:off x="7434072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gloves</a:t>
            </a:r>
            <a:endParaRPr lang="en-US" sz="1250" dirty="0"/>
          </a:p>
        </p:txBody>
      </p:sp>
      <p:sp>
        <p:nvSpPr>
          <p:cNvPr id="60" name="R1_it11"/>
          <p:cNvSpPr txBox="1"/>
          <p:nvPr/>
        </p:nvSpPr>
        <p:spPr>
          <a:xfrm>
            <a:off x="7434072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guanti da forno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8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8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8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Verbs with equipment</a:t>
            </a:r>
            <a:endParaRPr lang="en-US" sz="1100" dirty="0"/>
          </a:p>
        </p:txBody>
      </p:sp>
      <p:sp>
        <p:nvSpPr>
          <p:cNvPr id="5" name="timer_8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8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7" name="title_87"/>
          <p:cNvSpPr txBox="1"/>
          <p:nvPr/>
        </p:nvSpPr>
        <p:spPr>
          <a:xfrm rot="90000">
            <a:off x="320040" y="676656"/>
            <a:ext cx="449884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you do with it?</a:t>
            </a:r>
            <a:endParaRPr lang="en-US" sz="2000" dirty="0"/>
          </a:p>
        </p:txBody>
      </p:sp>
      <p:sp>
        <p:nvSpPr>
          <p:cNvPr id="8" name="tape_88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89"/>
          <p:cNvSpPr/>
          <p:nvPr/>
        </p:nvSpPr>
        <p:spPr>
          <a:xfrm rot="-720000">
            <a:off x="425196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9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9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2" name="signB_9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verb? Say the full sentence.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verbo? Di' la frase intera.</a:t>
            </a:r>
            <a:endParaRPr lang="en-US" sz="1250" dirty="0"/>
          </a:p>
        </p:txBody>
      </p:sp>
      <p:sp>
        <p:nvSpPr>
          <p:cNvPr id="13" name="iconBack_93"/>
          <p:cNvSpPr/>
          <p:nvPr/>
        </p:nvSpPr>
        <p:spPr>
          <a:xfrm>
            <a:off x="2788920" y="137160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4" name="icon_94" descr="whi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72" y="1441552"/>
            <a:ext cx="209855" cy="209855"/>
          </a:xfrm>
          <a:prstGeom prst="rect">
            <a:avLst/>
          </a:prstGeom>
        </p:spPr>
      </p:pic>
      <p:sp>
        <p:nvSpPr>
          <p:cNvPr id="15" name="box_95"/>
          <p:cNvSpPr txBox="1"/>
          <p:nvPr/>
        </p:nvSpPr>
        <p:spPr>
          <a:xfrm>
            <a:off x="3193542" y="1371600"/>
            <a:ext cx="3216402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 ___ eggs with a whisk.</a:t>
            </a:r>
            <a:endParaRPr lang="en-US" sz="1250" dirty="0"/>
          </a:p>
        </p:txBody>
      </p:sp>
      <p:sp>
        <p:nvSpPr>
          <p:cNvPr id="16" name="R1_m0"/>
          <p:cNvSpPr txBox="1"/>
          <p:nvPr/>
        </p:nvSpPr>
        <p:spPr>
          <a:xfrm>
            <a:off x="6483096" y="138988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 / beat</a:t>
            </a:r>
            <a:endParaRPr lang="en-US" sz="1150" dirty="0"/>
          </a:p>
        </p:txBody>
      </p:sp>
      <p:sp>
        <p:nvSpPr>
          <p:cNvPr id="17" name="iconBack_96"/>
          <p:cNvSpPr/>
          <p:nvPr/>
        </p:nvSpPr>
        <p:spPr>
          <a:xfrm>
            <a:off x="2788920" y="179451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8" name="icon_97" descr="lad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872" y="1864462"/>
            <a:ext cx="209855" cy="209855"/>
          </a:xfrm>
          <a:prstGeom prst="rect">
            <a:avLst/>
          </a:prstGeom>
        </p:spPr>
      </p:pic>
      <p:sp>
        <p:nvSpPr>
          <p:cNvPr id="19" name="box_98"/>
          <p:cNvSpPr txBox="1"/>
          <p:nvPr/>
        </p:nvSpPr>
        <p:spPr>
          <a:xfrm>
            <a:off x="3193542" y="1794510"/>
            <a:ext cx="3216402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You ___ soup with a ladle.</a:t>
            </a:r>
            <a:endParaRPr lang="en-US" sz="1250" dirty="0"/>
          </a:p>
        </p:txBody>
      </p:sp>
      <p:sp>
        <p:nvSpPr>
          <p:cNvPr id="20" name="R1_m1"/>
          <p:cNvSpPr txBox="1"/>
          <p:nvPr/>
        </p:nvSpPr>
        <p:spPr>
          <a:xfrm>
            <a:off x="6483096" y="181279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150" dirty="0"/>
          </a:p>
        </p:txBody>
      </p:sp>
      <p:sp>
        <p:nvSpPr>
          <p:cNvPr id="21" name="iconBack_99"/>
          <p:cNvSpPr/>
          <p:nvPr/>
        </p:nvSpPr>
        <p:spPr>
          <a:xfrm>
            <a:off x="2788920" y="221742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2" name="icon_100" descr="sca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872" y="2287372"/>
            <a:ext cx="209855" cy="209855"/>
          </a:xfrm>
          <a:prstGeom prst="rect">
            <a:avLst/>
          </a:prstGeom>
        </p:spPr>
      </p:pic>
      <p:sp>
        <p:nvSpPr>
          <p:cNvPr id="23" name="box_101"/>
          <p:cNvSpPr txBox="1"/>
          <p:nvPr/>
        </p:nvSpPr>
        <p:spPr>
          <a:xfrm>
            <a:off x="3193542" y="2217420"/>
            <a:ext cx="3216402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 ___ flour on the scales.</a:t>
            </a:r>
            <a:endParaRPr lang="en-US" sz="1250" dirty="0"/>
          </a:p>
        </p:txBody>
      </p:sp>
      <p:sp>
        <p:nvSpPr>
          <p:cNvPr id="24" name="R1_m2"/>
          <p:cNvSpPr txBox="1"/>
          <p:nvPr/>
        </p:nvSpPr>
        <p:spPr>
          <a:xfrm>
            <a:off x="6483096" y="223570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</a:t>
            </a:r>
            <a:endParaRPr lang="en-US" sz="1150" dirty="0"/>
          </a:p>
        </p:txBody>
      </p:sp>
      <p:sp>
        <p:nvSpPr>
          <p:cNvPr id="25" name="iconBack_102"/>
          <p:cNvSpPr/>
          <p:nvPr/>
        </p:nvSpPr>
        <p:spPr>
          <a:xfrm>
            <a:off x="2788920" y="264033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6" name="icon_103" descr="ov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872" y="2710282"/>
            <a:ext cx="209855" cy="209855"/>
          </a:xfrm>
          <a:prstGeom prst="rect">
            <a:avLst/>
          </a:prstGeom>
        </p:spPr>
      </p:pic>
      <p:sp>
        <p:nvSpPr>
          <p:cNvPr id="27" name="box_104"/>
          <p:cNvSpPr txBox="1"/>
          <p:nvPr/>
        </p:nvSpPr>
        <p:spPr>
          <a:xfrm>
            <a:off x="3193542" y="2640330"/>
            <a:ext cx="3216402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___ the oven to 180°C.</a:t>
            </a:r>
            <a:endParaRPr lang="en-US" sz="1250" dirty="0"/>
          </a:p>
        </p:txBody>
      </p:sp>
      <p:sp>
        <p:nvSpPr>
          <p:cNvPr id="28" name="R1_m3"/>
          <p:cNvSpPr txBox="1"/>
          <p:nvPr/>
        </p:nvSpPr>
        <p:spPr>
          <a:xfrm>
            <a:off x="6483096" y="265861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 / heat</a:t>
            </a:r>
            <a:endParaRPr lang="en-US" sz="1150" dirty="0"/>
          </a:p>
        </p:txBody>
      </p:sp>
      <p:sp>
        <p:nvSpPr>
          <p:cNvPr id="29" name="iconBack_105"/>
          <p:cNvSpPr/>
          <p:nvPr/>
        </p:nvSpPr>
        <p:spPr>
          <a:xfrm>
            <a:off x="2788920" y="306324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0" name="icon_106" descr="knif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8872" y="3133192"/>
            <a:ext cx="209855" cy="209855"/>
          </a:xfrm>
          <a:prstGeom prst="rect">
            <a:avLst/>
          </a:prstGeom>
        </p:spPr>
      </p:pic>
      <p:sp>
        <p:nvSpPr>
          <p:cNvPr id="31" name="box_107"/>
          <p:cNvSpPr txBox="1"/>
          <p:nvPr/>
        </p:nvSpPr>
        <p:spPr>
          <a:xfrm>
            <a:off x="3193542" y="3063240"/>
            <a:ext cx="3216402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You ___ onions with a knife.</a:t>
            </a:r>
            <a:endParaRPr lang="en-US" sz="1250" dirty="0"/>
          </a:p>
        </p:txBody>
      </p:sp>
      <p:sp>
        <p:nvSpPr>
          <p:cNvPr id="32" name="R1_m4"/>
          <p:cNvSpPr txBox="1"/>
          <p:nvPr/>
        </p:nvSpPr>
        <p:spPr>
          <a:xfrm>
            <a:off x="6483096" y="308152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/ slice</a:t>
            </a:r>
            <a:endParaRPr lang="en-US" sz="1150" dirty="0"/>
          </a:p>
        </p:txBody>
      </p:sp>
      <p:sp>
        <p:nvSpPr>
          <p:cNvPr id="33" name="iconBack_108"/>
          <p:cNvSpPr/>
          <p:nvPr/>
        </p:nvSpPr>
        <p:spPr>
          <a:xfrm>
            <a:off x="2788920" y="348615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4" name="icon_109" descr="saucepa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8872" y="3556102"/>
            <a:ext cx="209855" cy="209855"/>
          </a:xfrm>
          <a:prstGeom prst="rect">
            <a:avLst/>
          </a:prstGeom>
        </p:spPr>
      </p:pic>
      <p:sp>
        <p:nvSpPr>
          <p:cNvPr id="35" name="box_110"/>
          <p:cNvSpPr txBox="1"/>
          <p:nvPr/>
        </p:nvSpPr>
        <p:spPr>
          <a:xfrm>
            <a:off x="3193542" y="3486150"/>
            <a:ext cx="3216402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You ___ pasta in a saucepan.</a:t>
            </a:r>
            <a:endParaRPr lang="en-US" sz="1250" dirty="0"/>
          </a:p>
        </p:txBody>
      </p:sp>
      <p:sp>
        <p:nvSpPr>
          <p:cNvPr id="36" name="R1_m5"/>
          <p:cNvSpPr txBox="1"/>
          <p:nvPr/>
        </p:nvSpPr>
        <p:spPr>
          <a:xfrm>
            <a:off x="6483096" y="350443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/ cook</a:t>
            </a:r>
            <a:endParaRPr lang="en-US" sz="1150" dirty="0"/>
          </a:p>
        </p:txBody>
      </p:sp>
      <p:sp>
        <p:nvSpPr>
          <p:cNvPr id="37" name="iconBack_111"/>
          <p:cNvSpPr/>
          <p:nvPr/>
        </p:nvSpPr>
        <p:spPr>
          <a:xfrm>
            <a:off x="2788920" y="390906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8" name="icon_112" descr="glov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8872" y="3979012"/>
            <a:ext cx="209855" cy="209855"/>
          </a:xfrm>
          <a:prstGeom prst="rect">
            <a:avLst/>
          </a:prstGeom>
        </p:spPr>
      </p:pic>
      <p:sp>
        <p:nvSpPr>
          <p:cNvPr id="39" name="box_113"/>
          <p:cNvSpPr txBox="1"/>
          <p:nvPr/>
        </p:nvSpPr>
        <p:spPr>
          <a:xfrm>
            <a:off x="3193542" y="3909060"/>
            <a:ext cx="3216402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You ___ hot trays with oven gloves.</a:t>
            </a:r>
            <a:endParaRPr lang="en-US" sz="1250" dirty="0"/>
          </a:p>
        </p:txBody>
      </p:sp>
      <p:sp>
        <p:nvSpPr>
          <p:cNvPr id="40" name="R1_m6"/>
          <p:cNvSpPr txBox="1"/>
          <p:nvPr/>
        </p:nvSpPr>
        <p:spPr>
          <a:xfrm>
            <a:off x="6483096" y="392734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take out</a:t>
            </a:r>
            <a:endParaRPr lang="en-US" sz="1150" dirty="0"/>
          </a:p>
        </p:txBody>
      </p:sp>
      <p:sp>
        <p:nvSpPr>
          <p:cNvPr id="41" name="iconBack_114"/>
          <p:cNvSpPr/>
          <p:nvPr/>
        </p:nvSpPr>
        <p:spPr>
          <a:xfrm>
            <a:off x="2788920" y="433197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42" name="icon_115" descr="fridg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8872" y="4401922"/>
            <a:ext cx="209855" cy="209855"/>
          </a:xfrm>
          <a:prstGeom prst="rect">
            <a:avLst/>
          </a:prstGeom>
        </p:spPr>
      </p:pic>
      <p:sp>
        <p:nvSpPr>
          <p:cNvPr id="43" name="box_116"/>
          <p:cNvSpPr txBox="1"/>
          <p:nvPr/>
        </p:nvSpPr>
        <p:spPr>
          <a:xfrm>
            <a:off x="3193542" y="4331970"/>
            <a:ext cx="3216402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You ___ fish in the fridge.</a:t>
            </a:r>
            <a:endParaRPr lang="en-US" sz="1250" dirty="0"/>
          </a:p>
        </p:txBody>
      </p:sp>
      <p:sp>
        <p:nvSpPr>
          <p:cNvPr id="44" name="R1_m7"/>
          <p:cNvSpPr txBox="1"/>
          <p:nvPr/>
        </p:nvSpPr>
        <p:spPr>
          <a:xfrm>
            <a:off x="6483096" y="4350258"/>
            <a:ext cx="2340864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store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1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1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1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there is / are · prepositions</a:t>
            </a:r>
            <a:endParaRPr lang="en-US" sz="1100" dirty="0"/>
          </a:p>
        </p:txBody>
      </p:sp>
      <p:sp>
        <p:nvSpPr>
          <p:cNvPr id="5" name="timer_12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12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7" name="title_122"/>
          <p:cNvSpPr txBox="1"/>
          <p:nvPr/>
        </p:nvSpPr>
        <p:spPr>
          <a:xfrm rot="90000">
            <a:off x="320040" y="676656"/>
            <a:ext cx="536752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There's a knife on the board</a:t>
            </a:r>
            <a:endParaRPr lang="en-US" sz="2000" dirty="0"/>
          </a:p>
        </p:txBody>
      </p:sp>
      <p:sp>
        <p:nvSpPr>
          <p:cNvPr id="8" name="tape_123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124"/>
          <p:cNvSpPr/>
          <p:nvPr/>
        </p:nvSpPr>
        <p:spPr>
          <a:xfrm rot="-720000">
            <a:off x="512064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rh_125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thing</a:t>
            </a:r>
            <a:endParaRPr lang="en-US" sz="1300" dirty="0"/>
          </a:p>
        </p:txBody>
      </p:sp>
      <p:sp>
        <p:nvSpPr>
          <p:cNvPr id="11" name="rb_126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knife on the board.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sieve?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isn't a grater.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pan (here)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pan (there)</a:t>
            </a:r>
            <a:endParaRPr lang="en-US" sz="1350" dirty="0"/>
          </a:p>
        </p:txBody>
      </p:sp>
      <p:sp>
        <p:nvSpPr>
          <p:cNvPr id="12" name="rh_127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2+ things</a:t>
            </a:r>
            <a:endParaRPr lang="en-US" sz="1300" dirty="0"/>
          </a:p>
        </p:txBody>
      </p:sp>
      <p:sp>
        <p:nvSpPr>
          <p:cNvPr id="13" name="rb_128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some trays in the oven.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any clean pans?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aren't any spoons.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pans (here)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pans (there)</a:t>
            </a:r>
            <a:endParaRPr lang="en-US" sz="1350" dirty="0"/>
          </a:p>
        </p:txBody>
      </p:sp>
      <p:sp>
        <p:nvSpPr>
          <p:cNvPr id="14" name="rh_129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Where?</a:t>
            </a:r>
            <a:endParaRPr lang="en-US" sz="1300" dirty="0"/>
          </a:p>
        </p:txBody>
      </p:sp>
      <p:sp>
        <p:nvSpPr>
          <p:cNvPr id="15" name="rb_130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on · under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· behind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1350" dirty="0"/>
          </a:p>
        </p:txBody>
      </p:sp>
      <p:sp>
        <p:nvSpPr>
          <p:cNvPr id="16" name="watch_131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There is two pans → ✓ There are two pans.     ✗ a oven → ✓ an oven.     ✗ This knifes → ✓ These knives.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3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3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3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1100" dirty="0"/>
          </a:p>
        </p:txBody>
      </p:sp>
      <p:sp>
        <p:nvSpPr>
          <p:cNvPr id="5" name="timer_13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13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7" name="title_137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There's or there are?</a:t>
            </a:r>
            <a:endParaRPr lang="en-US" sz="2000" dirty="0"/>
          </a:p>
        </p:txBody>
      </p:sp>
      <p:sp>
        <p:nvSpPr>
          <p:cNvPr id="8" name="tape_138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139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14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4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14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there's · there are · is there · are there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con there's / there are / is there / are there</a:t>
            </a:r>
            <a:endParaRPr lang="en-US" sz="1250" dirty="0"/>
          </a:p>
        </p:txBody>
      </p:sp>
      <p:sp>
        <p:nvSpPr>
          <p:cNvPr id="13" name="box_143"/>
          <p:cNvSpPr txBox="1"/>
          <p:nvPr/>
        </p:nvSpPr>
        <p:spPr>
          <a:xfrm>
            <a:off x="2788920" y="1371600"/>
            <a:ext cx="1949318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___ a problem with the oven.</a:t>
            </a:r>
            <a:endParaRPr lang="en-US" sz="1350" dirty="0"/>
          </a:p>
        </p:txBody>
      </p:sp>
      <p:sp>
        <p:nvSpPr>
          <p:cNvPr id="14" name="R1_a0"/>
          <p:cNvSpPr txBox="1"/>
          <p:nvPr/>
        </p:nvSpPr>
        <p:spPr>
          <a:xfrm>
            <a:off x="4793102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</a:t>
            </a:r>
            <a:endParaRPr lang="en-US" sz="1200" dirty="0"/>
          </a:p>
        </p:txBody>
      </p:sp>
      <p:sp>
        <p:nvSpPr>
          <p:cNvPr id="15" name="box_144"/>
          <p:cNvSpPr txBox="1"/>
          <p:nvPr/>
        </p:nvSpPr>
        <p:spPr>
          <a:xfrm>
            <a:off x="5870448" y="1371600"/>
            <a:ext cx="1949318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___ any clean spoons?</a:t>
            </a:r>
            <a:endParaRPr lang="en-US" sz="1350" dirty="0"/>
          </a:p>
        </p:txBody>
      </p:sp>
      <p:sp>
        <p:nvSpPr>
          <p:cNvPr id="16" name="R1_a1"/>
          <p:cNvSpPr txBox="1"/>
          <p:nvPr/>
        </p:nvSpPr>
        <p:spPr>
          <a:xfrm>
            <a:off x="7874630" y="1408176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</a:t>
            </a:r>
            <a:endParaRPr lang="en-US" sz="1200" dirty="0"/>
          </a:p>
        </p:txBody>
      </p:sp>
      <p:sp>
        <p:nvSpPr>
          <p:cNvPr id="17" name="box_145"/>
          <p:cNvSpPr txBox="1"/>
          <p:nvPr/>
        </p:nvSpPr>
        <p:spPr>
          <a:xfrm>
            <a:off x="2788920" y="2368296"/>
            <a:ext cx="1949318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___ three chefs in today.</a:t>
            </a:r>
            <a:endParaRPr lang="en-US" sz="1350" dirty="0"/>
          </a:p>
        </p:txBody>
      </p:sp>
      <p:sp>
        <p:nvSpPr>
          <p:cNvPr id="18" name="R1_a2"/>
          <p:cNvSpPr txBox="1"/>
          <p:nvPr/>
        </p:nvSpPr>
        <p:spPr>
          <a:xfrm>
            <a:off x="4793102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</a:t>
            </a:r>
            <a:endParaRPr lang="en-US" sz="1200" dirty="0"/>
          </a:p>
        </p:txBody>
      </p:sp>
      <p:sp>
        <p:nvSpPr>
          <p:cNvPr id="19" name="box_146"/>
          <p:cNvSpPr txBox="1"/>
          <p:nvPr/>
        </p:nvSpPr>
        <p:spPr>
          <a:xfrm>
            <a:off x="5870448" y="2368296"/>
            <a:ext cx="1949318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___ a sieve in the drawer?</a:t>
            </a:r>
            <a:endParaRPr lang="en-US" sz="1350" dirty="0"/>
          </a:p>
        </p:txBody>
      </p:sp>
      <p:sp>
        <p:nvSpPr>
          <p:cNvPr id="20" name="R1_a3"/>
          <p:cNvSpPr txBox="1"/>
          <p:nvPr/>
        </p:nvSpPr>
        <p:spPr>
          <a:xfrm>
            <a:off x="7874630" y="2404872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</a:t>
            </a:r>
            <a:endParaRPr lang="en-US" sz="1200" dirty="0"/>
          </a:p>
        </p:txBody>
      </p:sp>
      <p:sp>
        <p:nvSpPr>
          <p:cNvPr id="21" name="box_147"/>
          <p:cNvSpPr txBox="1"/>
          <p:nvPr/>
        </p:nvSpPr>
        <p:spPr>
          <a:xfrm>
            <a:off x="2788920" y="3364992"/>
            <a:ext cx="1949318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___ no salt! Who used it?</a:t>
            </a:r>
            <a:endParaRPr lang="en-US" sz="1350" dirty="0"/>
          </a:p>
        </p:txBody>
      </p:sp>
      <p:sp>
        <p:nvSpPr>
          <p:cNvPr id="22" name="R1_a4"/>
          <p:cNvSpPr txBox="1"/>
          <p:nvPr/>
        </p:nvSpPr>
        <p:spPr>
          <a:xfrm>
            <a:off x="4793102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</a:t>
            </a:r>
            <a:endParaRPr lang="en-US" sz="1200" dirty="0"/>
          </a:p>
        </p:txBody>
      </p:sp>
      <p:sp>
        <p:nvSpPr>
          <p:cNvPr id="23" name="box_148"/>
          <p:cNvSpPr txBox="1"/>
          <p:nvPr/>
        </p:nvSpPr>
        <p:spPr>
          <a:xfrm>
            <a:off x="5870448" y="3364992"/>
            <a:ext cx="1949318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How many knives ___?</a:t>
            </a:r>
            <a:endParaRPr lang="en-US" sz="1350" dirty="0"/>
          </a:p>
        </p:txBody>
      </p:sp>
      <p:sp>
        <p:nvSpPr>
          <p:cNvPr id="24" name="R1_a5"/>
          <p:cNvSpPr txBox="1"/>
          <p:nvPr/>
        </p:nvSpPr>
        <p:spPr>
          <a:xfrm>
            <a:off x="7874630" y="3401568"/>
            <a:ext cx="94933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4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5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5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message</a:t>
            </a:r>
            <a:endParaRPr lang="en-US" sz="1100" dirty="0"/>
          </a:p>
        </p:txBody>
      </p:sp>
      <p:sp>
        <p:nvSpPr>
          <p:cNvPr id="5" name="timer_15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15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7" name="title_154"/>
          <p:cNvSpPr txBox="1"/>
          <p:nvPr/>
        </p:nvSpPr>
        <p:spPr>
          <a:xfrm rot="90000">
            <a:off x="320040" y="676656"/>
            <a:ext cx="31089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new kitchen</a:t>
            </a:r>
            <a:endParaRPr lang="en-US" sz="2000" dirty="0"/>
          </a:p>
        </p:txBody>
      </p:sp>
      <p:sp>
        <p:nvSpPr>
          <p:cNvPr id="8" name="tape_15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156"/>
          <p:cNvSpPr/>
          <p:nvPr/>
        </p:nvSpPr>
        <p:spPr>
          <a:xfrm rot="-720000">
            <a:off x="286207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rsign_157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Chef Marco's message. True or false?  </a:t>
            </a:r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messaggio. Vero o falso?</a:t>
            </a:r>
            <a:endParaRPr lang="en-US" sz="1200" dirty="0"/>
          </a:p>
        </p:txBody>
      </p:sp>
      <p:sp>
        <p:nvSpPr>
          <p:cNvPr id="11" name="rtext_158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From: Chef Marco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team! Welcome to our new kitchen. There are two big ovens next to the back door, and there's a new hob between them. The fridges are on the left. There isn't a dishwasher yet – it arrives on Friday, sorry KP! The pans are under the table and the knives are on the wall above the sink. Please keep it clean. See you at 8 tomorrow! Marco</a:t>
            </a:r>
            <a:endParaRPr lang="en-US" sz="1300" dirty="0"/>
          </a:p>
        </p:txBody>
      </p:sp>
      <p:sp>
        <p:nvSpPr>
          <p:cNvPr id="12" name="box_159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There are two ovens.</a:t>
            </a:r>
            <a:endParaRPr lang="en-US" sz="1150" dirty="0"/>
          </a:p>
        </p:txBody>
      </p:sp>
      <p:sp>
        <p:nvSpPr>
          <p:cNvPr id="13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14" name="box_160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 hob is next to the fridges.</a:t>
            </a:r>
            <a:endParaRPr lang="en-US" sz="1150" dirty="0"/>
          </a:p>
        </p:txBody>
      </p:sp>
      <p:sp>
        <p:nvSpPr>
          <p:cNvPr id="15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– between the ovens</a:t>
            </a:r>
            <a:endParaRPr lang="en-US" sz="1050" dirty="0"/>
          </a:p>
        </p:txBody>
      </p:sp>
      <p:sp>
        <p:nvSpPr>
          <p:cNvPr id="16" name="box_161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There's a dishwasher.</a:t>
            </a:r>
            <a:endParaRPr lang="en-US" sz="1150" dirty="0"/>
          </a:p>
        </p:txBody>
      </p:sp>
      <p:sp>
        <p:nvSpPr>
          <p:cNvPr id="17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– it arrives Friday</a:t>
            </a:r>
            <a:endParaRPr lang="en-US" sz="1050" dirty="0"/>
          </a:p>
        </p:txBody>
      </p:sp>
      <p:sp>
        <p:nvSpPr>
          <p:cNvPr id="18" name="box_162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knives are above the sink.</a:t>
            </a:r>
            <a:endParaRPr lang="en-US" sz="1150" dirty="0"/>
          </a:p>
        </p:txBody>
      </p:sp>
      <p:sp>
        <p:nvSpPr>
          <p:cNvPr id="19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20" name="box_163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The team starts at 9.</a:t>
            </a:r>
            <a:endParaRPr lang="en-US" sz="1150" dirty="0"/>
          </a:p>
        </p:txBody>
      </p:sp>
      <p:sp>
        <p:nvSpPr>
          <p:cNvPr id="21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– at 8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6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6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6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Information gap</a:t>
            </a:r>
            <a:endParaRPr lang="en-US" sz="1100" dirty="0"/>
          </a:p>
        </p:txBody>
      </p:sp>
      <p:sp>
        <p:nvSpPr>
          <p:cNvPr id="5" name="timer_16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6" name="footer_16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7" name="title_169"/>
          <p:cNvSpPr txBox="1"/>
          <p:nvPr/>
        </p:nvSpPr>
        <p:spPr>
          <a:xfrm rot="90000">
            <a:off x="320040" y="676656"/>
            <a:ext cx="484632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Describe it, I'll draw it</a:t>
            </a:r>
            <a:endParaRPr lang="en-US" sz="2000" dirty="0"/>
          </a:p>
        </p:txBody>
      </p:sp>
      <p:sp>
        <p:nvSpPr>
          <p:cNvPr id="8" name="tape_170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171"/>
          <p:cNvSpPr/>
          <p:nvPr/>
        </p:nvSpPr>
        <p:spPr>
          <a:xfrm rot="-720000">
            <a:off x="459943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17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7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17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kitchen at work. Your partner draws it.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Descrivi la tua cucina. Il collega la disegna.</a:t>
            </a:r>
            <a:endParaRPr lang="en-US" sz="1250" dirty="0"/>
          </a:p>
        </p:txBody>
      </p:sp>
      <p:sp>
        <p:nvSpPr>
          <p:cNvPr id="13" name="iconBack_17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76" descr="penc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177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178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 describes his / her kitchen at work. Chef B draws it – no looking!</a:t>
            </a:r>
            <a:endParaRPr lang="en-US" sz="1300" dirty="0"/>
          </a:p>
        </p:txBody>
      </p:sp>
      <p:sp>
        <p:nvSpPr>
          <p:cNvPr id="17" name="num_179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180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There's a… next to the… / There are two… under the…</a:t>
            </a:r>
            <a:endParaRPr lang="en-US" sz="1300" dirty="0"/>
          </a:p>
        </p:txBody>
      </p:sp>
      <p:sp>
        <p:nvSpPr>
          <p:cNvPr id="19" name="num_181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182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asks questions: Is there a…? Where's the…? Are there any…?</a:t>
            </a:r>
            <a:endParaRPr lang="en-US" sz="1300" dirty="0"/>
          </a:p>
        </p:txBody>
      </p:sp>
      <p:sp>
        <p:nvSpPr>
          <p:cNvPr id="21" name="num_183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184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drawing with the real kitchen. Then swap.</a:t>
            </a:r>
            <a:endParaRPr lang="en-US" sz="1300" dirty="0"/>
          </a:p>
        </p:txBody>
      </p:sp>
      <p:sp>
        <p:nvSpPr>
          <p:cNvPr id="23" name="bubble_185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big fridge on the left, next to the door. The hob is between…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8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8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8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equipment + prepositions</a:t>
            </a:r>
            <a:endParaRPr lang="en-US" sz="1100" dirty="0"/>
          </a:p>
        </p:txBody>
      </p:sp>
      <p:sp>
        <p:nvSpPr>
          <p:cNvPr id="5" name="timer_18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footer_19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7" name="title_191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me the…, Chef!</a:t>
            </a:r>
            <a:endParaRPr lang="en-US" sz="2000" dirty="0"/>
          </a:p>
        </p:txBody>
      </p:sp>
      <p:sp>
        <p:nvSpPr>
          <p:cNvPr id="8" name="tape_19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tape_193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post_19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9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19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it – your partner points to it fast!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Chiedi l'oggetto – il collega lo indica veloce!</a:t>
            </a:r>
            <a:endParaRPr lang="en-US" sz="1250" dirty="0"/>
          </a:p>
        </p:txBody>
      </p:sp>
      <p:sp>
        <p:nvSpPr>
          <p:cNvPr id="13" name="iconBack_19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98" descr="lad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199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00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equipment (real things or pictures) on the table.</a:t>
            </a:r>
            <a:endParaRPr lang="en-US" sz="1300" dirty="0"/>
          </a:p>
        </p:txBody>
      </p:sp>
      <p:sp>
        <p:nvSpPr>
          <p:cNvPr id="17" name="num_201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02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A: Pass me the ladle, please! – Chef B points or passes it: Here you are, Chef.</a:t>
            </a:r>
            <a:endParaRPr lang="en-US" sz="1300" dirty="0"/>
          </a:p>
        </p:txBody>
      </p:sp>
      <p:sp>
        <p:nvSpPr>
          <p:cNvPr id="19" name="num_203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04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correct = 1 point. Swap after 10.</a:t>
            </a:r>
            <a:endParaRPr lang="en-US" sz="1300" dirty="0"/>
          </a:p>
        </p:txBody>
      </p:sp>
      <p:sp>
        <p:nvSpPr>
          <p:cNvPr id="21" name="num_205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06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Pass me the tongs. They're next to the frying pan.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0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0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footer_20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5" name="title_210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2000" dirty="0"/>
          </a:p>
        </p:txBody>
      </p:sp>
      <p:sp>
        <p:nvSpPr>
          <p:cNvPr id="6" name="tape_21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7" name="tape_212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8" name="sub_213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9" name="box_214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kitchen equipment.</a:t>
            </a:r>
            <a:endParaRPr lang="en-US" sz="1350" dirty="0"/>
          </a:p>
        </p:txBody>
      </p:sp>
      <p:sp>
        <p:nvSpPr>
          <p:cNvPr id="10" name="faces_215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1" name="box_216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there is / there are and this / these.</a:t>
            </a:r>
            <a:endParaRPr lang="en-US" sz="1350" dirty="0"/>
          </a:p>
        </p:txBody>
      </p:sp>
      <p:sp>
        <p:nvSpPr>
          <p:cNvPr id="12" name="faces_217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3" name="box_218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say where things are: next to, under, between…</a:t>
            </a:r>
            <a:endParaRPr lang="en-US" sz="1350" dirty="0"/>
          </a:p>
        </p:txBody>
      </p:sp>
      <p:sp>
        <p:nvSpPr>
          <p:cNvPr id="14" name="faces_219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5" name="hw_220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photos of equipment in your kitchen. Write: This is a… It's next to the…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6" name="stamp_221"/>
          <p:cNvSpPr txBox="1"/>
          <p:nvPr/>
        </p:nvSpPr>
        <p:spPr>
          <a:xfrm>
            <a:off x="365760" y="365760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L3 · Ingredients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2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2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2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Choices</a:t>
            </a:r>
            <a:endParaRPr lang="en-US" sz="1100" dirty="0"/>
          </a:p>
        </p:txBody>
      </p:sp>
      <p:sp>
        <p:nvSpPr>
          <p:cNvPr id="5" name="timer_22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extra_226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2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228"/>
          <p:cNvSpPr txBox="1"/>
          <p:nvPr/>
        </p:nvSpPr>
        <p:spPr>
          <a:xfrm rot="90000">
            <a:off x="320040" y="676656"/>
            <a:ext cx="276148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or that?</a:t>
            </a:r>
            <a:endParaRPr lang="en-US" sz="2000" dirty="0"/>
          </a:p>
        </p:txBody>
      </p:sp>
      <p:sp>
        <p:nvSpPr>
          <p:cNvPr id="9" name="tape_229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230"/>
          <p:cNvSpPr/>
          <p:nvPr/>
        </p:nvSpPr>
        <p:spPr>
          <a:xfrm rot="-720000">
            <a:off x="251460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23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3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23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one. Give a reason. No 'both'!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Scegline uno. Dai un motivo. Non vale 'tutti e due'!</a:t>
            </a:r>
            <a:endParaRPr lang="en-US" sz="1250" dirty="0"/>
          </a:p>
        </p:txBody>
      </p:sp>
      <p:sp>
        <p:nvSpPr>
          <p:cNvPr id="14" name="box_234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very sharp knife or a very good pan?</a:t>
            </a:r>
            <a:endParaRPr lang="en-US" sz="1400" dirty="0"/>
          </a:p>
        </p:txBody>
      </p:sp>
      <p:sp>
        <p:nvSpPr>
          <p:cNvPr id="15" name="box_235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 gas hob or an induction hob?</a:t>
            </a:r>
            <a:endParaRPr lang="en-US" sz="1400" dirty="0"/>
          </a:p>
        </p:txBody>
      </p:sp>
      <p:sp>
        <p:nvSpPr>
          <p:cNvPr id="16" name="box_236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kitchen with a microwave or a kitchen without one?</a:t>
            </a:r>
            <a:endParaRPr lang="en-US" sz="1400" dirty="0"/>
          </a:p>
        </p:txBody>
      </p:sp>
      <p:sp>
        <p:nvSpPr>
          <p:cNvPr id="17" name="box_237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big kitchen and a small team or a small kitchen and a big team?</a:t>
            </a:r>
            <a:endParaRPr lang="en-US" sz="1400" dirty="0"/>
          </a:p>
        </p:txBody>
      </p:sp>
      <p:sp>
        <p:nvSpPr>
          <p:cNvPr id="18" name="box_238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Your kitchen is on fire! You can save only 3 things. Which ones?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VOCABULARY · Thinking</a:t>
            </a:r>
            <a:endParaRPr lang="en-US" sz="1100" dirty="0"/>
          </a:p>
        </p:txBody>
      </p:sp>
      <p:sp>
        <p:nvSpPr>
          <p:cNvPr id="5" name="timer_2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extra_24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4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245"/>
          <p:cNvSpPr txBox="1"/>
          <p:nvPr/>
        </p:nvSpPr>
        <p:spPr>
          <a:xfrm rot="90000">
            <a:off x="320040" y="676656"/>
            <a:ext cx="241401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Odd one out</a:t>
            </a:r>
            <a:endParaRPr lang="en-US" sz="2000" dirty="0"/>
          </a:p>
        </p:txBody>
      </p:sp>
      <p:sp>
        <p:nvSpPr>
          <p:cNvPr id="9" name="tape_24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247"/>
          <p:cNvSpPr/>
          <p:nvPr/>
        </p:nvSpPr>
        <p:spPr>
          <a:xfrm rot="-720000">
            <a:off x="216712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24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4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25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doesn't belong? Why? More than one answer can be right!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non c'entra? Perché? Più risposte possibili!</a:t>
            </a:r>
            <a:endParaRPr lang="en-US" sz="1250" dirty="0"/>
          </a:p>
        </p:txBody>
      </p:sp>
      <p:sp>
        <p:nvSpPr>
          <p:cNvPr id="14" name="box_251"/>
          <p:cNvSpPr txBox="1"/>
          <p:nvPr/>
        </p:nvSpPr>
        <p:spPr>
          <a:xfrm>
            <a:off x="2788920" y="1371600"/>
            <a:ext cx="3741725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knife · peeler · grater · ladle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6585509" y="1408176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ladle – it doesn't cut</a:t>
            </a:r>
            <a:endParaRPr lang="en-US" sz="1200" dirty="0"/>
          </a:p>
        </p:txBody>
      </p:sp>
      <p:sp>
        <p:nvSpPr>
          <p:cNvPr id="16" name="box_252"/>
          <p:cNvSpPr txBox="1"/>
          <p:nvPr/>
        </p:nvSpPr>
        <p:spPr>
          <a:xfrm>
            <a:off x="2788920" y="2055571"/>
            <a:ext cx="3741725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oven · fridge · freezer · cold room</a:t>
            </a:r>
            <a:endParaRPr lang="en-US" sz="1350" dirty="0"/>
          </a:p>
        </p:txBody>
      </p:sp>
      <p:sp>
        <p:nvSpPr>
          <p:cNvPr id="17" name="R1_a1"/>
          <p:cNvSpPr txBox="1"/>
          <p:nvPr/>
        </p:nvSpPr>
        <p:spPr>
          <a:xfrm>
            <a:off x="6585509" y="2092147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– it's hot</a:t>
            </a:r>
            <a:endParaRPr lang="en-US" sz="1200" dirty="0"/>
          </a:p>
        </p:txBody>
      </p:sp>
      <p:sp>
        <p:nvSpPr>
          <p:cNvPr id="18" name="box_253"/>
          <p:cNvSpPr txBox="1"/>
          <p:nvPr/>
        </p:nvSpPr>
        <p:spPr>
          <a:xfrm>
            <a:off x="2788920" y="2739542"/>
            <a:ext cx="3741725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saucepan · frying pan · tray · chopping board</a:t>
            </a:r>
            <a:endParaRPr lang="en-US" sz="1350" dirty="0"/>
          </a:p>
        </p:txBody>
      </p:sp>
      <p:sp>
        <p:nvSpPr>
          <p:cNvPr id="19" name="R1_a2"/>
          <p:cNvSpPr txBox="1"/>
          <p:nvPr/>
        </p:nvSpPr>
        <p:spPr>
          <a:xfrm>
            <a:off x="6585509" y="2776118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– no cooking</a:t>
            </a:r>
            <a:endParaRPr lang="en-US" sz="1200" dirty="0"/>
          </a:p>
        </p:txBody>
      </p:sp>
      <p:sp>
        <p:nvSpPr>
          <p:cNvPr id="20" name="box_254"/>
          <p:cNvSpPr txBox="1"/>
          <p:nvPr/>
        </p:nvSpPr>
        <p:spPr>
          <a:xfrm>
            <a:off x="2788920" y="3423514"/>
            <a:ext cx="3741725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scales · thermometer · timer · whisk</a:t>
            </a:r>
            <a:endParaRPr lang="en-US" sz="1350" dirty="0"/>
          </a:p>
        </p:txBody>
      </p:sp>
      <p:sp>
        <p:nvSpPr>
          <p:cNvPr id="21" name="R1_a3"/>
          <p:cNvSpPr txBox="1"/>
          <p:nvPr/>
        </p:nvSpPr>
        <p:spPr>
          <a:xfrm>
            <a:off x="6585509" y="3460090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 – no measuring</a:t>
            </a:r>
            <a:endParaRPr lang="en-US" sz="1200" dirty="0"/>
          </a:p>
        </p:txBody>
      </p:sp>
      <p:sp>
        <p:nvSpPr>
          <p:cNvPr id="22" name="box_255"/>
          <p:cNvSpPr txBox="1"/>
          <p:nvPr/>
        </p:nvSpPr>
        <p:spPr>
          <a:xfrm>
            <a:off x="2788920" y="4107485"/>
            <a:ext cx="3741725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hob · grill · microwave · sink</a:t>
            </a:r>
            <a:endParaRPr lang="en-US" sz="1350" dirty="0"/>
          </a:p>
        </p:txBody>
      </p:sp>
      <p:sp>
        <p:nvSpPr>
          <p:cNvPr id="23" name="R1_a4"/>
          <p:cNvSpPr txBox="1"/>
          <p:nvPr/>
        </p:nvSpPr>
        <p:spPr>
          <a:xfrm>
            <a:off x="6585509" y="4144061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– it doesn't heat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5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5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5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describing</a:t>
            </a:r>
            <a:endParaRPr lang="en-US" sz="1100" dirty="0"/>
          </a:p>
        </p:txBody>
      </p:sp>
      <p:sp>
        <p:nvSpPr>
          <p:cNvPr id="5" name="timer_25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extra_260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6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L2</a:t>
            </a:r>
            <a:endParaRPr lang="en-US" sz="1000" dirty="0"/>
          </a:p>
        </p:txBody>
      </p:sp>
      <p:sp>
        <p:nvSpPr>
          <p:cNvPr id="8" name="title_262"/>
          <p:cNvSpPr txBox="1"/>
          <p:nvPr/>
        </p:nvSpPr>
        <p:spPr>
          <a:xfrm rot="90000">
            <a:off x="320040" y="676656"/>
            <a:ext cx="363016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forbidden word</a:t>
            </a:r>
            <a:endParaRPr lang="en-US" sz="2000" dirty="0"/>
          </a:p>
        </p:txBody>
      </p:sp>
      <p:sp>
        <p:nvSpPr>
          <p:cNvPr id="9" name="tape_263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264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26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6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26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equipment. Don't say its name!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Descrivi l'oggetto. Non dire il nome!</a:t>
            </a:r>
            <a:endParaRPr lang="en-US" sz="1250" dirty="0"/>
          </a:p>
        </p:txBody>
      </p:sp>
      <p:sp>
        <p:nvSpPr>
          <p:cNvPr id="14" name="iconBack_26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269" descr="b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270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271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 thinks of a piece of equipment.</a:t>
            </a:r>
            <a:endParaRPr lang="en-US" sz="1300" dirty="0"/>
          </a:p>
        </p:txBody>
      </p:sp>
      <p:sp>
        <p:nvSpPr>
          <p:cNvPr id="18" name="num_272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273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 – but you can't say the name, or 'cook' or 'cut'!</a:t>
            </a:r>
            <a:endParaRPr lang="en-US" sz="1300" dirty="0"/>
          </a:p>
        </p:txBody>
      </p:sp>
      <p:sp>
        <p:nvSpPr>
          <p:cNvPr id="20" name="num_274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275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metal. It's long. You use it for soup… – A ladle!</a:t>
            </a:r>
            <a:endParaRPr lang="en-US" sz="1300" dirty="0"/>
          </a:p>
        </p:txBody>
      </p:sp>
      <p:sp>
        <p:nvSpPr>
          <p:cNvPr id="22" name="num_276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277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for each correct guess in 1 minute. Swap!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L2 Kitchen equipment</dc:title>
  <dc:subject>PptxGenJS Presentation</dc:subject>
  <dc:creator>London Language School</dc:creator>
  <cp:lastModifiedBy>London Language School</cp:lastModifiedBy>
  <cp:revision>1</cp:revision>
  <dcterms:created xsi:type="dcterms:W3CDTF">2026-10-05T06:50:56Z</dcterms:created>
  <dcterms:modified xsi:type="dcterms:W3CDTF">2026-10-05T06:50:56Z</dcterms:modified>
</cp:coreProperties>
</file>