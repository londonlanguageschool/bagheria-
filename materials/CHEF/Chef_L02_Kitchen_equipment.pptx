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2 (60 min). Aims: kitchen equipment, there is / there are, this / these, prepositions of place. Click 1 and 2: the problem of not knowing the word — today we fix it.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1 (5 min)
REVISION (5 min). VARIATION: reverse the obvious — answers first, students make the question. Many questions are possible; accept any correct one. Click 1: example questions. Quick extra: teacher mimes 3 kitchen calls (Hot! Behind! Sharp!).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Equipment (8 min)
VOCABULARY (8 min). Cover the words with your hand / say the number and they say the word. Then teach orally (no picture): tongs (pinze), peeler (pelapatate), grater (grattugia), sieve (colino), chopping board (tagliere), frying pan (padella), tray (teglia). Point at real objects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Verbs with equipment (6 min)
VOCABULARY (6 min). VARIATION: vocabulary branching — each object gets its verb. Click 1. Then quick-fire: teacher says a verb (weigh!), students name the equipment. Extra verbs: drain pasta in a colander, turn a steak with tongs, peel with a peeler, grate with a grater.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there is / are · prepositions (6 min)
GRAMMAR (6 min). Demonstrate prepositions with a pen and a cup. Practise: Where's the salt? It's on the shelf above the hob.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Practice (5 min)
GRAMMAR PRACTICE (5 min). Individually, then compare. Click 1. Fast finishers: write 2 sentences about the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A message (6 min)
READING (6 min). VARIATION: prediction — before reading, ask: What's in a new kitchen? Then read, decide T/F, correct the false ones with there is / there are.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Information gap (10 min)
INFORMATION GAP (12 min). VARIATION: curiosity gap — B really needs the information. Give B a blank piece of paper. Feedback: 3 good sentences, 3 corrections.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equipment + prepositions (8 min)
GAME (8 min). Use real kitchen objects or the icons slide on screen (they point at the screen). Speed up each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Exit · what can you remember? (3 min)
EXIT (3 min). Homework sheet L2 in the portal.
Can-dos: I can name kitchen equipment. · I can use there is / there are and this / these. · I can say where things are: next to, under, between…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Choices (6 min)
FORCED CHOICE (6 min). VARIATION: forced choice + 'forbidden easy answer' (no 'both', no 'I don't know'). Follow up: Why? Really? Which is worse?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VOCABULARY · Thinking (5 min)
ODD ONE OUT (5 min). VARIATION: categorise + justify. Accept any answer with a good reason (e.g. 'knife – you hold the food, not the tool'). Click 1: suggested answers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describing (8 min)
EXTRA (8 min). VARIATION: constraint challenge. Useful language: It's made of… / You use it for + -ing / It's similar to…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2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L2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equipment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equipment · there is / there are · where is it?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equipment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there is / there are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where is it?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ladle, Chef? Here you are.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saucepan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Pass me the… thing, please!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Here are the ANSWERS. What are the questions?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Ecco le RISPOSTE. Quali sono le domande?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REVISION · Lesson 1</a:t>
            </a:r>
            <a:endParaRPr lang="en-US" sz="800" dirty="0"/>
          </a:p>
        </p:txBody>
      </p:sp>
      <p:sp>
        <p:nvSpPr>
          <p:cNvPr id="14" name="bd_28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29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</a:t>
            </a:r>
            <a:endParaRPr lang="en-US" sz="1300" dirty="0"/>
          </a:p>
        </p:txBody>
      </p:sp>
      <p:sp>
        <p:nvSpPr>
          <p:cNvPr id="16" name="R1_chip30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the head chef?</a:t>
            </a:r>
            <a:endParaRPr lang="en-US" sz="1200" dirty="0"/>
          </a:p>
        </p:txBody>
      </p:sp>
      <p:sp>
        <p:nvSpPr>
          <p:cNvPr id="17" name="bd_31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32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she isn't. She's the sous chef.</a:t>
            </a:r>
            <a:endParaRPr lang="en-US" sz="1300" dirty="0"/>
          </a:p>
        </p:txBody>
      </p:sp>
      <p:sp>
        <p:nvSpPr>
          <p:cNvPr id="19" name="R2_chip33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she the head chef?</a:t>
            </a:r>
            <a:endParaRPr lang="en-US" sz="1200" dirty="0"/>
          </a:p>
        </p:txBody>
      </p:sp>
      <p:sp>
        <p:nvSpPr>
          <p:cNvPr id="20" name="bd_34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35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from Bagheria.</a:t>
            </a:r>
            <a:endParaRPr lang="en-US" sz="1300" dirty="0"/>
          </a:p>
        </p:txBody>
      </p:sp>
      <p:sp>
        <p:nvSpPr>
          <p:cNvPr id="22" name="R3_chip36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is he from?</a:t>
            </a:r>
            <a:endParaRPr lang="en-US" sz="1200" dirty="0"/>
          </a:p>
        </p:txBody>
      </p:sp>
      <p:sp>
        <p:nvSpPr>
          <p:cNvPr id="23" name="bd_37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38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in the changing room.</a:t>
            </a:r>
            <a:endParaRPr lang="en-US" sz="1300" dirty="0"/>
          </a:p>
        </p:txBody>
      </p:sp>
      <p:sp>
        <p:nvSpPr>
          <p:cNvPr id="25" name="R4_chip39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they?</a:t>
            </a:r>
            <a:endParaRPr lang="en-US" sz="1200" dirty="0"/>
          </a:p>
        </p:txBody>
      </p:sp>
      <p:sp>
        <p:nvSpPr>
          <p:cNvPr id="26" name="bd_40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41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seven o'clock.</a:t>
            </a:r>
            <a:endParaRPr lang="en-US" sz="1300" dirty="0"/>
          </a:p>
        </p:txBody>
      </p:sp>
      <p:sp>
        <p:nvSpPr>
          <p:cNvPr id="28" name="R5_chip42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 service?</a:t>
            </a:r>
            <a:endParaRPr lang="en-US" sz="1200" dirty="0"/>
          </a:p>
        </p:txBody>
      </p:sp>
      <p:sp>
        <p:nvSpPr>
          <p:cNvPr id="29" name="bd_43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44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Heard, Chef!</a:t>
            </a:r>
            <a:endParaRPr lang="en-US" sz="1300" dirty="0"/>
          </a:p>
        </p:txBody>
      </p:sp>
      <p:sp>
        <p:nvSpPr>
          <p:cNvPr id="31" name="R6_chip45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(any order from the chef)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this called?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English word. Click to check the Italian.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 inglese. Clicca per l'italiano.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5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5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2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VOCABULARY · Equipment</a:t>
            </a:r>
            <a:endParaRPr lang="en-US" sz="800" dirty="0"/>
          </a:p>
        </p:txBody>
      </p:sp>
      <p:sp>
        <p:nvSpPr>
          <p:cNvPr id="14" name="cd_5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5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16" name="en_5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knife</a:t>
            </a:r>
            <a:endParaRPr lang="en-US" sz="1200" dirty="0"/>
          </a:p>
        </p:txBody>
      </p:sp>
      <p:sp>
        <p:nvSpPr>
          <p:cNvPr id="17" name="R1_it6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coltello</a:t>
            </a:r>
            <a:endParaRPr lang="en-US" sz="1000" dirty="0"/>
          </a:p>
        </p:txBody>
      </p:sp>
      <p:sp>
        <p:nvSpPr>
          <p:cNvPr id="18" name="cd_6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6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0" name="en_6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cleaver</a:t>
            </a:r>
            <a:endParaRPr lang="en-US" sz="1200" dirty="0"/>
          </a:p>
        </p:txBody>
      </p:sp>
      <p:sp>
        <p:nvSpPr>
          <p:cNvPr id="21" name="R2_it6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mannaia</a:t>
            </a:r>
            <a:endParaRPr lang="en-US" sz="1000" dirty="0"/>
          </a:p>
        </p:txBody>
      </p:sp>
      <p:sp>
        <p:nvSpPr>
          <p:cNvPr id="22" name="cd_6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6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4" name="en_6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saucepan</a:t>
            </a:r>
            <a:endParaRPr lang="en-US" sz="1200" dirty="0"/>
          </a:p>
        </p:txBody>
      </p:sp>
      <p:sp>
        <p:nvSpPr>
          <p:cNvPr id="25" name="R3_it6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pentola / casseruola</a:t>
            </a:r>
            <a:endParaRPr lang="en-US" sz="950" dirty="0"/>
          </a:p>
        </p:txBody>
      </p:sp>
      <p:sp>
        <p:nvSpPr>
          <p:cNvPr id="26" name="cd_6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7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8" name="en_7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ladle</a:t>
            </a:r>
            <a:endParaRPr lang="en-US" sz="1200" dirty="0"/>
          </a:p>
        </p:txBody>
      </p:sp>
      <p:sp>
        <p:nvSpPr>
          <p:cNvPr id="29" name="R4_it7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mestolo</a:t>
            </a:r>
            <a:endParaRPr lang="en-US" sz="1000" dirty="0"/>
          </a:p>
        </p:txBody>
      </p:sp>
      <p:sp>
        <p:nvSpPr>
          <p:cNvPr id="30" name="cd_7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7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32" name="en_7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whisk</a:t>
            </a:r>
            <a:endParaRPr lang="en-US" sz="1200" dirty="0"/>
          </a:p>
        </p:txBody>
      </p:sp>
      <p:sp>
        <p:nvSpPr>
          <p:cNvPr id="33" name="R5_it7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frusta</a:t>
            </a:r>
            <a:endParaRPr lang="en-US" sz="1000" dirty="0"/>
          </a:p>
        </p:txBody>
      </p:sp>
      <p:sp>
        <p:nvSpPr>
          <p:cNvPr id="34" name="cd_7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7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6" name="en_7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scales</a:t>
            </a:r>
            <a:endParaRPr lang="en-US" sz="1200" dirty="0"/>
          </a:p>
        </p:txBody>
      </p:sp>
      <p:sp>
        <p:nvSpPr>
          <p:cNvPr id="37" name="R6_it8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bilancia</a:t>
            </a:r>
            <a:endParaRPr lang="en-US" sz="1000" dirty="0"/>
          </a:p>
        </p:txBody>
      </p:sp>
      <p:sp>
        <p:nvSpPr>
          <p:cNvPr id="38" name="cd_8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8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0" name="en_8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oven</a:t>
            </a:r>
            <a:endParaRPr lang="en-US" sz="1200" dirty="0"/>
          </a:p>
        </p:txBody>
      </p:sp>
      <p:sp>
        <p:nvSpPr>
          <p:cNvPr id="41" name="R7_it8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forno</a:t>
            </a:r>
            <a:endParaRPr lang="en-US" sz="1000" dirty="0"/>
          </a:p>
        </p:txBody>
      </p:sp>
      <p:sp>
        <p:nvSpPr>
          <p:cNvPr id="42" name="cd_8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8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🧊</a:t>
            </a:r>
            <a:endParaRPr lang="en-US" sz="2000" dirty="0"/>
          </a:p>
        </p:txBody>
      </p:sp>
      <p:sp>
        <p:nvSpPr>
          <p:cNvPr id="44" name="en_8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fridge</a:t>
            </a:r>
            <a:endParaRPr lang="en-US" sz="1200" dirty="0"/>
          </a:p>
        </p:txBody>
      </p:sp>
      <p:sp>
        <p:nvSpPr>
          <p:cNvPr id="45" name="R8_it8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frigo</a:t>
            </a:r>
            <a:endParaRPr lang="en-US" sz="1000" dirty="0"/>
          </a:p>
        </p:txBody>
      </p:sp>
      <p:sp>
        <p:nvSpPr>
          <p:cNvPr id="46" name="cd_8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9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8" name="en_9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hob</a:t>
            </a:r>
            <a:endParaRPr lang="en-US" sz="1200" dirty="0"/>
          </a:p>
        </p:txBody>
      </p:sp>
      <p:sp>
        <p:nvSpPr>
          <p:cNvPr id="49" name="R9_it9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piano cottura</a:t>
            </a:r>
            <a:endParaRPr lang="en-US" sz="1000" dirty="0"/>
          </a:p>
        </p:txBody>
      </p:sp>
      <p:sp>
        <p:nvSpPr>
          <p:cNvPr id="50" name="cd_9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9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52" name="en_9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microwave</a:t>
            </a:r>
            <a:endParaRPr lang="en-US" sz="1200" dirty="0"/>
          </a:p>
        </p:txBody>
      </p:sp>
      <p:sp>
        <p:nvSpPr>
          <p:cNvPr id="53" name="R10_it9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microonde</a:t>
            </a:r>
            <a:endParaRPr lang="en-US" sz="1000" dirty="0"/>
          </a:p>
        </p:txBody>
      </p:sp>
      <p:sp>
        <p:nvSpPr>
          <p:cNvPr id="54" name="cd_9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9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6" name="en_9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wooden spoon</a:t>
            </a:r>
            <a:endParaRPr lang="en-US" sz="1200" dirty="0"/>
          </a:p>
        </p:txBody>
      </p:sp>
      <p:sp>
        <p:nvSpPr>
          <p:cNvPr id="57" name="R11_it10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cucchiaio di legno</a:t>
            </a:r>
            <a:endParaRPr lang="en-US" sz="1000" dirty="0"/>
          </a:p>
        </p:txBody>
      </p:sp>
      <p:sp>
        <p:nvSpPr>
          <p:cNvPr id="58" name="cd_10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0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🧤</a:t>
            </a:r>
            <a:endParaRPr lang="en-US" sz="2000" dirty="0"/>
          </a:p>
        </p:txBody>
      </p:sp>
      <p:sp>
        <p:nvSpPr>
          <p:cNvPr id="60" name="en_10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oven gloves</a:t>
            </a:r>
            <a:endParaRPr lang="en-US" sz="1200" dirty="0"/>
          </a:p>
        </p:txBody>
      </p:sp>
      <p:sp>
        <p:nvSpPr>
          <p:cNvPr id="61" name="R12_it10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guanti da forno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07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do with it?</a:t>
            </a:r>
            <a:endParaRPr lang="en-US" sz="2500" dirty="0"/>
          </a:p>
        </p:txBody>
      </p:sp>
      <p:pic>
        <p:nvPicPr>
          <p:cNvPr id="6" name="brP_1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09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verb? Say the full sentence.</a:t>
            </a:r>
            <a:endParaRPr lang="en-US" sz="1250" dirty="0"/>
          </a:p>
        </p:txBody>
      </p:sp>
      <p:sp>
        <p:nvSpPr>
          <p:cNvPr id="8" name="insIT_11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verbo? Di' la frase intera.</a:t>
            </a:r>
            <a:endParaRPr lang="en-US" sz="950" dirty="0"/>
          </a:p>
        </p:txBody>
      </p:sp>
      <p:sp>
        <p:nvSpPr>
          <p:cNvPr id="9" name="cmd_11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1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11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VOCABULARY · Verbs with equipment</a:t>
            </a:r>
            <a:endParaRPr lang="en-US" sz="800" dirty="0"/>
          </a:p>
        </p:txBody>
      </p:sp>
      <p:sp>
        <p:nvSpPr>
          <p:cNvPr id="14" name="bd_116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17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eggs with a whisk.</a:t>
            </a:r>
            <a:endParaRPr lang="en-US" sz="1250" dirty="0"/>
          </a:p>
        </p:txBody>
      </p:sp>
      <p:sp>
        <p:nvSpPr>
          <p:cNvPr id="16" name="R1_chip118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whisk / beat</a:t>
            </a:r>
            <a:endParaRPr lang="en-US" sz="1200" dirty="0"/>
          </a:p>
        </p:txBody>
      </p:sp>
      <p:sp>
        <p:nvSpPr>
          <p:cNvPr id="17" name="bd_119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20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soup with a ladle.</a:t>
            </a:r>
            <a:endParaRPr lang="en-US" sz="1250" dirty="0"/>
          </a:p>
        </p:txBody>
      </p:sp>
      <p:sp>
        <p:nvSpPr>
          <p:cNvPr id="19" name="R2_chip121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serve</a:t>
            </a:r>
            <a:endParaRPr lang="en-US" sz="1200" dirty="0"/>
          </a:p>
        </p:txBody>
      </p:sp>
      <p:sp>
        <p:nvSpPr>
          <p:cNvPr id="20" name="bd_122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23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flour on the scales.</a:t>
            </a:r>
            <a:endParaRPr lang="en-US" sz="1250" dirty="0"/>
          </a:p>
        </p:txBody>
      </p:sp>
      <p:sp>
        <p:nvSpPr>
          <p:cNvPr id="22" name="R3_chip124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weigh</a:t>
            </a:r>
            <a:endParaRPr lang="en-US" sz="1200" dirty="0"/>
          </a:p>
        </p:txBody>
      </p:sp>
      <p:sp>
        <p:nvSpPr>
          <p:cNvPr id="23" name="bd_125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26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the oven to 180°C.</a:t>
            </a:r>
            <a:endParaRPr lang="en-US" sz="1250" dirty="0"/>
          </a:p>
        </p:txBody>
      </p:sp>
      <p:sp>
        <p:nvSpPr>
          <p:cNvPr id="25" name="R4_chip127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preheat / heat</a:t>
            </a:r>
            <a:endParaRPr lang="en-US" sz="1200" dirty="0"/>
          </a:p>
        </p:txBody>
      </p:sp>
      <p:sp>
        <p:nvSpPr>
          <p:cNvPr id="26" name="bd_128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29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onions with a knife.</a:t>
            </a:r>
            <a:endParaRPr lang="en-US" sz="1250" dirty="0"/>
          </a:p>
        </p:txBody>
      </p:sp>
      <p:sp>
        <p:nvSpPr>
          <p:cNvPr id="28" name="R5_chip130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chop / slice</a:t>
            </a:r>
            <a:endParaRPr lang="en-US" sz="1200" dirty="0"/>
          </a:p>
        </p:txBody>
      </p:sp>
      <p:sp>
        <p:nvSpPr>
          <p:cNvPr id="29" name="bd_131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32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pasta in a saucepan.</a:t>
            </a:r>
            <a:endParaRPr lang="en-US" sz="1250" dirty="0"/>
          </a:p>
        </p:txBody>
      </p:sp>
      <p:sp>
        <p:nvSpPr>
          <p:cNvPr id="31" name="R6_chip133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boil / cook</a:t>
            </a:r>
            <a:endParaRPr lang="en-US" sz="1200" dirty="0"/>
          </a:p>
        </p:txBody>
      </p:sp>
      <p:sp>
        <p:nvSpPr>
          <p:cNvPr id="32" name="bd_134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q_135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hot trays with oven gloves.</a:t>
            </a:r>
            <a:endParaRPr lang="en-US" sz="1250" dirty="0"/>
          </a:p>
        </p:txBody>
      </p:sp>
      <p:sp>
        <p:nvSpPr>
          <p:cNvPr id="34" name="R7_chip136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hold / take out</a:t>
            </a:r>
            <a:endParaRPr lang="en-US" sz="1200" dirty="0"/>
          </a:p>
        </p:txBody>
      </p:sp>
      <p:sp>
        <p:nvSpPr>
          <p:cNvPr id="35" name="bd_137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q_138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fish in the fridge.</a:t>
            </a:r>
            <a:endParaRPr lang="en-US" sz="1250" dirty="0"/>
          </a:p>
        </p:txBody>
      </p:sp>
      <p:sp>
        <p:nvSpPr>
          <p:cNvPr id="37" name="R8_chip139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/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There's a knife on the board</a:t>
            </a:r>
            <a:endParaRPr lang="en-US" sz="2500" dirty="0"/>
          </a:p>
        </p:txBody>
      </p:sp>
      <p:sp>
        <p:nvSpPr>
          <p:cNvPr id="6" name="meta_14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950" dirty="0"/>
          </a:p>
        </p:txBody>
      </p:sp>
      <p:sp>
        <p:nvSpPr>
          <p:cNvPr id="7" name="tag_14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8" name="logo_145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9" name="foot_1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GRAMMAR · there is / are · prepositions</a:t>
            </a:r>
            <a:endParaRPr lang="en-US" sz="800" dirty="0"/>
          </a:p>
        </p:txBody>
      </p:sp>
      <p:sp>
        <p:nvSpPr>
          <p:cNvPr id="10" name="cd_147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1" name="rh_148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 thing</a:t>
            </a:r>
            <a:endParaRPr lang="en-US" sz="1250" dirty="0"/>
          </a:p>
        </p:txBody>
      </p:sp>
      <p:sp>
        <p:nvSpPr>
          <p:cNvPr id="12" name="R1_rx149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 a knife on the board.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 a sieve?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isn't a grater.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pan (here)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pan (there)</a:t>
            </a:r>
            <a:endParaRPr lang="en-US" sz="1400" dirty="0"/>
          </a:p>
        </p:txBody>
      </p:sp>
      <p:sp>
        <p:nvSpPr>
          <p:cNvPr id="13" name="cd_150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51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2+ things</a:t>
            </a:r>
            <a:endParaRPr lang="en-US" sz="1250" dirty="0"/>
          </a:p>
        </p:txBody>
      </p:sp>
      <p:sp>
        <p:nvSpPr>
          <p:cNvPr id="15" name="R2_rx152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some trays in the oven.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there any clean pans?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aren't any spoons.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pans (here)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those pans (there)</a:t>
            </a:r>
            <a:endParaRPr lang="en-US" sz="1400" dirty="0"/>
          </a:p>
        </p:txBody>
      </p:sp>
      <p:sp>
        <p:nvSpPr>
          <p:cNvPr id="16" name="cd_15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5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Where?</a:t>
            </a:r>
            <a:endParaRPr lang="en-US" sz="1250" dirty="0"/>
          </a:p>
        </p:txBody>
      </p:sp>
      <p:sp>
        <p:nvSpPr>
          <p:cNvPr id="18" name="R3_rx155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· on · under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above · behind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to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front of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between</a:t>
            </a:r>
            <a:endParaRPr lang="en-US" sz="1400" dirty="0"/>
          </a:p>
        </p:txBody>
      </p:sp>
      <p:sp>
        <p:nvSpPr>
          <p:cNvPr id="19" name="R4_wc15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4_w15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There is two pans → ✓ There are two pans.     ✗ a oven → ✓ an oven.     ✗ This knifes → ✓ These knives.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6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There's or there are?</a:t>
            </a:r>
            <a:endParaRPr lang="en-US" sz="2500" dirty="0"/>
          </a:p>
        </p:txBody>
      </p:sp>
      <p:pic>
        <p:nvPicPr>
          <p:cNvPr id="6" name="brP_1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62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Complete: there's · there are · is there · are there</a:t>
            </a:r>
            <a:endParaRPr lang="en-US" sz="1250" dirty="0"/>
          </a:p>
        </p:txBody>
      </p:sp>
      <p:sp>
        <p:nvSpPr>
          <p:cNvPr id="8" name="insIT_1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there's / there are / is there / are there</a:t>
            </a:r>
            <a:endParaRPr lang="en-US" sz="950" dirty="0"/>
          </a:p>
        </p:txBody>
      </p:sp>
      <p:sp>
        <p:nvSpPr>
          <p:cNvPr id="9" name="cmd_16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16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16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GRAMMAR · Practice</a:t>
            </a:r>
            <a:endParaRPr lang="en-US" sz="800" dirty="0"/>
          </a:p>
        </p:txBody>
      </p:sp>
      <p:sp>
        <p:nvSpPr>
          <p:cNvPr id="14" name="bd_169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70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problem with the oven.</a:t>
            </a:r>
            <a:endParaRPr lang="en-US" sz="1300" dirty="0"/>
          </a:p>
        </p:txBody>
      </p:sp>
      <p:sp>
        <p:nvSpPr>
          <p:cNvPr id="16" name="R1_chip171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</a:t>
            </a:r>
            <a:endParaRPr lang="en-US" sz="1200" dirty="0"/>
          </a:p>
        </p:txBody>
      </p:sp>
      <p:sp>
        <p:nvSpPr>
          <p:cNvPr id="17" name="bd_172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73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any clean spoons?</a:t>
            </a:r>
            <a:endParaRPr lang="en-US" sz="1300" dirty="0"/>
          </a:p>
        </p:txBody>
      </p:sp>
      <p:sp>
        <p:nvSpPr>
          <p:cNvPr id="19" name="R2_chip174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there</a:t>
            </a:r>
            <a:endParaRPr lang="en-US" sz="1200" dirty="0"/>
          </a:p>
        </p:txBody>
      </p:sp>
      <p:sp>
        <p:nvSpPr>
          <p:cNvPr id="20" name="bd_175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76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three chefs in today.</a:t>
            </a:r>
            <a:endParaRPr lang="en-US" sz="1300" dirty="0"/>
          </a:p>
        </p:txBody>
      </p:sp>
      <p:sp>
        <p:nvSpPr>
          <p:cNvPr id="22" name="R3_chip177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</a:t>
            </a:r>
            <a:endParaRPr lang="en-US" sz="1200" dirty="0"/>
          </a:p>
        </p:txBody>
      </p:sp>
      <p:sp>
        <p:nvSpPr>
          <p:cNvPr id="23" name="bd_178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79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sieve in the drawer?</a:t>
            </a:r>
            <a:endParaRPr lang="en-US" sz="1300" dirty="0"/>
          </a:p>
        </p:txBody>
      </p:sp>
      <p:sp>
        <p:nvSpPr>
          <p:cNvPr id="25" name="R4_chip180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</a:t>
            </a:r>
            <a:endParaRPr lang="en-US" sz="1200" dirty="0"/>
          </a:p>
        </p:txBody>
      </p:sp>
      <p:sp>
        <p:nvSpPr>
          <p:cNvPr id="26" name="bd_181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82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no salt! Who used it?</a:t>
            </a:r>
            <a:endParaRPr lang="en-US" sz="1300" dirty="0"/>
          </a:p>
        </p:txBody>
      </p:sp>
      <p:sp>
        <p:nvSpPr>
          <p:cNvPr id="28" name="R5_chip183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</a:t>
            </a:r>
            <a:endParaRPr lang="en-US" sz="1200" dirty="0"/>
          </a:p>
        </p:txBody>
      </p:sp>
      <p:sp>
        <p:nvSpPr>
          <p:cNvPr id="29" name="bd_184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85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knives ___?</a:t>
            </a:r>
            <a:endParaRPr lang="en-US" sz="1300" dirty="0"/>
          </a:p>
        </p:txBody>
      </p:sp>
      <p:sp>
        <p:nvSpPr>
          <p:cNvPr id="31" name="R6_chip186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Our new kitchen</a:t>
            </a:r>
            <a:endParaRPr lang="en-US" sz="2500" dirty="0"/>
          </a:p>
        </p:txBody>
      </p:sp>
      <p:pic>
        <p:nvPicPr>
          <p:cNvPr id="6" name="brP_1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19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Chef Marco's message. True or false?</a:t>
            </a:r>
            <a:endParaRPr lang="en-US" sz="1250" dirty="0"/>
          </a:p>
        </p:txBody>
      </p:sp>
      <p:sp>
        <p:nvSpPr>
          <p:cNvPr id="8" name="insIT_1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messaggio. Vero o falso?</a:t>
            </a:r>
            <a:endParaRPr lang="en-US" sz="950" dirty="0"/>
          </a:p>
        </p:txBody>
      </p:sp>
      <p:sp>
        <p:nvSpPr>
          <p:cNvPr id="9" name="cmd_19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19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9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READING · A message</a:t>
            </a:r>
            <a:endParaRPr lang="en-US" sz="800" dirty="0"/>
          </a:p>
        </p:txBody>
      </p:sp>
      <p:sp>
        <p:nvSpPr>
          <p:cNvPr id="14" name="cd_198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d_19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From: Chef Marco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 team! Welcome to our new kitchen. There are two big ovens next to the back door, and there's a new hob between them. The fridges are on the left. There isn't a dishwasher yet – it arrives on Friday, sorry KP! The pans are under the table and the knives are on the wall above the sink. Please keep it clean. See you at 8 tomorrow! Marco</a:t>
            </a:r>
            <a:endParaRPr lang="en-US" sz="1500" dirty="0"/>
          </a:p>
        </p:txBody>
      </p:sp>
      <p:sp>
        <p:nvSpPr>
          <p:cNvPr id="16" name="bd_200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rq_201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two ovens.</a:t>
            </a:r>
            <a:endParaRPr lang="en-US" sz="900" dirty="0"/>
          </a:p>
        </p:txBody>
      </p:sp>
      <p:sp>
        <p:nvSpPr>
          <p:cNvPr id="18" name="R1_chip202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</a:t>
            </a:r>
            <a:endParaRPr lang="en-US" sz="1050" dirty="0"/>
          </a:p>
        </p:txBody>
      </p:sp>
      <p:sp>
        <p:nvSpPr>
          <p:cNvPr id="19" name="bd_203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rq_204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hob is next to the fridges.</a:t>
            </a:r>
            <a:endParaRPr lang="en-US" sz="900" dirty="0"/>
          </a:p>
        </p:txBody>
      </p:sp>
      <p:sp>
        <p:nvSpPr>
          <p:cNvPr id="21" name="R2_chip205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False – between the ovens</a:t>
            </a:r>
            <a:endParaRPr lang="en-US" sz="1050" dirty="0"/>
          </a:p>
        </p:txBody>
      </p:sp>
      <p:sp>
        <p:nvSpPr>
          <p:cNvPr id="22" name="bd_206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rq_207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 a dishwasher.</a:t>
            </a:r>
            <a:endParaRPr lang="en-US" sz="900" dirty="0"/>
          </a:p>
        </p:txBody>
      </p:sp>
      <p:sp>
        <p:nvSpPr>
          <p:cNvPr id="24" name="R3_chip208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False – it arrives Friday</a:t>
            </a:r>
            <a:endParaRPr lang="en-US" sz="1050" dirty="0"/>
          </a:p>
        </p:txBody>
      </p:sp>
      <p:sp>
        <p:nvSpPr>
          <p:cNvPr id="25" name="bd_209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rq_210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knives are above the sink.</a:t>
            </a:r>
            <a:endParaRPr lang="en-US" sz="900" dirty="0"/>
          </a:p>
        </p:txBody>
      </p:sp>
      <p:sp>
        <p:nvSpPr>
          <p:cNvPr id="27" name="R4_chip211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</a:t>
            </a:r>
            <a:endParaRPr lang="en-US" sz="1050" dirty="0"/>
          </a:p>
        </p:txBody>
      </p:sp>
      <p:sp>
        <p:nvSpPr>
          <p:cNvPr id="28" name="bd_212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rq_213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 starts at 9.</a:t>
            </a:r>
            <a:endParaRPr lang="en-US" sz="900" dirty="0"/>
          </a:p>
        </p:txBody>
      </p:sp>
      <p:sp>
        <p:nvSpPr>
          <p:cNvPr id="30" name="R5_chip214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False – at 8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217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it, I'll draw it</a:t>
            </a:r>
            <a:endParaRPr lang="en-US" sz="2500" dirty="0"/>
          </a:p>
        </p:txBody>
      </p:sp>
      <p:pic>
        <p:nvPicPr>
          <p:cNvPr id="6" name="brP_2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kitchen at work. Your partner draws it.</a:t>
            </a:r>
            <a:endParaRPr lang="en-US" sz="1250" dirty="0"/>
          </a:p>
        </p:txBody>
      </p:sp>
      <p:sp>
        <p:nvSpPr>
          <p:cNvPr id="8" name="insIT_2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 la tua cucina. Il collega la disegna.</a:t>
            </a:r>
            <a:endParaRPr lang="en-US" sz="950" dirty="0"/>
          </a:p>
        </p:txBody>
      </p:sp>
      <p:sp>
        <p:nvSpPr>
          <p:cNvPr id="9" name="cmd_22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2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10 min   👥 pairs</a:t>
            </a:r>
            <a:endParaRPr lang="en-US" sz="950" dirty="0"/>
          </a:p>
        </p:txBody>
      </p:sp>
      <p:sp>
        <p:nvSpPr>
          <p:cNvPr id="11" name="tag_22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SPEAKING · Information gap</a:t>
            </a:r>
            <a:endParaRPr lang="en-US" sz="800" dirty="0"/>
          </a:p>
        </p:txBody>
      </p:sp>
      <p:sp>
        <p:nvSpPr>
          <p:cNvPr id="14" name="R1_qb22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27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describes his / her kitchen at work. Chef B draws it – no looking!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There's a big fridge on the left, next to the door. The hob is between…</a:t>
            </a:r>
            <a:endParaRPr lang="en-US" sz="1300" dirty="0"/>
          </a:p>
        </p:txBody>
      </p:sp>
      <p:sp>
        <p:nvSpPr>
          <p:cNvPr id="16" name="R2_qb228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229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Use: There's a… next to the… / There are two… under the…</a:t>
            </a:r>
            <a:endParaRPr lang="en-US" sz="1300" dirty="0"/>
          </a:p>
        </p:txBody>
      </p:sp>
      <p:sp>
        <p:nvSpPr>
          <p:cNvPr id="18" name="R3_qb230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231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asks questions: Is there a…? Where's the…? Are there any…?</a:t>
            </a:r>
            <a:endParaRPr lang="en-US" sz="1300" dirty="0"/>
          </a:p>
        </p:txBody>
      </p:sp>
      <p:sp>
        <p:nvSpPr>
          <p:cNvPr id="20" name="R4_qb232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233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 the drawing with the real kitchen. Then swap.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3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Pass me the…, Chef!</a:t>
            </a:r>
            <a:endParaRPr lang="en-US" sz="2500" dirty="0"/>
          </a:p>
        </p:txBody>
      </p:sp>
      <p:pic>
        <p:nvPicPr>
          <p:cNvPr id="6" name="brP_2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38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for it – your partner points to it fast!</a:t>
            </a:r>
            <a:endParaRPr lang="en-US" sz="1250" dirty="0"/>
          </a:p>
        </p:txBody>
      </p:sp>
      <p:sp>
        <p:nvSpPr>
          <p:cNvPr id="8" name="insIT_2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l'oggetto – il collega lo indica veloce!</a:t>
            </a:r>
            <a:endParaRPr lang="en-US" sz="950" dirty="0"/>
          </a:p>
        </p:txBody>
      </p:sp>
      <p:sp>
        <p:nvSpPr>
          <p:cNvPr id="9" name="cmd_24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24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950" dirty="0"/>
          </a:p>
        </p:txBody>
      </p:sp>
      <p:sp>
        <p:nvSpPr>
          <p:cNvPr id="11" name="tag_24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GAME · equipment + prepositions</a:t>
            </a:r>
            <a:endParaRPr lang="en-US" sz="800" dirty="0"/>
          </a:p>
        </p:txBody>
      </p:sp>
      <p:sp>
        <p:nvSpPr>
          <p:cNvPr id="14" name="R1_qb245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46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equipment (real things or pictures) on the table.</a:t>
            </a:r>
            <a:endParaRPr lang="en-US" sz="1400" dirty="0"/>
          </a:p>
        </p:txBody>
      </p:sp>
      <p:sp>
        <p:nvSpPr>
          <p:cNvPr id="16" name="R2_qb247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248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A: Pass me the ladle, please! – Chef B points or passes it: Here you are, Chef.</a:t>
            </a:r>
            <a:endParaRPr lang="en-US" sz="1400" dirty="0"/>
          </a:p>
        </p:txBody>
      </p:sp>
      <p:sp>
        <p:nvSpPr>
          <p:cNvPr id="18" name="R3_qb249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250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and correct = 1 point. Swap after 10.</a:t>
            </a:r>
            <a:endParaRPr lang="en-US" sz="1400" dirty="0"/>
          </a:p>
        </p:txBody>
      </p:sp>
      <p:sp>
        <p:nvSpPr>
          <p:cNvPr id="20" name="R4_qb251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252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Level 2: Pass me the tongs. They're next to the frying pan.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5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57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meta_25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26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2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Exit · what can you remember?</a:t>
            </a:r>
            <a:endParaRPr lang="en-US" sz="800" dirty="0"/>
          </a:p>
        </p:txBody>
      </p:sp>
      <p:sp>
        <p:nvSpPr>
          <p:cNvPr id="13" name="bd_263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264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5" name="bd_265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266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7" name="bd_267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268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9" name="cd_269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70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271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272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5 photos of equipment in your kitchen. Write: This is a… It's next to the…</a:t>
            </a:r>
            <a:endParaRPr lang="en-US" sz="900" dirty="0"/>
          </a:p>
        </p:txBody>
      </p:sp>
      <p:sp>
        <p:nvSpPr>
          <p:cNvPr id="23" name="st_273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L3 · Ingredients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7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76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7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78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7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28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8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28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2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Review · what did you do today?</a:t>
            </a:r>
            <a:endParaRPr lang="en-US" sz="800" dirty="0"/>
          </a:p>
        </p:txBody>
      </p:sp>
      <p:sp>
        <p:nvSpPr>
          <p:cNvPr id="14" name="cd_285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286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6" name="tt_287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equipment</a:t>
            </a:r>
            <a:endParaRPr lang="en-US" sz="1350" dirty="0"/>
          </a:p>
        </p:txBody>
      </p:sp>
      <p:sp>
        <p:nvSpPr>
          <p:cNvPr id="17" name="R1_tk288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289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290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20" name="tt_291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there is / there are</a:t>
            </a:r>
            <a:endParaRPr lang="en-US" sz="1350" dirty="0"/>
          </a:p>
        </p:txBody>
      </p:sp>
      <p:sp>
        <p:nvSpPr>
          <p:cNvPr id="21" name="R2_tk292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293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294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t_295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where is it?</a:t>
            </a:r>
            <a:endParaRPr lang="en-US" sz="1350" dirty="0"/>
          </a:p>
        </p:txBody>
      </p:sp>
      <p:sp>
        <p:nvSpPr>
          <p:cNvPr id="25" name="R3_tk296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st_297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98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99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300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301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04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This or that?</a:t>
            </a:r>
            <a:endParaRPr lang="en-US" sz="2500" dirty="0"/>
          </a:p>
        </p:txBody>
      </p:sp>
      <p:pic>
        <p:nvPicPr>
          <p:cNvPr id="6" name="brP_3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306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one. Give a reason. No 'both'!</a:t>
            </a:r>
            <a:endParaRPr lang="en-US" sz="1250" dirty="0"/>
          </a:p>
        </p:txBody>
      </p:sp>
      <p:sp>
        <p:nvSpPr>
          <p:cNvPr id="8" name="insIT_30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Scegline uno. Dai un motivo. Non vale 'tutti e due'!</a:t>
            </a:r>
            <a:endParaRPr lang="en-US" sz="950" dirty="0"/>
          </a:p>
        </p:txBody>
      </p:sp>
      <p:sp>
        <p:nvSpPr>
          <p:cNvPr id="9" name="cmd_30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0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310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SPEAKING · Choices</a:t>
            </a:r>
            <a:endParaRPr lang="en-US" sz="800" dirty="0"/>
          </a:p>
        </p:txBody>
      </p:sp>
      <p:sp>
        <p:nvSpPr>
          <p:cNvPr id="14" name="ext_313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314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315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very sharp knife or a very good pan?</a:t>
            </a:r>
            <a:endParaRPr lang="en-US" sz="1400" dirty="0"/>
          </a:p>
        </p:txBody>
      </p:sp>
      <p:sp>
        <p:nvSpPr>
          <p:cNvPr id="17" name="R2_qb316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317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gas hob or an induction hob?</a:t>
            </a:r>
            <a:endParaRPr lang="en-US" sz="1400" dirty="0"/>
          </a:p>
        </p:txBody>
      </p:sp>
      <p:sp>
        <p:nvSpPr>
          <p:cNvPr id="19" name="R3_qb318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319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kitchen with a microwave or a kitchen without one?</a:t>
            </a:r>
            <a:endParaRPr lang="en-US" sz="1400" dirty="0"/>
          </a:p>
        </p:txBody>
      </p:sp>
      <p:sp>
        <p:nvSpPr>
          <p:cNvPr id="21" name="R4_qb320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321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big kitchen and a small team or a small kitchen and a big team?</a:t>
            </a:r>
            <a:endParaRPr lang="en-US" sz="1400" dirty="0"/>
          </a:p>
        </p:txBody>
      </p:sp>
      <p:sp>
        <p:nvSpPr>
          <p:cNvPr id="23" name="R5_qb322"/>
          <p:cNvSpPr/>
          <p:nvPr/>
        </p:nvSpPr>
        <p:spPr>
          <a:xfrm>
            <a:off x="57607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R5_sq323"/>
          <p:cNvSpPr/>
          <p:nvPr/>
        </p:nvSpPr>
        <p:spPr>
          <a:xfrm>
            <a:off x="978408" y="3831336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kitchen is on fire! You can save only 3 things. Which ones?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Odd one out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one doesn't belong? Why? More than one answer can be right!</a:t>
            </a:r>
            <a:endParaRPr lang="en-US" sz="110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non c'entra? Perché? Più risposte possibili!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3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33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VOCABULARY · Thinking</a:t>
            </a:r>
            <a:endParaRPr lang="en-US" sz="800" dirty="0"/>
          </a:p>
        </p:txBody>
      </p:sp>
      <p:sp>
        <p:nvSpPr>
          <p:cNvPr id="14" name="ext_33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bd_336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q_337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knife · peeler · grater · ladle</a:t>
            </a:r>
            <a:endParaRPr lang="en-US" sz="1300" dirty="0"/>
          </a:p>
        </p:txBody>
      </p:sp>
      <p:sp>
        <p:nvSpPr>
          <p:cNvPr id="17" name="R1_chip338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ladle – it doesn't cut</a:t>
            </a:r>
            <a:endParaRPr lang="en-US" sz="1200" dirty="0"/>
          </a:p>
        </p:txBody>
      </p:sp>
      <p:sp>
        <p:nvSpPr>
          <p:cNvPr id="18" name="bd_339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q_340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oven · fridge · freezer · cold room</a:t>
            </a:r>
            <a:endParaRPr lang="en-US" sz="1300" dirty="0"/>
          </a:p>
        </p:txBody>
      </p:sp>
      <p:sp>
        <p:nvSpPr>
          <p:cNvPr id="20" name="R2_chip341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oven – it's hot</a:t>
            </a:r>
            <a:endParaRPr lang="en-US" sz="1200" dirty="0"/>
          </a:p>
        </p:txBody>
      </p:sp>
      <p:sp>
        <p:nvSpPr>
          <p:cNvPr id="21" name="bd_342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q_343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saucepan · frying pan · tray · chopping board</a:t>
            </a:r>
            <a:endParaRPr lang="en-US" sz="1300" dirty="0"/>
          </a:p>
        </p:txBody>
      </p:sp>
      <p:sp>
        <p:nvSpPr>
          <p:cNvPr id="23" name="R3_chip344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board – no cooking</a:t>
            </a:r>
            <a:endParaRPr lang="en-US" sz="1200" dirty="0"/>
          </a:p>
        </p:txBody>
      </p:sp>
      <p:sp>
        <p:nvSpPr>
          <p:cNvPr id="24" name="bd_345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q_346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scales · thermometer · timer · whisk</a:t>
            </a:r>
            <a:endParaRPr lang="en-US" sz="1300" dirty="0"/>
          </a:p>
        </p:txBody>
      </p:sp>
      <p:sp>
        <p:nvSpPr>
          <p:cNvPr id="26" name="R4_chip347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whisk – no measuring</a:t>
            </a:r>
            <a:endParaRPr lang="en-US" sz="1200" dirty="0"/>
          </a:p>
        </p:txBody>
      </p:sp>
      <p:sp>
        <p:nvSpPr>
          <p:cNvPr id="27" name="bd_348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q_349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hob · grill · microwave · sink</a:t>
            </a:r>
            <a:endParaRPr lang="en-US" sz="1300" dirty="0"/>
          </a:p>
        </p:txBody>
      </p:sp>
      <p:sp>
        <p:nvSpPr>
          <p:cNvPr id="29" name="R5_chip350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sink – it doesn't heat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53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forbidden word</a:t>
            </a:r>
            <a:endParaRPr lang="en-US" sz="2500" dirty="0"/>
          </a:p>
        </p:txBody>
      </p:sp>
      <p:pic>
        <p:nvPicPr>
          <p:cNvPr id="6" name="brP_3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355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equipment. Don't say its name!</a:t>
            </a:r>
            <a:endParaRPr lang="en-US" sz="1250" dirty="0"/>
          </a:p>
        </p:txBody>
      </p:sp>
      <p:sp>
        <p:nvSpPr>
          <p:cNvPr id="8" name="insIT_3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 l'oggetto. Non dire il nome!</a:t>
            </a:r>
            <a:endParaRPr lang="en-US" sz="950" dirty="0"/>
          </a:p>
        </p:txBody>
      </p:sp>
      <p:sp>
        <p:nvSpPr>
          <p:cNvPr id="9" name="cmd_35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35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950" dirty="0"/>
          </a:p>
        </p:txBody>
      </p:sp>
      <p:sp>
        <p:nvSpPr>
          <p:cNvPr id="11" name="tag_359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L2 · Game · describing</a:t>
            </a:r>
            <a:endParaRPr lang="en-US" sz="800" dirty="0"/>
          </a:p>
        </p:txBody>
      </p:sp>
      <p:sp>
        <p:nvSpPr>
          <p:cNvPr id="14" name="ext_362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363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364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thinks of a piece of equipment.</a:t>
            </a:r>
            <a:endParaRPr lang="en-US" sz="1400" dirty="0"/>
          </a:p>
        </p:txBody>
      </p:sp>
      <p:sp>
        <p:nvSpPr>
          <p:cNvPr id="17" name="R2_qb365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366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it – but you can't say the name, or 'cook' or 'cut'!</a:t>
            </a:r>
            <a:endParaRPr lang="en-US" sz="1400" dirty="0"/>
          </a:p>
        </p:txBody>
      </p:sp>
      <p:sp>
        <p:nvSpPr>
          <p:cNvPr id="19" name="R3_qb367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368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metal. It's long. You use it for soup… – A ladle!</a:t>
            </a:r>
            <a:endParaRPr lang="en-US" sz="1400" dirty="0"/>
          </a:p>
        </p:txBody>
      </p:sp>
      <p:sp>
        <p:nvSpPr>
          <p:cNvPr id="21" name="R4_qb369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370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point for each correct guess in 1 minute. Swap!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Kitchen equipment</dc:title>
  <dc:subject>PptxGenJS Presentation</dc:subject>
  <dc:creator>PptxGenJS</dc:creator>
  <cp:lastModifiedBy>PptxGenJS</cp:lastModifiedBy>
  <cp:revision>1</cp:revision>
  <dcterms:created xsi:type="dcterms:W3CDTF">2026-10-20T06:41:55Z</dcterms:created>
  <dcterms:modified xsi:type="dcterms:W3CDTF">2026-10-20T06:41:55Z</dcterms:modified>
</cp:coreProperties>
</file>