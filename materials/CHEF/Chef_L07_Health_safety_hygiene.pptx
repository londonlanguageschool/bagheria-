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LESSON 7 (60 min). Aims: kitchen hazards, must / mustn't / have to / don't have to, the 4 Cs of food safety.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Lesson 6 (5 min)
REVISION (5 min). Chef B looks away while Chef A reads the A numbers, then swap. Check spelling of the words too. Quick extra: 2 'Can you…?' questions to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· Hazards (6 min)
VOCABULARY (6 min). Click 1. Italian: scivolare, bruciarsi, tagliarsi, contaminazione crociata.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· Safety kit (6 min)
VOCABULARY (6 min). Kitchen plasters are blue so they're easy to see if one falls into food. Students make sentences: You use a probe thermometer to check the chicken.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GRAMMAR · Rules (6 min)
GRAMMAR (6 min). Check: 'You don't have to wear gloves' vs 'You mustn't wear gloves' — very different!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· Practice (5 min)
GRAMMAR PRACTICE (5 min). Check the difference mustn't (forbidden) / don't have to (not necessary).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WRITING · Opposites (6 min)
WRITING (6 min). VARIATION: opposites — 'What would make this terrible?'. Funny, and it produces must / mustn't naturally.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READING · The 4 Cs (6 min)
READING (6 min). Teacher's own text based on standard UK food safety guidance (FSA: cleaning, chilling, cooking, cross-contamination). Mention UK colour-coded boards: red raw meat, blue raw fish, yellow cooked meat, green salad &amp; fruit, brown vegetables, white bread &amp; dairy.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SPEAKING · Mini debate (6 min)
MINI DEBATE (6 min). VARIATION: mild controversy + mini debate: 30 s to choose, 1 argument, partner responds. Keep it friendly; there is no right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GAME · Role-play (9 min)
GAME (10 min). B should hide 5 problems in the description. Teacher keeps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Exit · what can you remember? (3 min)
EXIT (3 min). Homework sheet L7 in the portal.
Can-dos: I can name kitchen hazards. · I can use must, mustn't, have to, don't have to. · I can explain the 4 Cs of food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Video · food safety (8 min)
EXTRA VIDEO (8 min). Official FAO channel; link checked October 2026. Preview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Kitchen English · Lesson 7 of 10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L7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Health &amp; safety</a:t>
            </a:r>
            <a:endParaRPr lang="en-US" sz="22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hazards and hygiene · must / mustn't / have to · the kitchen inspector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🔑  learn hazards and hygiene</a:t>
            </a:r>
            <a:endParaRPr lang="en-US" sz="12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🧩  practise must / mustn't / have to</a:t>
            </a:r>
            <a:endParaRPr lang="en-US" sz="12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  practise speaking: the kitchen inspector</a:t>
            </a:r>
            <a:endParaRPr lang="en-US" sz="12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must wash your hands!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chef_ic_soap_pn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the No. 1 rule in your kitchen?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Number dictation</a:t>
            </a:r>
            <a:endParaRPr lang="en-US" sz="25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reads list A. B writes. Then swap and check!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legge la lista A. B scrive. Poi scambiatevi!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🎧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950" dirty="0"/>
          </a:p>
        </p:txBody>
      </p:sp>
      <p:sp>
        <p:nvSpPr>
          <p:cNvPr id="10" name="meta_24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REVISION · Lesson 6</a:t>
            </a:r>
            <a:endParaRPr lang="en-US" sz="800" dirty="0"/>
          </a:p>
        </p:txBody>
      </p:sp>
      <p:sp>
        <p:nvSpPr>
          <p:cNvPr id="14" name="R1_qb28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R1_sq29"/>
          <p:cNvSpPr/>
          <p:nvPr/>
        </p:nvSpPr>
        <p:spPr>
          <a:xfrm>
            <a:off x="978408" y="1417320"/>
            <a:ext cx="7891272" cy="344043"/>
          </a:xfrm>
          <a:prstGeom prst="roundRect">
            <a:avLst>
              <a:gd name="adj" fmla="val 3189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A: 250 g</a:t>
            </a:r>
            <a:endParaRPr lang="en-US" sz="1400" dirty="0"/>
          </a:p>
        </p:txBody>
      </p:sp>
      <p:sp>
        <p:nvSpPr>
          <p:cNvPr id="16" name="R2_qb30"/>
          <p:cNvSpPr/>
          <p:nvPr/>
        </p:nvSpPr>
        <p:spPr>
          <a:xfrm>
            <a:off x="576072" y="1871091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R2_sq31"/>
          <p:cNvSpPr/>
          <p:nvPr/>
        </p:nvSpPr>
        <p:spPr>
          <a:xfrm>
            <a:off x="978408" y="1834515"/>
            <a:ext cx="7891272" cy="344043"/>
          </a:xfrm>
          <a:prstGeom prst="roundRect">
            <a:avLst>
              <a:gd name="adj" fmla="val 31894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B: 1.5 kg</a:t>
            </a:r>
            <a:endParaRPr lang="en-US" sz="1400" dirty="0"/>
          </a:p>
        </p:txBody>
      </p:sp>
      <p:sp>
        <p:nvSpPr>
          <p:cNvPr id="18" name="R3_qb32"/>
          <p:cNvSpPr/>
          <p:nvPr/>
        </p:nvSpPr>
        <p:spPr>
          <a:xfrm>
            <a:off x="576072" y="2288286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R3_sq33"/>
          <p:cNvSpPr/>
          <p:nvPr/>
        </p:nvSpPr>
        <p:spPr>
          <a:xfrm>
            <a:off x="978408" y="2251710"/>
            <a:ext cx="7891272" cy="344043"/>
          </a:xfrm>
          <a:prstGeom prst="roundRect">
            <a:avLst>
              <a:gd name="adj" fmla="val 31894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A: –18°C</a:t>
            </a:r>
            <a:endParaRPr lang="en-US" sz="1400" dirty="0"/>
          </a:p>
        </p:txBody>
      </p:sp>
      <p:sp>
        <p:nvSpPr>
          <p:cNvPr id="20" name="R4_qb34"/>
          <p:cNvSpPr/>
          <p:nvPr/>
        </p:nvSpPr>
        <p:spPr>
          <a:xfrm>
            <a:off x="576072" y="2705481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R4_sq35"/>
          <p:cNvSpPr/>
          <p:nvPr/>
        </p:nvSpPr>
        <p:spPr>
          <a:xfrm>
            <a:off x="978408" y="2668905"/>
            <a:ext cx="7891272" cy="344043"/>
          </a:xfrm>
          <a:prstGeom prst="roundRect">
            <a:avLst>
              <a:gd name="adj" fmla="val 31894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B: 180°C</a:t>
            </a:r>
            <a:endParaRPr lang="en-US" sz="1400" dirty="0"/>
          </a:p>
        </p:txBody>
      </p:sp>
      <p:sp>
        <p:nvSpPr>
          <p:cNvPr id="22" name="R5_qb36"/>
          <p:cNvSpPr/>
          <p:nvPr/>
        </p:nvSpPr>
        <p:spPr>
          <a:xfrm>
            <a:off x="576072" y="312267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R5_sq37"/>
          <p:cNvSpPr/>
          <p:nvPr/>
        </p:nvSpPr>
        <p:spPr>
          <a:xfrm>
            <a:off x="978408" y="3086100"/>
            <a:ext cx="7891272" cy="344043"/>
          </a:xfrm>
          <a:prstGeom prst="roundRect">
            <a:avLst>
              <a:gd name="adj" fmla="val 3189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A: 3 tbsp</a:t>
            </a:r>
            <a:endParaRPr lang="en-US" sz="1400" dirty="0"/>
          </a:p>
        </p:txBody>
      </p:sp>
      <p:sp>
        <p:nvSpPr>
          <p:cNvPr id="24" name="R6_qb38"/>
          <p:cNvSpPr/>
          <p:nvPr/>
        </p:nvSpPr>
        <p:spPr>
          <a:xfrm>
            <a:off x="576072" y="3539871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R6_sq39"/>
          <p:cNvSpPr/>
          <p:nvPr/>
        </p:nvSpPr>
        <p:spPr>
          <a:xfrm>
            <a:off x="978408" y="3503295"/>
            <a:ext cx="7891272" cy="344043"/>
          </a:xfrm>
          <a:prstGeom prst="roundRect">
            <a:avLst>
              <a:gd name="adj" fmla="val 31894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B: 750 ml</a:t>
            </a:r>
            <a:endParaRPr lang="en-US" sz="1400" dirty="0"/>
          </a:p>
        </p:txBody>
      </p:sp>
      <p:sp>
        <p:nvSpPr>
          <p:cNvPr id="26" name="R7_qb40"/>
          <p:cNvSpPr/>
          <p:nvPr/>
        </p:nvSpPr>
        <p:spPr>
          <a:xfrm>
            <a:off x="576072" y="3957066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R7_sq41"/>
          <p:cNvSpPr/>
          <p:nvPr/>
        </p:nvSpPr>
        <p:spPr>
          <a:xfrm>
            <a:off x="978408" y="3920490"/>
            <a:ext cx="7891272" cy="344043"/>
          </a:xfrm>
          <a:prstGeom prst="roundRect">
            <a:avLst>
              <a:gd name="adj" fmla="val 31894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A: 45 minutes</a:t>
            </a:r>
            <a:endParaRPr lang="en-US" sz="1400" dirty="0"/>
          </a:p>
        </p:txBody>
      </p:sp>
      <p:sp>
        <p:nvSpPr>
          <p:cNvPr id="28" name="R8_qb42"/>
          <p:cNvSpPr/>
          <p:nvPr/>
        </p:nvSpPr>
        <p:spPr>
          <a:xfrm>
            <a:off x="576072" y="4374261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R8_sq43"/>
          <p:cNvSpPr/>
          <p:nvPr/>
        </p:nvSpPr>
        <p:spPr>
          <a:xfrm>
            <a:off x="978408" y="4337685"/>
            <a:ext cx="7891272" cy="344043"/>
          </a:xfrm>
          <a:prstGeom prst="roundRect">
            <a:avLst>
              <a:gd name="adj" fmla="val 31894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B: a quarter past ten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46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the danger?</a:t>
            </a:r>
            <a:endParaRPr lang="en-US" sz="2500" dirty="0"/>
          </a:p>
        </p:txBody>
      </p:sp>
      <p:pic>
        <p:nvPicPr>
          <p:cNvPr id="6" name="brP_4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8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 the hazard and the danger.</a:t>
            </a:r>
            <a:endParaRPr lang="en-US" sz="1250" dirty="0"/>
          </a:p>
        </p:txBody>
      </p:sp>
      <p:sp>
        <p:nvSpPr>
          <p:cNvPr id="8" name="insIT_4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 il pericolo e la conseguenza.</a:t>
            </a:r>
            <a:endParaRPr lang="en-US" sz="950" dirty="0"/>
          </a:p>
        </p:txBody>
      </p:sp>
      <p:sp>
        <p:nvSpPr>
          <p:cNvPr id="9" name="cmd_50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950" dirty="0"/>
          </a:p>
        </p:txBody>
      </p:sp>
      <p:sp>
        <p:nvSpPr>
          <p:cNvPr id="10" name="meta_51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950" dirty="0"/>
          </a:p>
        </p:txBody>
      </p:sp>
      <p:sp>
        <p:nvSpPr>
          <p:cNvPr id="11" name="tag_52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5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VOCABULARY · Hazards</a:t>
            </a:r>
            <a:endParaRPr lang="en-US" sz="800" dirty="0"/>
          </a:p>
        </p:txBody>
      </p:sp>
      <p:sp>
        <p:nvSpPr>
          <p:cNvPr id="14" name="bd_55"/>
          <p:cNvSpPr/>
          <p:nvPr/>
        </p:nvSpPr>
        <p:spPr>
          <a:xfrm>
            <a:off x="548640" y="151333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q_56"/>
          <p:cNvSpPr/>
          <p:nvPr/>
        </p:nvSpPr>
        <p:spPr>
          <a:xfrm>
            <a:off x="932688" y="14173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wet floor</a:t>
            </a:r>
            <a:endParaRPr lang="en-US" sz="1300" dirty="0"/>
          </a:p>
        </p:txBody>
      </p:sp>
      <p:sp>
        <p:nvSpPr>
          <p:cNvPr id="16" name="R1_chip57"/>
          <p:cNvSpPr/>
          <p:nvPr/>
        </p:nvSpPr>
        <p:spPr>
          <a:xfrm>
            <a:off x="4297680" y="14173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slip and fall</a:t>
            </a:r>
            <a:endParaRPr lang="en-US" sz="1200" dirty="0"/>
          </a:p>
        </p:txBody>
      </p:sp>
      <p:sp>
        <p:nvSpPr>
          <p:cNvPr id="17" name="bd_58"/>
          <p:cNvSpPr/>
          <p:nvPr/>
        </p:nvSpPr>
        <p:spPr>
          <a:xfrm>
            <a:off x="548640" y="20619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q_59"/>
          <p:cNvSpPr/>
          <p:nvPr/>
        </p:nvSpPr>
        <p:spPr>
          <a:xfrm>
            <a:off x="932688" y="19659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hot oil</a:t>
            </a:r>
            <a:endParaRPr lang="en-US" sz="1300" dirty="0"/>
          </a:p>
        </p:txBody>
      </p:sp>
      <p:sp>
        <p:nvSpPr>
          <p:cNvPr id="19" name="R2_chip60"/>
          <p:cNvSpPr/>
          <p:nvPr/>
        </p:nvSpPr>
        <p:spPr>
          <a:xfrm>
            <a:off x="4297680" y="196596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burn yourself</a:t>
            </a:r>
            <a:endParaRPr lang="en-US" sz="1200" dirty="0"/>
          </a:p>
        </p:txBody>
      </p:sp>
      <p:sp>
        <p:nvSpPr>
          <p:cNvPr id="20" name="bd_61"/>
          <p:cNvSpPr/>
          <p:nvPr/>
        </p:nvSpPr>
        <p:spPr>
          <a:xfrm>
            <a:off x="548640" y="26106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q_62"/>
          <p:cNvSpPr/>
          <p:nvPr/>
        </p:nvSpPr>
        <p:spPr>
          <a:xfrm>
            <a:off x="932688" y="25146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sharp knife in the sink</a:t>
            </a:r>
            <a:endParaRPr lang="en-US" sz="1300" dirty="0"/>
          </a:p>
        </p:txBody>
      </p:sp>
      <p:sp>
        <p:nvSpPr>
          <p:cNvPr id="22" name="R3_chip63"/>
          <p:cNvSpPr/>
          <p:nvPr/>
        </p:nvSpPr>
        <p:spPr>
          <a:xfrm>
            <a:off x="4297680" y="251460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cut yourself</a:t>
            </a:r>
            <a:endParaRPr lang="en-US" sz="1200" dirty="0"/>
          </a:p>
        </p:txBody>
      </p:sp>
      <p:sp>
        <p:nvSpPr>
          <p:cNvPr id="23" name="bd_64"/>
          <p:cNvSpPr/>
          <p:nvPr/>
        </p:nvSpPr>
        <p:spPr>
          <a:xfrm>
            <a:off x="548640" y="315925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q_65"/>
          <p:cNvSpPr/>
          <p:nvPr/>
        </p:nvSpPr>
        <p:spPr>
          <a:xfrm>
            <a:off x="932688" y="30632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raw chicken next to salad</a:t>
            </a:r>
            <a:endParaRPr lang="en-US" sz="1300" dirty="0"/>
          </a:p>
        </p:txBody>
      </p:sp>
      <p:sp>
        <p:nvSpPr>
          <p:cNvPr id="25" name="R4_chip66"/>
          <p:cNvSpPr/>
          <p:nvPr/>
        </p:nvSpPr>
        <p:spPr>
          <a:xfrm>
            <a:off x="4297680" y="306324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cross-contamination</a:t>
            </a:r>
            <a:endParaRPr lang="en-US" sz="1200" dirty="0"/>
          </a:p>
        </p:txBody>
      </p:sp>
      <p:sp>
        <p:nvSpPr>
          <p:cNvPr id="26" name="bd_67"/>
          <p:cNvSpPr/>
          <p:nvPr/>
        </p:nvSpPr>
        <p:spPr>
          <a:xfrm>
            <a:off x="548640" y="370789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q_68"/>
          <p:cNvSpPr/>
          <p:nvPr/>
        </p:nvSpPr>
        <p:spPr>
          <a:xfrm>
            <a:off x="932688" y="361188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dirty cloth</a:t>
            </a:r>
            <a:endParaRPr lang="en-US" sz="1300" dirty="0"/>
          </a:p>
        </p:txBody>
      </p:sp>
      <p:sp>
        <p:nvSpPr>
          <p:cNvPr id="28" name="R5_chip69"/>
          <p:cNvSpPr/>
          <p:nvPr/>
        </p:nvSpPr>
        <p:spPr>
          <a:xfrm>
            <a:off x="4297680" y="361188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bacteria spread</a:t>
            </a:r>
            <a:endParaRPr lang="en-US" sz="1200" dirty="0"/>
          </a:p>
        </p:txBody>
      </p:sp>
      <p:sp>
        <p:nvSpPr>
          <p:cNvPr id="29" name="bd_70"/>
          <p:cNvSpPr/>
          <p:nvPr/>
        </p:nvSpPr>
        <p:spPr>
          <a:xfrm>
            <a:off x="548640" y="42565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q_71"/>
          <p:cNvSpPr/>
          <p:nvPr/>
        </p:nvSpPr>
        <p:spPr>
          <a:xfrm>
            <a:off x="932688" y="4160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food left out of the fridge</a:t>
            </a:r>
            <a:endParaRPr lang="en-US" sz="1300" dirty="0"/>
          </a:p>
        </p:txBody>
      </p:sp>
      <p:sp>
        <p:nvSpPr>
          <p:cNvPr id="31" name="R6_chip72"/>
          <p:cNvSpPr/>
          <p:nvPr/>
        </p:nvSpPr>
        <p:spPr>
          <a:xfrm>
            <a:off x="4297680" y="41605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bacteria grow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75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we use?</a:t>
            </a:r>
            <a:endParaRPr lang="en-US" sz="2500" dirty="0"/>
          </a:p>
        </p:txBody>
      </p:sp>
      <p:pic>
        <p:nvPicPr>
          <p:cNvPr id="6" name="brP_7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77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what it is and when you use it.</a:t>
            </a:r>
            <a:endParaRPr lang="en-US" sz="1250" dirty="0"/>
          </a:p>
        </p:txBody>
      </p:sp>
      <p:sp>
        <p:nvSpPr>
          <p:cNvPr id="8" name="insIT_7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cos'è e quando lo usi.</a:t>
            </a:r>
            <a:endParaRPr lang="en-US" sz="950" dirty="0"/>
          </a:p>
        </p:txBody>
      </p:sp>
      <p:sp>
        <p:nvSpPr>
          <p:cNvPr id="9" name="cmd_79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950" dirty="0"/>
          </a:p>
        </p:txBody>
      </p:sp>
      <p:sp>
        <p:nvSpPr>
          <p:cNvPr id="10" name="meta_80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950" dirty="0"/>
          </a:p>
        </p:txBody>
      </p:sp>
      <p:sp>
        <p:nvSpPr>
          <p:cNvPr id="11" name="tag_81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meaning</a:t>
            </a:r>
            <a:endParaRPr lang="en-US" sz="750" dirty="0"/>
          </a:p>
        </p:txBody>
      </p:sp>
      <p:pic>
        <p:nvPicPr>
          <p:cNvPr id="12" name="logo_8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8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VOCABULARY · Safety kit</a:t>
            </a:r>
            <a:endParaRPr lang="en-US" sz="800" dirty="0"/>
          </a:p>
        </p:txBody>
      </p:sp>
      <p:sp>
        <p:nvSpPr>
          <p:cNvPr id="14" name="cd_84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e_85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🧤</a:t>
            </a:r>
            <a:endParaRPr lang="en-US" sz="2000" dirty="0"/>
          </a:p>
        </p:txBody>
      </p:sp>
      <p:sp>
        <p:nvSpPr>
          <p:cNvPr id="16" name="en_86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gloves</a:t>
            </a:r>
            <a:endParaRPr lang="en-US" sz="1200" dirty="0"/>
          </a:p>
        </p:txBody>
      </p:sp>
      <p:sp>
        <p:nvSpPr>
          <p:cNvPr id="17" name="R1_it87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guanti</a:t>
            </a:r>
            <a:endParaRPr lang="en-US" sz="1000" dirty="0"/>
          </a:p>
        </p:txBody>
      </p:sp>
      <p:sp>
        <p:nvSpPr>
          <p:cNvPr id="18" name="cd_88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e_89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🩹</a:t>
            </a:r>
            <a:endParaRPr lang="en-US" sz="2000" dirty="0"/>
          </a:p>
        </p:txBody>
      </p:sp>
      <p:sp>
        <p:nvSpPr>
          <p:cNvPr id="20" name="en_90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blue plaster</a:t>
            </a:r>
            <a:endParaRPr lang="en-US" sz="1200" dirty="0"/>
          </a:p>
        </p:txBody>
      </p:sp>
      <p:sp>
        <p:nvSpPr>
          <p:cNvPr id="21" name="R2_it91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cerotto blu</a:t>
            </a:r>
            <a:endParaRPr lang="en-US" sz="1000" dirty="0"/>
          </a:p>
        </p:txBody>
      </p:sp>
      <p:sp>
        <p:nvSpPr>
          <p:cNvPr id="22" name="cd_92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e_93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🩹</a:t>
            </a:r>
            <a:endParaRPr lang="en-US" sz="2000" dirty="0"/>
          </a:p>
        </p:txBody>
      </p:sp>
      <p:sp>
        <p:nvSpPr>
          <p:cNvPr id="24" name="en_94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first aid kit</a:t>
            </a:r>
            <a:endParaRPr lang="en-US" sz="1200" dirty="0"/>
          </a:p>
        </p:txBody>
      </p:sp>
      <p:sp>
        <p:nvSpPr>
          <p:cNvPr id="25" name="R3_it95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kit pronto soccorso</a:t>
            </a:r>
            <a:endParaRPr lang="en-US" sz="1000" dirty="0"/>
          </a:p>
        </p:txBody>
      </p:sp>
      <p:sp>
        <p:nvSpPr>
          <p:cNvPr id="26" name="cd_96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e_97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🧼</a:t>
            </a:r>
            <a:endParaRPr lang="en-US" sz="2000" dirty="0"/>
          </a:p>
        </p:txBody>
      </p:sp>
      <p:sp>
        <p:nvSpPr>
          <p:cNvPr id="28" name="en_98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hand-wash basin</a:t>
            </a:r>
            <a:endParaRPr lang="en-US" sz="1200" dirty="0"/>
          </a:p>
        </p:txBody>
      </p:sp>
      <p:sp>
        <p:nvSpPr>
          <p:cNvPr id="29" name="R4_it99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lavamani</a:t>
            </a:r>
            <a:endParaRPr lang="en-US" sz="1000" dirty="0"/>
          </a:p>
        </p:txBody>
      </p:sp>
      <p:sp>
        <p:nvSpPr>
          <p:cNvPr id="30" name="cd_100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e_101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32" name="en_102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wet floor sign</a:t>
            </a:r>
            <a:endParaRPr lang="en-US" sz="1200" dirty="0"/>
          </a:p>
        </p:txBody>
      </p:sp>
      <p:sp>
        <p:nvSpPr>
          <p:cNvPr id="33" name="R5_it103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cartello pavimento bagnato</a:t>
            </a:r>
            <a:endParaRPr lang="en-US" sz="800" dirty="0"/>
          </a:p>
        </p:txBody>
      </p:sp>
      <p:sp>
        <p:nvSpPr>
          <p:cNvPr id="34" name="cd_104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5" name="e_105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👨‍🍳</a:t>
            </a:r>
            <a:endParaRPr lang="en-US" sz="2000" dirty="0"/>
          </a:p>
        </p:txBody>
      </p:sp>
      <p:sp>
        <p:nvSpPr>
          <p:cNvPr id="36" name="en_106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hat / hairnet</a:t>
            </a:r>
            <a:endParaRPr lang="en-US" sz="1200" dirty="0"/>
          </a:p>
        </p:txBody>
      </p:sp>
      <p:sp>
        <p:nvSpPr>
          <p:cNvPr id="37" name="R6_it107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cappello / retina</a:t>
            </a:r>
            <a:endParaRPr lang="en-US" sz="1000" dirty="0"/>
          </a:p>
        </p:txBody>
      </p:sp>
      <p:sp>
        <p:nvSpPr>
          <p:cNvPr id="38" name="cd_108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9" name="e_109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40" name="en_110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probe thermometer</a:t>
            </a:r>
            <a:endParaRPr lang="en-US" sz="1050" dirty="0"/>
          </a:p>
        </p:txBody>
      </p:sp>
      <p:sp>
        <p:nvSpPr>
          <p:cNvPr id="41" name="R7_it111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termometro a sonda</a:t>
            </a:r>
            <a:endParaRPr lang="en-US" sz="950" dirty="0"/>
          </a:p>
        </p:txBody>
      </p:sp>
      <p:sp>
        <p:nvSpPr>
          <p:cNvPr id="42" name="cd_112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3" name="e_113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44" name="en_114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fire blanket</a:t>
            </a:r>
            <a:endParaRPr lang="en-US" sz="1200" dirty="0"/>
          </a:p>
        </p:txBody>
      </p:sp>
      <p:sp>
        <p:nvSpPr>
          <p:cNvPr id="45" name="R8_it115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coperta antifiamma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1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1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118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must wash your hands</a:t>
            </a:r>
            <a:endParaRPr lang="en-US" sz="2300" dirty="0"/>
          </a:p>
        </p:txBody>
      </p:sp>
      <p:sp>
        <p:nvSpPr>
          <p:cNvPr id="6" name="meta_119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🙋 whole class</a:t>
            </a:r>
            <a:endParaRPr lang="en-US" sz="950" dirty="0"/>
          </a:p>
        </p:txBody>
      </p:sp>
      <p:sp>
        <p:nvSpPr>
          <p:cNvPr id="7" name="tag_120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50" dirty="0"/>
          </a:p>
        </p:txBody>
      </p:sp>
      <p:pic>
        <p:nvPicPr>
          <p:cNvPr id="8" name="logo_121" descr="/home/claude/lls-course/v2/img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9" name="foot_12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GRAMMAR · Rules</a:t>
            </a:r>
            <a:endParaRPr lang="en-US" sz="800" dirty="0"/>
          </a:p>
        </p:txBody>
      </p:sp>
      <p:sp>
        <p:nvSpPr>
          <p:cNvPr id="10" name="cd_123"/>
          <p:cNvSpPr/>
          <p:nvPr/>
        </p:nvSpPr>
        <p:spPr>
          <a:xfrm>
            <a:off x="3200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1" name="rh_124"/>
          <p:cNvSpPr/>
          <p:nvPr/>
        </p:nvSpPr>
        <p:spPr>
          <a:xfrm>
            <a:off x="4297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 / have to</a:t>
            </a:r>
            <a:endParaRPr lang="en-US" sz="1250" dirty="0"/>
          </a:p>
        </p:txBody>
      </p:sp>
      <p:sp>
        <p:nvSpPr>
          <p:cNvPr id="12" name="R1_rx125"/>
          <p:cNvSpPr/>
          <p:nvPr/>
        </p:nvSpPr>
        <p:spPr>
          <a:xfrm>
            <a:off x="4572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= necessary / the rule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must wash your hands.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have to wear a hat.</a:t>
            </a:r>
            <a:endParaRPr lang="en-US" sz="1400" dirty="0"/>
          </a:p>
        </p:txBody>
      </p:sp>
      <p:sp>
        <p:nvSpPr>
          <p:cNvPr id="13" name="R1_ri126"/>
          <p:cNvSpPr/>
          <p:nvPr/>
        </p:nvSpPr>
        <p:spPr>
          <a:xfrm>
            <a:off x="411480" y="4023360"/>
            <a:ext cx="257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devi</a:t>
            </a:r>
            <a:endParaRPr lang="en-US" sz="1100" dirty="0"/>
          </a:p>
        </p:txBody>
      </p:sp>
      <p:sp>
        <p:nvSpPr>
          <p:cNvPr id="14" name="cd_127"/>
          <p:cNvSpPr/>
          <p:nvPr/>
        </p:nvSpPr>
        <p:spPr>
          <a:xfrm>
            <a:off x="32156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rh_128"/>
          <p:cNvSpPr/>
          <p:nvPr/>
        </p:nvSpPr>
        <p:spPr>
          <a:xfrm>
            <a:off x="33253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mustn't</a:t>
            </a:r>
            <a:endParaRPr lang="en-US" sz="1250" dirty="0"/>
          </a:p>
        </p:txBody>
      </p:sp>
      <p:sp>
        <p:nvSpPr>
          <p:cNvPr id="16" name="R2_rx129"/>
          <p:cNvSpPr/>
          <p:nvPr/>
        </p:nvSpPr>
        <p:spPr>
          <a:xfrm>
            <a:off x="33528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= it's prohibited!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mustn't wear jewellery.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mustn't use your phone.</a:t>
            </a:r>
            <a:endParaRPr lang="en-US" sz="1400" dirty="0"/>
          </a:p>
        </p:txBody>
      </p:sp>
      <p:sp>
        <p:nvSpPr>
          <p:cNvPr id="17" name="R2_ri130"/>
          <p:cNvSpPr/>
          <p:nvPr/>
        </p:nvSpPr>
        <p:spPr>
          <a:xfrm>
            <a:off x="3307080" y="4023360"/>
            <a:ext cx="257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è vietato</a:t>
            </a:r>
            <a:endParaRPr lang="en-US" sz="1100" dirty="0"/>
          </a:p>
        </p:txBody>
      </p:sp>
      <p:sp>
        <p:nvSpPr>
          <p:cNvPr id="18" name="cd_131"/>
          <p:cNvSpPr/>
          <p:nvPr/>
        </p:nvSpPr>
        <p:spPr>
          <a:xfrm>
            <a:off x="6111240" y="1417320"/>
            <a:ext cx="2758440" cy="301752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rh_132"/>
          <p:cNvSpPr/>
          <p:nvPr/>
        </p:nvSpPr>
        <p:spPr>
          <a:xfrm>
            <a:off x="6220968" y="1508760"/>
            <a:ext cx="25389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don't have to</a:t>
            </a:r>
            <a:endParaRPr lang="en-US" sz="1250" dirty="0"/>
          </a:p>
        </p:txBody>
      </p:sp>
      <p:sp>
        <p:nvSpPr>
          <p:cNvPr id="20" name="R3_rx133"/>
          <p:cNvSpPr/>
          <p:nvPr/>
        </p:nvSpPr>
        <p:spPr>
          <a:xfrm>
            <a:off x="6248400" y="2011680"/>
            <a:ext cx="2484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= not necessary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don't have to come in on Monday.</a:t>
            </a:r>
            <a:endParaRPr lang="en-US" sz="1400" dirty="0"/>
          </a:p>
        </p:txBody>
      </p:sp>
      <p:sp>
        <p:nvSpPr>
          <p:cNvPr id="21" name="R3_ri134"/>
          <p:cNvSpPr/>
          <p:nvPr/>
        </p:nvSpPr>
        <p:spPr>
          <a:xfrm>
            <a:off x="6202680" y="4023360"/>
            <a:ext cx="257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 è necessario</a:t>
            </a:r>
            <a:endParaRPr lang="en-US" sz="1100" dirty="0"/>
          </a:p>
        </p:txBody>
      </p:sp>
      <p:sp>
        <p:nvSpPr>
          <p:cNvPr id="22" name="R4_wc135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R4_w136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mustn't ≠ don't have to!     ✗ You must to wash → ✓ You must wash.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3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292547" cy="621792"/>
          </a:xfrm>
          <a:prstGeom prst="rect">
            <a:avLst/>
          </a:prstGeom>
        </p:spPr>
      </p:pic>
      <p:sp>
        <p:nvSpPr>
          <p:cNvPr id="5" name="title_139"/>
          <p:cNvSpPr/>
          <p:nvPr/>
        </p:nvSpPr>
        <p:spPr>
          <a:xfrm>
            <a:off x="1261872" y="164592"/>
            <a:ext cx="50182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must, mustn't, don't have to?</a:t>
            </a:r>
            <a:endParaRPr lang="en-US" sz="2500" dirty="0"/>
          </a:p>
        </p:txBody>
      </p:sp>
      <p:pic>
        <p:nvPicPr>
          <p:cNvPr id="6" name="brP_14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141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Choose: must · mustn't · don't have to.</a:t>
            </a:r>
            <a:endParaRPr lang="en-US" sz="1250" dirty="0"/>
          </a:p>
        </p:txBody>
      </p:sp>
      <p:sp>
        <p:nvSpPr>
          <p:cNvPr id="8" name="insIT_14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Scegli: must / mustn't / don't have to.</a:t>
            </a:r>
            <a:endParaRPr lang="en-US" sz="950" dirty="0"/>
          </a:p>
        </p:txBody>
      </p:sp>
      <p:sp>
        <p:nvSpPr>
          <p:cNvPr id="9" name="cmd_143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✍️ 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950" dirty="0"/>
          </a:p>
        </p:txBody>
      </p:sp>
      <p:sp>
        <p:nvSpPr>
          <p:cNvPr id="10" name="meta_144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1" name="tag_145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14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4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GRAMMAR · Practice</a:t>
            </a:r>
            <a:endParaRPr lang="en-US" sz="800" dirty="0"/>
          </a:p>
        </p:txBody>
      </p:sp>
      <p:sp>
        <p:nvSpPr>
          <p:cNvPr id="14" name="bd_148"/>
          <p:cNvSpPr/>
          <p:nvPr/>
        </p:nvSpPr>
        <p:spPr>
          <a:xfrm>
            <a:off x="548640" y="154533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q_149"/>
          <p:cNvSpPr/>
          <p:nvPr/>
        </p:nvSpPr>
        <p:spPr>
          <a:xfrm>
            <a:off x="932688" y="141732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___ wear a blue plaster on a cut.</a:t>
            </a:r>
            <a:endParaRPr lang="en-US" sz="1300" dirty="0"/>
          </a:p>
        </p:txBody>
      </p:sp>
      <p:sp>
        <p:nvSpPr>
          <p:cNvPr id="16" name="R1_chip150"/>
          <p:cNvSpPr/>
          <p:nvPr/>
        </p:nvSpPr>
        <p:spPr>
          <a:xfrm>
            <a:off x="4297680" y="1417320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must</a:t>
            </a:r>
            <a:endParaRPr lang="en-US" sz="1200" dirty="0"/>
          </a:p>
        </p:txBody>
      </p:sp>
      <p:sp>
        <p:nvSpPr>
          <p:cNvPr id="17" name="bd_151"/>
          <p:cNvSpPr/>
          <p:nvPr/>
        </p:nvSpPr>
        <p:spPr>
          <a:xfrm>
            <a:off x="548640" y="2157984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q_152"/>
          <p:cNvSpPr/>
          <p:nvPr/>
        </p:nvSpPr>
        <p:spPr>
          <a:xfrm>
            <a:off x="932688" y="2029968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___ wear a watch in the kitchen.</a:t>
            </a:r>
            <a:endParaRPr lang="en-US" sz="1300" dirty="0"/>
          </a:p>
        </p:txBody>
      </p:sp>
      <p:sp>
        <p:nvSpPr>
          <p:cNvPr id="19" name="R2_chip153"/>
          <p:cNvSpPr/>
          <p:nvPr/>
        </p:nvSpPr>
        <p:spPr>
          <a:xfrm>
            <a:off x="4297680" y="2029968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mustn't</a:t>
            </a:r>
            <a:endParaRPr lang="en-US" sz="1200" dirty="0"/>
          </a:p>
        </p:txBody>
      </p:sp>
      <p:sp>
        <p:nvSpPr>
          <p:cNvPr id="20" name="bd_154"/>
          <p:cNvSpPr/>
          <p:nvPr/>
        </p:nvSpPr>
        <p:spPr>
          <a:xfrm>
            <a:off x="548640" y="2770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q_155"/>
          <p:cNvSpPr/>
          <p:nvPr/>
        </p:nvSpPr>
        <p:spPr>
          <a:xfrm>
            <a:off x="932688" y="2642616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___ wear gloves to wash salad, but you can.</a:t>
            </a:r>
            <a:endParaRPr lang="en-US" sz="1300" dirty="0"/>
          </a:p>
        </p:txBody>
      </p:sp>
      <p:sp>
        <p:nvSpPr>
          <p:cNvPr id="22" name="R3_chip156"/>
          <p:cNvSpPr/>
          <p:nvPr/>
        </p:nvSpPr>
        <p:spPr>
          <a:xfrm>
            <a:off x="4297680" y="2642616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have to</a:t>
            </a:r>
            <a:endParaRPr lang="en-US" sz="1200" dirty="0"/>
          </a:p>
        </p:txBody>
      </p:sp>
      <p:sp>
        <p:nvSpPr>
          <p:cNvPr id="23" name="bd_157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q_158"/>
          <p:cNvSpPr/>
          <p:nvPr/>
        </p:nvSpPr>
        <p:spPr>
          <a:xfrm>
            <a:off x="932688" y="3255264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___ put raw chicken above cooked food.</a:t>
            </a:r>
            <a:endParaRPr lang="en-US" sz="1300" dirty="0"/>
          </a:p>
        </p:txBody>
      </p:sp>
      <p:sp>
        <p:nvSpPr>
          <p:cNvPr id="25" name="R4_chip159"/>
          <p:cNvSpPr/>
          <p:nvPr/>
        </p:nvSpPr>
        <p:spPr>
          <a:xfrm>
            <a:off x="4297680" y="3255264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mustn't</a:t>
            </a:r>
            <a:endParaRPr lang="en-US" sz="1200" dirty="0"/>
          </a:p>
        </p:txBody>
      </p:sp>
      <p:sp>
        <p:nvSpPr>
          <p:cNvPr id="26" name="bd_160"/>
          <p:cNvSpPr/>
          <p:nvPr/>
        </p:nvSpPr>
        <p:spPr>
          <a:xfrm>
            <a:off x="548640" y="3995928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q_161"/>
          <p:cNvSpPr/>
          <p:nvPr/>
        </p:nvSpPr>
        <p:spPr>
          <a:xfrm>
            <a:off x="932688" y="3867912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Part-time staff ___ come to the Monday meeting.</a:t>
            </a:r>
            <a:endParaRPr lang="en-US" sz="1300" dirty="0"/>
          </a:p>
        </p:txBody>
      </p:sp>
      <p:sp>
        <p:nvSpPr>
          <p:cNvPr id="28" name="R5_chip162"/>
          <p:cNvSpPr/>
          <p:nvPr/>
        </p:nvSpPr>
        <p:spPr>
          <a:xfrm>
            <a:off x="4297680" y="3867912"/>
            <a:ext cx="4480560" cy="566928"/>
          </a:xfrm>
          <a:prstGeom prst="roundRect">
            <a:avLst>
              <a:gd name="adj" fmla="val 16129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have to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6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449824" cy="621792"/>
          </a:xfrm>
          <a:prstGeom prst="rect">
            <a:avLst/>
          </a:prstGeom>
        </p:spPr>
      </p:pic>
      <p:sp>
        <p:nvSpPr>
          <p:cNvPr id="5" name="title_165"/>
          <p:cNvSpPr/>
          <p:nvPr/>
        </p:nvSpPr>
        <p:spPr>
          <a:xfrm>
            <a:off x="1261872" y="164592"/>
            <a:ext cx="517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worst kitchen in the world</a:t>
            </a:r>
            <a:endParaRPr lang="en-US" sz="2500" dirty="0"/>
          </a:p>
        </p:txBody>
      </p:sp>
      <p:pic>
        <p:nvPicPr>
          <p:cNvPr id="6" name="brP_16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48656" cy="402336"/>
          </a:xfrm>
          <a:prstGeom prst="rect">
            <a:avLst/>
          </a:prstGeom>
        </p:spPr>
      </p:pic>
      <p:sp>
        <p:nvSpPr>
          <p:cNvPr id="7" name="ins_167"/>
          <p:cNvSpPr/>
          <p:nvPr/>
        </p:nvSpPr>
        <p:spPr>
          <a:xfrm>
            <a:off x="1353312" y="73152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5 rules for a TERRIBLE kitchen. Then fix them!</a:t>
            </a:r>
            <a:endParaRPr lang="en-US" sz="1250" dirty="0"/>
          </a:p>
        </p:txBody>
      </p:sp>
      <p:sp>
        <p:nvSpPr>
          <p:cNvPr id="8" name="insIT_16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5 regole per una cucina TERRIBILE. Poi correggile!</a:t>
            </a:r>
            <a:endParaRPr lang="en-US" sz="950" dirty="0"/>
          </a:p>
        </p:txBody>
      </p:sp>
      <p:sp>
        <p:nvSpPr>
          <p:cNvPr id="9" name="cmd_169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✍️ 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SCRIVI</a:t>
            </a:r>
            <a:endParaRPr lang="en-US" sz="950" dirty="0"/>
          </a:p>
        </p:txBody>
      </p:sp>
      <p:sp>
        <p:nvSpPr>
          <p:cNvPr id="10" name="meta_170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950" dirty="0"/>
          </a:p>
        </p:txBody>
      </p:sp>
      <p:sp>
        <p:nvSpPr>
          <p:cNvPr id="11" name="tag_171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Writing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50" dirty="0"/>
          </a:p>
        </p:txBody>
      </p:sp>
      <p:pic>
        <p:nvPicPr>
          <p:cNvPr id="12" name="logo_17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7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WRITING · Opposites</a:t>
            </a:r>
            <a:endParaRPr lang="en-US" sz="800" dirty="0"/>
          </a:p>
        </p:txBody>
      </p:sp>
      <p:sp>
        <p:nvSpPr>
          <p:cNvPr id="14" name="R1_qb174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R1_sq175"/>
          <p:cNvSpPr/>
          <p:nvPr/>
        </p:nvSpPr>
        <p:spPr>
          <a:xfrm>
            <a:off x="978408" y="1417320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pairs, write 5 rules for the worst kitchen ever.</a:t>
            </a:r>
            <a:endParaRPr lang="en-US" sz="1400" dirty="0"/>
          </a:p>
        </p:txBody>
      </p:sp>
      <p:sp>
        <p:nvSpPr>
          <p:cNvPr id="16" name="R2_qb176"/>
          <p:cNvSpPr/>
          <p:nvPr/>
        </p:nvSpPr>
        <p:spPr>
          <a:xfrm>
            <a:off x="57607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R2_sq177"/>
          <p:cNvSpPr/>
          <p:nvPr/>
        </p:nvSpPr>
        <p:spPr>
          <a:xfrm>
            <a:off x="978408" y="2020824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Always leave the fridge door open! Never wash the boards!</a:t>
            </a:r>
            <a:endParaRPr lang="en-US" sz="1400" dirty="0"/>
          </a:p>
        </p:txBody>
      </p:sp>
      <p:sp>
        <p:nvSpPr>
          <p:cNvPr id="18" name="R3_qb178"/>
          <p:cNvSpPr/>
          <p:nvPr/>
        </p:nvSpPr>
        <p:spPr>
          <a:xfrm>
            <a:off x="57607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R3_sq179"/>
          <p:cNvSpPr/>
          <p:nvPr/>
        </p:nvSpPr>
        <p:spPr>
          <a:xfrm>
            <a:off x="978408" y="2624328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Swap lists. Change each rule into a real rule with must / mustn't.</a:t>
            </a:r>
            <a:endParaRPr lang="en-US" sz="1400" dirty="0"/>
          </a:p>
        </p:txBody>
      </p:sp>
      <p:sp>
        <p:nvSpPr>
          <p:cNvPr id="20" name="R4_qb180"/>
          <p:cNvSpPr/>
          <p:nvPr/>
        </p:nvSpPr>
        <p:spPr>
          <a:xfrm>
            <a:off x="57607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R4_sq181"/>
          <p:cNvSpPr/>
          <p:nvPr/>
        </p:nvSpPr>
        <p:spPr>
          <a:xfrm>
            <a:off x="978408" y="3227832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mustn't leave the fridge door open. You must wash the boards.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8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8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184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4 Cs of food safety</a:t>
            </a:r>
            <a:endParaRPr lang="en-US" sz="2500" dirty="0"/>
          </a:p>
        </p:txBody>
      </p:sp>
      <p:pic>
        <p:nvPicPr>
          <p:cNvPr id="6" name="brP_18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186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 each rule to one of the 4 Cs.</a:t>
            </a:r>
            <a:endParaRPr lang="en-US" sz="1250" dirty="0"/>
          </a:p>
        </p:txBody>
      </p:sp>
      <p:sp>
        <p:nvSpPr>
          <p:cNvPr id="8" name="insIT_18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 ogni regola a una delle 4 C.</a:t>
            </a:r>
            <a:endParaRPr lang="en-US" sz="950" dirty="0"/>
          </a:p>
        </p:txBody>
      </p:sp>
      <p:sp>
        <p:nvSpPr>
          <p:cNvPr id="9" name="cmd_188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👀 </a:t>
            </a:r>
            <a:pPr algn="ctr" indent="0" marL="0">
              <a:buNone/>
            </a:pPr>
            <a:r>
              <a:rPr lang="en-US" sz="9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950" dirty="0"/>
          </a:p>
        </p:txBody>
      </p:sp>
      <p:sp>
        <p:nvSpPr>
          <p:cNvPr id="10" name="meta_189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950" dirty="0"/>
          </a:p>
        </p:txBody>
      </p:sp>
      <p:sp>
        <p:nvSpPr>
          <p:cNvPr id="11" name="tag_190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7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50" dirty="0"/>
          </a:p>
        </p:txBody>
      </p:sp>
      <p:pic>
        <p:nvPicPr>
          <p:cNvPr id="12" name="logo_19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9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READING · The 4 Cs</a:t>
            </a:r>
            <a:endParaRPr lang="en-US" sz="800" dirty="0"/>
          </a:p>
        </p:txBody>
      </p:sp>
      <p:sp>
        <p:nvSpPr>
          <p:cNvPr id="14" name="bd_193"/>
          <p:cNvSpPr/>
          <p:nvPr/>
        </p:nvSpPr>
        <p:spPr>
          <a:xfrm>
            <a:off x="548640" y="151333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q_194"/>
          <p:cNvSpPr/>
          <p:nvPr/>
        </p:nvSpPr>
        <p:spPr>
          <a:xfrm>
            <a:off x="932688" y="14173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Cook food until it is steaming hot all the way through.</a:t>
            </a:r>
            <a:endParaRPr lang="en-US" sz="1300" dirty="0"/>
          </a:p>
        </p:txBody>
      </p:sp>
      <p:sp>
        <p:nvSpPr>
          <p:cNvPr id="16" name="R1_chip195"/>
          <p:cNvSpPr/>
          <p:nvPr/>
        </p:nvSpPr>
        <p:spPr>
          <a:xfrm>
            <a:off x="4297680" y="14173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Cooking</a:t>
            </a:r>
            <a:endParaRPr lang="en-US" sz="1200" dirty="0"/>
          </a:p>
        </p:txBody>
      </p:sp>
      <p:sp>
        <p:nvSpPr>
          <p:cNvPr id="17" name="bd_196"/>
          <p:cNvSpPr/>
          <p:nvPr/>
        </p:nvSpPr>
        <p:spPr>
          <a:xfrm>
            <a:off x="548640" y="20619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q_197"/>
          <p:cNvSpPr/>
          <p:nvPr/>
        </p:nvSpPr>
        <p:spPr>
          <a:xfrm>
            <a:off x="932688" y="196596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the fridge at 5°C or below.</a:t>
            </a:r>
            <a:endParaRPr lang="en-US" sz="1300" dirty="0"/>
          </a:p>
        </p:txBody>
      </p:sp>
      <p:sp>
        <p:nvSpPr>
          <p:cNvPr id="19" name="R2_chip198"/>
          <p:cNvSpPr/>
          <p:nvPr/>
        </p:nvSpPr>
        <p:spPr>
          <a:xfrm>
            <a:off x="4297680" y="196596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Chilling</a:t>
            </a:r>
            <a:endParaRPr lang="en-US" sz="1200" dirty="0"/>
          </a:p>
        </p:txBody>
      </p:sp>
      <p:sp>
        <p:nvSpPr>
          <p:cNvPr id="20" name="bd_199"/>
          <p:cNvSpPr/>
          <p:nvPr/>
        </p:nvSpPr>
        <p:spPr>
          <a:xfrm>
            <a:off x="548640" y="26106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q_200"/>
          <p:cNvSpPr/>
          <p:nvPr/>
        </p:nvSpPr>
        <p:spPr>
          <a:xfrm>
            <a:off x="932688" y="25146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different boards for raw meat and ready-to-eat food.</a:t>
            </a:r>
            <a:endParaRPr lang="en-US" sz="1300" dirty="0"/>
          </a:p>
        </p:txBody>
      </p:sp>
      <p:sp>
        <p:nvSpPr>
          <p:cNvPr id="22" name="R3_chip201"/>
          <p:cNvSpPr/>
          <p:nvPr/>
        </p:nvSpPr>
        <p:spPr>
          <a:xfrm>
            <a:off x="4297680" y="251460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Cross-contamination</a:t>
            </a:r>
            <a:endParaRPr lang="en-US" sz="1200" dirty="0"/>
          </a:p>
        </p:txBody>
      </p:sp>
      <p:sp>
        <p:nvSpPr>
          <p:cNvPr id="23" name="bd_202"/>
          <p:cNvSpPr/>
          <p:nvPr/>
        </p:nvSpPr>
        <p:spPr>
          <a:xfrm>
            <a:off x="548640" y="315925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q_203"/>
          <p:cNvSpPr/>
          <p:nvPr/>
        </p:nvSpPr>
        <p:spPr>
          <a:xfrm>
            <a:off x="932688" y="30632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 as you go – wash surfaces and equipment.</a:t>
            </a:r>
            <a:endParaRPr lang="en-US" sz="1300" dirty="0"/>
          </a:p>
        </p:txBody>
      </p:sp>
      <p:sp>
        <p:nvSpPr>
          <p:cNvPr id="25" name="R4_chip204"/>
          <p:cNvSpPr/>
          <p:nvPr/>
        </p:nvSpPr>
        <p:spPr>
          <a:xfrm>
            <a:off x="4297680" y="306324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Cleaning</a:t>
            </a:r>
            <a:endParaRPr lang="en-US" sz="1200" dirty="0"/>
          </a:p>
        </p:txBody>
      </p:sp>
      <p:sp>
        <p:nvSpPr>
          <p:cNvPr id="26" name="bd_205"/>
          <p:cNvSpPr/>
          <p:nvPr/>
        </p:nvSpPr>
        <p:spPr>
          <a:xfrm>
            <a:off x="548640" y="370789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q_206"/>
          <p:cNvSpPr/>
          <p:nvPr/>
        </p:nvSpPr>
        <p:spPr>
          <a:xfrm>
            <a:off x="932688" y="361188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Cool food quickly and put it in the fridge.</a:t>
            </a:r>
            <a:endParaRPr lang="en-US" sz="1300" dirty="0"/>
          </a:p>
        </p:txBody>
      </p:sp>
      <p:sp>
        <p:nvSpPr>
          <p:cNvPr id="28" name="R5_chip207"/>
          <p:cNvSpPr/>
          <p:nvPr/>
        </p:nvSpPr>
        <p:spPr>
          <a:xfrm>
            <a:off x="4297680" y="361188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Chilling</a:t>
            </a:r>
            <a:endParaRPr lang="en-US" sz="1200" dirty="0"/>
          </a:p>
        </p:txBody>
      </p:sp>
      <p:sp>
        <p:nvSpPr>
          <p:cNvPr id="29" name="bd_208"/>
          <p:cNvSpPr/>
          <p:nvPr/>
        </p:nvSpPr>
        <p:spPr>
          <a:xfrm>
            <a:off x="548640" y="42565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q_209"/>
          <p:cNvSpPr/>
          <p:nvPr/>
        </p:nvSpPr>
        <p:spPr>
          <a:xfrm>
            <a:off x="932688" y="41605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Wash your hands after you touch raw meat.</a:t>
            </a:r>
            <a:endParaRPr lang="en-US" sz="1300" dirty="0"/>
          </a:p>
        </p:txBody>
      </p:sp>
      <p:sp>
        <p:nvSpPr>
          <p:cNvPr id="31" name="R6_chip210"/>
          <p:cNvSpPr/>
          <p:nvPr/>
        </p:nvSpPr>
        <p:spPr>
          <a:xfrm>
            <a:off x="4297680" y="4160520"/>
            <a:ext cx="4480560" cy="502920"/>
          </a:xfrm>
          <a:prstGeom prst="roundRect">
            <a:avLst>
              <a:gd name="adj" fmla="val 1818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Cleaning / Cross-cont.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1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1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213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Agree or no way?</a:t>
            </a:r>
            <a:endParaRPr lang="en-US" sz="2500" dirty="0"/>
          </a:p>
        </p:txBody>
      </p:sp>
      <p:pic>
        <p:nvPicPr>
          <p:cNvPr id="6" name="brP_21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Choose: agree or no way? Give one reason in 30 seconds!</a:t>
            </a:r>
            <a:endParaRPr lang="en-US" sz="1250" dirty="0"/>
          </a:p>
        </p:txBody>
      </p:sp>
      <p:sp>
        <p:nvSpPr>
          <p:cNvPr id="8" name="insIT_21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Scegli: d'accordo o no? Un motivo in 30 secondi!</a:t>
            </a:r>
            <a:endParaRPr lang="en-US" sz="950" dirty="0"/>
          </a:p>
        </p:txBody>
      </p:sp>
      <p:sp>
        <p:nvSpPr>
          <p:cNvPr id="9" name="cmd_217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💬 </a:t>
            </a:r>
            <a:pPr algn="ctr" indent="0" marL="0">
              <a:buNone/>
            </a:pPr>
            <a:r>
              <a:rPr lang="en-US" sz="9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950" dirty="0"/>
          </a:p>
        </p:txBody>
      </p:sp>
      <p:sp>
        <p:nvSpPr>
          <p:cNvPr id="10" name="meta_218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👥 pairs</a:t>
            </a:r>
            <a:endParaRPr lang="en-US" sz="950" dirty="0"/>
          </a:p>
        </p:txBody>
      </p:sp>
      <p:sp>
        <p:nvSpPr>
          <p:cNvPr id="11" name="tag_219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22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2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SPEAKING · Mini debate</a:t>
            </a:r>
            <a:endParaRPr lang="en-US" sz="800" dirty="0"/>
          </a:p>
        </p:txBody>
      </p:sp>
      <p:sp>
        <p:nvSpPr>
          <p:cNvPr id="14" name="R1_qb222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R1_sq223"/>
          <p:cNvSpPr/>
          <p:nvPr/>
        </p:nvSpPr>
        <p:spPr>
          <a:xfrm>
            <a:off x="978408" y="1417320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Shouting in the kitchen is necessary.</a:t>
            </a:r>
            <a:endParaRPr lang="en-US" sz="1400" dirty="0"/>
          </a:p>
        </p:txBody>
      </p:sp>
      <p:sp>
        <p:nvSpPr>
          <p:cNvPr id="16" name="R2_qb224"/>
          <p:cNvSpPr/>
          <p:nvPr/>
        </p:nvSpPr>
        <p:spPr>
          <a:xfrm>
            <a:off x="57607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R2_sq225"/>
          <p:cNvSpPr/>
          <p:nvPr/>
        </p:nvSpPr>
        <p:spPr>
          <a:xfrm>
            <a:off x="978408" y="2020824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Chefs should be allowed to use their phones at work.</a:t>
            </a:r>
            <a:endParaRPr lang="en-US" sz="1400" dirty="0"/>
          </a:p>
        </p:txBody>
      </p:sp>
      <p:sp>
        <p:nvSpPr>
          <p:cNvPr id="18" name="R3_qb226"/>
          <p:cNvSpPr/>
          <p:nvPr/>
        </p:nvSpPr>
        <p:spPr>
          <a:xfrm>
            <a:off x="57607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R3_sq227"/>
          <p:cNvSpPr/>
          <p:nvPr/>
        </p:nvSpPr>
        <p:spPr>
          <a:xfrm>
            <a:off x="978408" y="2624328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Tasting with your finger is OK if your hands are clean.</a:t>
            </a:r>
            <a:endParaRPr lang="en-US" sz="1400" dirty="0"/>
          </a:p>
        </p:txBody>
      </p:sp>
      <p:sp>
        <p:nvSpPr>
          <p:cNvPr id="20" name="R4_qb228"/>
          <p:cNvSpPr/>
          <p:nvPr/>
        </p:nvSpPr>
        <p:spPr>
          <a:xfrm>
            <a:off x="57607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R4_sq229"/>
          <p:cNvSpPr/>
          <p:nvPr/>
        </p:nvSpPr>
        <p:spPr>
          <a:xfrm>
            <a:off x="978408" y="3227832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kitchens are better than closed kitchens.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3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232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kitchen inspector</a:t>
            </a:r>
            <a:endParaRPr lang="en-US" sz="2500" dirty="0"/>
          </a:p>
        </p:txBody>
      </p:sp>
      <p:pic>
        <p:nvPicPr>
          <p:cNvPr id="6" name="brP_23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234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Chef A is the inspector. Find 5 problems!</a:t>
            </a:r>
            <a:endParaRPr lang="en-US" sz="1250" dirty="0"/>
          </a:p>
        </p:txBody>
      </p:sp>
      <p:sp>
        <p:nvSpPr>
          <p:cNvPr id="8" name="insIT_23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Chef A è l'ispettore. Trova 5 problemi!</a:t>
            </a:r>
            <a:endParaRPr lang="en-US" sz="950" dirty="0"/>
          </a:p>
        </p:txBody>
      </p:sp>
      <p:sp>
        <p:nvSpPr>
          <p:cNvPr id="9" name="cmd_236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🎲 </a:t>
            </a:r>
            <a:pPr algn="ctr" indent="0" marL="0">
              <a:buNone/>
            </a:pPr>
            <a:r>
              <a:rPr lang="en-US" sz="9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950" dirty="0"/>
          </a:p>
        </p:txBody>
      </p:sp>
      <p:sp>
        <p:nvSpPr>
          <p:cNvPr id="10" name="meta_237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9 min   🏆 teams</a:t>
            </a:r>
            <a:endParaRPr lang="en-US" sz="950" dirty="0"/>
          </a:p>
        </p:txBody>
      </p:sp>
      <p:sp>
        <p:nvSpPr>
          <p:cNvPr id="11" name="tag_238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23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4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GAME · Role-play</a:t>
            </a:r>
            <a:endParaRPr lang="en-US" sz="800" dirty="0"/>
          </a:p>
        </p:txBody>
      </p:sp>
      <p:sp>
        <p:nvSpPr>
          <p:cNvPr id="14" name="R1_qb241"/>
          <p:cNvSpPr/>
          <p:nvPr/>
        </p:nvSpPr>
        <p:spPr>
          <a:xfrm>
            <a:off x="57607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R1_sq242"/>
          <p:cNvSpPr/>
          <p:nvPr/>
        </p:nvSpPr>
        <p:spPr>
          <a:xfrm>
            <a:off x="978408" y="1417320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Chef B describes his / her kitchen – true or invented: There's a cake on the table. The fridge is at 9°C…</a:t>
            </a:r>
            <a:endParaRPr lang="en-US" sz="1400" dirty="0"/>
          </a:p>
        </p:txBody>
      </p:sp>
      <p:sp>
        <p:nvSpPr>
          <p:cNvPr id="16" name="R2_qb243"/>
          <p:cNvSpPr/>
          <p:nvPr/>
        </p:nvSpPr>
        <p:spPr>
          <a:xfrm>
            <a:off x="57607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R2_sq244"/>
          <p:cNvSpPr/>
          <p:nvPr/>
        </p:nvSpPr>
        <p:spPr>
          <a:xfrm>
            <a:off x="978408" y="2020824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Chef A finds the problems: You mustn't… / You have to…</a:t>
            </a:r>
            <a:endParaRPr lang="en-US" sz="1400" dirty="0"/>
          </a:p>
        </p:txBody>
      </p:sp>
      <p:sp>
        <p:nvSpPr>
          <p:cNvPr id="18" name="R3_qb245"/>
          <p:cNvSpPr/>
          <p:nvPr/>
        </p:nvSpPr>
        <p:spPr>
          <a:xfrm>
            <a:off x="57607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R3_sq246"/>
          <p:cNvSpPr/>
          <p:nvPr/>
        </p:nvSpPr>
        <p:spPr>
          <a:xfrm>
            <a:off x="978408" y="2624328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Each problem found = 1 point. Each hidden problem not found = 1 point for B!</a:t>
            </a:r>
            <a:endParaRPr lang="en-US" sz="1400" dirty="0"/>
          </a:p>
        </p:txBody>
      </p:sp>
      <p:sp>
        <p:nvSpPr>
          <p:cNvPr id="20" name="R4_qb247"/>
          <p:cNvSpPr/>
          <p:nvPr/>
        </p:nvSpPr>
        <p:spPr>
          <a:xfrm>
            <a:off x="57607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R4_sq248"/>
          <p:cNvSpPr/>
          <p:nvPr/>
        </p:nvSpPr>
        <p:spPr>
          <a:xfrm>
            <a:off x="978408" y="3227832"/>
            <a:ext cx="78912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Swap roles.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5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251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25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2295144" cy="402336"/>
          </a:xfrm>
          <a:prstGeom prst="rect">
            <a:avLst/>
          </a:prstGeom>
        </p:spPr>
      </p:pic>
      <p:sp>
        <p:nvSpPr>
          <p:cNvPr id="7" name="ins_253"/>
          <p:cNvSpPr/>
          <p:nvPr/>
        </p:nvSpPr>
        <p:spPr>
          <a:xfrm>
            <a:off x="1353312" y="731520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your partner…</a:t>
            </a:r>
            <a:endParaRPr lang="en-US" sz="1250" dirty="0"/>
          </a:p>
        </p:txBody>
      </p:sp>
      <p:sp>
        <p:nvSpPr>
          <p:cNvPr id="8" name="insIT_25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al collega…</a:t>
            </a:r>
            <a:endParaRPr lang="en-US" sz="950" dirty="0"/>
          </a:p>
        </p:txBody>
      </p:sp>
      <p:sp>
        <p:nvSpPr>
          <p:cNvPr id="9" name="meta_255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0" name="tag_256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950" dirty="0"/>
          </a:p>
        </p:txBody>
      </p:sp>
      <p:pic>
        <p:nvPicPr>
          <p:cNvPr id="11" name="logo_2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2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Exit · what can you remember?</a:t>
            </a:r>
            <a:endParaRPr lang="en-US" sz="800" dirty="0"/>
          </a:p>
        </p:txBody>
      </p:sp>
      <p:sp>
        <p:nvSpPr>
          <p:cNvPr id="13" name="bd_259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260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new words from today.</a:t>
            </a:r>
            <a:endParaRPr lang="en-US" sz="1400" dirty="0"/>
          </a:p>
        </p:txBody>
      </p:sp>
      <p:sp>
        <p:nvSpPr>
          <p:cNvPr id="15" name="bd_261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262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sentences with today's grammar.</a:t>
            </a:r>
            <a:endParaRPr lang="en-US" sz="1400" dirty="0"/>
          </a:p>
        </p:txBody>
      </p:sp>
      <p:sp>
        <p:nvSpPr>
          <p:cNvPr id="17" name="bd_263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264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you'll say at work this week.</a:t>
            </a:r>
            <a:endParaRPr lang="en-US" sz="1400" dirty="0"/>
          </a:p>
        </p:txBody>
      </p:sp>
      <p:sp>
        <p:nvSpPr>
          <p:cNvPr id="19" name="cd_265"/>
          <p:cNvSpPr/>
          <p:nvPr/>
        </p:nvSpPr>
        <p:spPr>
          <a:xfrm>
            <a:off x="5669280" y="1417320"/>
            <a:ext cx="3200400" cy="1069848"/>
          </a:xfrm>
          <a:prstGeom prst="roundRect">
            <a:avLst>
              <a:gd name="adj" fmla="val 1196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266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267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268"/>
          <p:cNvSpPr/>
          <p:nvPr/>
        </p:nvSpPr>
        <p:spPr>
          <a:xfrm>
            <a:off x="6236208" y="191109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8 rules for your kitchen in English. Put them on the wall at work!</a:t>
            </a:r>
            <a:endParaRPr lang="en-US" sz="950" dirty="0"/>
          </a:p>
        </p:txBody>
      </p:sp>
      <p:sp>
        <p:nvSpPr>
          <p:cNvPr id="23" name="st_269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L8 · Allergens &amp; special diets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7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27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272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27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274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27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276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💡 </a:t>
            </a:r>
            <a:pPr algn="ctr" indent="0" marL="0">
              <a:buNone/>
            </a:pPr>
            <a:r>
              <a:rPr lang="en-US" sz="9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950" dirty="0"/>
          </a:p>
        </p:txBody>
      </p:sp>
      <p:sp>
        <p:nvSpPr>
          <p:cNvPr id="10" name="meta_277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278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9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Reflection</a:t>
            </a:r>
            <a:endParaRPr lang="en-US" sz="950" dirty="0"/>
          </a:p>
        </p:txBody>
      </p:sp>
      <p:pic>
        <p:nvPicPr>
          <p:cNvPr id="12" name="logo_27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8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Review · what did you do today?</a:t>
            </a:r>
            <a:endParaRPr lang="en-US" sz="800" dirty="0"/>
          </a:p>
        </p:txBody>
      </p:sp>
      <p:sp>
        <p:nvSpPr>
          <p:cNvPr id="14" name="cd_281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282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6" name="tt_283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hazards and hygiene</a:t>
            </a:r>
            <a:endParaRPr lang="en-US" sz="1350" dirty="0"/>
          </a:p>
        </p:txBody>
      </p:sp>
      <p:sp>
        <p:nvSpPr>
          <p:cNvPr id="17" name="R1_tk284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285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286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0" name="tt_287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must / mustn't / have to</a:t>
            </a:r>
            <a:endParaRPr lang="en-US" sz="1350" dirty="0"/>
          </a:p>
        </p:txBody>
      </p:sp>
      <p:sp>
        <p:nvSpPr>
          <p:cNvPr id="21" name="R2_tk288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289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290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4" name="tt_291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speaking: the kitchen inspector</a:t>
            </a:r>
            <a:endParaRPr lang="en-US" sz="1350" dirty="0"/>
          </a:p>
        </p:txBody>
      </p:sp>
      <p:sp>
        <p:nvSpPr>
          <p:cNvPr id="25" name="R3_tk292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st_293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294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295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29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297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29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300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four Cs</a:t>
            </a:r>
            <a:endParaRPr lang="en-US" sz="2500" dirty="0"/>
          </a:p>
        </p:txBody>
      </p:sp>
      <p:pic>
        <p:nvPicPr>
          <p:cNvPr id="6" name="brP_30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98164" cy="402336"/>
          </a:xfrm>
          <a:prstGeom prst="rect">
            <a:avLst/>
          </a:prstGeom>
        </p:spPr>
      </p:pic>
      <p:sp>
        <p:nvSpPr>
          <p:cNvPr id="7" name="ins_302"/>
          <p:cNvSpPr/>
          <p:nvPr/>
        </p:nvSpPr>
        <p:spPr>
          <a:xfrm>
            <a:off x="1353312" y="731520"/>
            <a:ext cx="33421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Watch. Write one rule for each C.</a:t>
            </a:r>
            <a:endParaRPr lang="en-US" sz="1250" dirty="0"/>
          </a:p>
        </p:txBody>
      </p:sp>
      <p:sp>
        <p:nvSpPr>
          <p:cNvPr id="8" name="insIT_30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Guarda. Scrivi una regola per ogni C.</a:t>
            </a:r>
            <a:endParaRPr lang="en-US" sz="950" dirty="0"/>
          </a:p>
        </p:txBody>
      </p:sp>
      <p:sp>
        <p:nvSpPr>
          <p:cNvPr id="9" name="cmd_304"/>
          <p:cNvSpPr/>
          <p:nvPr/>
        </p:nvSpPr>
        <p:spPr>
          <a:xfrm>
            <a:off x="6510528" y="18288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🎬 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</a:t>
            </a:r>
            <a:pPr algn="ctr"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 IL VIDEO</a:t>
            </a:r>
            <a:endParaRPr lang="en-US" sz="800" dirty="0"/>
          </a:p>
        </p:txBody>
      </p:sp>
      <p:sp>
        <p:nvSpPr>
          <p:cNvPr id="10" name="meta_305"/>
          <p:cNvSpPr/>
          <p:nvPr/>
        </p:nvSpPr>
        <p:spPr>
          <a:xfrm>
            <a:off x="6510528" y="5486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🙋 whole class</a:t>
            </a:r>
            <a:endParaRPr lang="en-US" sz="950" dirty="0"/>
          </a:p>
        </p:txBody>
      </p:sp>
      <p:sp>
        <p:nvSpPr>
          <p:cNvPr id="11" name="tag_306"/>
          <p:cNvSpPr/>
          <p:nvPr/>
        </p:nvSpPr>
        <p:spPr>
          <a:xfrm>
            <a:off x="6510528" y="91440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EFF"/>
          </a:solidFill>
          <a:ln w="28575">
            <a:solidFill>
              <a:srgbClr val="CDBFF3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30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30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L7 · Video · food safety</a:t>
            </a:r>
            <a:endParaRPr lang="en-US" sz="800" dirty="0"/>
          </a:p>
        </p:txBody>
      </p:sp>
      <p:sp>
        <p:nvSpPr>
          <p:cNvPr id="14" name="ext_309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5" name="cd_310"/>
          <p:cNvSpPr/>
          <p:nvPr/>
        </p:nvSpPr>
        <p:spPr>
          <a:xfrm>
            <a:off x="320040" y="1417320"/>
            <a:ext cx="2788920" cy="1508760"/>
          </a:xfrm>
          <a:prstGeom prst="roundRect">
            <a:avLst>
              <a:gd name="adj" fmla="val 84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1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7" name="ih_312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8" name="il_313"/>
          <p:cNvSpPr/>
          <p:nvPr/>
        </p:nvSpPr>
        <p:spPr>
          <a:xfrm>
            <a:off x="886968" y="1911096"/>
            <a:ext cx="2130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The four Cs of food safety (short)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https://www.youtube.com/watch?v=Hl7iGCxaA3Q</a:t>
            </a:r>
            <a:endParaRPr lang="en-US" sz="1150" dirty="0"/>
          </a:p>
        </p:txBody>
      </p:sp>
      <p:sp>
        <p:nvSpPr>
          <p:cNvPr id="19" name="R1_qb314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R1_sq315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Cleaning: you must…</a:t>
            </a:r>
            <a:endParaRPr lang="en-US" sz="1400" dirty="0"/>
          </a:p>
        </p:txBody>
      </p:sp>
      <p:sp>
        <p:nvSpPr>
          <p:cNvPr id="21" name="R2_qb316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R2_sq317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Cooking: you must…</a:t>
            </a:r>
            <a:endParaRPr lang="en-US" sz="1400" dirty="0"/>
          </a:p>
        </p:txBody>
      </p:sp>
      <p:sp>
        <p:nvSpPr>
          <p:cNvPr id="23" name="R3_qb318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R3_sq319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Chilling: you mustn't…</a:t>
            </a:r>
            <a:endParaRPr lang="en-US" sz="1400" dirty="0"/>
          </a:p>
        </p:txBody>
      </p:sp>
      <p:sp>
        <p:nvSpPr>
          <p:cNvPr id="25" name="R4_qb320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R4_sq321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Cross-contamination: you mustn't…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L7 Health &amp; safety</dc:title>
  <dc:subject>PptxGenJS Presentation</dc:subject>
  <dc:creator>PptxGenJS</dc:creator>
  <cp:lastModifiedBy>PptxGenJS</cp:lastModifiedBy>
  <cp:revision>1</cp:revision>
  <dcterms:created xsi:type="dcterms:W3CDTF">2026-10-20T06:41:58Z</dcterms:created>
  <dcterms:modified xsi:type="dcterms:W3CDTF">2026-10-20T06:41:58Z</dcterms:modified>
</cp:coreProperties>
</file>