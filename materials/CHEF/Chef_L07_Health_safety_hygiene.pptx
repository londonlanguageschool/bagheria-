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LESSON 7 (60 min). Aims: kitchen hazards, must / mustn't / have to / don't have to, the 4 Cs of food safety. 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Lesson 6 (5 min)
REVISION (5 min). Chef B looks away while Chef A reads the A numbers, then swap. Check spelling of the words too. Quick extra: 2 'Can you…?' questions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VOCABULARY · Hazards (6 min)
VOCABULARY (6 min). Click 1. Italian: scivolare, bruciarsi, tagliarsi, contaminazione crociata.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Safety kit (6 min)
VOCABULARY (6 min). Kitchen plasters are blue so they're easy to see if one falls into food. Students make sentences: You use a probe thermometer to check the chicken.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GRAMMAR · Rules (6 min)
GRAMMAR (6 min). Check: 'You don't have to wear gloves' vs 'You mustn't wear gloves' — very different!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Practice (5 min)
GRAMMAR PRACTICE (5 min). Check the difference mustn't (forbidden) / don't have to (not necessary).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WRITING · Opposites (6 min)
WRITING (6 min). VARIATION: opposites — 'What would make this terrible?'. Funny, and it produces must / mustn't naturally.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READING · The 4 Cs (6 min)
READING (6 min). Teacher's own text based on standard UK food safety guidance (FSA: cleaning, chilling, cooking, cross-contamination). Mention UK colour-coded boards: red raw meat, blue raw fish, yellow cooked meat, green salad &amp; fruit, brown vegetables, white bread &amp; dairy.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Mini debate (6 min)
MINI DEBATE (6 min). VARIATION: mild controversy + mini debate: 30 s to choose, 1 argument, partner responds. Keep it friendly; there is no right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GAME · Role-play (9 min)
GAME (10 min). B should hide 5 problems in the description. Teacher keeps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Exit · what can you remember? (3 min)
EXIT (3 min). Homework sheet L7 in the portal.
Can-dos: I can name kitchen hazards. · I can use must, mustn't, have to, don't have to. · I can explain the 4 Cs of food safety.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Video · food safety (8 min)
EXTRA VIDEO (8 min). Official FAO channel; link checked October 2026. Preview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Kitchen English · Lesson 7 of 10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L7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Health &amp; safety</a:t>
            </a:r>
            <a:endParaRPr lang="en-US" sz="22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hazards and hygiene · must / mustn't / have to · the kitchen inspector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🔑  learn hazards and hygiene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🧩  practise must / mustn't / have to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practise speaking: the kitchen inspector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must wash your hands!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chef_ic_soap_pn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No. 1 rule in your kitchen?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Number dictation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reads list A. B writes. Then swap and check!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legge la lista A. B scrive. Poi scambiatevi!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ASCOLTA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Communicative</a:t>
            </a:r>
            <a:endParaRPr lang="en-US" sz="12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L7 · REVISION · Lesson 6</a:t>
            </a:r>
            <a:endParaRPr lang="en-US" sz="800" dirty="0"/>
          </a:p>
        </p:txBody>
      </p:sp>
      <p:sp>
        <p:nvSpPr>
          <p:cNvPr id="12" name="R1_qb26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R1_sq27"/>
          <p:cNvSpPr/>
          <p:nvPr/>
        </p:nvSpPr>
        <p:spPr>
          <a:xfrm>
            <a:off x="978408" y="1417320"/>
            <a:ext cx="7891272" cy="344043"/>
          </a:xfrm>
          <a:prstGeom prst="roundRect">
            <a:avLst>
              <a:gd name="adj" fmla="val 3189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A: 250 g</a:t>
            </a:r>
            <a:endParaRPr lang="en-US" sz="1400" dirty="0"/>
          </a:p>
        </p:txBody>
      </p:sp>
      <p:sp>
        <p:nvSpPr>
          <p:cNvPr id="14" name="R2_qb28"/>
          <p:cNvSpPr/>
          <p:nvPr/>
        </p:nvSpPr>
        <p:spPr>
          <a:xfrm>
            <a:off x="576072" y="1871091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R2_sq29"/>
          <p:cNvSpPr/>
          <p:nvPr/>
        </p:nvSpPr>
        <p:spPr>
          <a:xfrm>
            <a:off x="978408" y="1834515"/>
            <a:ext cx="7891272" cy="344043"/>
          </a:xfrm>
          <a:prstGeom prst="roundRect">
            <a:avLst>
              <a:gd name="adj" fmla="val 3189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B: 1.5 kg</a:t>
            </a:r>
            <a:endParaRPr lang="en-US" sz="1400" dirty="0"/>
          </a:p>
        </p:txBody>
      </p:sp>
      <p:sp>
        <p:nvSpPr>
          <p:cNvPr id="16" name="R3_qb30"/>
          <p:cNvSpPr/>
          <p:nvPr/>
        </p:nvSpPr>
        <p:spPr>
          <a:xfrm>
            <a:off x="576072" y="228828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R3_sq31"/>
          <p:cNvSpPr/>
          <p:nvPr/>
        </p:nvSpPr>
        <p:spPr>
          <a:xfrm>
            <a:off x="978408" y="2251710"/>
            <a:ext cx="7891272" cy="344043"/>
          </a:xfrm>
          <a:prstGeom prst="roundRect">
            <a:avLst>
              <a:gd name="adj" fmla="val 31894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A: –18°C</a:t>
            </a:r>
            <a:endParaRPr lang="en-US" sz="1400" dirty="0"/>
          </a:p>
        </p:txBody>
      </p:sp>
      <p:sp>
        <p:nvSpPr>
          <p:cNvPr id="18" name="R4_qb32"/>
          <p:cNvSpPr/>
          <p:nvPr/>
        </p:nvSpPr>
        <p:spPr>
          <a:xfrm>
            <a:off x="576072" y="2705481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R4_sq33"/>
          <p:cNvSpPr/>
          <p:nvPr/>
        </p:nvSpPr>
        <p:spPr>
          <a:xfrm>
            <a:off x="978408" y="2668905"/>
            <a:ext cx="7891272" cy="344043"/>
          </a:xfrm>
          <a:prstGeom prst="roundRect">
            <a:avLst>
              <a:gd name="adj" fmla="val 31894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B: 180°C</a:t>
            </a:r>
            <a:endParaRPr lang="en-US" sz="1400" dirty="0"/>
          </a:p>
        </p:txBody>
      </p:sp>
      <p:sp>
        <p:nvSpPr>
          <p:cNvPr id="20" name="R5_qb34"/>
          <p:cNvSpPr/>
          <p:nvPr/>
        </p:nvSpPr>
        <p:spPr>
          <a:xfrm>
            <a:off x="576072" y="312267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R5_sq35"/>
          <p:cNvSpPr/>
          <p:nvPr/>
        </p:nvSpPr>
        <p:spPr>
          <a:xfrm>
            <a:off x="978408" y="3086100"/>
            <a:ext cx="7891272" cy="344043"/>
          </a:xfrm>
          <a:prstGeom prst="roundRect">
            <a:avLst>
              <a:gd name="adj" fmla="val 3189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A: 3 tbsp</a:t>
            </a:r>
            <a:endParaRPr lang="en-US" sz="1400" dirty="0"/>
          </a:p>
        </p:txBody>
      </p:sp>
      <p:sp>
        <p:nvSpPr>
          <p:cNvPr id="22" name="R6_qb36"/>
          <p:cNvSpPr/>
          <p:nvPr/>
        </p:nvSpPr>
        <p:spPr>
          <a:xfrm>
            <a:off x="576072" y="3539871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R6_sq37"/>
          <p:cNvSpPr/>
          <p:nvPr/>
        </p:nvSpPr>
        <p:spPr>
          <a:xfrm>
            <a:off x="978408" y="3503295"/>
            <a:ext cx="7891272" cy="344043"/>
          </a:xfrm>
          <a:prstGeom prst="roundRect">
            <a:avLst>
              <a:gd name="adj" fmla="val 31894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B: 750 ml</a:t>
            </a:r>
            <a:endParaRPr lang="en-US" sz="1400" dirty="0"/>
          </a:p>
        </p:txBody>
      </p:sp>
      <p:sp>
        <p:nvSpPr>
          <p:cNvPr id="24" name="R7_qb38"/>
          <p:cNvSpPr/>
          <p:nvPr/>
        </p:nvSpPr>
        <p:spPr>
          <a:xfrm>
            <a:off x="576072" y="395706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R7_sq39"/>
          <p:cNvSpPr/>
          <p:nvPr/>
        </p:nvSpPr>
        <p:spPr>
          <a:xfrm>
            <a:off x="978408" y="3920490"/>
            <a:ext cx="7891272" cy="344043"/>
          </a:xfrm>
          <a:prstGeom prst="roundRect">
            <a:avLst>
              <a:gd name="adj" fmla="val 31894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A: 45 minutes</a:t>
            </a:r>
            <a:endParaRPr lang="en-US" sz="1400" dirty="0"/>
          </a:p>
        </p:txBody>
      </p:sp>
      <p:sp>
        <p:nvSpPr>
          <p:cNvPr id="26" name="R8_qb40"/>
          <p:cNvSpPr/>
          <p:nvPr/>
        </p:nvSpPr>
        <p:spPr>
          <a:xfrm>
            <a:off x="576072" y="4374261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27" name="R8_sq41"/>
          <p:cNvSpPr/>
          <p:nvPr/>
        </p:nvSpPr>
        <p:spPr>
          <a:xfrm>
            <a:off x="978408" y="4337685"/>
            <a:ext cx="7891272" cy="344043"/>
          </a:xfrm>
          <a:prstGeom prst="roundRect">
            <a:avLst>
              <a:gd name="adj" fmla="val 31894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B: a quarter past ten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4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danger?</a:t>
            </a:r>
            <a:endParaRPr lang="en-US" sz="2500" dirty="0"/>
          </a:p>
        </p:txBody>
      </p:sp>
      <p:pic>
        <p:nvPicPr>
          <p:cNvPr id="6" name="brP_4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46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Match the hazard and the danger.</a:t>
            </a:r>
            <a:endParaRPr lang="en-US" sz="1250" dirty="0"/>
          </a:p>
        </p:txBody>
      </p:sp>
      <p:sp>
        <p:nvSpPr>
          <p:cNvPr id="8" name="insIT_4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Abbina il pericolo e la conseguenza.</a:t>
            </a:r>
            <a:endParaRPr lang="en-US" sz="950" dirty="0"/>
          </a:p>
        </p:txBody>
      </p:sp>
      <p:sp>
        <p:nvSpPr>
          <p:cNvPr id="9" name="note_4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250" dirty="0"/>
          </a:p>
        </p:txBody>
      </p:sp>
      <p:pic>
        <p:nvPicPr>
          <p:cNvPr id="10" name="logo_4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L7 · VOCABULARY · Hazards</a:t>
            </a:r>
            <a:endParaRPr lang="en-US" sz="800" dirty="0"/>
          </a:p>
        </p:txBody>
      </p:sp>
      <p:sp>
        <p:nvSpPr>
          <p:cNvPr id="12" name="bd_51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52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wet floor</a:t>
            </a:r>
            <a:endParaRPr lang="en-US" sz="1300" dirty="0"/>
          </a:p>
        </p:txBody>
      </p:sp>
      <p:sp>
        <p:nvSpPr>
          <p:cNvPr id="14" name="R1_chip53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slip and fall</a:t>
            </a:r>
            <a:endParaRPr lang="en-US" sz="1200" dirty="0"/>
          </a:p>
        </p:txBody>
      </p:sp>
      <p:sp>
        <p:nvSpPr>
          <p:cNvPr id="15" name="bd_54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55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hot oil</a:t>
            </a:r>
            <a:endParaRPr lang="en-US" sz="1300" dirty="0"/>
          </a:p>
        </p:txBody>
      </p:sp>
      <p:sp>
        <p:nvSpPr>
          <p:cNvPr id="17" name="R2_chip56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burn yourself</a:t>
            </a:r>
            <a:endParaRPr lang="en-US" sz="1200" dirty="0"/>
          </a:p>
        </p:txBody>
      </p:sp>
      <p:sp>
        <p:nvSpPr>
          <p:cNvPr id="18" name="bd_57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58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sharp knife in the sink</a:t>
            </a:r>
            <a:endParaRPr lang="en-US" sz="1300" dirty="0"/>
          </a:p>
        </p:txBody>
      </p:sp>
      <p:sp>
        <p:nvSpPr>
          <p:cNvPr id="20" name="R3_chip59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cut yourself</a:t>
            </a:r>
            <a:endParaRPr lang="en-US" sz="1200" dirty="0"/>
          </a:p>
        </p:txBody>
      </p:sp>
      <p:sp>
        <p:nvSpPr>
          <p:cNvPr id="21" name="bd_60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61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raw chicken next to salad</a:t>
            </a:r>
            <a:endParaRPr lang="en-US" sz="1300" dirty="0"/>
          </a:p>
        </p:txBody>
      </p:sp>
      <p:sp>
        <p:nvSpPr>
          <p:cNvPr id="23" name="R4_chip62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cross-contamination</a:t>
            </a:r>
            <a:endParaRPr lang="en-US" sz="1200" dirty="0"/>
          </a:p>
        </p:txBody>
      </p:sp>
      <p:sp>
        <p:nvSpPr>
          <p:cNvPr id="24" name="bd_63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64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dirty cloth</a:t>
            </a:r>
            <a:endParaRPr lang="en-US" sz="1300" dirty="0"/>
          </a:p>
        </p:txBody>
      </p:sp>
      <p:sp>
        <p:nvSpPr>
          <p:cNvPr id="26" name="R5_chip65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bacteria spread</a:t>
            </a:r>
            <a:endParaRPr lang="en-US" sz="1200" dirty="0"/>
          </a:p>
        </p:txBody>
      </p:sp>
      <p:sp>
        <p:nvSpPr>
          <p:cNvPr id="27" name="bd_66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67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food left out of the fridge</a:t>
            </a:r>
            <a:endParaRPr lang="en-US" sz="1300" dirty="0"/>
          </a:p>
        </p:txBody>
      </p:sp>
      <p:sp>
        <p:nvSpPr>
          <p:cNvPr id="29" name="R6_chip68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bacteria grow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71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we use?</a:t>
            </a:r>
            <a:endParaRPr lang="en-US" sz="2500" dirty="0"/>
          </a:p>
        </p:txBody>
      </p:sp>
      <p:pic>
        <p:nvPicPr>
          <p:cNvPr id="6" name="brP_7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73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what it is and when you use it.</a:t>
            </a:r>
            <a:endParaRPr lang="en-US" sz="1250" dirty="0"/>
          </a:p>
        </p:txBody>
      </p:sp>
      <p:sp>
        <p:nvSpPr>
          <p:cNvPr id="8" name="insIT_7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cos'è e quando lo usi.</a:t>
            </a:r>
            <a:endParaRPr lang="en-US" sz="950" dirty="0"/>
          </a:p>
        </p:txBody>
      </p:sp>
      <p:sp>
        <p:nvSpPr>
          <p:cNvPr id="9" name="note_7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TPRS · meaning</a:t>
            </a:r>
            <a:endParaRPr lang="en-US" sz="1250" dirty="0"/>
          </a:p>
        </p:txBody>
      </p:sp>
      <p:pic>
        <p:nvPicPr>
          <p:cNvPr id="10" name="logo_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L7 · VOCABULARY · Safety kit</a:t>
            </a:r>
            <a:endParaRPr lang="en-US" sz="800" dirty="0"/>
          </a:p>
        </p:txBody>
      </p:sp>
      <p:sp>
        <p:nvSpPr>
          <p:cNvPr id="12" name="cd_78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e_79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🧤</a:t>
            </a:r>
            <a:endParaRPr lang="en-US" sz="2000" dirty="0"/>
          </a:p>
        </p:txBody>
      </p:sp>
      <p:sp>
        <p:nvSpPr>
          <p:cNvPr id="14" name="en_80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gloves</a:t>
            </a:r>
            <a:endParaRPr lang="en-US" sz="1200" dirty="0"/>
          </a:p>
        </p:txBody>
      </p:sp>
      <p:sp>
        <p:nvSpPr>
          <p:cNvPr id="15" name="R1_it81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guanti</a:t>
            </a:r>
            <a:endParaRPr lang="en-US" sz="1000" dirty="0"/>
          </a:p>
        </p:txBody>
      </p:sp>
      <p:sp>
        <p:nvSpPr>
          <p:cNvPr id="16" name="cd_82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e_83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🩹</a:t>
            </a:r>
            <a:endParaRPr lang="en-US" sz="2000" dirty="0"/>
          </a:p>
        </p:txBody>
      </p:sp>
      <p:sp>
        <p:nvSpPr>
          <p:cNvPr id="18" name="en_84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blue plaster</a:t>
            </a:r>
            <a:endParaRPr lang="en-US" sz="1200" dirty="0"/>
          </a:p>
        </p:txBody>
      </p:sp>
      <p:sp>
        <p:nvSpPr>
          <p:cNvPr id="19" name="R2_it85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cerotto blu</a:t>
            </a:r>
            <a:endParaRPr lang="en-US" sz="1000" dirty="0"/>
          </a:p>
        </p:txBody>
      </p:sp>
      <p:sp>
        <p:nvSpPr>
          <p:cNvPr id="20" name="cd_86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87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🩹</a:t>
            </a:r>
            <a:endParaRPr lang="en-US" sz="2000" dirty="0"/>
          </a:p>
        </p:txBody>
      </p:sp>
      <p:sp>
        <p:nvSpPr>
          <p:cNvPr id="22" name="en_88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first aid kit</a:t>
            </a:r>
            <a:endParaRPr lang="en-US" sz="1200" dirty="0"/>
          </a:p>
        </p:txBody>
      </p:sp>
      <p:sp>
        <p:nvSpPr>
          <p:cNvPr id="23" name="R3_it89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kit pronto soccorso</a:t>
            </a:r>
            <a:endParaRPr lang="en-US" sz="1000" dirty="0"/>
          </a:p>
        </p:txBody>
      </p:sp>
      <p:sp>
        <p:nvSpPr>
          <p:cNvPr id="24" name="cd_90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91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🧼</a:t>
            </a:r>
            <a:endParaRPr lang="en-US" sz="2000" dirty="0"/>
          </a:p>
        </p:txBody>
      </p:sp>
      <p:sp>
        <p:nvSpPr>
          <p:cNvPr id="26" name="en_92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hand-wash basin</a:t>
            </a:r>
            <a:endParaRPr lang="en-US" sz="1200" dirty="0"/>
          </a:p>
        </p:txBody>
      </p:sp>
      <p:sp>
        <p:nvSpPr>
          <p:cNvPr id="27" name="R4_it93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lavamani</a:t>
            </a:r>
            <a:endParaRPr lang="en-US" sz="1000" dirty="0"/>
          </a:p>
        </p:txBody>
      </p:sp>
      <p:sp>
        <p:nvSpPr>
          <p:cNvPr id="28" name="cd_94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e_95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30" name="en_96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wet floor sign</a:t>
            </a:r>
            <a:endParaRPr lang="en-US" sz="1200" dirty="0"/>
          </a:p>
        </p:txBody>
      </p:sp>
      <p:sp>
        <p:nvSpPr>
          <p:cNvPr id="31" name="R5_it97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cartello pavimento bagnato</a:t>
            </a:r>
            <a:endParaRPr lang="en-US" sz="800" dirty="0"/>
          </a:p>
        </p:txBody>
      </p:sp>
      <p:sp>
        <p:nvSpPr>
          <p:cNvPr id="32" name="cd_98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e_99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👨‍🍳</a:t>
            </a:r>
            <a:endParaRPr lang="en-US" sz="2000" dirty="0"/>
          </a:p>
        </p:txBody>
      </p:sp>
      <p:sp>
        <p:nvSpPr>
          <p:cNvPr id="34" name="en_100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hat / hairnet</a:t>
            </a:r>
            <a:endParaRPr lang="en-US" sz="1200" dirty="0"/>
          </a:p>
        </p:txBody>
      </p:sp>
      <p:sp>
        <p:nvSpPr>
          <p:cNvPr id="35" name="R6_it101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cappello / retina</a:t>
            </a:r>
            <a:endParaRPr lang="en-US" sz="1000" dirty="0"/>
          </a:p>
        </p:txBody>
      </p:sp>
      <p:sp>
        <p:nvSpPr>
          <p:cNvPr id="36" name="cd_102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e_103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🌡️</a:t>
            </a:r>
            <a:endParaRPr lang="en-US" sz="2000" dirty="0"/>
          </a:p>
        </p:txBody>
      </p:sp>
      <p:sp>
        <p:nvSpPr>
          <p:cNvPr id="38" name="en_104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probe thermometer</a:t>
            </a:r>
            <a:endParaRPr lang="en-US" sz="1050" dirty="0"/>
          </a:p>
        </p:txBody>
      </p:sp>
      <p:sp>
        <p:nvSpPr>
          <p:cNvPr id="39" name="R7_it105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termometro a sonda</a:t>
            </a:r>
            <a:endParaRPr lang="en-US" sz="950" dirty="0"/>
          </a:p>
        </p:txBody>
      </p:sp>
      <p:sp>
        <p:nvSpPr>
          <p:cNvPr id="40" name="cd_106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107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🔥</a:t>
            </a:r>
            <a:endParaRPr lang="en-US" sz="2000" dirty="0"/>
          </a:p>
        </p:txBody>
      </p:sp>
      <p:sp>
        <p:nvSpPr>
          <p:cNvPr id="42" name="en_108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fire blanket</a:t>
            </a:r>
            <a:endParaRPr lang="en-US" sz="1200" dirty="0"/>
          </a:p>
        </p:txBody>
      </p:sp>
      <p:sp>
        <p:nvSpPr>
          <p:cNvPr id="43" name="R8_it109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coperta antifiamma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1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112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 must wash your hands</a:t>
            </a:r>
            <a:endParaRPr lang="en-US" sz="2300" dirty="0"/>
          </a:p>
        </p:txBody>
      </p:sp>
      <p:sp>
        <p:nvSpPr>
          <p:cNvPr id="6" name="note_113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🙋 whole class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100" dirty="0"/>
          </a:p>
        </p:txBody>
      </p:sp>
      <p:pic>
        <p:nvPicPr>
          <p:cNvPr id="7" name="logo_114" descr="/home/claude/lls-course/v2/img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8" name="foot_1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L7 · GRAMMAR · Rules</a:t>
            </a:r>
            <a:endParaRPr lang="en-US" sz="800" dirty="0"/>
          </a:p>
        </p:txBody>
      </p:sp>
      <p:sp>
        <p:nvSpPr>
          <p:cNvPr id="9" name="cd_116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rh_117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must / have to</a:t>
            </a:r>
            <a:endParaRPr lang="en-US" sz="1250" dirty="0"/>
          </a:p>
        </p:txBody>
      </p:sp>
      <p:sp>
        <p:nvSpPr>
          <p:cNvPr id="11" name="R1_rx118"/>
          <p:cNvSpPr/>
          <p:nvPr/>
        </p:nvSpPr>
        <p:spPr>
          <a:xfrm>
            <a:off x="4572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= necessary / the rule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must wash your hands.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have to wear a hat.</a:t>
            </a:r>
            <a:endParaRPr lang="en-US" sz="1400" dirty="0"/>
          </a:p>
        </p:txBody>
      </p:sp>
      <p:sp>
        <p:nvSpPr>
          <p:cNvPr id="12" name="R1_ri119"/>
          <p:cNvSpPr/>
          <p:nvPr/>
        </p:nvSpPr>
        <p:spPr>
          <a:xfrm>
            <a:off x="411480" y="4023360"/>
            <a:ext cx="257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devi</a:t>
            </a:r>
            <a:endParaRPr lang="en-US" sz="1100" dirty="0"/>
          </a:p>
        </p:txBody>
      </p:sp>
      <p:sp>
        <p:nvSpPr>
          <p:cNvPr id="13" name="cd_120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rh_121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mustn't</a:t>
            </a:r>
            <a:endParaRPr lang="en-US" sz="1250" dirty="0"/>
          </a:p>
        </p:txBody>
      </p:sp>
      <p:sp>
        <p:nvSpPr>
          <p:cNvPr id="15" name="R2_rx122"/>
          <p:cNvSpPr/>
          <p:nvPr/>
        </p:nvSpPr>
        <p:spPr>
          <a:xfrm>
            <a:off x="33528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= it's prohibited!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mustn't wear jewellery.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mustn't use your phone.</a:t>
            </a:r>
            <a:endParaRPr lang="en-US" sz="1400" dirty="0"/>
          </a:p>
        </p:txBody>
      </p:sp>
      <p:sp>
        <p:nvSpPr>
          <p:cNvPr id="16" name="R2_ri123"/>
          <p:cNvSpPr/>
          <p:nvPr/>
        </p:nvSpPr>
        <p:spPr>
          <a:xfrm>
            <a:off x="3307080" y="4023360"/>
            <a:ext cx="257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è vietato</a:t>
            </a:r>
            <a:endParaRPr lang="en-US" sz="1100" dirty="0"/>
          </a:p>
        </p:txBody>
      </p:sp>
      <p:sp>
        <p:nvSpPr>
          <p:cNvPr id="17" name="cd_124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rh_125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don't have to</a:t>
            </a:r>
            <a:endParaRPr lang="en-US" sz="1250" dirty="0"/>
          </a:p>
        </p:txBody>
      </p:sp>
      <p:sp>
        <p:nvSpPr>
          <p:cNvPr id="19" name="R3_rx126"/>
          <p:cNvSpPr/>
          <p:nvPr/>
        </p:nvSpPr>
        <p:spPr>
          <a:xfrm>
            <a:off x="62484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= not necessary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don't have to come in on Monday.</a:t>
            </a:r>
            <a:endParaRPr lang="en-US" sz="1400" dirty="0"/>
          </a:p>
        </p:txBody>
      </p:sp>
      <p:sp>
        <p:nvSpPr>
          <p:cNvPr id="20" name="R3_ri127"/>
          <p:cNvSpPr/>
          <p:nvPr/>
        </p:nvSpPr>
        <p:spPr>
          <a:xfrm>
            <a:off x="6202680" y="4023360"/>
            <a:ext cx="257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è necessario</a:t>
            </a:r>
            <a:endParaRPr lang="en-US" sz="1100" dirty="0"/>
          </a:p>
        </p:txBody>
      </p:sp>
      <p:sp>
        <p:nvSpPr>
          <p:cNvPr id="21" name="R4_wc128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4_w129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mustn't ≠ don't have to!     ✗ You must to wash → ✓ You must wash.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3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292547" cy="621792"/>
          </a:xfrm>
          <a:prstGeom prst="rect">
            <a:avLst/>
          </a:prstGeom>
        </p:spPr>
      </p:pic>
      <p:sp>
        <p:nvSpPr>
          <p:cNvPr id="5" name="title_132"/>
          <p:cNvSpPr/>
          <p:nvPr/>
        </p:nvSpPr>
        <p:spPr>
          <a:xfrm>
            <a:off x="1261872" y="164592"/>
            <a:ext cx="50182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must, mustn't, don't have to?</a:t>
            </a:r>
            <a:endParaRPr lang="en-US" sz="2500" dirty="0"/>
          </a:p>
        </p:txBody>
      </p:sp>
      <p:pic>
        <p:nvPicPr>
          <p:cNvPr id="6" name="brP_13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134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Choose: must · mustn't · don't have to.</a:t>
            </a:r>
            <a:endParaRPr lang="en-US" sz="1250" dirty="0"/>
          </a:p>
        </p:txBody>
      </p:sp>
      <p:sp>
        <p:nvSpPr>
          <p:cNvPr id="8" name="insIT_13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Scegli: must / mustn't / don't have to.</a:t>
            </a:r>
            <a:endParaRPr lang="en-US" sz="950" dirty="0"/>
          </a:p>
        </p:txBody>
      </p:sp>
      <p:sp>
        <p:nvSpPr>
          <p:cNvPr id="9" name="note_13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SCRIVI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250" dirty="0"/>
          </a:p>
        </p:txBody>
      </p:sp>
      <p:pic>
        <p:nvPicPr>
          <p:cNvPr id="10" name="logo_13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3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L7 · GRAMMAR · Practice</a:t>
            </a:r>
            <a:endParaRPr lang="en-US" sz="800" dirty="0"/>
          </a:p>
        </p:txBody>
      </p:sp>
      <p:sp>
        <p:nvSpPr>
          <p:cNvPr id="12" name="bd_139"/>
          <p:cNvSpPr/>
          <p:nvPr/>
        </p:nvSpPr>
        <p:spPr>
          <a:xfrm>
            <a:off x="548640" y="154533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140"/>
          <p:cNvSpPr/>
          <p:nvPr/>
        </p:nvSpPr>
        <p:spPr>
          <a:xfrm>
            <a:off x="932688" y="1417320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wear a blue plaster on a cut.</a:t>
            </a:r>
            <a:endParaRPr lang="en-US" sz="1300" dirty="0"/>
          </a:p>
        </p:txBody>
      </p:sp>
      <p:sp>
        <p:nvSpPr>
          <p:cNvPr id="14" name="R1_chip141"/>
          <p:cNvSpPr/>
          <p:nvPr/>
        </p:nvSpPr>
        <p:spPr>
          <a:xfrm>
            <a:off x="4297680" y="1417320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endParaRPr lang="en-US" sz="1200" dirty="0"/>
          </a:p>
        </p:txBody>
      </p:sp>
      <p:sp>
        <p:nvSpPr>
          <p:cNvPr id="15" name="bd_142"/>
          <p:cNvSpPr/>
          <p:nvPr/>
        </p:nvSpPr>
        <p:spPr>
          <a:xfrm>
            <a:off x="548640" y="2157984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143"/>
          <p:cNvSpPr/>
          <p:nvPr/>
        </p:nvSpPr>
        <p:spPr>
          <a:xfrm>
            <a:off x="932688" y="2029968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wear a watch in the kitchen.</a:t>
            </a:r>
            <a:endParaRPr lang="en-US" sz="1300" dirty="0"/>
          </a:p>
        </p:txBody>
      </p:sp>
      <p:sp>
        <p:nvSpPr>
          <p:cNvPr id="17" name="R2_chip144"/>
          <p:cNvSpPr/>
          <p:nvPr/>
        </p:nvSpPr>
        <p:spPr>
          <a:xfrm>
            <a:off x="4297680" y="2029968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mustn't</a:t>
            </a:r>
            <a:endParaRPr lang="en-US" sz="1200" dirty="0"/>
          </a:p>
        </p:txBody>
      </p:sp>
      <p:sp>
        <p:nvSpPr>
          <p:cNvPr id="18" name="bd_145"/>
          <p:cNvSpPr/>
          <p:nvPr/>
        </p:nvSpPr>
        <p:spPr>
          <a:xfrm>
            <a:off x="548640" y="2770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146"/>
          <p:cNvSpPr/>
          <p:nvPr/>
        </p:nvSpPr>
        <p:spPr>
          <a:xfrm>
            <a:off x="932688" y="2642616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wear gloves to wash salad, but you can.</a:t>
            </a:r>
            <a:endParaRPr lang="en-US" sz="1300" dirty="0"/>
          </a:p>
        </p:txBody>
      </p:sp>
      <p:sp>
        <p:nvSpPr>
          <p:cNvPr id="20" name="R3_chip147"/>
          <p:cNvSpPr/>
          <p:nvPr/>
        </p:nvSpPr>
        <p:spPr>
          <a:xfrm>
            <a:off x="4297680" y="2642616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have to</a:t>
            </a:r>
            <a:endParaRPr lang="en-US" sz="1200" dirty="0"/>
          </a:p>
        </p:txBody>
      </p:sp>
      <p:sp>
        <p:nvSpPr>
          <p:cNvPr id="21" name="bd_148"/>
          <p:cNvSpPr/>
          <p:nvPr/>
        </p:nvSpPr>
        <p:spPr>
          <a:xfrm>
            <a:off x="548640" y="3383280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149"/>
          <p:cNvSpPr/>
          <p:nvPr/>
        </p:nvSpPr>
        <p:spPr>
          <a:xfrm>
            <a:off x="932688" y="3255264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put raw chicken above cooked food.</a:t>
            </a:r>
            <a:endParaRPr lang="en-US" sz="1300" dirty="0"/>
          </a:p>
        </p:txBody>
      </p:sp>
      <p:sp>
        <p:nvSpPr>
          <p:cNvPr id="23" name="R4_chip150"/>
          <p:cNvSpPr/>
          <p:nvPr/>
        </p:nvSpPr>
        <p:spPr>
          <a:xfrm>
            <a:off x="4297680" y="3255264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mustn't</a:t>
            </a:r>
            <a:endParaRPr lang="en-US" sz="1200" dirty="0"/>
          </a:p>
        </p:txBody>
      </p:sp>
      <p:sp>
        <p:nvSpPr>
          <p:cNvPr id="24" name="bd_151"/>
          <p:cNvSpPr/>
          <p:nvPr/>
        </p:nvSpPr>
        <p:spPr>
          <a:xfrm>
            <a:off x="548640" y="3995928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152"/>
          <p:cNvSpPr/>
          <p:nvPr/>
        </p:nvSpPr>
        <p:spPr>
          <a:xfrm>
            <a:off x="932688" y="3867912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Part-time staff ___ come to the Monday meeting.</a:t>
            </a:r>
            <a:endParaRPr lang="en-US" sz="1300" dirty="0"/>
          </a:p>
        </p:txBody>
      </p:sp>
      <p:sp>
        <p:nvSpPr>
          <p:cNvPr id="26" name="R5_chip153"/>
          <p:cNvSpPr/>
          <p:nvPr/>
        </p:nvSpPr>
        <p:spPr>
          <a:xfrm>
            <a:off x="4297680" y="3867912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have to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5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449824" cy="621792"/>
          </a:xfrm>
          <a:prstGeom prst="rect">
            <a:avLst/>
          </a:prstGeom>
        </p:spPr>
      </p:pic>
      <p:sp>
        <p:nvSpPr>
          <p:cNvPr id="5" name="title_156"/>
          <p:cNvSpPr/>
          <p:nvPr/>
        </p:nvSpPr>
        <p:spPr>
          <a:xfrm>
            <a:off x="1261872" y="164592"/>
            <a:ext cx="5175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worst kitchen in the world</a:t>
            </a:r>
            <a:endParaRPr lang="en-US" sz="2500" dirty="0"/>
          </a:p>
        </p:txBody>
      </p:sp>
      <p:pic>
        <p:nvPicPr>
          <p:cNvPr id="6" name="brP_15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48656" cy="402336"/>
          </a:xfrm>
          <a:prstGeom prst="rect">
            <a:avLst/>
          </a:prstGeom>
        </p:spPr>
      </p:pic>
      <p:sp>
        <p:nvSpPr>
          <p:cNvPr id="7" name="ins_158"/>
          <p:cNvSpPr/>
          <p:nvPr/>
        </p:nvSpPr>
        <p:spPr>
          <a:xfrm>
            <a:off x="1353312" y="73152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5 rules for a TERRIBLE kitchen. Then fix them!</a:t>
            </a:r>
            <a:endParaRPr lang="en-US" sz="1250" dirty="0"/>
          </a:p>
        </p:txBody>
      </p:sp>
      <p:sp>
        <p:nvSpPr>
          <p:cNvPr id="8" name="insIT_15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5 regole per una cucina TERRIBILE. Poi correggile!</a:t>
            </a:r>
            <a:endParaRPr lang="en-US" sz="950" dirty="0"/>
          </a:p>
        </p:txBody>
      </p:sp>
      <p:sp>
        <p:nvSpPr>
          <p:cNvPr id="9" name="note_16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SCRIVI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Writing · Communicative</a:t>
            </a:r>
            <a:endParaRPr lang="en-US" sz="1250" dirty="0"/>
          </a:p>
        </p:txBody>
      </p:sp>
      <p:pic>
        <p:nvPicPr>
          <p:cNvPr id="10" name="logo_16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6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L7 · WRITING · Opposites</a:t>
            </a:r>
            <a:endParaRPr lang="en-US" sz="800" dirty="0"/>
          </a:p>
        </p:txBody>
      </p:sp>
      <p:sp>
        <p:nvSpPr>
          <p:cNvPr id="12" name="R1_qb163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R1_sq164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pairs, write 5 rules for the worst kitchen ever.</a:t>
            </a:r>
            <a:endParaRPr lang="en-US" sz="1400" dirty="0"/>
          </a:p>
        </p:txBody>
      </p:sp>
      <p:sp>
        <p:nvSpPr>
          <p:cNvPr id="14" name="R2_qb165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R2_sq166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Always leave the fridge door open! Never wash the boards!</a:t>
            </a:r>
            <a:endParaRPr lang="en-US" sz="1400" dirty="0"/>
          </a:p>
        </p:txBody>
      </p:sp>
      <p:sp>
        <p:nvSpPr>
          <p:cNvPr id="16" name="R3_qb167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R3_sq168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Swap lists. Change each rule into a real rule with must / mustn't.</a:t>
            </a:r>
            <a:endParaRPr lang="en-US" sz="1400" dirty="0"/>
          </a:p>
        </p:txBody>
      </p:sp>
      <p:sp>
        <p:nvSpPr>
          <p:cNvPr id="18" name="R4_qb169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R4_sq170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mustn't leave the fridge door open. You must wash the boards.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173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4 Cs of food safety</a:t>
            </a:r>
            <a:endParaRPr lang="en-US" sz="2500" dirty="0"/>
          </a:p>
        </p:txBody>
      </p:sp>
      <p:pic>
        <p:nvPicPr>
          <p:cNvPr id="6" name="brP_1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175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Match each rule to one of the 4 Cs.</a:t>
            </a:r>
            <a:endParaRPr lang="en-US" sz="1250" dirty="0"/>
          </a:p>
        </p:txBody>
      </p:sp>
      <p:sp>
        <p:nvSpPr>
          <p:cNvPr id="8" name="insIT_17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Abbina ogni regola a una delle 4 C.</a:t>
            </a:r>
            <a:endParaRPr lang="en-US" sz="950" dirty="0"/>
          </a:p>
        </p:txBody>
      </p:sp>
      <p:sp>
        <p:nvSpPr>
          <p:cNvPr id="9" name="note_17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LEGGI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Controlled practice</a:t>
            </a:r>
            <a:endParaRPr lang="en-US" sz="1250" dirty="0"/>
          </a:p>
        </p:txBody>
      </p:sp>
      <p:pic>
        <p:nvPicPr>
          <p:cNvPr id="10" name="logo_1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L7 · READING · The 4 Cs</a:t>
            </a:r>
            <a:endParaRPr lang="en-US" sz="800" dirty="0"/>
          </a:p>
        </p:txBody>
      </p:sp>
      <p:sp>
        <p:nvSpPr>
          <p:cNvPr id="12" name="bd_180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181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 food until it is steaming hot all the way through.</a:t>
            </a:r>
            <a:endParaRPr lang="en-US" sz="1300" dirty="0"/>
          </a:p>
        </p:txBody>
      </p:sp>
      <p:sp>
        <p:nvSpPr>
          <p:cNvPr id="14" name="R1_chip182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Cooking</a:t>
            </a:r>
            <a:endParaRPr lang="en-US" sz="1200" dirty="0"/>
          </a:p>
        </p:txBody>
      </p:sp>
      <p:sp>
        <p:nvSpPr>
          <p:cNvPr id="15" name="bd_183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184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the fridge at 5°C or below.</a:t>
            </a:r>
            <a:endParaRPr lang="en-US" sz="1300" dirty="0"/>
          </a:p>
        </p:txBody>
      </p:sp>
      <p:sp>
        <p:nvSpPr>
          <p:cNvPr id="17" name="R2_chip185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Chilling</a:t>
            </a:r>
            <a:endParaRPr lang="en-US" sz="1200" dirty="0"/>
          </a:p>
        </p:txBody>
      </p:sp>
      <p:sp>
        <p:nvSpPr>
          <p:cNvPr id="18" name="bd_186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187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different boards for raw meat and ready-to-eat food.</a:t>
            </a:r>
            <a:endParaRPr lang="en-US" sz="1300" dirty="0"/>
          </a:p>
        </p:txBody>
      </p:sp>
      <p:sp>
        <p:nvSpPr>
          <p:cNvPr id="20" name="R3_chip188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Cross-contamination</a:t>
            </a:r>
            <a:endParaRPr lang="en-US" sz="1200" dirty="0"/>
          </a:p>
        </p:txBody>
      </p:sp>
      <p:sp>
        <p:nvSpPr>
          <p:cNvPr id="21" name="bd_189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190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 as you go – wash surfaces and equipment.</a:t>
            </a:r>
            <a:endParaRPr lang="en-US" sz="1300" dirty="0"/>
          </a:p>
        </p:txBody>
      </p:sp>
      <p:sp>
        <p:nvSpPr>
          <p:cNvPr id="23" name="R4_chip191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Cleaning</a:t>
            </a:r>
            <a:endParaRPr lang="en-US" sz="1200" dirty="0"/>
          </a:p>
        </p:txBody>
      </p:sp>
      <p:sp>
        <p:nvSpPr>
          <p:cNvPr id="24" name="bd_192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193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Cool food quickly and put it in the fridge.</a:t>
            </a:r>
            <a:endParaRPr lang="en-US" sz="1300" dirty="0"/>
          </a:p>
        </p:txBody>
      </p:sp>
      <p:sp>
        <p:nvSpPr>
          <p:cNvPr id="26" name="R5_chip194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Chilling</a:t>
            </a:r>
            <a:endParaRPr lang="en-US" sz="1200" dirty="0"/>
          </a:p>
        </p:txBody>
      </p:sp>
      <p:sp>
        <p:nvSpPr>
          <p:cNvPr id="27" name="bd_195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196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Wash your hands after you touch raw meat.</a:t>
            </a:r>
            <a:endParaRPr lang="en-US" sz="1300" dirty="0"/>
          </a:p>
        </p:txBody>
      </p:sp>
      <p:sp>
        <p:nvSpPr>
          <p:cNvPr id="29" name="R6_chip197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Cleaning / Cross-cont.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19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200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Agree or no way?</a:t>
            </a:r>
            <a:endParaRPr lang="en-US" sz="2500" dirty="0"/>
          </a:p>
        </p:txBody>
      </p:sp>
      <p:pic>
        <p:nvPicPr>
          <p:cNvPr id="6" name="brP_20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02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Choose: agree or no way? Give one reason in 30 seconds!</a:t>
            </a:r>
            <a:endParaRPr lang="en-US" sz="1250" dirty="0"/>
          </a:p>
        </p:txBody>
      </p:sp>
      <p:sp>
        <p:nvSpPr>
          <p:cNvPr id="8" name="insIT_20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Scegli: d'accordo o no? Un motivo in 30 secondi!</a:t>
            </a:r>
            <a:endParaRPr lang="en-US" sz="950" dirty="0"/>
          </a:p>
        </p:txBody>
      </p:sp>
      <p:sp>
        <p:nvSpPr>
          <p:cNvPr id="9" name="note_20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20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0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L7 · SPEAKING · Mini debate</a:t>
            </a:r>
            <a:endParaRPr lang="en-US" sz="800" dirty="0"/>
          </a:p>
        </p:txBody>
      </p:sp>
      <p:sp>
        <p:nvSpPr>
          <p:cNvPr id="12" name="R1_qb207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R1_sq208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Shouting in the kitchen is necessary.</a:t>
            </a:r>
            <a:endParaRPr lang="en-US" sz="1400" dirty="0"/>
          </a:p>
        </p:txBody>
      </p:sp>
      <p:sp>
        <p:nvSpPr>
          <p:cNvPr id="14" name="R2_qb209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R2_sq210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Chefs should be allowed to use their phones at work.</a:t>
            </a:r>
            <a:endParaRPr lang="en-US" sz="1400" dirty="0"/>
          </a:p>
        </p:txBody>
      </p:sp>
      <p:sp>
        <p:nvSpPr>
          <p:cNvPr id="16" name="R3_qb211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R3_sq212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Tasting with your finger is OK if your hands are clean.</a:t>
            </a:r>
            <a:endParaRPr lang="en-US" sz="1400" dirty="0"/>
          </a:p>
        </p:txBody>
      </p:sp>
      <p:sp>
        <p:nvSpPr>
          <p:cNvPr id="18" name="R4_qb213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R4_sq214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kitchens are better than closed kitchens.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17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kitchen inspector</a:t>
            </a:r>
            <a:endParaRPr lang="en-US" sz="2500" dirty="0"/>
          </a:p>
        </p:txBody>
      </p:sp>
      <p:pic>
        <p:nvPicPr>
          <p:cNvPr id="6" name="brP_2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219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A is the inspector. Find 5 problems!</a:t>
            </a:r>
            <a:endParaRPr lang="en-US" sz="1250" dirty="0"/>
          </a:p>
        </p:txBody>
      </p:sp>
      <p:sp>
        <p:nvSpPr>
          <p:cNvPr id="8" name="insIT_22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A è l'ispettore. Trova 5 problemi!</a:t>
            </a:r>
            <a:endParaRPr lang="en-US" sz="950" dirty="0"/>
          </a:p>
        </p:txBody>
      </p:sp>
      <p:sp>
        <p:nvSpPr>
          <p:cNvPr id="9" name="note_22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9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22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2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L7 · GAME · Role-play</a:t>
            </a:r>
            <a:endParaRPr lang="en-US" sz="800" dirty="0"/>
          </a:p>
        </p:txBody>
      </p:sp>
      <p:sp>
        <p:nvSpPr>
          <p:cNvPr id="12" name="R1_qb224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R1_sq225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B describes his / her kitchen – true or invented: There's a cake on the table. The fridge is at 9°C…</a:t>
            </a:r>
            <a:endParaRPr lang="en-US" sz="1400" dirty="0"/>
          </a:p>
        </p:txBody>
      </p:sp>
      <p:sp>
        <p:nvSpPr>
          <p:cNvPr id="14" name="R2_qb226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R2_sq227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A finds the problems: You mustn't… / You have to…</a:t>
            </a:r>
            <a:endParaRPr lang="en-US" sz="1400" dirty="0"/>
          </a:p>
        </p:txBody>
      </p:sp>
      <p:sp>
        <p:nvSpPr>
          <p:cNvPr id="16" name="R3_qb228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R3_sq229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problem found = 1 point. Each hidden problem not found = 1 point for B!</a:t>
            </a:r>
            <a:endParaRPr lang="en-US" sz="1400" dirty="0"/>
          </a:p>
        </p:txBody>
      </p:sp>
      <p:sp>
        <p:nvSpPr>
          <p:cNvPr id="18" name="R4_qb230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R4_sq231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Swap roles.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3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23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23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236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partner…</a:t>
            </a:r>
            <a:endParaRPr lang="en-US" sz="1250" dirty="0"/>
          </a:p>
        </p:txBody>
      </p:sp>
      <p:sp>
        <p:nvSpPr>
          <p:cNvPr id="8" name="insIT_23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al collega…</a:t>
            </a:r>
            <a:endParaRPr lang="en-US" sz="950" dirty="0"/>
          </a:p>
        </p:txBody>
      </p:sp>
      <p:sp>
        <p:nvSpPr>
          <p:cNvPr id="9" name="note_238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23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4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L7 · Exit · what can you remember?</a:t>
            </a:r>
            <a:endParaRPr lang="en-US" sz="800" dirty="0"/>
          </a:p>
        </p:txBody>
      </p:sp>
      <p:sp>
        <p:nvSpPr>
          <p:cNvPr id="12" name="bd_241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242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new words from today.</a:t>
            </a:r>
            <a:endParaRPr lang="en-US" sz="1400" dirty="0"/>
          </a:p>
        </p:txBody>
      </p:sp>
      <p:sp>
        <p:nvSpPr>
          <p:cNvPr id="14" name="bd_243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244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sentences with today's grammar.</a:t>
            </a:r>
            <a:endParaRPr lang="en-US" sz="1400" dirty="0"/>
          </a:p>
        </p:txBody>
      </p:sp>
      <p:sp>
        <p:nvSpPr>
          <p:cNvPr id="16" name="bd_245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246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thing you'll say at work this week.</a:t>
            </a:r>
            <a:endParaRPr lang="en-US" sz="1400" dirty="0"/>
          </a:p>
        </p:txBody>
      </p:sp>
      <p:sp>
        <p:nvSpPr>
          <p:cNvPr id="18" name="cd_247"/>
          <p:cNvSpPr/>
          <p:nvPr/>
        </p:nvSpPr>
        <p:spPr>
          <a:xfrm>
            <a:off x="5669280" y="1417320"/>
            <a:ext cx="3200400" cy="1069848"/>
          </a:xfrm>
          <a:prstGeom prst="roundRect">
            <a:avLst>
              <a:gd name="adj" fmla="val 1196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248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249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250"/>
          <p:cNvSpPr/>
          <p:nvPr/>
        </p:nvSpPr>
        <p:spPr>
          <a:xfrm>
            <a:off x="6236208" y="191109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8 rules for your kitchen in English. Put them on the wall at work!</a:t>
            </a:r>
            <a:endParaRPr lang="en-US" sz="950" dirty="0"/>
          </a:p>
        </p:txBody>
      </p:sp>
      <p:sp>
        <p:nvSpPr>
          <p:cNvPr id="22" name="st_251"/>
          <p:cNvSpPr/>
          <p:nvPr/>
        </p:nvSpPr>
        <p:spPr>
          <a:xfrm rot="-180000">
            <a:off x="5806440" y="2715768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L8 · Allergens &amp; special diets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2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254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2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56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2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25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2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L7 · Review · what did you do today?</a:t>
            </a:r>
            <a:endParaRPr lang="en-US" sz="800" dirty="0"/>
          </a:p>
        </p:txBody>
      </p:sp>
      <p:sp>
        <p:nvSpPr>
          <p:cNvPr id="12" name="cd_261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262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14" name="tt_263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hazards and hygiene</a:t>
            </a:r>
            <a:endParaRPr lang="en-US" sz="1350" dirty="0"/>
          </a:p>
        </p:txBody>
      </p:sp>
      <p:sp>
        <p:nvSpPr>
          <p:cNvPr id="15" name="R1_tk264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265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266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🧩</a:t>
            </a:r>
            <a:endParaRPr lang="en-US" sz="1800" dirty="0"/>
          </a:p>
        </p:txBody>
      </p:sp>
      <p:sp>
        <p:nvSpPr>
          <p:cNvPr id="18" name="tt_267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must / mustn't / have to</a:t>
            </a:r>
            <a:endParaRPr lang="en-US" sz="1350" dirty="0"/>
          </a:p>
        </p:txBody>
      </p:sp>
      <p:sp>
        <p:nvSpPr>
          <p:cNvPr id="19" name="R2_tk268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269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270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2" name="tt_271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speaking: the kitchen inspector</a:t>
            </a:r>
            <a:endParaRPr lang="en-US" sz="1350" dirty="0"/>
          </a:p>
        </p:txBody>
      </p:sp>
      <p:sp>
        <p:nvSpPr>
          <p:cNvPr id="23" name="R3_tk272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st_273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274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275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276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277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2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280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four Cs</a:t>
            </a:r>
            <a:endParaRPr lang="en-US" sz="2500" dirty="0"/>
          </a:p>
        </p:txBody>
      </p:sp>
      <p:pic>
        <p:nvPicPr>
          <p:cNvPr id="6" name="brP_2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282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Watch. Write one rule for each C.</a:t>
            </a:r>
            <a:endParaRPr lang="en-US" sz="1250" dirty="0"/>
          </a:p>
        </p:txBody>
      </p:sp>
      <p:sp>
        <p:nvSpPr>
          <p:cNvPr id="8" name="insIT_28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Guarda. Scrivi una regola per ogni C.</a:t>
            </a:r>
            <a:endParaRPr lang="en-US" sz="950" dirty="0"/>
          </a:p>
        </p:txBody>
      </p:sp>
      <p:sp>
        <p:nvSpPr>
          <p:cNvPr id="9" name="note_28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WATCH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 IL VIDEO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Communicative</a:t>
            </a:r>
            <a:endParaRPr lang="en-US" sz="1250" dirty="0"/>
          </a:p>
        </p:txBody>
      </p:sp>
      <p:pic>
        <p:nvPicPr>
          <p:cNvPr id="10" name="logo_28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8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L7 · Video · food safety</a:t>
            </a:r>
            <a:endParaRPr lang="en-US" sz="800" dirty="0"/>
          </a:p>
        </p:txBody>
      </p:sp>
      <p:sp>
        <p:nvSpPr>
          <p:cNvPr id="12" name="ext_287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288"/>
          <p:cNvSpPr/>
          <p:nvPr/>
        </p:nvSpPr>
        <p:spPr>
          <a:xfrm>
            <a:off x="320040" y="1417320"/>
            <a:ext cx="2788920" cy="1508760"/>
          </a:xfrm>
          <a:prstGeom prst="roundRect">
            <a:avLst>
              <a:gd name="adj" fmla="val 848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8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5" name="ih_290"/>
          <p:cNvSpPr/>
          <p:nvPr/>
        </p:nvSpPr>
        <p:spPr>
          <a:xfrm>
            <a:off x="886968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6" name="il_291"/>
          <p:cNvSpPr/>
          <p:nvPr/>
        </p:nvSpPr>
        <p:spPr>
          <a:xfrm>
            <a:off x="886968" y="1911096"/>
            <a:ext cx="213055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The four Cs of food safety (short)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https://www.youtube.com/watch?v=Hl7iGCxaA3Q</a:t>
            </a:r>
            <a:endParaRPr lang="en-US" sz="1150" dirty="0"/>
          </a:p>
        </p:txBody>
      </p:sp>
      <p:sp>
        <p:nvSpPr>
          <p:cNvPr id="17" name="R1_qb292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R1_sq293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Cleaning: you must…</a:t>
            </a:r>
            <a:endParaRPr lang="en-US" sz="1400" dirty="0"/>
          </a:p>
        </p:txBody>
      </p:sp>
      <p:sp>
        <p:nvSpPr>
          <p:cNvPr id="19" name="R2_qb294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R2_sq295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Cooking: you must…</a:t>
            </a:r>
            <a:endParaRPr lang="en-US" sz="1400" dirty="0"/>
          </a:p>
        </p:txBody>
      </p:sp>
      <p:sp>
        <p:nvSpPr>
          <p:cNvPr id="21" name="R3_qb296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R3_sq297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Chilling: you mustn't…</a:t>
            </a:r>
            <a:endParaRPr lang="en-US" sz="1400" dirty="0"/>
          </a:p>
        </p:txBody>
      </p:sp>
      <p:sp>
        <p:nvSpPr>
          <p:cNvPr id="23" name="R4_qb298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R4_sq299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Cross-contamination: you mustn't…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L7 Health &amp; safety</dc:title>
  <dc:subject>PptxGenJS Presentation</dc:subject>
  <dc:creator>PptxGenJS</dc:creator>
  <cp:lastModifiedBy>PptxGenJS</cp:lastModifiedBy>
  <cp:revision>1</cp:revision>
  <dcterms:created xsi:type="dcterms:W3CDTF">2026-10-21T09:56:05Z</dcterms:created>
  <dcterms:modified xsi:type="dcterms:W3CDTF">2026-10-21T09:56:05Z</dcterms:modified>
</cp:coreProperties>
</file>