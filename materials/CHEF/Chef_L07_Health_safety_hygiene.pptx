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 (60 min). Aims: kitchen hazards, must / mustn't / have to / don't have to, the 4 Cs of food safety.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REVISION (5 min). Chef B looks away while Chef A reads the A numbers, then swap. Check spelling of the words too. Quick extra: 2 'Can you…?' questions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(6 min). Click 1. Italian: scivolare, bruciarsi, tagliarsi, contaminazione crociata.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(6 min). Kitchen plasters are blue so they're easy to see if one falls into food. Students make sentences: You use a probe thermometer to check the chicken.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(6 min). Check: 'You don't have to wear gloves' vs 'You mustn't wear gloves' — very different!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PRACTICE (5 min). Check the difference mustn't (forbidden) / don't have to (not necessary).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(6 min). VARIATION: opposites — 'What would make this terrible?'. Funny, and it produces must / mustn't naturally.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(6 min). Teacher's own text based on standard UK food safety guidance (FSA: cleaning, chilling, cooking, cross-contamination). Mention UK colour-coded boards: red raw meat, blue raw fish, yellow cooked meat, green salad &amp; fruit, brown vegetables, white bread &amp; dairy.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 DEBATE (6 min). VARIATION: mild controversy + mini debate: 30 s to choose, 1 argument, partner responds. Keep it friendly; there is no right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(10 min). B should hide 5 problems in the description. Teacher keeps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(3 min). Homework sheet L7 in the portal.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 VIDEO (8 min). Official FAO channel; link checked October 2026. Preview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l7iGCxaA3Q" TargetMode="External"/><Relationship Id="rId4" Type="http://schemas.openxmlformats.org/officeDocument/2006/relationships/hyperlink" Target="https://www.youtube.com/watch?v=Hl7iGCxaA3Q" TargetMode="External"/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sp>
        <p:nvSpPr>
          <p:cNvPr id="3" name="logoBack_2"/>
          <p:cNvSpPr/>
          <p:nvPr/>
        </p:nvSpPr>
        <p:spPr>
          <a:xfrm>
            <a:off x="8229600" y="155448"/>
            <a:ext cx="676656" cy="67665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9B3F0"/>
            </a:solidFill>
            <a:prstDash val="solid"/>
          </a:ln>
        </p:spPr>
      </p:sp>
      <p:pic>
        <p:nvPicPr>
          <p:cNvPr id="4" name="logo_3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5" name="footer_4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20403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6" name="unit_5"/>
          <p:cNvSpPr txBox="1"/>
          <p:nvPr/>
        </p:nvSpPr>
        <p:spPr>
          <a:xfrm>
            <a:off x="411480" y="320040"/>
            <a:ext cx="1463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D8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L7</a:t>
            </a:r>
            <a:endParaRPr lang="en-US" sz="5400" dirty="0"/>
          </a:p>
        </p:txBody>
      </p:sp>
      <p:sp>
        <p:nvSpPr>
          <p:cNvPr id="7" name="course_6"/>
          <p:cNvSpPr txBox="1"/>
          <p:nvPr/>
        </p:nvSpPr>
        <p:spPr>
          <a:xfrm>
            <a:off x="1828800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E2F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KITCHEN ENGLISH · Lesson 7 of 10</a:t>
            </a:r>
            <a:endParaRPr lang="en-US" sz="1200" dirty="0"/>
          </a:p>
        </p:txBody>
      </p:sp>
      <p:sp>
        <p:nvSpPr>
          <p:cNvPr id="8" name="title_7"/>
          <p:cNvSpPr txBox="1"/>
          <p:nvPr/>
        </p:nvSpPr>
        <p:spPr>
          <a:xfrm rot="-180000">
            <a:off x="411480" y="1325880"/>
            <a:ext cx="4343400" cy="777240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52400" tIns="152400" rIns="152400" bIns="15240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HEALTH &amp; SAFETY</a:t>
            </a:r>
            <a:endParaRPr lang="en-US" sz="2800" dirty="0"/>
          </a:p>
        </p:txBody>
      </p:sp>
      <p:sp>
        <p:nvSpPr>
          <p:cNvPr id="9" name="stamp_8"/>
          <p:cNvSpPr txBox="1"/>
          <p:nvPr/>
        </p:nvSpPr>
        <p:spPr>
          <a:xfrm>
            <a:off x="457200" y="2468880"/>
            <a:ext cx="3621024" cy="384048"/>
          </a:xfrm>
          <a:prstGeom prst="roundRect">
            <a:avLst>
              <a:gd name="adj" fmla="val 14286"/>
            </a:avLst>
          </a:prstGeom>
          <a:solidFill>
            <a:srgbClr val="204034"/>
          </a:solidFill>
          <a:ln w="38100">
            <a:solidFill>
              <a:srgbClr val="48BDF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VOCABULARY · hazards and hygiene</a:t>
            </a:r>
            <a:endParaRPr lang="en-US" sz="1200" dirty="0"/>
          </a:p>
        </p:txBody>
      </p:sp>
      <p:sp>
        <p:nvSpPr>
          <p:cNvPr id="10" name="stamp_9"/>
          <p:cNvSpPr txBox="1"/>
          <p:nvPr/>
        </p:nvSpPr>
        <p:spPr>
          <a:xfrm>
            <a:off x="457200" y="2944368"/>
            <a:ext cx="3813048" cy="384048"/>
          </a:xfrm>
          <a:prstGeom prst="roundRect">
            <a:avLst>
              <a:gd name="adj" fmla="val 14286"/>
            </a:avLst>
          </a:prstGeom>
          <a:solidFill>
            <a:srgbClr val="204034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GRAMMAR · must / mustn't / have to</a:t>
            </a:r>
            <a:endParaRPr lang="en-US" sz="1200" dirty="0"/>
          </a:p>
        </p:txBody>
      </p:sp>
      <p:sp>
        <p:nvSpPr>
          <p:cNvPr id="11" name="stamp_10"/>
          <p:cNvSpPr txBox="1"/>
          <p:nvPr/>
        </p:nvSpPr>
        <p:spPr>
          <a:xfrm>
            <a:off x="457200" y="3419856"/>
            <a:ext cx="3621024" cy="384048"/>
          </a:xfrm>
          <a:prstGeom prst="roundRect">
            <a:avLst>
              <a:gd name="adj" fmla="val 14286"/>
            </a:avLst>
          </a:prstGeom>
          <a:solidFill>
            <a:srgbClr val="204034"/>
          </a:solidFill>
          <a:ln w="38100">
            <a:solidFill>
              <a:srgbClr val="EF2F2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SPEAKING · the kitchen inspector</a:t>
            </a:r>
            <a:endParaRPr lang="en-US" sz="1200" dirty="0"/>
          </a:p>
        </p:txBody>
      </p:sp>
      <p:sp>
        <p:nvSpPr>
          <p:cNvPr id="12" name="iconBack_11"/>
          <p:cNvSpPr/>
          <p:nvPr/>
        </p:nvSpPr>
        <p:spPr>
          <a:xfrm>
            <a:off x="5669280" y="685800"/>
            <a:ext cx="1737360" cy="1737360"/>
          </a:xfrm>
          <a:prstGeom prst="ellipse">
            <a:avLst/>
          </a:prstGeom>
          <a:solidFill>
            <a:srgbClr val="FFD84D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3" name="icon_12" descr="so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1033272"/>
            <a:ext cx="1042416" cy="1042416"/>
          </a:xfrm>
          <a:prstGeom prst="rect">
            <a:avLst/>
          </a:prstGeom>
        </p:spPr>
      </p:pic>
      <p:sp>
        <p:nvSpPr>
          <p:cNvPr id="14" name="iconBack_13"/>
          <p:cNvSpPr/>
          <p:nvPr/>
        </p:nvSpPr>
        <p:spPr>
          <a:xfrm>
            <a:off x="7315200" y="1508760"/>
            <a:ext cx="1097280" cy="10972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5" name="icon_14" descr="w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656" y="1728216"/>
            <a:ext cx="658368" cy="658368"/>
          </a:xfrm>
          <a:prstGeom prst="rect">
            <a:avLst/>
          </a:prstGeom>
        </p:spPr>
      </p:pic>
      <p:sp>
        <p:nvSpPr>
          <p:cNvPr id="16" name="iconBack_15"/>
          <p:cNvSpPr/>
          <p:nvPr/>
        </p:nvSpPr>
        <p:spPr>
          <a:xfrm>
            <a:off x="5486400" y="2514600"/>
            <a:ext cx="960120" cy="960120"/>
          </a:xfrm>
          <a:prstGeom prst="ellipse">
            <a:avLst/>
          </a:prstGeom>
          <a:solidFill>
            <a:srgbClr val="C9B3F0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7" name="icon_16" descr="firstai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8424" y="2706624"/>
            <a:ext cx="576072" cy="576072"/>
          </a:xfrm>
          <a:prstGeom prst="rect">
            <a:avLst/>
          </a:prstGeom>
        </p:spPr>
      </p:pic>
      <p:sp>
        <p:nvSpPr>
          <p:cNvPr id="18" name="R1_q"/>
          <p:cNvSpPr txBox="1"/>
          <p:nvPr/>
        </p:nvSpPr>
        <p:spPr>
          <a:xfrm>
            <a:off x="5120640" y="3337560"/>
            <a:ext cx="2377440" cy="777240"/>
          </a:xfrm>
          <a:prstGeom prst="wedgeRoundRectCallout">
            <a:avLst/>
          </a:prstGeom>
          <a:solidFill>
            <a:srgbClr val="48BDF2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No. 1 rule in your kitchen?</a:t>
            </a:r>
            <a:endParaRPr lang="en-US" sz="1400" dirty="0"/>
          </a:p>
        </p:txBody>
      </p:sp>
      <p:sp>
        <p:nvSpPr>
          <p:cNvPr id="19" name="R2_a"/>
          <p:cNvSpPr txBox="1"/>
          <p:nvPr/>
        </p:nvSpPr>
        <p:spPr>
          <a:xfrm>
            <a:off x="6629400" y="4069080"/>
            <a:ext cx="2148840" cy="594360"/>
          </a:xfrm>
          <a:prstGeom prst="wedgeRoundRectCallou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wash your hands!</a:t>
            </a:r>
            <a:endParaRPr lang="en-US" sz="1300" dirty="0"/>
          </a:p>
        </p:txBody>
      </p:sp>
      <p:sp>
        <p:nvSpPr>
          <p:cNvPr id="20" name="tnote_17"/>
          <p:cNvSpPr txBox="1"/>
          <p:nvPr/>
        </p:nvSpPr>
        <p:spPr>
          <a:xfrm>
            <a:off x="411480" y="4773168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Teacher: timings, answers and tips are in the slide notes.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8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9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20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REVISION · Lesson 6</a:t>
            </a:r>
            <a:endParaRPr lang="en-US" sz="1100" dirty="0"/>
          </a:p>
        </p:txBody>
      </p:sp>
      <p:sp>
        <p:nvSpPr>
          <p:cNvPr id="5" name="timer_21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22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7" name="title_23"/>
          <p:cNvSpPr txBox="1"/>
          <p:nvPr/>
        </p:nvSpPr>
        <p:spPr>
          <a:xfrm rot="-120000">
            <a:off x="320040" y="676656"/>
            <a:ext cx="3282696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Number dictation</a:t>
            </a:r>
            <a:endParaRPr lang="en-US" sz="2000" dirty="0"/>
          </a:p>
        </p:txBody>
      </p:sp>
      <p:sp>
        <p:nvSpPr>
          <p:cNvPr id="8" name="post_24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9" name="signA_25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48BDF2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LISTEN!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ASCOLTA!</a:t>
            </a:r>
            <a:endParaRPr lang="en-US" sz="1500" dirty="0"/>
          </a:p>
        </p:txBody>
      </p:sp>
      <p:sp>
        <p:nvSpPr>
          <p:cNvPr id="10" name="signB_26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reads list A. B writes. Then swap and check!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legge la lista A. B scrive. Poi scambiatevi!</a:t>
            </a:r>
            <a:endParaRPr lang="en-US" sz="1250" dirty="0"/>
          </a:p>
        </p:txBody>
      </p:sp>
      <p:sp>
        <p:nvSpPr>
          <p:cNvPr id="11" name="box_27"/>
          <p:cNvSpPr txBox="1"/>
          <p:nvPr/>
        </p:nvSpPr>
        <p:spPr>
          <a:xfrm>
            <a:off x="2788920" y="1371600"/>
            <a:ext cx="2953512" cy="72694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A: 250 g</a:t>
            </a:r>
            <a:endParaRPr lang="en-US" sz="1400" dirty="0"/>
          </a:p>
        </p:txBody>
      </p:sp>
      <p:sp>
        <p:nvSpPr>
          <p:cNvPr id="12" name="box_28"/>
          <p:cNvSpPr txBox="1"/>
          <p:nvPr/>
        </p:nvSpPr>
        <p:spPr>
          <a:xfrm>
            <a:off x="5870448" y="1371600"/>
            <a:ext cx="2953512" cy="72694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B: 1.5 kg</a:t>
            </a:r>
            <a:endParaRPr lang="en-US" sz="1400" dirty="0"/>
          </a:p>
        </p:txBody>
      </p:sp>
      <p:sp>
        <p:nvSpPr>
          <p:cNvPr id="13" name="box_29"/>
          <p:cNvSpPr txBox="1"/>
          <p:nvPr/>
        </p:nvSpPr>
        <p:spPr>
          <a:xfrm>
            <a:off x="2788920" y="2226564"/>
            <a:ext cx="2953512" cy="726948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A: –18°C</a:t>
            </a:r>
            <a:endParaRPr lang="en-US" sz="1400" dirty="0"/>
          </a:p>
        </p:txBody>
      </p:sp>
      <p:sp>
        <p:nvSpPr>
          <p:cNvPr id="14" name="box_30"/>
          <p:cNvSpPr txBox="1"/>
          <p:nvPr/>
        </p:nvSpPr>
        <p:spPr>
          <a:xfrm>
            <a:off x="5870448" y="2226564"/>
            <a:ext cx="2953512" cy="726948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B: 180°C</a:t>
            </a:r>
            <a:endParaRPr lang="en-US" sz="1400" dirty="0"/>
          </a:p>
        </p:txBody>
      </p:sp>
      <p:sp>
        <p:nvSpPr>
          <p:cNvPr id="15" name="box_31"/>
          <p:cNvSpPr txBox="1"/>
          <p:nvPr/>
        </p:nvSpPr>
        <p:spPr>
          <a:xfrm>
            <a:off x="2788920" y="3081528"/>
            <a:ext cx="2953512" cy="726948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A: 3 tbsp</a:t>
            </a:r>
            <a:endParaRPr lang="en-US" sz="1400" dirty="0"/>
          </a:p>
        </p:txBody>
      </p:sp>
      <p:sp>
        <p:nvSpPr>
          <p:cNvPr id="16" name="box_32"/>
          <p:cNvSpPr txBox="1"/>
          <p:nvPr/>
        </p:nvSpPr>
        <p:spPr>
          <a:xfrm>
            <a:off x="5870448" y="3081528"/>
            <a:ext cx="2953512" cy="726948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B: 750 ml</a:t>
            </a:r>
            <a:endParaRPr lang="en-US" sz="1400" dirty="0"/>
          </a:p>
        </p:txBody>
      </p:sp>
      <p:sp>
        <p:nvSpPr>
          <p:cNvPr id="17" name="box_33"/>
          <p:cNvSpPr txBox="1"/>
          <p:nvPr/>
        </p:nvSpPr>
        <p:spPr>
          <a:xfrm>
            <a:off x="2788920" y="3936492"/>
            <a:ext cx="2953512" cy="72694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A: 45 minutes</a:t>
            </a:r>
            <a:endParaRPr lang="en-US" sz="1400" dirty="0"/>
          </a:p>
        </p:txBody>
      </p:sp>
      <p:sp>
        <p:nvSpPr>
          <p:cNvPr id="18" name="box_34"/>
          <p:cNvSpPr txBox="1"/>
          <p:nvPr/>
        </p:nvSpPr>
        <p:spPr>
          <a:xfrm>
            <a:off x="5870448" y="3936492"/>
            <a:ext cx="2953512" cy="72694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B: a quarter past ten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35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36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37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VOCABULARY · Hazards</a:t>
            </a:r>
            <a:endParaRPr lang="en-US" sz="1100" dirty="0"/>
          </a:p>
        </p:txBody>
      </p:sp>
      <p:sp>
        <p:nvSpPr>
          <p:cNvPr id="5" name="timer_38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39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7" name="title_40"/>
          <p:cNvSpPr txBox="1"/>
          <p:nvPr/>
        </p:nvSpPr>
        <p:spPr>
          <a:xfrm rot="-120000">
            <a:off x="320040" y="676656"/>
            <a:ext cx="3630168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What's the danger?</a:t>
            </a:r>
            <a:endParaRPr lang="en-US" sz="2000" dirty="0"/>
          </a:p>
        </p:txBody>
      </p:sp>
      <p:sp>
        <p:nvSpPr>
          <p:cNvPr id="8" name="post_41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9" name="signA_42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PENSA!</a:t>
            </a:r>
            <a:endParaRPr lang="en-US" sz="1500" dirty="0"/>
          </a:p>
        </p:txBody>
      </p:sp>
      <p:sp>
        <p:nvSpPr>
          <p:cNvPr id="10" name="signB_43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hazard and the danger.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Abbina il pericolo e la conseguenza.</a:t>
            </a:r>
            <a:endParaRPr lang="en-US" sz="1250" dirty="0"/>
          </a:p>
        </p:txBody>
      </p:sp>
      <p:sp>
        <p:nvSpPr>
          <p:cNvPr id="11" name="iconBack_44"/>
          <p:cNvSpPr/>
          <p:nvPr/>
        </p:nvSpPr>
        <p:spPr>
          <a:xfrm>
            <a:off x="2788920" y="1371600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12" name="icon_45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1463040"/>
            <a:ext cx="274320" cy="274320"/>
          </a:xfrm>
          <a:prstGeom prst="rect">
            <a:avLst/>
          </a:prstGeom>
        </p:spPr>
      </p:pic>
      <p:sp>
        <p:nvSpPr>
          <p:cNvPr id="13" name="box_46"/>
          <p:cNvSpPr txBox="1"/>
          <p:nvPr/>
        </p:nvSpPr>
        <p:spPr>
          <a:xfrm>
            <a:off x="3300984" y="1371600"/>
            <a:ext cx="2505456" cy="45720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 wet floor</a:t>
            </a:r>
            <a:endParaRPr lang="en-US" sz="1250" dirty="0"/>
          </a:p>
        </p:txBody>
      </p:sp>
      <p:sp>
        <p:nvSpPr>
          <p:cNvPr id="14" name="R1_m0"/>
          <p:cNvSpPr txBox="1"/>
          <p:nvPr/>
        </p:nvSpPr>
        <p:spPr>
          <a:xfrm>
            <a:off x="5879592" y="1389888"/>
            <a:ext cx="294436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 and fall</a:t>
            </a:r>
            <a:endParaRPr lang="en-US" sz="1150" dirty="0"/>
          </a:p>
        </p:txBody>
      </p:sp>
      <p:sp>
        <p:nvSpPr>
          <p:cNvPr id="15" name="iconBack_47"/>
          <p:cNvSpPr/>
          <p:nvPr/>
        </p:nvSpPr>
        <p:spPr>
          <a:xfrm>
            <a:off x="2788920" y="1901952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16" name="icon_48" descr="fi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1993392"/>
            <a:ext cx="274320" cy="274320"/>
          </a:xfrm>
          <a:prstGeom prst="rect">
            <a:avLst/>
          </a:prstGeom>
        </p:spPr>
      </p:pic>
      <p:sp>
        <p:nvSpPr>
          <p:cNvPr id="17" name="box_49"/>
          <p:cNvSpPr txBox="1"/>
          <p:nvPr/>
        </p:nvSpPr>
        <p:spPr>
          <a:xfrm>
            <a:off x="3300984" y="1901952"/>
            <a:ext cx="2505456" cy="45720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hot oil</a:t>
            </a:r>
            <a:endParaRPr lang="en-US" sz="1250" dirty="0"/>
          </a:p>
        </p:txBody>
      </p:sp>
      <p:sp>
        <p:nvSpPr>
          <p:cNvPr id="18" name="R1_m1"/>
          <p:cNvSpPr txBox="1"/>
          <p:nvPr/>
        </p:nvSpPr>
        <p:spPr>
          <a:xfrm>
            <a:off x="5879592" y="1920240"/>
            <a:ext cx="294436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 yourself</a:t>
            </a:r>
            <a:endParaRPr lang="en-US" sz="1150" dirty="0"/>
          </a:p>
        </p:txBody>
      </p:sp>
      <p:sp>
        <p:nvSpPr>
          <p:cNvPr id="19" name="iconBack_50"/>
          <p:cNvSpPr/>
          <p:nvPr/>
        </p:nvSpPr>
        <p:spPr>
          <a:xfrm>
            <a:off x="2788920" y="2432304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20" name="icon_51" descr="knif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2523744"/>
            <a:ext cx="274320" cy="274320"/>
          </a:xfrm>
          <a:prstGeom prst="rect">
            <a:avLst/>
          </a:prstGeom>
        </p:spPr>
      </p:pic>
      <p:sp>
        <p:nvSpPr>
          <p:cNvPr id="21" name="box_52"/>
          <p:cNvSpPr txBox="1"/>
          <p:nvPr/>
        </p:nvSpPr>
        <p:spPr>
          <a:xfrm>
            <a:off x="3300984" y="2432304"/>
            <a:ext cx="2505456" cy="45720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a sharp knife in the sink</a:t>
            </a:r>
            <a:endParaRPr lang="en-US" sz="1250" dirty="0"/>
          </a:p>
        </p:txBody>
      </p:sp>
      <p:sp>
        <p:nvSpPr>
          <p:cNvPr id="22" name="R1_m2"/>
          <p:cNvSpPr txBox="1"/>
          <p:nvPr/>
        </p:nvSpPr>
        <p:spPr>
          <a:xfrm>
            <a:off x="5879592" y="2450592"/>
            <a:ext cx="294436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yourself</a:t>
            </a:r>
            <a:endParaRPr lang="en-US" sz="1150" dirty="0"/>
          </a:p>
        </p:txBody>
      </p:sp>
      <p:sp>
        <p:nvSpPr>
          <p:cNvPr id="23" name="iconBack_53"/>
          <p:cNvSpPr/>
          <p:nvPr/>
        </p:nvSpPr>
        <p:spPr>
          <a:xfrm>
            <a:off x="2788920" y="2962656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24" name="icon_54" descr="chick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0360" y="3054096"/>
            <a:ext cx="274320" cy="274320"/>
          </a:xfrm>
          <a:prstGeom prst="rect">
            <a:avLst/>
          </a:prstGeom>
        </p:spPr>
      </p:pic>
      <p:sp>
        <p:nvSpPr>
          <p:cNvPr id="25" name="box_55"/>
          <p:cNvSpPr txBox="1"/>
          <p:nvPr/>
        </p:nvSpPr>
        <p:spPr>
          <a:xfrm>
            <a:off x="3300984" y="2962656"/>
            <a:ext cx="2505456" cy="457200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raw chicken next to salad</a:t>
            </a:r>
            <a:endParaRPr lang="en-US" sz="1250" dirty="0"/>
          </a:p>
        </p:txBody>
      </p:sp>
      <p:sp>
        <p:nvSpPr>
          <p:cNvPr id="26" name="R1_m3"/>
          <p:cNvSpPr txBox="1"/>
          <p:nvPr/>
        </p:nvSpPr>
        <p:spPr>
          <a:xfrm>
            <a:off x="5879592" y="2980944"/>
            <a:ext cx="294436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cross-contamination</a:t>
            </a:r>
            <a:endParaRPr lang="en-US" sz="1150" dirty="0"/>
          </a:p>
        </p:txBody>
      </p:sp>
      <p:sp>
        <p:nvSpPr>
          <p:cNvPr id="27" name="iconBack_56"/>
          <p:cNvSpPr/>
          <p:nvPr/>
        </p:nvSpPr>
        <p:spPr>
          <a:xfrm>
            <a:off x="2788920" y="3493008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28" name="icon_57" descr="bacteria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360" y="3584448"/>
            <a:ext cx="274320" cy="274320"/>
          </a:xfrm>
          <a:prstGeom prst="rect">
            <a:avLst/>
          </a:prstGeom>
        </p:spPr>
      </p:pic>
      <p:sp>
        <p:nvSpPr>
          <p:cNvPr id="29" name="box_58"/>
          <p:cNvSpPr txBox="1"/>
          <p:nvPr/>
        </p:nvSpPr>
        <p:spPr>
          <a:xfrm>
            <a:off x="3300984" y="3493008"/>
            <a:ext cx="2505456" cy="457200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 dirty cloth</a:t>
            </a:r>
            <a:endParaRPr lang="en-US" sz="1250" dirty="0"/>
          </a:p>
        </p:txBody>
      </p:sp>
      <p:sp>
        <p:nvSpPr>
          <p:cNvPr id="30" name="R1_m4"/>
          <p:cNvSpPr txBox="1"/>
          <p:nvPr/>
        </p:nvSpPr>
        <p:spPr>
          <a:xfrm>
            <a:off x="5879592" y="3511296"/>
            <a:ext cx="294436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 spread</a:t>
            </a:r>
            <a:endParaRPr lang="en-US" sz="1150" dirty="0"/>
          </a:p>
        </p:txBody>
      </p:sp>
      <p:sp>
        <p:nvSpPr>
          <p:cNvPr id="31" name="iconBack_59"/>
          <p:cNvSpPr/>
          <p:nvPr/>
        </p:nvSpPr>
        <p:spPr>
          <a:xfrm>
            <a:off x="2788920" y="4023360"/>
            <a:ext cx="45720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</p:sp>
      <p:pic>
        <p:nvPicPr>
          <p:cNvPr id="32" name="icon_60" descr="thermo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0360" y="4114800"/>
            <a:ext cx="274320" cy="274320"/>
          </a:xfrm>
          <a:prstGeom prst="rect">
            <a:avLst/>
          </a:prstGeom>
        </p:spPr>
      </p:pic>
      <p:sp>
        <p:nvSpPr>
          <p:cNvPr id="33" name="box_61"/>
          <p:cNvSpPr txBox="1"/>
          <p:nvPr/>
        </p:nvSpPr>
        <p:spPr>
          <a:xfrm>
            <a:off x="3300984" y="4023360"/>
            <a:ext cx="2505456" cy="457200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food left out of the fridge</a:t>
            </a:r>
            <a:endParaRPr lang="en-US" sz="1250" dirty="0"/>
          </a:p>
        </p:txBody>
      </p:sp>
      <p:sp>
        <p:nvSpPr>
          <p:cNvPr id="34" name="R1_m5"/>
          <p:cNvSpPr txBox="1"/>
          <p:nvPr/>
        </p:nvSpPr>
        <p:spPr>
          <a:xfrm>
            <a:off x="5879592" y="4041648"/>
            <a:ext cx="2944368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 grow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62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63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64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VOCABULARY · Safety kit</a:t>
            </a:r>
            <a:endParaRPr lang="en-US" sz="1100" dirty="0"/>
          </a:p>
        </p:txBody>
      </p:sp>
      <p:sp>
        <p:nvSpPr>
          <p:cNvPr id="5" name="timer_65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66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7" name="title_67"/>
          <p:cNvSpPr txBox="1"/>
          <p:nvPr/>
        </p:nvSpPr>
        <p:spPr>
          <a:xfrm rot="-120000">
            <a:off x="320040" y="676656"/>
            <a:ext cx="3108960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do we use?</a:t>
            </a:r>
            <a:endParaRPr lang="en-US" sz="2000" dirty="0"/>
          </a:p>
        </p:txBody>
      </p:sp>
      <p:sp>
        <p:nvSpPr>
          <p:cNvPr id="8" name="post_68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9" name="signA_69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THINK!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PENSA!</a:t>
            </a:r>
            <a:endParaRPr lang="en-US" sz="1500" dirty="0"/>
          </a:p>
        </p:txBody>
      </p:sp>
      <p:sp>
        <p:nvSpPr>
          <p:cNvPr id="10" name="signB_70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what it is and when you use it.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Di' cos'è e quando lo usi.</a:t>
            </a:r>
            <a:endParaRPr lang="en-US" sz="1250" dirty="0"/>
          </a:p>
        </p:txBody>
      </p:sp>
      <p:sp>
        <p:nvSpPr>
          <p:cNvPr id="11" name="tile_71"/>
          <p:cNvSpPr/>
          <p:nvPr/>
        </p:nvSpPr>
        <p:spPr>
          <a:xfrm>
            <a:off x="2788920" y="1371600"/>
            <a:ext cx="142646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pic>
        <p:nvPicPr>
          <p:cNvPr id="12" name="ti_72" descr="glo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552" y="1426464"/>
            <a:ext cx="457200" cy="457200"/>
          </a:xfrm>
          <a:prstGeom prst="rect">
            <a:avLst/>
          </a:prstGeom>
        </p:spPr>
      </p:pic>
      <p:sp>
        <p:nvSpPr>
          <p:cNvPr id="13" name="tw_73"/>
          <p:cNvSpPr txBox="1"/>
          <p:nvPr/>
        </p:nvSpPr>
        <p:spPr>
          <a:xfrm>
            <a:off x="2825496" y="1901952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</a:t>
            </a:r>
            <a:endParaRPr lang="en-US" sz="1250" dirty="0"/>
          </a:p>
        </p:txBody>
      </p:sp>
      <p:sp>
        <p:nvSpPr>
          <p:cNvPr id="14" name="R1_it0"/>
          <p:cNvSpPr txBox="1"/>
          <p:nvPr/>
        </p:nvSpPr>
        <p:spPr>
          <a:xfrm>
            <a:off x="2825496" y="2130552"/>
            <a:ext cx="13533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guanti</a:t>
            </a:r>
            <a:endParaRPr lang="en-US" sz="1050" dirty="0"/>
          </a:p>
        </p:txBody>
      </p:sp>
      <p:sp>
        <p:nvSpPr>
          <p:cNvPr id="15" name="tile_74"/>
          <p:cNvSpPr/>
          <p:nvPr/>
        </p:nvSpPr>
        <p:spPr>
          <a:xfrm>
            <a:off x="4325112" y="1371600"/>
            <a:ext cx="142646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pic>
        <p:nvPicPr>
          <p:cNvPr id="16" name="ti_75" descr="a blue plas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1426464"/>
            <a:ext cx="457200" cy="457200"/>
          </a:xfrm>
          <a:prstGeom prst="rect">
            <a:avLst/>
          </a:prstGeom>
        </p:spPr>
      </p:pic>
      <p:sp>
        <p:nvSpPr>
          <p:cNvPr id="17" name="tw_76"/>
          <p:cNvSpPr txBox="1"/>
          <p:nvPr/>
        </p:nvSpPr>
        <p:spPr>
          <a:xfrm>
            <a:off x="4361688" y="1901952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blue plaster</a:t>
            </a:r>
            <a:endParaRPr lang="en-US" sz="1250" dirty="0"/>
          </a:p>
        </p:txBody>
      </p:sp>
      <p:sp>
        <p:nvSpPr>
          <p:cNvPr id="18" name="R1_it1"/>
          <p:cNvSpPr txBox="1"/>
          <p:nvPr/>
        </p:nvSpPr>
        <p:spPr>
          <a:xfrm>
            <a:off x="4361688" y="2130552"/>
            <a:ext cx="13533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cerotto blu</a:t>
            </a:r>
            <a:endParaRPr lang="en-US" sz="1050" dirty="0"/>
          </a:p>
        </p:txBody>
      </p:sp>
      <p:sp>
        <p:nvSpPr>
          <p:cNvPr id="19" name="tile_77"/>
          <p:cNvSpPr/>
          <p:nvPr/>
        </p:nvSpPr>
        <p:spPr>
          <a:xfrm>
            <a:off x="5861304" y="1371600"/>
            <a:ext cx="142646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pic>
        <p:nvPicPr>
          <p:cNvPr id="20" name="ti_78" descr="first aid ki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1426464"/>
            <a:ext cx="457200" cy="457200"/>
          </a:xfrm>
          <a:prstGeom prst="rect">
            <a:avLst/>
          </a:prstGeom>
        </p:spPr>
      </p:pic>
      <p:sp>
        <p:nvSpPr>
          <p:cNvPr id="21" name="tw_79"/>
          <p:cNvSpPr txBox="1"/>
          <p:nvPr/>
        </p:nvSpPr>
        <p:spPr>
          <a:xfrm>
            <a:off x="5897880" y="1901952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kit</a:t>
            </a:r>
            <a:endParaRPr lang="en-US" sz="1250" dirty="0"/>
          </a:p>
        </p:txBody>
      </p:sp>
      <p:sp>
        <p:nvSpPr>
          <p:cNvPr id="22" name="R1_it2"/>
          <p:cNvSpPr txBox="1"/>
          <p:nvPr/>
        </p:nvSpPr>
        <p:spPr>
          <a:xfrm>
            <a:off x="5897880" y="2130552"/>
            <a:ext cx="13533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 pronto soccorso</a:t>
            </a:r>
            <a:endParaRPr lang="en-US" sz="1050" dirty="0"/>
          </a:p>
        </p:txBody>
      </p:sp>
      <p:sp>
        <p:nvSpPr>
          <p:cNvPr id="23" name="tile_80"/>
          <p:cNvSpPr/>
          <p:nvPr/>
        </p:nvSpPr>
        <p:spPr>
          <a:xfrm>
            <a:off x="7397496" y="1371600"/>
            <a:ext cx="142646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pic>
        <p:nvPicPr>
          <p:cNvPr id="24" name="ti_81" descr="hand-wash basi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8" y="1426464"/>
            <a:ext cx="457200" cy="457200"/>
          </a:xfrm>
          <a:prstGeom prst="rect">
            <a:avLst/>
          </a:prstGeom>
        </p:spPr>
      </p:pic>
      <p:sp>
        <p:nvSpPr>
          <p:cNvPr id="25" name="tw_82"/>
          <p:cNvSpPr txBox="1"/>
          <p:nvPr/>
        </p:nvSpPr>
        <p:spPr>
          <a:xfrm>
            <a:off x="7434072" y="1901952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hand-wash basin</a:t>
            </a:r>
            <a:endParaRPr lang="en-US" sz="1250" dirty="0"/>
          </a:p>
        </p:txBody>
      </p:sp>
      <p:sp>
        <p:nvSpPr>
          <p:cNvPr id="26" name="R1_it3"/>
          <p:cNvSpPr txBox="1"/>
          <p:nvPr/>
        </p:nvSpPr>
        <p:spPr>
          <a:xfrm>
            <a:off x="7434072" y="2130552"/>
            <a:ext cx="13533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lavamani</a:t>
            </a:r>
            <a:endParaRPr lang="en-US" sz="1050" dirty="0"/>
          </a:p>
        </p:txBody>
      </p:sp>
      <p:sp>
        <p:nvSpPr>
          <p:cNvPr id="27" name="tile_83"/>
          <p:cNvSpPr/>
          <p:nvPr/>
        </p:nvSpPr>
        <p:spPr>
          <a:xfrm>
            <a:off x="2788920" y="2624328"/>
            <a:ext cx="142646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pic>
        <p:nvPicPr>
          <p:cNvPr id="28" name="ti_84" descr="wet floor 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3552" y="2679192"/>
            <a:ext cx="457200" cy="457200"/>
          </a:xfrm>
          <a:prstGeom prst="rect">
            <a:avLst/>
          </a:prstGeom>
        </p:spPr>
      </p:pic>
      <p:sp>
        <p:nvSpPr>
          <p:cNvPr id="29" name="tw_85"/>
          <p:cNvSpPr txBox="1"/>
          <p:nvPr/>
        </p:nvSpPr>
        <p:spPr>
          <a:xfrm>
            <a:off x="2825496" y="3154680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 floor sign</a:t>
            </a:r>
            <a:endParaRPr lang="en-US" sz="1250" dirty="0"/>
          </a:p>
        </p:txBody>
      </p:sp>
      <p:sp>
        <p:nvSpPr>
          <p:cNvPr id="30" name="R1_it4"/>
          <p:cNvSpPr txBox="1"/>
          <p:nvPr/>
        </p:nvSpPr>
        <p:spPr>
          <a:xfrm>
            <a:off x="2825496" y="3383280"/>
            <a:ext cx="13533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cartello pavimento bagnato</a:t>
            </a:r>
            <a:endParaRPr lang="en-US" sz="1050" dirty="0"/>
          </a:p>
        </p:txBody>
      </p:sp>
      <p:sp>
        <p:nvSpPr>
          <p:cNvPr id="31" name="tile_86"/>
          <p:cNvSpPr/>
          <p:nvPr/>
        </p:nvSpPr>
        <p:spPr>
          <a:xfrm>
            <a:off x="4325112" y="2624328"/>
            <a:ext cx="142646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pic>
        <p:nvPicPr>
          <p:cNvPr id="32" name="ti_87" descr="hat / hairne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9744" y="2679192"/>
            <a:ext cx="457200" cy="457200"/>
          </a:xfrm>
          <a:prstGeom prst="rect">
            <a:avLst/>
          </a:prstGeom>
        </p:spPr>
      </p:pic>
      <p:sp>
        <p:nvSpPr>
          <p:cNvPr id="33" name="tw_88"/>
          <p:cNvSpPr txBox="1"/>
          <p:nvPr/>
        </p:nvSpPr>
        <p:spPr>
          <a:xfrm>
            <a:off x="4361688" y="3154680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/ hairnet</a:t>
            </a:r>
            <a:endParaRPr lang="en-US" sz="1250" dirty="0"/>
          </a:p>
        </p:txBody>
      </p:sp>
      <p:sp>
        <p:nvSpPr>
          <p:cNvPr id="34" name="R1_it5"/>
          <p:cNvSpPr txBox="1"/>
          <p:nvPr/>
        </p:nvSpPr>
        <p:spPr>
          <a:xfrm>
            <a:off x="4361688" y="3383280"/>
            <a:ext cx="13533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cappello / retina</a:t>
            </a:r>
            <a:endParaRPr lang="en-US" sz="1050" dirty="0"/>
          </a:p>
        </p:txBody>
      </p:sp>
      <p:sp>
        <p:nvSpPr>
          <p:cNvPr id="35" name="tile_89"/>
          <p:cNvSpPr/>
          <p:nvPr/>
        </p:nvSpPr>
        <p:spPr>
          <a:xfrm>
            <a:off x="5861304" y="2624328"/>
            <a:ext cx="142646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pic>
        <p:nvPicPr>
          <p:cNvPr id="36" name="ti_90" descr="probe thermomet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5936" y="2679192"/>
            <a:ext cx="457200" cy="457200"/>
          </a:xfrm>
          <a:prstGeom prst="rect">
            <a:avLst/>
          </a:prstGeom>
        </p:spPr>
      </p:pic>
      <p:sp>
        <p:nvSpPr>
          <p:cNvPr id="37" name="tw_91"/>
          <p:cNvSpPr txBox="1"/>
          <p:nvPr/>
        </p:nvSpPr>
        <p:spPr>
          <a:xfrm>
            <a:off x="5897880" y="3154680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thermometer</a:t>
            </a:r>
            <a:endParaRPr lang="en-US" sz="1250" dirty="0"/>
          </a:p>
        </p:txBody>
      </p:sp>
      <p:sp>
        <p:nvSpPr>
          <p:cNvPr id="38" name="R1_it6"/>
          <p:cNvSpPr txBox="1"/>
          <p:nvPr/>
        </p:nvSpPr>
        <p:spPr>
          <a:xfrm>
            <a:off x="5897880" y="3383280"/>
            <a:ext cx="13533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termometro a sonda</a:t>
            </a:r>
            <a:endParaRPr lang="en-US" sz="1050" dirty="0"/>
          </a:p>
        </p:txBody>
      </p:sp>
      <p:sp>
        <p:nvSpPr>
          <p:cNvPr id="39" name="tile_92"/>
          <p:cNvSpPr/>
          <p:nvPr/>
        </p:nvSpPr>
        <p:spPr>
          <a:xfrm>
            <a:off x="7397496" y="2624328"/>
            <a:ext cx="142646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111111"/>
            </a:solidFill>
            <a:prstDash val="solid"/>
          </a:ln>
        </p:spPr>
      </p:sp>
      <p:pic>
        <p:nvPicPr>
          <p:cNvPr id="40" name="ti_93" descr="fire blanke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82128" y="2679192"/>
            <a:ext cx="457200" cy="457200"/>
          </a:xfrm>
          <a:prstGeom prst="rect">
            <a:avLst/>
          </a:prstGeom>
        </p:spPr>
      </p:pic>
      <p:sp>
        <p:nvSpPr>
          <p:cNvPr id="41" name="tw_94"/>
          <p:cNvSpPr txBox="1"/>
          <p:nvPr/>
        </p:nvSpPr>
        <p:spPr>
          <a:xfrm>
            <a:off x="7434072" y="3154680"/>
            <a:ext cx="13533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blanket</a:t>
            </a:r>
            <a:endParaRPr lang="en-US" sz="1250" dirty="0"/>
          </a:p>
        </p:txBody>
      </p:sp>
      <p:sp>
        <p:nvSpPr>
          <p:cNvPr id="42" name="R1_it7"/>
          <p:cNvSpPr txBox="1"/>
          <p:nvPr/>
        </p:nvSpPr>
        <p:spPr>
          <a:xfrm>
            <a:off x="7434072" y="3383280"/>
            <a:ext cx="135331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coperta antifiamma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95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96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97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GRAMMAR · Rules</a:t>
            </a:r>
            <a:endParaRPr lang="en-US" sz="1100" dirty="0"/>
          </a:p>
        </p:txBody>
      </p:sp>
      <p:sp>
        <p:nvSpPr>
          <p:cNvPr id="5" name="timer_98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99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7" name="title_100"/>
          <p:cNvSpPr txBox="1"/>
          <p:nvPr/>
        </p:nvSpPr>
        <p:spPr>
          <a:xfrm rot="-120000">
            <a:off x="320040" y="676656"/>
            <a:ext cx="4672584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 must wash your hands</a:t>
            </a:r>
            <a:endParaRPr lang="en-US" sz="2000" dirty="0"/>
          </a:p>
        </p:txBody>
      </p:sp>
      <p:sp>
        <p:nvSpPr>
          <p:cNvPr id="8" name="rh_101"/>
          <p:cNvSpPr txBox="1"/>
          <p:nvPr/>
        </p:nvSpPr>
        <p:spPr>
          <a:xfrm>
            <a:off x="320040" y="1371600"/>
            <a:ext cx="2749296" cy="384048"/>
          </a:xfrm>
          <a:prstGeom prst="rect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must / have to</a:t>
            </a:r>
            <a:endParaRPr lang="en-US" sz="1300" dirty="0"/>
          </a:p>
        </p:txBody>
      </p:sp>
      <p:sp>
        <p:nvSpPr>
          <p:cNvPr id="9" name="rb_102"/>
          <p:cNvSpPr txBox="1"/>
          <p:nvPr/>
        </p:nvSpPr>
        <p:spPr>
          <a:xfrm>
            <a:off x="320040" y="1810512"/>
            <a:ext cx="2749296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necessary / the rule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wash your hands.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to wear a hat.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</a:t>
            </a:r>
            <a:endParaRPr lang="en-US" sz="1350" dirty="0"/>
          </a:p>
        </p:txBody>
      </p:sp>
      <p:sp>
        <p:nvSpPr>
          <p:cNvPr id="10" name="rh_103"/>
          <p:cNvSpPr txBox="1"/>
          <p:nvPr/>
        </p:nvSpPr>
        <p:spPr>
          <a:xfrm>
            <a:off x="3197352" y="1371600"/>
            <a:ext cx="2749296" cy="384048"/>
          </a:xfrm>
          <a:prstGeom prst="rect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mustn't</a:t>
            </a:r>
            <a:endParaRPr lang="en-US" sz="1300" dirty="0"/>
          </a:p>
        </p:txBody>
      </p:sp>
      <p:sp>
        <p:nvSpPr>
          <p:cNvPr id="11" name="rb_104"/>
          <p:cNvSpPr txBox="1"/>
          <p:nvPr/>
        </p:nvSpPr>
        <p:spPr>
          <a:xfrm>
            <a:off x="3197352" y="1810512"/>
            <a:ext cx="2749296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it's prohibited!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mustn't wear jewellery.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mustn't use your phone.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vietato</a:t>
            </a:r>
            <a:endParaRPr lang="en-US" sz="1350" dirty="0"/>
          </a:p>
        </p:txBody>
      </p:sp>
      <p:sp>
        <p:nvSpPr>
          <p:cNvPr id="12" name="rh_105"/>
          <p:cNvSpPr txBox="1"/>
          <p:nvPr/>
        </p:nvSpPr>
        <p:spPr>
          <a:xfrm>
            <a:off x="6074664" y="1371600"/>
            <a:ext cx="2749296" cy="384048"/>
          </a:xfrm>
          <a:prstGeom prst="rect">
            <a:avLst/>
          </a:prstGeom>
          <a:solidFill>
            <a:srgbClr val="1FA463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don't have to</a:t>
            </a:r>
            <a:endParaRPr lang="en-US" sz="1300" dirty="0"/>
          </a:p>
        </p:txBody>
      </p:sp>
      <p:sp>
        <p:nvSpPr>
          <p:cNvPr id="13" name="rb_106"/>
          <p:cNvSpPr txBox="1"/>
          <p:nvPr/>
        </p:nvSpPr>
        <p:spPr>
          <a:xfrm>
            <a:off x="6074664" y="1810512"/>
            <a:ext cx="2749296" cy="2157984"/>
          </a:xfrm>
          <a:prstGeom prst="rect">
            <a:avLst/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not necessary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have to come in on Monday.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è necessario</a:t>
            </a:r>
            <a:endParaRPr lang="en-US" sz="1350" dirty="0"/>
          </a:p>
        </p:txBody>
      </p:sp>
      <p:sp>
        <p:nvSpPr>
          <p:cNvPr id="14" name="watch_107"/>
          <p:cNvSpPr txBox="1"/>
          <p:nvPr/>
        </p:nvSpPr>
        <p:spPr>
          <a:xfrm>
            <a:off x="320040" y="4133088"/>
            <a:ext cx="8503920" cy="530352"/>
          </a:xfrm>
          <a:prstGeom prst="rect">
            <a:avLst/>
          </a:prstGeom>
          <a:solidFill>
            <a:srgbClr val="FFE4E6"/>
          </a:solidFill>
          <a:ln w="190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out!  </a:t>
            </a:r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mustn't ≠ don't have to!     ✗ You must to wash → ✓ You must wash.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08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09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10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GRAMMAR · Practice</a:t>
            </a:r>
            <a:endParaRPr lang="en-US" sz="1100" dirty="0"/>
          </a:p>
        </p:txBody>
      </p:sp>
      <p:sp>
        <p:nvSpPr>
          <p:cNvPr id="5" name="timer_111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5 min</a:t>
            </a:r>
            <a:endParaRPr lang="en-US" sz="1200" dirty="0"/>
          </a:p>
        </p:txBody>
      </p:sp>
      <p:sp>
        <p:nvSpPr>
          <p:cNvPr id="6" name="footer_112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7" name="title_113"/>
          <p:cNvSpPr txBox="1"/>
          <p:nvPr/>
        </p:nvSpPr>
        <p:spPr>
          <a:xfrm rot="-120000">
            <a:off x="320040" y="676656"/>
            <a:ext cx="5541264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must, mustn't, don't have to?</a:t>
            </a:r>
            <a:endParaRPr lang="en-US" sz="2000" dirty="0"/>
          </a:p>
        </p:txBody>
      </p:sp>
      <p:sp>
        <p:nvSpPr>
          <p:cNvPr id="8" name="post_114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9" name="signA_115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6D3FC0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SCRIVI!</a:t>
            </a:r>
            <a:endParaRPr lang="en-US" sz="1500" dirty="0"/>
          </a:p>
        </p:txBody>
      </p:sp>
      <p:sp>
        <p:nvSpPr>
          <p:cNvPr id="10" name="signB_116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Choose: must · mustn't · don't have to.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Scegli: must / mustn't / don't have to.</a:t>
            </a:r>
            <a:endParaRPr lang="en-US" sz="1250" dirty="0"/>
          </a:p>
        </p:txBody>
      </p:sp>
      <p:sp>
        <p:nvSpPr>
          <p:cNvPr id="11" name="box_117"/>
          <p:cNvSpPr txBox="1"/>
          <p:nvPr/>
        </p:nvSpPr>
        <p:spPr>
          <a:xfrm>
            <a:off x="2788920" y="1371600"/>
            <a:ext cx="4465930" cy="555955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You ___ wear a blue plaster on a cut.</a:t>
            </a:r>
            <a:endParaRPr lang="en-US" sz="1350" dirty="0"/>
          </a:p>
        </p:txBody>
      </p:sp>
      <p:sp>
        <p:nvSpPr>
          <p:cNvPr id="12" name="R1_a0"/>
          <p:cNvSpPr txBox="1"/>
          <p:nvPr/>
        </p:nvSpPr>
        <p:spPr>
          <a:xfrm>
            <a:off x="7309714" y="1408176"/>
            <a:ext cx="151424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200" dirty="0"/>
          </a:p>
        </p:txBody>
      </p:sp>
      <p:sp>
        <p:nvSpPr>
          <p:cNvPr id="13" name="box_118"/>
          <p:cNvSpPr txBox="1"/>
          <p:nvPr/>
        </p:nvSpPr>
        <p:spPr>
          <a:xfrm>
            <a:off x="2788920" y="2055571"/>
            <a:ext cx="4465930" cy="555955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You ___ wear a watch in the kitchen.</a:t>
            </a:r>
            <a:endParaRPr lang="en-US" sz="1350" dirty="0"/>
          </a:p>
        </p:txBody>
      </p:sp>
      <p:sp>
        <p:nvSpPr>
          <p:cNvPr id="14" name="R1_a1"/>
          <p:cNvSpPr txBox="1"/>
          <p:nvPr/>
        </p:nvSpPr>
        <p:spPr>
          <a:xfrm>
            <a:off x="7309714" y="2092147"/>
            <a:ext cx="151424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mustn't</a:t>
            </a:r>
            <a:endParaRPr lang="en-US" sz="1200" dirty="0"/>
          </a:p>
        </p:txBody>
      </p:sp>
      <p:sp>
        <p:nvSpPr>
          <p:cNvPr id="15" name="box_119"/>
          <p:cNvSpPr txBox="1"/>
          <p:nvPr/>
        </p:nvSpPr>
        <p:spPr>
          <a:xfrm>
            <a:off x="2788920" y="2739542"/>
            <a:ext cx="4465930" cy="555955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You ___ wear gloves to wash salad, but you can.</a:t>
            </a:r>
            <a:endParaRPr lang="en-US" sz="1350" dirty="0"/>
          </a:p>
        </p:txBody>
      </p:sp>
      <p:sp>
        <p:nvSpPr>
          <p:cNvPr id="16" name="R1_a2"/>
          <p:cNvSpPr txBox="1"/>
          <p:nvPr/>
        </p:nvSpPr>
        <p:spPr>
          <a:xfrm>
            <a:off x="7309714" y="2776118"/>
            <a:ext cx="151424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have to</a:t>
            </a:r>
            <a:endParaRPr lang="en-US" sz="1200" dirty="0"/>
          </a:p>
        </p:txBody>
      </p:sp>
      <p:sp>
        <p:nvSpPr>
          <p:cNvPr id="17" name="box_120"/>
          <p:cNvSpPr txBox="1"/>
          <p:nvPr/>
        </p:nvSpPr>
        <p:spPr>
          <a:xfrm>
            <a:off x="2788920" y="3423514"/>
            <a:ext cx="4465930" cy="555955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You ___ put raw chicken above cooked food.</a:t>
            </a:r>
            <a:endParaRPr lang="en-US" sz="1350" dirty="0"/>
          </a:p>
        </p:txBody>
      </p:sp>
      <p:sp>
        <p:nvSpPr>
          <p:cNvPr id="18" name="R1_a3"/>
          <p:cNvSpPr txBox="1"/>
          <p:nvPr/>
        </p:nvSpPr>
        <p:spPr>
          <a:xfrm>
            <a:off x="7309714" y="3460090"/>
            <a:ext cx="151424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mustn't</a:t>
            </a:r>
            <a:endParaRPr lang="en-US" sz="1200" dirty="0"/>
          </a:p>
        </p:txBody>
      </p:sp>
      <p:sp>
        <p:nvSpPr>
          <p:cNvPr id="19" name="box_121"/>
          <p:cNvSpPr txBox="1"/>
          <p:nvPr/>
        </p:nvSpPr>
        <p:spPr>
          <a:xfrm>
            <a:off x="2788920" y="4107485"/>
            <a:ext cx="4465930" cy="555955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Part-time staff ___ come to the Monday meeting.</a:t>
            </a:r>
            <a:endParaRPr lang="en-US" sz="1350" dirty="0"/>
          </a:p>
        </p:txBody>
      </p:sp>
      <p:sp>
        <p:nvSpPr>
          <p:cNvPr id="20" name="R1_a4"/>
          <p:cNvSpPr txBox="1"/>
          <p:nvPr/>
        </p:nvSpPr>
        <p:spPr>
          <a:xfrm>
            <a:off x="7309714" y="4144061"/>
            <a:ext cx="1514246" cy="482803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have to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22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23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24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WRITING · Opposites</a:t>
            </a:r>
            <a:endParaRPr lang="en-US" sz="1100" dirty="0"/>
          </a:p>
        </p:txBody>
      </p:sp>
      <p:sp>
        <p:nvSpPr>
          <p:cNvPr id="5" name="timer_125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126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7" name="title_127"/>
          <p:cNvSpPr txBox="1"/>
          <p:nvPr/>
        </p:nvSpPr>
        <p:spPr>
          <a:xfrm rot="-120000">
            <a:off x="320040" y="676656"/>
            <a:ext cx="5715000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worst kitchen in the world</a:t>
            </a:r>
            <a:endParaRPr lang="en-US" sz="2000" dirty="0"/>
          </a:p>
        </p:txBody>
      </p:sp>
      <p:sp>
        <p:nvSpPr>
          <p:cNvPr id="8" name="post_128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9" name="signA_129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6D3FC0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SCRIVI!</a:t>
            </a:r>
            <a:endParaRPr lang="en-US" sz="1500" dirty="0"/>
          </a:p>
        </p:txBody>
      </p:sp>
      <p:sp>
        <p:nvSpPr>
          <p:cNvPr id="10" name="signB_130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5 rules for a TERRIBLE kitchen. Then fix them!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Scrivi 5 regole per una cucina TERRIBILE. Poi correggile!</a:t>
            </a:r>
            <a:endParaRPr lang="en-US" sz="1250" dirty="0"/>
          </a:p>
        </p:txBody>
      </p:sp>
      <p:sp>
        <p:nvSpPr>
          <p:cNvPr id="11" name="iconBack_131"/>
          <p:cNvSpPr/>
          <p:nvPr/>
        </p:nvSpPr>
        <p:spPr>
          <a:xfrm>
            <a:off x="685800" y="3246120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2" name="icon_132" descr="bacteri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74720"/>
            <a:ext cx="685800" cy="685800"/>
          </a:xfrm>
          <a:prstGeom prst="rect">
            <a:avLst/>
          </a:prstGeom>
        </p:spPr>
      </p:pic>
      <p:sp>
        <p:nvSpPr>
          <p:cNvPr id="13" name="num_133"/>
          <p:cNvSpPr txBox="1"/>
          <p:nvPr/>
        </p:nvSpPr>
        <p:spPr>
          <a:xfrm>
            <a:off x="2788920" y="1490472"/>
            <a:ext cx="384048" cy="384048"/>
          </a:xfrm>
          <a:prstGeom prst="ellipse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box_134"/>
          <p:cNvSpPr txBox="1"/>
          <p:nvPr/>
        </p:nvSpPr>
        <p:spPr>
          <a:xfrm>
            <a:off x="3264408" y="1371600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pairs, write 5 rules for the worst kitchen ever.</a:t>
            </a:r>
            <a:endParaRPr lang="en-US" sz="1300" dirty="0"/>
          </a:p>
        </p:txBody>
      </p:sp>
      <p:sp>
        <p:nvSpPr>
          <p:cNvPr id="15" name="num_135"/>
          <p:cNvSpPr txBox="1"/>
          <p:nvPr/>
        </p:nvSpPr>
        <p:spPr>
          <a:xfrm>
            <a:off x="2788920" y="2203704"/>
            <a:ext cx="384048" cy="384048"/>
          </a:xfrm>
          <a:prstGeom prst="ellipse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box_136"/>
          <p:cNvSpPr txBox="1"/>
          <p:nvPr/>
        </p:nvSpPr>
        <p:spPr>
          <a:xfrm>
            <a:off x="3264408" y="2084832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leave the fridge door open! Never wash the boards!</a:t>
            </a:r>
            <a:endParaRPr lang="en-US" sz="1300" dirty="0"/>
          </a:p>
        </p:txBody>
      </p:sp>
      <p:sp>
        <p:nvSpPr>
          <p:cNvPr id="17" name="num_137"/>
          <p:cNvSpPr txBox="1"/>
          <p:nvPr/>
        </p:nvSpPr>
        <p:spPr>
          <a:xfrm>
            <a:off x="2788920" y="2916936"/>
            <a:ext cx="384048" cy="384048"/>
          </a:xfrm>
          <a:prstGeom prst="ellipse">
            <a:avLst/>
          </a:prstGeom>
          <a:solidFill>
            <a:srgbClr val="1FA463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box_138"/>
          <p:cNvSpPr txBox="1"/>
          <p:nvPr/>
        </p:nvSpPr>
        <p:spPr>
          <a:xfrm>
            <a:off x="3264408" y="2798064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lists. Change each rule into a real rule with must / mustn't.</a:t>
            </a:r>
            <a:endParaRPr lang="en-US" sz="1300" dirty="0"/>
          </a:p>
        </p:txBody>
      </p:sp>
      <p:sp>
        <p:nvSpPr>
          <p:cNvPr id="19" name="num_139"/>
          <p:cNvSpPr txBox="1"/>
          <p:nvPr/>
        </p:nvSpPr>
        <p:spPr>
          <a:xfrm>
            <a:off x="2788920" y="3630168"/>
            <a:ext cx="384048" cy="384048"/>
          </a:xfrm>
          <a:prstGeom prst="ellipse">
            <a:avLst/>
          </a:prstGeom>
          <a:solidFill>
            <a:srgbClr val="F59E0B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box_140"/>
          <p:cNvSpPr txBox="1"/>
          <p:nvPr/>
        </p:nvSpPr>
        <p:spPr>
          <a:xfrm>
            <a:off x="3264408" y="3511296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mustn't leave the fridge door open. You must wash the boards.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41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42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43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READING · The 4 Cs</a:t>
            </a:r>
            <a:endParaRPr lang="en-US" sz="1100" dirty="0"/>
          </a:p>
        </p:txBody>
      </p:sp>
      <p:sp>
        <p:nvSpPr>
          <p:cNvPr id="5" name="timer_144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145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7" name="title_146"/>
          <p:cNvSpPr txBox="1"/>
          <p:nvPr/>
        </p:nvSpPr>
        <p:spPr>
          <a:xfrm rot="-120000">
            <a:off x="320040" y="676656"/>
            <a:ext cx="4498848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4 Cs of food safety</a:t>
            </a:r>
            <a:endParaRPr lang="en-US" sz="2000" dirty="0"/>
          </a:p>
        </p:txBody>
      </p:sp>
      <p:sp>
        <p:nvSpPr>
          <p:cNvPr id="8" name="post_147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9" name="signA_148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48BDF2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READ!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LEGGI!</a:t>
            </a:r>
            <a:endParaRPr lang="en-US" sz="1500" dirty="0"/>
          </a:p>
        </p:txBody>
      </p:sp>
      <p:sp>
        <p:nvSpPr>
          <p:cNvPr id="10" name="signB_149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each rule to one of the 4 Cs.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Abbina ogni regola a una delle 4 C.</a:t>
            </a:r>
            <a:endParaRPr lang="en-US" sz="1250" dirty="0"/>
          </a:p>
        </p:txBody>
      </p:sp>
      <p:sp>
        <p:nvSpPr>
          <p:cNvPr id="11" name="box_150"/>
          <p:cNvSpPr txBox="1"/>
          <p:nvPr/>
        </p:nvSpPr>
        <p:spPr>
          <a:xfrm>
            <a:off x="2788920" y="1371600"/>
            <a:ext cx="3983126" cy="45720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Cook food until it is steaming hot all the way through.</a:t>
            </a:r>
            <a:endParaRPr lang="en-US" sz="1250" dirty="0"/>
          </a:p>
        </p:txBody>
      </p:sp>
      <p:sp>
        <p:nvSpPr>
          <p:cNvPr id="12" name="R1_m0"/>
          <p:cNvSpPr txBox="1"/>
          <p:nvPr/>
        </p:nvSpPr>
        <p:spPr>
          <a:xfrm>
            <a:off x="6845198" y="1389888"/>
            <a:ext cx="1978762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Cooking</a:t>
            </a:r>
            <a:endParaRPr lang="en-US" sz="1150" dirty="0"/>
          </a:p>
        </p:txBody>
      </p:sp>
      <p:sp>
        <p:nvSpPr>
          <p:cNvPr id="13" name="box_151"/>
          <p:cNvSpPr txBox="1"/>
          <p:nvPr/>
        </p:nvSpPr>
        <p:spPr>
          <a:xfrm>
            <a:off x="2788920" y="1901952"/>
            <a:ext cx="3983126" cy="45720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Keep the fridge at 5°C or below.</a:t>
            </a:r>
            <a:endParaRPr lang="en-US" sz="1250" dirty="0"/>
          </a:p>
        </p:txBody>
      </p:sp>
      <p:sp>
        <p:nvSpPr>
          <p:cNvPr id="14" name="R1_m1"/>
          <p:cNvSpPr txBox="1"/>
          <p:nvPr/>
        </p:nvSpPr>
        <p:spPr>
          <a:xfrm>
            <a:off x="6845198" y="1920240"/>
            <a:ext cx="1978762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Chilling</a:t>
            </a:r>
            <a:endParaRPr lang="en-US" sz="1150" dirty="0"/>
          </a:p>
        </p:txBody>
      </p:sp>
      <p:sp>
        <p:nvSpPr>
          <p:cNvPr id="15" name="box_152"/>
          <p:cNvSpPr txBox="1"/>
          <p:nvPr/>
        </p:nvSpPr>
        <p:spPr>
          <a:xfrm>
            <a:off x="2788920" y="2432304"/>
            <a:ext cx="3983126" cy="45720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Use different boards for raw meat and ready-to-eat food.</a:t>
            </a:r>
            <a:endParaRPr lang="en-US" sz="1250" dirty="0"/>
          </a:p>
        </p:txBody>
      </p:sp>
      <p:sp>
        <p:nvSpPr>
          <p:cNvPr id="16" name="R1_m2"/>
          <p:cNvSpPr txBox="1"/>
          <p:nvPr/>
        </p:nvSpPr>
        <p:spPr>
          <a:xfrm>
            <a:off x="6845198" y="2450592"/>
            <a:ext cx="1978762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Cross-contamination</a:t>
            </a:r>
            <a:endParaRPr lang="en-US" sz="1150" dirty="0"/>
          </a:p>
        </p:txBody>
      </p:sp>
      <p:sp>
        <p:nvSpPr>
          <p:cNvPr id="17" name="box_153"/>
          <p:cNvSpPr txBox="1"/>
          <p:nvPr/>
        </p:nvSpPr>
        <p:spPr>
          <a:xfrm>
            <a:off x="2788920" y="2962656"/>
            <a:ext cx="3983126" cy="457200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Clean as you go – wash surfaces and equipment.</a:t>
            </a:r>
            <a:endParaRPr lang="en-US" sz="1250" dirty="0"/>
          </a:p>
        </p:txBody>
      </p:sp>
      <p:sp>
        <p:nvSpPr>
          <p:cNvPr id="18" name="R1_m3"/>
          <p:cNvSpPr txBox="1"/>
          <p:nvPr/>
        </p:nvSpPr>
        <p:spPr>
          <a:xfrm>
            <a:off x="6845198" y="2980944"/>
            <a:ext cx="1978762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150" dirty="0"/>
          </a:p>
        </p:txBody>
      </p:sp>
      <p:sp>
        <p:nvSpPr>
          <p:cNvPr id="19" name="box_154"/>
          <p:cNvSpPr txBox="1"/>
          <p:nvPr/>
        </p:nvSpPr>
        <p:spPr>
          <a:xfrm>
            <a:off x="2788920" y="3493008"/>
            <a:ext cx="3983126" cy="457200"/>
          </a:xfrm>
          <a:prstGeom prst="rect">
            <a:avLst/>
          </a:prstGeom>
          <a:solidFill>
            <a:srgbClr val="EDE9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Cool food quickly and put it in the fridge.</a:t>
            </a:r>
            <a:endParaRPr lang="en-US" sz="1250" dirty="0"/>
          </a:p>
        </p:txBody>
      </p:sp>
      <p:sp>
        <p:nvSpPr>
          <p:cNvPr id="20" name="R1_m4"/>
          <p:cNvSpPr txBox="1"/>
          <p:nvPr/>
        </p:nvSpPr>
        <p:spPr>
          <a:xfrm>
            <a:off x="6845198" y="3511296"/>
            <a:ext cx="1978762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Chilling</a:t>
            </a:r>
            <a:endParaRPr lang="en-US" sz="1150" dirty="0"/>
          </a:p>
        </p:txBody>
      </p:sp>
      <p:sp>
        <p:nvSpPr>
          <p:cNvPr id="21" name="box_155"/>
          <p:cNvSpPr txBox="1"/>
          <p:nvPr/>
        </p:nvSpPr>
        <p:spPr>
          <a:xfrm>
            <a:off x="2788920" y="4023360"/>
            <a:ext cx="3983126" cy="457200"/>
          </a:xfrm>
          <a:prstGeom prst="rect">
            <a:avLst/>
          </a:prstGeom>
          <a:solidFill>
            <a:srgbClr val="FFEDD5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Wash your hands after you touch raw meat.</a:t>
            </a:r>
            <a:endParaRPr lang="en-US" sz="1250" dirty="0"/>
          </a:p>
        </p:txBody>
      </p:sp>
      <p:sp>
        <p:nvSpPr>
          <p:cNvPr id="22" name="R1_m5"/>
          <p:cNvSpPr txBox="1"/>
          <p:nvPr/>
        </p:nvSpPr>
        <p:spPr>
          <a:xfrm>
            <a:off x="6845198" y="4041648"/>
            <a:ext cx="1978762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 / Cross-cont.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56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57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58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SPEAKING · Mini debate</a:t>
            </a:r>
            <a:endParaRPr lang="en-US" sz="1100" dirty="0"/>
          </a:p>
        </p:txBody>
      </p:sp>
      <p:sp>
        <p:nvSpPr>
          <p:cNvPr id="5" name="timer_159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6 min</a:t>
            </a:r>
            <a:endParaRPr lang="en-US" sz="1200" dirty="0"/>
          </a:p>
        </p:txBody>
      </p:sp>
      <p:sp>
        <p:nvSpPr>
          <p:cNvPr id="6" name="footer_160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7" name="title_161"/>
          <p:cNvSpPr txBox="1"/>
          <p:nvPr/>
        </p:nvSpPr>
        <p:spPr>
          <a:xfrm rot="-120000">
            <a:off x="320040" y="676656"/>
            <a:ext cx="3282696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Agree or no way?</a:t>
            </a:r>
            <a:endParaRPr lang="en-US" sz="2000" dirty="0"/>
          </a:p>
        </p:txBody>
      </p:sp>
      <p:sp>
        <p:nvSpPr>
          <p:cNvPr id="8" name="post_162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9" name="signA_163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EF2F2F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SPEAK!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PARLA!</a:t>
            </a:r>
            <a:endParaRPr lang="en-US" sz="1500" dirty="0"/>
          </a:p>
        </p:txBody>
      </p:sp>
      <p:sp>
        <p:nvSpPr>
          <p:cNvPr id="10" name="signB_164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Choose: agree or no way? Give one reason in 30 seconds!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Scegli: d'accordo o no? Un motivo in 30 secondi!</a:t>
            </a:r>
            <a:endParaRPr lang="en-US" sz="1250" dirty="0"/>
          </a:p>
        </p:txBody>
      </p:sp>
      <p:sp>
        <p:nvSpPr>
          <p:cNvPr id="11" name="box_165"/>
          <p:cNvSpPr txBox="1"/>
          <p:nvPr/>
        </p:nvSpPr>
        <p:spPr>
          <a:xfrm>
            <a:off x="2788920" y="1371600"/>
            <a:ext cx="4572000" cy="56692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"Shouting in the kitchen is necessary."</a:t>
            </a:r>
            <a:endParaRPr lang="en-US" sz="1350" dirty="0"/>
          </a:p>
        </p:txBody>
      </p:sp>
      <p:sp>
        <p:nvSpPr>
          <p:cNvPr id="12" name="stamp_166"/>
          <p:cNvSpPr txBox="1"/>
          <p:nvPr/>
        </p:nvSpPr>
        <p:spPr>
          <a:xfrm>
            <a:off x="7434072" y="1417320"/>
            <a:ext cx="658368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A46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AGREE</a:t>
            </a:r>
            <a:endParaRPr lang="en-US" sz="950" dirty="0"/>
          </a:p>
        </p:txBody>
      </p:sp>
      <p:sp>
        <p:nvSpPr>
          <p:cNvPr id="13" name="stamp_167"/>
          <p:cNvSpPr txBox="1"/>
          <p:nvPr/>
        </p:nvSpPr>
        <p:spPr>
          <a:xfrm>
            <a:off x="8129016" y="1417320"/>
            <a:ext cx="69494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38100">
            <a:solidFill>
              <a:srgbClr val="EF2F2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F2F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WAY</a:t>
            </a:r>
            <a:endParaRPr lang="en-US" sz="950" dirty="0"/>
          </a:p>
        </p:txBody>
      </p:sp>
      <p:sp>
        <p:nvSpPr>
          <p:cNvPr id="14" name="box_168"/>
          <p:cNvSpPr txBox="1"/>
          <p:nvPr/>
        </p:nvSpPr>
        <p:spPr>
          <a:xfrm>
            <a:off x="2788920" y="2029968"/>
            <a:ext cx="4572000" cy="56692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"Chefs should be allowed to use their phones at work."</a:t>
            </a:r>
            <a:endParaRPr lang="en-US" sz="1350" dirty="0"/>
          </a:p>
        </p:txBody>
      </p:sp>
      <p:sp>
        <p:nvSpPr>
          <p:cNvPr id="15" name="stamp_169"/>
          <p:cNvSpPr txBox="1"/>
          <p:nvPr/>
        </p:nvSpPr>
        <p:spPr>
          <a:xfrm>
            <a:off x="7434072" y="2075688"/>
            <a:ext cx="658368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A46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AGREE</a:t>
            </a:r>
            <a:endParaRPr lang="en-US" sz="950" dirty="0"/>
          </a:p>
        </p:txBody>
      </p:sp>
      <p:sp>
        <p:nvSpPr>
          <p:cNvPr id="16" name="stamp_170"/>
          <p:cNvSpPr txBox="1"/>
          <p:nvPr/>
        </p:nvSpPr>
        <p:spPr>
          <a:xfrm>
            <a:off x="8129016" y="2075688"/>
            <a:ext cx="69494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38100">
            <a:solidFill>
              <a:srgbClr val="EF2F2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F2F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WAY</a:t>
            </a:r>
            <a:endParaRPr lang="en-US" sz="950" dirty="0"/>
          </a:p>
        </p:txBody>
      </p:sp>
      <p:sp>
        <p:nvSpPr>
          <p:cNvPr id="17" name="box_171"/>
          <p:cNvSpPr txBox="1"/>
          <p:nvPr/>
        </p:nvSpPr>
        <p:spPr>
          <a:xfrm>
            <a:off x="2788920" y="2688336"/>
            <a:ext cx="4572000" cy="566928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"Tasting with your finger is OK if your hands are clean."</a:t>
            </a:r>
            <a:endParaRPr lang="en-US" sz="1350" dirty="0"/>
          </a:p>
        </p:txBody>
      </p:sp>
      <p:sp>
        <p:nvSpPr>
          <p:cNvPr id="18" name="stamp_172"/>
          <p:cNvSpPr txBox="1"/>
          <p:nvPr/>
        </p:nvSpPr>
        <p:spPr>
          <a:xfrm>
            <a:off x="7434072" y="2734056"/>
            <a:ext cx="658368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A46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AGREE</a:t>
            </a:r>
            <a:endParaRPr lang="en-US" sz="950" dirty="0"/>
          </a:p>
        </p:txBody>
      </p:sp>
      <p:sp>
        <p:nvSpPr>
          <p:cNvPr id="19" name="stamp_173"/>
          <p:cNvSpPr txBox="1"/>
          <p:nvPr/>
        </p:nvSpPr>
        <p:spPr>
          <a:xfrm>
            <a:off x="8129016" y="2734056"/>
            <a:ext cx="69494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38100">
            <a:solidFill>
              <a:srgbClr val="EF2F2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F2F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WAY</a:t>
            </a:r>
            <a:endParaRPr lang="en-US" sz="950" dirty="0"/>
          </a:p>
        </p:txBody>
      </p:sp>
      <p:sp>
        <p:nvSpPr>
          <p:cNvPr id="20" name="box_174"/>
          <p:cNvSpPr txBox="1"/>
          <p:nvPr/>
        </p:nvSpPr>
        <p:spPr>
          <a:xfrm>
            <a:off x="2788920" y="3346704"/>
            <a:ext cx="4572000" cy="566928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kitchens are better than closed kitchens."</a:t>
            </a:r>
            <a:endParaRPr lang="en-US" sz="1350" dirty="0"/>
          </a:p>
        </p:txBody>
      </p:sp>
      <p:sp>
        <p:nvSpPr>
          <p:cNvPr id="21" name="stamp_175"/>
          <p:cNvSpPr txBox="1"/>
          <p:nvPr/>
        </p:nvSpPr>
        <p:spPr>
          <a:xfrm>
            <a:off x="7434072" y="3392424"/>
            <a:ext cx="658368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38100">
            <a:solidFill>
              <a:srgbClr val="1FA46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A46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AGREE</a:t>
            </a:r>
            <a:endParaRPr lang="en-US" sz="950" dirty="0"/>
          </a:p>
        </p:txBody>
      </p:sp>
      <p:sp>
        <p:nvSpPr>
          <p:cNvPr id="22" name="stamp_176"/>
          <p:cNvSpPr txBox="1"/>
          <p:nvPr/>
        </p:nvSpPr>
        <p:spPr>
          <a:xfrm>
            <a:off x="8129016" y="3392424"/>
            <a:ext cx="69494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38100">
            <a:solidFill>
              <a:srgbClr val="EF2F2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F2F2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 WAY</a:t>
            </a:r>
            <a:endParaRPr lang="en-US" sz="950" dirty="0"/>
          </a:p>
        </p:txBody>
      </p:sp>
      <p:sp>
        <p:nvSpPr>
          <p:cNvPr id="23" name="bubble_177"/>
          <p:cNvSpPr txBox="1"/>
          <p:nvPr/>
        </p:nvSpPr>
        <p:spPr>
          <a:xfrm>
            <a:off x="2788920" y="4160520"/>
            <a:ext cx="6035040" cy="502920"/>
          </a:xfrm>
          <a:prstGeom prst="round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your partner answers you: I see your point, but…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78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79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180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GAME · Role-play</a:t>
            </a:r>
            <a:endParaRPr lang="en-US" sz="1100" dirty="0"/>
          </a:p>
        </p:txBody>
      </p:sp>
      <p:sp>
        <p:nvSpPr>
          <p:cNvPr id="5" name="timer_181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9 min</a:t>
            </a:r>
            <a:endParaRPr lang="en-US" sz="1200" dirty="0"/>
          </a:p>
        </p:txBody>
      </p:sp>
      <p:sp>
        <p:nvSpPr>
          <p:cNvPr id="6" name="footer_182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7" name="title_183"/>
          <p:cNvSpPr txBox="1"/>
          <p:nvPr/>
        </p:nvSpPr>
        <p:spPr>
          <a:xfrm rot="-120000">
            <a:off x="320040" y="676656"/>
            <a:ext cx="4151376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kitchen inspector</a:t>
            </a:r>
            <a:endParaRPr lang="en-US" sz="2000" dirty="0"/>
          </a:p>
        </p:txBody>
      </p:sp>
      <p:sp>
        <p:nvSpPr>
          <p:cNvPr id="8" name="post_184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9" name="signA_185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1FA463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PLAY!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GIOCA!</a:t>
            </a:r>
            <a:endParaRPr lang="en-US" sz="1500" dirty="0"/>
          </a:p>
        </p:txBody>
      </p:sp>
      <p:sp>
        <p:nvSpPr>
          <p:cNvPr id="10" name="signB_186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A is the inspector. Find 5 problems!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A è l'ispettore. Trova 5 problemi!</a:t>
            </a:r>
            <a:endParaRPr lang="en-US" sz="1250" dirty="0"/>
          </a:p>
        </p:txBody>
      </p:sp>
      <p:sp>
        <p:nvSpPr>
          <p:cNvPr id="11" name="iconBack_187"/>
          <p:cNvSpPr/>
          <p:nvPr/>
        </p:nvSpPr>
        <p:spPr>
          <a:xfrm>
            <a:off x="685800" y="3246120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pic>
        <p:nvPicPr>
          <p:cNvPr id="12" name="icon_188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74720"/>
            <a:ext cx="685800" cy="685800"/>
          </a:xfrm>
          <a:prstGeom prst="rect">
            <a:avLst/>
          </a:prstGeom>
        </p:spPr>
      </p:pic>
      <p:sp>
        <p:nvSpPr>
          <p:cNvPr id="13" name="num_189"/>
          <p:cNvSpPr txBox="1"/>
          <p:nvPr/>
        </p:nvSpPr>
        <p:spPr>
          <a:xfrm>
            <a:off x="2788920" y="1490472"/>
            <a:ext cx="384048" cy="384048"/>
          </a:xfrm>
          <a:prstGeom prst="ellipse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box_190"/>
          <p:cNvSpPr txBox="1"/>
          <p:nvPr/>
        </p:nvSpPr>
        <p:spPr>
          <a:xfrm>
            <a:off x="3264408" y="1371600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B describes his / her kitchen – true or invented: There's a cake on the table. The fridge is at 9°C…</a:t>
            </a:r>
            <a:endParaRPr lang="en-US" sz="1300" dirty="0"/>
          </a:p>
        </p:txBody>
      </p:sp>
      <p:sp>
        <p:nvSpPr>
          <p:cNvPr id="15" name="num_191"/>
          <p:cNvSpPr txBox="1"/>
          <p:nvPr/>
        </p:nvSpPr>
        <p:spPr>
          <a:xfrm>
            <a:off x="2788920" y="2203704"/>
            <a:ext cx="384048" cy="384048"/>
          </a:xfrm>
          <a:prstGeom prst="ellipse">
            <a:avLst/>
          </a:prstGeom>
          <a:solidFill>
            <a:srgbClr val="48BDF2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box_192"/>
          <p:cNvSpPr txBox="1"/>
          <p:nvPr/>
        </p:nvSpPr>
        <p:spPr>
          <a:xfrm>
            <a:off x="3264408" y="2084832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A finds the problems: You mustn't… / You have to…</a:t>
            </a:r>
            <a:endParaRPr lang="en-US" sz="1300" dirty="0"/>
          </a:p>
        </p:txBody>
      </p:sp>
      <p:sp>
        <p:nvSpPr>
          <p:cNvPr id="17" name="num_193"/>
          <p:cNvSpPr txBox="1"/>
          <p:nvPr/>
        </p:nvSpPr>
        <p:spPr>
          <a:xfrm>
            <a:off x="2788920" y="2916936"/>
            <a:ext cx="384048" cy="384048"/>
          </a:xfrm>
          <a:prstGeom prst="ellipse">
            <a:avLst/>
          </a:prstGeom>
          <a:solidFill>
            <a:srgbClr val="1FA463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box_194"/>
          <p:cNvSpPr txBox="1"/>
          <p:nvPr/>
        </p:nvSpPr>
        <p:spPr>
          <a:xfrm>
            <a:off x="3264408" y="2798064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problem found = 1 point. Each hidden problem not found = 1 point for B!</a:t>
            </a:r>
            <a:endParaRPr lang="en-US" sz="1300" dirty="0"/>
          </a:p>
        </p:txBody>
      </p:sp>
      <p:sp>
        <p:nvSpPr>
          <p:cNvPr id="19" name="num_195"/>
          <p:cNvSpPr txBox="1"/>
          <p:nvPr/>
        </p:nvSpPr>
        <p:spPr>
          <a:xfrm>
            <a:off x="2788920" y="3630168"/>
            <a:ext cx="384048" cy="384048"/>
          </a:xfrm>
          <a:prstGeom prst="ellipse">
            <a:avLst/>
          </a:prstGeom>
          <a:solidFill>
            <a:srgbClr val="F59E0B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box_196"/>
          <p:cNvSpPr txBox="1"/>
          <p:nvPr/>
        </p:nvSpPr>
        <p:spPr>
          <a:xfrm>
            <a:off x="3264408" y="3511296"/>
            <a:ext cx="5559552" cy="621792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roles.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197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198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footer_199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5" name="title_200"/>
          <p:cNvSpPr txBox="1"/>
          <p:nvPr/>
        </p:nvSpPr>
        <p:spPr>
          <a:xfrm rot="-120000">
            <a:off x="320040" y="676656"/>
            <a:ext cx="4151376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Look what you can do!</a:t>
            </a:r>
            <a:endParaRPr lang="en-US" sz="2000" dirty="0"/>
          </a:p>
        </p:txBody>
      </p:sp>
      <p:sp>
        <p:nvSpPr>
          <p:cNvPr id="6" name="sub_201"/>
          <p:cNvSpPr txBox="1"/>
          <p:nvPr/>
        </p:nvSpPr>
        <p:spPr>
          <a:xfrm>
            <a:off x="365760" y="1234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 cosa sai fare adesso!</a:t>
            </a:r>
            <a:endParaRPr lang="en-US" sz="1200" dirty="0"/>
          </a:p>
        </p:txBody>
      </p:sp>
      <p:sp>
        <p:nvSpPr>
          <p:cNvPr id="7" name="box_202"/>
          <p:cNvSpPr txBox="1"/>
          <p:nvPr/>
        </p:nvSpPr>
        <p:spPr>
          <a:xfrm>
            <a:off x="365760" y="1600200"/>
            <a:ext cx="4846320" cy="548640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 can name kitchen hazards.</a:t>
            </a:r>
            <a:endParaRPr lang="en-US" sz="1350" dirty="0"/>
          </a:p>
        </p:txBody>
      </p:sp>
      <p:sp>
        <p:nvSpPr>
          <p:cNvPr id="8" name="faces_203"/>
          <p:cNvSpPr txBox="1"/>
          <p:nvPr/>
        </p:nvSpPr>
        <p:spPr>
          <a:xfrm>
            <a:off x="5230368" y="160020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😀 🙂 😐</a:t>
            </a:r>
            <a:endParaRPr lang="en-US" sz="1400" dirty="0"/>
          </a:p>
        </p:txBody>
      </p:sp>
      <p:sp>
        <p:nvSpPr>
          <p:cNvPr id="9" name="box_204"/>
          <p:cNvSpPr txBox="1"/>
          <p:nvPr/>
        </p:nvSpPr>
        <p:spPr>
          <a:xfrm>
            <a:off x="365760" y="2240280"/>
            <a:ext cx="4846320" cy="548640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 can use must, mustn't, have to, don't have to.</a:t>
            </a:r>
            <a:endParaRPr lang="en-US" sz="1350" dirty="0"/>
          </a:p>
        </p:txBody>
      </p:sp>
      <p:sp>
        <p:nvSpPr>
          <p:cNvPr id="10" name="faces_205"/>
          <p:cNvSpPr txBox="1"/>
          <p:nvPr/>
        </p:nvSpPr>
        <p:spPr>
          <a:xfrm>
            <a:off x="5230368" y="224028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😀 🙂 😐</a:t>
            </a:r>
            <a:endParaRPr lang="en-US" sz="1400" dirty="0"/>
          </a:p>
        </p:txBody>
      </p:sp>
      <p:sp>
        <p:nvSpPr>
          <p:cNvPr id="11" name="box_206"/>
          <p:cNvSpPr txBox="1"/>
          <p:nvPr/>
        </p:nvSpPr>
        <p:spPr>
          <a:xfrm>
            <a:off x="365760" y="2880360"/>
            <a:ext cx="4846320" cy="548640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 can explain the 4 Cs of food safety.</a:t>
            </a:r>
            <a:endParaRPr lang="en-US" sz="1350" dirty="0"/>
          </a:p>
        </p:txBody>
      </p:sp>
      <p:sp>
        <p:nvSpPr>
          <p:cNvPr id="12" name="faces_207"/>
          <p:cNvSpPr txBox="1"/>
          <p:nvPr/>
        </p:nvSpPr>
        <p:spPr>
          <a:xfrm>
            <a:off x="5230368" y="28803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😀 🙂 😐</a:t>
            </a:r>
            <a:endParaRPr lang="en-US" sz="1400" dirty="0"/>
          </a:p>
        </p:txBody>
      </p:sp>
      <p:sp>
        <p:nvSpPr>
          <p:cNvPr id="13" name="hw_208"/>
          <p:cNvSpPr txBox="1"/>
          <p:nvPr/>
        </p:nvSpPr>
        <p:spPr>
          <a:xfrm rot="90000">
            <a:off x="6446520" y="1325880"/>
            <a:ext cx="2377440" cy="2651760"/>
          </a:xfrm>
          <a:prstGeom prst="rect">
            <a:avLst/>
          </a:prstGeom>
          <a:solidFill>
            <a:srgbClr val="062F67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14300" tIns="114300" rIns="114300" bIns="1143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FFD84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HOMEWORK · COMPITI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8 rules for your kitchen in English. Put them on the wall at work!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teacher can attach the homework sheet in the portal.</a:t>
            </a:r>
            <a:endParaRPr lang="en-US" sz="1250" dirty="0"/>
          </a:p>
        </p:txBody>
      </p:sp>
      <p:sp>
        <p:nvSpPr>
          <p:cNvPr id="14" name="stamp_209"/>
          <p:cNvSpPr txBox="1"/>
          <p:nvPr/>
        </p:nvSpPr>
        <p:spPr>
          <a:xfrm>
            <a:off x="365760" y="3657600"/>
            <a:ext cx="43891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38100">
            <a:solidFill>
              <a:srgbClr val="6D3FC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lesson: L8 · Allergens &amp; special diets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velFrame_210"/>
          <p:cNvSpPr/>
          <p:nvPr/>
        </p:nvSpPr>
        <p:spPr>
          <a:xfrm>
            <a:off x="54864" y="54864"/>
            <a:ext cx="9034272" cy="5033772"/>
          </a:xfrm>
          <a:prstGeom prst="rect">
            <a:avLst/>
          </a:prstGeom>
          <a:ln w="114300">
            <a:solidFill>
              <a:srgbClr val="C9B3F0"/>
            </a:solidFill>
            <a:prstDash val="solid"/>
          </a:ln>
        </p:spPr>
      </p:sp>
      <p:pic>
        <p:nvPicPr>
          <p:cNvPr id="3" name="logo_211" descr="London Language School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82880"/>
            <a:ext cx="585216" cy="585216"/>
          </a:xfrm>
          <a:prstGeom prst="rect">
            <a:avLst/>
          </a:prstGeom>
        </p:spPr>
      </p:pic>
      <p:sp>
        <p:nvSpPr>
          <p:cNvPr id="4" name="objective_212"/>
          <p:cNvSpPr txBox="1"/>
          <p:nvPr/>
        </p:nvSpPr>
        <p:spPr>
          <a:xfrm>
            <a:off x="320040" y="182880"/>
            <a:ext cx="4754880" cy="365760"/>
          </a:xfrm>
          <a:prstGeom prst="roundRect">
            <a:avLst>
              <a:gd name="adj" fmla="val 20000"/>
            </a:avLst>
          </a:prstGeom>
          <a:solidFill>
            <a:srgbClr val="062F67"/>
          </a:solidFill>
          <a:ln w="31750">
            <a:solidFill>
              <a:srgbClr val="111111"/>
            </a:solidFill>
          </a:ln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 · Video · food safety</a:t>
            </a:r>
            <a:endParaRPr lang="en-US" sz="1100" dirty="0"/>
          </a:p>
        </p:txBody>
      </p:sp>
      <p:sp>
        <p:nvSpPr>
          <p:cNvPr id="5" name="timer_213"/>
          <p:cNvSpPr txBox="1"/>
          <p:nvPr/>
        </p:nvSpPr>
        <p:spPr>
          <a:xfrm>
            <a:off x="7086600" y="219456"/>
            <a:ext cx="10058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25400">
            <a:solidFill>
              <a:srgbClr val="6D3FC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D3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8 min</a:t>
            </a:r>
            <a:endParaRPr lang="en-US" sz="1200" dirty="0"/>
          </a:p>
        </p:txBody>
      </p:sp>
      <p:sp>
        <p:nvSpPr>
          <p:cNvPr id="6" name="extra_214"/>
          <p:cNvSpPr txBox="1"/>
          <p:nvPr/>
        </p:nvSpPr>
        <p:spPr>
          <a:xfrm rot="360000">
            <a:off x="5943600" y="201168"/>
            <a:ext cx="1005840" cy="347472"/>
          </a:xfrm>
          <a:prstGeom prst="roundRect">
            <a:avLst>
              <a:gd name="adj" fmla="val 21053"/>
            </a:avLst>
          </a:prstGeom>
          <a:solidFill>
            <a:srgbClr val="1FA463"/>
          </a:solidFill>
          <a:ln w="31750">
            <a:solidFill>
              <a:srgbClr val="111111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EXTRA</a:t>
            </a:r>
            <a:endParaRPr lang="en-US" sz="1300" dirty="0"/>
          </a:p>
        </p:txBody>
      </p:sp>
      <p:sp>
        <p:nvSpPr>
          <p:cNvPr id="7" name="footer_215"/>
          <p:cNvSpPr txBox="1"/>
          <p:nvPr/>
        </p:nvSpPr>
        <p:spPr>
          <a:xfrm>
            <a:off x="7132320" y="4818888"/>
            <a:ext cx="1737360" cy="21945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English · L7</a:t>
            </a:r>
            <a:endParaRPr lang="en-US" sz="1000" dirty="0"/>
          </a:p>
        </p:txBody>
      </p:sp>
      <p:sp>
        <p:nvSpPr>
          <p:cNvPr id="8" name="title_216"/>
          <p:cNvSpPr txBox="1"/>
          <p:nvPr/>
        </p:nvSpPr>
        <p:spPr>
          <a:xfrm rot="-120000">
            <a:off x="320040" y="676656"/>
            <a:ext cx="2414016" cy="530352"/>
          </a:xfrm>
          <a:prstGeom prst="rect">
            <a:avLst/>
          </a:prstGeom>
          <a:solidFill>
            <a:srgbClr val="FFD84D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111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four Cs</a:t>
            </a:r>
            <a:endParaRPr lang="en-US" sz="2000" dirty="0"/>
          </a:p>
        </p:txBody>
      </p:sp>
      <p:sp>
        <p:nvSpPr>
          <p:cNvPr id="9" name="post_217"/>
          <p:cNvSpPr/>
          <p:nvPr/>
        </p:nvSpPr>
        <p:spPr>
          <a:xfrm>
            <a:off x="429768" y="1554480"/>
            <a:ext cx="128016" cy="2194560"/>
          </a:xfrm>
          <a:prstGeom prst="rect">
            <a:avLst/>
          </a:prstGeom>
          <a:solidFill>
            <a:srgbClr val="8B5A2B"/>
          </a:solidFill>
          <a:ln w="31750">
            <a:solidFill>
              <a:srgbClr val="111111"/>
            </a:solidFill>
            <a:prstDash val="solid"/>
          </a:ln>
        </p:spPr>
      </p:sp>
      <p:sp>
        <p:nvSpPr>
          <p:cNvPr id="10" name="signA_218"/>
          <p:cNvSpPr txBox="1"/>
          <p:nvPr/>
        </p:nvSpPr>
        <p:spPr>
          <a:xfrm rot="-180000">
            <a:off x="320040" y="1371600"/>
            <a:ext cx="2240280" cy="457200"/>
          </a:xfrm>
          <a:prstGeom prst="homePlate">
            <a:avLst/>
          </a:prstGeom>
          <a:solidFill>
            <a:srgbClr val="F59E0B"/>
          </a:solidFill>
          <a:ln w="31750">
            <a:solidFill>
              <a:srgbClr val="111111"/>
            </a:solidFill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WATCH!</a:t>
            </a:r>
            <a:pPr indent="0" marL="0">
              <a:buNone/>
            </a:pPr>
            <a:r>
              <a:rPr lang="en-US" sz="1000" dirty="0">
                <a:solidFill>
                  <a:srgbClr val="FFF3B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 GUARDA!</a:t>
            </a:r>
            <a:endParaRPr lang="en-US" sz="1500" dirty="0"/>
          </a:p>
        </p:txBody>
      </p:sp>
      <p:sp>
        <p:nvSpPr>
          <p:cNvPr id="11" name="signB_219"/>
          <p:cNvSpPr txBox="1"/>
          <p:nvPr/>
        </p:nvSpPr>
        <p:spPr>
          <a:xfrm rot="120000">
            <a:off x="365760" y="1938528"/>
            <a:ext cx="2240280" cy="1051560"/>
          </a:xfrm>
          <a:prstGeom prst="rect">
            <a:avLst/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Watch. Write one rule for each C.</a:t>
            </a:r>
            <a:endParaRPr lang="en-US" sz="1250" dirty="0"/>
          </a:p>
          <a:p>
            <a:pPr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Guarda. Scrivi una regola per ogni C.</a:t>
            </a:r>
            <a:endParaRPr lang="en-US" sz="1250" dirty="0"/>
          </a:p>
        </p:txBody>
      </p:sp>
      <p:sp>
        <p:nvSpPr>
          <p:cNvPr id="12" name="screen_220"/>
          <p:cNvSpPr/>
          <p:nvPr/>
        </p:nvSpPr>
        <p:spPr>
          <a:xfrm>
            <a:off x="2788920" y="1371600"/>
            <a:ext cx="2743200" cy="1874520"/>
          </a:xfrm>
          <a:prstGeom prst="roundRect">
            <a:avLst>
              <a:gd name="adj" fmla="val 4878"/>
            </a:avLst>
          </a:prstGeom>
          <a:solidFill>
            <a:srgbClr val="1F1630"/>
          </a:solidFill>
          <a:ln w="31750">
            <a:solidFill>
              <a:srgbClr val="111111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play_221">
            <a:hlinkClick r:id="rId3" tooltip="The four Cs of food safety"/>
          </p:cNvPr>
          <p:cNvSpPr txBox="1"/>
          <p:nvPr/>
        </p:nvSpPr>
        <p:spPr>
          <a:xfrm>
            <a:off x="3749040" y="1874520"/>
            <a:ext cx="822960" cy="822960"/>
          </a:xfrm>
          <a:prstGeom prst="ellipse">
            <a:avLst/>
          </a:prstGeom>
          <a:solidFill>
            <a:srgbClr val="EF2F2F"/>
          </a:solidFill>
          <a:ln w="19050">
            <a:solidFill>
              <a:srgbClr val="11111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The four Cs of food safet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</a:t>
            </a:r>
            <a:endParaRPr lang="en-US" sz="2600" dirty="0"/>
          </a:p>
        </p:txBody>
      </p:sp>
      <p:sp>
        <p:nvSpPr>
          <p:cNvPr id="14" name="vt_222"/>
          <p:cNvSpPr txBox="1"/>
          <p:nvPr/>
        </p:nvSpPr>
        <p:spPr>
          <a:xfrm>
            <a:off x="2788920" y="3310128"/>
            <a:ext cx="2743200" cy="658368"/>
          </a:xfrm>
          <a:prstGeom prst="rect">
            <a:avLst/>
          </a:prstGeom>
          <a:solidFill>
            <a:srgbClr val="FFFFFF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indent="0" marL="0">
              <a:buNone/>
            </a:pPr>
            <a:r>
              <a:rPr lang="en-US" sz="1200" b="1" u="sng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four Cs of food safety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(UN) · short · click ▶ to open</a:t>
            </a:r>
            <a:endParaRPr lang="en-US" sz="1200" dirty="0"/>
          </a:p>
        </p:txBody>
      </p:sp>
      <p:sp>
        <p:nvSpPr>
          <p:cNvPr id="15" name="wyw_223"/>
          <p:cNvSpPr txBox="1"/>
          <p:nvPr/>
        </p:nvSpPr>
        <p:spPr>
          <a:xfrm>
            <a:off x="5669280" y="1371600"/>
            <a:ext cx="3154680" cy="347472"/>
          </a:xfrm>
          <a:prstGeom prst="rect">
            <a:avLst/>
          </a:prstGeom>
          <a:solidFill>
            <a:srgbClr val="F59E0B"/>
          </a:solidFill>
          <a:ln w="19050">
            <a:solidFill>
              <a:srgbClr val="11111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While you watch · Mentre guardi</a:t>
            </a:r>
            <a:endParaRPr lang="en-US" sz="1150" dirty="0"/>
          </a:p>
        </p:txBody>
      </p:sp>
      <p:sp>
        <p:nvSpPr>
          <p:cNvPr id="16" name="box_224"/>
          <p:cNvSpPr txBox="1"/>
          <p:nvPr/>
        </p:nvSpPr>
        <p:spPr>
          <a:xfrm>
            <a:off x="5669280" y="1810512"/>
            <a:ext cx="3154680" cy="635508"/>
          </a:xfrm>
          <a:prstGeom prst="rect">
            <a:avLst/>
          </a:prstGeom>
          <a:solidFill>
            <a:srgbClr val="E0F2FE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Cleaning: you must…</a:t>
            </a:r>
            <a:endParaRPr lang="en-US" sz="1250" dirty="0"/>
          </a:p>
        </p:txBody>
      </p:sp>
      <p:sp>
        <p:nvSpPr>
          <p:cNvPr id="17" name="box_225"/>
          <p:cNvSpPr txBox="1"/>
          <p:nvPr/>
        </p:nvSpPr>
        <p:spPr>
          <a:xfrm>
            <a:off x="5669280" y="2537460"/>
            <a:ext cx="3154680" cy="635508"/>
          </a:xfrm>
          <a:prstGeom prst="rect">
            <a:avLst/>
          </a:prstGeom>
          <a:solidFill>
            <a:srgbClr val="FCE7F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Cooking: you must…</a:t>
            </a:r>
            <a:endParaRPr lang="en-US" sz="1250" dirty="0"/>
          </a:p>
        </p:txBody>
      </p:sp>
      <p:sp>
        <p:nvSpPr>
          <p:cNvPr id="18" name="box_226"/>
          <p:cNvSpPr txBox="1"/>
          <p:nvPr/>
        </p:nvSpPr>
        <p:spPr>
          <a:xfrm>
            <a:off x="5669280" y="3264408"/>
            <a:ext cx="3154680" cy="635508"/>
          </a:xfrm>
          <a:prstGeom prst="rect">
            <a:avLst/>
          </a:prstGeom>
          <a:solidFill>
            <a:srgbClr val="FEF9C3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Chilling: you mustn't…</a:t>
            </a:r>
            <a:endParaRPr lang="en-US" sz="1250" dirty="0"/>
          </a:p>
        </p:txBody>
      </p:sp>
      <p:sp>
        <p:nvSpPr>
          <p:cNvPr id="19" name="box_227"/>
          <p:cNvSpPr txBox="1"/>
          <p:nvPr/>
        </p:nvSpPr>
        <p:spPr>
          <a:xfrm>
            <a:off x="5669280" y="3991356"/>
            <a:ext cx="3154680" cy="635508"/>
          </a:xfrm>
          <a:prstGeom prst="rect">
            <a:avLst/>
          </a:prstGeom>
          <a:solidFill>
            <a:srgbClr val="DCFCE7"/>
          </a:solidFill>
          <a:ln w="15875">
            <a:solidFill>
              <a:srgbClr val="111111"/>
            </a:solidFill>
          </a:ln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Cross-contamination: you mustn't…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London Language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Kitchen English L7 Health &amp; safety</dc:title>
  <dc:subject>PptxGenJS Presentation</dc:subject>
  <dc:creator>London Language School</dc:creator>
  <cp:lastModifiedBy>London Language School</cp:lastModifiedBy>
  <cp:revision>1</cp:revision>
  <dcterms:created xsi:type="dcterms:W3CDTF">2026-10-05T06:50:57Z</dcterms:created>
  <dcterms:modified xsi:type="dcterms:W3CDTF">2026-10-05T06:50:57Z</dcterms:modified>
</cp:coreProperties>
</file>