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1B (60 min). ⚠ Built without the Student's Book page images: it follows the SB 1B syllabus (present simple; describing people – appearance and personality, Vocabulary Bank p.150; final -s/-es) and uses the REAL SB p.8 reading 'Please date my dad' on the slides, so you don't need the book. If you have the SB audio, the reading is also recorded — otherwise read it aloud yourself. Aims: describe appearance and personality; use the present simple (he/she +s, doesn't, does…?) accurately; pronounce -s/-es (/s/ /z/ /ɪz/). Timing: cover 2 · opinions 5 · appearance 5 · personality 5 · predict 2 · reading 1 6 · reading 2 5 · notice 4 · rule 3 · -s sounds 5 · error hunt 4 · matchmaker 9 · exit 3 = 58 min. Click 1: question; 2–3 quick answers BEFORE click 2. RETRIEVAL from 1A first (1 min): 'Ask your partner two questions from last lesson – correct word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LEAD-IN (5 min). Adults have opinions about this! Pairs discuss (3 min), then a quick class vote on each (hands up: agree / no way). Push for a reason: 'Why?' 'Has it happened to you or a friend?' Statement 5 is a nice light debate (and comes up in the text). Feed in 'It depends' — very useful. Don't correct grammar yet; note present simple errors (he think, she don't…) for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 (4 min). Picture first: point to each person – students say what they can, then click 1 for all the sentences. Highlight the two patterns: He's / She's + tall, short, slim, bald · He / She HAS + hair, eyes, a beard. Polite: 'a bit overweight' (fat is rude about people).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PRACTICE (4 min). Retrieval with L1 prompts, straight after the pictures (most students know some of these). Pairs write, then click 1 for all answers. Pronounce: beard /bɪəd/, moustache /məˈstɑːʃ/, height /haɪt/, bald /bɔːld/, straight /streɪt/. Italian traps: 'capelli' is plural but HAIR is singular and uncountable (her hair is long — NOT hairs); He HAS (got) blue eyes (not 'He is blue eyes'); adjective BEFORE the noun: long straight hair. Quick practice: describe the teacher! Then: 'Describe a famous person in 2 sentences — your partner guesses.' Polite vs rude: 'fat' is rude about people → 'a bit overweight'.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PERSONALITY (5 min). Pairs write (2 min), click 1 = all answers. Opposites quickly (say, don't show): talkative ↔ quiet, generous ↔ mean, lazy ↔ hard-working, shy ↔ extrovert, friendly ↔ unfriendly, kind ↔ unkind, funny ↔ serious. KEY Italian false friend: 'sympathetic' = comprensivo, NOT simpatico → say 'nice / friendly / fun'. 'Mean' in British English = tirchio (also 'cattivo'). Quick personalisation (1 min): 'Which adjective is you? Which is your partner (be kind!)?'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PREDICT (2 min). Students write a guess for each question — committing to a guess makes them read with a purpose. Take 2–3 guesses for each, no answers yet. Click shows 'read and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1 (6 min). Students read alone (2–3 min) — first: were their guesses right? Then the questions in pairs. Click 1: answers. Vocabulary in passing: got divorced (ha divorziato), remarried, end up alone (finire da solo), very close (molto legati). Point to the present simple without explaining yet: 'They often go out', 'Charlotte thinks', 'he agrees' — 'we'll come back to these'.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2 (5 min). Shortened from the SB text (same story). Read alone, pairs answer, click 1. Q5 = opinion/inference: no right answer. Link back to the lead-in: 'He's always the one who pays' — remember statement 5? Is Charlotte right that her dad is 'the perfect man'? Would YOU write a profile for your dad/mum/friend? Then: underline all the verbs with -s in the text (knows, pays, thinks, agrees, needs, says) — that's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NOTICE (4 min). One click per line. Before each click ask the class: 'Why THINKS with s?' 'Why no s in doesn't WANT?' Students hypothesise first. The key idea: the -s appears ONCE — on the verb OR on does/doesn't, never both ('She doesn't wants' ✗). Adverbs of frequency: before the main verb (They often go out) but after be (He's always…).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RULE (3 min). Quick — students have seen most of this before; the problem is ACCURACY, not knowledge. Concept check: 'Where's the s in a negative? (on doesn't)' 'In a question? (on does)'. Spelling: -es after ch/sh/s/x/o (watches, goes); consonant + y → ies (studies); have → has. 10-second Italian note: in Italian every person has its own ending — in English only he/she/it changes, so it's easy to forget!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PRONUNCIATION (5 min). Say each verb; students guess the group BEFORE each click. Rule of thumb: /ɪz/ (extra syllable) only after s, z, sh, ch, ge, x sounds; /s/ after voiceless sounds (p t k f); /z/ after the rest. Most important for Italians: 1) don't add a vowel at the end (thinks-e, likes-e); 2) DO say the -s — Italians often drop it in speech ('he think'), and that sounds like a grammar mistake. Drill: 'He thinks… She watches… It goes…' fast, round the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ERROR HUNT (4 min). Real Italian-speaker errors. Pairs correct, one click per answer (ask a pair first). Team points if energy is low. Number 5 is meaning, not grammar — accept nice/friendly/kind/fun.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(9 min). Mingle — real, adult and fun, and it recycles everything: appearance, personality and the present simple (he/she +s, doesn't, does…?). Give 2 min to plan (notes, NOT full sentences). Mingle 5 min (2–3 partners). Monitor for -s and doesn't; correct at the end. Support: the example on the slide; the adjectives slide. Challenge: 'Say one thing your friend DOESN'T do and one thing they NEVER do.' Feedback (2 min): best matches + 2 errors on the 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(3 min). Self-rating. Homework: the dating profile in exercise 3 is the most useful bit — tell students you'll read the best ones (anonymously) next lesson. Hand in on the LLS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EXTRA (6 min) if you have time. Describers must use appearance + personality + present simple ('He doesn't speak much. He's got short dark hair…'). You can replace the people with local celebrities your students know. IMPORTANT: guessers must not see the screen. Check they have turned round BEFORE you click each card. Every card is on its own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Card 1. Check the guessers can't see the screen, THEN click to show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Card 2. Check the guessers can't see the screen, THEN click to show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Card 3. Check the guessers can't see the screen, THEN click to show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Card 4. Check the guessers can't see the screen, THEN click to show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Card 5. Check the guessers can't see the screen, THEN click to show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Card 6. Check the guessers can't see the screen, THEN click to show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image" Target="../media/image-3-10.png"/><Relationship Id="rId11" Type="http://schemas.openxmlformats.org/officeDocument/2006/relationships/image" Target="../media/image-3-11.png"/><Relationship Id="rId12" Type="http://schemas.openxmlformats.org/officeDocument/2006/relationships/image" Target="../media/image-3-12.png"/><Relationship Id="rId13" Type="http://schemas.openxmlformats.org/officeDocument/2006/relationships/slideLayout" Target="../slideLayouts/slideLayout1.xml"/><Relationship Id="rId1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png"/><Relationship Id="rId2" Type="http://schemas.openxmlformats.org/officeDocument/2006/relationships/image" Target="../media/image-20-2.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Slide-21-image-1.png"/><Relationship Id="rId2" Type="http://schemas.openxmlformats.org/officeDocument/2006/relationships/image" Target="../media/image-21-2.pn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1"/>
          <p:cNvSpPr/>
          <p:nvPr/>
        </p:nvSpPr>
        <p:spPr>
          <a:xfrm>
            <a:off x="54864" y="54864"/>
            <a:ext cx="9034272" cy="5033772"/>
          </a:xfrm>
          <a:prstGeom prst="rect">
            <a:avLst/>
          </a:prstGeom>
          <a:ln w="114300">
            <a:solidFill>
              <a:srgbClr val="FDBA74"/>
            </a:solidFill>
            <a:prstDash val="solid"/>
          </a:ln>
        </p:spPr>
      </p:sp>
      <p:sp>
        <p:nvSpPr>
          <p:cNvPr id="4" name="logoBack_2"/>
          <p:cNvSpPr/>
          <p:nvPr/>
        </p:nvSpPr>
        <p:spPr>
          <a:xfrm>
            <a:off x="8229600" y="155448"/>
            <a:ext cx="676656" cy="676656"/>
          </a:xfrm>
          <a:prstGeom prst="ellipse">
            <a:avLst/>
          </a:prstGeom>
          <a:solidFill>
            <a:srgbClr val="FFFFFF"/>
          </a:solidFill>
          <a:ln w="25400">
            <a:solidFill>
              <a:srgbClr val="FDBA74"/>
            </a:solidFill>
            <a:prstDash val="solid"/>
          </a:ln>
        </p:spPr>
      </p:sp>
      <p:pic>
        <p:nvPicPr>
          <p:cNvPr id="5" name="logo_3"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6" name="footer_4"/>
          <p:cNvSpPr txBox="1"/>
          <p:nvPr/>
        </p:nvSpPr>
        <p:spPr>
          <a:xfrm>
            <a:off x="7132320" y="4818888"/>
            <a:ext cx="1737360" cy="219456"/>
          </a:xfrm>
          <a:prstGeom prst="rect">
            <a:avLst/>
          </a:prstGeom>
          <a:solidFill>
            <a:srgbClr val="2E1065"/>
          </a:solidFill>
          <a:ln/>
        </p:spPr>
        <p:txBody>
          <a:bodyPr wrap="square" lIns="0" tIns="0" rIns="0" bIns="0" rtlCol="0" anchor="ctr"/>
          <a:lstStyle/>
          <a:p>
            <a:pPr algn="ctr" indent="0" marL="0">
              <a:buNone/>
            </a:pPr>
            <a:r>
              <a:rPr lang="en-US" sz="1000" dirty="0">
                <a:solidFill>
                  <a:srgbClr val="E9E2FB"/>
                </a:solidFill>
                <a:latin typeface="Calibri" pitchFamily="34" charset="0"/>
                <a:ea typeface="Calibri" pitchFamily="34" charset="-122"/>
                <a:cs typeface="Calibri" pitchFamily="34" charset="-120"/>
              </a:rPr>
              <a:t>1B · Part 1</a:t>
            </a:r>
            <a:endParaRPr lang="en-US" sz="1000" dirty="0"/>
          </a:p>
        </p:txBody>
      </p:sp>
      <p:sp>
        <p:nvSpPr>
          <p:cNvPr id="7" name="unit_5"/>
          <p:cNvSpPr txBox="1"/>
          <p:nvPr/>
        </p:nvSpPr>
        <p:spPr>
          <a:xfrm>
            <a:off x="411480" y="320040"/>
            <a:ext cx="1737360" cy="914400"/>
          </a:xfrm>
          <a:prstGeom prst="rect">
            <a:avLst/>
          </a:prstGeom>
          <a:noFill/>
          <a:ln/>
        </p:spPr>
        <p:txBody>
          <a:bodyPr wrap="square" rtlCol="0" anchor="ctr">
            <a:normAutofit/>
          </a:bodyPr>
          <a:lstStyle/>
          <a:p>
            <a:pPr indent="0" marL="0">
              <a:buNone/>
            </a:pPr>
            <a:r>
              <a:rPr lang="en-US" sz="4600" dirty="0">
                <a:solidFill>
                  <a:srgbClr val="FFD84D"/>
                </a:solidFill>
                <a:latin typeface="Arial Black" pitchFamily="34" charset="0"/>
                <a:ea typeface="Arial Black" pitchFamily="34" charset="-122"/>
                <a:cs typeface="Arial Black" pitchFamily="34" charset="-120"/>
              </a:rPr>
              <a:t>1B</a:t>
            </a:r>
            <a:endParaRPr lang="en-US" sz="4600" dirty="0"/>
          </a:p>
        </p:txBody>
      </p:sp>
      <p:sp>
        <p:nvSpPr>
          <p:cNvPr id="8" name="course_6"/>
          <p:cNvSpPr txBox="1"/>
          <p:nvPr/>
        </p:nvSpPr>
        <p:spPr>
          <a:xfrm>
            <a:off x="2103120" y="566928"/>
            <a:ext cx="3840480" cy="365760"/>
          </a:xfrm>
          <a:prstGeom prst="rect">
            <a:avLst/>
          </a:prstGeom>
          <a:noFill/>
          <a:ln/>
        </p:spPr>
        <p:txBody>
          <a:bodyPr wrap="square" rtlCol="0" anchor="ctr"/>
          <a:lstStyle/>
          <a:p>
            <a:pPr indent="0" marL="0">
              <a:buNone/>
            </a:pPr>
            <a:r>
              <a:rPr lang="en-US" sz="800" dirty="0">
                <a:solidFill>
                  <a:srgbClr val="E9E2FB"/>
                </a:solidFill>
                <a:latin typeface="Arial Black" pitchFamily="34" charset="0"/>
                <a:ea typeface="Arial Black" pitchFamily="34" charset="-122"/>
                <a:cs typeface="Arial Black" pitchFamily="34" charset="-120"/>
              </a:rPr>
              <a:t>ENGLISH FILE PRE-INT (A2) · 1B · Part 1 · SB pp.8–9 · VB p.150</a:t>
            </a:r>
            <a:endParaRPr lang="en-US" sz="800" dirty="0"/>
          </a:p>
        </p:txBody>
      </p:sp>
      <p:sp>
        <p:nvSpPr>
          <p:cNvPr id="9" name="title_7"/>
          <p:cNvSpPr txBox="1"/>
          <p:nvPr/>
        </p:nvSpPr>
        <p:spPr>
          <a:xfrm rot="-180000">
            <a:off x="411480" y="1325880"/>
            <a:ext cx="4837176" cy="777240"/>
          </a:xfrm>
          <a:prstGeom prst="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152400" tIns="152400" rIns="152400" bIns="152400" rtlCol="0" anchor="ctr"/>
          <a:lstStyle/>
          <a:p>
            <a:pPr indent="0" marL="0">
              <a:buNone/>
            </a:pPr>
            <a:r>
              <a:rPr lang="en-US" sz="2650" dirty="0">
                <a:solidFill>
                  <a:srgbClr val="111111"/>
                </a:solidFill>
                <a:latin typeface="Arial Black" pitchFamily="34" charset="0"/>
                <a:ea typeface="Arial Black" pitchFamily="34" charset="-122"/>
                <a:cs typeface="Arial Black" pitchFamily="34" charset="-120"/>
              </a:rPr>
              <a:t>THE PERFECT DATE?</a:t>
            </a:r>
            <a:endParaRPr lang="en-US" sz="2650" dirty="0"/>
          </a:p>
        </p:txBody>
      </p:sp>
      <p:sp>
        <p:nvSpPr>
          <p:cNvPr id="10" name="stamp_8"/>
          <p:cNvSpPr txBox="1"/>
          <p:nvPr/>
        </p:nvSpPr>
        <p:spPr>
          <a:xfrm>
            <a:off x="457200" y="2468880"/>
            <a:ext cx="2852928" cy="384048"/>
          </a:xfrm>
          <a:prstGeom prst="roundRect">
            <a:avLst>
              <a:gd name="adj" fmla="val 14286"/>
            </a:avLst>
          </a:prstGeom>
          <a:solidFill>
            <a:srgbClr val="2E1065"/>
          </a:solidFill>
          <a:ln w="38100">
            <a:solidFill>
              <a:srgbClr val="48BDF2"/>
            </a:solidFill>
          </a:ln>
        </p:spPr>
        <p:txBody>
          <a:bodyPr wrap="square" lIns="25400" tIns="25400" rIns="25400" bIns="25400" rtlCol="0" anchor="ctr"/>
          <a:lstStyle/>
          <a:p>
            <a:pPr algn="ctr" indent="0" marL="0">
              <a:buNone/>
            </a:pPr>
            <a:r>
              <a:rPr lang="en-US" sz="1200" dirty="0">
                <a:solidFill>
                  <a:srgbClr val="FFFFFF"/>
                </a:solidFill>
                <a:latin typeface="Arial Black" pitchFamily="34" charset="0"/>
                <a:ea typeface="Arial Black" pitchFamily="34" charset="-122"/>
                <a:cs typeface="Arial Black" pitchFamily="34" charset="-120"/>
              </a:rPr>
              <a:t>GRAMMAR · present simple</a:t>
            </a:r>
            <a:endParaRPr lang="en-US" sz="1200" dirty="0"/>
          </a:p>
        </p:txBody>
      </p:sp>
      <p:sp>
        <p:nvSpPr>
          <p:cNvPr id="11" name="stamp_9"/>
          <p:cNvSpPr txBox="1"/>
          <p:nvPr/>
        </p:nvSpPr>
        <p:spPr>
          <a:xfrm>
            <a:off x="457200" y="2944368"/>
            <a:ext cx="3429000" cy="384048"/>
          </a:xfrm>
          <a:prstGeom prst="roundRect">
            <a:avLst>
              <a:gd name="adj" fmla="val 14286"/>
            </a:avLst>
          </a:prstGeom>
          <a:solidFill>
            <a:srgbClr val="2E1065"/>
          </a:solidFill>
          <a:ln w="38100">
            <a:solidFill>
              <a:srgbClr val="1FA463"/>
            </a:solidFill>
          </a:ln>
        </p:spPr>
        <p:txBody>
          <a:bodyPr wrap="square" lIns="25400" tIns="25400" rIns="25400" bIns="25400" rtlCol="0" anchor="ctr"/>
          <a:lstStyle/>
          <a:p>
            <a:pPr algn="ctr" indent="0" marL="0">
              <a:buNone/>
            </a:pPr>
            <a:r>
              <a:rPr lang="en-US" sz="1200" dirty="0">
                <a:solidFill>
                  <a:srgbClr val="FFFFFF"/>
                </a:solidFill>
                <a:latin typeface="Arial Black" pitchFamily="34" charset="0"/>
                <a:ea typeface="Arial Black" pitchFamily="34" charset="-122"/>
                <a:cs typeface="Arial Black" pitchFamily="34" charset="-120"/>
              </a:rPr>
              <a:t>VOCABULARY · describing people</a:t>
            </a:r>
            <a:endParaRPr lang="en-US" sz="1200" dirty="0"/>
          </a:p>
        </p:txBody>
      </p:sp>
      <p:sp>
        <p:nvSpPr>
          <p:cNvPr id="12" name="stamp_10"/>
          <p:cNvSpPr txBox="1"/>
          <p:nvPr/>
        </p:nvSpPr>
        <p:spPr>
          <a:xfrm>
            <a:off x="457200" y="3419856"/>
            <a:ext cx="3621024" cy="384048"/>
          </a:xfrm>
          <a:prstGeom prst="roundRect">
            <a:avLst>
              <a:gd name="adj" fmla="val 14286"/>
            </a:avLst>
          </a:prstGeom>
          <a:solidFill>
            <a:srgbClr val="2E1065"/>
          </a:solidFill>
          <a:ln w="38100">
            <a:solidFill>
              <a:srgbClr val="EF2F2F"/>
            </a:solidFill>
          </a:ln>
        </p:spPr>
        <p:txBody>
          <a:bodyPr wrap="square" lIns="25400" tIns="25400" rIns="25400" bIns="25400" rtlCol="0" anchor="ctr"/>
          <a:lstStyle/>
          <a:p>
            <a:pPr algn="ctr" indent="0" marL="0">
              <a:buNone/>
            </a:pPr>
            <a:r>
              <a:rPr lang="en-US" sz="1200" dirty="0">
                <a:solidFill>
                  <a:srgbClr val="FFFFFF"/>
                </a:solidFill>
                <a:latin typeface="Arial Black" pitchFamily="34" charset="0"/>
                <a:ea typeface="Arial Black" pitchFamily="34" charset="-122"/>
                <a:cs typeface="Arial Black" pitchFamily="34" charset="-120"/>
              </a:rPr>
              <a:t>PRONUNCIATION · final -s and -es</a:t>
            </a:r>
            <a:endParaRPr lang="en-US" sz="1200" dirty="0"/>
          </a:p>
        </p:txBody>
      </p:sp>
      <p:sp>
        <p:nvSpPr>
          <p:cNvPr id="13" name="iconBack_11"/>
          <p:cNvSpPr/>
          <p:nvPr/>
        </p:nvSpPr>
        <p:spPr>
          <a:xfrm>
            <a:off x="5669280" y="685800"/>
            <a:ext cx="1737360" cy="1737360"/>
          </a:xfrm>
          <a:prstGeom prst="ellipse">
            <a:avLst/>
          </a:prstGeom>
          <a:solidFill>
            <a:srgbClr val="FFD84D"/>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14" name="icon_12" descr="pi:PiHeart">    </p:cNvPr>
          <p:cNvPicPr>
            <a:picLocks noChangeAspect="1"/>
          </p:cNvPicPr>
          <p:nvPr/>
        </p:nvPicPr>
        <p:blipFill>
          <a:blip r:embed="rId3"/>
          <a:stretch>
            <a:fillRect/>
          </a:stretch>
        </p:blipFill>
        <p:spPr>
          <a:xfrm>
            <a:off x="6016752" y="1033272"/>
            <a:ext cx="1042416" cy="1042416"/>
          </a:xfrm>
          <a:prstGeom prst="rect">
            <a:avLst/>
          </a:prstGeom>
        </p:spPr>
      </p:pic>
      <p:sp>
        <p:nvSpPr>
          <p:cNvPr id="15" name="iconBack_13"/>
          <p:cNvSpPr/>
          <p:nvPr/>
        </p:nvSpPr>
        <p:spPr>
          <a:xfrm>
            <a:off x="7315200" y="1508760"/>
            <a:ext cx="1097280" cy="1097280"/>
          </a:xfrm>
          <a:prstGeom prst="ellipse">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16" name="icon_14" descr="pi:PiUsersThree">    </p:cNvPr>
          <p:cNvPicPr>
            <a:picLocks noChangeAspect="1"/>
          </p:cNvPicPr>
          <p:nvPr/>
        </p:nvPicPr>
        <p:blipFill>
          <a:blip r:embed="rId4"/>
          <a:stretch>
            <a:fillRect/>
          </a:stretch>
        </p:blipFill>
        <p:spPr>
          <a:xfrm>
            <a:off x="7534656" y="1728216"/>
            <a:ext cx="658368" cy="658368"/>
          </a:xfrm>
          <a:prstGeom prst="rect">
            <a:avLst/>
          </a:prstGeom>
        </p:spPr>
      </p:pic>
      <p:sp>
        <p:nvSpPr>
          <p:cNvPr id="17" name="iconBack_15"/>
          <p:cNvSpPr/>
          <p:nvPr/>
        </p:nvSpPr>
        <p:spPr>
          <a:xfrm>
            <a:off x="5486400" y="2514600"/>
            <a:ext cx="960120" cy="960120"/>
          </a:xfrm>
          <a:prstGeom prst="ellipse">
            <a:avLst/>
          </a:prstGeom>
          <a:solidFill>
            <a:srgbClr val="FDBA74"/>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18" name="icon_16" descr="pi:PiDeviceMobile">    </p:cNvPr>
          <p:cNvPicPr>
            <a:picLocks noChangeAspect="1"/>
          </p:cNvPicPr>
          <p:nvPr/>
        </p:nvPicPr>
        <p:blipFill>
          <a:blip r:embed="rId5"/>
          <a:stretch>
            <a:fillRect/>
          </a:stretch>
        </p:blipFill>
        <p:spPr>
          <a:xfrm>
            <a:off x="5678424" y="2706624"/>
            <a:ext cx="576072" cy="576072"/>
          </a:xfrm>
          <a:prstGeom prst="rect">
            <a:avLst/>
          </a:prstGeom>
        </p:spPr>
      </p:pic>
      <p:sp>
        <p:nvSpPr>
          <p:cNvPr id="19" name="R1_q"/>
          <p:cNvSpPr txBox="1"/>
          <p:nvPr/>
        </p:nvSpPr>
        <p:spPr>
          <a:xfrm>
            <a:off x="5120640" y="3337560"/>
            <a:ext cx="2377440" cy="777240"/>
          </a:xfrm>
          <a:prstGeom prst="wedgeRoundRectCallout">
            <a:avLst/>
          </a:prstGeom>
          <a:solidFill>
            <a:srgbClr val="48BDF2"/>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algn="ctr" indent="0" marL="0">
              <a:buNone/>
            </a:pPr>
            <a:r>
              <a:rPr lang="en-US" sz="1250" b="1" dirty="0">
                <a:solidFill>
                  <a:srgbClr val="111111"/>
                </a:solidFill>
                <a:latin typeface="Calibri" pitchFamily="34" charset="0"/>
                <a:ea typeface="Calibri" pitchFamily="34" charset="-122"/>
                <a:cs typeface="Calibri" pitchFamily="34" charset="-120"/>
              </a:rPr>
              <a:t>Would you let your children choose a partner for you?</a:t>
            </a:r>
            <a:endParaRPr lang="en-US" sz="1250" dirty="0"/>
          </a:p>
        </p:txBody>
      </p:sp>
      <p:sp>
        <p:nvSpPr>
          <p:cNvPr id="20" name="R2_a"/>
          <p:cNvSpPr txBox="1"/>
          <p:nvPr/>
        </p:nvSpPr>
        <p:spPr>
          <a:xfrm>
            <a:off x="6629400" y="4069080"/>
            <a:ext cx="2148840" cy="594360"/>
          </a:xfrm>
          <a:prstGeom prst="wedgeRoundRectCallou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algn="ctr" indent="0" marL="0">
              <a:buNone/>
            </a:pPr>
            <a:r>
              <a:rPr lang="en-US" sz="1300" b="1" dirty="0">
                <a:solidFill>
                  <a:srgbClr val="111111"/>
                </a:solidFill>
                <a:latin typeface="Calibri" pitchFamily="34" charset="0"/>
                <a:ea typeface="Calibri" pitchFamily="34" charset="-122"/>
                <a:cs typeface="Calibri" pitchFamily="34" charset="-120"/>
              </a:rPr>
              <a:t>Never! …or maybe? 😄</a:t>
            </a:r>
            <a:endParaRPr lang="en-US" sz="1300" dirty="0"/>
          </a:p>
        </p:txBody>
      </p:sp>
      <p:sp>
        <p:nvSpPr>
          <p:cNvPr id="21" name="tnote_17"/>
          <p:cNvSpPr txBox="1"/>
          <p:nvPr/>
        </p:nvSpPr>
        <p:spPr>
          <a:xfrm>
            <a:off x="411480" y="4773168"/>
            <a:ext cx="5029200" cy="237744"/>
          </a:xfrm>
          <a:prstGeom prst="rect">
            <a:avLst/>
          </a:prstGeom>
          <a:noFill/>
          <a:ln/>
        </p:spPr>
        <p:txBody>
          <a:bodyPr wrap="square" rtlCol="0" anchor="ctr"/>
          <a:lstStyle/>
          <a:p>
            <a:pPr indent="0" marL="0">
              <a:buNone/>
            </a:pPr>
            <a:r>
              <a:rPr lang="en-US" sz="900" dirty="0">
                <a:solidFill>
                  <a:srgbClr val="E9E2FB"/>
                </a:solidFill>
                <a:latin typeface="Calibri" pitchFamily="34" charset="0"/>
                <a:ea typeface="Calibri" pitchFamily="34" charset="-122"/>
                <a:cs typeface="Calibri" pitchFamily="34" charset="-120"/>
              </a:rPr>
              <a:t>Teacher: timings, answers and tips are in the slide notes.</a:t>
            </a:r>
            <a:endParaRPr lang="en-US" sz="9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400"/>
                                        <p:tgtEl>
                                          <p:spTgt spid="1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18"/>
          <p:cNvSpPr/>
          <p:nvPr/>
        </p:nvSpPr>
        <p:spPr>
          <a:xfrm>
            <a:off x="54864" y="54864"/>
            <a:ext cx="9034272" cy="5033772"/>
          </a:xfrm>
          <a:prstGeom prst="rect">
            <a:avLst/>
          </a:prstGeom>
          <a:ln w="114300">
            <a:solidFill>
              <a:srgbClr val="FDBA74"/>
            </a:solidFill>
            <a:prstDash val="solid"/>
          </a:ln>
        </p:spPr>
      </p:sp>
      <p:pic>
        <p:nvPicPr>
          <p:cNvPr id="4" name="logo_19"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20"/>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LEAD-IN · Love in 2026</a:t>
            </a:r>
            <a:endParaRPr lang="en-US" sz="900" dirty="0"/>
          </a:p>
        </p:txBody>
      </p:sp>
      <p:sp>
        <p:nvSpPr>
          <p:cNvPr id="6" name="timer_21"/>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5 min</a:t>
            </a:r>
            <a:endParaRPr lang="en-US" sz="1200" dirty="0"/>
          </a:p>
        </p:txBody>
      </p:sp>
      <p:sp>
        <p:nvSpPr>
          <p:cNvPr id="7" name="footer_22"/>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1B · Part 1</a:t>
            </a:r>
            <a:endParaRPr lang="en-US" sz="1000" dirty="0"/>
          </a:p>
        </p:txBody>
      </p:sp>
      <p:sp>
        <p:nvSpPr>
          <p:cNvPr id="8" name="title_23"/>
          <p:cNvSpPr txBox="1"/>
          <p:nvPr/>
        </p:nvSpPr>
        <p:spPr>
          <a:xfrm rot="-120000">
            <a:off x="320040" y="676656"/>
            <a:ext cx="3282696" cy="530352"/>
          </a:xfrm>
          <a:prstGeom prst="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Agree or no way?</a:t>
            </a:r>
            <a:endParaRPr lang="en-US" sz="1500" dirty="0"/>
          </a:p>
        </p:txBody>
      </p:sp>
      <p:sp>
        <p:nvSpPr>
          <p:cNvPr id="9" name="post_24"/>
          <p:cNvSpPr/>
          <p:nvPr/>
        </p:nvSpPr>
        <p:spPr>
          <a:xfrm>
            <a:off x="429768" y="1554480"/>
            <a:ext cx="128016" cy="2194560"/>
          </a:xfrm>
          <a:prstGeom prst="rect">
            <a:avLst/>
          </a:prstGeom>
          <a:solidFill>
            <a:srgbClr val="8B5A2B"/>
          </a:solidFill>
          <a:ln w="31750">
            <a:solidFill>
              <a:srgbClr val="111111"/>
            </a:solidFill>
            <a:prstDash val="solid"/>
          </a:ln>
        </p:spPr>
      </p:sp>
      <p:sp>
        <p:nvSpPr>
          <p:cNvPr id="10" name="signA_25"/>
          <p:cNvSpPr txBox="1"/>
          <p:nvPr/>
        </p:nvSpPr>
        <p:spPr>
          <a:xfrm rot="-180000">
            <a:off x="320040" y="1371600"/>
            <a:ext cx="2240280" cy="457200"/>
          </a:xfrm>
          <a:prstGeom prst="homePlate">
            <a:avLst/>
          </a:prstGeom>
          <a:solidFill>
            <a:srgbClr val="EF2F2F"/>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SPEAK!</a:t>
            </a:r>
            <a:pPr indent="0" marL="0">
              <a:buNone/>
            </a:pPr>
            <a:r>
              <a:rPr lang="en-US" sz="1000" dirty="0">
                <a:solidFill>
                  <a:srgbClr val="FFF3B0"/>
                </a:solidFill>
                <a:latin typeface="Arial Black" pitchFamily="34" charset="0"/>
                <a:ea typeface="Arial Black" pitchFamily="34" charset="-122"/>
                <a:cs typeface="Arial Black" pitchFamily="34" charset="-120"/>
              </a:rPr>
              <a:t>  PARLA!</a:t>
            </a:r>
            <a:endParaRPr lang="en-US" sz="1500" dirty="0"/>
          </a:p>
        </p:txBody>
      </p:sp>
      <p:sp>
        <p:nvSpPr>
          <p:cNvPr id="11" name="signB_26"/>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50" dirty="0">
                <a:solidFill>
                  <a:srgbClr val="111111"/>
                </a:solidFill>
                <a:latin typeface="Calibri" pitchFamily="34" charset="0"/>
                <a:ea typeface="Calibri" pitchFamily="34" charset="-122"/>
                <a:cs typeface="Calibri" pitchFamily="34" charset="-120"/>
              </a:rPr>
              <a:t>Read. Agree or no way? Tell your partner WHY.</a:t>
            </a:r>
            <a:endParaRPr lang="en-US" sz="1250" dirty="0"/>
          </a:p>
          <a:p>
            <a:pPr indent="0" marL="0">
              <a:buNone/>
            </a:pPr>
            <a:r>
              <a:rPr lang="en-US" sz="1100" i="1" dirty="0">
                <a:solidFill>
                  <a:srgbClr val="334155"/>
                </a:solidFill>
                <a:latin typeface="Calibri" pitchFamily="34" charset="0"/>
                <a:ea typeface="Calibri" pitchFamily="34" charset="-122"/>
                <a:cs typeface="Calibri" pitchFamily="34" charset="-120"/>
              </a:rPr>
              <a:t>Leggi. D'accordo o no? Spiega PERCHÉ al compagno.</a:t>
            </a:r>
            <a:endParaRPr lang="en-US" sz="1250" dirty="0"/>
          </a:p>
        </p:txBody>
      </p:sp>
      <p:sp>
        <p:nvSpPr>
          <p:cNvPr id="12" name="iconBack_27"/>
          <p:cNvSpPr/>
          <p:nvPr/>
        </p:nvSpPr>
        <p:spPr>
          <a:xfrm>
            <a:off x="685800" y="3246120"/>
            <a:ext cx="1143000" cy="1143000"/>
          </a:xfrm>
          <a:prstGeom prst="ellipse">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13" name="icon_28" descr="pi:PiHeart">    </p:cNvPr>
          <p:cNvPicPr>
            <a:picLocks noChangeAspect="1"/>
          </p:cNvPicPr>
          <p:nvPr/>
        </p:nvPicPr>
        <p:blipFill>
          <a:blip r:embed="rId3"/>
          <a:stretch>
            <a:fillRect/>
          </a:stretch>
        </p:blipFill>
        <p:spPr>
          <a:xfrm>
            <a:off x="914400" y="3474720"/>
            <a:ext cx="685800" cy="685800"/>
          </a:xfrm>
          <a:prstGeom prst="rect">
            <a:avLst/>
          </a:prstGeom>
        </p:spPr>
      </p:pic>
      <p:sp>
        <p:nvSpPr>
          <p:cNvPr id="14" name="box_29"/>
          <p:cNvSpPr txBox="1"/>
          <p:nvPr/>
        </p:nvSpPr>
        <p:spPr>
          <a:xfrm>
            <a:off x="2788920" y="1371600"/>
            <a:ext cx="4572000" cy="466344"/>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350" b="1" dirty="0">
                <a:solidFill>
                  <a:srgbClr val="111111"/>
                </a:solidFill>
                <a:latin typeface="Calibri" pitchFamily="34" charset="0"/>
                <a:ea typeface="Calibri" pitchFamily="34" charset="-122"/>
                <a:cs typeface="Calibri" pitchFamily="34" charset="-120"/>
              </a:rPr>
              <a:t>"Parents know who is right for their children."</a:t>
            </a:r>
            <a:endParaRPr lang="en-US" sz="1350" dirty="0"/>
          </a:p>
        </p:txBody>
      </p:sp>
      <p:sp>
        <p:nvSpPr>
          <p:cNvPr id="15" name="stamp_30"/>
          <p:cNvSpPr txBox="1"/>
          <p:nvPr/>
        </p:nvSpPr>
        <p:spPr>
          <a:xfrm>
            <a:off x="7434072" y="1417320"/>
            <a:ext cx="658368" cy="374904"/>
          </a:xfrm>
          <a:prstGeom prst="roundRect">
            <a:avLst>
              <a:gd name="adj" fmla="val 14634"/>
            </a:avLst>
          </a:prstGeom>
          <a:solidFill>
            <a:srgbClr val="FFFFFF"/>
          </a:solidFill>
          <a:ln w="38100">
            <a:solidFill>
              <a:srgbClr val="1FA463"/>
            </a:solidFill>
          </a:ln>
        </p:spPr>
        <p:txBody>
          <a:bodyPr wrap="square" lIns="25400" tIns="25400" rIns="25400" bIns="25400" rtlCol="0" anchor="ctr"/>
          <a:lstStyle/>
          <a:p>
            <a:pPr algn="ctr" indent="0" marL="0">
              <a:buNone/>
            </a:pPr>
            <a:r>
              <a:rPr lang="en-US" sz="950" dirty="0">
                <a:solidFill>
                  <a:srgbClr val="1FA463"/>
                </a:solidFill>
                <a:latin typeface="Arial Black" pitchFamily="34" charset="0"/>
                <a:ea typeface="Arial Black" pitchFamily="34" charset="-122"/>
                <a:cs typeface="Arial Black" pitchFamily="34" charset="-120"/>
              </a:rPr>
              <a:t>AGREE</a:t>
            </a:r>
            <a:endParaRPr lang="en-US" sz="950" dirty="0"/>
          </a:p>
        </p:txBody>
      </p:sp>
      <p:sp>
        <p:nvSpPr>
          <p:cNvPr id="16" name="stamp_31"/>
          <p:cNvSpPr txBox="1"/>
          <p:nvPr/>
        </p:nvSpPr>
        <p:spPr>
          <a:xfrm>
            <a:off x="8129016" y="1417320"/>
            <a:ext cx="694944" cy="374904"/>
          </a:xfrm>
          <a:prstGeom prst="roundRect">
            <a:avLst>
              <a:gd name="adj" fmla="val 14634"/>
            </a:avLst>
          </a:prstGeom>
          <a:solidFill>
            <a:srgbClr val="FFFFFF"/>
          </a:solidFill>
          <a:ln w="38100">
            <a:solidFill>
              <a:srgbClr val="EF2F2F"/>
            </a:solidFill>
          </a:ln>
        </p:spPr>
        <p:txBody>
          <a:bodyPr wrap="square" lIns="25400" tIns="25400" rIns="25400" bIns="25400" rtlCol="0" anchor="ctr"/>
          <a:lstStyle/>
          <a:p>
            <a:pPr algn="ctr" indent="0" marL="0">
              <a:buNone/>
            </a:pPr>
            <a:r>
              <a:rPr lang="en-US" sz="950" dirty="0">
                <a:solidFill>
                  <a:srgbClr val="EF2F2F"/>
                </a:solidFill>
                <a:latin typeface="Arial Black" pitchFamily="34" charset="0"/>
                <a:ea typeface="Arial Black" pitchFamily="34" charset="-122"/>
                <a:cs typeface="Arial Black" pitchFamily="34" charset="-120"/>
              </a:rPr>
              <a:t>NO WAY</a:t>
            </a:r>
            <a:endParaRPr lang="en-US" sz="950" dirty="0"/>
          </a:p>
        </p:txBody>
      </p:sp>
      <p:sp>
        <p:nvSpPr>
          <p:cNvPr id="17" name="box_32"/>
          <p:cNvSpPr txBox="1"/>
          <p:nvPr/>
        </p:nvSpPr>
        <p:spPr>
          <a:xfrm>
            <a:off x="2788920" y="1929384"/>
            <a:ext cx="4572000" cy="466344"/>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300" b="1" dirty="0">
                <a:solidFill>
                  <a:srgbClr val="111111"/>
                </a:solidFill>
                <a:latin typeface="Calibri" pitchFamily="34" charset="0"/>
                <a:ea typeface="Calibri" pitchFamily="34" charset="-122"/>
                <a:cs typeface="Calibri" pitchFamily="34" charset="-120"/>
              </a:rPr>
              <a:t>"Online dating is better than meeting people in a bar."</a:t>
            </a:r>
            <a:endParaRPr lang="en-US" sz="1300" dirty="0"/>
          </a:p>
        </p:txBody>
      </p:sp>
      <p:sp>
        <p:nvSpPr>
          <p:cNvPr id="18" name="stamp_33"/>
          <p:cNvSpPr txBox="1"/>
          <p:nvPr/>
        </p:nvSpPr>
        <p:spPr>
          <a:xfrm>
            <a:off x="7434072" y="1975104"/>
            <a:ext cx="658368" cy="374904"/>
          </a:xfrm>
          <a:prstGeom prst="roundRect">
            <a:avLst>
              <a:gd name="adj" fmla="val 14634"/>
            </a:avLst>
          </a:prstGeom>
          <a:solidFill>
            <a:srgbClr val="FFFFFF"/>
          </a:solidFill>
          <a:ln w="38100">
            <a:solidFill>
              <a:srgbClr val="1FA463"/>
            </a:solidFill>
          </a:ln>
        </p:spPr>
        <p:txBody>
          <a:bodyPr wrap="square" lIns="25400" tIns="25400" rIns="25400" bIns="25400" rtlCol="0" anchor="ctr"/>
          <a:lstStyle/>
          <a:p>
            <a:pPr algn="ctr" indent="0" marL="0">
              <a:buNone/>
            </a:pPr>
            <a:r>
              <a:rPr lang="en-US" sz="950" dirty="0">
                <a:solidFill>
                  <a:srgbClr val="1FA463"/>
                </a:solidFill>
                <a:latin typeface="Arial Black" pitchFamily="34" charset="0"/>
                <a:ea typeface="Arial Black" pitchFamily="34" charset="-122"/>
                <a:cs typeface="Arial Black" pitchFamily="34" charset="-120"/>
              </a:rPr>
              <a:t>AGREE</a:t>
            </a:r>
            <a:endParaRPr lang="en-US" sz="950" dirty="0"/>
          </a:p>
        </p:txBody>
      </p:sp>
      <p:sp>
        <p:nvSpPr>
          <p:cNvPr id="19" name="stamp_34"/>
          <p:cNvSpPr txBox="1"/>
          <p:nvPr/>
        </p:nvSpPr>
        <p:spPr>
          <a:xfrm>
            <a:off x="8129016" y="1975104"/>
            <a:ext cx="694944" cy="374904"/>
          </a:xfrm>
          <a:prstGeom prst="roundRect">
            <a:avLst>
              <a:gd name="adj" fmla="val 14634"/>
            </a:avLst>
          </a:prstGeom>
          <a:solidFill>
            <a:srgbClr val="FFFFFF"/>
          </a:solidFill>
          <a:ln w="38100">
            <a:solidFill>
              <a:srgbClr val="EF2F2F"/>
            </a:solidFill>
          </a:ln>
        </p:spPr>
        <p:txBody>
          <a:bodyPr wrap="square" lIns="25400" tIns="25400" rIns="25400" bIns="25400" rtlCol="0" anchor="ctr"/>
          <a:lstStyle/>
          <a:p>
            <a:pPr algn="ctr" indent="0" marL="0">
              <a:buNone/>
            </a:pPr>
            <a:r>
              <a:rPr lang="en-US" sz="950" dirty="0">
                <a:solidFill>
                  <a:srgbClr val="EF2F2F"/>
                </a:solidFill>
                <a:latin typeface="Arial Black" pitchFamily="34" charset="0"/>
                <a:ea typeface="Arial Black" pitchFamily="34" charset="-122"/>
                <a:cs typeface="Arial Black" pitchFamily="34" charset="-120"/>
              </a:rPr>
              <a:t>NO WAY</a:t>
            </a:r>
            <a:endParaRPr lang="en-US" sz="950" dirty="0"/>
          </a:p>
        </p:txBody>
      </p:sp>
      <p:sp>
        <p:nvSpPr>
          <p:cNvPr id="20" name="box_35"/>
          <p:cNvSpPr txBox="1"/>
          <p:nvPr/>
        </p:nvSpPr>
        <p:spPr>
          <a:xfrm>
            <a:off x="2788920" y="2487168"/>
            <a:ext cx="4572000" cy="466344"/>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1150" b="1" dirty="0">
                <a:solidFill>
                  <a:srgbClr val="111111"/>
                </a:solidFill>
                <a:latin typeface="Calibri" pitchFamily="34" charset="0"/>
                <a:ea typeface="Calibri" pitchFamily="34" charset="-122"/>
                <a:cs typeface="Calibri" pitchFamily="34" charset="-120"/>
              </a:rPr>
              <a:t>"On a first date, looks are more important than personality."</a:t>
            </a:r>
            <a:endParaRPr lang="en-US" sz="1150" dirty="0"/>
          </a:p>
        </p:txBody>
      </p:sp>
      <p:sp>
        <p:nvSpPr>
          <p:cNvPr id="21" name="stamp_36"/>
          <p:cNvSpPr txBox="1"/>
          <p:nvPr/>
        </p:nvSpPr>
        <p:spPr>
          <a:xfrm>
            <a:off x="7434072" y="2532888"/>
            <a:ext cx="658368" cy="374904"/>
          </a:xfrm>
          <a:prstGeom prst="roundRect">
            <a:avLst>
              <a:gd name="adj" fmla="val 14634"/>
            </a:avLst>
          </a:prstGeom>
          <a:solidFill>
            <a:srgbClr val="FFFFFF"/>
          </a:solidFill>
          <a:ln w="38100">
            <a:solidFill>
              <a:srgbClr val="1FA463"/>
            </a:solidFill>
          </a:ln>
        </p:spPr>
        <p:txBody>
          <a:bodyPr wrap="square" lIns="25400" tIns="25400" rIns="25400" bIns="25400" rtlCol="0" anchor="ctr"/>
          <a:lstStyle/>
          <a:p>
            <a:pPr algn="ctr" indent="0" marL="0">
              <a:buNone/>
            </a:pPr>
            <a:r>
              <a:rPr lang="en-US" sz="950" dirty="0">
                <a:solidFill>
                  <a:srgbClr val="1FA463"/>
                </a:solidFill>
                <a:latin typeface="Arial Black" pitchFamily="34" charset="0"/>
                <a:ea typeface="Arial Black" pitchFamily="34" charset="-122"/>
                <a:cs typeface="Arial Black" pitchFamily="34" charset="-120"/>
              </a:rPr>
              <a:t>AGREE</a:t>
            </a:r>
            <a:endParaRPr lang="en-US" sz="950" dirty="0"/>
          </a:p>
        </p:txBody>
      </p:sp>
      <p:sp>
        <p:nvSpPr>
          <p:cNvPr id="22" name="stamp_37"/>
          <p:cNvSpPr txBox="1"/>
          <p:nvPr/>
        </p:nvSpPr>
        <p:spPr>
          <a:xfrm>
            <a:off x="8129016" y="2532888"/>
            <a:ext cx="694944" cy="374904"/>
          </a:xfrm>
          <a:prstGeom prst="roundRect">
            <a:avLst>
              <a:gd name="adj" fmla="val 14634"/>
            </a:avLst>
          </a:prstGeom>
          <a:solidFill>
            <a:srgbClr val="FFFFFF"/>
          </a:solidFill>
          <a:ln w="38100">
            <a:solidFill>
              <a:srgbClr val="EF2F2F"/>
            </a:solidFill>
          </a:ln>
        </p:spPr>
        <p:txBody>
          <a:bodyPr wrap="square" lIns="25400" tIns="25400" rIns="25400" bIns="25400" rtlCol="0" anchor="ctr"/>
          <a:lstStyle/>
          <a:p>
            <a:pPr algn="ctr" indent="0" marL="0">
              <a:buNone/>
            </a:pPr>
            <a:r>
              <a:rPr lang="en-US" sz="950" dirty="0">
                <a:solidFill>
                  <a:srgbClr val="EF2F2F"/>
                </a:solidFill>
                <a:latin typeface="Arial Black" pitchFamily="34" charset="0"/>
                <a:ea typeface="Arial Black" pitchFamily="34" charset="-122"/>
                <a:cs typeface="Arial Black" pitchFamily="34" charset="-120"/>
              </a:rPr>
              <a:t>NO WAY</a:t>
            </a:r>
            <a:endParaRPr lang="en-US" sz="950" dirty="0"/>
          </a:p>
        </p:txBody>
      </p:sp>
      <p:sp>
        <p:nvSpPr>
          <p:cNvPr id="23" name="box_38"/>
          <p:cNvSpPr txBox="1"/>
          <p:nvPr/>
        </p:nvSpPr>
        <p:spPr>
          <a:xfrm>
            <a:off x="2788920" y="3044952"/>
            <a:ext cx="4572000" cy="466344"/>
          </a:xfrm>
          <a:prstGeom prst="rect">
            <a:avLst/>
          </a:prstGeom>
          <a:solidFill>
            <a:srgbClr val="DCFCE7"/>
          </a:solidFill>
          <a:ln w="15875">
            <a:solidFill>
              <a:srgbClr val="111111"/>
            </a:solidFill>
          </a:ln>
        </p:spPr>
        <p:txBody>
          <a:bodyPr wrap="square" lIns="76200" tIns="76200" rIns="76200" bIns="76200" rtlCol="0" anchor="ctr"/>
          <a:lstStyle/>
          <a:p>
            <a:pPr algn="l" indent="0" marL="0">
              <a:buNone/>
            </a:pPr>
            <a:r>
              <a:rPr lang="en-US" sz="1350" b="1" dirty="0">
                <a:solidFill>
                  <a:srgbClr val="111111"/>
                </a:solidFill>
                <a:latin typeface="Calibri" pitchFamily="34" charset="0"/>
                <a:ea typeface="Calibri" pitchFamily="34" charset="-122"/>
                <a:cs typeface="Calibri" pitchFamily="34" charset="-120"/>
              </a:rPr>
              <a:t>"You can't know a person from their profile photo."</a:t>
            </a:r>
            <a:endParaRPr lang="en-US" sz="1350" dirty="0"/>
          </a:p>
        </p:txBody>
      </p:sp>
      <p:sp>
        <p:nvSpPr>
          <p:cNvPr id="24" name="stamp_39"/>
          <p:cNvSpPr txBox="1"/>
          <p:nvPr/>
        </p:nvSpPr>
        <p:spPr>
          <a:xfrm>
            <a:off x="7434072" y="3090672"/>
            <a:ext cx="658368" cy="374904"/>
          </a:xfrm>
          <a:prstGeom prst="roundRect">
            <a:avLst>
              <a:gd name="adj" fmla="val 14634"/>
            </a:avLst>
          </a:prstGeom>
          <a:solidFill>
            <a:srgbClr val="FFFFFF"/>
          </a:solidFill>
          <a:ln w="38100">
            <a:solidFill>
              <a:srgbClr val="1FA463"/>
            </a:solidFill>
          </a:ln>
        </p:spPr>
        <p:txBody>
          <a:bodyPr wrap="square" lIns="25400" tIns="25400" rIns="25400" bIns="25400" rtlCol="0" anchor="ctr"/>
          <a:lstStyle/>
          <a:p>
            <a:pPr algn="ctr" indent="0" marL="0">
              <a:buNone/>
            </a:pPr>
            <a:r>
              <a:rPr lang="en-US" sz="950" dirty="0">
                <a:solidFill>
                  <a:srgbClr val="1FA463"/>
                </a:solidFill>
                <a:latin typeface="Arial Black" pitchFamily="34" charset="0"/>
                <a:ea typeface="Arial Black" pitchFamily="34" charset="-122"/>
                <a:cs typeface="Arial Black" pitchFamily="34" charset="-120"/>
              </a:rPr>
              <a:t>AGREE</a:t>
            </a:r>
            <a:endParaRPr lang="en-US" sz="950" dirty="0"/>
          </a:p>
        </p:txBody>
      </p:sp>
      <p:sp>
        <p:nvSpPr>
          <p:cNvPr id="25" name="stamp_40"/>
          <p:cNvSpPr txBox="1"/>
          <p:nvPr/>
        </p:nvSpPr>
        <p:spPr>
          <a:xfrm>
            <a:off x="8129016" y="3090672"/>
            <a:ext cx="694944" cy="374904"/>
          </a:xfrm>
          <a:prstGeom prst="roundRect">
            <a:avLst>
              <a:gd name="adj" fmla="val 14634"/>
            </a:avLst>
          </a:prstGeom>
          <a:solidFill>
            <a:srgbClr val="FFFFFF"/>
          </a:solidFill>
          <a:ln w="38100">
            <a:solidFill>
              <a:srgbClr val="EF2F2F"/>
            </a:solidFill>
          </a:ln>
        </p:spPr>
        <p:txBody>
          <a:bodyPr wrap="square" lIns="25400" tIns="25400" rIns="25400" bIns="25400" rtlCol="0" anchor="ctr"/>
          <a:lstStyle/>
          <a:p>
            <a:pPr algn="ctr" indent="0" marL="0">
              <a:buNone/>
            </a:pPr>
            <a:r>
              <a:rPr lang="en-US" sz="950" dirty="0">
                <a:solidFill>
                  <a:srgbClr val="EF2F2F"/>
                </a:solidFill>
                <a:latin typeface="Arial Black" pitchFamily="34" charset="0"/>
                <a:ea typeface="Arial Black" pitchFamily="34" charset="-122"/>
                <a:cs typeface="Arial Black" pitchFamily="34" charset="-120"/>
              </a:rPr>
              <a:t>NO WAY</a:t>
            </a:r>
            <a:endParaRPr lang="en-US" sz="950" dirty="0"/>
          </a:p>
        </p:txBody>
      </p:sp>
      <p:sp>
        <p:nvSpPr>
          <p:cNvPr id="26" name="box_41"/>
          <p:cNvSpPr txBox="1"/>
          <p:nvPr/>
        </p:nvSpPr>
        <p:spPr>
          <a:xfrm>
            <a:off x="2788920" y="3602736"/>
            <a:ext cx="4572000" cy="466344"/>
          </a:xfrm>
          <a:prstGeom prst="rect">
            <a:avLst/>
          </a:prstGeom>
          <a:solidFill>
            <a:srgbClr val="EDE9FE"/>
          </a:solidFill>
          <a:ln w="15875">
            <a:solidFill>
              <a:srgbClr val="111111"/>
            </a:solidFill>
          </a:ln>
        </p:spPr>
        <p:txBody>
          <a:bodyPr wrap="square" lIns="76200" tIns="76200" rIns="76200" bIns="76200" rtlCol="0" anchor="ctr"/>
          <a:lstStyle/>
          <a:p>
            <a:pPr algn="l" indent="0" marL="0">
              <a:buNone/>
            </a:pPr>
            <a:r>
              <a:rPr lang="en-US" sz="1350" b="1" dirty="0">
                <a:solidFill>
                  <a:srgbClr val="111111"/>
                </a:solidFill>
                <a:latin typeface="Calibri" pitchFamily="34" charset="0"/>
                <a:ea typeface="Calibri" pitchFamily="34" charset="-122"/>
                <a:cs typeface="Calibri" pitchFamily="34" charset="-120"/>
              </a:rPr>
              <a:t>"The man should always pay on a first date."</a:t>
            </a:r>
            <a:endParaRPr lang="en-US" sz="1350" dirty="0"/>
          </a:p>
        </p:txBody>
      </p:sp>
      <p:sp>
        <p:nvSpPr>
          <p:cNvPr id="27" name="stamp_42"/>
          <p:cNvSpPr txBox="1"/>
          <p:nvPr/>
        </p:nvSpPr>
        <p:spPr>
          <a:xfrm>
            <a:off x="7434072" y="3648456"/>
            <a:ext cx="658368" cy="374904"/>
          </a:xfrm>
          <a:prstGeom prst="roundRect">
            <a:avLst>
              <a:gd name="adj" fmla="val 14634"/>
            </a:avLst>
          </a:prstGeom>
          <a:solidFill>
            <a:srgbClr val="FFFFFF"/>
          </a:solidFill>
          <a:ln w="38100">
            <a:solidFill>
              <a:srgbClr val="1FA463"/>
            </a:solidFill>
          </a:ln>
        </p:spPr>
        <p:txBody>
          <a:bodyPr wrap="square" lIns="25400" tIns="25400" rIns="25400" bIns="25400" rtlCol="0" anchor="ctr"/>
          <a:lstStyle/>
          <a:p>
            <a:pPr algn="ctr" indent="0" marL="0">
              <a:buNone/>
            </a:pPr>
            <a:r>
              <a:rPr lang="en-US" sz="950" dirty="0">
                <a:solidFill>
                  <a:srgbClr val="1FA463"/>
                </a:solidFill>
                <a:latin typeface="Arial Black" pitchFamily="34" charset="0"/>
                <a:ea typeface="Arial Black" pitchFamily="34" charset="-122"/>
                <a:cs typeface="Arial Black" pitchFamily="34" charset="-120"/>
              </a:rPr>
              <a:t>AGREE</a:t>
            </a:r>
            <a:endParaRPr lang="en-US" sz="950" dirty="0"/>
          </a:p>
        </p:txBody>
      </p:sp>
      <p:sp>
        <p:nvSpPr>
          <p:cNvPr id="28" name="stamp_43"/>
          <p:cNvSpPr txBox="1"/>
          <p:nvPr/>
        </p:nvSpPr>
        <p:spPr>
          <a:xfrm>
            <a:off x="8129016" y="3648456"/>
            <a:ext cx="694944" cy="374904"/>
          </a:xfrm>
          <a:prstGeom prst="roundRect">
            <a:avLst>
              <a:gd name="adj" fmla="val 14634"/>
            </a:avLst>
          </a:prstGeom>
          <a:solidFill>
            <a:srgbClr val="FFFFFF"/>
          </a:solidFill>
          <a:ln w="38100">
            <a:solidFill>
              <a:srgbClr val="EF2F2F"/>
            </a:solidFill>
          </a:ln>
        </p:spPr>
        <p:txBody>
          <a:bodyPr wrap="square" lIns="25400" tIns="25400" rIns="25400" bIns="25400" rtlCol="0" anchor="ctr"/>
          <a:lstStyle/>
          <a:p>
            <a:pPr algn="ctr" indent="0" marL="0">
              <a:buNone/>
            </a:pPr>
            <a:r>
              <a:rPr lang="en-US" sz="950" dirty="0">
                <a:solidFill>
                  <a:srgbClr val="EF2F2F"/>
                </a:solidFill>
                <a:latin typeface="Arial Black" pitchFamily="34" charset="0"/>
                <a:ea typeface="Arial Black" pitchFamily="34" charset="-122"/>
                <a:cs typeface="Arial Black" pitchFamily="34" charset="-120"/>
              </a:rPr>
              <a:t>NO WAY</a:t>
            </a:r>
            <a:endParaRPr lang="en-US" sz="950" dirty="0"/>
          </a:p>
        </p:txBody>
      </p:sp>
      <p:sp>
        <p:nvSpPr>
          <p:cNvPr id="29" name="bubble_44"/>
          <p:cNvSpPr txBox="1"/>
          <p:nvPr/>
        </p:nvSpPr>
        <p:spPr>
          <a:xfrm>
            <a:off x="2788920" y="4160520"/>
            <a:ext cx="6035040" cy="502920"/>
          </a:xfrm>
          <a:prstGeom prst="round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algn="ctr" indent="0" marL="0">
              <a:buNone/>
            </a:pPr>
            <a:r>
              <a:rPr lang="en-US" sz="1250" dirty="0">
                <a:solidFill>
                  <a:srgbClr val="111111"/>
                </a:solidFill>
                <a:latin typeface="Calibri" pitchFamily="34" charset="0"/>
                <a:ea typeface="Calibri" pitchFamily="34" charset="-122"/>
                <a:cs typeface="Calibri" pitchFamily="34" charset="-120"/>
              </a:rPr>
              <a:t>I agree because… · I don't agree. I think… · It depends. For me…</a:t>
            </a:r>
            <a:endParaRPr lang="en-US" sz="1250" dirty="0"/>
          </a:p>
        </p:txBody>
      </p:sp>
    </p:spTree>
  </p:cSld>
  <p:clrMapOvr>
    <a:masterClrMapping/>
  </p:clrMapOvr>
  <p:transition spd="med">
    <p:push dir="l"/>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45"/>
          <p:cNvSpPr/>
          <p:nvPr/>
        </p:nvSpPr>
        <p:spPr>
          <a:xfrm>
            <a:off x="54864" y="54864"/>
            <a:ext cx="9034272" cy="5033772"/>
          </a:xfrm>
          <a:prstGeom prst="rect">
            <a:avLst/>
          </a:prstGeom>
          <a:ln w="114300">
            <a:solidFill>
              <a:srgbClr val="FDBA74"/>
            </a:solidFill>
            <a:prstDash val="solid"/>
          </a:ln>
        </p:spPr>
      </p:sp>
      <p:pic>
        <p:nvPicPr>
          <p:cNvPr id="4" name="logo_46"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47"/>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VOCABULARY · What do they look like?</a:t>
            </a:r>
            <a:endParaRPr lang="en-US" sz="900" dirty="0"/>
          </a:p>
        </p:txBody>
      </p:sp>
      <p:sp>
        <p:nvSpPr>
          <p:cNvPr id="6" name="timer_48"/>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4 min</a:t>
            </a:r>
            <a:endParaRPr lang="en-US" sz="1200" dirty="0"/>
          </a:p>
        </p:txBody>
      </p:sp>
      <p:sp>
        <p:nvSpPr>
          <p:cNvPr id="7" name="footer_49"/>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1B · Part 1</a:t>
            </a:r>
            <a:endParaRPr lang="en-US" sz="1000" dirty="0"/>
          </a:p>
        </p:txBody>
      </p:sp>
      <p:sp>
        <p:nvSpPr>
          <p:cNvPr id="8" name="title_50"/>
          <p:cNvSpPr txBox="1"/>
          <p:nvPr/>
        </p:nvSpPr>
        <p:spPr>
          <a:xfrm rot="-120000">
            <a:off x="320040" y="676656"/>
            <a:ext cx="3803904" cy="530352"/>
          </a:xfrm>
          <a:prstGeom prst="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Describe the people</a:t>
            </a:r>
            <a:endParaRPr lang="en-US" sz="1500" dirty="0"/>
          </a:p>
        </p:txBody>
      </p:sp>
      <p:sp>
        <p:nvSpPr>
          <p:cNvPr id="9" name="post_51"/>
          <p:cNvSpPr/>
          <p:nvPr/>
        </p:nvSpPr>
        <p:spPr>
          <a:xfrm>
            <a:off x="429768" y="1554480"/>
            <a:ext cx="128016" cy="2194560"/>
          </a:xfrm>
          <a:prstGeom prst="rect">
            <a:avLst/>
          </a:prstGeom>
          <a:solidFill>
            <a:srgbClr val="8B5A2B"/>
          </a:solidFill>
          <a:ln w="31750">
            <a:solidFill>
              <a:srgbClr val="111111"/>
            </a:solidFill>
            <a:prstDash val="solid"/>
          </a:ln>
        </p:spPr>
      </p:sp>
      <p:sp>
        <p:nvSpPr>
          <p:cNvPr id="10" name="signA_52"/>
          <p:cNvSpPr txBox="1"/>
          <p:nvPr/>
        </p:nvSpPr>
        <p:spPr>
          <a:xfrm rot="-180000">
            <a:off x="320040" y="1371600"/>
            <a:ext cx="2240280" cy="457200"/>
          </a:xfrm>
          <a:prstGeom prst="homePlate">
            <a:avLst/>
          </a:prstGeom>
          <a:solidFill>
            <a:srgbClr val="0E7490"/>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LOOK!</a:t>
            </a:r>
            <a:pPr indent="0" marL="0">
              <a:buNone/>
            </a:pPr>
            <a:r>
              <a:rPr lang="en-US" sz="1000" dirty="0">
                <a:solidFill>
                  <a:srgbClr val="FFF3B0"/>
                </a:solidFill>
                <a:latin typeface="Arial Black" pitchFamily="34" charset="0"/>
                <a:ea typeface="Arial Black" pitchFamily="34" charset="-122"/>
                <a:cs typeface="Arial Black" pitchFamily="34" charset="-120"/>
              </a:rPr>
              <a:t>  GUARDA!</a:t>
            </a:r>
            <a:endParaRPr lang="en-US" sz="1500" dirty="0"/>
          </a:p>
        </p:txBody>
      </p:sp>
      <p:sp>
        <p:nvSpPr>
          <p:cNvPr id="11" name="signB_53"/>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50" dirty="0">
                <a:solidFill>
                  <a:srgbClr val="111111"/>
                </a:solidFill>
                <a:latin typeface="Calibri" pitchFamily="34" charset="0"/>
                <a:ea typeface="Calibri" pitchFamily="34" charset="-122"/>
                <a:cs typeface="Calibri" pitchFamily="34" charset="-120"/>
              </a:rPr>
              <a:t>What do they look like? Say it in English. Then click.</a:t>
            </a:r>
            <a:endParaRPr lang="en-US" sz="1250" dirty="0"/>
          </a:p>
          <a:p>
            <a:pPr indent="0" marL="0">
              <a:buNone/>
            </a:pPr>
            <a:r>
              <a:rPr lang="en-US" sz="1100" i="1" dirty="0">
                <a:solidFill>
                  <a:srgbClr val="334155"/>
                </a:solidFill>
                <a:latin typeface="Calibri" pitchFamily="34" charset="0"/>
                <a:ea typeface="Calibri" pitchFamily="34" charset="-122"/>
                <a:cs typeface="Calibri" pitchFamily="34" charset="-120"/>
              </a:rPr>
              <a:t>Com'è fisicamente? Dillo in inglese. Poi clicca.</a:t>
            </a:r>
            <a:endParaRPr lang="en-US" sz="1250" dirty="0"/>
          </a:p>
        </p:txBody>
      </p:sp>
      <p:sp>
        <p:nvSpPr>
          <p:cNvPr id="12" name="pt_54"/>
          <p:cNvSpPr/>
          <p:nvPr/>
        </p:nvSpPr>
        <p:spPr>
          <a:xfrm>
            <a:off x="2788920" y="1325880"/>
            <a:ext cx="1119226" cy="1623060"/>
          </a:xfrm>
          <a:prstGeom prst="roundRect">
            <a:avLst>
              <a:gd name="adj" fmla="val 6536"/>
            </a:avLst>
          </a:prstGeom>
          <a:solidFill>
            <a:srgbClr val="FFFFFF"/>
          </a:solidFill>
          <a:ln w="19050">
            <a:solidFill>
              <a:srgbClr val="111111"/>
            </a:solidFill>
            <a:prstDash val="solid"/>
          </a:ln>
        </p:spPr>
      </p:sp>
      <p:sp>
        <p:nvSpPr>
          <p:cNvPr id="13" name="pn_55"/>
          <p:cNvSpPr txBox="1"/>
          <p:nvPr/>
        </p:nvSpPr>
        <p:spPr>
          <a:xfrm>
            <a:off x="2834640" y="1362456"/>
            <a:ext cx="274320" cy="237744"/>
          </a:xfrm>
          <a:prstGeom prst="rect">
            <a:avLst/>
          </a:prstGeom>
          <a:noFill/>
          <a:ln/>
        </p:spPr>
        <p:txBody>
          <a:bodyPr wrap="square" lIns="0" tIns="0" rIns="0" bIns="0" rtlCol="0" anchor="ctr"/>
          <a:lstStyle/>
          <a:p>
            <a:pPr indent="0" marL="0">
              <a:buNone/>
            </a:pPr>
            <a:r>
              <a:rPr lang="en-US" sz="1000" dirty="0">
                <a:solidFill>
                  <a:srgbClr val="64748B"/>
                </a:solidFill>
                <a:latin typeface="Arial Black" pitchFamily="34" charset="0"/>
                <a:ea typeface="Arial Black" pitchFamily="34" charset="-122"/>
                <a:cs typeface="Arial Black" pitchFamily="34" charset="-120"/>
              </a:rPr>
              <a:t>1</a:t>
            </a:r>
            <a:endParaRPr lang="en-US" sz="1000" dirty="0"/>
          </a:p>
        </p:txBody>
      </p:sp>
      <p:pic>
        <p:nvPicPr>
          <p:cNvPr id="14" name="pi_56" descr="He's tall.">    </p:cNvPr>
          <p:cNvPicPr>
            <a:picLocks noChangeAspect="1"/>
          </p:cNvPicPr>
          <p:nvPr/>
        </p:nvPicPr>
        <p:blipFill>
          <a:blip r:embed="rId3"/>
          <a:stretch>
            <a:fillRect/>
          </a:stretch>
        </p:blipFill>
        <p:spPr>
          <a:xfrm>
            <a:off x="2880360" y="1380744"/>
            <a:ext cx="936346" cy="936346"/>
          </a:xfrm>
          <a:prstGeom prst="rect">
            <a:avLst/>
          </a:prstGeom>
        </p:spPr>
      </p:pic>
      <p:sp>
        <p:nvSpPr>
          <p:cNvPr id="15" name="R1_pw0"/>
          <p:cNvSpPr txBox="1"/>
          <p:nvPr/>
        </p:nvSpPr>
        <p:spPr>
          <a:xfrm>
            <a:off x="2825496" y="2528316"/>
            <a:ext cx="1046074" cy="384048"/>
          </a:xfrm>
          <a:prstGeom prst="rect">
            <a:avLst/>
          </a:prstGeom>
          <a:solidFill>
            <a:srgbClr val="DCFCE7"/>
          </a:solidFill>
          <a:ln/>
        </p:spPr>
        <p:txBody>
          <a:bodyPr wrap="square" lIns="0" tIns="0" rIns="0" bIns="0" rtlCol="0" anchor="ctr"/>
          <a:lstStyle/>
          <a:p>
            <a:pPr algn="ctr" indent="0" marL="0">
              <a:buNone/>
            </a:pPr>
            <a:r>
              <a:rPr lang="en-US" sz="1150" b="1" dirty="0">
                <a:solidFill>
                  <a:srgbClr val="111111"/>
                </a:solidFill>
                <a:latin typeface="Calibri" pitchFamily="34" charset="0"/>
                <a:ea typeface="Calibri" pitchFamily="34" charset="-122"/>
                <a:cs typeface="Calibri" pitchFamily="34" charset="-120"/>
              </a:rPr>
              <a:t>He's tall.</a:t>
            </a:r>
            <a:endParaRPr lang="en-US" sz="1150" dirty="0"/>
          </a:p>
          <a:p>
            <a:pPr algn="ctr" indent="0" marL="0">
              <a:buNone/>
            </a:pPr>
            <a:r>
              <a:rPr lang="en-US" sz="1000" i="1" dirty="0">
                <a:solidFill>
                  <a:srgbClr val="6D3FC0"/>
                </a:solidFill>
                <a:latin typeface="Calibri" pitchFamily="34" charset="0"/>
                <a:ea typeface="Calibri" pitchFamily="34" charset="-122"/>
                <a:cs typeface="Calibri" pitchFamily="34" charset="-120"/>
              </a:rPr>
              <a:t>alto</a:t>
            </a:r>
            <a:endParaRPr lang="en-US" sz="1150" dirty="0"/>
          </a:p>
        </p:txBody>
      </p:sp>
      <p:sp>
        <p:nvSpPr>
          <p:cNvPr id="16" name="pt_57"/>
          <p:cNvSpPr/>
          <p:nvPr/>
        </p:nvSpPr>
        <p:spPr>
          <a:xfrm>
            <a:off x="4017874" y="1325880"/>
            <a:ext cx="1119226" cy="1623060"/>
          </a:xfrm>
          <a:prstGeom prst="roundRect">
            <a:avLst>
              <a:gd name="adj" fmla="val 6536"/>
            </a:avLst>
          </a:prstGeom>
          <a:solidFill>
            <a:srgbClr val="FFFFFF"/>
          </a:solidFill>
          <a:ln w="19050">
            <a:solidFill>
              <a:srgbClr val="111111"/>
            </a:solidFill>
            <a:prstDash val="solid"/>
          </a:ln>
        </p:spPr>
      </p:sp>
      <p:sp>
        <p:nvSpPr>
          <p:cNvPr id="17" name="pn_58"/>
          <p:cNvSpPr txBox="1"/>
          <p:nvPr/>
        </p:nvSpPr>
        <p:spPr>
          <a:xfrm>
            <a:off x="4063594" y="1362456"/>
            <a:ext cx="274320" cy="237744"/>
          </a:xfrm>
          <a:prstGeom prst="rect">
            <a:avLst/>
          </a:prstGeom>
          <a:noFill/>
          <a:ln/>
        </p:spPr>
        <p:txBody>
          <a:bodyPr wrap="square" lIns="0" tIns="0" rIns="0" bIns="0" rtlCol="0" anchor="ctr"/>
          <a:lstStyle/>
          <a:p>
            <a:pPr indent="0" marL="0">
              <a:buNone/>
            </a:pPr>
            <a:r>
              <a:rPr lang="en-US" sz="1000" dirty="0">
                <a:solidFill>
                  <a:srgbClr val="64748B"/>
                </a:solidFill>
                <a:latin typeface="Arial Black" pitchFamily="34" charset="0"/>
                <a:ea typeface="Arial Black" pitchFamily="34" charset="-122"/>
                <a:cs typeface="Arial Black" pitchFamily="34" charset="-120"/>
              </a:rPr>
              <a:t>2</a:t>
            </a:r>
            <a:endParaRPr lang="en-US" sz="1000" dirty="0"/>
          </a:p>
        </p:txBody>
      </p:sp>
      <p:pic>
        <p:nvPicPr>
          <p:cNvPr id="18" name="pi_59" descr="She's short.">    </p:cNvPr>
          <p:cNvPicPr>
            <a:picLocks noChangeAspect="1"/>
          </p:cNvPicPr>
          <p:nvPr/>
        </p:nvPicPr>
        <p:blipFill>
          <a:blip r:embed="rId4"/>
          <a:stretch>
            <a:fillRect/>
          </a:stretch>
        </p:blipFill>
        <p:spPr>
          <a:xfrm>
            <a:off x="4109314" y="1380744"/>
            <a:ext cx="936346" cy="936346"/>
          </a:xfrm>
          <a:prstGeom prst="rect">
            <a:avLst/>
          </a:prstGeom>
        </p:spPr>
      </p:pic>
      <p:sp>
        <p:nvSpPr>
          <p:cNvPr id="19" name="R1_pw1"/>
          <p:cNvSpPr txBox="1"/>
          <p:nvPr/>
        </p:nvSpPr>
        <p:spPr>
          <a:xfrm>
            <a:off x="4054450" y="2528316"/>
            <a:ext cx="1046074" cy="384048"/>
          </a:xfrm>
          <a:prstGeom prst="rect">
            <a:avLst/>
          </a:prstGeom>
          <a:solidFill>
            <a:srgbClr val="DCFCE7"/>
          </a:solidFill>
          <a:ln/>
        </p:spPr>
        <p:txBody>
          <a:bodyPr wrap="square" lIns="0" tIns="0" rIns="0" bIns="0" rtlCol="0" anchor="ctr"/>
          <a:lstStyle/>
          <a:p>
            <a:pPr algn="ctr" indent="0" marL="0">
              <a:buNone/>
            </a:pPr>
            <a:r>
              <a:rPr lang="en-US" sz="1150" b="1" dirty="0">
                <a:solidFill>
                  <a:srgbClr val="111111"/>
                </a:solidFill>
                <a:latin typeface="Calibri" pitchFamily="34" charset="0"/>
                <a:ea typeface="Calibri" pitchFamily="34" charset="-122"/>
                <a:cs typeface="Calibri" pitchFamily="34" charset="-120"/>
              </a:rPr>
              <a:t>She's short.</a:t>
            </a:r>
            <a:endParaRPr lang="en-US" sz="1150" dirty="0"/>
          </a:p>
          <a:p>
            <a:pPr algn="ctr" indent="0" marL="0">
              <a:buNone/>
            </a:pPr>
            <a:r>
              <a:rPr lang="en-US" sz="1000" i="1" dirty="0">
                <a:solidFill>
                  <a:srgbClr val="6D3FC0"/>
                </a:solidFill>
                <a:latin typeface="Calibri" pitchFamily="34" charset="0"/>
                <a:ea typeface="Calibri" pitchFamily="34" charset="-122"/>
                <a:cs typeface="Calibri" pitchFamily="34" charset="-120"/>
              </a:rPr>
              <a:t>bassa</a:t>
            </a:r>
            <a:endParaRPr lang="en-US" sz="1150" dirty="0"/>
          </a:p>
        </p:txBody>
      </p:sp>
      <p:sp>
        <p:nvSpPr>
          <p:cNvPr id="20" name="pt_60"/>
          <p:cNvSpPr/>
          <p:nvPr/>
        </p:nvSpPr>
        <p:spPr>
          <a:xfrm>
            <a:off x="5246827" y="1325880"/>
            <a:ext cx="1119226" cy="1623060"/>
          </a:xfrm>
          <a:prstGeom prst="roundRect">
            <a:avLst>
              <a:gd name="adj" fmla="val 6536"/>
            </a:avLst>
          </a:prstGeom>
          <a:solidFill>
            <a:srgbClr val="FFFFFF"/>
          </a:solidFill>
          <a:ln w="19050">
            <a:solidFill>
              <a:srgbClr val="111111"/>
            </a:solidFill>
            <a:prstDash val="solid"/>
          </a:ln>
        </p:spPr>
      </p:sp>
      <p:sp>
        <p:nvSpPr>
          <p:cNvPr id="21" name="pn_61"/>
          <p:cNvSpPr txBox="1"/>
          <p:nvPr/>
        </p:nvSpPr>
        <p:spPr>
          <a:xfrm>
            <a:off x="5292547" y="1362456"/>
            <a:ext cx="274320" cy="237744"/>
          </a:xfrm>
          <a:prstGeom prst="rect">
            <a:avLst/>
          </a:prstGeom>
          <a:noFill/>
          <a:ln/>
        </p:spPr>
        <p:txBody>
          <a:bodyPr wrap="square" lIns="0" tIns="0" rIns="0" bIns="0" rtlCol="0" anchor="ctr"/>
          <a:lstStyle/>
          <a:p>
            <a:pPr indent="0" marL="0">
              <a:buNone/>
            </a:pPr>
            <a:r>
              <a:rPr lang="en-US" sz="1000" dirty="0">
                <a:solidFill>
                  <a:srgbClr val="64748B"/>
                </a:solidFill>
                <a:latin typeface="Arial Black" pitchFamily="34" charset="0"/>
                <a:ea typeface="Arial Black" pitchFamily="34" charset="-122"/>
                <a:cs typeface="Arial Black" pitchFamily="34" charset="-120"/>
              </a:rPr>
              <a:t>3</a:t>
            </a:r>
            <a:endParaRPr lang="en-US" sz="1000" dirty="0"/>
          </a:p>
        </p:txBody>
      </p:sp>
      <p:pic>
        <p:nvPicPr>
          <p:cNvPr id="22" name="pi_62" descr="She's slim.">    </p:cNvPr>
          <p:cNvPicPr>
            <a:picLocks noChangeAspect="1"/>
          </p:cNvPicPr>
          <p:nvPr/>
        </p:nvPicPr>
        <p:blipFill>
          <a:blip r:embed="rId5"/>
          <a:stretch>
            <a:fillRect/>
          </a:stretch>
        </p:blipFill>
        <p:spPr>
          <a:xfrm>
            <a:off x="5338267" y="1380744"/>
            <a:ext cx="936346" cy="936346"/>
          </a:xfrm>
          <a:prstGeom prst="rect">
            <a:avLst/>
          </a:prstGeom>
        </p:spPr>
      </p:pic>
      <p:sp>
        <p:nvSpPr>
          <p:cNvPr id="23" name="R1_pw2"/>
          <p:cNvSpPr txBox="1"/>
          <p:nvPr/>
        </p:nvSpPr>
        <p:spPr>
          <a:xfrm>
            <a:off x="5283403" y="2528316"/>
            <a:ext cx="1046074" cy="384048"/>
          </a:xfrm>
          <a:prstGeom prst="rect">
            <a:avLst/>
          </a:prstGeom>
          <a:solidFill>
            <a:srgbClr val="DCFCE7"/>
          </a:solidFill>
          <a:ln/>
        </p:spPr>
        <p:txBody>
          <a:bodyPr wrap="square" lIns="0" tIns="0" rIns="0" bIns="0" rtlCol="0" anchor="ctr"/>
          <a:lstStyle/>
          <a:p>
            <a:pPr algn="ctr" indent="0" marL="0">
              <a:buNone/>
            </a:pPr>
            <a:r>
              <a:rPr lang="en-US" sz="1150" b="1" dirty="0">
                <a:solidFill>
                  <a:srgbClr val="111111"/>
                </a:solidFill>
                <a:latin typeface="Calibri" pitchFamily="34" charset="0"/>
                <a:ea typeface="Calibri" pitchFamily="34" charset="-122"/>
                <a:cs typeface="Calibri" pitchFamily="34" charset="-120"/>
              </a:rPr>
              <a:t>She's slim.</a:t>
            </a:r>
            <a:endParaRPr lang="en-US" sz="1150" dirty="0"/>
          </a:p>
          <a:p>
            <a:pPr algn="ctr" indent="0" marL="0">
              <a:buNone/>
            </a:pPr>
            <a:r>
              <a:rPr lang="en-US" sz="1000" i="1" dirty="0">
                <a:solidFill>
                  <a:srgbClr val="6D3FC0"/>
                </a:solidFill>
                <a:latin typeface="Calibri" pitchFamily="34" charset="0"/>
                <a:ea typeface="Calibri" pitchFamily="34" charset="-122"/>
                <a:cs typeface="Calibri" pitchFamily="34" charset="-120"/>
              </a:rPr>
              <a:t>snella</a:t>
            </a:r>
            <a:endParaRPr lang="en-US" sz="1150" dirty="0"/>
          </a:p>
        </p:txBody>
      </p:sp>
      <p:sp>
        <p:nvSpPr>
          <p:cNvPr id="24" name="pt_63"/>
          <p:cNvSpPr/>
          <p:nvPr/>
        </p:nvSpPr>
        <p:spPr>
          <a:xfrm>
            <a:off x="6475781" y="1325880"/>
            <a:ext cx="1119226" cy="1623060"/>
          </a:xfrm>
          <a:prstGeom prst="roundRect">
            <a:avLst>
              <a:gd name="adj" fmla="val 6536"/>
            </a:avLst>
          </a:prstGeom>
          <a:solidFill>
            <a:srgbClr val="FFFFFF"/>
          </a:solidFill>
          <a:ln w="19050">
            <a:solidFill>
              <a:srgbClr val="111111"/>
            </a:solidFill>
            <a:prstDash val="solid"/>
          </a:ln>
        </p:spPr>
      </p:sp>
      <p:sp>
        <p:nvSpPr>
          <p:cNvPr id="25" name="pn_64"/>
          <p:cNvSpPr txBox="1"/>
          <p:nvPr/>
        </p:nvSpPr>
        <p:spPr>
          <a:xfrm>
            <a:off x="6521501" y="1362456"/>
            <a:ext cx="274320" cy="237744"/>
          </a:xfrm>
          <a:prstGeom prst="rect">
            <a:avLst/>
          </a:prstGeom>
          <a:noFill/>
          <a:ln/>
        </p:spPr>
        <p:txBody>
          <a:bodyPr wrap="square" lIns="0" tIns="0" rIns="0" bIns="0" rtlCol="0" anchor="ctr"/>
          <a:lstStyle/>
          <a:p>
            <a:pPr indent="0" marL="0">
              <a:buNone/>
            </a:pPr>
            <a:r>
              <a:rPr lang="en-US" sz="1000" dirty="0">
                <a:solidFill>
                  <a:srgbClr val="64748B"/>
                </a:solidFill>
                <a:latin typeface="Arial Black" pitchFamily="34" charset="0"/>
                <a:ea typeface="Arial Black" pitchFamily="34" charset="-122"/>
                <a:cs typeface="Arial Black" pitchFamily="34" charset="-120"/>
              </a:rPr>
              <a:t>4</a:t>
            </a:r>
            <a:endParaRPr lang="en-US" sz="1000" dirty="0"/>
          </a:p>
        </p:txBody>
      </p:sp>
      <p:pic>
        <p:nvPicPr>
          <p:cNvPr id="26" name="pi_65" descr="He's a bit overweight.">    </p:cNvPr>
          <p:cNvPicPr>
            <a:picLocks noChangeAspect="1"/>
          </p:cNvPicPr>
          <p:nvPr/>
        </p:nvPicPr>
        <p:blipFill>
          <a:blip r:embed="rId6"/>
          <a:stretch>
            <a:fillRect/>
          </a:stretch>
        </p:blipFill>
        <p:spPr>
          <a:xfrm>
            <a:off x="6567221" y="1380744"/>
            <a:ext cx="936346" cy="936346"/>
          </a:xfrm>
          <a:prstGeom prst="rect">
            <a:avLst/>
          </a:prstGeom>
        </p:spPr>
      </p:pic>
      <p:sp>
        <p:nvSpPr>
          <p:cNvPr id="27" name="R1_pw3"/>
          <p:cNvSpPr txBox="1"/>
          <p:nvPr/>
        </p:nvSpPr>
        <p:spPr>
          <a:xfrm>
            <a:off x="6512357" y="2528316"/>
            <a:ext cx="1046074" cy="384048"/>
          </a:xfrm>
          <a:prstGeom prst="rect">
            <a:avLst/>
          </a:prstGeom>
          <a:solidFill>
            <a:srgbClr val="DCFCE7"/>
          </a:solidFill>
          <a:ln/>
        </p:spPr>
        <p:txBody>
          <a:bodyPr wrap="square" lIns="0" tIns="0" rIns="0" bIns="0" rtlCol="0" anchor="ctr"/>
          <a:lstStyle/>
          <a:p>
            <a:pPr algn="ctr" indent="0" marL="0">
              <a:buNone/>
            </a:pPr>
            <a:r>
              <a:rPr lang="en-US" sz="800" b="1" dirty="0">
                <a:solidFill>
                  <a:srgbClr val="111111"/>
                </a:solidFill>
                <a:latin typeface="Calibri" pitchFamily="34" charset="0"/>
                <a:ea typeface="Calibri" pitchFamily="34" charset="-122"/>
                <a:cs typeface="Calibri" pitchFamily="34" charset="-120"/>
              </a:rPr>
              <a:t>He's a bit overweight.</a:t>
            </a:r>
            <a:endParaRPr lang="en-US" sz="800" dirty="0"/>
          </a:p>
          <a:p>
            <a:pPr algn="ctr" indent="0" marL="0">
              <a:buNone/>
            </a:pPr>
            <a:r>
              <a:rPr lang="en-US" sz="800" i="1" dirty="0">
                <a:solidFill>
                  <a:srgbClr val="6D3FC0"/>
                </a:solidFill>
                <a:latin typeface="Calibri" pitchFamily="34" charset="0"/>
                <a:ea typeface="Calibri" pitchFamily="34" charset="-122"/>
                <a:cs typeface="Calibri" pitchFamily="34" charset="-120"/>
              </a:rPr>
              <a:t>un po' sovrappeso</a:t>
            </a:r>
            <a:endParaRPr lang="en-US" sz="800" dirty="0"/>
          </a:p>
        </p:txBody>
      </p:sp>
      <p:sp>
        <p:nvSpPr>
          <p:cNvPr id="28" name="pt_66"/>
          <p:cNvSpPr/>
          <p:nvPr/>
        </p:nvSpPr>
        <p:spPr>
          <a:xfrm>
            <a:off x="7704734" y="1325880"/>
            <a:ext cx="1119226" cy="1623060"/>
          </a:xfrm>
          <a:prstGeom prst="roundRect">
            <a:avLst>
              <a:gd name="adj" fmla="val 6536"/>
            </a:avLst>
          </a:prstGeom>
          <a:solidFill>
            <a:srgbClr val="FFFFFF"/>
          </a:solidFill>
          <a:ln w="19050">
            <a:solidFill>
              <a:srgbClr val="111111"/>
            </a:solidFill>
            <a:prstDash val="solid"/>
          </a:ln>
        </p:spPr>
      </p:sp>
      <p:sp>
        <p:nvSpPr>
          <p:cNvPr id="29" name="pn_67"/>
          <p:cNvSpPr txBox="1"/>
          <p:nvPr/>
        </p:nvSpPr>
        <p:spPr>
          <a:xfrm>
            <a:off x="7750454" y="1362456"/>
            <a:ext cx="274320" cy="237744"/>
          </a:xfrm>
          <a:prstGeom prst="rect">
            <a:avLst/>
          </a:prstGeom>
          <a:noFill/>
          <a:ln/>
        </p:spPr>
        <p:txBody>
          <a:bodyPr wrap="square" lIns="0" tIns="0" rIns="0" bIns="0" rtlCol="0" anchor="ctr"/>
          <a:lstStyle/>
          <a:p>
            <a:pPr indent="0" marL="0">
              <a:buNone/>
            </a:pPr>
            <a:r>
              <a:rPr lang="en-US" sz="1000" dirty="0">
                <a:solidFill>
                  <a:srgbClr val="64748B"/>
                </a:solidFill>
                <a:latin typeface="Arial Black" pitchFamily="34" charset="0"/>
                <a:ea typeface="Arial Black" pitchFamily="34" charset="-122"/>
                <a:cs typeface="Arial Black" pitchFamily="34" charset="-120"/>
              </a:rPr>
              <a:t>5</a:t>
            </a:r>
            <a:endParaRPr lang="en-US" sz="1000" dirty="0"/>
          </a:p>
        </p:txBody>
      </p:sp>
      <p:pic>
        <p:nvPicPr>
          <p:cNvPr id="30" name="pi_68" descr="He's bald (+ glasses).">    </p:cNvPr>
          <p:cNvPicPr>
            <a:picLocks noChangeAspect="1"/>
          </p:cNvPicPr>
          <p:nvPr/>
        </p:nvPicPr>
        <p:blipFill>
          <a:blip r:embed="rId7"/>
          <a:stretch>
            <a:fillRect/>
          </a:stretch>
        </p:blipFill>
        <p:spPr>
          <a:xfrm>
            <a:off x="7796174" y="1380744"/>
            <a:ext cx="936346" cy="936346"/>
          </a:xfrm>
          <a:prstGeom prst="rect">
            <a:avLst/>
          </a:prstGeom>
        </p:spPr>
      </p:pic>
      <p:sp>
        <p:nvSpPr>
          <p:cNvPr id="31" name="R1_pw4"/>
          <p:cNvSpPr txBox="1"/>
          <p:nvPr/>
        </p:nvSpPr>
        <p:spPr>
          <a:xfrm>
            <a:off x="7741310" y="2528316"/>
            <a:ext cx="1046074" cy="384048"/>
          </a:xfrm>
          <a:prstGeom prst="rect">
            <a:avLst/>
          </a:prstGeom>
          <a:solidFill>
            <a:srgbClr val="DCFCE7"/>
          </a:solidFill>
          <a:ln/>
        </p:spPr>
        <p:txBody>
          <a:bodyPr wrap="square" lIns="0" tIns="0" rIns="0" bIns="0" rtlCol="0" anchor="ctr"/>
          <a:lstStyle/>
          <a:p>
            <a:pPr algn="ctr" indent="0" marL="0">
              <a:buNone/>
            </a:pPr>
            <a:r>
              <a:rPr lang="en-US" sz="800" b="1" dirty="0">
                <a:solidFill>
                  <a:srgbClr val="111111"/>
                </a:solidFill>
                <a:latin typeface="Calibri" pitchFamily="34" charset="0"/>
                <a:ea typeface="Calibri" pitchFamily="34" charset="-122"/>
                <a:cs typeface="Calibri" pitchFamily="34" charset="-120"/>
              </a:rPr>
              <a:t>He's bald (+ glasses).</a:t>
            </a:r>
            <a:endParaRPr lang="en-US" sz="800" dirty="0"/>
          </a:p>
          <a:p>
            <a:pPr algn="ctr" indent="0" marL="0">
              <a:buNone/>
            </a:pPr>
            <a:r>
              <a:rPr lang="en-US" sz="800" i="1" dirty="0">
                <a:solidFill>
                  <a:srgbClr val="6D3FC0"/>
                </a:solidFill>
                <a:latin typeface="Calibri" pitchFamily="34" charset="0"/>
                <a:ea typeface="Calibri" pitchFamily="34" charset="-122"/>
                <a:cs typeface="Calibri" pitchFamily="34" charset="-120"/>
              </a:rPr>
              <a:t>calvo</a:t>
            </a:r>
            <a:endParaRPr lang="en-US" sz="800" dirty="0"/>
          </a:p>
        </p:txBody>
      </p:sp>
      <p:sp>
        <p:nvSpPr>
          <p:cNvPr id="32" name="pt_69"/>
          <p:cNvSpPr/>
          <p:nvPr/>
        </p:nvSpPr>
        <p:spPr>
          <a:xfrm>
            <a:off x="2788920" y="3058668"/>
            <a:ext cx="1119226" cy="1623060"/>
          </a:xfrm>
          <a:prstGeom prst="roundRect">
            <a:avLst>
              <a:gd name="adj" fmla="val 6536"/>
            </a:avLst>
          </a:prstGeom>
          <a:solidFill>
            <a:srgbClr val="FFFFFF"/>
          </a:solidFill>
          <a:ln w="19050">
            <a:solidFill>
              <a:srgbClr val="111111"/>
            </a:solidFill>
            <a:prstDash val="solid"/>
          </a:ln>
        </p:spPr>
      </p:sp>
      <p:sp>
        <p:nvSpPr>
          <p:cNvPr id="33" name="pn_70"/>
          <p:cNvSpPr txBox="1"/>
          <p:nvPr/>
        </p:nvSpPr>
        <p:spPr>
          <a:xfrm>
            <a:off x="2834640" y="3095244"/>
            <a:ext cx="274320" cy="237744"/>
          </a:xfrm>
          <a:prstGeom prst="rect">
            <a:avLst/>
          </a:prstGeom>
          <a:noFill/>
          <a:ln/>
        </p:spPr>
        <p:txBody>
          <a:bodyPr wrap="square" lIns="0" tIns="0" rIns="0" bIns="0" rtlCol="0" anchor="ctr"/>
          <a:lstStyle/>
          <a:p>
            <a:pPr indent="0" marL="0">
              <a:buNone/>
            </a:pPr>
            <a:r>
              <a:rPr lang="en-US" sz="1000" dirty="0">
                <a:solidFill>
                  <a:srgbClr val="64748B"/>
                </a:solidFill>
                <a:latin typeface="Arial Black" pitchFamily="34" charset="0"/>
                <a:ea typeface="Arial Black" pitchFamily="34" charset="-122"/>
                <a:cs typeface="Arial Black" pitchFamily="34" charset="-120"/>
              </a:rPr>
              <a:t>6</a:t>
            </a:r>
            <a:endParaRPr lang="en-US" sz="1000" dirty="0"/>
          </a:p>
        </p:txBody>
      </p:sp>
      <p:pic>
        <p:nvPicPr>
          <p:cNvPr id="34" name="pi_71" descr="She has curly hair.">    </p:cNvPr>
          <p:cNvPicPr>
            <a:picLocks noChangeAspect="1"/>
          </p:cNvPicPr>
          <p:nvPr/>
        </p:nvPicPr>
        <p:blipFill>
          <a:blip r:embed="rId8"/>
          <a:stretch>
            <a:fillRect/>
          </a:stretch>
        </p:blipFill>
        <p:spPr>
          <a:xfrm>
            <a:off x="2880360" y="3113532"/>
            <a:ext cx="936346" cy="936346"/>
          </a:xfrm>
          <a:prstGeom prst="rect">
            <a:avLst/>
          </a:prstGeom>
        </p:spPr>
      </p:pic>
      <p:sp>
        <p:nvSpPr>
          <p:cNvPr id="35" name="R1_pw5"/>
          <p:cNvSpPr txBox="1"/>
          <p:nvPr/>
        </p:nvSpPr>
        <p:spPr>
          <a:xfrm>
            <a:off x="2825496" y="4261104"/>
            <a:ext cx="1046074" cy="384048"/>
          </a:xfrm>
          <a:prstGeom prst="rect">
            <a:avLst/>
          </a:prstGeom>
          <a:solidFill>
            <a:srgbClr val="DCFCE7"/>
          </a:solidFill>
          <a:ln/>
        </p:spPr>
        <p:txBody>
          <a:bodyPr wrap="square" lIns="0" tIns="0" rIns="0" bIns="0" rtlCol="0" anchor="ctr"/>
          <a:lstStyle/>
          <a:p>
            <a:pPr algn="ctr" indent="0" marL="0">
              <a:buNone/>
            </a:pPr>
            <a:r>
              <a:rPr lang="en-US" sz="850" b="1" dirty="0">
                <a:solidFill>
                  <a:srgbClr val="111111"/>
                </a:solidFill>
                <a:latin typeface="Calibri" pitchFamily="34" charset="0"/>
                <a:ea typeface="Calibri" pitchFamily="34" charset="-122"/>
                <a:cs typeface="Calibri" pitchFamily="34" charset="-120"/>
              </a:rPr>
              <a:t>She has curly hair.</a:t>
            </a:r>
            <a:endParaRPr lang="en-US" sz="850" dirty="0"/>
          </a:p>
          <a:p>
            <a:pPr algn="ctr" indent="0" marL="0">
              <a:buNone/>
            </a:pPr>
            <a:r>
              <a:rPr lang="en-US" sz="800" i="1" dirty="0">
                <a:solidFill>
                  <a:srgbClr val="6D3FC0"/>
                </a:solidFill>
                <a:latin typeface="Calibri" pitchFamily="34" charset="0"/>
                <a:ea typeface="Calibri" pitchFamily="34" charset="-122"/>
                <a:cs typeface="Calibri" pitchFamily="34" charset="-120"/>
              </a:rPr>
              <a:t>capelli ricci</a:t>
            </a:r>
            <a:endParaRPr lang="en-US" sz="850" dirty="0"/>
          </a:p>
        </p:txBody>
      </p:sp>
      <p:sp>
        <p:nvSpPr>
          <p:cNvPr id="36" name="pt_72"/>
          <p:cNvSpPr/>
          <p:nvPr/>
        </p:nvSpPr>
        <p:spPr>
          <a:xfrm>
            <a:off x="4017874" y="3058668"/>
            <a:ext cx="1119226" cy="1623060"/>
          </a:xfrm>
          <a:prstGeom prst="roundRect">
            <a:avLst>
              <a:gd name="adj" fmla="val 6536"/>
            </a:avLst>
          </a:prstGeom>
          <a:solidFill>
            <a:srgbClr val="FFFFFF"/>
          </a:solidFill>
          <a:ln w="19050">
            <a:solidFill>
              <a:srgbClr val="111111"/>
            </a:solidFill>
            <a:prstDash val="solid"/>
          </a:ln>
        </p:spPr>
      </p:sp>
      <p:sp>
        <p:nvSpPr>
          <p:cNvPr id="37" name="pn_73"/>
          <p:cNvSpPr txBox="1"/>
          <p:nvPr/>
        </p:nvSpPr>
        <p:spPr>
          <a:xfrm>
            <a:off x="4063594" y="3095244"/>
            <a:ext cx="274320" cy="237744"/>
          </a:xfrm>
          <a:prstGeom prst="rect">
            <a:avLst/>
          </a:prstGeom>
          <a:noFill/>
          <a:ln/>
        </p:spPr>
        <p:txBody>
          <a:bodyPr wrap="square" lIns="0" tIns="0" rIns="0" bIns="0" rtlCol="0" anchor="ctr"/>
          <a:lstStyle/>
          <a:p>
            <a:pPr indent="0" marL="0">
              <a:buNone/>
            </a:pPr>
            <a:r>
              <a:rPr lang="en-US" sz="1000" dirty="0">
                <a:solidFill>
                  <a:srgbClr val="64748B"/>
                </a:solidFill>
                <a:latin typeface="Arial Black" pitchFamily="34" charset="0"/>
                <a:ea typeface="Arial Black" pitchFamily="34" charset="-122"/>
                <a:cs typeface="Arial Black" pitchFamily="34" charset="-120"/>
              </a:rPr>
              <a:t>7</a:t>
            </a:r>
            <a:endParaRPr lang="en-US" sz="1000" dirty="0"/>
          </a:p>
        </p:txBody>
      </p:sp>
      <p:pic>
        <p:nvPicPr>
          <p:cNvPr id="38" name="pi_74" descr="She has long straight hair.">    </p:cNvPr>
          <p:cNvPicPr>
            <a:picLocks noChangeAspect="1"/>
          </p:cNvPicPr>
          <p:nvPr/>
        </p:nvPicPr>
        <p:blipFill>
          <a:blip r:embed="rId9"/>
          <a:stretch>
            <a:fillRect/>
          </a:stretch>
        </p:blipFill>
        <p:spPr>
          <a:xfrm>
            <a:off x="4109314" y="3113532"/>
            <a:ext cx="936346" cy="936346"/>
          </a:xfrm>
          <a:prstGeom prst="rect">
            <a:avLst/>
          </a:prstGeom>
        </p:spPr>
      </p:pic>
      <p:sp>
        <p:nvSpPr>
          <p:cNvPr id="39" name="R1_pw6"/>
          <p:cNvSpPr txBox="1"/>
          <p:nvPr/>
        </p:nvSpPr>
        <p:spPr>
          <a:xfrm>
            <a:off x="4054450" y="4261104"/>
            <a:ext cx="1046074" cy="384048"/>
          </a:xfrm>
          <a:prstGeom prst="rect">
            <a:avLst/>
          </a:prstGeom>
          <a:solidFill>
            <a:srgbClr val="DCFCE7"/>
          </a:solidFill>
          <a:ln/>
        </p:spPr>
        <p:txBody>
          <a:bodyPr wrap="square" lIns="0" tIns="0" rIns="0" bIns="0" rtlCol="0" anchor="ctr"/>
          <a:lstStyle/>
          <a:p>
            <a:pPr algn="ctr" indent="0" marL="0">
              <a:buNone/>
            </a:pPr>
            <a:r>
              <a:rPr lang="en-US" sz="800" b="1" dirty="0">
                <a:solidFill>
                  <a:srgbClr val="111111"/>
                </a:solidFill>
                <a:latin typeface="Calibri" pitchFamily="34" charset="0"/>
                <a:ea typeface="Calibri" pitchFamily="34" charset="-122"/>
                <a:cs typeface="Calibri" pitchFamily="34" charset="-120"/>
              </a:rPr>
              <a:t>She has long straight hair.</a:t>
            </a:r>
            <a:endParaRPr lang="en-US" sz="800" dirty="0"/>
          </a:p>
          <a:p>
            <a:pPr algn="ctr" indent="0" marL="0">
              <a:buNone/>
            </a:pPr>
            <a:r>
              <a:rPr lang="en-US" sz="800" i="1" dirty="0">
                <a:solidFill>
                  <a:srgbClr val="6D3FC0"/>
                </a:solidFill>
                <a:latin typeface="Calibri" pitchFamily="34" charset="0"/>
                <a:ea typeface="Calibri" pitchFamily="34" charset="-122"/>
                <a:cs typeface="Calibri" pitchFamily="34" charset="-120"/>
              </a:rPr>
              <a:t>capelli lunghi e lisci</a:t>
            </a:r>
            <a:endParaRPr lang="en-US" sz="800" dirty="0"/>
          </a:p>
        </p:txBody>
      </p:sp>
      <p:sp>
        <p:nvSpPr>
          <p:cNvPr id="40" name="pt_75"/>
          <p:cNvSpPr/>
          <p:nvPr/>
        </p:nvSpPr>
        <p:spPr>
          <a:xfrm>
            <a:off x="5246827" y="3058668"/>
            <a:ext cx="1119226" cy="1623060"/>
          </a:xfrm>
          <a:prstGeom prst="roundRect">
            <a:avLst>
              <a:gd name="adj" fmla="val 6536"/>
            </a:avLst>
          </a:prstGeom>
          <a:solidFill>
            <a:srgbClr val="FFFFFF"/>
          </a:solidFill>
          <a:ln w="19050">
            <a:solidFill>
              <a:srgbClr val="111111"/>
            </a:solidFill>
            <a:prstDash val="solid"/>
          </a:ln>
        </p:spPr>
      </p:sp>
      <p:sp>
        <p:nvSpPr>
          <p:cNvPr id="41" name="pn_76"/>
          <p:cNvSpPr txBox="1"/>
          <p:nvPr/>
        </p:nvSpPr>
        <p:spPr>
          <a:xfrm>
            <a:off x="5292547" y="3095244"/>
            <a:ext cx="274320" cy="237744"/>
          </a:xfrm>
          <a:prstGeom prst="rect">
            <a:avLst/>
          </a:prstGeom>
          <a:noFill/>
          <a:ln/>
        </p:spPr>
        <p:txBody>
          <a:bodyPr wrap="square" lIns="0" tIns="0" rIns="0" bIns="0" rtlCol="0" anchor="ctr"/>
          <a:lstStyle/>
          <a:p>
            <a:pPr indent="0" marL="0">
              <a:buNone/>
            </a:pPr>
            <a:r>
              <a:rPr lang="en-US" sz="1000" dirty="0">
                <a:solidFill>
                  <a:srgbClr val="64748B"/>
                </a:solidFill>
                <a:latin typeface="Arial Black" pitchFamily="34" charset="0"/>
                <a:ea typeface="Arial Black" pitchFamily="34" charset="-122"/>
                <a:cs typeface="Arial Black" pitchFamily="34" charset="-120"/>
              </a:rPr>
              <a:t>8</a:t>
            </a:r>
            <a:endParaRPr lang="en-US" sz="1000" dirty="0"/>
          </a:p>
        </p:txBody>
      </p:sp>
      <p:pic>
        <p:nvPicPr>
          <p:cNvPr id="42" name="pi_77" descr="She has blonde hair and blue eyes.">    </p:cNvPr>
          <p:cNvPicPr>
            <a:picLocks noChangeAspect="1"/>
          </p:cNvPicPr>
          <p:nvPr/>
        </p:nvPicPr>
        <p:blipFill>
          <a:blip r:embed="rId10"/>
          <a:stretch>
            <a:fillRect/>
          </a:stretch>
        </p:blipFill>
        <p:spPr>
          <a:xfrm>
            <a:off x="5338267" y="3113532"/>
            <a:ext cx="936346" cy="936346"/>
          </a:xfrm>
          <a:prstGeom prst="rect">
            <a:avLst/>
          </a:prstGeom>
        </p:spPr>
      </p:pic>
      <p:sp>
        <p:nvSpPr>
          <p:cNvPr id="43" name="R1_pw7"/>
          <p:cNvSpPr txBox="1"/>
          <p:nvPr/>
        </p:nvSpPr>
        <p:spPr>
          <a:xfrm>
            <a:off x="5283403" y="4261104"/>
            <a:ext cx="1046074" cy="384048"/>
          </a:xfrm>
          <a:prstGeom prst="rect">
            <a:avLst/>
          </a:prstGeom>
          <a:solidFill>
            <a:srgbClr val="DCFCE7"/>
          </a:solidFill>
          <a:ln/>
        </p:spPr>
        <p:txBody>
          <a:bodyPr wrap="square" lIns="0" tIns="0" rIns="0" bIns="0" rtlCol="0" anchor="ctr"/>
          <a:lstStyle/>
          <a:p>
            <a:pPr algn="ctr" indent="0" marL="0">
              <a:buNone/>
            </a:pPr>
            <a:r>
              <a:rPr lang="en-US" sz="800" b="1" dirty="0">
                <a:solidFill>
                  <a:srgbClr val="111111"/>
                </a:solidFill>
                <a:latin typeface="Calibri" pitchFamily="34" charset="0"/>
                <a:ea typeface="Calibri" pitchFamily="34" charset="-122"/>
                <a:cs typeface="Calibri" pitchFamily="34" charset="-120"/>
              </a:rPr>
              <a:t>She has blonde hair and blue eyes.</a:t>
            </a:r>
            <a:endParaRPr lang="en-US" sz="800" dirty="0"/>
          </a:p>
          <a:p>
            <a:pPr algn="ctr" indent="0" marL="0">
              <a:buNone/>
            </a:pPr>
            <a:r>
              <a:rPr lang="en-US" sz="800" i="1" dirty="0">
                <a:solidFill>
                  <a:srgbClr val="6D3FC0"/>
                </a:solidFill>
                <a:latin typeface="Calibri" pitchFamily="34" charset="0"/>
                <a:ea typeface="Calibri" pitchFamily="34" charset="-122"/>
                <a:cs typeface="Calibri" pitchFamily="34" charset="-120"/>
              </a:rPr>
              <a:t>bionda, occhi azzurri</a:t>
            </a:r>
            <a:endParaRPr lang="en-US" sz="800" dirty="0"/>
          </a:p>
        </p:txBody>
      </p:sp>
      <p:sp>
        <p:nvSpPr>
          <p:cNvPr id="44" name="pt_78"/>
          <p:cNvSpPr/>
          <p:nvPr/>
        </p:nvSpPr>
        <p:spPr>
          <a:xfrm>
            <a:off x="6475781" y="3058668"/>
            <a:ext cx="1119226" cy="1623060"/>
          </a:xfrm>
          <a:prstGeom prst="roundRect">
            <a:avLst>
              <a:gd name="adj" fmla="val 6536"/>
            </a:avLst>
          </a:prstGeom>
          <a:solidFill>
            <a:srgbClr val="FFFFFF"/>
          </a:solidFill>
          <a:ln w="19050">
            <a:solidFill>
              <a:srgbClr val="111111"/>
            </a:solidFill>
            <a:prstDash val="solid"/>
          </a:ln>
        </p:spPr>
      </p:sp>
      <p:sp>
        <p:nvSpPr>
          <p:cNvPr id="45" name="pn_79"/>
          <p:cNvSpPr txBox="1"/>
          <p:nvPr/>
        </p:nvSpPr>
        <p:spPr>
          <a:xfrm>
            <a:off x="6521501" y="3095244"/>
            <a:ext cx="274320" cy="237744"/>
          </a:xfrm>
          <a:prstGeom prst="rect">
            <a:avLst/>
          </a:prstGeom>
          <a:noFill/>
          <a:ln/>
        </p:spPr>
        <p:txBody>
          <a:bodyPr wrap="square" lIns="0" tIns="0" rIns="0" bIns="0" rtlCol="0" anchor="ctr"/>
          <a:lstStyle/>
          <a:p>
            <a:pPr indent="0" marL="0">
              <a:buNone/>
            </a:pPr>
            <a:r>
              <a:rPr lang="en-US" sz="1000" dirty="0">
                <a:solidFill>
                  <a:srgbClr val="64748B"/>
                </a:solidFill>
                <a:latin typeface="Arial Black" pitchFamily="34" charset="0"/>
                <a:ea typeface="Arial Black" pitchFamily="34" charset="-122"/>
                <a:cs typeface="Arial Black" pitchFamily="34" charset="-120"/>
              </a:rPr>
              <a:t>9</a:t>
            </a:r>
            <a:endParaRPr lang="en-US" sz="1000" dirty="0"/>
          </a:p>
        </p:txBody>
      </p:sp>
      <p:pic>
        <p:nvPicPr>
          <p:cNvPr id="46" name="pi_80" descr="He has a beard.">    </p:cNvPr>
          <p:cNvPicPr>
            <a:picLocks noChangeAspect="1"/>
          </p:cNvPicPr>
          <p:nvPr/>
        </p:nvPicPr>
        <p:blipFill>
          <a:blip r:embed="rId11"/>
          <a:stretch>
            <a:fillRect/>
          </a:stretch>
        </p:blipFill>
        <p:spPr>
          <a:xfrm>
            <a:off x="6567221" y="3113532"/>
            <a:ext cx="936346" cy="936346"/>
          </a:xfrm>
          <a:prstGeom prst="rect">
            <a:avLst/>
          </a:prstGeom>
        </p:spPr>
      </p:pic>
      <p:sp>
        <p:nvSpPr>
          <p:cNvPr id="47" name="R1_pw8"/>
          <p:cNvSpPr txBox="1"/>
          <p:nvPr/>
        </p:nvSpPr>
        <p:spPr>
          <a:xfrm>
            <a:off x="6512357" y="4261104"/>
            <a:ext cx="1046074" cy="384048"/>
          </a:xfrm>
          <a:prstGeom prst="rect">
            <a:avLst/>
          </a:prstGeom>
          <a:solidFill>
            <a:srgbClr val="DCFCE7"/>
          </a:solidFill>
          <a:ln/>
        </p:spPr>
        <p:txBody>
          <a:bodyPr wrap="square" lIns="0" tIns="0" rIns="0" bIns="0" rtlCol="0" anchor="ctr"/>
          <a:lstStyle/>
          <a:p>
            <a:pPr algn="ctr" indent="0" marL="0">
              <a:buNone/>
            </a:pPr>
            <a:r>
              <a:rPr lang="en-US" sz="1050" b="1" dirty="0">
                <a:solidFill>
                  <a:srgbClr val="111111"/>
                </a:solidFill>
                <a:latin typeface="Calibri" pitchFamily="34" charset="0"/>
                <a:ea typeface="Calibri" pitchFamily="34" charset="-122"/>
                <a:cs typeface="Calibri" pitchFamily="34" charset="-120"/>
              </a:rPr>
              <a:t>He has a beard.</a:t>
            </a:r>
            <a:endParaRPr lang="en-US" sz="1050" dirty="0"/>
          </a:p>
          <a:p>
            <a:pPr algn="ctr" indent="0" marL="0">
              <a:buNone/>
            </a:pPr>
            <a:r>
              <a:rPr lang="en-US" sz="900" i="1" dirty="0">
                <a:solidFill>
                  <a:srgbClr val="6D3FC0"/>
                </a:solidFill>
                <a:latin typeface="Calibri" pitchFamily="34" charset="0"/>
                <a:ea typeface="Calibri" pitchFamily="34" charset="-122"/>
                <a:cs typeface="Calibri" pitchFamily="34" charset="-120"/>
              </a:rPr>
              <a:t>barba</a:t>
            </a:r>
            <a:endParaRPr lang="en-US" sz="1050" dirty="0"/>
          </a:p>
        </p:txBody>
      </p:sp>
      <p:sp>
        <p:nvSpPr>
          <p:cNvPr id="48" name="pt_81"/>
          <p:cNvSpPr/>
          <p:nvPr/>
        </p:nvSpPr>
        <p:spPr>
          <a:xfrm>
            <a:off x="7704734" y="3058668"/>
            <a:ext cx="1119226" cy="1623060"/>
          </a:xfrm>
          <a:prstGeom prst="roundRect">
            <a:avLst>
              <a:gd name="adj" fmla="val 6536"/>
            </a:avLst>
          </a:prstGeom>
          <a:solidFill>
            <a:srgbClr val="FFFFFF"/>
          </a:solidFill>
          <a:ln w="19050">
            <a:solidFill>
              <a:srgbClr val="111111"/>
            </a:solidFill>
            <a:prstDash val="solid"/>
          </a:ln>
        </p:spPr>
      </p:sp>
      <p:sp>
        <p:nvSpPr>
          <p:cNvPr id="49" name="pn_82"/>
          <p:cNvSpPr txBox="1"/>
          <p:nvPr/>
        </p:nvSpPr>
        <p:spPr>
          <a:xfrm>
            <a:off x="7750454" y="3095244"/>
            <a:ext cx="274320" cy="237744"/>
          </a:xfrm>
          <a:prstGeom prst="rect">
            <a:avLst/>
          </a:prstGeom>
          <a:noFill/>
          <a:ln/>
        </p:spPr>
        <p:txBody>
          <a:bodyPr wrap="square" lIns="0" tIns="0" rIns="0" bIns="0" rtlCol="0" anchor="ctr"/>
          <a:lstStyle/>
          <a:p>
            <a:pPr indent="0" marL="0">
              <a:buNone/>
            </a:pPr>
            <a:r>
              <a:rPr lang="en-US" sz="1000" dirty="0">
                <a:solidFill>
                  <a:srgbClr val="64748B"/>
                </a:solidFill>
                <a:latin typeface="Arial Black" pitchFamily="34" charset="0"/>
                <a:ea typeface="Arial Black" pitchFamily="34" charset="-122"/>
                <a:cs typeface="Arial Black" pitchFamily="34" charset="-120"/>
              </a:rPr>
              <a:t>10</a:t>
            </a:r>
            <a:endParaRPr lang="en-US" sz="1000" dirty="0"/>
          </a:p>
        </p:txBody>
      </p:sp>
      <p:pic>
        <p:nvPicPr>
          <p:cNvPr id="50" name="pi_83" descr="He has a moustache.">    </p:cNvPr>
          <p:cNvPicPr>
            <a:picLocks noChangeAspect="1"/>
          </p:cNvPicPr>
          <p:nvPr/>
        </p:nvPicPr>
        <p:blipFill>
          <a:blip r:embed="rId12"/>
          <a:stretch>
            <a:fillRect/>
          </a:stretch>
        </p:blipFill>
        <p:spPr>
          <a:xfrm>
            <a:off x="7796174" y="3113532"/>
            <a:ext cx="936346" cy="936346"/>
          </a:xfrm>
          <a:prstGeom prst="rect">
            <a:avLst/>
          </a:prstGeom>
        </p:spPr>
      </p:pic>
      <p:sp>
        <p:nvSpPr>
          <p:cNvPr id="51" name="R1_pw9"/>
          <p:cNvSpPr txBox="1"/>
          <p:nvPr/>
        </p:nvSpPr>
        <p:spPr>
          <a:xfrm>
            <a:off x="7741310" y="4261104"/>
            <a:ext cx="1046074" cy="384048"/>
          </a:xfrm>
          <a:prstGeom prst="rect">
            <a:avLst/>
          </a:prstGeom>
          <a:solidFill>
            <a:srgbClr val="DCFCE7"/>
          </a:solidFill>
          <a:ln/>
        </p:spPr>
        <p:txBody>
          <a:bodyPr wrap="square" lIns="0" tIns="0" rIns="0" bIns="0" rtlCol="0" anchor="ctr"/>
          <a:lstStyle/>
          <a:p>
            <a:pPr algn="ctr" indent="0" marL="0">
              <a:buNone/>
            </a:pPr>
            <a:r>
              <a:rPr lang="en-US" sz="800" b="1" dirty="0">
                <a:solidFill>
                  <a:srgbClr val="111111"/>
                </a:solidFill>
                <a:latin typeface="Calibri" pitchFamily="34" charset="0"/>
                <a:ea typeface="Calibri" pitchFamily="34" charset="-122"/>
                <a:cs typeface="Calibri" pitchFamily="34" charset="-120"/>
              </a:rPr>
              <a:t>He has a moustache.</a:t>
            </a:r>
            <a:endParaRPr lang="en-US" sz="800" dirty="0"/>
          </a:p>
          <a:p>
            <a:pPr algn="ctr" indent="0" marL="0">
              <a:buNone/>
            </a:pPr>
            <a:r>
              <a:rPr lang="en-US" sz="800" i="1" dirty="0">
                <a:solidFill>
                  <a:srgbClr val="6D3FC0"/>
                </a:solidFill>
                <a:latin typeface="Calibri" pitchFamily="34" charset="0"/>
                <a:ea typeface="Calibri" pitchFamily="34" charset="-122"/>
                <a:cs typeface="Calibri" pitchFamily="34" charset="-120"/>
              </a:rPr>
              <a:t>baffi</a:t>
            </a:r>
            <a:endParaRPr lang="en-US" sz="8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400"/>
                                        <p:tgtEl>
                                          <p:spTgt spid="15"/>
                                        </p:tgtEl>
                                      </p:cBhvr>
                                    </p:animEffect>
                                  </p:childTnLst>
                                </p:cTn>
                              </p:par>
                              <p:par>
                                <p:cTn id="8" presetID="10" presetClass="entr" presetSubtype="0" fill="hold"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fade">
                                      <p:cBhvr>
                                        <p:cTn id="10" dur="400"/>
                                        <p:tgtEl>
                                          <p:spTgt spid="19"/>
                                        </p:tgtEl>
                                      </p:cBhvr>
                                    </p:animEffect>
                                  </p:childTnLst>
                                </p:cTn>
                              </p:par>
                              <p:par>
                                <p:cTn id="11" presetID="10" presetClass="entr" presetSubtype="0" fill="hold" nodeType="withEffect">
                                  <p:stCondLst>
                                    <p:cond delay="0"/>
                                  </p:stCondLst>
                                  <p:childTnLst>
                                    <p:set>
                                      <p:cBhvr>
                                        <p:cTn id="12" dur="1" fill="hold">
                                          <p:stCondLst>
                                            <p:cond delay="0"/>
                                          </p:stCondLst>
                                        </p:cTn>
                                        <p:tgtEl>
                                          <p:spTgt spid="23"/>
                                        </p:tgtEl>
                                        <p:attrNameLst>
                                          <p:attrName>style.visibility</p:attrName>
                                        </p:attrNameLst>
                                      </p:cBhvr>
                                      <p:to>
                                        <p:strVal val="visible"/>
                                      </p:to>
                                    </p:set>
                                    <p:animEffect transition="in" filter="fade">
                                      <p:cBhvr>
                                        <p:cTn id="13" dur="400"/>
                                        <p:tgtEl>
                                          <p:spTgt spid="23"/>
                                        </p:tgtEl>
                                      </p:cBhvr>
                                    </p:animEffect>
                                  </p:childTnLst>
                                </p:cTn>
                              </p:par>
                              <p:par>
                                <p:cTn id="14" presetID="10" presetClass="entr" presetSubtype="0" fill="hold" nodeType="withEffect">
                                  <p:stCondLst>
                                    <p:cond delay="0"/>
                                  </p:stCondLst>
                                  <p:childTnLst>
                                    <p:set>
                                      <p:cBhvr>
                                        <p:cTn id="15" dur="1" fill="hold">
                                          <p:stCondLst>
                                            <p:cond delay="0"/>
                                          </p:stCondLst>
                                        </p:cTn>
                                        <p:tgtEl>
                                          <p:spTgt spid="27"/>
                                        </p:tgtEl>
                                        <p:attrNameLst>
                                          <p:attrName>style.visibility</p:attrName>
                                        </p:attrNameLst>
                                      </p:cBhvr>
                                      <p:to>
                                        <p:strVal val="visible"/>
                                      </p:to>
                                    </p:set>
                                    <p:animEffect transition="in" filter="fade">
                                      <p:cBhvr>
                                        <p:cTn id="16" dur="400"/>
                                        <p:tgtEl>
                                          <p:spTgt spid="27"/>
                                        </p:tgtEl>
                                      </p:cBhvr>
                                    </p:animEffect>
                                  </p:childTnLst>
                                </p:cTn>
                              </p:par>
                              <p:par>
                                <p:cTn id="17" presetID="10" presetClass="entr" presetSubtype="0" fill="hold" nodeType="withEffect">
                                  <p:stCondLst>
                                    <p:cond delay="0"/>
                                  </p:stCondLst>
                                  <p:childTnLst>
                                    <p:set>
                                      <p:cBhvr>
                                        <p:cTn id="18" dur="1" fill="hold">
                                          <p:stCondLst>
                                            <p:cond delay="0"/>
                                          </p:stCondLst>
                                        </p:cTn>
                                        <p:tgtEl>
                                          <p:spTgt spid="31"/>
                                        </p:tgtEl>
                                        <p:attrNameLst>
                                          <p:attrName>style.visibility</p:attrName>
                                        </p:attrNameLst>
                                      </p:cBhvr>
                                      <p:to>
                                        <p:strVal val="visible"/>
                                      </p:to>
                                    </p:set>
                                    <p:animEffect transition="in" filter="fade">
                                      <p:cBhvr>
                                        <p:cTn id="19" dur="400"/>
                                        <p:tgtEl>
                                          <p:spTgt spid="31"/>
                                        </p:tgtEl>
                                      </p:cBhvr>
                                    </p:animEffect>
                                  </p:childTnLst>
                                </p:cTn>
                              </p:par>
                              <p:par>
                                <p:cTn id="20" presetID="10" presetClass="entr" presetSubtype="0" fill="hold" nodeType="withEffect">
                                  <p:stCondLst>
                                    <p:cond delay="0"/>
                                  </p:stCondLst>
                                  <p:childTnLst>
                                    <p:set>
                                      <p:cBhvr>
                                        <p:cTn id="21" dur="1" fill="hold">
                                          <p:stCondLst>
                                            <p:cond delay="0"/>
                                          </p:stCondLst>
                                        </p:cTn>
                                        <p:tgtEl>
                                          <p:spTgt spid="35"/>
                                        </p:tgtEl>
                                        <p:attrNameLst>
                                          <p:attrName>style.visibility</p:attrName>
                                        </p:attrNameLst>
                                      </p:cBhvr>
                                      <p:to>
                                        <p:strVal val="visible"/>
                                      </p:to>
                                    </p:set>
                                    <p:animEffect transition="in" filter="fade">
                                      <p:cBhvr>
                                        <p:cTn id="22" dur="400"/>
                                        <p:tgtEl>
                                          <p:spTgt spid="35"/>
                                        </p:tgtEl>
                                      </p:cBhvr>
                                    </p:animEffect>
                                  </p:childTnLst>
                                </p:cTn>
                              </p:par>
                              <p:par>
                                <p:cTn id="23" presetID="10" presetClass="entr" presetSubtype="0" fill="hold" nodeType="withEffect">
                                  <p:stCondLst>
                                    <p:cond delay="0"/>
                                  </p:stCondLst>
                                  <p:childTnLst>
                                    <p:set>
                                      <p:cBhvr>
                                        <p:cTn id="24" dur="1" fill="hold">
                                          <p:stCondLst>
                                            <p:cond delay="0"/>
                                          </p:stCondLst>
                                        </p:cTn>
                                        <p:tgtEl>
                                          <p:spTgt spid="39"/>
                                        </p:tgtEl>
                                        <p:attrNameLst>
                                          <p:attrName>style.visibility</p:attrName>
                                        </p:attrNameLst>
                                      </p:cBhvr>
                                      <p:to>
                                        <p:strVal val="visible"/>
                                      </p:to>
                                    </p:set>
                                    <p:animEffect transition="in" filter="fade">
                                      <p:cBhvr>
                                        <p:cTn id="25" dur="400"/>
                                        <p:tgtEl>
                                          <p:spTgt spid="39"/>
                                        </p:tgtEl>
                                      </p:cBhvr>
                                    </p:animEffect>
                                  </p:childTnLst>
                                </p:cTn>
                              </p:par>
                              <p:par>
                                <p:cTn id="26" presetID="10" presetClass="entr" presetSubtype="0" fill="hold" nodeType="withEffect">
                                  <p:stCondLst>
                                    <p:cond delay="0"/>
                                  </p:stCondLst>
                                  <p:childTnLst>
                                    <p:set>
                                      <p:cBhvr>
                                        <p:cTn id="27" dur="1" fill="hold">
                                          <p:stCondLst>
                                            <p:cond delay="0"/>
                                          </p:stCondLst>
                                        </p:cTn>
                                        <p:tgtEl>
                                          <p:spTgt spid="43"/>
                                        </p:tgtEl>
                                        <p:attrNameLst>
                                          <p:attrName>style.visibility</p:attrName>
                                        </p:attrNameLst>
                                      </p:cBhvr>
                                      <p:to>
                                        <p:strVal val="visible"/>
                                      </p:to>
                                    </p:set>
                                    <p:animEffect transition="in" filter="fade">
                                      <p:cBhvr>
                                        <p:cTn id="28" dur="400"/>
                                        <p:tgtEl>
                                          <p:spTgt spid="43"/>
                                        </p:tgtEl>
                                      </p:cBhvr>
                                    </p:animEffect>
                                  </p:childTnLst>
                                </p:cTn>
                              </p:par>
                              <p:par>
                                <p:cTn id="29" presetID="10" presetClass="entr" presetSubtype="0" fill="hold" nodeType="withEffect">
                                  <p:stCondLst>
                                    <p:cond delay="0"/>
                                  </p:stCondLst>
                                  <p:childTnLst>
                                    <p:set>
                                      <p:cBhvr>
                                        <p:cTn id="30" dur="1" fill="hold">
                                          <p:stCondLst>
                                            <p:cond delay="0"/>
                                          </p:stCondLst>
                                        </p:cTn>
                                        <p:tgtEl>
                                          <p:spTgt spid="47"/>
                                        </p:tgtEl>
                                        <p:attrNameLst>
                                          <p:attrName>style.visibility</p:attrName>
                                        </p:attrNameLst>
                                      </p:cBhvr>
                                      <p:to>
                                        <p:strVal val="visible"/>
                                      </p:to>
                                    </p:set>
                                    <p:animEffect transition="in" filter="fade">
                                      <p:cBhvr>
                                        <p:cTn id="31" dur="400"/>
                                        <p:tgtEl>
                                          <p:spTgt spid="47"/>
                                        </p:tgtEl>
                                      </p:cBhvr>
                                    </p:animEffect>
                                  </p:childTnLst>
                                </p:cTn>
                              </p:par>
                              <p:par>
                                <p:cTn id="32" presetID="10" presetClass="entr" presetSubtype="0" fill="hold" nodeType="withEffect">
                                  <p:stCondLst>
                                    <p:cond delay="0"/>
                                  </p:stCondLst>
                                  <p:childTnLst>
                                    <p:set>
                                      <p:cBhvr>
                                        <p:cTn id="33" dur="1" fill="hold">
                                          <p:stCondLst>
                                            <p:cond delay="0"/>
                                          </p:stCondLst>
                                        </p:cTn>
                                        <p:tgtEl>
                                          <p:spTgt spid="51"/>
                                        </p:tgtEl>
                                        <p:attrNameLst>
                                          <p:attrName>style.visibility</p:attrName>
                                        </p:attrNameLst>
                                      </p:cBhvr>
                                      <p:to>
                                        <p:strVal val="visible"/>
                                      </p:to>
                                    </p:set>
                                    <p:animEffect transition="in" filter="fade">
                                      <p:cBhvr>
                                        <p:cTn id="34" dur="4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84"/>
          <p:cNvSpPr/>
          <p:nvPr/>
        </p:nvSpPr>
        <p:spPr>
          <a:xfrm>
            <a:off x="54864" y="54864"/>
            <a:ext cx="9034272" cy="5033772"/>
          </a:xfrm>
          <a:prstGeom prst="rect">
            <a:avLst/>
          </a:prstGeom>
          <a:ln w="114300">
            <a:solidFill>
              <a:srgbClr val="FDBA74"/>
            </a:solidFill>
            <a:prstDash val="solid"/>
          </a:ln>
        </p:spPr>
      </p:sp>
      <p:pic>
        <p:nvPicPr>
          <p:cNvPr id="4" name="logo_85"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86"/>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PRACTICE · Appearance</a:t>
            </a:r>
            <a:endParaRPr lang="en-US" sz="900" dirty="0"/>
          </a:p>
        </p:txBody>
      </p:sp>
      <p:sp>
        <p:nvSpPr>
          <p:cNvPr id="6" name="timer_87"/>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4 min</a:t>
            </a:r>
            <a:endParaRPr lang="en-US" sz="1200" dirty="0"/>
          </a:p>
        </p:txBody>
      </p:sp>
      <p:sp>
        <p:nvSpPr>
          <p:cNvPr id="7" name="footer_88"/>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1B · Part 1</a:t>
            </a:r>
            <a:endParaRPr lang="en-US" sz="1000" dirty="0"/>
          </a:p>
        </p:txBody>
      </p:sp>
      <p:sp>
        <p:nvSpPr>
          <p:cNvPr id="8" name="title_89"/>
          <p:cNvSpPr txBox="1"/>
          <p:nvPr/>
        </p:nvSpPr>
        <p:spPr>
          <a:xfrm rot="-120000">
            <a:off x="320040" y="676656"/>
            <a:ext cx="6583680" cy="530352"/>
          </a:xfrm>
          <a:prstGeom prst="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Italian → English: do you remember?</a:t>
            </a:r>
            <a:endParaRPr lang="en-US" sz="1500" dirty="0"/>
          </a:p>
        </p:txBody>
      </p:sp>
      <p:sp>
        <p:nvSpPr>
          <p:cNvPr id="9" name="post_90"/>
          <p:cNvSpPr/>
          <p:nvPr/>
        </p:nvSpPr>
        <p:spPr>
          <a:xfrm>
            <a:off x="429768" y="1554480"/>
            <a:ext cx="128016" cy="2194560"/>
          </a:xfrm>
          <a:prstGeom prst="rect">
            <a:avLst/>
          </a:prstGeom>
          <a:solidFill>
            <a:srgbClr val="8B5A2B"/>
          </a:solidFill>
          <a:ln w="31750">
            <a:solidFill>
              <a:srgbClr val="111111"/>
            </a:solidFill>
            <a:prstDash val="solid"/>
          </a:ln>
        </p:spPr>
      </p:sp>
      <p:sp>
        <p:nvSpPr>
          <p:cNvPr id="10" name="signA_91"/>
          <p:cNvSpPr txBox="1"/>
          <p:nvPr/>
        </p:nvSpPr>
        <p:spPr>
          <a:xfrm rot="-180000">
            <a:off x="320040" y="1371600"/>
            <a:ext cx="2240280" cy="457200"/>
          </a:xfrm>
          <a:prstGeom prst="homePlate">
            <a:avLst/>
          </a:prstGeom>
          <a:solidFill>
            <a:srgbClr val="6D3FC0"/>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WRITE!</a:t>
            </a:r>
            <a:pPr indent="0" marL="0">
              <a:buNone/>
            </a:pPr>
            <a:r>
              <a:rPr lang="en-US" sz="1000" dirty="0">
                <a:solidFill>
                  <a:srgbClr val="FFF3B0"/>
                </a:solidFill>
                <a:latin typeface="Arial Black" pitchFamily="34" charset="0"/>
                <a:ea typeface="Arial Black" pitchFamily="34" charset="-122"/>
                <a:cs typeface="Arial Black" pitchFamily="34" charset="-120"/>
              </a:rPr>
              <a:t>  SCRIVI!</a:t>
            </a:r>
            <a:endParaRPr lang="en-US" sz="1500" dirty="0"/>
          </a:p>
        </p:txBody>
      </p:sp>
      <p:sp>
        <p:nvSpPr>
          <p:cNvPr id="11" name="signB_92"/>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050" dirty="0">
                <a:solidFill>
                  <a:srgbClr val="111111"/>
                </a:solidFill>
                <a:latin typeface="Calibri" pitchFamily="34" charset="0"/>
                <a:ea typeface="Calibri" pitchFamily="34" charset="-122"/>
                <a:cs typeface="Calibri" pitchFamily="34" charset="-120"/>
              </a:rPr>
              <a:t>Write the English words. Then compare. Don't look back at the pictures!</a:t>
            </a:r>
            <a:endParaRPr lang="en-US" sz="1050" dirty="0"/>
          </a:p>
          <a:p>
            <a:pPr indent="0" marL="0">
              <a:buNone/>
            </a:pPr>
            <a:r>
              <a:rPr lang="en-US" sz="950" i="1" dirty="0">
                <a:solidFill>
                  <a:srgbClr val="334155"/>
                </a:solidFill>
                <a:latin typeface="Calibri" pitchFamily="34" charset="0"/>
                <a:ea typeface="Calibri" pitchFamily="34" charset="-122"/>
                <a:cs typeface="Calibri" pitchFamily="34" charset="-120"/>
              </a:rPr>
              <a:t>Scrivi le parole in inglese senza guardare le immagini. Poi confronta.</a:t>
            </a:r>
            <a:endParaRPr lang="en-US" sz="1050" dirty="0"/>
          </a:p>
        </p:txBody>
      </p:sp>
      <p:sp>
        <p:nvSpPr>
          <p:cNvPr id="12" name="iconBack_93"/>
          <p:cNvSpPr/>
          <p:nvPr/>
        </p:nvSpPr>
        <p:spPr>
          <a:xfrm>
            <a:off x="685800" y="3246120"/>
            <a:ext cx="1143000" cy="1143000"/>
          </a:xfrm>
          <a:prstGeom prst="ellipse">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13" name="icon_94" descr="pi:PiUser">    </p:cNvPr>
          <p:cNvPicPr>
            <a:picLocks noChangeAspect="1"/>
          </p:cNvPicPr>
          <p:nvPr/>
        </p:nvPicPr>
        <p:blipFill>
          <a:blip r:embed="rId3"/>
          <a:stretch>
            <a:fillRect/>
          </a:stretch>
        </p:blipFill>
        <p:spPr>
          <a:xfrm>
            <a:off x="914400" y="3474720"/>
            <a:ext cx="685800" cy="685800"/>
          </a:xfrm>
          <a:prstGeom prst="rect">
            <a:avLst/>
          </a:prstGeom>
        </p:spPr>
      </p:pic>
      <p:sp>
        <p:nvSpPr>
          <p:cNvPr id="14" name="example_95"/>
          <p:cNvSpPr txBox="1"/>
          <p:nvPr/>
        </p:nvSpPr>
        <p:spPr>
          <a:xfrm>
            <a:off x="2788920" y="1298448"/>
            <a:ext cx="6035040" cy="420624"/>
          </a:xfrm>
          <a:prstGeom prst="rect">
            <a:avLst/>
          </a:prstGeom>
          <a:solidFill>
            <a:srgbClr val="FFF7CC"/>
          </a:solidFill>
          <a:ln w="15875">
            <a:solidFill>
              <a:srgbClr val="B7950B"/>
            </a:solidFill>
            <a:prstDash val="dash"/>
          </a:ln>
        </p:spPr>
        <p:txBody>
          <a:bodyPr wrap="square" lIns="101600" tIns="101600" rIns="101600" bIns="101600" rtlCol="0" anchor="ctr"/>
          <a:lstStyle/>
          <a:p>
            <a:pPr indent="0" marL="0">
              <a:buNone/>
            </a:pPr>
            <a:r>
              <a:rPr lang="en-US" sz="1350" b="1" dirty="0">
                <a:solidFill>
                  <a:srgbClr val="6D3FC0"/>
                </a:solidFill>
                <a:latin typeface="Calibri" pitchFamily="34" charset="0"/>
                <a:ea typeface="Calibri" pitchFamily="34" charset="-122"/>
                <a:cs typeface="Calibri" pitchFamily="34" charset="-120"/>
              </a:rPr>
              <a:t>Example  </a:t>
            </a:r>
            <a:pPr indent="0" marL="0">
              <a:buNone/>
            </a:pPr>
            <a:r>
              <a:rPr lang="en-US" sz="1350" dirty="0">
                <a:solidFill>
                  <a:srgbClr val="111111"/>
                </a:solidFill>
                <a:latin typeface="Calibri" pitchFamily="34" charset="0"/>
                <a:ea typeface="Calibri" pitchFamily="34" charset="-122"/>
                <a:cs typeface="Calibri" pitchFamily="34" charset="-120"/>
              </a:rPr>
              <a:t>0  occhi azzurri  →  blue eyes</a:t>
            </a:r>
            <a:endParaRPr lang="en-US" sz="1350" dirty="0"/>
          </a:p>
        </p:txBody>
      </p:sp>
      <p:sp>
        <p:nvSpPr>
          <p:cNvPr id="15" name="box_96"/>
          <p:cNvSpPr txBox="1"/>
          <p:nvPr/>
        </p:nvSpPr>
        <p:spPr>
          <a:xfrm>
            <a:off x="2788920" y="1810512"/>
            <a:ext cx="1476756" cy="617220"/>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500" dirty="0">
                <a:solidFill>
                  <a:srgbClr val="111111"/>
                </a:solidFill>
                <a:latin typeface="Calibri" pitchFamily="34" charset="0"/>
                <a:ea typeface="Calibri" pitchFamily="34" charset="-122"/>
                <a:cs typeface="Calibri" pitchFamily="34" charset="-120"/>
              </a:rPr>
              <a:t>1  capelli ricci</a:t>
            </a:r>
            <a:endParaRPr lang="en-US" sz="1500" dirty="0"/>
          </a:p>
        </p:txBody>
      </p:sp>
      <p:sp>
        <p:nvSpPr>
          <p:cNvPr id="16" name="R1_a0"/>
          <p:cNvSpPr txBox="1"/>
          <p:nvPr/>
        </p:nvSpPr>
        <p:spPr>
          <a:xfrm>
            <a:off x="4320540" y="1847088"/>
            <a:ext cx="1421892" cy="544068"/>
          </a:xfrm>
          <a:prstGeom prst="roundRect">
            <a:avLst>
              <a:gd name="adj" fmla="val 10084"/>
            </a:avLst>
          </a:prstGeom>
          <a:solidFill>
            <a:srgbClr val="FFFFFF"/>
          </a:solidFill>
          <a:ln w="38100">
            <a:solidFill>
              <a:srgbClr val="1FA463"/>
            </a:solidFill>
          </a:ln>
        </p:spPr>
        <p:txBody>
          <a:bodyPr wrap="square" lIns="25400" tIns="25400" rIns="25400" bIns="25400" rtlCol="0" anchor="ctr"/>
          <a:lstStyle/>
          <a:p>
            <a:pPr algn="ctr" indent="0" marL="0">
              <a:buNone/>
            </a:pPr>
            <a:r>
              <a:rPr lang="en-US" sz="1400" dirty="0">
                <a:solidFill>
                  <a:srgbClr val="111111"/>
                </a:solidFill>
                <a:latin typeface="Calibri" pitchFamily="34" charset="0"/>
                <a:ea typeface="Calibri" pitchFamily="34" charset="-122"/>
                <a:cs typeface="Calibri" pitchFamily="34" charset="-120"/>
              </a:rPr>
              <a:t>curly hair</a:t>
            </a:r>
            <a:endParaRPr lang="en-US" sz="1400" dirty="0"/>
          </a:p>
        </p:txBody>
      </p:sp>
      <p:sp>
        <p:nvSpPr>
          <p:cNvPr id="17" name="box_97"/>
          <p:cNvSpPr txBox="1"/>
          <p:nvPr/>
        </p:nvSpPr>
        <p:spPr>
          <a:xfrm>
            <a:off x="5870448" y="1810512"/>
            <a:ext cx="1476756" cy="617220"/>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500" dirty="0">
                <a:solidFill>
                  <a:srgbClr val="111111"/>
                </a:solidFill>
                <a:latin typeface="Calibri" pitchFamily="34" charset="0"/>
                <a:ea typeface="Calibri" pitchFamily="34" charset="-122"/>
                <a:cs typeface="Calibri" pitchFamily="34" charset="-120"/>
              </a:rPr>
              <a:t>2  capelli lisci</a:t>
            </a:r>
            <a:endParaRPr lang="en-US" sz="1500" dirty="0"/>
          </a:p>
        </p:txBody>
      </p:sp>
      <p:sp>
        <p:nvSpPr>
          <p:cNvPr id="18" name="R1_a1"/>
          <p:cNvSpPr txBox="1"/>
          <p:nvPr/>
        </p:nvSpPr>
        <p:spPr>
          <a:xfrm>
            <a:off x="7402068" y="1847088"/>
            <a:ext cx="1421892" cy="544068"/>
          </a:xfrm>
          <a:prstGeom prst="roundRect">
            <a:avLst>
              <a:gd name="adj" fmla="val 10084"/>
            </a:avLst>
          </a:prstGeom>
          <a:solidFill>
            <a:srgbClr val="FFFFFF"/>
          </a:solidFill>
          <a:ln w="38100">
            <a:solidFill>
              <a:srgbClr val="1FA463"/>
            </a:solidFill>
          </a:ln>
        </p:spPr>
        <p:txBody>
          <a:bodyPr wrap="square" lIns="25400" tIns="25400" rIns="25400" bIns="25400" rtlCol="0" anchor="ctr"/>
          <a:lstStyle/>
          <a:p>
            <a:pPr algn="ctr" indent="0" marL="0">
              <a:buNone/>
            </a:pPr>
            <a:r>
              <a:rPr lang="en-US" sz="1400" dirty="0">
                <a:solidFill>
                  <a:srgbClr val="111111"/>
                </a:solidFill>
                <a:latin typeface="Calibri" pitchFamily="34" charset="0"/>
                <a:ea typeface="Calibri" pitchFamily="34" charset="-122"/>
                <a:cs typeface="Calibri" pitchFamily="34" charset="-120"/>
              </a:rPr>
              <a:t>straight hair</a:t>
            </a:r>
            <a:endParaRPr lang="en-US" sz="1400" dirty="0"/>
          </a:p>
        </p:txBody>
      </p:sp>
      <p:sp>
        <p:nvSpPr>
          <p:cNvPr id="19" name="box_98"/>
          <p:cNvSpPr txBox="1"/>
          <p:nvPr/>
        </p:nvSpPr>
        <p:spPr>
          <a:xfrm>
            <a:off x="2788920" y="2555748"/>
            <a:ext cx="1476756" cy="617220"/>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1500" dirty="0">
                <a:solidFill>
                  <a:srgbClr val="111111"/>
                </a:solidFill>
                <a:latin typeface="Calibri" pitchFamily="34" charset="0"/>
                <a:ea typeface="Calibri" pitchFamily="34" charset="-122"/>
                <a:cs typeface="Calibri" pitchFamily="34" charset="-120"/>
              </a:rPr>
              <a:t>3  calvo</a:t>
            </a:r>
            <a:endParaRPr lang="en-US" sz="1500" dirty="0"/>
          </a:p>
        </p:txBody>
      </p:sp>
      <p:sp>
        <p:nvSpPr>
          <p:cNvPr id="20" name="R1_a2"/>
          <p:cNvSpPr txBox="1"/>
          <p:nvPr/>
        </p:nvSpPr>
        <p:spPr>
          <a:xfrm>
            <a:off x="4320540" y="2592324"/>
            <a:ext cx="1421892" cy="544068"/>
          </a:xfrm>
          <a:prstGeom prst="roundRect">
            <a:avLst>
              <a:gd name="adj" fmla="val 10084"/>
            </a:avLst>
          </a:prstGeom>
          <a:solidFill>
            <a:srgbClr val="FFFFFF"/>
          </a:solidFill>
          <a:ln w="38100">
            <a:solidFill>
              <a:srgbClr val="1FA463"/>
            </a:solidFill>
          </a:ln>
        </p:spPr>
        <p:txBody>
          <a:bodyPr wrap="square" lIns="25400" tIns="25400" rIns="25400" bIns="25400" rtlCol="0" anchor="ctr"/>
          <a:lstStyle/>
          <a:p>
            <a:pPr algn="ctr" indent="0" marL="0">
              <a:buNone/>
            </a:pPr>
            <a:r>
              <a:rPr lang="en-US" sz="1400" dirty="0">
                <a:solidFill>
                  <a:srgbClr val="111111"/>
                </a:solidFill>
                <a:latin typeface="Calibri" pitchFamily="34" charset="0"/>
                <a:ea typeface="Calibri" pitchFamily="34" charset="-122"/>
                <a:cs typeface="Calibri" pitchFamily="34" charset="-120"/>
              </a:rPr>
              <a:t>bald</a:t>
            </a:r>
            <a:endParaRPr lang="en-US" sz="1400" dirty="0"/>
          </a:p>
        </p:txBody>
      </p:sp>
      <p:sp>
        <p:nvSpPr>
          <p:cNvPr id="21" name="box_99"/>
          <p:cNvSpPr txBox="1"/>
          <p:nvPr/>
        </p:nvSpPr>
        <p:spPr>
          <a:xfrm>
            <a:off x="5870448" y="2555748"/>
            <a:ext cx="1476756" cy="617220"/>
          </a:xfrm>
          <a:prstGeom prst="rect">
            <a:avLst/>
          </a:prstGeom>
          <a:solidFill>
            <a:srgbClr val="DCFCE7"/>
          </a:solidFill>
          <a:ln w="15875">
            <a:solidFill>
              <a:srgbClr val="111111"/>
            </a:solidFill>
          </a:ln>
        </p:spPr>
        <p:txBody>
          <a:bodyPr wrap="square" lIns="76200" tIns="76200" rIns="76200" bIns="76200" rtlCol="0" anchor="ctr"/>
          <a:lstStyle/>
          <a:p>
            <a:pPr algn="l" indent="0" marL="0">
              <a:buNone/>
            </a:pPr>
            <a:r>
              <a:rPr lang="en-US" sz="1500" dirty="0">
                <a:solidFill>
                  <a:srgbClr val="111111"/>
                </a:solidFill>
                <a:latin typeface="Calibri" pitchFamily="34" charset="0"/>
                <a:ea typeface="Calibri" pitchFamily="34" charset="-122"/>
                <a:cs typeface="Calibri" pitchFamily="34" charset="-120"/>
              </a:rPr>
              <a:t>4  barba · baffi</a:t>
            </a:r>
            <a:endParaRPr lang="en-US" sz="1500" dirty="0"/>
          </a:p>
        </p:txBody>
      </p:sp>
      <p:sp>
        <p:nvSpPr>
          <p:cNvPr id="22" name="R1_a3"/>
          <p:cNvSpPr txBox="1"/>
          <p:nvPr/>
        </p:nvSpPr>
        <p:spPr>
          <a:xfrm>
            <a:off x="7402068" y="2592324"/>
            <a:ext cx="1421892" cy="544068"/>
          </a:xfrm>
          <a:prstGeom prst="roundRect">
            <a:avLst>
              <a:gd name="adj" fmla="val 10084"/>
            </a:avLst>
          </a:prstGeom>
          <a:solidFill>
            <a:srgbClr val="FFFFFF"/>
          </a:solidFill>
          <a:ln w="38100">
            <a:solidFill>
              <a:srgbClr val="1FA463"/>
            </a:solidFill>
          </a:ln>
        </p:spPr>
        <p:txBody>
          <a:bodyPr wrap="square" lIns="25400" tIns="25400" rIns="25400" bIns="25400" rtlCol="0" anchor="ctr"/>
          <a:lstStyle/>
          <a:p>
            <a:pPr algn="ctr" indent="0" marL="0">
              <a:buNone/>
            </a:pPr>
            <a:r>
              <a:rPr lang="en-US" sz="1400" dirty="0">
                <a:solidFill>
                  <a:srgbClr val="111111"/>
                </a:solidFill>
                <a:latin typeface="Calibri" pitchFamily="34" charset="0"/>
                <a:ea typeface="Calibri" pitchFamily="34" charset="-122"/>
                <a:cs typeface="Calibri" pitchFamily="34" charset="-120"/>
              </a:rPr>
              <a:t>a beard · a moustache</a:t>
            </a:r>
            <a:endParaRPr lang="en-US" sz="1400" dirty="0"/>
          </a:p>
        </p:txBody>
      </p:sp>
      <p:sp>
        <p:nvSpPr>
          <p:cNvPr id="23" name="box_100"/>
          <p:cNvSpPr txBox="1"/>
          <p:nvPr/>
        </p:nvSpPr>
        <p:spPr>
          <a:xfrm>
            <a:off x="2788920" y="3300984"/>
            <a:ext cx="1476756" cy="617220"/>
          </a:xfrm>
          <a:prstGeom prst="rect">
            <a:avLst/>
          </a:prstGeom>
          <a:solidFill>
            <a:srgbClr val="EDE9FE"/>
          </a:solidFill>
          <a:ln w="15875">
            <a:solidFill>
              <a:srgbClr val="111111"/>
            </a:solidFill>
          </a:ln>
        </p:spPr>
        <p:txBody>
          <a:bodyPr wrap="square" lIns="76200" tIns="76200" rIns="76200" bIns="76200" rtlCol="0" anchor="ctr"/>
          <a:lstStyle/>
          <a:p>
            <a:pPr algn="l" indent="0" marL="0">
              <a:buNone/>
            </a:pPr>
            <a:r>
              <a:rPr lang="en-US" sz="1500" dirty="0">
                <a:solidFill>
                  <a:srgbClr val="111111"/>
                </a:solidFill>
                <a:latin typeface="Calibri" pitchFamily="34" charset="0"/>
                <a:ea typeface="Calibri" pitchFamily="34" charset="-122"/>
                <a:cs typeface="Calibri" pitchFamily="34" charset="-120"/>
              </a:rPr>
              <a:t>5  snello / magro</a:t>
            </a:r>
            <a:endParaRPr lang="en-US" sz="1500" dirty="0"/>
          </a:p>
        </p:txBody>
      </p:sp>
      <p:sp>
        <p:nvSpPr>
          <p:cNvPr id="24" name="R1_a4"/>
          <p:cNvSpPr txBox="1"/>
          <p:nvPr/>
        </p:nvSpPr>
        <p:spPr>
          <a:xfrm>
            <a:off x="4320540" y="3337560"/>
            <a:ext cx="1421892" cy="544068"/>
          </a:xfrm>
          <a:prstGeom prst="roundRect">
            <a:avLst>
              <a:gd name="adj" fmla="val 10084"/>
            </a:avLst>
          </a:prstGeom>
          <a:solidFill>
            <a:srgbClr val="FFFFFF"/>
          </a:solidFill>
          <a:ln w="38100">
            <a:solidFill>
              <a:srgbClr val="1FA463"/>
            </a:solidFill>
          </a:ln>
        </p:spPr>
        <p:txBody>
          <a:bodyPr wrap="square" lIns="25400" tIns="25400" rIns="25400" bIns="25400" rtlCol="0" anchor="ctr"/>
          <a:lstStyle/>
          <a:p>
            <a:pPr algn="ctr" indent="0" marL="0">
              <a:buNone/>
            </a:pPr>
            <a:r>
              <a:rPr lang="en-US" sz="1400" dirty="0">
                <a:solidFill>
                  <a:srgbClr val="111111"/>
                </a:solidFill>
                <a:latin typeface="Calibri" pitchFamily="34" charset="0"/>
                <a:ea typeface="Calibri" pitchFamily="34" charset="-122"/>
                <a:cs typeface="Calibri" pitchFamily="34" charset="-120"/>
              </a:rPr>
              <a:t>slim / thin</a:t>
            </a:r>
            <a:endParaRPr lang="en-US" sz="1400" dirty="0"/>
          </a:p>
        </p:txBody>
      </p:sp>
      <p:sp>
        <p:nvSpPr>
          <p:cNvPr id="25" name="box_101"/>
          <p:cNvSpPr txBox="1"/>
          <p:nvPr/>
        </p:nvSpPr>
        <p:spPr>
          <a:xfrm>
            <a:off x="5870448" y="3300984"/>
            <a:ext cx="1476756" cy="617220"/>
          </a:xfrm>
          <a:prstGeom prst="rect">
            <a:avLst/>
          </a:prstGeom>
          <a:solidFill>
            <a:srgbClr val="FFEDD5"/>
          </a:solidFill>
          <a:ln w="15875">
            <a:solidFill>
              <a:srgbClr val="111111"/>
            </a:solidFill>
          </a:ln>
        </p:spPr>
        <p:txBody>
          <a:bodyPr wrap="square" lIns="76200" tIns="76200" rIns="76200" bIns="76200" rtlCol="0" anchor="ctr"/>
          <a:lstStyle/>
          <a:p>
            <a:pPr algn="l" indent="0" marL="0">
              <a:buNone/>
            </a:pPr>
            <a:r>
              <a:rPr lang="en-US" sz="1500" dirty="0">
                <a:solidFill>
                  <a:srgbClr val="111111"/>
                </a:solidFill>
                <a:latin typeface="Calibri" pitchFamily="34" charset="0"/>
                <a:ea typeface="Calibri" pitchFamily="34" charset="-122"/>
                <a:cs typeface="Calibri" pitchFamily="34" charset="-120"/>
              </a:rPr>
              <a:t>6  sovrappeso</a:t>
            </a:r>
            <a:endParaRPr lang="en-US" sz="1500" dirty="0"/>
          </a:p>
        </p:txBody>
      </p:sp>
      <p:sp>
        <p:nvSpPr>
          <p:cNvPr id="26" name="R1_a5"/>
          <p:cNvSpPr txBox="1"/>
          <p:nvPr/>
        </p:nvSpPr>
        <p:spPr>
          <a:xfrm>
            <a:off x="7402068" y="3337560"/>
            <a:ext cx="1421892" cy="544068"/>
          </a:xfrm>
          <a:prstGeom prst="roundRect">
            <a:avLst>
              <a:gd name="adj" fmla="val 10084"/>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50" dirty="0">
                <a:solidFill>
                  <a:srgbClr val="111111"/>
                </a:solidFill>
                <a:latin typeface="Calibri" pitchFamily="34" charset="0"/>
                <a:ea typeface="Calibri" pitchFamily="34" charset="-122"/>
                <a:cs typeface="Calibri" pitchFamily="34" charset="-120"/>
              </a:rPr>
              <a:t>overweight (polite) · fat (rude!)</a:t>
            </a:r>
            <a:endParaRPr lang="en-US" sz="1250" dirty="0"/>
          </a:p>
        </p:txBody>
      </p:sp>
      <p:sp>
        <p:nvSpPr>
          <p:cNvPr id="27" name="box_102"/>
          <p:cNvSpPr txBox="1"/>
          <p:nvPr/>
        </p:nvSpPr>
        <p:spPr>
          <a:xfrm>
            <a:off x="2788920" y="4046220"/>
            <a:ext cx="1476756" cy="617220"/>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500" dirty="0">
                <a:solidFill>
                  <a:srgbClr val="111111"/>
                </a:solidFill>
                <a:latin typeface="Calibri" pitchFamily="34" charset="0"/>
                <a:ea typeface="Calibri" pitchFamily="34" charset="-122"/>
                <a:cs typeface="Calibri" pitchFamily="34" charset="-120"/>
              </a:rPr>
              <a:t>7  di media statura</a:t>
            </a:r>
            <a:endParaRPr lang="en-US" sz="1500" dirty="0"/>
          </a:p>
        </p:txBody>
      </p:sp>
      <p:sp>
        <p:nvSpPr>
          <p:cNvPr id="28" name="R1_a6"/>
          <p:cNvSpPr txBox="1"/>
          <p:nvPr/>
        </p:nvSpPr>
        <p:spPr>
          <a:xfrm>
            <a:off x="4320540" y="4082796"/>
            <a:ext cx="1421892" cy="544068"/>
          </a:xfrm>
          <a:prstGeom prst="roundRect">
            <a:avLst>
              <a:gd name="adj" fmla="val 10084"/>
            </a:avLst>
          </a:prstGeom>
          <a:solidFill>
            <a:srgbClr val="FFFFFF"/>
          </a:solidFill>
          <a:ln w="38100">
            <a:solidFill>
              <a:srgbClr val="1FA463"/>
            </a:solidFill>
          </a:ln>
        </p:spPr>
        <p:txBody>
          <a:bodyPr wrap="square" lIns="25400" tIns="25400" rIns="25400" bIns="25400" rtlCol="0" anchor="ctr"/>
          <a:lstStyle/>
          <a:p>
            <a:pPr algn="ctr" indent="0" marL="0">
              <a:buNone/>
            </a:pPr>
            <a:r>
              <a:rPr lang="en-US" sz="1400" dirty="0">
                <a:solidFill>
                  <a:srgbClr val="111111"/>
                </a:solidFill>
                <a:latin typeface="Calibri" pitchFamily="34" charset="0"/>
                <a:ea typeface="Calibri" pitchFamily="34" charset="-122"/>
                <a:cs typeface="Calibri" pitchFamily="34" charset="-120"/>
              </a:rPr>
              <a:t>medium height</a:t>
            </a:r>
            <a:endParaRPr lang="en-US" sz="1400" dirty="0"/>
          </a:p>
        </p:txBody>
      </p:sp>
      <p:sp>
        <p:nvSpPr>
          <p:cNvPr id="29" name="box_103"/>
          <p:cNvSpPr txBox="1"/>
          <p:nvPr/>
        </p:nvSpPr>
        <p:spPr>
          <a:xfrm>
            <a:off x="5870448" y="4046220"/>
            <a:ext cx="1476756" cy="617220"/>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500" dirty="0">
                <a:solidFill>
                  <a:srgbClr val="111111"/>
                </a:solidFill>
                <a:latin typeface="Calibri" pitchFamily="34" charset="0"/>
                <a:ea typeface="Calibri" pitchFamily="34" charset="-122"/>
                <a:cs typeface="Calibri" pitchFamily="34" charset="-120"/>
              </a:rPr>
              <a:t>8  biondo · occhi azzurri</a:t>
            </a:r>
            <a:endParaRPr lang="en-US" sz="1500" dirty="0"/>
          </a:p>
        </p:txBody>
      </p:sp>
      <p:sp>
        <p:nvSpPr>
          <p:cNvPr id="30" name="R1_a7"/>
          <p:cNvSpPr txBox="1"/>
          <p:nvPr/>
        </p:nvSpPr>
        <p:spPr>
          <a:xfrm>
            <a:off x="7402068" y="4082796"/>
            <a:ext cx="1421892" cy="544068"/>
          </a:xfrm>
          <a:prstGeom prst="roundRect">
            <a:avLst>
              <a:gd name="adj" fmla="val 10084"/>
            </a:avLst>
          </a:prstGeom>
          <a:solidFill>
            <a:srgbClr val="FFFFFF"/>
          </a:solidFill>
          <a:ln w="38100">
            <a:solidFill>
              <a:srgbClr val="1FA463"/>
            </a:solidFill>
          </a:ln>
        </p:spPr>
        <p:txBody>
          <a:bodyPr wrap="square" lIns="25400" tIns="25400" rIns="25400" bIns="25400" rtlCol="0" anchor="ctr"/>
          <a:lstStyle/>
          <a:p>
            <a:pPr algn="ctr" indent="0" marL="0">
              <a:buNone/>
            </a:pPr>
            <a:r>
              <a:rPr lang="en-US" sz="1400" dirty="0">
                <a:solidFill>
                  <a:srgbClr val="111111"/>
                </a:solidFill>
                <a:latin typeface="Calibri" pitchFamily="34" charset="0"/>
                <a:ea typeface="Calibri" pitchFamily="34" charset="-122"/>
                <a:cs typeface="Calibri" pitchFamily="34" charset="-120"/>
              </a:rPr>
              <a:t>blonde · blue eyes</a:t>
            </a:r>
            <a:endParaRPr lang="en-US" sz="1400" dirty="0"/>
          </a:p>
        </p:txBody>
      </p:sp>
      <p:sp>
        <p:nvSpPr>
          <p:cNvPr id="31" name="sticky_104"/>
          <p:cNvSpPr txBox="1"/>
          <p:nvPr/>
        </p:nvSpPr>
        <p:spPr>
          <a:xfrm rot="-120000">
            <a:off x="411480" y="4069080"/>
            <a:ext cx="2194560" cy="640080"/>
          </a:xfrm>
          <a:prstGeom prst="rect">
            <a:avLst/>
          </a:prstGeom>
          <a:solidFill>
            <a:srgbClr val="FFD84D"/>
          </a:solidFill>
          <a:ln w="12700">
            <a:solidFill>
              <a:srgbClr val="B7950B"/>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algn="ctr" indent="0" marL="0">
              <a:buNone/>
            </a:pPr>
            <a:r>
              <a:rPr lang="en-US" sz="1150" b="1" dirty="0">
                <a:solidFill>
                  <a:srgbClr val="111111"/>
                </a:solidFill>
                <a:latin typeface="Calibri" pitchFamily="34" charset="0"/>
                <a:ea typeface="Calibri" pitchFamily="34" charset="-122"/>
                <a:cs typeface="Calibri" pitchFamily="34" charset="-120"/>
              </a:rPr>
              <a:t>hair = singular! Her hair IS long. (not hairs)</a:t>
            </a:r>
            <a:endParaRPr lang="en-US" sz="11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400"/>
                                        <p:tgtEl>
                                          <p:spTgt spid="16"/>
                                        </p:tgtEl>
                                      </p:cBhvr>
                                    </p:animEffect>
                                  </p:childTnLst>
                                </p:cTn>
                              </p:par>
                              <p:par>
                                <p:cTn id="8" presetID="10" presetClass="entr" presetSubtype="0" fill="hold" nodeType="withEffect">
                                  <p:stCondLst>
                                    <p:cond delay="0"/>
                                  </p:stCondLst>
                                  <p:childTnLst>
                                    <p:set>
                                      <p:cBhvr>
                                        <p:cTn id="9" dur="1" fill="hold">
                                          <p:stCondLst>
                                            <p:cond delay="0"/>
                                          </p:stCondLst>
                                        </p:cTn>
                                        <p:tgtEl>
                                          <p:spTgt spid="18"/>
                                        </p:tgtEl>
                                        <p:attrNameLst>
                                          <p:attrName>style.visibility</p:attrName>
                                        </p:attrNameLst>
                                      </p:cBhvr>
                                      <p:to>
                                        <p:strVal val="visible"/>
                                      </p:to>
                                    </p:set>
                                    <p:animEffect transition="in" filter="fade">
                                      <p:cBhvr>
                                        <p:cTn id="10" dur="400"/>
                                        <p:tgtEl>
                                          <p:spTgt spid="18"/>
                                        </p:tgtEl>
                                      </p:cBhvr>
                                    </p:animEffect>
                                  </p:childTnLst>
                                </p:cTn>
                              </p:par>
                              <p:par>
                                <p:cTn id="11" presetID="10" presetClass="entr" presetSubtype="0" fill="hold" nodeType="withEffect">
                                  <p:stCondLst>
                                    <p:cond delay="0"/>
                                  </p:stCondLst>
                                  <p:childTnLst>
                                    <p:set>
                                      <p:cBhvr>
                                        <p:cTn id="12" dur="1" fill="hold">
                                          <p:stCondLst>
                                            <p:cond delay="0"/>
                                          </p:stCondLst>
                                        </p:cTn>
                                        <p:tgtEl>
                                          <p:spTgt spid="20"/>
                                        </p:tgtEl>
                                        <p:attrNameLst>
                                          <p:attrName>style.visibility</p:attrName>
                                        </p:attrNameLst>
                                      </p:cBhvr>
                                      <p:to>
                                        <p:strVal val="visible"/>
                                      </p:to>
                                    </p:set>
                                    <p:animEffect transition="in" filter="fade">
                                      <p:cBhvr>
                                        <p:cTn id="13" dur="400"/>
                                        <p:tgtEl>
                                          <p:spTgt spid="20"/>
                                        </p:tgtEl>
                                      </p:cBhvr>
                                    </p:animEffect>
                                  </p:childTnLst>
                                </p:cTn>
                              </p:par>
                              <p:par>
                                <p:cTn id="14" presetID="10" presetClass="entr" presetSubtype="0" fill="hold" nodeType="withEffect">
                                  <p:stCondLst>
                                    <p:cond delay="0"/>
                                  </p:stCondLst>
                                  <p:childTnLst>
                                    <p:set>
                                      <p:cBhvr>
                                        <p:cTn id="15" dur="1" fill="hold">
                                          <p:stCondLst>
                                            <p:cond delay="0"/>
                                          </p:stCondLst>
                                        </p:cTn>
                                        <p:tgtEl>
                                          <p:spTgt spid="22"/>
                                        </p:tgtEl>
                                        <p:attrNameLst>
                                          <p:attrName>style.visibility</p:attrName>
                                        </p:attrNameLst>
                                      </p:cBhvr>
                                      <p:to>
                                        <p:strVal val="visible"/>
                                      </p:to>
                                    </p:set>
                                    <p:animEffect transition="in" filter="fade">
                                      <p:cBhvr>
                                        <p:cTn id="16" dur="400"/>
                                        <p:tgtEl>
                                          <p:spTgt spid="22"/>
                                        </p:tgtEl>
                                      </p:cBhvr>
                                    </p:animEffect>
                                  </p:childTnLst>
                                </p:cTn>
                              </p:par>
                              <p:par>
                                <p:cTn id="17" presetID="10" presetClass="entr" presetSubtype="0" fill="hold" nodeType="withEffect">
                                  <p:stCondLst>
                                    <p:cond delay="0"/>
                                  </p:stCondLst>
                                  <p:childTnLst>
                                    <p:set>
                                      <p:cBhvr>
                                        <p:cTn id="18" dur="1" fill="hold">
                                          <p:stCondLst>
                                            <p:cond delay="0"/>
                                          </p:stCondLst>
                                        </p:cTn>
                                        <p:tgtEl>
                                          <p:spTgt spid="24"/>
                                        </p:tgtEl>
                                        <p:attrNameLst>
                                          <p:attrName>style.visibility</p:attrName>
                                        </p:attrNameLst>
                                      </p:cBhvr>
                                      <p:to>
                                        <p:strVal val="visible"/>
                                      </p:to>
                                    </p:set>
                                    <p:animEffect transition="in" filter="fade">
                                      <p:cBhvr>
                                        <p:cTn id="19" dur="400"/>
                                        <p:tgtEl>
                                          <p:spTgt spid="24"/>
                                        </p:tgtEl>
                                      </p:cBhvr>
                                    </p:animEffect>
                                  </p:childTnLst>
                                </p:cTn>
                              </p:par>
                              <p:par>
                                <p:cTn id="20" presetID="10" presetClass="entr" presetSubtype="0" fill="hold" nodeType="withEffect">
                                  <p:stCondLst>
                                    <p:cond delay="0"/>
                                  </p:stCondLst>
                                  <p:childTnLst>
                                    <p:set>
                                      <p:cBhvr>
                                        <p:cTn id="21" dur="1" fill="hold">
                                          <p:stCondLst>
                                            <p:cond delay="0"/>
                                          </p:stCondLst>
                                        </p:cTn>
                                        <p:tgtEl>
                                          <p:spTgt spid="26"/>
                                        </p:tgtEl>
                                        <p:attrNameLst>
                                          <p:attrName>style.visibility</p:attrName>
                                        </p:attrNameLst>
                                      </p:cBhvr>
                                      <p:to>
                                        <p:strVal val="visible"/>
                                      </p:to>
                                    </p:set>
                                    <p:animEffect transition="in" filter="fade">
                                      <p:cBhvr>
                                        <p:cTn id="22" dur="400"/>
                                        <p:tgtEl>
                                          <p:spTgt spid="26"/>
                                        </p:tgtEl>
                                      </p:cBhvr>
                                    </p:animEffect>
                                  </p:childTnLst>
                                </p:cTn>
                              </p:par>
                              <p:par>
                                <p:cTn id="23" presetID="10" presetClass="entr" presetSubtype="0" fill="hold" nodeType="withEffect">
                                  <p:stCondLst>
                                    <p:cond delay="0"/>
                                  </p:stCondLst>
                                  <p:childTnLst>
                                    <p:set>
                                      <p:cBhvr>
                                        <p:cTn id="24" dur="1" fill="hold">
                                          <p:stCondLst>
                                            <p:cond delay="0"/>
                                          </p:stCondLst>
                                        </p:cTn>
                                        <p:tgtEl>
                                          <p:spTgt spid="28"/>
                                        </p:tgtEl>
                                        <p:attrNameLst>
                                          <p:attrName>style.visibility</p:attrName>
                                        </p:attrNameLst>
                                      </p:cBhvr>
                                      <p:to>
                                        <p:strVal val="visible"/>
                                      </p:to>
                                    </p:set>
                                    <p:animEffect transition="in" filter="fade">
                                      <p:cBhvr>
                                        <p:cTn id="25" dur="400"/>
                                        <p:tgtEl>
                                          <p:spTgt spid="28"/>
                                        </p:tgtEl>
                                      </p:cBhvr>
                                    </p:animEffect>
                                  </p:childTnLst>
                                </p:cTn>
                              </p:par>
                              <p:par>
                                <p:cTn id="26" presetID="10" presetClass="entr" presetSubtype="0" fill="hold" nodeType="withEffect">
                                  <p:stCondLst>
                                    <p:cond delay="0"/>
                                  </p:stCondLst>
                                  <p:childTnLst>
                                    <p:set>
                                      <p:cBhvr>
                                        <p:cTn id="27" dur="1" fill="hold">
                                          <p:stCondLst>
                                            <p:cond delay="0"/>
                                          </p:stCondLst>
                                        </p:cTn>
                                        <p:tgtEl>
                                          <p:spTgt spid="30"/>
                                        </p:tgtEl>
                                        <p:attrNameLst>
                                          <p:attrName>style.visibility</p:attrName>
                                        </p:attrNameLst>
                                      </p:cBhvr>
                                      <p:to>
                                        <p:strVal val="visible"/>
                                      </p:to>
                                    </p:set>
                                    <p:animEffect transition="in" filter="fade">
                                      <p:cBhvr>
                                        <p:cTn id="28" dur="4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105"/>
          <p:cNvSpPr/>
          <p:nvPr/>
        </p:nvSpPr>
        <p:spPr>
          <a:xfrm>
            <a:off x="54864" y="54864"/>
            <a:ext cx="9034272" cy="5033772"/>
          </a:xfrm>
          <a:prstGeom prst="rect">
            <a:avLst/>
          </a:prstGeom>
          <a:ln w="114300">
            <a:solidFill>
              <a:srgbClr val="FDBA74"/>
            </a:solidFill>
            <a:prstDash val="solid"/>
          </a:ln>
        </p:spPr>
      </p:sp>
      <p:pic>
        <p:nvPicPr>
          <p:cNvPr id="4" name="logo_106"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107"/>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VOCABULARY · Personality</a:t>
            </a:r>
            <a:endParaRPr lang="en-US" sz="900" dirty="0"/>
          </a:p>
        </p:txBody>
      </p:sp>
      <p:sp>
        <p:nvSpPr>
          <p:cNvPr id="6" name="timer_108"/>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5 min</a:t>
            </a:r>
            <a:endParaRPr lang="en-US" sz="1200" dirty="0"/>
          </a:p>
        </p:txBody>
      </p:sp>
      <p:sp>
        <p:nvSpPr>
          <p:cNvPr id="7" name="footer_109"/>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1B · Part 1</a:t>
            </a:r>
            <a:endParaRPr lang="en-US" sz="1000" dirty="0"/>
          </a:p>
        </p:txBody>
      </p:sp>
      <p:sp>
        <p:nvSpPr>
          <p:cNvPr id="8" name="title_110"/>
          <p:cNvSpPr txBox="1"/>
          <p:nvPr/>
        </p:nvSpPr>
        <p:spPr>
          <a:xfrm rot="-120000">
            <a:off x="320040" y="676656"/>
            <a:ext cx="3977640" cy="530352"/>
          </a:xfrm>
          <a:prstGeom prst="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What kind of person?</a:t>
            </a:r>
            <a:endParaRPr lang="en-US" sz="1500" dirty="0"/>
          </a:p>
        </p:txBody>
      </p:sp>
      <p:sp>
        <p:nvSpPr>
          <p:cNvPr id="9" name="post_111"/>
          <p:cNvSpPr/>
          <p:nvPr/>
        </p:nvSpPr>
        <p:spPr>
          <a:xfrm>
            <a:off x="429768" y="1554480"/>
            <a:ext cx="128016" cy="2194560"/>
          </a:xfrm>
          <a:prstGeom prst="rect">
            <a:avLst/>
          </a:prstGeom>
          <a:solidFill>
            <a:srgbClr val="8B5A2B"/>
          </a:solidFill>
          <a:ln w="31750">
            <a:solidFill>
              <a:srgbClr val="111111"/>
            </a:solidFill>
            <a:prstDash val="solid"/>
          </a:ln>
        </p:spPr>
      </p:sp>
      <p:sp>
        <p:nvSpPr>
          <p:cNvPr id="10" name="signA_112"/>
          <p:cNvSpPr txBox="1"/>
          <p:nvPr/>
        </p:nvSpPr>
        <p:spPr>
          <a:xfrm rot="-180000">
            <a:off x="320040" y="1371600"/>
            <a:ext cx="2240280" cy="457200"/>
          </a:xfrm>
          <a:prstGeom prst="homePlate">
            <a:avLst/>
          </a:prstGeom>
          <a:solidFill>
            <a:srgbClr val="6D3FC0"/>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WRITE!</a:t>
            </a:r>
            <a:pPr indent="0" marL="0">
              <a:buNone/>
            </a:pPr>
            <a:r>
              <a:rPr lang="en-US" sz="1000" dirty="0">
                <a:solidFill>
                  <a:srgbClr val="FFF3B0"/>
                </a:solidFill>
                <a:latin typeface="Arial Black" pitchFamily="34" charset="0"/>
                <a:ea typeface="Arial Black" pitchFamily="34" charset="-122"/>
                <a:cs typeface="Arial Black" pitchFamily="34" charset="-120"/>
              </a:rPr>
              <a:t>  SCRIVI!</a:t>
            </a:r>
            <a:endParaRPr lang="en-US" sz="1500" dirty="0"/>
          </a:p>
        </p:txBody>
      </p:sp>
      <p:sp>
        <p:nvSpPr>
          <p:cNvPr id="11" name="signB_113"/>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00" dirty="0">
                <a:solidFill>
                  <a:srgbClr val="111111"/>
                </a:solidFill>
                <a:latin typeface="Calibri" pitchFamily="34" charset="0"/>
                <a:ea typeface="Calibri" pitchFamily="34" charset="-122"/>
                <a:cs typeface="Calibri" pitchFamily="34" charset="-120"/>
              </a:rPr>
              <a:t>Read the description. Write the adjective (personality). Then click.</a:t>
            </a:r>
            <a:endParaRPr lang="en-US" sz="1200" dirty="0"/>
          </a:p>
          <a:p>
            <a:pPr indent="0" marL="0">
              <a:buNone/>
            </a:pPr>
            <a:r>
              <a:rPr lang="en-US" sz="1050" i="1" dirty="0">
                <a:solidFill>
                  <a:srgbClr val="334155"/>
                </a:solidFill>
                <a:latin typeface="Calibri" pitchFamily="34" charset="0"/>
                <a:ea typeface="Calibri" pitchFamily="34" charset="-122"/>
                <a:cs typeface="Calibri" pitchFamily="34" charset="-120"/>
              </a:rPr>
              <a:t>Leggi la descrizione e scrivi l'aggettivo (carattere). Poi clicca.</a:t>
            </a:r>
            <a:endParaRPr lang="en-US" sz="1200" dirty="0"/>
          </a:p>
        </p:txBody>
      </p:sp>
      <p:sp>
        <p:nvSpPr>
          <p:cNvPr id="12" name="iconBack_114"/>
          <p:cNvSpPr/>
          <p:nvPr/>
        </p:nvSpPr>
        <p:spPr>
          <a:xfrm>
            <a:off x="685800" y="3246120"/>
            <a:ext cx="1143000" cy="1143000"/>
          </a:xfrm>
          <a:prstGeom prst="ellipse">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13" name="icon_115" descr="pi:PiSmiley">    </p:cNvPr>
          <p:cNvPicPr>
            <a:picLocks noChangeAspect="1"/>
          </p:cNvPicPr>
          <p:nvPr/>
        </p:nvPicPr>
        <p:blipFill>
          <a:blip r:embed="rId3"/>
          <a:stretch>
            <a:fillRect/>
          </a:stretch>
        </p:blipFill>
        <p:spPr>
          <a:xfrm>
            <a:off x="914400" y="3474720"/>
            <a:ext cx="685800" cy="685800"/>
          </a:xfrm>
          <a:prstGeom prst="rect">
            <a:avLst/>
          </a:prstGeom>
        </p:spPr>
      </p:pic>
      <p:sp>
        <p:nvSpPr>
          <p:cNvPr id="14" name="example_116"/>
          <p:cNvSpPr txBox="1"/>
          <p:nvPr/>
        </p:nvSpPr>
        <p:spPr>
          <a:xfrm>
            <a:off x="2788920" y="1298448"/>
            <a:ext cx="6035040" cy="420624"/>
          </a:xfrm>
          <a:prstGeom prst="rect">
            <a:avLst/>
          </a:prstGeom>
          <a:solidFill>
            <a:srgbClr val="FFF7CC"/>
          </a:solidFill>
          <a:ln w="15875">
            <a:solidFill>
              <a:srgbClr val="B7950B"/>
            </a:solidFill>
            <a:prstDash val="dash"/>
          </a:ln>
        </p:spPr>
        <p:txBody>
          <a:bodyPr wrap="square" lIns="101600" tIns="101600" rIns="101600" bIns="101600" rtlCol="0" anchor="ctr"/>
          <a:lstStyle/>
          <a:p>
            <a:pPr indent="0" marL="0">
              <a:buNone/>
            </a:pPr>
            <a:r>
              <a:rPr lang="en-US" sz="1350" b="1" dirty="0">
                <a:solidFill>
                  <a:srgbClr val="6D3FC0"/>
                </a:solidFill>
                <a:latin typeface="Calibri" pitchFamily="34" charset="0"/>
                <a:ea typeface="Calibri" pitchFamily="34" charset="-122"/>
                <a:cs typeface="Calibri" pitchFamily="34" charset="-120"/>
              </a:rPr>
              <a:t>Example  </a:t>
            </a:r>
            <a:pPr indent="0" marL="0">
              <a:buNone/>
            </a:pPr>
            <a:r>
              <a:rPr lang="en-US" sz="1350" dirty="0">
                <a:solidFill>
                  <a:srgbClr val="111111"/>
                </a:solidFill>
                <a:latin typeface="Calibri" pitchFamily="34" charset="0"/>
                <a:ea typeface="Calibri" pitchFamily="34" charset="-122"/>
                <a:cs typeface="Calibri" pitchFamily="34" charset="-120"/>
              </a:rPr>
              <a:t>0  A person who is nice to everybody.  →  kind</a:t>
            </a:r>
            <a:endParaRPr lang="en-US" sz="1350" dirty="0"/>
          </a:p>
        </p:txBody>
      </p:sp>
      <p:sp>
        <p:nvSpPr>
          <p:cNvPr id="15" name="box_117"/>
          <p:cNvSpPr txBox="1"/>
          <p:nvPr/>
        </p:nvSpPr>
        <p:spPr>
          <a:xfrm>
            <a:off x="2788920" y="1810512"/>
            <a:ext cx="1831177" cy="617220"/>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1  A person who talks a lot.</a:t>
            </a:r>
            <a:endParaRPr lang="en-US" sz="1300" dirty="0"/>
          </a:p>
        </p:txBody>
      </p:sp>
      <p:sp>
        <p:nvSpPr>
          <p:cNvPr id="16" name="R1_a0"/>
          <p:cNvSpPr txBox="1"/>
          <p:nvPr/>
        </p:nvSpPr>
        <p:spPr>
          <a:xfrm>
            <a:off x="4674961" y="1847088"/>
            <a:ext cx="1067471" cy="544068"/>
          </a:xfrm>
          <a:prstGeom prst="roundRect">
            <a:avLst>
              <a:gd name="adj" fmla="val 10084"/>
            </a:avLst>
          </a:prstGeom>
          <a:solidFill>
            <a:srgbClr val="FFFFFF"/>
          </a:solidFill>
          <a:ln w="38100">
            <a:solidFill>
              <a:srgbClr val="1FA463"/>
            </a:solidFill>
          </a:ln>
        </p:spPr>
        <p:txBody>
          <a:bodyPr wrap="square" lIns="25400" tIns="25400" rIns="25400" bIns="25400" rtlCol="0" anchor="ctr"/>
          <a:lstStyle/>
          <a:p>
            <a:pPr algn="ctr" indent="0" marL="0">
              <a:buNone/>
            </a:pPr>
            <a:r>
              <a:rPr lang="en-US" sz="1350" dirty="0">
                <a:solidFill>
                  <a:srgbClr val="111111"/>
                </a:solidFill>
                <a:latin typeface="Calibri" pitchFamily="34" charset="0"/>
                <a:ea typeface="Calibri" pitchFamily="34" charset="-122"/>
                <a:cs typeface="Calibri" pitchFamily="34" charset="-120"/>
              </a:rPr>
              <a:t>talkative</a:t>
            </a:r>
            <a:endParaRPr lang="en-US" sz="1350" dirty="0"/>
          </a:p>
        </p:txBody>
      </p:sp>
      <p:sp>
        <p:nvSpPr>
          <p:cNvPr id="17" name="box_118"/>
          <p:cNvSpPr txBox="1"/>
          <p:nvPr/>
        </p:nvSpPr>
        <p:spPr>
          <a:xfrm>
            <a:off x="5870448" y="1810512"/>
            <a:ext cx="1831177" cy="617220"/>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2  A person who likes giving people things.</a:t>
            </a:r>
            <a:endParaRPr lang="en-US" sz="1300" dirty="0"/>
          </a:p>
        </p:txBody>
      </p:sp>
      <p:sp>
        <p:nvSpPr>
          <p:cNvPr id="18" name="R1_a1"/>
          <p:cNvSpPr txBox="1"/>
          <p:nvPr/>
        </p:nvSpPr>
        <p:spPr>
          <a:xfrm>
            <a:off x="7756489" y="1847088"/>
            <a:ext cx="1067471" cy="544068"/>
          </a:xfrm>
          <a:prstGeom prst="roundRect">
            <a:avLst>
              <a:gd name="adj" fmla="val 10084"/>
            </a:avLst>
          </a:prstGeom>
          <a:solidFill>
            <a:srgbClr val="FFFFFF"/>
          </a:solidFill>
          <a:ln w="38100">
            <a:solidFill>
              <a:srgbClr val="1FA463"/>
            </a:solidFill>
          </a:ln>
        </p:spPr>
        <p:txBody>
          <a:bodyPr wrap="square" lIns="25400" tIns="25400" rIns="25400" bIns="25400" rtlCol="0" anchor="ctr"/>
          <a:lstStyle/>
          <a:p>
            <a:pPr algn="ctr" indent="0" marL="0">
              <a:buNone/>
            </a:pPr>
            <a:r>
              <a:rPr lang="en-US" sz="1350" dirty="0">
                <a:solidFill>
                  <a:srgbClr val="111111"/>
                </a:solidFill>
                <a:latin typeface="Calibri" pitchFamily="34" charset="0"/>
                <a:ea typeface="Calibri" pitchFamily="34" charset="-122"/>
                <a:cs typeface="Calibri" pitchFamily="34" charset="-120"/>
              </a:rPr>
              <a:t>generous</a:t>
            </a:r>
            <a:endParaRPr lang="en-US" sz="1350" dirty="0"/>
          </a:p>
        </p:txBody>
      </p:sp>
      <p:sp>
        <p:nvSpPr>
          <p:cNvPr id="19" name="box_119"/>
          <p:cNvSpPr txBox="1"/>
          <p:nvPr/>
        </p:nvSpPr>
        <p:spPr>
          <a:xfrm>
            <a:off x="2788920" y="2555748"/>
            <a:ext cx="1831177" cy="617220"/>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3  A person who doesn't want to work.</a:t>
            </a:r>
            <a:endParaRPr lang="en-US" sz="1300" dirty="0"/>
          </a:p>
        </p:txBody>
      </p:sp>
      <p:sp>
        <p:nvSpPr>
          <p:cNvPr id="20" name="R1_a2"/>
          <p:cNvSpPr txBox="1"/>
          <p:nvPr/>
        </p:nvSpPr>
        <p:spPr>
          <a:xfrm>
            <a:off x="4674961" y="2592324"/>
            <a:ext cx="1067471" cy="544068"/>
          </a:xfrm>
          <a:prstGeom prst="roundRect">
            <a:avLst>
              <a:gd name="adj" fmla="val 10084"/>
            </a:avLst>
          </a:prstGeom>
          <a:solidFill>
            <a:srgbClr val="FFFFFF"/>
          </a:solidFill>
          <a:ln w="38100">
            <a:solidFill>
              <a:srgbClr val="1FA463"/>
            </a:solidFill>
          </a:ln>
        </p:spPr>
        <p:txBody>
          <a:bodyPr wrap="square" lIns="25400" tIns="25400" rIns="25400" bIns="25400" rtlCol="0" anchor="ctr"/>
          <a:lstStyle/>
          <a:p>
            <a:pPr algn="ctr" indent="0" marL="0">
              <a:buNone/>
            </a:pPr>
            <a:r>
              <a:rPr lang="en-US" sz="1350" dirty="0">
                <a:solidFill>
                  <a:srgbClr val="111111"/>
                </a:solidFill>
                <a:latin typeface="Calibri" pitchFamily="34" charset="0"/>
                <a:ea typeface="Calibri" pitchFamily="34" charset="-122"/>
                <a:cs typeface="Calibri" pitchFamily="34" charset="-120"/>
              </a:rPr>
              <a:t>lazy</a:t>
            </a:r>
            <a:endParaRPr lang="en-US" sz="1350" dirty="0"/>
          </a:p>
        </p:txBody>
      </p:sp>
      <p:sp>
        <p:nvSpPr>
          <p:cNvPr id="21" name="box_120"/>
          <p:cNvSpPr txBox="1"/>
          <p:nvPr/>
        </p:nvSpPr>
        <p:spPr>
          <a:xfrm>
            <a:off x="5870448" y="2555748"/>
            <a:ext cx="1831177" cy="617220"/>
          </a:xfrm>
          <a:prstGeom prst="rect">
            <a:avLst/>
          </a:prstGeom>
          <a:solidFill>
            <a:srgbClr val="DCFCE7"/>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4  A person who makes you laugh.</a:t>
            </a:r>
            <a:endParaRPr lang="en-US" sz="1300" dirty="0"/>
          </a:p>
        </p:txBody>
      </p:sp>
      <p:sp>
        <p:nvSpPr>
          <p:cNvPr id="22" name="R1_a3"/>
          <p:cNvSpPr txBox="1"/>
          <p:nvPr/>
        </p:nvSpPr>
        <p:spPr>
          <a:xfrm>
            <a:off x="7756489" y="2592324"/>
            <a:ext cx="1067471" cy="544068"/>
          </a:xfrm>
          <a:prstGeom prst="roundRect">
            <a:avLst>
              <a:gd name="adj" fmla="val 10084"/>
            </a:avLst>
          </a:prstGeom>
          <a:solidFill>
            <a:srgbClr val="FFFFFF"/>
          </a:solidFill>
          <a:ln w="38100">
            <a:solidFill>
              <a:srgbClr val="1FA463"/>
            </a:solidFill>
          </a:ln>
        </p:spPr>
        <p:txBody>
          <a:bodyPr wrap="square" lIns="25400" tIns="25400" rIns="25400" bIns="25400" rtlCol="0" anchor="ctr"/>
          <a:lstStyle/>
          <a:p>
            <a:pPr algn="ctr" indent="0" marL="0">
              <a:buNone/>
            </a:pPr>
            <a:r>
              <a:rPr lang="en-US" sz="1350" dirty="0">
                <a:solidFill>
                  <a:srgbClr val="111111"/>
                </a:solidFill>
                <a:latin typeface="Calibri" pitchFamily="34" charset="0"/>
                <a:ea typeface="Calibri" pitchFamily="34" charset="-122"/>
                <a:cs typeface="Calibri" pitchFamily="34" charset="-120"/>
              </a:rPr>
              <a:t>funny</a:t>
            </a:r>
            <a:endParaRPr lang="en-US" sz="1350" dirty="0"/>
          </a:p>
        </p:txBody>
      </p:sp>
      <p:sp>
        <p:nvSpPr>
          <p:cNvPr id="23" name="box_121"/>
          <p:cNvSpPr txBox="1"/>
          <p:nvPr/>
        </p:nvSpPr>
        <p:spPr>
          <a:xfrm>
            <a:off x="2788920" y="3300984"/>
            <a:ext cx="1831177" cy="617220"/>
          </a:xfrm>
          <a:prstGeom prst="rect">
            <a:avLst/>
          </a:prstGeom>
          <a:solidFill>
            <a:srgbClr val="EDE9FE"/>
          </a:solidFill>
          <a:ln w="15875">
            <a:solidFill>
              <a:srgbClr val="111111"/>
            </a:solidFill>
          </a:ln>
        </p:spPr>
        <p:txBody>
          <a:bodyPr wrap="square" lIns="76200" tIns="76200" rIns="76200" bIns="76200" rtlCol="0" anchor="ctr"/>
          <a:lstStyle/>
          <a:p>
            <a:pPr algn="l" indent="0" marL="0">
              <a:buNone/>
            </a:pPr>
            <a:r>
              <a:rPr lang="en-US" sz="950" dirty="0">
                <a:solidFill>
                  <a:srgbClr val="111111"/>
                </a:solidFill>
                <a:latin typeface="Calibri" pitchFamily="34" charset="0"/>
                <a:ea typeface="Calibri" pitchFamily="34" charset="-122"/>
                <a:cs typeface="Calibri" pitchFamily="34" charset="-120"/>
              </a:rPr>
              <a:t>5  She finds it hard to talk to people she doesn't know.</a:t>
            </a:r>
            <a:endParaRPr lang="en-US" sz="950" dirty="0"/>
          </a:p>
        </p:txBody>
      </p:sp>
      <p:sp>
        <p:nvSpPr>
          <p:cNvPr id="24" name="R1_a4"/>
          <p:cNvSpPr txBox="1"/>
          <p:nvPr/>
        </p:nvSpPr>
        <p:spPr>
          <a:xfrm>
            <a:off x="4674961" y="3337560"/>
            <a:ext cx="1067471" cy="544068"/>
          </a:xfrm>
          <a:prstGeom prst="roundRect">
            <a:avLst>
              <a:gd name="adj" fmla="val 10084"/>
            </a:avLst>
          </a:prstGeom>
          <a:solidFill>
            <a:srgbClr val="FFFFFF"/>
          </a:solidFill>
          <a:ln w="38100">
            <a:solidFill>
              <a:srgbClr val="1FA463"/>
            </a:solidFill>
          </a:ln>
        </p:spPr>
        <p:txBody>
          <a:bodyPr wrap="square" lIns="25400" tIns="25400" rIns="25400" bIns="25400" rtlCol="0" anchor="ctr"/>
          <a:lstStyle/>
          <a:p>
            <a:pPr algn="ctr" indent="0" marL="0">
              <a:buNone/>
            </a:pPr>
            <a:r>
              <a:rPr lang="en-US" sz="1350" dirty="0">
                <a:solidFill>
                  <a:srgbClr val="111111"/>
                </a:solidFill>
                <a:latin typeface="Calibri" pitchFamily="34" charset="0"/>
                <a:ea typeface="Calibri" pitchFamily="34" charset="-122"/>
                <a:cs typeface="Calibri" pitchFamily="34" charset="-120"/>
              </a:rPr>
              <a:t>shy</a:t>
            </a:r>
            <a:endParaRPr lang="en-US" sz="1350" dirty="0"/>
          </a:p>
        </p:txBody>
      </p:sp>
      <p:sp>
        <p:nvSpPr>
          <p:cNvPr id="25" name="box_122"/>
          <p:cNvSpPr txBox="1"/>
          <p:nvPr/>
        </p:nvSpPr>
        <p:spPr>
          <a:xfrm>
            <a:off x="5870448" y="3300984"/>
            <a:ext cx="1831177" cy="617220"/>
          </a:xfrm>
          <a:prstGeom prst="rect">
            <a:avLst/>
          </a:prstGeom>
          <a:solidFill>
            <a:srgbClr val="FFEDD5"/>
          </a:solidFill>
          <a:ln w="15875">
            <a:solidFill>
              <a:srgbClr val="111111"/>
            </a:solidFill>
          </a:ln>
        </p:spPr>
        <p:txBody>
          <a:bodyPr wrap="square" lIns="76200" tIns="76200" rIns="76200" bIns="76200" rtlCol="0" anchor="ctr"/>
          <a:lstStyle/>
          <a:p>
            <a:pPr algn="l" indent="0" marL="0">
              <a:buNone/>
            </a:pPr>
            <a:r>
              <a:rPr lang="en-US" sz="1100" dirty="0">
                <a:solidFill>
                  <a:srgbClr val="111111"/>
                </a:solidFill>
                <a:latin typeface="Calibri" pitchFamily="34" charset="0"/>
                <a:ea typeface="Calibri" pitchFamily="34" charset="-122"/>
                <a:cs typeface="Calibri" pitchFamily="34" charset="-120"/>
              </a:rPr>
              <a:t>6  He's quick at learning and understanding things.</a:t>
            </a:r>
            <a:endParaRPr lang="en-US" sz="1100" dirty="0"/>
          </a:p>
        </p:txBody>
      </p:sp>
      <p:sp>
        <p:nvSpPr>
          <p:cNvPr id="26" name="R1_a5"/>
          <p:cNvSpPr txBox="1"/>
          <p:nvPr/>
        </p:nvSpPr>
        <p:spPr>
          <a:xfrm>
            <a:off x="7756489" y="3337560"/>
            <a:ext cx="1067471" cy="544068"/>
          </a:xfrm>
          <a:prstGeom prst="roundRect">
            <a:avLst>
              <a:gd name="adj" fmla="val 10084"/>
            </a:avLst>
          </a:prstGeom>
          <a:solidFill>
            <a:srgbClr val="FFFFFF"/>
          </a:solidFill>
          <a:ln w="38100">
            <a:solidFill>
              <a:srgbClr val="1FA463"/>
            </a:solidFill>
          </a:ln>
        </p:spPr>
        <p:txBody>
          <a:bodyPr wrap="square" lIns="25400" tIns="25400" rIns="25400" bIns="25400" rtlCol="0" anchor="ctr"/>
          <a:lstStyle/>
          <a:p>
            <a:pPr algn="ctr" indent="0" marL="0">
              <a:buNone/>
            </a:pPr>
            <a:r>
              <a:rPr lang="en-US" sz="1350" dirty="0">
                <a:solidFill>
                  <a:srgbClr val="111111"/>
                </a:solidFill>
                <a:latin typeface="Calibri" pitchFamily="34" charset="0"/>
                <a:ea typeface="Calibri" pitchFamily="34" charset="-122"/>
                <a:cs typeface="Calibri" pitchFamily="34" charset="-120"/>
              </a:rPr>
              <a:t>clever</a:t>
            </a:r>
            <a:endParaRPr lang="en-US" sz="1350" dirty="0"/>
          </a:p>
        </p:txBody>
      </p:sp>
      <p:sp>
        <p:nvSpPr>
          <p:cNvPr id="27" name="box_123"/>
          <p:cNvSpPr txBox="1"/>
          <p:nvPr/>
        </p:nvSpPr>
        <p:spPr>
          <a:xfrm>
            <a:off x="2788920" y="4046220"/>
            <a:ext cx="1831177" cy="617220"/>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7  She never stops working.</a:t>
            </a:r>
            <a:endParaRPr lang="en-US" sz="1300" dirty="0"/>
          </a:p>
        </p:txBody>
      </p:sp>
      <p:sp>
        <p:nvSpPr>
          <p:cNvPr id="28" name="R1_a6"/>
          <p:cNvSpPr txBox="1"/>
          <p:nvPr/>
        </p:nvSpPr>
        <p:spPr>
          <a:xfrm>
            <a:off x="4674961" y="4082796"/>
            <a:ext cx="1067471" cy="544068"/>
          </a:xfrm>
          <a:prstGeom prst="roundRect">
            <a:avLst>
              <a:gd name="adj" fmla="val 10084"/>
            </a:avLst>
          </a:prstGeom>
          <a:solidFill>
            <a:srgbClr val="FFFFFF"/>
          </a:solidFill>
          <a:ln w="38100">
            <a:solidFill>
              <a:srgbClr val="1FA463"/>
            </a:solidFill>
          </a:ln>
        </p:spPr>
        <p:txBody>
          <a:bodyPr wrap="square" lIns="25400" tIns="25400" rIns="25400" bIns="25400" rtlCol="0" anchor="ctr"/>
          <a:lstStyle/>
          <a:p>
            <a:pPr algn="ctr" indent="0" marL="0">
              <a:buNone/>
            </a:pPr>
            <a:r>
              <a:rPr lang="en-US" sz="1350" dirty="0">
                <a:solidFill>
                  <a:srgbClr val="111111"/>
                </a:solidFill>
                <a:latin typeface="Calibri" pitchFamily="34" charset="0"/>
                <a:ea typeface="Calibri" pitchFamily="34" charset="-122"/>
                <a:cs typeface="Calibri" pitchFamily="34" charset="-120"/>
              </a:rPr>
              <a:t>hard-working</a:t>
            </a:r>
            <a:endParaRPr lang="en-US" sz="1350" dirty="0"/>
          </a:p>
        </p:txBody>
      </p:sp>
      <p:sp>
        <p:nvSpPr>
          <p:cNvPr id="29" name="box_124"/>
          <p:cNvSpPr txBox="1"/>
          <p:nvPr/>
        </p:nvSpPr>
        <p:spPr>
          <a:xfrm>
            <a:off x="5870448" y="4046220"/>
            <a:ext cx="1831177" cy="617220"/>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8  He never pays for anything. (UK)</a:t>
            </a:r>
            <a:endParaRPr lang="en-US" sz="1300" dirty="0"/>
          </a:p>
        </p:txBody>
      </p:sp>
      <p:sp>
        <p:nvSpPr>
          <p:cNvPr id="30" name="R1_a7"/>
          <p:cNvSpPr txBox="1"/>
          <p:nvPr/>
        </p:nvSpPr>
        <p:spPr>
          <a:xfrm>
            <a:off x="7756489" y="4082796"/>
            <a:ext cx="1067471" cy="544068"/>
          </a:xfrm>
          <a:prstGeom prst="roundRect">
            <a:avLst>
              <a:gd name="adj" fmla="val 10084"/>
            </a:avLst>
          </a:prstGeom>
          <a:solidFill>
            <a:srgbClr val="FFFFFF"/>
          </a:solidFill>
          <a:ln w="38100">
            <a:solidFill>
              <a:srgbClr val="1FA463"/>
            </a:solidFill>
          </a:ln>
        </p:spPr>
        <p:txBody>
          <a:bodyPr wrap="square" lIns="25400" tIns="25400" rIns="25400" bIns="25400" rtlCol="0" anchor="ctr"/>
          <a:lstStyle/>
          <a:p>
            <a:pPr algn="ctr" indent="0" marL="0">
              <a:buNone/>
            </a:pPr>
            <a:r>
              <a:rPr lang="en-US" sz="1350" dirty="0">
                <a:solidFill>
                  <a:srgbClr val="111111"/>
                </a:solidFill>
                <a:latin typeface="Calibri" pitchFamily="34" charset="0"/>
                <a:ea typeface="Calibri" pitchFamily="34" charset="-122"/>
                <a:cs typeface="Calibri" pitchFamily="34" charset="-120"/>
              </a:rPr>
              <a:t>mean</a:t>
            </a:r>
            <a:endParaRPr lang="en-US" sz="1350" dirty="0"/>
          </a:p>
        </p:txBody>
      </p:sp>
      <p:sp>
        <p:nvSpPr>
          <p:cNvPr id="31" name="sticky_125"/>
          <p:cNvSpPr txBox="1"/>
          <p:nvPr/>
        </p:nvSpPr>
        <p:spPr>
          <a:xfrm rot="-120000">
            <a:off x="411480" y="4069080"/>
            <a:ext cx="2194560" cy="640080"/>
          </a:xfrm>
          <a:prstGeom prst="rect">
            <a:avLst/>
          </a:prstGeom>
          <a:solidFill>
            <a:srgbClr val="FFD84D"/>
          </a:solidFill>
          <a:ln w="12700">
            <a:solidFill>
              <a:srgbClr val="B7950B"/>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algn="ctr" indent="0" marL="0">
              <a:buNone/>
            </a:pPr>
            <a:r>
              <a:rPr lang="en-US" sz="1150" b="1" dirty="0">
                <a:solidFill>
                  <a:srgbClr val="111111"/>
                </a:solidFill>
                <a:latin typeface="Calibri" pitchFamily="34" charset="0"/>
                <a:ea typeface="Calibri" pitchFamily="34" charset="-122"/>
                <a:cs typeface="Calibri" pitchFamily="34" charset="-120"/>
              </a:rPr>
              <a:t>False friend: sympathetic ≠ simpatico → friendly / nice</a:t>
            </a:r>
            <a:endParaRPr lang="en-US" sz="11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400"/>
                                        <p:tgtEl>
                                          <p:spTgt spid="16"/>
                                        </p:tgtEl>
                                      </p:cBhvr>
                                    </p:animEffect>
                                  </p:childTnLst>
                                </p:cTn>
                              </p:par>
                              <p:par>
                                <p:cTn id="8" presetID="10" presetClass="entr" presetSubtype="0" fill="hold" nodeType="withEffect">
                                  <p:stCondLst>
                                    <p:cond delay="0"/>
                                  </p:stCondLst>
                                  <p:childTnLst>
                                    <p:set>
                                      <p:cBhvr>
                                        <p:cTn id="9" dur="1" fill="hold">
                                          <p:stCondLst>
                                            <p:cond delay="0"/>
                                          </p:stCondLst>
                                        </p:cTn>
                                        <p:tgtEl>
                                          <p:spTgt spid="18"/>
                                        </p:tgtEl>
                                        <p:attrNameLst>
                                          <p:attrName>style.visibility</p:attrName>
                                        </p:attrNameLst>
                                      </p:cBhvr>
                                      <p:to>
                                        <p:strVal val="visible"/>
                                      </p:to>
                                    </p:set>
                                    <p:animEffect transition="in" filter="fade">
                                      <p:cBhvr>
                                        <p:cTn id="10" dur="400"/>
                                        <p:tgtEl>
                                          <p:spTgt spid="18"/>
                                        </p:tgtEl>
                                      </p:cBhvr>
                                    </p:animEffect>
                                  </p:childTnLst>
                                </p:cTn>
                              </p:par>
                              <p:par>
                                <p:cTn id="11" presetID="10" presetClass="entr" presetSubtype="0" fill="hold" nodeType="withEffect">
                                  <p:stCondLst>
                                    <p:cond delay="0"/>
                                  </p:stCondLst>
                                  <p:childTnLst>
                                    <p:set>
                                      <p:cBhvr>
                                        <p:cTn id="12" dur="1" fill="hold">
                                          <p:stCondLst>
                                            <p:cond delay="0"/>
                                          </p:stCondLst>
                                        </p:cTn>
                                        <p:tgtEl>
                                          <p:spTgt spid="20"/>
                                        </p:tgtEl>
                                        <p:attrNameLst>
                                          <p:attrName>style.visibility</p:attrName>
                                        </p:attrNameLst>
                                      </p:cBhvr>
                                      <p:to>
                                        <p:strVal val="visible"/>
                                      </p:to>
                                    </p:set>
                                    <p:animEffect transition="in" filter="fade">
                                      <p:cBhvr>
                                        <p:cTn id="13" dur="400"/>
                                        <p:tgtEl>
                                          <p:spTgt spid="20"/>
                                        </p:tgtEl>
                                      </p:cBhvr>
                                    </p:animEffect>
                                  </p:childTnLst>
                                </p:cTn>
                              </p:par>
                              <p:par>
                                <p:cTn id="14" presetID="10" presetClass="entr" presetSubtype="0" fill="hold" nodeType="withEffect">
                                  <p:stCondLst>
                                    <p:cond delay="0"/>
                                  </p:stCondLst>
                                  <p:childTnLst>
                                    <p:set>
                                      <p:cBhvr>
                                        <p:cTn id="15" dur="1" fill="hold">
                                          <p:stCondLst>
                                            <p:cond delay="0"/>
                                          </p:stCondLst>
                                        </p:cTn>
                                        <p:tgtEl>
                                          <p:spTgt spid="22"/>
                                        </p:tgtEl>
                                        <p:attrNameLst>
                                          <p:attrName>style.visibility</p:attrName>
                                        </p:attrNameLst>
                                      </p:cBhvr>
                                      <p:to>
                                        <p:strVal val="visible"/>
                                      </p:to>
                                    </p:set>
                                    <p:animEffect transition="in" filter="fade">
                                      <p:cBhvr>
                                        <p:cTn id="16" dur="400"/>
                                        <p:tgtEl>
                                          <p:spTgt spid="22"/>
                                        </p:tgtEl>
                                      </p:cBhvr>
                                    </p:animEffect>
                                  </p:childTnLst>
                                </p:cTn>
                              </p:par>
                              <p:par>
                                <p:cTn id="17" presetID="10" presetClass="entr" presetSubtype="0" fill="hold" nodeType="withEffect">
                                  <p:stCondLst>
                                    <p:cond delay="0"/>
                                  </p:stCondLst>
                                  <p:childTnLst>
                                    <p:set>
                                      <p:cBhvr>
                                        <p:cTn id="18" dur="1" fill="hold">
                                          <p:stCondLst>
                                            <p:cond delay="0"/>
                                          </p:stCondLst>
                                        </p:cTn>
                                        <p:tgtEl>
                                          <p:spTgt spid="24"/>
                                        </p:tgtEl>
                                        <p:attrNameLst>
                                          <p:attrName>style.visibility</p:attrName>
                                        </p:attrNameLst>
                                      </p:cBhvr>
                                      <p:to>
                                        <p:strVal val="visible"/>
                                      </p:to>
                                    </p:set>
                                    <p:animEffect transition="in" filter="fade">
                                      <p:cBhvr>
                                        <p:cTn id="19" dur="400"/>
                                        <p:tgtEl>
                                          <p:spTgt spid="24"/>
                                        </p:tgtEl>
                                      </p:cBhvr>
                                    </p:animEffect>
                                  </p:childTnLst>
                                </p:cTn>
                              </p:par>
                              <p:par>
                                <p:cTn id="20" presetID="10" presetClass="entr" presetSubtype="0" fill="hold" nodeType="withEffect">
                                  <p:stCondLst>
                                    <p:cond delay="0"/>
                                  </p:stCondLst>
                                  <p:childTnLst>
                                    <p:set>
                                      <p:cBhvr>
                                        <p:cTn id="21" dur="1" fill="hold">
                                          <p:stCondLst>
                                            <p:cond delay="0"/>
                                          </p:stCondLst>
                                        </p:cTn>
                                        <p:tgtEl>
                                          <p:spTgt spid="26"/>
                                        </p:tgtEl>
                                        <p:attrNameLst>
                                          <p:attrName>style.visibility</p:attrName>
                                        </p:attrNameLst>
                                      </p:cBhvr>
                                      <p:to>
                                        <p:strVal val="visible"/>
                                      </p:to>
                                    </p:set>
                                    <p:animEffect transition="in" filter="fade">
                                      <p:cBhvr>
                                        <p:cTn id="22" dur="400"/>
                                        <p:tgtEl>
                                          <p:spTgt spid="26"/>
                                        </p:tgtEl>
                                      </p:cBhvr>
                                    </p:animEffect>
                                  </p:childTnLst>
                                </p:cTn>
                              </p:par>
                              <p:par>
                                <p:cTn id="23" presetID="10" presetClass="entr" presetSubtype="0" fill="hold" nodeType="withEffect">
                                  <p:stCondLst>
                                    <p:cond delay="0"/>
                                  </p:stCondLst>
                                  <p:childTnLst>
                                    <p:set>
                                      <p:cBhvr>
                                        <p:cTn id="24" dur="1" fill="hold">
                                          <p:stCondLst>
                                            <p:cond delay="0"/>
                                          </p:stCondLst>
                                        </p:cTn>
                                        <p:tgtEl>
                                          <p:spTgt spid="28"/>
                                        </p:tgtEl>
                                        <p:attrNameLst>
                                          <p:attrName>style.visibility</p:attrName>
                                        </p:attrNameLst>
                                      </p:cBhvr>
                                      <p:to>
                                        <p:strVal val="visible"/>
                                      </p:to>
                                    </p:set>
                                    <p:animEffect transition="in" filter="fade">
                                      <p:cBhvr>
                                        <p:cTn id="25" dur="400"/>
                                        <p:tgtEl>
                                          <p:spTgt spid="28"/>
                                        </p:tgtEl>
                                      </p:cBhvr>
                                    </p:animEffect>
                                  </p:childTnLst>
                                </p:cTn>
                              </p:par>
                              <p:par>
                                <p:cTn id="26" presetID="10" presetClass="entr" presetSubtype="0" fill="hold" nodeType="withEffect">
                                  <p:stCondLst>
                                    <p:cond delay="0"/>
                                  </p:stCondLst>
                                  <p:childTnLst>
                                    <p:set>
                                      <p:cBhvr>
                                        <p:cTn id="27" dur="1" fill="hold">
                                          <p:stCondLst>
                                            <p:cond delay="0"/>
                                          </p:stCondLst>
                                        </p:cTn>
                                        <p:tgtEl>
                                          <p:spTgt spid="30"/>
                                        </p:tgtEl>
                                        <p:attrNameLst>
                                          <p:attrName>style.visibility</p:attrName>
                                        </p:attrNameLst>
                                      </p:cBhvr>
                                      <p:to>
                                        <p:strVal val="visible"/>
                                      </p:to>
                                    </p:set>
                                    <p:animEffect transition="in" filter="fade">
                                      <p:cBhvr>
                                        <p:cTn id="28" dur="4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126"/>
          <p:cNvSpPr/>
          <p:nvPr/>
        </p:nvSpPr>
        <p:spPr>
          <a:xfrm>
            <a:off x="54864" y="54864"/>
            <a:ext cx="9034272" cy="5033772"/>
          </a:xfrm>
          <a:prstGeom prst="rect">
            <a:avLst/>
          </a:prstGeom>
          <a:ln w="114300">
            <a:solidFill>
              <a:srgbClr val="FDBA74"/>
            </a:solidFill>
            <a:prstDash val="solid"/>
          </a:ln>
        </p:spPr>
      </p:sp>
      <p:pic>
        <p:nvPicPr>
          <p:cNvPr id="4" name="logo_127"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128"/>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READING · Predict</a:t>
            </a:r>
            <a:endParaRPr lang="en-US" sz="900" dirty="0"/>
          </a:p>
        </p:txBody>
      </p:sp>
      <p:sp>
        <p:nvSpPr>
          <p:cNvPr id="6" name="timer_129"/>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2 min</a:t>
            </a:r>
            <a:endParaRPr lang="en-US" sz="1200" dirty="0"/>
          </a:p>
        </p:txBody>
      </p:sp>
      <p:sp>
        <p:nvSpPr>
          <p:cNvPr id="7" name="footer_130"/>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1B · Part 1</a:t>
            </a:r>
            <a:endParaRPr lang="en-US" sz="1000" dirty="0"/>
          </a:p>
        </p:txBody>
      </p:sp>
      <p:sp>
        <p:nvSpPr>
          <p:cNvPr id="8" name="title_131"/>
          <p:cNvSpPr txBox="1"/>
          <p:nvPr/>
        </p:nvSpPr>
        <p:spPr>
          <a:xfrm rot="-120000">
            <a:off x="320040" y="676656"/>
            <a:ext cx="3630168" cy="530352"/>
          </a:xfrm>
          <a:prstGeom prst="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Please date my dad</a:t>
            </a:r>
            <a:endParaRPr lang="en-US" sz="1500" dirty="0"/>
          </a:p>
        </p:txBody>
      </p:sp>
      <p:sp>
        <p:nvSpPr>
          <p:cNvPr id="9" name="post_132"/>
          <p:cNvSpPr/>
          <p:nvPr/>
        </p:nvSpPr>
        <p:spPr>
          <a:xfrm>
            <a:off x="429768" y="1554480"/>
            <a:ext cx="128016" cy="2194560"/>
          </a:xfrm>
          <a:prstGeom prst="rect">
            <a:avLst/>
          </a:prstGeom>
          <a:solidFill>
            <a:srgbClr val="8B5A2B"/>
          </a:solidFill>
          <a:ln w="31750">
            <a:solidFill>
              <a:srgbClr val="111111"/>
            </a:solidFill>
            <a:prstDash val="solid"/>
          </a:ln>
        </p:spPr>
      </p:sp>
      <p:sp>
        <p:nvSpPr>
          <p:cNvPr id="10" name="signA_133"/>
          <p:cNvSpPr txBox="1"/>
          <p:nvPr/>
        </p:nvSpPr>
        <p:spPr>
          <a:xfrm rot="-180000">
            <a:off x="320040" y="1371600"/>
            <a:ext cx="2240280" cy="457200"/>
          </a:xfrm>
          <a:prstGeom prst="homePlate">
            <a:avLst/>
          </a:prstGeom>
          <a:solidFill>
            <a:srgbClr val="062F67"/>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THINK!</a:t>
            </a:r>
            <a:pPr indent="0" marL="0">
              <a:buNone/>
            </a:pPr>
            <a:r>
              <a:rPr lang="en-US" sz="1000" dirty="0">
                <a:solidFill>
                  <a:srgbClr val="FFF3B0"/>
                </a:solidFill>
                <a:latin typeface="Arial Black" pitchFamily="34" charset="0"/>
                <a:ea typeface="Arial Black" pitchFamily="34" charset="-122"/>
                <a:cs typeface="Arial Black" pitchFamily="34" charset="-120"/>
              </a:rPr>
              <a:t>  PENSA!</a:t>
            </a:r>
            <a:endParaRPr lang="en-US" sz="1500" dirty="0"/>
          </a:p>
        </p:txBody>
      </p:sp>
      <p:sp>
        <p:nvSpPr>
          <p:cNvPr id="11" name="signB_134"/>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100" dirty="0">
                <a:solidFill>
                  <a:srgbClr val="111111"/>
                </a:solidFill>
                <a:latin typeface="Calibri" pitchFamily="34" charset="0"/>
                <a:ea typeface="Calibri" pitchFamily="34" charset="-122"/>
                <a:cs typeface="Calibri" pitchFamily="34" charset="-120"/>
              </a:rPr>
              <a:t>A 26-year-old woman is looking for a partner for her dad. Guess!</a:t>
            </a:r>
            <a:endParaRPr lang="en-US" sz="1100" dirty="0"/>
          </a:p>
          <a:p>
            <a:pPr indent="0" marL="0">
              <a:buNone/>
            </a:pPr>
            <a:r>
              <a:rPr lang="en-US" sz="1000" i="1" dirty="0">
                <a:solidFill>
                  <a:srgbClr val="334155"/>
                </a:solidFill>
                <a:latin typeface="Calibri" pitchFamily="34" charset="0"/>
                <a:ea typeface="Calibri" pitchFamily="34" charset="-122"/>
                <a:cs typeface="Calibri" pitchFamily="34" charset="-120"/>
              </a:rPr>
              <a:t>Una ragazza di 26 anni cerca una compagna per suo padre. Indovina!</a:t>
            </a:r>
            <a:endParaRPr lang="en-US" sz="1100" dirty="0"/>
          </a:p>
        </p:txBody>
      </p:sp>
      <p:sp>
        <p:nvSpPr>
          <p:cNvPr id="12" name="iconBack_135"/>
          <p:cNvSpPr/>
          <p:nvPr/>
        </p:nvSpPr>
        <p:spPr>
          <a:xfrm>
            <a:off x="685800" y="3246120"/>
            <a:ext cx="1143000" cy="1143000"/>
          </a:xfrm>
          <a:prstGeom prst="ellipse">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13" name="icon_136" descr="pi:PiMagnifyingGlass">    </p:cNvPr>
          <p:cNvPicPr>
            <a:picLocks noChangeAspect="1"/>
          </p:cNvPicPr>
          <p:nvPr/>
        </p:nvPicPr>
        <p:blipFill>
          <a:blip r:embed="rId3"/>
          <a:stretch>
            <a:fillRect/>
          </a:stretch>
        </p:blipFill>
        <p:spPr>
          <a:xfrm>
            <a:off x="914400" y="3474720"/>
            <a:ext cx="685800" cy="685800"/>
          </a:xfrm>
          <a:prstGeom prst="rect">
            <a:avLst/>
          </a:prstGeom>
        </p:spPr>
      </p:pic>
      <p:sp>
        <p:nvSpPr>
          <p:cNvPr id="14" name="box_137"/>
          <p:cNvSpPr txBox="1"/>
          <p:nvPr/>
        </p:nvSpPr>
        <p:spPr>
          <a:xfrm>
            <a:off x="2788920" y="1371600"/>
            <a:ext cx="6035040" cy="868680"/>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500" dirty="0">
                <a:solidFill>
                  <a:srgbClr val="111111"/>
                </a:solidFill>
                <a:latin typeface="Calibri" pitchFamily="34" charset="0"/>
                <a:ea typeface="Calibri" pitchFamily="34" charset="-122"/>
                <a:cs typeface="Calibri" pitchFamily="34" charset="-120"/>
              </a:rPr>
              <a:t>1  How old is her dad? What's his job?</a:t>
            </a:r>
            <a:endParaRPr lang="en-US" sz="1500" dirty="0"/>
          </a:p>
        </p:txBody>
      </p:sp>
      <p:sp>
        <p:nvSpPr>
          <p:cNvPr id="15" name="box_138"/>
          <p:cNvSpPr txBox="1"/>
          <p:nvPr/>
        </p:nvSpPr>
        <p:spPr>
          <a:xfrm>
            <a:off x="2788920" y="2368296"/>
            <a:ext cx="6035040" cy="868680"/>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500" dirty="0">
                <a:solidFill>
                  <a:srgbClr val="111111"/>
                </a:solidFill>
                <a:latin typeface="Calibri" pitchFamily="34" charset="0"/>
                <a:ea typeface="Calibri" pitchFamily="34" charset="-122"/>
                <a:cs typeface="Calibri" pitchFamily="34" charset="-120"/>
              </a:rPr>
              <a:t>2  Why does she want to help him?</a:t>
            </a:r>
            <a:endParaRPr lang="en-US" sz="1500" dirty="0"/>
          </a:p>
        </p:txBody>
      </p:sp>
      <p:sp>
        <p:nvSpPr>
          <p:cNvPr id="16" name="box_139"/>
          <p:cNvSpPr txBox="1"/>
          <p:nvPr/>
        </p:nvSpPr>
        <p:spPr>
          <a:xfrm>
            <a:off x="2788920" y="3364992"/>
            <a:ext cx="6035040" cy="868680"/>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1500" dirty="0">
                <a:solidFill>
                  <a:srgbClr val="111111"/>
                </a:solidFill>
                <a:latin typeface="Calibri" pitchFamily="34" charset="0"/>
                <a:ea typeface="Calibri" pitchFamily="34" charset="-122"/>
                <a:cs typeface="Calibri" pitchFamily="34" charset="-120"/>
              </a:rPr>
              <a:t>3  What kind of woman does he want?</a:t>
            </a:r>
            <a:endParaRPr lang="en-US" sz="1500" dirty="0"/>
          </a:p>
        </p:txBody>
      </p:sp>
    </p:spTree>
  </p:cSld>
  <p:clrMapOvr>
    <a:masterClrMapping/>
  </p:clrMapOvr>
  <p:transition spd="med">
    <p:push dir="l"/>
  </p:transition>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140"/>
          <p:cNvSpPr/>
          <p:nvPr/>
        </p:nvSpPr>
        <p:spPr>
          <a:xfrm>
            <a:off x="54864" y="54864"/>
            <a:ext cx="9034272" cy="5033772"/>
          </a:xfrm>
          <a:prstGeom prst="rect">
            <a:avLst/>
          </a:prstGeom>
          <a:ln w="114300">
            <a:solidFill>
              <a:srgbClr val="FDBA74"/>
            </a:solidFill>
            <a:prstDash val="solid"/>
          </a:ln>
        </p:spPr>
      </p:sp>
      <p:pic>
        <p:nvPicPr>
          <p:cNvPr id="4" name="logo_141"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142"/>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READING · Part 1 · SB p.8</a:t>
            </a:r>
            <a:endParaRPr lang="en-US" sz="900" dirty="0"/>
          </a:p>
        </p:txBody>
      </p:sp>
      <p:sp>
        <p:nvSpPr>
          <p:cNvPr id="6" name="timer_143"/>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6 min</a:t>
            </a:r>
            <a:endParaRPr lang="en-US" sz="1200" dirty="0"/>
          </a:p>
        </p:txBody>
      </p:sp>
      <p:sp>
        <p:nvSpPr>
          <p:cNvPr id="7" name="footer_144"/>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1B · Part 1</a:t>
            </a:r>
            <a:endParaRPr lang="en-US" sz="1000" dirty="0"/>
          </a:p>
        </p:txBody>
      </p:sp>
      <p:sp>
        <p:nvSpPr>
          <p:cNvPr id="8" name="title_145"/>
          <p:cNvSpPr txBox="1"/>
          <p:nvPr/>
        </p:nvSpPr>
        <p:spPr>
          <a:xfrm rot="-120000">
            <a:off x="320040" y="676656"/>
            <a:ext cx="4325112" cy="530352"/>
          </a:xfrm>
          <a:prstGeom prst="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Please date my dad (1)</a:t>
            </a:r>
            <a:endParaRPr lang="en-US" sz="1500" dirty="0"/>
          </a:p>
        </p:txBody>
      </p:sp>
      <p:sp>
        <p:nvSpPr>
          <p:cNvPr id="9" name="rsign_146"/>
          <p:cNvSpPr txBox="1"/>
          <p:nvPr/>
        </p:nvSpPr>
        <p:spPr>
          <a:xfrm>
            <a:off x="320040" y="1298448"/>
            <a:ext cx="8503920" cy="384048"/>
          </a:xfrm>
          <a:prstGeom prst="rect">
            <a:avLst/>
          </a:prstGeom>
          <a:solidFill>
            <a:srgbClr val="48BDF2"/>
          </a:solidFill>
          <a:ln w="19050">
            <a:solidFill>
              <a:srgbClr val="111111"/>
            </a:solidFill>
          </a:ln>
        </p:spPr>
        <p:txBody>
          <a:bodyPr wrap="square" lIns="101600" tIns="101600" rIns="101600" bIns="101600" rtlCol="0" anchor="ctr"/>
          <a:lstStyle/>
          <a:p>
            <a:pPr indent="0" marL="0">
              <a:buNone/>
            </a:pPr>
            <a:r>
              <a:rPr lang="en-US" sz="1000" b="1" dirty="0">
                <a:solidFill>
                  <a:srgbClr val="FFFFFF"/>
                </a:solidFill>
                <a:latin typeface="Arial Black" pitchFamily="34" charset="0"/>
                <a:ea typeface="Arial Black" pitchFamily="34" charset="-122"/>
                <a:cs typeface="Arial Black" pitchFamily="34" charset="-120"/>
              </a:rPr>
              <a:t>READ! LEGGI!  </a:t>
            </a:r>
            <a:pPr indent="0" marL="0">
              <a:buNone/>
            </a:pPr>
            <a:r>
              <a:rPr lang="en-US" sz="1000" dirty="0">
                <a:solidFill>
                  <a:srgbClr val="FFFFFF"/>
                </a:solidFill>
                <a:latin typeface="Calibri" pitchFamily="34" charset="0"/>
                <a:ea typeface="Calibri" pitchFamily="34" charset="-122"/>
                <a:cs typeface="Calibri" pitchFamily="34" charset="-120"/>
              </a:rPr>
              <a:t>Read. Check your guesses. Answer the questions.  </a:t>
            </a:r>
            <a:pPr indent="0" marL="0">
              <a:buNone/>
            </a:pPr>
            <a:r>
              <a:rPr lang="en-US" sz="950" i="1" dirty="0">
                <a:solidFill>
                  <a:srgbClr val="E2E8F0"/>
                </a:solidFill>
                <a:latin typeface="Calibri" pitchFamily="34" charset="0"/>
                <a:ea typeface="Calibri" pitchFamily="34" charset="-122"/>
                <a:cs typeface="Calibri" pitchFamily="34" charset="-120"/>
              </a:rPr>
              <a:t>Leggi. Controlla le tue ipotesi. Rispondi.</a:t>
            </a:r>
            <a:endParaRPr lang="en-US" sz="1000" dirty="0"/>
          </a:p>
        </p:txBody>
      </p:sp>
      <p:sp>
        <p:nvSpPr>
          <p:cNvPr id="10" name="rtext_147"/>
          <p:cNvSpPr txBox="1"/>
          <p:nvPr/>
        </p:nvSpPr>
        <p:spPr>
          <a:xfrm rot="-30000">
            <a:off x="320040" y="1810512"/>
            <a:ext cx="4754880" cy="2880360"/>
          </a:xfrm>
          <a:prstGeom prst="rect">
            <a:avLst/>
          </a:prstGeom>
          <a:solidFill>
            <a:srgbClr val="FFFDF5"/>
          </a:solidFill>
          <a:ln w="19050">
            <a:solidFill>
              <a:srgbClr val="111111"/>
            </a:solidFill>
          </a:ln>
          <a:effectLst>
            <a:outerShdw sx="100000" sy="100000" kx="0" ky="0" algn="bl" rotWithShape="0" blurRad="101600" dist="38100" dir="2700000">
              <a:srgbClr val="000000">
                <a:alpha val="35000"/>
              </a:srgbClr>
            </a:outerShdw>
          </a:effectLst>
        </p:spPr>
        <p:txBody>
          <a:bodyPr wrap="square" lIns="114300" tIns="114300" rIns="114300" bIns="114300" rtlCol="0" anchor="t"/>
          <a:lstStyle/>
          <a:p>
            <a:pPr indent="0" marL="0">
              <a:spcAft>
                <a:spcPts val="400"/>
              </a:spcAft>
              <a:buNone/>
            </a:pPr>
            <a:r>
              <a:rPr lang="en-US" sz="1300" b="1" dirty="0">
                <a:solidFill>
                  <a:srgbClr val="6D3FC0"/>
                </a:solidFill>
                <a:latin typeface="Calibri" pitchFamily="34" charset="0"/>
                <a:ea typeface="Calibri" pitchFamily="34" charset="-122"/>
                <a:cs typeface="Calibri" pitchFamily="34" charset="-120"/>
              </a:rPr>
              <a:t>Please date my dad</a:t>
            </a:r>
            <a:endParaRPr lang="en-US" sz="1300" dirty="0"/>
          </a:p>
          <a:p>
            <a:pPr indent="0" marL="0">
              <a:spcAft>
                <a:spcPts val="400"/>
              </a:spcAft>
              <a:buNone/>
            </a:pPr>
            <a:r>
              <a:rPr lang="en-US" sz="1150" dirty="0">
                <a:solidFill>
                  <a:srgbClr val="111111"/>
                </a:solidFill>
                <a:latin typeface="Calibri" pitchFamily="34" charset="0"/>
                <a:ea typeface="Calibri" pitchFamily="34" charset="-122"/>
                <a:cs typeface="Calibri" pitchFamily="34" charset="-120"/>
              </a:rPr>
              <a:t>'So, how was the date?' You probably think this is a parent asking the question to their child. But many children are now helping their single parents find love, too.</a:t>
            </a:r>
            <a:endParaRPr lang="en-US" sz="1300" dirty="0"/>
          </a:p>
          <a:p>
            <a:pPr indent="0" marL="0">
              <a:spcAft>
                <a:spcPts val="400"/>
              </a:spcAft>
              <a:buNone/>
            </a:pPr>
            <a:r>
              <a:rPr lang="en-US" sz="1150" dirty="0">
                <a:solidFill>
                  <a:srgbClr val="111111"/>
                </a:solidFill>
                <a:latin typeface="Calibri" pitchFamily="34" charset="0"/>
                <a:ea typeface="Calibri" pitchFamily="34" charset="-122"/>
                <a:cs typeface="Calibri" pitchFamily="34" charset="-120"/>
              </a:rPr>
              <a:t>Clint Bouchez, a 52-year-old businessman from Reigate, Surrey, got divorced ten years ago. His daughter, 26-year-old Charlotte, doesn't want her dad to end up alone – her mum remarried five years ago, and Charlotte has a boyfriend. Charlotte and Clint are very close. They often go out together in the evening, they're planning a trip to India for later in the year, and they're both Bruce Springsteen fans. But Charlotte thinks that Clint needs a new partner, and he agrees.</a:t>
            </a:r>
            <a:endParaRPr lang="en-US" sz="1300" dirty="0"/>
          </a:p>
        </p:txBody>
      </p:sp>
      <p:sp>
        <p:nvSpPr>
          <p:cNvPr id="11" name="box_148"/>
          <p:cNvSpPr txBox="1"/>
          <p:nvPr/>
        </p:nvSpPr>
        <p:spPr>
          <a:xfrm>
            <a:off x="5239512" y="1810512"/>
            <a:ext cx="2078980" cy="566928"/>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150" dirty="0">
                <a:solidFill>
                  <a:srgbClr val="111111"/>
                </a:solidFill>
                <a:latin typeface="Calibri" pitchFamily="34" charset="0"/>
                <a:ea typeface="Calibri" pitchFamily="34" charset="-122"/>
                <a:cs typeface="Calibri" pitchFamily="34" charset="-120"/>
              </a:rPr>
              <a:t>1  Who is Clint? (age, job, family)</a:t>
            </a:r>
            <a:endParaRPr lang="en-US" sz="1150" dirty="0"/>
          </a:p>
        </p:txBody>
      </p:sp>
      <p:sp>
        <p:nvSpPr>
          <p:cNvPr id="12" name="R1_ra0"/>
          <p:cNvSpPr txBox="1"/>
          <p:nvPr/>
        </p:nvSpPr>
        <p:spPr>
          <a:xfrm>
            <a:off x="7364212" y="1837944"/>
            <a:ext cx="1459748" cy="512064"/>
          </a:xfrm>
          <a:prstGeom prst="roundRect">
            <a:avLst>
              <a:gd name="adj" fmla="val 10714"/>
            </a:avLst>
          </a:prstGeom>
          <a:solidFill>
            <a:srgbClr val="FFFFFF"/>
          </a:solidFill>
          <a:ln w="38100">
            <a:solidFill>
              <a:srgbClr val="1FA463"/>
            </a:solidFill>
          </a:ln>
        </p:spPr>
        <p:txBody>
          <a:bodyPr wrap="square" lIns="25400" tIns="25400" rIns="25400" bIns="25400" rtlCol="0" anchor="ctr"/>
          <a:lstStyle/>
          <a:p>
            <a:pPr algn="ctr" indent="0" marL="0">
              <a:buNone/>
            </a:pPr>
            <a:r>
              <a:rPr lang="en-US" sz="1050" dirty="0">
                <a:solidFill>
                  <a:srgbClr val="111111"/>
                </a:solidFill>
                <a:latin typeface="Calibri" pitchFamily="34" charset="0"/>
                <a:ea typeface="Calibri" pitchFamily="34" charset="-122"/>
                <a:cs typeface="Calibri" pitchFamily="34" charset="-120"/>
              </a:rPr>
              <a:t>52, businessman, divorced 10 years ago</a:t>
            </a:r>
            <a:endParaRPr lang="en-US" sz="1050" dirty="0"/>
          </a:p>
        </p:txBody>
      </p:sp>
      <p:sp>
        <p:nvSpPr>
          <p:cNvPr id="13" name="box_149"/>
          <p:cNvSpPr txBox="1"/>
          <p:nvPr/>
        </p:nvSpPr>
        <p:spPr>
          <a:xfrm>
            <a:off x="5239512" y="2450592"/>
            <a:ext cx="2078980" cy="566928"/>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150" dirty="0">
                <a:solidFill>
                  <a:srgbClr val="111111"/>
                </a:solidFill>
                <a:latin typeface="Calibri" pitchFamily="34" charset="0"/>
                <a:ea typeface="Calibri" pitchFamily="34" charset="-122"/>
                <a:cs typeface="Calibri" pitchFamily="34" charset="-120"/>
              </a:rPr>
              <a:t>2  Who is helping him?</a:t>
            </a:r>
            <a:endParaRPr lang="en-US" sz="1150" dirty="0"/>
          </a:p>
        </p:txBody>
      </p:sp>
      <p:sp>
        <p:nvSpPr>
          <p:cNvPr id="14" name="R1_ra1"/>
          <p:cNvSpPr txBox="1"/>
          <p:nvPr/>
        </p:nvSpPr>
        <p:spPr>
          <a:xfrm>
            <a:off x="7364212" y="2478024"/>
            <a:ext cx="1459748" cy="512064"/>
          </a:xfrm>
          <a:prstGeom prst="roundRect">
            <a:avLst>
              <a:gd name="adj" fmla="val 10714"/>
            </a:avLst>
          </a:prstGeom>
          <a:solidFill>
            <a:srgbClr val="FFFFFF"/>
          </a:solidFill>
          <a:ln w="38100">
            <a:solidFill>
              <a:srgbClr val="1FA463"/>
            </a:solidFill>
          </a:ln>
        </p:spPr>
        <p:txBody>
          <a:bodyPr wrap="square" lIns="25400" tIns="25400" rIns="25400" bIns="25400" rtlCol="0" anchor="ctr"/>
          <a:lstStyle/>
          <a:p>
            <a:pPr algn="ctr" indent="0" marL="0">
              <a:buNone/>
            </a:pPr>
            <a:r>
              <a:rPr lang="en-US" sz="1050" dirty="0">
                <a:solidFill>
                  <a:srgbClr val="111111"/>
                </a:solidFill>
                <a:latin typeface="Calibri" pitchFamily="34" charset="0"/>
                <a:ea typeface="Calibri" pitchFamily="34" charset="-122"/>
                <a:cs typeface="Calibri" pitchFamily="34" charset="-120"/>
              </a:rPr>
              <a:t>his daughter Charlotte (26)</a:t>
            </a:r>
            <a:endParaRPr lang="en-US" sz="1050" dirty="0"/>
          </a:p>
        </p:txBody>
      </p:sp>
      <p:sp>
        <p:nvSpPr>
          <p:cNvPr id="15" name="box_150"/>
          <p:cNvSpPr txBox="1"/>
          <p:nvPr/>
        </p:nvSpPr>
        <p:spPr>
          <a:xfrm>
            <a:off x="5239512" y="3090672"/>
            <a:ext cx="2078980" cy="566928"/>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1150" dirty="0">
                <a:solidFill>
                  <a:srgbClr val="111111"/>
                </a:solidFill>
                <a:latin typeface="Calibri" pitchFamily="34" charset="0"/>
                <a:ea typeface="Calibri" pitchFamily="34" charset="-122"/>
                <a:cs typeface="Calibri" pitchFamily="34" charset="-120"/>
              </a:rPr>
              <a:t>3  What do they do together? (3 things)</a:t>
            </a:r>
            <a:endParaRPr lang="en-US" sz="1150" dirty="0"/>
          </a:p>
        </p:txBody>
      </p:sp>
      <p:sp>
        <p:nvSpPr>
          <p:cNvPr id="16" name="R1_ra2"/>
          <p:cNvSpPr txBox="1"/>
          <p:nvPr/>
        </p:nvSpPr>
        <p:spPr>
          <a:xfrm>
            <a:off x="7364212" y="3118104"/>
            <a:ext cx="1459748" cy="512064"/>
          </a:xfrm>
          <a:prstGeom prst="roundRect">
            <a:avLst>
              <a:gd name="adj" fmla="val 10714"/>
            </a:avLst>
          </a:prstGeom>
          <a:solidFill>
            <a:srgbClr val="FFFFFF"/>
          </a:solidFill>
          <a:ln w="38100">
            <a:solidFill>
              <a:srgbClr val="1FA463"/>
            </a:solidFill>
          </a:ln>
        </p:spPr>
        <p:txBody>
          <a:bodyPr wrap="square" lIns="25400" tIns="25400" rIns="25400" bIns="25400" rtlCol="0" anchor="ctr"/>
          <a:lstStyle/>
          <a:p>
            <a:pPr algn="ctr" indent="0" marL="0">
              <a:buNone/>
            </a:pPr>
            <a:r>
              <a:rPr lang="en-US" sz="950" dirty="0">
                <a:solidFill>
                  <a:srgbClr val="111111"/>
                </a:solidFill>
                <a:latin typeface="Calibri" pitchFamily="34" charset="0"/>
                <a:ea typeface="Calibri" pitchFamily="34" charset="-122"/>
                <a:cs typeface="Calibri" pitchFamily="34" charset="-120"/>
              </a:rPr>
              <a:t>go out in the evening · plan a trip to India · Springsteen fans</a:t>
            </a:r>
            <a:endParaRPr lang="en-US" sz="950" dirty="0"/>
          </a:p>
        </p:txBody>
      </p:sp>
      <p:sp>
        <p:nvSpPr>
          <p:cNvPr id="17" name="box_151"/>
          <p:cNvSpPr txBox="1"/>
          <p:nvPr/>
        </p:nvSpPr>
        <p:spPr>
          <a:xfrm>
            <a:off x="5239512" y="3730752"/>
            <a:ext cx="2078980" cy="566928"/>
          </a:xfrm>
          <a:prstGeom prst="rect">
            <a:avLst/>
          </a:prstGeom>
          <a:solidFill>
            <a:srgbClr val="DCFCE7"/>
          </a:solidFill>
          <a:ln w="15875">
            <a:solidFill>
              <a:srgbClr val="111111"/>
            </a:solidFill>
          </a:ln>
        </p:spPr>
        <p:txBody>
          <a:bodyPr wrap="square" lIns="76200" tIns="76200" rIns="76200" bIns="76200" rtlCol="0" anchor="ctr"/>
          <a:lstStyle/>
          <a:p>
            <a:pPr algn="l" indent="0" marL="0">
              <a:buNone/>
            </a:pPr>
            <a:r>
              <a:rPr lang="en-US" sz="1150" dirty="0">
                <a:solidFill>
                  <a:srgbClr val="111111"/>
                </a:solidFill>
                <a:latin typeface="Calibri" pitchFamily="34" charset="0"/>
                <a:ea typeface="Calibri" pitchFamily="34" charset="-122"/>
                <a:cs typeface="Calibri" pitchFamily="34" charset="-120"/>
              </a:rPr>
              <a:t>4  Why does Charlotte want to help?</a:t>
            </a:r>
            <a:endParaRPr lang="en-US" sz="1150" dirty="0"/>
          </a:p>
        </p:txBody>
      </p:sp>
      <p:sp>
        <p:nvSpPr>
          <p:cNvPr id="18" name="R1_ra3"/>
          <p:cNvSpPr txBox="1"/>
          <p:nvPr/>
        </p:nvSpPr>
        <p:spPr>
          <a:xfrm>
            <a:off x="7364212" y="3758184"/>
            <a:ext cx="1459748" cy="512064"/>
          </a:xfrm>
          <a:prstGeom prst="roundRect">
            <a:avLst>
              <a:gd name="adj" fmla="val 10714"/>
            </a:avLst>
          </a:prstGeom>
          <a:solidFill>
            <a:srgbClr val="FFFFFF"/>
          </a:solidFill>
          <a:ln w="38100">
            <a:solidFill>
              <a:srgbClr val="1FA463"/>
            </a:solidFill>
          </a:ln>
        </p:spPr>
        <p:txBody>
          <a:bodyPr wrap="square" lIns="25400" tIns="25400" rIns="25400" bIns="25400" rtlCol="0" anchor="ctr"/>
          <a:lstStyle/>
          <a:p>
            <a:pPr algn="ctr" indent="0" marL="0">
              <a:buNone/>
            </a:pPr>
            <a:r>
              <a:rPr lang="en-US" sz="1050" dirty="0">
                <a:solidFill>
                  <a:srgbClr val="111111"/>
                </a:solidFill>
                <a:latin typeface="Calibri" pitchFamily="34" charset="0"/>
                <a:ea typeface="Calibri" pitchFamily="34" charset="-122"/>
                <a:cs typeface="Calibri" pitchFamily="34" charset="-120"/>
              </a:rPr>
              <a:t>she doesn't want him to end up alone</a:t>
            </a:r>
            <a:endParaRPr lang="en-US" sz="1050" dirty="0"/>
          </a:p>
        </p:txBody>
      </p:sp>
      <p:sp>
        <p:nvSpPr>
          <p:cNvPr id="19" name="pageTag_152"/>
          <p:cNvSpPr txBox="1"/>
          <p:nvPr/>
        </p:nvSpPr>
        <p:spPr>
          <a:xfrm>
            <a:off x="320040" y="4773168"/>
            <a:ext cx="6720840" cy="246888"/>
          </a:xfrm>
          <a:prstGeom prst="rect">
            <a:avLst/>
          </a:prstGeom>
          <a:solidFill>
            <a:srgbClr val="FFFFFF"/>
          </a:solidFill>
          <a:ln/>
        </p:spPr>
        <p:txBody>
          <a:bodyPr wrap="square" lIns="25400" tIns="25400" rIns="25400" bIns="2540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 SB p.8 · Reading (the text is from the Student's Book)</a:t>
            </a:r>
            <a:endParaRPr lang="en-US" sz="10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400"/>
                                        <p:tgtEl>
                                          <p:spTgt spid="12"/>
                                        </p:tgtEl>
                                      </p:cBhvr>
                                    </p:animEffect>
                                  </p:childTnLst>
                                </p:cTn>
                              </p:par>
                              <p:par>
                                <p:cTn id="8" presetID="10" presetClass="entr" presetSubtype="0" fill="hold"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400"/>
                                        <p:tgtEl>
                                          <p:spTgt spid="14"/>
                                        </p:tgtEl>
                                      </p:cBhvr>
                                    </p:animEffect>
                                  </p:childTnLst>
                                </p:cTn>
                              </p:par>
                              <p:par>
                                <p:cTn id="11" presetID="10" presetClass="entr" presetSubtype="0" fill="hold" nodeType="withEffect">
                                  <p:stCondLst>
                                    <p:cond delay="0"/>
                                  </p:stCondLst>
                                  <p:childTnLst>
                                    <p:set>
                                      <p:cBhvr>
                                        <p:cTn id="12" dur="1" fill="hold">
                                          <p:stCondLst>
                                            <p:cond delay="0"/>
                                          </p:stCondLst>
                                        </p:cTn>
                                        <p:tgtEl>
                                          <p:spTgt spid="16"/>
                                        </p:tgtEl>
                                        <p:attrNameLst>
                                          <p:attrName>style.visibility</p:attrName>
                                        </p:attrNameLst>
                                      </p:cBhvr>
                                      <p:to>
                                        <p:strVal val="visible"/>
                                      </p:to>
                                    </p:set>
                                    <p:animEffect transition="in" filter="fade">
                                      <p:cBhvr>
                                        <p:cTn id="13" dur="400"/>
                                        <p:tgtEl>
                                          <p:spTgt spid="16"/>
                                        </p:tgtEl>
                                      </p:cBhvr>
                                    </p:animEffect>
                                  </p:childTnLst>
                                </p:cTn>
                              </p:par>
                              <p:par>
                                <p:cTn id="14" presetID="10" presetClass="entr" presetSubtype="0" fill="hold" nodeType="withEffect">
                                  <p:stCondLst>
                                    <p:cond delay="0"/>
                                  </p:stCondLst>
                                  <p:childTnLst>
                                    <p:set>
                                      <p:cBhvr>
                                        <p:cTn id="15" dur="1" fill="hold">
                                          <p:stCondLst>
                                            <p:cond delay="0"/>
                                          </p:stCondLst>
                                        </p:cTn>
                                        <p:tgtEl>
                                          <p:spTgt spid="18"/>
                                        </p:tgtEl>
                                        <p:attrNameLst>
                                          <p:attrName>style.visibility</p:attrName>
                                        </p:attrNameLst>
                                      </p:cBhvr>
                                      <p:to>
                                        <p:strVal val="visible"/>
                                      </p:to>
                                    </p:set>
                                    <p:animEffect transition="in" filter="fade">
                                      <p:cBhvr>
                                        <p:cTn id="16" dur="4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153"/>
          <p:cNvSpPr/>
          <p:nvPr/>
        </p:nvSpPr>
        <p:spPr>
          <a:xfrm>
            <a:off x="54864" y="54864"/>
            <a:ext cx="9034272" cy="5033772"/>
          </a:xfrm>
          <a:prstGeom prst="rect">
            <a:avLst/>
          </a:prstGeom>
          <a:ln w="114300">
            <a:solidFill>
              <a:srgbClr val="FDBA74"/>
            </a:solidFill>
            <a:prstDash val="solid"/>
          </a:ln>
        </p:spPr>
      </p:sp>
      <p:pic>
        <p:nvPicPr>
          <p:cNvPr id="4" name="logo_154"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155"/>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READING · Part 2 · SB p.8</a:t>
            </a:r>
            <a:endParaRPr lang="en-US" sz="900" dirty="0"/>
          </a:p>
        </p:txBody>
      </p:sp>
      <p:sp>
        <p:nvSpPr>
          <p:cNvPr id="6" name="timer_156"/>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5 min</a:t>
            </a:r>
            <a:endParaRPr lang="en-US" sz="1200" dirty="0"/>
          </a:p>
        </p:txBody>
      </p:sp>
      <p:sp>
        <p:nvSpPr>
          <p:cNvPr id="7" name="footer_157"/>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1B · Part 1</a:t>
            </a:r>
            <a:endParaRPr lang="en-US" sz="1000" dirty="0"/>
          </a:p>
        </p:txBody>
      </p:sp>
      <p:sp>
        <p:nvSpPr>
          <p:cNvPr id="8" name="title_158"/>
          <p:cNvSpPr txBox="1"/>
          <p:nvPr/>
        </p:nvSpPr>
        <p:spPr>
          <a:xfrm rot="-120000">
            <a:off x="320040" y="676656"/>
            <a:ext cx="4325112" cy="530352"/>
          </a:xfrm>
          <a:prstGeom prst="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Please date my dad (2)</a:t>
            </a:r>
            <a:endParaRPr lang="en-US" sz="1500" dirty="0"/>
          </a:p>
        </p:txBody>
      </p:sp>
      <p:sp>
        <p:nvSpPr>
          <p:cNvPr id="9" name="rsign_159"/>
          <p:cNvSpPr txBox="1"/>
          <p:nvPr/>
        </p:nvSpPr>
        <p:spPr>
          <a:xfrm>
            <a:off x="320040" y="1298448"/>
            <a:ext cx="8503920" cy="384048"/>
          </a:xfrm>
          <a:prstGeom prst="rect">
            <a:avLst/>
          </a:prstGeom>
          <a:solidFill>
            <a:srgbClr val="48BDF2"/>
          </a:solidFill>
          <a:ln w="19050">
            <a:solidFill>
              <a:srgbClr val="111111"/>
            </a:solidFill>
          </a:ln>
        </p:spPr>
        <p:txBody>
          <a:bodyPr wrap="square" lIns="101600" tIns="101600" rIns="101600" bIns="101600" rtlCol="0" anchor="ctr"/>
          <a:lstStyle/>
          <a:p>
            <a:pPr indent="0" marL="0">
              <a:buNone/>
            </a:pPr>
            <a:r>
              <a:rPr lang="en-US" sz="1000" b="1" dirty="0">
                <a:solidFill>
                  <a:srgbClr val="FFFFFF"/>
                </a:solidFill>
                <a:latin typeface="Arial Black" pitchFamily="34" charset="0"/>
                <a:ea typeface="Arial Black" pitchFamily="34" charset="-122"/>
                <a:cs typeface="Arial Black" pitchFamily="34" charset="-120"/>
              </a:rPr>
              <a:t>READ! LEGGI!  </a:t>
            </a:r>
            <a:pPr indent="0" marL="0">
              <a:buNone/>
            </a:pPr>
            <a:r>
              <a:rPr lang="en-US" sz="1000" dirty="0">
                <a:solidFill>
                  <a:srgbClr val="FFFFFF"/>
                </a:solidFill>
                <a:latin typeface="Calibri" pitchFamily="34" charset="0"/>
                <a:ea typeface="Calibri" pitchFamily="34" charset="-122"/>
                <a:cs typeface="Calibri" pitchFamily="34" charset="-120"/>
              </a:rPr>
              <a:t>Read the rest. Answer. Q5: what do YOU think?  </a:t>
            </a:r>
            <a:pPr indent="0" marL="0">
              <a:buNone/>
            </a:pPr>
            <a:r>
              <a:rPr lang="en-US" sz="950" i="1" dirty="0">
                <a:solidFill>
                  <a:srgbClr val="E2E8F0"/>
                </a:solidFill>
                <a:latin typeface="Calibri" pitchFamily="34" charset="0"/>
                <a:ea typeface="Calibri" pitchFamily="34" charset="-122"/>
                <a:cs typeface="Calibri" pitchFamily="34" charset="-120"/>
              </a:rPr>
              <a:t>Leggi il resto. Rispondi. Domanda 5: tu cosa pensi?</a:t>
            </a:r>
            <a:endParaRPr lang="en-US" sz="1000" dirty="0"/>
          </a:p>
        </p:txBody>
      </p:sp>
      <p:sp>
        <p:nvSpPr>
          <p:cNvPr id="10" name="rtext_160"/>
          <p:cNvSpPr txBox="1"/>
          <p:nvPr/>
        </p:nvSpPr>
        <p:spPr>
          <a:xfrm rot="-30000">
            <a:off x="320040" y="1810512"/>
            <a:ext cx="4754880" cy="2880360"/>
          </a:xfrm>
          <a:prstGeom prst="rect">
            <a:avLst/>
          </a:prstGeom>
          <a:solidFill>
            <a:srgbClr val="FFFDF5"/>
          </a:solidFill>
          <a:ln w="19050">
            <a:solidFill>
              <a:srgbClr val="111111"/>
            </a:solidFill>
          </a:ln>
          <a:effectLst>
            <a:outerShdw sx="100000" sy="100000" kx="0" ky="0" algn="bl" rotWithShape="0" blurRad="101600" dist="38100" dir="2700000">
              <a:srgbClr val="000000">
                <a:alpha val="35000"/>
              </a:srgbClr>
            </a:outerShdw>
          </a:effectLst>
        </p:spPr>
        <p:txBody>
          <a:bodyPr wrap="square" lIns="114300" tIns="114300" rIns="114300" bIns="114300" rtlCol="0" anchor="t"/>
          <a:lstStyle/>
          <a:p>
            <a:pPr indent="0" marL="0">
              <a:spcAft>
                <a:spcPts val="400"/>
              </a:spcAft>
              <a:buNone/>
            </a:pPr>
            <a:r>
              <a:rPr lang="en-US" sz="1300" b="1" dirty="0">
                <a:solidFill>
                  <a:srgbClr val="6D3FC0"/>
                </a:solidFill>
                <a:latin typeface="Calibri" pitchFamily="34" charset="0"/>
                <a:ea typeface="Calibri" pitchFamily="34" charset="-122"/>
                <a:cs typeface="Calibri" pitchFamily="34" charset="-120"/>
              </a:rPr>
              <a:t>Please date my dad (continued)</a:t>
            </a:r>
            <a:endParaRPr lang="en-US" sz="1300" dirty="0"/>
          </a:p>
          <a:p>
            <a:pPr indent="0" marL="0">
              <a:spcAft>
                <a:spcPts val="400"/>
              </a:spcAft>
              <a:buNone/>
            </a:pPr>
            <a:r>
              <a:rPr lang="en-US" sz="1080" dirty="0">
                <a:solidFill>
                  <a:srgbClr val="111111"/>
                </a:solidFill>
                <a:latin typeface="Calibri" pitchFamily="34" charset="0"/>
                <a:ea typeface="Calibri" pitchFamily="34" charset="-122"/>
                <a:cs typeface="Calibri" pitchFamily="34" charset="-120"/>
              </a:rPr>
              <a:t>'My dad is the perfect man,' she says. 'He's warm, he's generous, he knows how to look after a woman. He's a gentleman. He's always the one who pays on dates. He's romantic and he's fun.'</a:t>
            </a:r>
            <a:endParaRPr lang="en-US" sz="1300" dirty="0"/>
          </a:p>
          <a:p>
            <a:pPr indent="0" marL="0">
              <a:spcAft>
                <a:spcPts val="400"/>
              </a:spcAft>
              <a:buNone/>
            </a:pPr>
            <a:r>
              <a:rPr lang="en-US" sz="1080" dirty="0">
                <a:solidFill>
                  <a:srgbClr val="111111"/>
                </a:solidFill>
                <a:latin typeface="Calibri" pitchFamily="34" charset="0"/>
                <a:ea typeface="Calibri" pitchFamily="34" charset="-122"/>
                <a:cs typeface="Calibri" pitchFamily="34" charset="-120"/>
              </a:rPr>
              <a:t>Dating in the 21st century is very different from when Clint was young. Internet dating has changed everything. 'Before, when you met people face to face, there was sometimes a spark – you don't get that from someone's profile picture.'</a:t>
            </a:r>
            <a:endParaRPr lang="en-US" sz="1300" dirty="0"/>
          </a:p>
          <a:p>
            <a:pPr indent="0" marL="0">
              <a:spcAft>
                <a:spcPts val="400"/>
              </a:spcAft>
              <a:buNone/>
            </a:pPr>
            <a:r>
              <a:rPr lang="en-US" sz="1080" dirty="0">
                <a:solidFill>
                  <a:srgbClr val="111111"/>
                </a:solidFill>
                <a:latin typeface="Calibri" pitchFamily="34" charset="0"/>
                <a:ea typeface="Calibri" pitchFamily="34" charset="-122"/>
                <a:cs typeface="Calibri" pitchFamily="34" charset="-120"/>
              </a:rPr>
              <a:t>Charlotte wrote Clint's dating profile. Clint would like to meet a woman who works, preferably a businesswoman. Someone who's independent, but funny and clever. 'I'm always hopeful,' he says.</a:t>
            </a:r>
            <a:endParaRPr lang="en-US" sz="1300" dirty="0"/>
          </a:p>
        </p:txBody>
      </p:sp>
      <p:sp>
        <p:nvSpPr>
          <p:cNvPr id="11" name="box_161"/>
          <p:cNvSpPr txBox="1"/>
          <p:nvPr/>
        </p:nvSpPr>
        <p:spPr>
          <a:xfrm>
            <a:off x="5239512" y="1810512"/>
            <a:ext cx="2078980" cy="517550"/>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150" dirty="0">
                <a:solidFill>
                  <a:srgbClr val="111111"/>
                </a:solidFill>
                <a:latin typeface="Calibri" pitchFamily="34" charset="0"/>
                <a:ea typeface="Calibri" pitchFamily="34" charset="-122"/>
                <a:cs typeface="Calibri" pitchFamily="34" charset="-120"/>
              </a:rPr>
              <a:t>1  How does Charlotte describe her dad?</a:t>
            </a:r>
            <a:endParaRPr lang="en-US" sz="1150" dirty="0"/>
          </a:p>
        </p:txBody>
      </p:sp>
      <p:sp>
        <p:nvSpPr>
          <p:cNvPr id="12" name="R1_ra0"/>
          <p:cNvSpPr txBox="1"/>
          <p:nvPr/>
        </p:nvSpPr>
        <p:spPr>
          <a:xfrm>
            <a:off x="7364212" y="1837944"/>
            <a:ext cx="1459748" cy="462686"/>
          </a:xfrm>
          <a:prstGeom prst="roundRect">
            <a:avLst>
              <a:gd name="adj" fmla="val 11858"/>
            </a:avLst>
          </a:prstGeom>
          <a:solidFill>
            <a:srgbClr val="FFFFFF"/>
          </a:solidFill>
          <a:ln w="38100">
            <a:solidFill>
              <a:srgbClr val="1FA463"/>
            </a:solidFill>
          </a:ln>
        </p:spPr>
        <p:txBody>
          <a:bodyPr wrap="square" lIns="25400" tIns="25400" rIns="25400" bIns="25400" rtlCol="0" anchor="ctr"/>
          <a:lstStyle/>
          <a:p>
            <a:pPr algn="ctr" indent="0" marL="0">
              <a:buNone/>
            </a:pPr>
            <a:r>
              <a:rPr lang="en-US" sz="950" dirty="0">
                <a:solidFill>
                  <a:srgbClr val="111111"/>
                </a:solidFill>
                <a:latin typeface="Calibri" pitchFamily="34" charset="0"/>
                <a:ea typeface="Calibri" pitchFamily="34" charset="-122"/>
                <a:cs typeface="Calibri" pitchFamily="34" charset="-120"/>
              </a:rPr>
              <a:t>warm, generous, a gentleman, romantic, fun</a:t>
            </a:r>
            <a:endParaRPr lang="en-US" sz="950" dirty="0"/>
          </a:p>
        </p:txBody>
      </p:sp>
      <p:sp>
        <p:nvSpPr>
          <p:cNvPr id="13" name="box_162"/>
          <p:cNvSpPr txBox="1"/>
          <p:nvPr/>
        </p:nvSpPr>
        <p:spPr>
          <a:xfrm>
            <a:off x="5239512" y="2401214"/>
            <a:ext cx="2078980" cy="517550"/>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150" dirty="0">
                <a:solidFill>
                  <a:srgbClr val="111111"/>
                </a:solidFill>
                <a:latin typeface="Calibri" pitchFamily="34" charset="0"/>
                <a:ea typeface="Calibri" pitchFamily="34" charset="-122"/>
                <a:cs typeface="Calibri" pitchFamily="34" charset="-120"/>
              </a:rPr>
              <a:t>2  What has changed dating?</a:t>
            </a:r>
            <a:endParaRPr lang="en-US" sz="1150" dirty="0"/>
          </a:p>
        </p:txBody>
      </p:sp>
      <p:sp>
        <p:nvSpPr>
          <p:cNvPr id="14" name="R1_ra1"/>
          <p:cNvSpPr txBox="1"/>
          <p:nvPr/>
        </p:nvSpPr>
        <p:spPr>
          <a:xfrm>
            <a:off x="7364212" y="2428646"/>
            <a:ext cx="1459748" cy="462686"/>
          </a:xfrm>
          <a:prstGeom prst="roundRect">
            <a:avLst>
              <a:gd name="adj" fmla="val 11858"/>
            </a:avLst>
          </a:prstGeom>
          <a:solidFill>
            <a:srgbClr val="FFFFFF"/>
          </a:solidFill>
          <a:ln w="38100">
            <a:solidFill>
              <a:srgbClr val="1FA463"/>
            </a:solidFill>
          </a:ln>
        </p:spPr>
        <p:txBody>
          <a:bodyPr wrap="square" lIns="25400" tIns="25400" rIns="25400" bIns="25400" rtlCol="0" anchor="ctr"/>
          <a:lstStyle/>
          <a:p>
            <a:pPr algn="ctr" indent="0" marL="0">
              <a:buNone/>
            </a:pPr>
            <a:r>
              <a:rPr lang="en-US" sz="1050" dirty="0">
                <a:solidFill>
                  <a:srgbClr val="111111"/>
                </a:solidFill>
                <a:latin typeface="Calibri" pitchFamily="34" charset="0"/>
                <a:ea typeface="Calibri" pitchFamily="34" charset="-122"/>
                <a:cs typeface="Calibri" pitchFamily="34" charset="-120"/>
              </a:rPr>
              <a:t>the internet</a:t>
            </a:r>
            <a:endParaRPr lang="en-US" sz="1050" dirty="0"/>
          </a:p>
        </p:txBody>
      </p:sp>
      <p:sp>
        <p:nvSpPr>
          <p:cNvPr id="15" name="box_163"/>
          <p:cNvSpPr txBox="1"/>
          <p:nvPr/>
        </p:nvSpPr>
        <p:spPr>
          <a:xfrm>
            <a:off x="5239512" y="2991917"/>
            <a:ext cx="2078980" cy="517550"/>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1150" dirty="0">
                <a:solidFill>
                  <a:srgbClr val="111111"/>
                </a:solidFill>
                <a:latin typeface="Calibri" pitchFamily="34" charset="0"/>
                <a:ea typeface="Calibri" pitchFamily="34" charset="-122"/>
                <a:cs typeface="Calibri" pitchFamily="34" charset="-120"/>
              </a:rPr>
              <a:t>3  What does Clint miss?</a:t>
            </a:r>
            <a:endParaRPr lang="en-US" sz="1150" dirty="0"/>
          </a:p>
        </p:txBody>
      </p:sp>
      <p:sp>
        <p:nvSpPr>
          <p:cNvPr id="16" name="R1_ra2"/>
          <p:cNvSpPr txBox="1"/>
          <p:nvPr/>
        </p:nvSpPr>
        <p:spPr>
          <a:xfrm>
            <a:off x="7364212" y="3019349"/>
            <a:ext cx="1459748" cy="462686"/>
          </a:xfrm>
          <a:prstGeom prst="roundRect">
            <a:avLst>
              <a:gd name="adj" fmla="val 11858"/>
            </a:avLst>
          </a:prstGeom>
          <a:solidFill>
            <a:srgbClr val="FFFFFF"/>
          </a:solidFill>
          <a:ln w="38100">
            <a:solidFill>
              <a:srgbClr val="1FA463"/>
            </a:solidFill>
          </a:ln>
        </p:spPr>
        <p:txBody>
          <a:bodyPr wrap="square" lIns="25400" tIns="25400" rIns="25400" bIns="25400" rtlCol="0" anchor="ctr"/>
          <a:lstStyle/>
          <a:p>
            <a:pPr algn="ctr" indent="0" marL="0">
              <a:buNone/>
            </a:pPr>
            <a:r>
              <a:rPr lang="en-US" sz="1050" dirty="0">
                <a:solidFill>
                  <a:srgbClr val="111111"/>
                </a:solidFill>
                <a:latin typeface="Calibri" pitchFamily="34" charset="0"/>
                <a:ea typeface="Calibri" pitchFamily="34" charset="-122"/>
                <a:cs typeface="Calibri" pitchFamily="34" charset="-120"/>
              </a:rPr>
              <a:t>the 'spark' of meeting face to face</a:t>
            </a:r>
            <a:endParaRPr lang="en-US" sz="1050" dirty="0"/>
          </a:p>
        </p:txBody>
      </p:sp>
      <p:sp>
        <p:nvSpPr>
          <p:cNvPr id="17" name="box_164"/>
          <p:cNvSpPr txBox="1"/>
          <p:nvPr/>
        </p:nvSpPr>
        <p:spPr>
          <a:xfrm>
            <a:off x="5239512" y="3582619"/>
            <a:ext cx="2078980" cy="517550"/>
          </a:xfrm>
          <a:prstGeom prst="rect">
            <a:avLst/>
          </a:prstGeom>
          <a:solidFill>
            <a:srgbClr val="DCFCE7"/>
          </a:solidFill>
          <a:ln w="15875">
            <a:solidFill>
              <a:srgbClr val="111111"/>
            </a:solidFill>
          </a:ln>
        </p:spPr>
        <p:txBody>
          <a:bodyPr wrap="square" lIns="76200" tIns="76200" rIns="76200" bIns="76200" rtlCol="0" anchor="ctr"/>
          <a:lstStyle/>
          <a:p>
            <a:pPr algn="l" indent="0" marL="0">
              <a:buNone/>
            </a:pPr>
            <a:r>
              <a:rPr lang="en-US" sz="1150" dirty="0">
                <a:solidFill>
                  <a:srgbClr val="111111"/>
                </a:solidFill>
                <a:latin typeface="Calibri" pitchFamily="34" charset="0"/>
                <a:ea typeface="Calibri" pitchFamily="34" charset="-122"/>
                <a:cs typeface="Calibri" pitchFamily="34" charset="-120"/>
              </a:rPr>
              <a:t>4  What kind of woman does he want?</a:t>
            </a:r>
            <a:endParaRPr lang="en-US" sz="1150" dirty="0"/>
          </a:p>
        </p:txBody>
      </p:sp>
      <p:sp>
        <p:nvSpPr>
          <p:cNvPr id="18" name="R1_ra3"/>
          <p:cNvSpPr txBox="1"/>
          <p:nvPr/>
        </p:nvSpPr>
        <p:spPr>
          <a:xfrm>
            <a:off x="7364212" y="3610051"/>
            <a:ext cx="1459748" cy="462686"/>
          </a:xfrm>
          <a:prstGeom prst="roundRect">
            <a:avLst>
              <a:gd name="adj" fmla="val 11858"/>
            </a:avLst>
          </a:prstGeom>
          <a:solidFill>
            <a:srgbClr val="FFFFFF"/>
          </a:solidFill>
          <a:ln w="38100">
            <a:solidFill>
              <a:srgbClr val="1FA463"/>
            </a:solidFill>
          </a:ln>
        </p:spPr>
        <p:txBody>
          <a:bodyPr wrap="square" lIns="25400" tIns="25400" rIns="25400" bIns="25400" rtlCol="0" anchor="ctr"/>
          <a:lstStyle/>
          <a:p>
            <a:pPr algn="ctr" indent="0" marL="0">
              <a:buNone/>
            </a:pPr>
            <a:r>
              <a:rPr lang="en-US" sz="900" dirty="0">
                <a:solidFill>
                  <a:srgbClr val="111111"/>
                </a:solidFill>
                <a:latin typeface="Calibri" pitchFamily="34" charset="0"/>
                <a:ea typeface="Calibri" pitchFamily="34" charset="-122"/>
                <a:cs typeface="Calibri" pitchFamily="34" charset="-120"/>
              </a:rPr>
              <a:t>a businesswoman: independent, funny, clever</a:t>
            </a:r>
            <a:endParaRPr lang="en-US" sz="900" dirty="0"/>
          </a:p>
        </p:txBody>
      </p:sp>
      <p:sp>
        <p:nvSpPr>
          <p:cNvPr id="19" name="box_165"/>
          <p:cNvSpPr txBox="1"/>
          <p:nvPr/>
        </p:nvSpPr>
        <p:spPr>
          <a:xfrm>
            <a:off x="5239512" y="4173322"/>
            <a:ext cx="2078980" cy="517550"/>
          </a:xfrm>
          <a:prstGeom prst="rect">
            <a:avLst/>
          </a:prstGeom>
          <a:solidFill>
            <a:srgbClr val="EDE9FE"/>
          </a:solidFill>
          <a:ln w="15875">
            <a:solidFill>
              <a:srgbClr val="111111"/>
            </a:solidFill>
          </a:ln>
        </p:spPr>
        <p:txBody>
          <a:bodyPr wrap="square" lIns="76200" tIns="76200" rIns="76200" bIns="76200" rtlCol="0" anchor="ctr"/>
          <a:lstStyle/>
          <a:p>
            <a:pPr algn="l" indent="0" marL="0">
              <a:buNone/>
            </a:pPr>
            <a:r>
              <a:rPr lang="en-US" sz="1150" dirty="0">
                <a:solidFill>
                  <a:srgbClr val="111111"/>
                </a:solidFill>
                <a:latin typeface="Calibri" pitchFamily="34" charset="0"/>
                <a:ea typeface="Calibri" pitchFamily="34" charset="-122"/>
                <a:cs typeface="Calibri" pitchFamily="34" charset="-120"/>
              </a:rPr>
              <a:t>5  Will he find 'the one'? Why?</a:t>
            </a:r>
            <a:endParaRPr lang="en-US" sz="1150" dirty="0"/>
          </a:p>
        </p:txBody>
      </p:sp>
      <p:sp>
        <p:nvSpPr>
          <p:cNvPr id="20" name="R1_ra4"/>
          <p:cNvSpPr txBox="1"/>
          <p:nvPr/>
        </p:nvSpPr>
        <p:spPr>
          <a:xfrm>
            <a:off x="7364212" y="4200754"/>
            <a:ext cx="1459748" cy="462686"/>
          </a:xfrm>
          <a:prstGeom prst="roundRect">
            <a:avLst>
              <a:gd name="adj" fmla="val 11858"/>
            </a:avLst>
          </a:prstGeom>
          <a:solidFill>
            <a:srgbClr val="FFFFFF"/>
          </a:solidFill>
          <a:ln w="38100">
            <a:solidFill>
              <a:srgbClr val="1FA463"/>
            </a:solidFill>
          </a:ln>
        </p:spPr>
        <p:txBody>
          <a:bodyPr wrap="square" lIns="25400" tIns="25400" rIns="25400" bIns="25400" rtlCol="0" anchor="ctr"/>
          <a:lstStyle/>
          <a:p>
            <a:pPr algn="ctr" indent="0" marL="0">
              <a:buNone/>
            </a:pPr>
            <a:r>
              <a:rPr lang="en-US" sz="1050" dirty="0">
                <a:solidFill>
                  <a:srgbClr val="111111"/>
                </a:solidFill>
                <a:latin typeface="Calibri" pitchFamily="34" charset="0"/>
                <a:ea typeface="Calibri" pitchFamily="34" charset="-122"/>
                <a:cs typeface="Calibri" pitchFamily="34" charset="-120"/>
              </a:rPr>
              <a:t>open – 'I'm always hopeful'</a:t>
            </a:r>
            <a:endParaRPr lang="en-US" sz="1050" dirty="0"/>
          </a:p>
        </p:txBody>
      </p:sp>
      <p:sp>
        <p:nvSpPr>
          <p:cNvPr id="21" name="pageTag_166"/>
          <p:cNvSpPr txBox="1"/>
          <p:nvPr/>
        </p:nvSpPr>
        <p:spPr>
          <a:xfrm>
            <a:off x="320040" y="4773168"/>
            <a:ext cx="6720840" cy="246888"/>
          </a:xfrm>
          <a:prstGeom prst="rect">
            <a:avLst/>
          </a:prstGeom>
          <a:solidFill>
            <a:srgbClr val="FFFFFF"/>
          </a:solidFill>
          <a:ln/>
        </p:spPr>
        <p:txBody>
          <a:bodyPr wrap="square" lIns="25400" tIns="25400" rIns="25400" bIns="2540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 SB p.8 · Reading (abridged from the Student's Book text)</a:t>
            </a:r>
            <a:endParaRPr lang="en-US" sz="10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400"/>
                                        <p:tgtEl>
                                          <p:spTgt spid="12"/>
                                        </p:tgtEl>
                                      </p:cBhvr>
                                    </p:animEffect>
                                  </p:childTnLst>
                                </p:cTn>
                              </p:par>
                              <p:par>
                                <p:cTn id="8" presetID="10" presetClass="entr" presetSubtype="0" fill="hold"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400"/>
                                        <p:tgtEl>
                                          <p:spTgt spid="14"/>
                                        </p:tgtEl>
                                      </p:cBhvr>
                                    </p:animEffect>
                                  </p:childTnLst>
                                </p:cTn>
                              </p:par>
                              <p:par>
                                <p:cTn id="11" presetID="10" presetClass="entr" presetSubtype="0" fill="hold" nodeType="withEffect">
                                  <p:stCondLst>
                                    <p:cond delay="0"/>
                                  </p:stCondLst>
                                  <p:childTnLst>
                                    <p:set>
                                      <p:cBhvr>
                                        <p:cTn id="12" dur="1" fill="hold">
                                          <p:stCondLst>
                                            <p:cond delay="0"/>
                                          </p:stCondLst>
                                        </p:cTn>
                                        <p:tgtEl>
                                          <p:spTgt spid="16"/>
                                        </p:tgtEl>
                                        <p:attrNameLst>
                                          <p:attrName>style.visibility</p:attrName>
                                        </p:attrNameLst>
                                      </p:cBhvr>
                                      <p:to>
                                        <p:strVal val="visible"/>
                                      </p:to>
                                    </p:set>
                                    <p:animEffect transition="in" filter="fade">
                                      <p:cBhvr>
                                        <p:cTn id="13" dur="400"/>
                                        <p:tgtEl>
                                          <p:spTgt spid="16"/>
                                        </p:tgtEl>
                                      </p:cBhvr>
                                    </p:animEffect>
                                  </p:childTnLst>
                                </p:cTn>
                              </p:par>
                              <p:par>
                                <p:cTn id="14" presetID="10" presetClass="entr" presetSubtype="0" fill="hold" nodeType="withEffect">
                                  <p:stCondLst>
                                    <p:cond delay="0"/>
                                  </p:stCondLst>
                                  <p:childTnLst>
                                    <p:set>
                                      <p:cBhvr>
                                        <p:cTn id="15" dur="1" fill="hold">
                                          <p:stCondLst>
                                            <p:cond delay="0"/>
                                          </p:stCondLst>
                                        </p:cTn>
                                        <p:tgtEl>
                                          <p:spTgt spid="18"/>
                                        </p:tgtEl>
                                        <p:attrNameLst>
                                          <p:attrName>style.visibility</p:attrName>
                                        </p:attrNameLst>
                                      </p:cBhvr>
                                      <p:to>
                                        <p:strVal val="visible"/>
                                      </p:to>
                                    </p:set>
                                    <p:animEffect transition="in" filter="fade">
                                      <p:cBhvr>
                                        <p:cTn id="16" dur="400"/>
                                        <p:tgtEl>
                                          <p:spTgt spid="18"/>
                                        </p:tgtEl>
                                      </p:cBhvr>
                                    </p:animEffect>
                                  </p:childTnLst>
                                </p:cTn>
                              </p:par>
                              <p:par>
                                <p:cTn id="17" presetID="10" presetClass="entr" presetSubtype="0" fill="hold" nodeType="with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167"/>
          <p:cNvSpPr/>
          <p:nvPr/>
        </p:nvSpPr>
        <p:spPr>
          <a:xfrm>
            <a:off x="54864" y="54864"/>
            <a:ext cx="9034272" cy="5033772"/>
          </a:xfrm>
          <a:prstGeom prst="rect">
            <a:avLst/>
          </a:prstGeom>
          <a:ln w="114300">
            <a:solidFill>
              <a:srgbClr val="FDBA74"/>
            </a:solidFill>
            <a:prstDash val="solid"/>
          </a:ln>
        </p:spPr>
      </p:sp>
      <p:pic>
        <p:nvPicPr>
          <p:cNvPr id="4" name="logo_168"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169"/>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GRAMMAR · Notice</a:t>
            </a:r>
            <a:endParaRPr lang="en-US" sz="900" dirty="0"/>
          </a:p>
        </p:txBody>
      </p:sp>
      <p:sp>
        <p:nvSpPr>
          <p:cNvPr id="6" name="timer_170"/>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4 min</a:t>
            </a:r>
            <a:endParaRPr lang="en-US" sz="1200" dirty="0"/>
          </a:p>
        </p:txBody>
      </p:sp>
      <p:sp>
        <p:nvSpPr>
          <p:cNvPr id="7" name="footer_171"/>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1B · Part 1</a:t>
            </a:r>
            <a:endParaRPr lang="en-US" sz="1000" dirty="0"/>
          </a:p>
        </p:txBody>
      </p:sp>
      <p:sp>
        <p:nvSpPr>
          <p:cNvPr id="8" name="title_172"/>
          <p:cNvSpPr txBox="1"/>
          <p:nvPr/>
        </p:nvSpPr>
        <p:spPr>
          <a:xfrm rot="-120000">
            <a:off x="320040" y="676656"/>
            <a:ext cx="4672584" cy="530352"/>
          </a:xfrm>
          <a:prstGeom prst="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Why the -s? Why doesn't?</a:t>
            </a:r>
            <a:endParaRPr lang="en-US" sz="1500" dirty="0"/>
          </a:p>
        </p:txBody>
      </p:sp>
      <p:sp>
        <p:nvSpPr>
          <p:cNvPr id="9" name="post_173"/>
          <p:cNvSpPr/>
          <p:nvPr/>
        </p:nvSpPr>
        <p:spPr>
          <a:xfrm>
            <a:off x="429768" y="1554480"/>
            <a:ext cx="128016" cy="2194560"/>
          </a:xfrm>
          <a:prstGeom prst="rect">
            <a:avLst/>
          </a:prstGeom>
          <a:solidFill>
            <a:srgbClr val="8B5A2B"/>
          </a:solidFill>
          <a:ln w="31750">
            <a:solidFill>
              <a:srgbClr val="111111"/>
            </a:solidFill>
            <a:prstDash val="solid"/>
          </a:ln>
        </p:spPr>
      </p:sp>
      <p:sp>
        <p:nvSpPr>
          <p:cNvPr id="10" name="signA_174"/>
          <p:cNvSpPr txBox="1"/>
          <p:nvPr/>
        </p:nvSpPr>
        <p:spPr>
          <a:xfrm rot="-180000">
            <a:off x="320040" y="1371600"/>
            <a:ext cx="2240280" cy="457200"/>
          </a:xfrm>
          <a:prstGeom prst="homePlate">
            <a:avLst/>
          </a:prstGeom>
          <a:solidFill>
            <a:srgbClr val="062F67"/>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THINK!</a:t>
            </a:r>
            <a:pPr indent="0" marL="0">
              <a:buNone/>
            </a:pPr>
            <a:r>
              <a:rPr lang="en-US" sz="1000" dirty="0">
                <a:solidFill>
                  <a:srgbClr val="FFF3B0"/>
                </a:solidFill>
                <a:latin typeface="Arial Black" pitchFamily="34" charset="0"/>
                <a:ea typeface="Arial Black" pitchFamily="34" charset="-122"/>
                <a:cs typeface="Arial Black" pitchFamily="34" charset="-120"/>
              </a:rPr>
              <a:t>  PENSA!</a:t>
            </a:r>
            <a:endParaRPr lang="en-US" sz="1500" dirty="0"/>
          </a:p>
        </p:txBody>
      </p:sp>
      <p:sp>
        <p:nvSpPr>
          <p:cNvPr id="11" name="signB_175"/>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050" dirty="0">
                <a:solidFill>
                  <a:srgbClr val="111111"/>
                </a:solidFill>
                <a:latin typeface="Calibri" pitchFamily="34" charset="0"/>
                <a:ea typeface="Calibri" pitchFamily="34" charset="-122"/>
                <a:cs typeface="Calibri" pitchFamily="34" charset="-120"/>
              </a:rPr>
              <a:t>Look at the verbs in CAPITALS. What's the rule? Decide BEFORE the click.</a:t>
            </a:r>
            <a:endParaRPr lang="en-US" sz="1050" dirty="0"/>
          </a:p>
          <a:p>
            <a:pPr indent="0" marL="0">
              <a:buNone/>
            </a:pPr>
            <a:r>
              <a:rPr lang="en-US" sz="950" i="1" dirty="0">
                <a:solidFill>
                  <a:srgbClr val="334155"/>
                </a:solidFill>
                <a:latin typeface="Calibri" pitchFamily="34" charset="0"/>
                <a:ea typeface="Calibri" pitchFamily="34" charset="-122"/>
                <a:cs typeface="Calibri" pitchFamily="34" charset="-120"/>
              </a:rPr>
              <a:t>Guarda i verbi in MAIUSCOLO. Qual è la regola? Decidi PRIMA del clic.</a:t>
            </a:r>
            <a:endParaRPr lang="en-US" sz="1050" dirty="0"/>
          </a:p>
        </p:txBody>
      </p:sp>
      <p:sp>
        <p:nvSpPr>
          <p:cNvPr id="12" name="iconBack_176"/>
          <p:cNvSpPr/>
          <p:nvPr/>
        </p:nvSpPr>
        <p:spPr>
          <a:xfrm>
            <a:off x="685800" y="3246120"/>
            <a:ext cx="1143000" cy="1143000"/>
          </a:xfrm>
          <a:prstGeom prst="ellipse">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13" name="icon_177" descr="pi:PiLightbulb">    </p:cNvPr>
          <p:cNvPicPr>
            <a:picLocks noChangeAspect="1"/>
          </p:cNvPicPr>
          <p:nvPr/>
        </p:nvPicPr>
        <p:blipFill>
          <a:blip r:embed="rId3"/>
          <a:stretch>
            <a:fillRect/>
          </a:stretch>
        </p:blipFill>
        <p:spPr>
          <a:xfrm>
            <a:off x="914400" y="3474720"/>
            <a:ext cx="685800" cy="685800"/>
          </a:xfrm>
          <a:prstGeom prst="rect">
            <a:avLst/>
          </a:prstGeom>
        </p:spPr>
      </p:pic>
      <p:sp>
        <p:nvSpPr>
          <p:cNvPr id="14" name="box_178"/>
          <p:cNvSpPr txBox="1"/>
          <p:nvPr/>
        </p:nvSpPr>
        <p:spPr>
          <a:xfrm>
            <a:off x="2788920" y="1371600"/>
            <a:ext cx="3500323" cy="555955"/>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1  Charlotte THINKS that Clint NEEDS a new partner.</a:t>
            </a:r>
            <a:endParaRPr lang="en-US" sz="1250" dirty="0"/>
          </a:p>
        </p:txBody>
      </p:sp>
      <p:sp>
        <p:nvSpPr>
          <p:cNvPr id="15" name="R1_a0"/>
          <p:cNvSpPr txBox="1"/>
          <p:nvPr/>
        </p:nvSpPr>
        <p:spPr>
          <a:xfrm>
            <a:off x="6344107" y="1408176"/>
            <a:ext cx="2479853" cy="482803"/>
          </a:xfrm>
          <a:prstGeom prst="roundRect">
            <a:avLst>
              <a:gd name="adj" fmla="val 11364"/>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50" dirty="0">
                <a:solidFill>
                  <a:srgbClr val="111111"/>
                </a:solidFill>
                <a:latin typeface="Calibri" pitchFamily="34" charset="0"/>
                <a:ea typeface="Calibri" pitchFamily="34" charset="-122"/>
                <a:cs typeface="Calibri" pitchFamily="34" charset="-120"/>
              </a:rPr>
              <a:t>he / she / it → verb + s</a:t>
            </a:r>
            <a:endParaRPr lang="en-US" sz="1250" dirty="0"/>
          </a:p>
        </p:txBody>
      </p:sp>
      <p:sp>
        <p:nvSpPr>
          <p:cNvPr id="16" name="box_179"/>
          <p:cNvSpPr txBox="1"/>
          <p:nvPr/>
        </p:nvSpPr>
        <p:spPr>
          <a:xfrm>
            <a:off x="2788920" y="2055571"/>
            <a:ext cx="3500323" cy="555955"/>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450" dirty="0">
                <a:solidFill>
                  <a:srgbClr val="111111"/>
                </a:solidFill>
                <a:latin typeface="Calibri" pitchFamily="34" charset="0"/>
                <a:ea typeface="Calibri" pitchFamily="34" charset="-122"/>
                <a:cs typeface="Calibri" pitchFamily="34" charset="-120"/>
              </a:rPr>
              <a:t>2  They often GO out together.</a:t>
            </a:r>
            <a:endParaRPr lang="en-US" sz="1450" dirty="0"/>
          </a:p>
        </p:txBody>
      </p:sp>
      <p:sp>
        <p:nvSpPr>
          <p:cNvPr id="17" name="R2_a1"/>
          <p:cNvSpPr txBox="1"/>
          <p:nvPr/>
        </p:nvSpPr>
        <p:spPr>
          <a:xfrm>
            <a:off x="6344107" y="2092147"/>
            <a:ext cx="2479853" cy="482803"/>
          </a:xfrm>
          <a:prstGeom prst="roundRect">
            <a:avLst>
              <a:gd name="adj" fmla="val 11364"/>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50" dirty="0">
                <a:solidFill>
                  <a:srgbClr val="111111"/>
                </a:solidFill>
                <a:latin typeface="Calibri" pitchFamily="34" charset="0"/>
                <a:ea typeface="Calibri" pitchFamily="34" charset="-122"/>
                <a:cs typeface="Calibri" pitchFamily="34" charset="-120"/>
              </a:rPr>
              <a:t>I / you / we / they → no s</a:t>
            </a:r>
            <a:endParaRPr lang="en-US" sz="1250" dirty="0"/>
          </a:p>
        </p:txBody>
      </p:sp>
      <p:sp>
        <p:nvSpPr>
          <p:cNvPr id="18" name="box_180"/>
          <p:cNvSpPr txBox="1"/>
          <p:nvPr/>
        </p:nvSpPr>
        <p:spPr>
          <a:xfrm>
            <a:off x="2788920" y="2739542"/>
            <a:ext cx="3500323" cy="555955"/>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3  She DOESN'T WANT her dad to end up alone.</a:t>
            </a:r>
            <a:endParaRPr lang="en-US" sz="1250" dirty="0"/>
          </a:p>
        </p:txBody>
      </p:sp>
      <p:sp>
        <p:nvSpPr>
          <p:cNvPr id="19" name="R3_a2"/>
          <p:cNvSpPr txBox="1"/>
          <p:nvPr/>
        </p:nvSpPr>
        <p:spPr>
          <a:xfrm>
            <a:off x="6344107" y="2776118"/>
            <a:ext cx="2479853" cy="482803"/>
          </a:xfrm>
          <a:prstGeom prst="roundRect">
            <a:avLst>
              <a:gd name="adj" fmla="val 11364"/>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50" dirty="0">
                <a:solidFill>
                  <a:srgbClr val="111111"/>
                </a:solidFill>
                <a:latin typeface="Calibri" pitchFamily="34" charset="0"/>
                <a:ea typeface="Calibri" pitchFamily="34" charset="-122"/>
                <a:cs typeface="Calibri" pitchFamily="34" charset="-120"/>
              </a:rPr>
              <a:t>doesn't + verb (no s!)</a:t>
            </a:r>
            <a:endParaRPr lang="en-US" sz="1250" dirty="0"/>
          </a:p>
        </p:txBody>
      </p:sp>
      <p:sp>
        <p:nvSpPr>
          <p:cNvPr id="20" name="box_181"/>
          <p:cNvSpPr txBox="1"/>
          <p:nvPr/>
        </p:nvSpPr>
        <p:spPr>
          <a:xfrm>
            <a:off x="2788920" y="3423514"/>
            <a:ext cx="3500323" cy="555955"/>
          </a:xfrm>
          <a:prstGeom prst="rect">
            <a:avLst/>
          </a:prstGeom>
          <a:solidFill>
            <a:srgbClr val="DCFCE7"/>
          </a:solidFill>
          <a:ln w="15875">
            <a:solidFill>
              <a:srgbClr val="111111"/>
            </a:solidFill>
          </a:ln>
        </p:spPr>
        <p:txBody>
          <a:bodyPr wrap="square" lIns="76200" tIns="76200" rIns="76200" bIns="76200" rtlCol="0" anchor="ctr"/>
          <a:lstStyle/>
          <a:p>
            <a:pPr algn="l" indent="0" marL="0">
              <a:buNone/>
            </a:pPr>
            <a:r>
              <a:rPr lang="en-US" sz="1450" dirty="0">
                <a:solidFill>
                  <a:srgbClr val="111111"/>
                </a:solidFill>
                <a:latin typeface="Calibri" pitchFamily="34" charset="0"/>
                <a:ea typeface="Calibri" pitchFamily="34" charset="-122"/>
                <a:cs typeface="Calibri" pitchFamily="34" charset="-120"/>
              </a:rPr>
              <a:t>4  DOES Clint LIKE internet dating?</a:t>
            </a:r>
            <a:endParaRPr lang="en-US" sz="1450" dirty="0"/>
          </a:p>
        </p:txBody>
      </p:sp>
      <p:sp>
        <p:nvSpPr>
          <p:cNvPr id="21" name="R4_a3"/>
          <p:cNvSpPr txBox="1"/>
          <p:nvPr/>
        </p:nvSpPr>
        <p:spPr>
          <a:xfrm>
            <a:off x="6344107" y="3460090"/>
            <a:ext cx="2479853" cy="482803"/>
          </a:xfrm>
          <a:prstGeom prst="roundRect">
            <a:avLst>
              <a:gd name="adj" fmla="val 11364"/>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50" dirty="0">
                <a:solidFill>
                  <a:srgbClr val="111111"/>
                </a:solidFill>
                <a:latin typeface="Calibri" pitchFamily="34" charset="0"/>
                <a:ea typeface="Calibri" pitchFamily="34" charset="-122"/>
                <a:cs typeface="Calibri" pitchFamily="34" charset="-120"/>
              </a:rPr>
              <a:t>does + subject + verb (no s!)</a:t>
            </a:r>
            <a:endParaRPr lang="en-US" sz="1250" dirty="0"/>
          </a:p>
        </p:txBody>
      </p:sp>
      <p:sp>
        <p:nvSpPr>
          <p:cNvPr id="22" name="box_182"/>
          <p:cNvSpPr txBox="1"/>
          <p:nvPr/>
        </p:nvSpPr>
        <p:spPr>
          <a:xfrm>
            <a:off x="2788920" y="4107485"/>
            <a:ext cx="3500323" cy="555955"/>
          </a:xfrm>
          <a:prstGeom prst="rect">
            <a:avLst/>
          </a:prstGeom>
          <a:solidFill>
            <a:srgbClr val="EDE9FE"/>
          </a:solidFill>
          <a:ln w="15875">
            <a:solidFill>
              <a:srgbClr val="111111"/>
            </a:solidFill>
          </a:ln>
        </p:spPr>
        <p:txBody>
          <a:bodyPr wrap="square" lIns="76200" tIns="76200" rIns="76200" bIns="76200" rtlCol="0" anchor="ctr"/>
          <a:lstStyle/>
          <a:p>
            <a:pPr algn="l" indent="0" marL="0">
              <a:buNone/>
            </a:pPr>
            <a:r>
              <a:rPr lang="en-US" sz="1450" dirty="0">
                <a:solidFill>
                  <a:srgbClr val="111111"/>
                </a:solidFill>
                <a:latin typeface="Calibri" pitchFamily="34" charset="0"/>
                <a:ea typeface="Calibri" pitchFamily="34" charset="-122"/>
                <a:cs typeface="Calibri" pitchFamily="34" charset="-120"/>
              </a:rPr>
              <a:t>5  He's ALWAYS the one who pays.</a:t>
            </a:r>
            <a:endParaRPr lang="en-US" sz="1450" dirty="0"/>
          </a:p>
        </p:txBody>
      </p:sp>
      <p:sp>
        <p:nvSpPr>
          <p:cNvPr id="23" name="R5_a4"/>
          <p:cNvSpPr txBox="1"/>
          <p:nvPr/>
        </p:nvSpPr>
        <p:spPr>
          <a:xfrm>
            <a:off x="6344107" y="4144061"/>
            <a:ext cx="2479853" cy="482803"/>
          </a:xfrm>
          <a:prstGeom prst="roundRect">
            <a:avLst>
              <a:gd name="adj" fmla="val 11364"/>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50" dirty="0">
                <a:solidFill>
                  <a:srgbClr val="111111"/>
                </a:solidFill>
                <a:latin typeface="Calibri" pitchFamily="34" charset="0"/>
                <a:ea typeface="Calibri" pitchFamily="34" charset="-122"/>
                <a:cs typeface="Calibri" pitchFamily="34" charset="-120"/>
              </a:rPr>
              <a:t>always / often / never: after be, before other verbs</a:t>
            </a:r>
            <a:endParaRPr lang="en-US" sz="12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4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400"/>
                                        <p:tgtEl>
                                          <p:spTgt spid="1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fade">
                                      <p:cBhvr>
                                        <p:cTn id="17" dur="400"/>
                                        <p:tgtEl>
                                          <p:spTgt spid="1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fade">
                                      <p:cBhvr>
                                        <p:cTn id="22" dur="400"/>
                                        <p:tgtEl>
                                          <p:spTgt spid="2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3"/>
                                        </p:tgtEl>
                                        <p:attrNameLst>
                                          <p:attrName>style.visibility</p:attrName>
                                        </p:attrNameLst>
                                      </p:cBhvr>
                                      <p:to>
                                        <p:strVal val="visible"/>
                                      </p:to>
                                    </p:set>
                                    <p:animEffect transition="in" filter="fade">
                                      <p:cBhvr>
                                        <p:cTn id="27"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183"/>
          <p:cNvSpPr/>
          <p:nvPr/>
        </p:nvSpPr>
        <p:spPr>
          <a:xfrm>
            <a:off x="54864" y="54864"/>
            <a:ext cx="9034272" cy="5033772"/>
          </a:xfrm>
          <a:prstGeom prst="rect">
            <a:avLst/>
          </a:prstGeom>
          <a:ln w="114300">
            <a:solidFill>
              <a:srgbClr val="FDBA74"/>
            </a:solidFill>
            <a:prstDash val="solid"/>
          </a:ln>
        </p:spPr>
      </p:sp>
      <p:pic>
        <p:nvPicPr>
          <p:cNvPr id="4" name="logo_184"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185"/>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GRAMMAR · Present simple</a:t>
            </a:r>
            <a:endParaRPr lang="en-US" sz="900" dirty="0"/>
          </a:p>
        </p:txBody>
      </p:sp>
      <p:sp>
        <p:nvSpPr>
          <p:cNvPr id="6" name="timer_186"/>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3 min</a:t>
            </a:r>
            <a:endParaRPr lang="en-US" sz="1200" dirty="0"/>
          </a:p>
        </p:txBody>
      </p:sp>
      <p:sp>
        <p:nvSpPr>
          <p:cNvPr id="7" name="footer_187"/>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1B · Part 1</a:t>
            </a:r>
            <a:endParaRPr lang="en-US" sz="1000" dirty="0"/>
          </a:p>
        </p:txBody>
      </p:sp>
      <p:sp>
        <p:nvSpPr>
          <p:cNvPr id="8" name="title_188"/>
          <p:cNvSpPr txBox="1"/>
          <p:nvPr/>
        </p:nvSpPr>
        <p:spPr>
          <a:xfrm rot="-120000">
            <a:off x="320040" y="676656"/>
            <a:ext cx="4846320" cy="530352"/>
          </a:xfrm>
          <a:prstGeom prst="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Present simple: the rules</a:t>
            </a:r>
            <a:endParaRPr lang="en-US" sz="1500" dirty="0"/>
          </a:p>
        </p:txBody>
      </p:sp>
      <p:sp>
        <p:nvSpPr>
          <p:cNvPr id="9" name="rh_189"/>
          <p:cNvSpPr txBox="1"/>
          <p:nvPr/>
        </p:nvSpPr>
        <p:spPr>
          <a:xfrm>
            <a:off x="320040" y="1371600"/>
            <a:ext cx="2029968" cy="384048"/>
          </a:xfrm>
          <a:prstGeom prst="rect">
            <a:avLst/>
          </a:prstGeom>
          <a:solidFill>
            <a:srgbClr val="48BDF2"/>
          </a:solidFill>
          <a:ln w="19050">
            <a:solidFill>
              <a:srgbClr val="111111"/>
            </a:solidFill>
          </a:ln>
        </p:spPr>
        <p:txBody>
          <a:bodyPr wrap="square" lIns="25400" tIns="25400" rIns="25400" bIns="2540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 positive</a:t>
            </a:r>
            <a:endParaRPr lang="en-US" sz="1300" dirty="0"/>
          </a:p>
        </p:txBody>
      </p:sp>
      <p:sp>
        <p:nvSpPr>
          <p:cNvPr id="10" name="rb_190"/>
          <p:cNvSpPr txBox="1"/>
          <p:nvPr/>
        </p:nvSpPr>
        <p:spPr>
          <a:xfrm>
            <a:off x="320040" y="1810512"/>
            <a:ext cx="2029968" cy="2157984"/>
          </a:xfrm>
          <a:prstGeom prst="rect">
            <a:avLst/>
          </a:prstGeom>
          <a:solidFill>
            <a:srgbClr val="FFFFFF"/>
          </a:solidFill>
          <a:ln w="19050">
            <a:solidFill>
              <a:srgbClr val="111111"/>
            </a:solidFill>
          </a:ln>
        </p:spPr>
        <p:txBody>
          <a:bodyPr wrap="square" lIns="101600" tIns="101600" rIns="101600" bIns="101600" rtlCol="0" anchor="t"/>
          <a:lstStyle/>
          <a:p>
            <a:pPr indent="0" marL="0">
              <a:spcAft>
                <a:spcPts val="400"/>
              </a:spcAft>
              <a:buNone/>
            </a:pPr>
            <a:r>
              <a:rPr lang="en-US" sz="1350" dirty="0">
                <a:solidFill>
                  <a:srgbClr val="111111"/>
                </a:solidFill>
                <a:latin typeface="Calibri" pitchFamily="34" charset="0"/>
                <a:ea typeface="Calibri" pitchFamily="34" charset="-122"/>
                <a:cs typeface="Calibri" pitchFamily="34" charset="-120"/>
              </a:rPr>
              <a:t>I / you / we / they live</a:t>
            </a:r>
            <a:endParaRPr lang="en-US" sz="1350" dirty="0"/>
          </a:p>
          <a:p>
            <a:pPr indent="0" marL="0">
              <a:spcAft>
                <a:spcPts val="400"/>
              </a:spcAft>
              <a:buNone/>
            </a:pPr>
            <a:r>
              <a:rPr lang="en-US" sz="1350" dirty="0">
                <a:solidFill>
                  <a:srgbClr val="111111"/>
                </a:solidFill>
                <a:latin typeface="Calibri" pitchFamily="34" charset="0"/>
                <a:ea typeface="Calibri" pitchFamily="34" charset="-122"/>
                <a:cs typeface="Calibri" pitchFamily="34" charset="-120"/>
              </a:rPr>
              <a:t>he / she / it lives</a:t>
            </a:r>
            <a:endParaRPr lang="en-US" sz="1350" dirty="0"/>
          </a:p>
          <a:p>
            <a:pPr indent="0" marL="0">
              <a:spcAft>
                <a:spcPts val="400"/>
              </a:spcAft>
              <a:buNone/>
            </a:pPr>
            <a:r>
              <a:rPr lang="en-US" sz="1350" dirty="0">
                <a:solidFill>
                  <a:srgbClr val="111111"/>
                </a:solidFill>
                <a:latin typeface="Calibri" pitchFamily="34" charset="0"/>
                <a:ea typeface="Calibri" pitchFamily="34" charset="-122"/>
                <a:cs typeface="Calibri" pitchFamily="34" charset="-120"/>
              </a:rPr>
              <a:t>watch → watches</a:t>
            </a:r>
            <a:endParaRPr lang="en-US" sz="1350" dirty="0"/>
          </a:p>
          <a:p>
            <a:pPr indent="0" marL="0">
              <a:spcAft>
                <a:spcPts val="400"/>
              </a:spcAft>
              <a:buNone/>
            </a:pPr>
            <a:r>
              <a:rPr lang="en-US" sz="1350" dirty="0">
                <a:solidFill>
                  <a:srgbClr val="111111"/>
                </a:solidFill>
                <a:latin typeface="Calibri" pitchFamily="34" charset="0"/>
                <a:ea typeface="Calibri" pitchFamily="34" charset="-122"/>
                <a:cs typeface="Calibri" pitchFamily="34" charset="-120"/>
              </a:rPr>
              <a:t>study → studies · have → has</a:t>
            </a:r>
            <a:endParaRPr lang="en-US" sz="1350" dirty="0"/>
          </a:p>
          <a:p>
            <a:pPr indent="0" marL="0">
              <a:spcAft>
                <a:spcPts val="400"/>
              </a:spcAft>
              <a:buNone/>
            </a:pPr>
            <a:r>
              <a:rPr lang="en-US" sz="1150" i="1" dirty="0">
                <a:solidFill>
                  <a:srgbClr val="6D3FC0"/>
                </a:solidFill>
                <a:latin typeface="Calibri" pitchFamily="34" charset="0"/>
                <a:ea typeface="Calibri" pitchFamily="34" charset="-122"/>
                <a:cs typeface="Calibri" pitchFamily="34" charset="-120"/>
              </a:rPr>
              <a:t>+s solo con he / she / it</a:t>
            </a:r>
            <a:endParaRPr lang="en-US" sz="1350" dirty="0"/>
          </a:p>
        </p:txBody>
      </p:sp>
      <p:sp>
        <p:nvSpPr>
          <p:cNvPr id="11" name="rh_191"/>
          <p:cNvSpPr txBox="1"/>
          <p:nvPr/>
        </p:nvSpPr>
        <p:spPr>
          <a:xfrm>
            <a:off x="2478024" y="1371600"/>
            <a:ext cx="2029968" cy="384048"/>
          </a:xfrm>
          <a:prstGeom prst="rect">
            <a:avLst/>
          </a:prstGeom>
          <a:solidFill>
            <a:srgbClr val="EF2F2F"/>
          </a:solidFill>
          <a:ln w="19050">
            <a:solidFill>
              <a:srgbClr val="111111"/>
            </a:solidFill>
          </a:ln>
        </p:spPr>
        <p:txBody>
          <a:bodyPr wrap="square" lIns="25400" tIns="25400" rIns="25400" bIns="2540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 negative</a:t>
            </a:r>
            <a:endParaRPr lang="en-US" sz="1300" dirty="0"/>
          </a:p>
        </p:txBody>
      </p:sp>
      <p:sp>
        <p:nvSpPr>
          <p:cNvPr id="12" name="rb_192"/>
          <p:cNvSpPr txBox="1"/>
          <p:nvPr/>
        </p:nvSpPr>
        <p:spPr>
          <a:xfrm>
            <a:off x="2478024" y="1810512"/>
            <a:ext cx="2029968" cy="2157984"/>
          </a:xfrm>
          <a:prstGeom prst="rect">
            <a:avLst/>
          </a:prstGeom>
          <a:solidFill>
            <a:srgbClr val="FFFFFF"/>
          </a:solidFill>
          <a:ln w="19050">
            <a:solidFill>
              <a:srgbClr val="111111"/>
            </a:solidFill>
          </a:ln>
        </p:spPr>
        <p:txBody>
          <a:bodyPr wrap="square" lIns="101600" tIns="101600" rIns="101600" bIns="101600" rtlCol="0" anchor="t"/>
          <a:lstStyle/>
          <a:p>
            <a:pPr indent="0" marL="0">
              <a:spcAft>
                <a:spcPts val="400"/>
              </a:spcAft>
              <a:buNone/>
            </a:pPr>
            <a:r>
              <a:rPr lang="en-US" sz="1350" dirty="0">
                <a:solidFill>
                  <a:srgbClr val="111111"/>
                </a:solidFill>
                <a:latin typeface="Calibri" pitchFamily="34" charset="0"/>
                <a:ea typeface="Calibri" pitchFamily="34" charset="-122"/>
                <a:cs typeface="Calibri" pitchFamily="34" charset="-120"/>
              </a:rPr>
              <a:t>I / you / we / they don't live</a:t>
            </a:r>
            <a:endParaRPr lang="en-US" sz="1350" dirty="0"/>
          </a:p>
          <a:p>
            <a:pPr indent="0" marL="0">
              <a:spcAft>
                <a:spcPts val="400"/>
              </a:spcAft>
              <a:buNone/>
            </a:pPr>
            <a:r>
              <a:rPr lang="en-US" sz="1350" dirty="0">
                <a:solidFill>
                  <a:srgbClr val="111111"/>
                </a:solidFill>
                <a:latin typeface="Calibri" pitchFamily="34" charset="0"/>
                <a:ea typeface="Calibri" pitchFamily="34" charset="-122"/>
                <a:cs typeface="Calibri" pitchFamily="34" charset="-120"/>
              </a:rPr>
              <a:t>he / she / it doesn't live</a:t>
            </a:r>
            <a:endParaRPr lang="en-US" sz="1350" dirty="0"/>
          </a:p>
          <a:p>
            <a:pPr indent="0" marL="0">
              <a:spcAft>
                <a:spcPts val="400"/>
              </a:spcAft>
              <a:buNone/>
            </a:pPr>
            <a:r>
              <a:rPr lang="en-US" sz="1150" i="1" dirty="0">
                <a:solidFill>
                  <a:srgbClr val="6D3FC0"/>
                </a:solidFill>
                <a:latin typeface="Calibri" pitchFamily="34" charset="0"/>
                <a:ea typeface="Calibri" pitchFamily="34" charset="-122"/>
                <a:cs typeface="Calibri" pitchFamily="34" charset="-120"/>
              </a:rPr>
              <a:t>don't = do not · doesn't = does not</a:t>
            </a:r>
            <a:endParaRPr lang="en-US" sz="1350" dirty="0"/>
          </a:p>
          <a:p>
            <a:pPr indent="0" marL="0">
              <a:spcAft>
                <a:spcPts val="400"/>
              </a:spcAft>
              <a:buNone/>
            </a:pPr>
            <a:r>
              <a:rPr lang="en-US" sz="1150" i="1" dirty="0">
                <a:solidFill>
                  <a:srgbClr val="6D3FC0"/>
                </a:solidFill>
                <a:latin typeface="Calibri" pitchFamily="34" charset="0"/>
                <a:ea typeface="Calibri" pitchFamily="34" charset="-122"/>
                <a:cs typeface="Calibri" pitchFamily="34" charset="-120"/>
              </a:rPr>
              <a:t>doesn't + verbo SENZA s</a:t>
            </a:r>
            <a:endParaRPr lang="en-US" sz="1350" dirty="0"/>
          </a:p>
        </p:txBody>
      </p:sp>
      <p:sp>
        <p:nvSpPr>
          <p:cNvPr id="13" name="rh_193"/>
          <p:cNvSpPr txBox="1"/>
          <p:nvPr/>
        </p:nvSpPr>
        <p:spPr>
          <a:xfrm>
            <a:off x="4636008" y="1371600"/>
            <a:ext cx="2029968" cy="384048"/>
          </a:xfrm>
          <a:prstGeom prst="rect">
            <a:avLst/>
          </a:prstGeom>
          <a:solidFill>
            <a:srgbClr val="1FA463"/>
          </a:solidFill>
          <a:ln w="19050">
            <a:solidFill>
              <a:srgbClr val="111111"/>
            </a:solidFill>
          </a:ln>
        </p:spPr>
        <p:txBody>
          <a:bodyPr wrap="square" lIns="25400" tIns="25400" rIns="25400" bIns="2540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 question</a:t>
            </a:r>
            <a:endParaRPr lang="en-US" sz="1300" dirty="0"/>
          </a:p>
        </p:txBody>
      </p:sp>
      <p:sp>
        <p:nvSpPr>
          <p:cNvPr id="14" name="rb_194"/>
          <p:cNvSpPr txBox="1"/>
          <p:nvPr/>
        </p:nvSpPr>
        <p:spPr>
          <a:xfrm>
            <a:off x="4636008" y="1810512"/>
            <a:ext cx="2029968" cy="2157984"/>
          </a:xfrm>
          <a:prstGeom prst="rect">
            <a:avLst/>
          </a:prstGeom>
          <a:solidFill>
            <a:srgbClr val="FFFFFF"/>
          </a:solidFill>
          <a:ln w="19050">
            <a:solidFill>
              <a:srgbClr val="111111"/>
            </a:solidFill>
          </a:ln>
        </p:spPr>
        <p:txBody>
          <a:bodyPr wrap="square" lIns="101600" tIns="101600" rIns="101600" bIns="101600" rtlCol="0" anchor="t"/>
          <a:lstStyle/>
          <a:p>
            <a:pPr indent="0" marL="0">
              <a:spcAft>
                <a:spcPts val="400"/>
              </a:spcAft>
              <a:buNone/>
            </a:pPr>
            <a:r>
              <a:rPr lang="en-US" sz="1350" dirty="0">
                <a:solidFill>
                  <a:srgbClr val="111111"/>
                </a:solidFill>
                <a:latin typeface="Calibri" pitchFamily="34" charset="0"/>
                <a:ea typeface="Calibri" pitchFamily="34" charset="-122"/>
                <a:cs typeface="Calibri" pitchFamily="34" charset="-120"/>
              </a:rPr>
              <a:t>Do you live…?</a:t>
            </a:r>
            <a:endParaRPr lang="en-US" sz="1350" dirty="0"/>
          </a:p>
          <a:p>
            <a:pPr indent="0" marL="0">
              <a:spcAft>
                <a:spcPts val="400"/>
              </a:spcAft>
              <a:buNone/>
            </a:pPr>
            <a:r>
              <a:rPr lang="en-US" sz="1350" dirty="0">
                <a:solidFill>
                  <a:srgbClr val="111111"/>
                </a:solidFill>
                <a:latin typeface="Calibri" pitchFamily="34" charset="0"/>
                <a:ea typeface="Calibri" pitchFamily="34" charset="-122"/>
                <a:cs typeface="Calibri" pitchFamily="34" charset="-120"/>
              </a:rPr>
              <a:t>Does she live…?</a:t>
            </a:r>
            <a:endParaRPr lang="en-US" sz="1350" dirty="0"/>
          </a:p>
          <a:p>
            <a:pPr indent="0" marL="0">
              <a:spcAft>
                <a:spcPts val="400"/>
              </a:spcAft>
              <a:buNone/>
            </a:pPr>
            <a:r>
              <a:rPr lang="en-US" sz="1350" dirty="0">
                <a:solidFill>
                  <a:srgbClr val="111111"/>
                </a:solidFill>
                <a:latin typeface="Calibri" pitchFamily="34" charset="0"/>
                <a:ea typeface="Calibri" pitchFamily="34" charset="-122"/>
                <a:cs typeface="Calibri" pitchFamily="34" charset="-120"/>
              </a:rPr>
              <a:t>Yes, she does. / No, she doesn't.</a:t>
            </a:r>
            <a:endParaRPr lang="en-US" sz="1350" dirty="0"/>
          </a:p>
          <a:p>
            <a:pPr indent="0" marL="0">
              <a:spcAft>
                <a:spcPts val="400"/>
              </a:spcAft>
              <a:buNone/>
            </a:pPr>
            <a:r>
              <a:rPr lang="en-US" sz="1150" i="1" dirty="0">
                <a:solidFill>
                  <a:srgbClr val="6D3FC0"/>
                </a:solidFill>
                <a:latin typeface="Calibri" pitchFamily="34" charset="0"/>
                <a:ea typeface="Calibri" pitchFamily="34" charset="-122"/>
                <a:cs typeface="Calibri" pitchFamily="34" charset="-120"/>
              </a:rPr>
              <a:t>Does + soggetto + verbo SENZA s</a:t>
            </a:r>
            <a:endParaRPr lang="en-US" sz="1350" dirty="0"/>
          </a:p>
        </p:txBody>
      </p:sp>
      <p:sp>
        <p:nvSpPr>
          <p:cNvPr id="15" name="rh_195"/>
          <p:cNvSpPr txBox="1"/>
          <p:nvPr/>
        </p:nvSpPr>
        <p:spPr>
          <a:xfrm>
            <a:off x="6793992" y="1371600"/>
            <a:ext cx="2029968" cy="384048"/>
          </a:xfrm>
          <a:prstGeom prst="rect">
            <a:avLst/>
          </a:prstGeom>
          <a:solidFill>
            <a:srgbClr val="F59E0B"/>
          </a:solidFill>
          <a:ln w="19050">
            <a:solidFill>
              <a:srgbClr val="111111"/>
            </a:solidFill>
          </a:ln>
        </p:spPr>
        <p:txBody>
          <a:bodyPr wrap="square" lIns="25400" tIns="25400" rIns="25400" bIns="2540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how often?</a:t>
            </a:r>
            <a:endParaRPr lang="en-US" sz="1300" dirty="0"/>
          </a:p>
        </p:txBody>
      </p:sp>
      <p:sp>
        <p:nvSpPr>
          <p:cNvPr id="16" name="rb_196"/>
          <p:cNvSpPr txBox="1"/>
          <p:nvPr/>
        </p:nvSpPr>
        <p:spPr>
          <a:xfrm>
            <a:off x="6793992" y="1810512"/>
            <a:ext cx="2029968" cy="2157984"/>
          </a:xfrm>
          <a:prstGeom prst="rect">
            <a:avLst/>
          </a:prstGeom>
          <a:solidFill>
            <a:srgbClr val="FFFFFF"/>
          </a:solidFill>
          <a:ln w="19050">
            <a:solidFill>
              <a:srgbClr val="111111"/>
            </a:solidFill>
          </a:ln>
        </p:spPr>
        <p:txBody>
          <a:bodyPr wrap="square" lIns="101600" tIns="101600" rIns="101600" bIns="101600" rtlCol="0" anchor="t"/>
          <a:lstStyle/>
          <a:p>
            <a:pPr indent="0" marL="0">
              <a:spcAft>
                <a:spcPts val="400"/>
              </a:spcAft>
              <a:buNone/>
            </a:pPr>
            <a:r>
              <a:rPr lang="en-US" sz="1350" dirty="0">
                <a:solidFill>
                  <a:srgbClr val="111111"/>
                </a:solidFill>
                <a:latin typeface="Calibri" pitchFamily="34" charset="0"/>
                <a:ea typeface="Calibri" pitchFamily="34" charset="-122"/>
                <a:cs typeface="Calibri" pitchFamily="34" charset="-120"/>
              </a:rPr>
              <a:t>always · usually · often</a:t>
            </a:r>
            <a:endParaRPr lang="en-US" sz="1350" dirty="0"/>
          </a:p>
          <a:p>
            <a:pPr indent="0" marL="0">
              <a:spcAft>
                <a:spcPts val="400"/>
              </a:spcAft>
              <a:buNone/>
            </a:pPr>
            <a:r>
              <a:rPr lang="en-US" sz="1350" dirty="0">
                <a:solidFill>
                  <a:srgbClr val="111111"/>
                </a:solidFill>
                <a:latin typeface="Calibri" pitchFamily="34" charset="0"/>
                <a:ea typeface="Calibri" pitchFamily="34" charset="-122"/>
                <a:cs typeface="Calibri" pitchFamily="34" charset="-120"/>
              </a:rPr>
              <a:t>sometimes · hardly ever · never</a:t>
            </a:r>
            <a:endParaRPr lang="en-US" sz="1350" dirty="0"/>
          </a:p>
          <a:p>
            <a:pPr indent="0" marL="0">
              <a:spcAft>
                <a:spcPts val="400"/>
              </a:spcAft>
              <a:buNone/>
            </a:pPr>
            <a:r>
              <a:rPr lang="en-US" sz="1350" dirty="0">
                <a:solidFill>
                  <a:srgbClr val="111111"/>
                </a:solidFill>
                <a:latin typeface="Calibri" pitchFamily="34" charset="0"/>
                <a:ea typeface="Calibri" pitchFamily="34" charset="-122"/>
                <a:cs typeface="Calibri" pitchFamily="34" charset="-120"/>
              </a:rPr>
              <a:t>He often goes out.</a:t>
            </a:r>
            <a:endParaRPr lang="en-US" sz="1350" dirty="0"/>
          </a:p>
          <a:p>
            <a:pPr indent="0" marL="0">
              <a:spcAft>
                <a:spcPts val="400"/>
              </a:spcAft>
              <a:buNone/>
            </a:pPr>
            <a:r>
              <a:rPr lang="en-US" sz="1350" dirty="0">
                <a:solidFill>
                  <a:srgbClr val="111111"/>
                </a:solidFill>
                <a:latin typeface="Calibri" pitchFamily="34" charset="0"/>
                <a:ea typeface="Calibri" pitchFamily="34" charset="-122"/>
                <a:cs typeface="Calibri" pitchFamily="34" charset="-120"/>
              </a:rPr>
              <a:t>He's never late.</a:t>
            </a:r>
            <a:endParaRPr lang="en-US" sz="1350" dirty="0"/>
          </a:p>
          <a:p>
            <a:pPr indent="0" marL="0">
              <a:spcAft>
                <a:spcPts val="400"/>
              </a:spcAft>
              <a:buNone/>
            </a:pPr>
            <a:r>
              <a:rPr lang="en-US" sz="1150" i="1" dirty="0">
                <a:solidFill>
                  <a:srgbClr val="6D3FC0"/>
                </a:solidFill>
                <a:latin typeface="Calibri" pitchFamily="34" charset="0"/>
                <a:ea typeface="Calibri" pitchFamily="34" charset="-122"/>
                <a:cs typeface="Calibri" pitchFamily="34" charset="-120"/>
              </a:rPr>
              <a:t>prima del verbo · dopo be</a:t>
            </a:r>
            <a:endParaRPr lang="en-US" sz="1350" dirty="0"/>
          </a:p>
        </p:txBody>
      </p:sp>
      <p:sp>
        <p:nvSpPr>
          <p:cNvPr id="17" name="watch_197"/>
          <p:cNvSpPr txBox="1"/>
          <p:nvPr/>
        </p:nvSpPr>
        <p:spPr>
          <a:xfrm>
            <a:off x="320040" y="4133088"/>
            <a:ext cx="8503920" cy="530352"/>
          </a:xfrm>
          <a:prstGeom prst="rect">
            <a:avLst/>
          </a:prstGeom>
          <a:solidFill>
            <a:srgbClr val="FFE4E6"/>
          </a:solidFill>
          <a:ln w="19050">
            <a:solidFill>
              <a:srgbClr val="111111"/>
            </a:solidFill>
          </a:ln>
        </p:spPr>
        <p:txBody>
          <a:bodyPr wrap="square" lIns="101600" tIns="101600" rIns="101600" bIns="101600" rtlCol="0" anchor="ctr"/>
          <a:lstStyle/>
          <a:p>
            <a:pPr indent="0" marL="0">
              <a:buNone/>
            </a:pPr>
            <a:r>
              <a:rPr lang="en-US" sz="1000" b="1" dirty="0">
                <a:solidFill>
                  <a:srgbClr val="EF2F2F"/>
                </a:solidFill>
                <a:latin typeface="Calibri" pitchFamily="34" charset="0"/>
                <a:ea typeface="Calibri" pitchFamily="34" charset="-122"/>
                <a:cs typeface="Calibri" pitchFamily="34" charset="-120"/>
              </a:rPr>
              <a:t>Watch out!  </a:t>
            </a:r>
            <a:pPr indent="0" marL="0">
              <a:buNone/>
            </a:pPr>
            <a:r>
              <a:rPr lang="en-US" sz="1000" dirty="0">
                <a:solidFill>
                  <a:srgbClr val="111111"/>
                </a:solidFill>
                <a:latin typeface="Calibri" pitchFamily="34" charset="0"/>
                <a:ea typeface="Calibri" pitchFamily="34" charset="-122"/>
                <a:cs typeface="Calibri" pitchFamily="34" charset="-120"/>
              </a:rPr>
              <a:t>She doesn't wants ✗ → She doesn't want ✓  ·  Does he works? ✗ → Does he work? ✓  ·  He go ✗ → He goes ✓</a:t>
            </a:r>
            <a:endParaRPr lang="en-US" sz="1000" dirty="0"/>
          </a:p>
        </p:txBody>
      </p:sp>
    </p:spTree>
  </p:cSld>
  <p:clrMapOvr>
    <a:masterClrMapping/>
  </p:clrMapOvr>
  <p:transition spd="med">
    <p:push dir="l"/>
  </p:transition>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198"/>
          <p:cNvSpPr/>
          <p:nvPr/>
        </p:nvSpPr>
        <p:spPr>
          <a:xfrm>
            <a:off x="54864" y="54864"/>
            <a:ext cx="9034272" cy="5033772"/>
          </a:xfrm>
          <a:prstGeom prst="rect">
            <a:avLst/>
          </a:prstGeom>
          <a:ln w="114300">
            <a:solidFill>
              <a:srgbClr val="FDBA74"/>
            </a:solidFill>
            <a:prstDash val="solid"/>
          </a:ln>
        </p:spPr>
      </p:sp>
      <p:pic>
        <p:nvPicPr>
          <p:cNvPr id="4" name="logo_199"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200"/>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PRONUNCIATION · -s and -es</a:t>
            </a:r>
            <a:endParaRPr lang="en-US" sz="900" dirty="0"/>
          </a:p>
        </p:txBody>
      </p:sp>
      <p:sp>
        <p:nvSpPr>
          <p:cNvPr id="6" name="timer_201"/>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5 min</a:t>
            </a:r>
            <a:endParaRPr lang="en-US" sz="1200" dirty="0"/>
          </a:p>
        </p:txBody>
      </p:sp>
      <p:sp>
        <p:nvSpPr>
          <p:cNvPr id="7" name="footer_202"/>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1B · Part 1</a:t>
            </a:r>
            <a:endParaRPr lang="en-US" sz="1000" dirty="0"/>
          </a:p>
        </p:txBody>
      </p:sp>
      <p:sp>
        <p:nvSpPr>
          <p:cNvPr id="8" name="title_203"/>
          <p:cNvSpPr txBox="1"/>
          <p:nvPr/>
        </p:nvSpPr>
        <p:spPr>
          <a:xfrm rot="-120000">
            <a:off x="320040" y="676656"/>
            <a:ext cx="3456432" cy="530352"/>
          </a:xfrm>
          <a:prstGeom prst="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/s/, /z/ or /ɪz/?</a:t>
            </a:r>
            <a:endParaRPr lang="en-US" sz="1500" dirty="0"/>
          </a:p>
        </p:txBody>
      </p:sp>
      <p:sp>
        <p:nvSpPr>
          <p:cNvPr id="9" name="post_204"/>
          <p:cNvSpPr/>
          <p:nvPr/>
        </p:nvSpPr>
        <p:spPr>
          <a:xfrm>
            <a:off x="429768" y="1554480"/>
            <a:ext cx="128016" cy="2194560"/>
          </a:xfrm>
          <a:prstGeom prst="rect">
            <a:avLst/>
          </a:prstGeom>
          <a:solidFill>
            <a:srgbClr val="8B5A2B"/>
          </a:solidFill>
          <a:ln w="31750">
            <a:solidFill>
              <a:srgbClr val="111111"/>
            </a:solidFill>
            <a:prstDash val="solid"/>
          </a:ln>
        </p:spPr>
      </p:sp>
      <p:sp>
        <p:nvSpPr>
          <p:cNvPr id="10" name="signA_205"/>
          <p:cNvSpPr txBox="1"/>
          <p:nvPr/>
        </p:nvSpPr>
        <p:spPr>
          <a:xfrm rot="-180000">
            <a:off x="320040" y="1371600"/>
            <a:ext cx="2240280" cy="457200"/>
          </a:xfrm>
          <a:prstGeom prst="homePlate">
            <a:avLst/>
          </a:prstGeom>
          <a:solidFill>
            <a:srgbClr val="48BDF2"/>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LISTEN!</a:t>
            </a:r>
            <a:pPr indent="0" marL="0">
              <a:buNone/>
            </a:pPr>
            <a:r>
              <a:rPr lang="en-US" sz="1000" dirty="0">
                <a:solidFill>
                  <a:srgbClr val="FFF3B0"/>
                </a:solidFill>
                <a:latin typeface="Arial Black" pitchFamily="34" charset="0"/>
                <a:ea typeface="Arial Black" pitchFamily="34" charset="-122"/>
                <a:cs typeface="Arial Black" pitchFamily="34" charset="-120"/>
              </a:rPr>
              <a:t>  ASCOLTA!</a:t>
            </a:r>
            <a:endParaRPr lang="en-US" sz="1500" dirty="0"/>
          </a:p>
        </p:txBody>
      </p:sp>
      <p:sp>
        <p:nvSpPr>
          <p:cNvPr id="11" name="signB_206"/>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050" dirty="0">
                <a:solidFill>
                  <a:srgbClr val="111111"/>
                </a:solidFill>
                <a:latin typeface="Calibri" pitchFamily="34" charset="0"/>
                <a:ea typeface="Calibri" pitchFamily="34" charset="-122"/>
                <a:cs typeface="Calibri" pitchFamily="34" charset="-120"/>
              </a:rPr>
              <a:t>Listen and repeat each group. Then say which group the last 4 verbs go in.</a:t>
            </a:r>
            <a:endParaRPr lang="en-US" sz="1050" dirty="0"/>
          </a:p>
          <a:p>
            <a:pPr indent="0" marL="0">
              <a:buNone/>
            </a:pPr>
            <a:r>
              <a:rPr lang="en-US" sz="950" i="1" dirty="0">
                <a:solidFill>
                  <a:srgbClr val="334155"/>
                </a:solidFill>
                <a:latin typeface="Calibri" pitchFamily="34" charset="0"/>
                <a:ea typeface="Calibri" pitchFamily="34" charset="-122"/>
                <a:cs typeface="Calibri" pitchFamily="34" charset="-120"/>
              </a:rPr>
              <a:t>Ascolta e ripeti ogni gruppo. Poi di' in quale gruppo vanno gli ultimi 4 verbi.</a:t>
            </a:r>
            <a:endParaRPr lang="en-US" sz="1050" dirty="0"/>
          </a:p>
        </p:txBody>
      </p:sp>
      <p:sp>
        <p:nvSpPr>
          <p:cNvPr id="12" name="iconBack_207"/>
          <p:cNvSpPr/>
          <p:nvPr/>
        </p:nvSpPr>
        <p:spPr>
          <a:xfrm>
            <a:off x="685800" y="3246120"/>
            <a:ext cx="1143000" cy="1143000"/>
          </a:xfrm>
          <a:prstGeom prst="ellipse">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13" name="icon_208" descr="pi:PiSpeakerHigh">    </p:cNvPr>
          <p:cNvPicPr>
            <a:picLocks noChangeAspect="1"/>
          </p:cNvPicPr>
          <p:nvPr/>
        </p:nvPicPr>
        <p:blipFill>
          <a:blip r:embed="rId3"/>
          <a:stretch>
            <a:fillRect/>
          </a:stretch>
        </p:blipFill>
        <p:spPr>
          <a:xfrm>
            <a:off x="914400" y="3474720"/>
            <a:ext cx="685800" cy="685800"/>
          </a:xfrm>
          <a:prstGeom prst="rect">
            <a:avLst/>
          </a:prstGeom>
        </p:spPr>
      </p:pic>
      <p:sp>
        <p:nvSpPr>
          <p:cNvPr id="14" name="example_209"/>
          <p:cNvSpPr txBox="1"/>
          <p:nvPr/>
        </p:nvSpPr>
        <p:spPr>
          <a:xfrm>
            <a:off x="2788920" y="1298448"/>
            <a:ext cx="6035040" cy="420624"/>
          </a:xfrm>
          <a:prstGeom prst="rect">
            <a:avLst/>
          </a:prstGeom>
          <a:solidFill>
            <a:srgbClr val="FFF7CC"/>
          </a:solidFill>
          <a:ln w="15875">
            <a:solidFill>
              <a:srgbClr val="B7950B"/>
            </a:solidFill>
            <a:prstDash val="dash"/>
          </a:ln>
        </p:spPr>
        <p:txBody>
          <a:bodyPr wrap="square" lIns="101600" tIns="101600" rIns="101600" bIns="101600" rtlCol="0" anchor="ctr"/>
          <a:lstStyle/>
          <a:p>
            <a:pPr indent="0" marL="0">
              <a:buNone/>
            </a:pPr>
            <a:r>
              <a:rPr lang="en-US" sz="950" b="1" dirty="0">
                <a:solidFill>
                  <a:srgbClr val="6D3FC0"/>
                </a:solidFill>
                <a:latin typeface="Calibri" pitchFamily="34" charset="0"/>
                <a:ea typeface="Calibri" pitchFamily="34" charset="-122"/>
                <a:cs typeface="Calibri" pitchFamily="34" charset="-120"/>
              </a:rPr>
              <a:t>Example  </a:t>
            </a:r>
            <a:pPr indent="0" marL="0">
              <a:buNone/>
            </a:pPr>
            <a:r>
              <a:rPr lang="en-US" sz="950" dirty="0">
                <a:solidFill>
                  <a:srgbClr val="111111"/>
                </a:solidFill>
                <a:latin typeface="Calibri" pitchFamily="34" charset="0"/>
                <a:ea typeface="Calibri" pitchFamily="34" charset="-122"/>
                <a:cs typeface="Calibri" pitchFamily="34" charset="-120"/>
              </a:rPr>
              <a:t>Listen: he watch-ES = 2 syllables /ɪz/ · he think-S = 1 syllable /s/ · he know-S = 1 syllable /z/</a:t>
            </a:r>
            <a:endParaRPr lang="en-US" sz="950" dirty="0"/>
          </a:p>
        </p:txBody>
      </p:sp>
      <p:sp>
        <p:nvSpPr>
          <p:cNvPr id="15" name="box_210"/>
          <p:cNvSpPr txBox="1"/>
          <p:nvPr/>
        </p:nvSpPr>
        <p:spPr>
          <a:xfrm>
            <a:off x="2788920" y="1810512"/>
            <a:ext cx="3017520" cy="617220"/>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500" dirty="0">
                <a:solidFill>
                  <a:srgbClr val="111111"/>
                </a:solidFill>
                <a:latin typeface="Calibri" pitchFamily="34" charset="0"/>
                <a:ea typeface="Calibri" pitchFamily="34" charset="-122"/>
                <a:cs typeface="Calibri" pitchFamily="34" charset="-120"/>
              </a:rPr>
              <a:t>1  /s/  as in  snake 🐍</a:t>
            </a:r>
            <a:endParaRPr lang="en-US" sz="1500" dirty="0"/>
          </a:p>
        </p:txBody>
      </p:sp>
      <p:sp>
        <p:nvSpPr>
          <p:cNvPr id="16" name="R1_a0"/>
          <p:cNvSpPr txBox="1"/>
          <p:nvPr/>
        </p:nvSpPr>
        <p:spPr>
          <a:xfrm>
            <a:off x="5861304" y="1847088"/>
            <a:ext cx="2962656" cy="544068"/>
          </a:xfrm>
          <a:prstGeom prst="roundRect">
            <a:avLst>
              <a:gd name="adj" fmla="val 10084"/>
            </a:avLst>
          </a:prstGeom>
          <a:solidFill>
            <a:srgbClr val="FFFFFF"/>
          </a:solidFill>
          <a:ln w="38100">
            <a:solidFill>
              <a:srgbClr val="1FA463"/>
            </a:solidFill>
          </a:ln>
        </p:spPr>
        <p:txBody>
          <a:bodyPr wrap="square" lIns="25400" tIns="25400" rIns="25400" bIns="25400" rtlCol="0" anchor="ctr"/>
          <a:lstStyle/>
          <a:p>
            <a:pPr algn="ctr" indent="0" marL="0">
              <a:buNone/>
            </a:pPr>
            <a:r>
              <a:rPr lang="en-US" sz="1400" dirty="0">
                <a:solidFill>
                  <a:srgbClr val="111111"/>
                </a:solidFill>
                <a:latin typeface="Calibri" pitchFamily="34" charset="0"/>
                <a:ea typeface="Calibri" pitchFamily="34" charset="-122"/>
                <a:cs typeface="Calibri" pitchFamily="34" charset="-120"/>
              </a:rPr>
              <a:t>thinks · wants · likes · gets</a:t>
            </a:r>
            <a:endParaRPr lang="en-US" sz="1400" dirty="0"/>
          </a:p>
        </p:txBody>
      </p:sp>
      <p:sp>
        <p:nvSpPr>
          <p:cNvPr id="17" name="box_211"/>
          <p:cNvSpPr txBox="1"/>
          <p:nvPr/>
        </p:nvSpPr>
        <p:spPr>
          <a:xfrm>
            <a:off x="2788920" y="2555748"/>
            <a:ext cx="3017520" cy="617220"/>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500" dirty="0">
                <a:solidFill>
                  <a:srgbClr val="111111"/>
                </a:solidFill>
                <a:latin typeface="Calibri" pitchFamily="34" charset="0"/>
                <a:ea typeface="Calibri" pitchFamily="34" charset="-122"/>
                <a:cs typeface="Calibri" pitchFamily="34" charset="-120"/>
              </a:rPr>
              <a:t>2  /z/  as in  zebra 🦓</a:t>
            </a:r>
            <a:endParaRPr lang="en-US" sz="1500" dirty="0"/>
          </a:p>
        </p:txBody>
      </p:sp>
      <p:sp>
        <p:nvSpPr>
          <p:cNvPr id="18" name="R2_a1"/>
          <p:cNvSpPr txBox="1"/>
          <p:nvPr/>
        </p:nvSpPr>
        <p:spPr>
          <a:xfrm>
            <a:off x="5861304" y="2592324"/>
            <a:ext cx="2962656" cy="544068"/>
          </a:xfrm>
          <a:prstGeom prst="roundRect">
            <a:avLst>
              <a:gd name="adj" fmla="val 10084"/>
            </a:avLst>
          </a:prstGeom>
          <a:solidFill>
            <a:srgbClr val="FFFFFF"/>
          </a:solidFill>
          <a:ln w="38100">
            <a:solidFill>
              <a:srgbClr val="1FA463"/>
            </a:solidFill>
          </a:ln>
        </p:spPr>
        <p:txBody>
          <a:bodyPr wrap="square" lIns="25400" tIns="25400" rIns="25400" bIns="25400" rtlCol="0" anchor="ctr"/>
          <a:lstStyle/>
          <a:p>
            <a:pPr algn="ctr" indent="0" marL="0">
              <a:buNone/>
            </a:pPr>
            <a:r>
              <a:rPr lang="en-US" sz="1400" dirty="0">
                <a:solidFill>
                  <a:srgbClr val="111111"/>
                </a:solidFill>
                <a:latin typeface="Calibri" pitchFamily="34" charset="0"/>
                <a:ea typeface="Calibri" pitchFamily="34" charset="-122"/>
                <a:cs typeface="Calibri" pitchFamily="34" charset="-120"/>
              </a:rPr>
              <a:t>agrees · pays · knows · lives</a:t>
            </a:r>
            <a:endParaRPr lang="en-US" sz="1400" dirty="0"/>
          </a:p>
        </p:txBody>
      </p:sp>
      <p:sp>
        <p:nvSpPr>
          <p:cNvPr id="19" name="box_212"/>
          <p:cNvSpPr txBox="1"/>
          <p:nvPr/>
        </p:nvSpPr>
        <p:spPr>
          <a:xfrm>
            <a:off x="2788920" y="3300984"/>
            <a:ext cx="3017520" cy="617220"/>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1500" dirty="0">
                <a:solidFill>
                  <a:srgbClr val="111111"/>
                </a:solidFill>
                <a:latin typeface="Calibri" pitchFamily="34" charset="0"/>
                <a:ea typeface="Calibri" pitchFamily="34" charset="-122"/>
                <a:cs typeface="Calibri" pitchFamily="34" charset="-120"/>
              </a:rPr>
              <a:t>3  /ɪz/  an extra syllable!</a:t>
            </a:r>
            <a:endParaRPr lang="en-US" sz="1500" dirty="0"/>
          </a:p>
        </p:txBody>
      </p:sp>
      <p:sp>
        <p:nvSpPr>
          <p:cNvPr id="20" name="R3_a2"/>
          <p:cNvSpPr txBox="1"/>
          <p:nvPr/>
        </p:nvSpPr>
        <p:spPr>
          <a:xfrm>
            <a:off x="5861304" y="3337560"/>
            <a:ext cx="2962656" cy="544068"/>
          </a:xfrm>
          <a:prstGeom prst="roundRect">
            <a:avLst>
              <a:gd name="adj" fmla="val 10084"/>
            </a:avLst>
          </a:prstGeom>
          <a:solidFill>
            <a:srgbClr val="FFFFFF"/>
          </a:solidFill>
          <a:ln w="38100">
            <a:solidFill>
              <a:srgbClr val="1FA463"/>
            </a:solidFill>
          </a:ln>
        </p:spPr>
        <p:txBody>
          <a:bodyPr wrap="square" lIns="25400" tIns="25400" rIns="25400" bIns="25400" rtlCol="0" anchor="ctr"/>
          <a:lstStyle/>
          <a:p>
            <a:pPr algn="ctr" indent="0" marL="0">
              <a:buNone/>
            </a:pPr>
            <a:r>
              <a:rPr lang="en-US" sz="1400" dirty="0">
                <a:solidFill>
                  <a:srgbClr val="111111"/>
                </a:solidFill>
                <a:latin typeface="Calibri" pitchFamily="34" charset="0"/>
                <a:ea typeface="Calibri" pitchFamily="34" charset="-122"/>
                <a:cs typeface="Calibri" pitchFamily="34" charset="-120"/>
              </a:rPr>
              <a:t>watches · chooses · finishes · kisses</a:t>
            </a:r>
            <a:endParaRPr lang="en-US" sz="1400" dirty="0"/>
          </a:p>
        </p:txBody>
      </p:sp>
      <p:sp>
        <p:nvSpPr>
          <p:cNvPr id="21" name="box_213"/>
          <p:cNvSpPr txBox="1"/>
          <p:nvPr/>
        </p:nvSpPr>
        <p:spPr>
          <a:xfrm>
            <a:off x="2788920" y="4046220"/>
            <a:ext cx="3017520" cy="617220"/>
          </a:xfrm>
          <a:prstGeom prst="rect">
            <a:avLst/>
          </a:prstGeom>
          <a:solidFill>
            <a:srgbClr val="DCFCE7"/>
          </a:solidFill>
          <a:ln w="15875">
            <a:solidFill>
              <a:srgbClr val="111111"/>
            </a:solidFill>
          </a:ln>
        </p:spPr>
        <p:txBody>
          <a:bodyPr wrap="square" lIns="76200" tIns="76200" rIns="76200" bIns="76200" rtlCol="0" anchor="ctr"/>
          <a:lstStyle/>
          <a:p>
            <a:pPr algn="l" indent="0" marL="0">
              <a:buNone/>
            </a:pPr>
            <a:r>
              <a:rPr lang="en-US" sz="1500" dirty="0">
                <a:solidFill>
                  <a:srgbClr val="111111"/>
                </a:solidFill>
                <a:latin typeface="Calibri" pitchFamily="34" charset="0"/>
                <a:ea typeface="Calibri" pitchFamily="34" charset="-122"/>
                <a:cs typeface="Calibri" pitchFamily="34" charset="-120"/>
              </a:rPr>
              <a:t>4  Which group?  goes · works · relaxes · dances</a:t>
            </a:r>
            <a:endParaRPr lang="en-US" sz="1500" dirty="0"/>
          </a:p>
        </p:txBody>
      </p:sp>
      <p:sp>
        <p:nvSpPr>
          <p:cNvPr id="22" name="R4_a3"/>
          <p:cNvSpPr txBox="1"/>
          <p:nvPr/>
        </p:nvSpPr>
        <p:spPr>
          <a:xfrm>
            <a:off x="5861304" y="4082796"/>
            <a:ext cx="2962656" cy="544068"/>
          </a:xfrm>
          <a:prstGeom prst="roundRect">
            <a:avLst>
              <a:gd name="adj" fmla="val 10084"/>
            </a:avLst>
          </a:prstGeom>
          <a:solidFill>
            <a:srgbClr val="FFFFFF"/>
          </a:solidFill>
          <a:ln w="38100">
            <a:solidFill>
              <a:srgbClr val="1FA463"/>
            </a:solidFill>
          </a:ln>
        </p:spPr>
        <p:txBody>
          <a:bodyPr wrap="square" lIns="25400" tIns="25400" rIns="25400" bIns="25400" rtlCol="0" anchor="ctr"/>
          <a:lstStyle/>
          <a:p>
            <a:pPr algn="ctr" indent="0" marL="0">
              <a:buNone/>
            </a:pPr>
            <a:r>
              <a:rPr lang="en-US" sz="1400" dirty="0">
                <a:solidFill>
                  <a:srgbClr val="111111"/>
                </a:solidFill>
                <a:latin typeface="Calibri" pitchFamily="34" charset="0"/>
                <a:ea typeface="Calibri" pitchFamily="34" charset="-122"/>
                <a:cs typeface="Calibri" pitchFamily="34" charset="-120"/>
              </a:rPr>
              <a:t>/z/ · /s/ · /ɪz/ · /ɪz/</a:t>
            </a:r>
            <a:endParaRPr lang="en-US" sz="1400" dirty="0"/>
          </a:p>
        </p:txBody>
      </p:sp>
      <p:sp>
        <p:nvSpPr>
          <p:cNvPr id="23" name="sticky_214"/>
          <p:cNvSpPr txBox="1"/>
          <p:nvPr/>
        </p:nvSpPr>
        <p:spPr>
          <a:xfrm rot="-120000">
            <a:off x="411480" y="4069080"/>
            <a:ext cx="2194560" cy="640080"/>
          </a:xfrm>
          <a:prstGeom prst="rect">
            <a:avLst/>
          </a:prstGeom>
          <a:solidFill>
            <a:srgbClr val="FFD84D"/>
          </a:solidFill>
          <a:ln w="12700">
            <a:solidFill>
              <a:srgbClr val="B7950B"/>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algn="ctr" indent="0" marL="0">
              <a:buNone/>
            </a:pPr>
            <a:r>
              <a:rPr lang="en-US" sz="1150" b="1" dirty="0">
                <a:solidFill>
                  <a:srgbClr val="111111"/>
                </a:solidFill>
                <a:latin typeface="Calibri" pitchFamily="34" charset="0"/>
                <a:ea typeface="Calibri" pitchFamily="34" charset="-122"/>
                <a:cs typeface="Calibri" pitchFamily="34" charset="-120"/>
              </a:rPr>
              <a:t>No extra vowel! thinks ✓ thinks-e ✗</a:t>
            </a:r>
            <a:endParaRPr lang="en-US" sz="11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4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fade">
                                      <p:cBhvr>
                                        <p:cTn id="12" dur="400"/>
                                        <p:tgtEl>
                                          <p:spTgt spid="1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0"/>
                                        </p:tgtEl>
                                        <p:attrNameLst>
                                          <p:attrName>style.visibility</p:attrName>
                                        </p:attrNameLst>
                                      </p:cBhvr>
                                      <p:to>
                                        <p:strVal val="visible"/>
                                      </p:to>
                                    </p:set>
                                    <p:animEffect transition="in" filter="fade">
                                      <p:cBhvr>
                                        <p:cTn id="17" dur="400"/>
                                        <p:tgtEl>
                                          <p:spTgt spid="2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2"/>
                                        </p:tgtEl>
                                        <p:attrNameLst>
                                          <p:attrName>style.visibility</p:attrName>
                                        </p:attrNameLst>
                                      </p:cBhvr>
                                      <p:to>
                                        <p:strVal val="visible"/>
                                      </p:to>
                                    </p:set>
                                    <p:animEffect transition="in" filter="fade">
                                      <p:cBhvr>
                                        <p:cTn id="22" dur="4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215"/>
          <p:cNvSpPr/>
          <p:nvPr/>
        </p:nvSpPr>
        <p:spPr>
          <a:xfrm>
            <a:off x="54864" y="54864"/>
            <a:ext cx="9034272" cy="5033772"/>
          </a:xfrm>
          <a:prstGeom prst="rect">
            <a:avLst/>
          </a:prstGeom>
          <a:ln w="114300">
            <a:solidFill>
              <a:srgbClr val="FDBA74"/>
            </a:solidFill>
            <a:prstDash val="solid"/>
          </a:ln>
        </p:spPr>
      </p:sp>
      <p:pic>
        <p:nvPicPr>
          <p:cNvPr id="4" name="logo_216"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217"/>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PRACTICE · Error hunt</a:t>
            </a:r>
            <a:endParaRPr lang="en-US" sz="900" dirty="0"/>
          </a:p>
        </p:txBody>
      </p:sp>
      <p:sp>
        <p:nvSpPr>
          <p:cNvPr id="6" name="timer_218"/>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4 min</a:t>
            </a:r>
            <a:endParaRPr lang="en-US" sz="1200" dirty="0"/>
          </a:p>
        </p:txBody>
      </p:sp>
      <p:sp>
        <p:nvSpPr>
          <p:cNvPr id="7" name="footer_219"/>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1B · Part 1</a:t>
            </a:r>
            <a:endParaRPr lang="en-US" sz="1000" dirty="0"/>
          </a:p>
        </p:txBody>
      </p:sp>
      <p:sp>
        <p:nvSpPr>
          <p:cNvPr id="8" name="title_220"/>
          <p:cNvSpPr txBox="1"/>
          <p:nvPr/>
        </p:nvSpPr>
        <p:spPr>
          <a:xfrm rot="-120000">
            <a:off x="320040" y="676656"/>
            <a:ext cx="3977640" cy="530352"/>
          </a:xfrm>
          <a:prstGeom prst="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Correct the mistakes</a:t>
            </a:r>
            <a:endParaRPr lang="en-US" sz="1500" dirty="0"/>
          </a:p>
        </p:txBody>
      </p:sp>
      <p:sp>
        <p:nvSpPr>
          <p:cNvPr id="9" name="post_221"/>
          <p:cNvSpPr/>
          <p:nvPr/>
        </p:nvSpPr>
        <p:spPr>
          <a:xfrm>
            <a:off x="429768" y="1554480"/>
            <a:ext cx="128016" cy="2194560"/>
          </a:xfrm>
          <a:prstGeom prst="rect">
            <a:avLst/>
          </a:prstGeom>
          <a:solidFill>
            <a:srgbClr val="8B5A2B"/>
          </a:solidFill>
          <a:ln w="31750">
            <a:solidFill>
              <a:srgbClr val="111111"/>
            </a:solidFill>
            <a:prstDash val="solid"/>
          </a:ln>
        </p:spPr>
      </p:sp>
      <p:sp>
        <p:nvSpPr>
          <p:cNvPr id="10" name="signA_222"/>
          <p:cNvSpPr txBox="1"/>
          <p:nvPr/>
        </p:nvSpPr>
        <p:spPr>
          <a:xfrm rot="-180000">
            <a:off x="320040" y="1371600"/>
            <a:ext cx="2240280" cy="457200"/>
          </a:xfrm>
          <a:prstGeom prst="homePlate">
            <a:avLst/>
          </a:prstGeom>
          <a:solidFill>
            <a:srgbClr val="062F67"/>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THINK!</a:t>
            </a:r>
            <a:pPr indent="0" marL="0">
              <a:buNone/>
            </a:pPr>
            <a:r>
              <a:rPr lang="en-US" sz="1000" dirty="0">
                <a:solidFill>
                  <a:srgbClr val="FFF3B0"/>
                </a:solidFill>
                <a:latin typeface="Arial Black" pitchFamily="34" charset="0"/>
                <a:ea typeface="Arial Black" pitchFamily="34" charset="-122"/>
                <a:cs typeface="Arial Black" pitchFamily="34" charset="-120"/>
              </a:rPr>
              <a:t>  PENSA!</a:t>
            </a:r>
            <a:endParaRPr lang="en-US" sz="1500" dirty="0"/>
          </a:p>
        </p:txBody>
      </p:sp>
      <p:sp>
        <p:nvSpPr>
          <p:cNvPr id="11" name="signB_223"/>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50" dirty="0">
                <a:solidFill>
                  <a:srgbClr val="111111"/>
                </a:solidFill>
                <a:latin typeface="Calibri" pitchFamily="34" charset="0"/>
                <a:ea typeface="Calibri" pitchFamily="34" charset="-122"/>
                <a:cs typeface="Calibri" pitchFamily="34" charset="-120"/>
              </a:rPr>
              <a:t>Each sentence has ONE mistake. Correct it in pairs.</a:t>
            </a:r>
            <a:endParaRPr lang="en-US" sz="1250" dirty="0"/>
          </a:p>
          <a:p>
            <a:pPr indent="0" marL="0">
              <a:buNone/>
            </a:pPr>
            <a:r>
              <a:rPr lang="en-US" sz="1100" i="1" dirty="0">
                <a:solidFill>
                  <a:srgbClr val="334155"/>
                </a:solidFill>
                <a:latin typeface="Calibri" pitchFamily="34" charset="0"/>
                <a:ea typeface="Calibri" pitchFamily="34" charset="-122"/>
                <a:cs typeface="Calibri" pitchFamily="34" charset="-120"/>
              </a:rPr>
              <a:t>Ogni frase ha UN errore. Correggetelo in coppia.</a:t>
            </a:r>
            <a:endParaRPr lang="en-US" sz="1250" dirty="0"/>
          </a:p>
        </p:txBody>
      </p:sp>
      <p:sp>
        <p:nvSpPr>
          <p:cNvPr id="12" name="iconBack_224"/>
          <p:cNvSpPr/>
          <p:nvPr/>
        </p:nvSpPr>
        <p:spPr>
          <a:xfrm>
            <a:off x="685800" y="3246120"/>
            <a:ext cx="1143000" cy="1143000"/>
          </a:xfrm>
          <a:prstGeom prst="ellipse">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13" name="icon_225" descr="pi:PiBug">    </p:cNvPr>
          <p:cNvPicPr>
            <a:picLocks noChangeAspect="1"/>
          </p:cNvPicPr>
          <p:nvPr/>
        </p:nvPicPr>
        <p:blipFill>
          <a:blip r:embed="rId3"/>
          <a:stretch>
            <a:fillRect/>
          </a:stretch>
        </p:blipFill>
        <p:spPr>
          <a:xfrm>
            <a:off x="914400" y="3474720"/>
            <a:ext cx="685800" cy="685800"/>
          </a:xfrm>
          <a:prstGeom prst="rect">
            <a:avLst/>
          </a:prstGeom>
        </p:spPr>
      </p:pic>
      <p:sp>
        <p:nvSpPr>
          <p:cNvPr id="14" name="example_226"/>
          <p:cNvSpPr txBox="1"/>
          <p:nvPr/>
        </p:nvSpPr>
        <p:spPr>
          <a:xfrm>
            <a:off x="2788920" y="1298448"/>
            <a:ext cx="6035040" cy="420624"/>
          </a:xfrm>
          <a:prstGeom prst="rect">
            <a:avLst/>
          </a:prstGeom>
          <a:solidFill>
            <a:srgbClr val="FFF7CC"/>
          </a:solidFill>
          <a:ln w="15875">
            <a:solidFill>
              <a:srgbClr val="B7950B"/>
            </a:solidFill>
            <a:prstDash val="dash"/>
          </a:ln>
        </p:spPr>
        <p:txBody>
          <a:bodyPr wrap="square" lIns="101600" tIns="101600" rIns="101600" bIns="101600" rtlCol="0" anchor="ctr"/>
          <a:lstStyle/>
          <a:p>
            <a:pPr indent="0" marL="0">
              <a:buNone/>
            </a:pPr>
            <a:r>
              <a:rPr lang="en-US" sz="1350" b="1" dirty="0">
                <a:solidFill>
                  <a:srgbClr val="6D3FC0"/>
                </a:solidFill>
                <a:latin typeface="Calibri" pitchFamily="34" charset="0"/>
                <a:ea typeface="Calibri" pitchFamily="34" charset="-122"/>
                <a:cs typeface="Calibri" pitchFamily="34" charset="-120"/>
              </a:rPr>
              <a:t>Example  </a:t>
            </a:r>
            <a:pPr indent="0" marL="0">
              <a:buNone/>
            </a:pPr>
            <a:r>
              <a:rPr lang="en-US" sz="1350" dirty="0">
                <a:solidFill>
                  <a:srgbClr val="111111"/>
                </a:solidFill>
                <a:latin typeface="Calibri" pitchFamily="34" charset="0"/>
                <a:ea typeface="Calibri" pitchFamily="34" charset="-122"/>
                <a:cs typeface="Calibri" pitchFamily="34" charset="-120"/>
              </a:rPr>
              <a:t>0  He live in Palermo.  →  He lives in Palermo.  (he/she/it + s)</a:t>
            </a:r>
            <a:endParaRPr lang="en-US" sz="1350" dirty="0"/>
          </a:p>
        </p:txBody>
      </p:sp>
      <p:sp>
        <p:nvSpPr>
          <p:cNvPr id="15" name="box_227"/>
          <p:cNvSpPr txBox="1"/>
          <p:nvPr/>
        </p:nvSpPr>
        <p:spPr>
          <a:xfrm>
            <a:off x="2788920" y="1810512"/>
            <a:ext cx="1535826" cy="865632"/>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1  She have long curly hair.</a:t>
            </a:r>
            <a:endParaRPr lang="en-US" sz="1300" dirty="0"/>
          </a:p>
        </p:txBody>
      </p:sp>
      <p:sp>
        <p:nvSpPr>
          <p:cNvPr id="16" name="R1_a0"/>
          <p:cNvSpPr txBox="1"/>
          <p:nvPr/>
        </p:nvSpPr>
        <p:spPr>
          <a:xfrm>
            <a:off x="4379610" y="1847088"/>
            <a:ext cx="1362822" cy="792480"/>
          </a:xfrm>
          <a:prstGeom prst="roundRect">
            <a:avLst>
              <a:gd name="adj" fmla="val 6923"/>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00" dirty="0">
                <a:solidFill>
                  <a:srgbClr val="111111"/>
                </a:solidFill>
                <a:latin typeface="Calibri" pitchFamily="34" charset="0"/>
                <a:ea typeface="Calibri" pitchFamily="34" charset="-122"/>
                <a:cs typeface="Calibri" pitchFamily="34" charset="-120"/>
              </a:rPr>
              <a:t>She has long curly hair.</a:t>
            </a:r>
            <a:endParaRPr lang="en-US" sz="1200" dirty="0"/>
          </a:p>
        </p:txBody>
      </p:sp>
      <p:sp>
        <p:nvSpPr>
          <p:cNvPr id="17" name="box_228"/>
          <p:cNvSpPr txBox="1"/>
          <p:nvPr/>
        </p:nvSpPr>
        <p:spPr>
          <a:xfrm>
            <a:off x="5870448" y="1810512"/>
            <a:ext cx="1535826" cy="865632"/>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2  My brother don't like dancing.</a:t>
            </a:r>
            <a:endParaRPr lang="en-US" sz="1300" dirty="0"/>
          </a:p>
        </p:txBody>
      </p:sp>
      <p:sp>
        <p:nvSpPr>
          <p:cNvPr id="18" name="R2_a1"/>
          <p:cNvSpPr txBox="1"/>
          <p:nvPr/>
        </p:nvSpPr>
        <p:spPr>
          <a:xfrm>
            <a:off x="7461138" y="1847088"/>
            <a:ext cx="1362822" cy="792480"/>
          </a:xfrm>
          <a:prstGeom prst="roundRect">
            <a:avLst>
              <a:gd name="adj" fmla="val 6923"/>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00" dirty="0">
                <a:solidFill>
                  <a:srgbClr val="111111"/>
                </a:solidFill>
                <a:latin typeface="Calibri" pitchFamily="34" charset="0"/>
                <a:ea typeface="Calibri" pitchFamily="34" charset="-122"/>
                <a:cs typeface="Calibri" pitchFamily="34" charset="-120"/>
              </a:rPr>
              <a:t>My brother doesn't like dancing.</a:t>
            </a:r>
            <a:endParaRPr lang="en-US" sz="1200" dirty="0"/>
          </a:p>
        </p:txBody>
      </p:sp>
      <p:sp>
        <p:nvSpPr>
          <p:cNvPr id="19" name="box_229"/>
          <p:cNvSpPr txBox="1"/>
          <p:nvPr/>
        </p:nvSpPr>
        <p:spPr>
          <a:xfrm>
            <a:off x="2788920" y="2804160"/>
            <a:ext cx="1535826" cy="865632"/>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3  Does she works in Palermo?</a:t>
            </a:r>
            <a:endParaRPr lang="en-US" sz="1300" dirty="0"/>
          </a:p>
        </p:txBody>
      </p:sp>
      <p:sp>
        <p:nvSpPr>
          <p:cNvPr id="20" name="R3_a2"/>
          <p:cNvSpPr txBox="1"/>
          <p:nvPr/>
        </p:nvSpPr>
        <p:spPr>
          <a:xfrm>
            <a:off x="4379610" y="2840736"/>
            <a:ext cx="1362822" cy="792480"/>
          </a:xfrm>
          <a:prstGeom prst="roundRect">
            <a:avLst>
              <a:gd name="adj" fmla="val 6923"/>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00" dirty="0">
                <a:solidFill>
                  <a:srgbClr val="111111"/>
                </a:solidFill>
                <a:latin typeface="Calibri" pitchFamily="34" charset="0"/>
                <a:ea typeface="Calibri" pitchFamily="34" charset="-122"/>
                <a:cs typeface="Calibri" pitchFamily="34" charset="-120"/>
              </a:rPr>
              <a:t>Does she work in Palermo?</a:t>
            </a:r>
            <a:endParaRPr lang="en-US" sz="1200" dirty="0"/>
          </a:p>
        </p:txBody>
      </p:sp>
      <p:sp>
        <p:nvSpPr>
          <p:cNvPr id="21" name="box_230"/>
          <p:cNvSpPr txBox="1"/>
          <p:nvPr/>
        </p:nvSpPr>
        <p:spPr>
          <a:xfrm>
            <a:off x="5870448" y="2804160"/>
            <a:ext cx="1535826" cy="865632"/>
          </a:xfrm>
          <a:prstGeom prst="rect">
            <a:avLst/>
          </a:prstGeom>
          <a:solidFill>
            <a:srgbClr val="DCFCE7"/>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4  I have the hairs long.</a:t>
            </a:r>
            <a:endParaRPr lang="en-US" sz="1300" dirty="0"/>
          </a:p>
        </p:txBody>
      </p:sp>
      <p:sp>
        <p:nvSpPr>
          <p:cNvPr id="22" name="R4_a3"/>
          <p:cNvSpPr txBox="1"/>
          <p:nvPr/>
        </p:nvSpPr>
        <p:spPr>
          <a:xfrm>
            <a:off x="7461138" y="2840736"/>
            <a:ext cx="1362822" cy="792480"/>
          </a:xfrm>
          <a:prstGeom prst="roundRect">
            <a:avLst>
              <a:gd name="adj" fmla="val 6923"/>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00" dirty="0">
                <a:solidFill>
                  <a:srgbClr val="111111"/>
                </a:solidFill>
                <a:latin typeface="Calibri" pitchFamily="34" charset="0"/>
                <a:ea typeface="Calibri" pitchFamily="34" charset="-122"/>
                <a:cs typeface="Calibri" pitchFamily="34" charset="-120"/>
              </a:rPr>
              <a:t>I have long hair.</a:t>
            </a:r>
            <a:endParaRPr lang="en-US" sz="1200" dirty="0"/>
          </a:p>
        </p:txBody>
      </p:sp>
      <p:sp>
        <p:nvSpPr>
          <p:cNvPr id="23" name="box_231"/>
          <p:cNvSpPr txBox="1"/>
          <p:nvPr/>
        </p:nvSpPr>
        <p:spPr>
          <a:xfrm>
            <a:off x="2788920" y="3797808"/>
            <a:ext cx="1535826" cy="865632"/>
          </a:xfrm>
          <a:prstGeom prst="rect">
            <a:avLst/>
          </a:prstGeom>
          <a:solidFill>
            <a:srgbClr val="EDE9FE"/>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5  My boss is very sympathetic.</a:t>
            </a:r>
            <a:endParaRPr lang="en-US" sz="1300" dirty="0"/>
          </a:p>
        </p:txBody>
      </p:sp>
      <p:sp>
        <p:nvSpPr>
          <p:cNvPr id="24" name="R5_a4"/>
          <p:cNvSpPr txBox="1"/>
          <p:nvPr/>
        </p:nvSpPr>
        <p:spPr>
          <a:xfrm>
            <a:off x="4379610" y="3834384"/>
            <a:ext cx="1362822" cy="792480"/>
          </a:xfrm>
          <a:prstGeom prst="roundRect">
            <a:avLst>
              <a:gd name="adj" fmla="val 6923"/>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00" dirty="0">
                <a:solidFill>
                  <a:srgbClr val="111111"/>
                </a:solidFill>
                <a:latin typeface="Calibri" pitchFamily="34" charset="0"/>
                <a:ea typeface="Calibri" pitchFamily="34" charset="-122"/>
                <a:cs typeface="Calibri" pitchFamily="34" charset="-120"/>
              </a:rPr>
              <a:t>…very nice / friendly.</a:t>
            </a:r>
            <a:endParaRPr lang="en-US" sz="1200" dirty="0"/>
          </a:p>
        </p:txBody>
      </p:sp>
      <p:sp>
        <p:nvSpPr>
          <p:cNvPr id="25" name="box_232"/>
          <p:cNvSpPr txBox="1"/>
          <p:nvPr/>
        </p:nvSpPr>
        <p:spPr>
          <a:xfrm>
            <a:off x="5870448" y="3797808"/>
            <a:ext cx="1535826" cy="865632"/>
          </a:xfrm>
          <a:prstGeom prst="rect">
            <a:avLst/>
          </a:prstGeom>
          <a:solidFill>
            <a:srgbClr val="FFEDD5"/>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6  She goes always to the gym.</a:t>
            </a:r>
            <a:endParaRPr lang="en-US" sz="1300" dirty="0"/>
          </a:p>
        </p:txBody>
      </p:sp>
      <p:sp>
        <p:nvSpPr>
          <p:cNvPr id="26" name="R6_a5"/>
          <p:cNvSpPr txBox="1"/>
          <p:nvPr/>
        </p:nvSpPr>
        <p:spPr>
          <a:xfrm>
            <a:off x="7461138" y="3834384"/>
            <a:ext cx="1362822" cy="792480"/>
          </a:xfrm>
          <a:prstGeom prst="roundRect">
            <a:avLst>
              <a:gd name="adj" fmla="val 6923"/>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00" dirty="0">
                <a:solidFill>
                  <a:srgbClr val="111111"/>
                </a:solidFill>
                <a:latin typeface="Calibri" pitchFamily="34" charset="0"/>
                <a:ea typeface="Calibri" pitchFamily="34" charset="-122"/>
                <a:cs typeface="Calibri" pitchFamily="34" charset="-120"/>
              </a:rPr>
              <a:t>She always goes to the gym.</a:t>
            </a:r>
            <a:endParaRPr lang="en-US" sz="12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4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fade">
                                      <p:cBhvr>
                                        <p:cTn id="12" dur="400"/>
                                        <p:tgtEl>
                                          <p:spTgt spid="1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0"/>
                                        </p:tgtEl>
                                        <p:attrNameLst>
                                          <p:attrName>style.visibility</p:attrName>
                                        </p:attrNameLst>
                                      </p:cBhvr>
                                      <p:to>
                                        <p:strVal val="visible"/>
                                      </p:to>
                                    </p:set>
                                    <p:animEffect transition="in" filter="fade">
                                      <p:cBhvr>
                                        <p:cTn id="17" dur="400"/>
                                        <p:tgtEl>
                                          <p:spTgt spid="2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2"/>
                                        </p:tgtEl>
                                        <p:attrNameLst>
                                          <p:attrName>style.visibility</p:attrName>
                                        </p:attrNameLst>
                                      </p:cBhvr>
                                      <p:to>
                                        <p:strVal val="visible"/>
                                      </p:to>
                                    </p:set>
                                    <p:animEffect transition="in" filter="fade">
                                      <p:cBhvr>
                                        <p:cTn id="22" dur="400"/>
                                        <p:tgtEl>
                                          <p:spTgt spid="2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4"/>
                                        </p:tgtEl>
                                        <p:attrNameLst>
                                          <p:attrName>style.visibility</p:attrName>
                                        </p:attrNameLst>
                                      </p:cBhvr>
                                      <p:to>
                                        <p:strVal val="visible"/>
                                      </p:to>
                                    </p:set>
                                    <p:animEffect transition="in" filter="fade">
                                      <p:cBhvr>
                                        <p:cTn id="27" dur="400"/>
                                        <p:tgtEl>
                                          <p:spTgt spid="24"/>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6"/>
                                        </p:tgtEl>
                                        <p:attrNameLst>
                                          <p:attrName>style.visibility</p:attrName>
                                        </p:attrNameLst>
                                      </p:cBhvr>
                                      <p:to>
                                        <p:strVal val="visible"/>
                                      </p:to>
                                    </p:set>
                                    <p:animEffect transition="in" filter="fade">
                                      <p:cBhvr>
                                        <p:cTn id="32" dur="4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233"/>
          <p:cNvSpPr/>
          <p:nvPr/>
        </p:nvSpPr>
        <p:spPr>
          <a:xfrm>
            <a:off x="54864" y="54864"/>
            <a:ext cx="9034272" cy="5033772"/>
          </a:xfrm>
          <a:prstGeom prst="rect">
            <a:avLst/>
          </a:prstGeom>
          <a:ln w="114300">
            <a:solidFill>
              <a:srgbClr val="FDBA74"/>
            </a:solidFill>
            <a:prstDash val="solid"/>
          </a:ln>
        </p:spPr>
      </p:sp>
      <p:pic>
        <p:nvPicPr>
          <p:cNvPr id="4" name="logo_234"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235"/>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SPEAKING · The matchmaker</a:t>
            </a:r>
            <a:endParaRPr lang="en-US" sz="900" dirty="0"/>
          </a:p>
        </p:txBody>
      </p:sp>
      <p:sp>
        <p:nvSpPr>
          <p:cNvPr id="6" name="timer_236"/>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9 min</a:t>
            </a:r>
            <a:endParaRPr lang="en-US" sz="1200" dirty="0"/>
          </a:p>
        </p:txBody>
      </p:sp>
      <p:sp>
        <p:nvSpPr>
          <p:cNvPr id="7" name="footer_237"/>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1B · Part 1</a:t>
            </a:r>
            <a:endParaRPr lang="en-US" sz="1000" dirty="0"/>
          </a:p>
        </p:txBody>
      </p:sp>
      <p:sp>
        <p:nvSpPr>
          <p:cNvPr id="8" name="title_238"/>
          <p:cNvSpPr txBox="1"/>
          <p:nvPr/>
        </p:nvSpPr>
        <p:spPr>
          <a:xfrm rot="-120000">
            <a:off x="320040" y="676656"/>
            <a:ext cx="3977640" cy="530352"/>
          </a:xfrm>
          <a:prstGeom prst="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Find a perfect date!</a:t>
            </a:r>
            <a:endParaRPr lang="en-US" sz="1500" dirty="0"/>
          </a:p>
        </p:txBody>
      </p:sp>
      <p:sp>
        <p:nvSpPr>
          <p:cNvPr id="9" name="post_239"/>
          <p:cNvSpPr/>
          <p:nvPr/>
        </p:nvSpPr>
        <p:spPr>
          <a:xfrm>
            <a:off x="429768" y="1554480"/>
            <a:ext cx="128016" cy="2194560"/>
          </a:xfrm>
          <a:prstGeom prst="rect">
            <a:avLst/>
          </a:prstGeom>
          <a:solidFill>
            <a:srgbClr val="8B5A2B"/>
          </a:solidFill>
          <a:ln w="31750">
            <a:solidFill>
              <a:srgbClr val="111111"/>
            </a:solidFill>
            <a:prstDash val="solid"/>
          </a:ln>
        </p:spPr>
      </p:sp>
      <p:sp>
        <p:nvSpPr>
          <p:cNvPr id="10" name="signA_240"/>
          <p:cNvSpPr txBox="1"/>
          <p:nvPr/>
        </p:nvSpPr>
        <p:spPr>
          <a:xfrm rot="-180000">
            <a:off x="320040" y="1371600"/>
            <a:ext cx="2240280" cy="457200"/>
          </a:xfrm>
          <a:prstGeom prst="homePlate">
            <a:avLst/>
          </a:prstGeom>
          <a:solidFill>
            <a:srgbClr val="EF2F2F"/>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SPEAK!</a:t>
            </a:r>
            <a:pPr indent="0" marL="0">
              <a:buNone/>
            </a:pPr>
            <a:r>
              <a:rPr lang="en-US" sz="1000" dirty="0">
                <a:solidFill>
                  <a:srgbClr val="FFF3B0"/>
                </a:solidFill>
                <a:latin typeface="Arial Black" pitchFamily="34" charset="0"/>
                <a:ea typeface="Arial Black" pitchFamily="34" charset="-122"/>
                <a:cs typeface="Arial Black" pitchFamily="34" charset="-120"/>
              </a:rPr>
              <a:t>  PARLA!</a:t>
            </a:r>
            <a:endParaRPr lang="en-US" sz="1500" dirty="0"/>
          </a:p>
        </p:txBody>
      </p:sp>
      <p:sp>
        <p:nvSpPr>
          <p:cNvPr id="11" name="signB_241"/>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000" dirty="0">
                <a:solidFill>
                  <a:srgbClr val="111111"/>
                </a:solidFill>
                <a:latin typeface="Calibri" pitchFamily="34" charset="0"/>
                <a:ea typeface="Calibri" pitchFamily="34" charset="-122"/>
                <a:cs typeface="Calibri" pitchFamily="34" charset="-120"/>
              </a:rPr>
              <a:t>Describe a single friend (real or invented). Find them a partner in the class!</a:t>
            </a:r>
            <a:endParaRPr lang="en-US" sz="1000" dirty="0"/>
          </a:p>
          <a:p>
            <a:pPr indent="0" marL="0">
              <a:buNone/>
            </a:pPr>
            <a:r>
              <a:rPr lang="en-US" sz="900" i="1" dirty="0">
                <a:solidFill>
                  <a:srgbClr val="334155"/>
                </a:solidFill>
                <a:latin typeface="Calibri" pitchFamily="34" charset="0"/>
                <a:ea typeface="Calibri" pitchFamily="34" charset="-122"/>
                <a:cs typeface="Calibri" pitchFamily="34" charset="-120"/>
              </a:rPr>
              <a:t>Descrivi un amico single (vero o inventato). Trovagli un partner nella classe!</a:t>
            </a:r>
            <a:endParaRPr lang="en-US" sz="1000" dirty="0"/>
          </a:p>
        </p:txBody>
      </p:sp>
      <p:sp>
        <p:nvSpPr>
          <p:cNvPr id="12" name="iconBack_242"/>
          <p:cNvSpPr/>
          <p:nvPr/>
        </p:nvSpPr>
        <p:spPr>
          <a:xfrm>
            <a:off x="685800" y="3246120"/>
            <a:ext cx="1143000" cy="1143000"/>
          </a:xfrm>
          <a:prstGeom prst="ellipse">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13" name="icon_243" descr="pi:PiHeart">    </p:cNvPr>
          <p:cNvPicPr>
            <a:picLocks noChangeAspect="1"/>
          </p:cNvPicPr>
          <p:nvPr/>
        </p:nvPicPr>
        <p:blipFill>
          <a:blip r:embed="rId3"/>
          <a:stretch>
            <a:fillRect/>
          </a:stretch>
        </p:blipFill>
        <p:spPr>
          <a:xfrm>
            <a:off x="914400" y="3474720"/>
            <a:ext cx="685800" cy="685800"/>
          </a:xfrm>
          <a:prstGeom prst="rect">
            <a:avLst/>
          </a:prstGeom>
        </p:spPr>
      </p:pic>
      <p:sp>
        <p:nvSpPr>
          <p:cNvPr id="14" name="num_244"/>
          <p:cNvSpPr txBox="1"/>
          <p:nvPr/>
        </p:nvSpPr>
        <p:spPr>
          <a:xfrm>
            <a:off x="2788920" y="1412748"/>
            <a:ext cx="384048" cy="384048"/>
          </a:xfrm>
          <a:prstGeom prst="ellipse">
            <a:avLst/>
          </a:prstGeom>
          <a:solidFill>
            <a:srgbClr val="EF2F2F"/>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1</a:t>
            </a:r>
            <a:endParaRPr lang="en-US" sz="1300" dirty="0"/>
          </a:p>
        </p:txBody>
      </p:sp>
      <p:sp>
        <p:nvSpPr>
          <p:cNvPr id="15" name="box_245"/>
          <p:cNvSpPr txBox="1"/>
          <p:nvPr/>
        </p:nvSpPr>
        <p:spPr>
          <a:xfrm>
            <a:off x="3264408" y="1371600"/>
            <a:ext cx="5559552" cy="466344"/>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950" dirty="0">
                <a:solidFill>
                  <a:srgbClr val="111111"/>
                </a:solidFill>
                <a:latin typeface="Calibri" pitchFamily="34" charset="0"/>
                <a:ea typeface="Calibri" pitchFamily="34" charset="-122"/>
                <a:cs typeface="Calibri" pitchFamily="34" charset="-120"/>
              </a:rPr>
              <a:t>Think of a single person you know – or invent one! 2 minutes: name, age, job, appearance, personality, free time.</a:t>
            </a:r>
            <a:endParaRPr lang="en-US" sz="950" dirty="0"/>
          </a:p>
        </p:txBody>
      </p:sp>
      <p:sp>
        <p:nvSpPr>
          <p:cNvPr id="16" name="num_246"/>
          <p:cNvSpPr txBox="1"/>
          <p:nvPr/>
        </p:nvSpPr>
        <p:spPr>
          <a:xfrm>
            <a:off x="2788920" y="1970532"/>
            <a:ext cx="384048" cy="384048"/>
          </a:xfrm>
          <a:prstGeom prst="ellipse">
            <a:avLst/>
          </a:prstGeom>
          <a:solidFill>
            <a:srgbClr val="48BDF2"/>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2</a:t>
            </a:r>
            <a:endParaRPr lang="en-US" sz="1300" dirty="0"/>
          </a:p>
        </p:txBody>
      </p:sp>
      <p:sp>
        <p:nvSpPr>
          <p:cNvPr id="17" name="box_247"/>
          <p:cNvSpPr txBox="1"/>
          <p:nvPr/>
        </p:nvSpPr>
        <p:spPr>
          <a:xfrm>
            <a:off x="3264408" y="1929384"/>
            <a:ext cx="5559552" cy="466344"/>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Walk around. Describe your friend to a classmate. They describe theirs.</a:t>
            </a:r>
            <a:endParaRPr lang="en-US" sz="1300" dirty="0"/>
          </a:p>
        </p:txBody>
      </p:sp>
      <p:sp>
        <p:nvSpPr>
          <p:cNvPr id="18" name="num_248"/>
          <p:cNvSpPr txBox="1"/>
          <p:nvPr/>
        </p:nvSpPr>
        <p:spPr>
          <a:xfrm>
            <a:off x="2788920" y="2528316"/>
            <a:ext cx="384048" cy="384048"/>
          </a:xfrm>
          <a:prstGeom prst="ellipse">
            <a:avLst/>
          </a:prstGeom>
          <a:solidFill>
            <a:srgbClr val="1FA463"/>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3</a:t>
            </a:r>
            <a:endParaRPr lang="en-US" sz="1300" dirty="0"/>
          </a:p>
        </p:txBody>
      </p:sp>
      <p:sp>
        <p:nvSpPr>
          <p:cNvPr id="19" name="box_249"/>
          <p:cNvSpPr txBox="1"/>
          <p:nvPr/>
        </p:nvSpPr>
        <p:spPr>
          <a:xfrm>
            <a:off x="3264408" y="2487168"/>
            <a:ext cx="5559552" cy="466344"/>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150" dirty="0">
                <a:solidFill>
                  <a:srgbClr val="111111"/>
                </a:solidFill>
                <a:latin typeface="Calibri" pitchFamily="34" charset="0"/>
                <a:ea typeface="Calibri" pitchFamily="34" charset="-122"/>
                <a:cs typeface="Calibri" pitchFamily="34" charset="-120"/>
              </a:rPr>
              <a:t>Ask questions: Does he like…? What does she do at the weekend? Is he tidy?</a:t>
            </a:r>
            <a:endParaRPr lang="en-US" sz="1150" dirty="0"/>
          </a:p>
        </p:txBody>
      </p:sp>
      <p:sp>
        <p:nvSpPr>
          <p:cNvPr id="20" name="num_250"/>
          <p:cNvSpPr txBox="1"/>
          <p:nvPr/>
        </p:nvSpPr>
        <p:spPr>
          <a:xfrm>
            <a:off x="2788920" y="3086100"/>
            <a:ext cx="384048" cy="384048"/>
          </a:xfrm>
          <a:prstGeom prst="ellipse">
            <a:avLst/>
          </a:prstGeom>
          <a:solidFill>
            <a:srgbClr val="F59E0B"/>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4</a:t>
            </a:r>
            <a:endParaRPr lang="en-US" sz="1300" dirty="0"/>
          </a:p>
        </p:txBody>
      </p:sp>
      <p:sp>
        <p:nvSpPr>
          <p:cNvPr id="21" name="box_251"/>
          <p:cNvSpPr txBox="1"/>
          <p:nvPr/>
        </p:nvSpPr>
        <p:spPr>
          <a:xfrm>
            <a:off x="3264408" y="3044952"/>
            <a:ext cx="5559552" cy="466344"/>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Decide: a perfect match? Yes / maybe / no way! Then find a new partner.</a:t>
            </a:r>
            <a:endParaRPr lang="en-US" sz="1250" dirty="0"/>
          </a:p>
        </p:txBody>
      </p:sp>
      <p:sp>
        <p:nvSpPr>
          <p:cNvPr id="22" name="num_252"/>
          <p:cNvSpPr txBox="1"/>
          <p:nvPr/>
        </p:nvSpPr>
        <p:spPr>
          <a:xfrm>
            <a:off x="2788920" y="3643884"/>
            <a:ext cx="384048" cy="384048"/>
          </a:xfrm>
          <a:prstGeom prst="ellipse">
            <a:avLst/>
          </a:prstGeom>
          <a:solidFill>
            <a:srgbClr val="6D3FC0"/>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5</a:t>
            </a:r>
            <a:endParaRPr lang="en-US" sz="1300" dirty="0"/>
          </a:p>
        </p:txBody>
      </p:sp>
      <p:sp>
        <p:nvSpPr>
          <p:cNvPr id="23" name="box_253"/>
          <p:cNvSpPr txBox="1"/>
          <p:nvPr/>
        </p:nvSpPr>
        <p:spPr>
          <a:xfrm>
            <a:off x="3264408" y="3602736"/>
            <a:ext cx="5559552" cy="466344"/>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950" dirty="0">
                <a:solidFill>
                  <a:srgbClr val="111111"/>
                </a:solidFill>
                <a:latin typeface="Calibri" pitchFamily="34" charset="0"/>
                <a:ea typeface="Calibri" pitchFamily="34" charset="-122"/>
                <a:cs typeface="Calibri" pitchFamily="34" charset="-120"/>
              </a:rPr>
              <a:t>Tell the class your best match – and WHY: 'They both love… / She's quiet but he's talkative…'</a:t>
            </a:r>
            <a:endParaRPr lang="en-US" sz="950" dirty="0"/>
          </a:p>
        </p:txBody>
      </p:sp>
      <p:sp>
        <p:nvSpPr>
          <p:cNvPr id="24" name="bubble_254"/>
          <p:cNvSpPr txBox="1"/>
          <p:nvPr/>
        </p:nvSpPr>
        <p:spPr>
          <a:xfrm>
            <a:off x="3246120" y="4160520"/>
            <a:ext cx="5577840" cy="502920"/>
          </a:xfrm>
          <a:prstGeom prst="round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algn="ctr" indent="0" marL="0">
              <a:buNone/>
            </a:pPr>
            <a:r>
              <a:rPr lang="en-US" sz="1100" b="1" i="1" dirty="0">
                <a:solidFill>
                  <a:srgbClr val="111111"/>
                </a:solidFill>
                <a:latin typeface="Calibri" pitchFamily="34" charset="0"/>
                <a:ea typeface="Calibri" pitchFamily="34" charset="-122"/>
                <a:cs typeface="Calibri" pitchFamily="34" charset="-120"/>
              </a:rPr>
              <a:t>My friend Marta is 38. She's tall with long dark hair. She's funny but a bit lazy. She never cooks!</a:t>
            </a:r>
            <a:endParaRPr lang="en-US" sz="1100" dirty="0"/>
          </a:p>
        </p:txBody>
      </p:sp>
    </p:spTree>
  </p:cSld>
  <p:clrMapOvr>
    <a:masterClrMapping/>
  </p:clrMapOvr>
  <p:transition spd="med">
    <p:push dir="l"/>
  </p:transition>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255"/>
          <p:cNvSpPr/>
          <p:nvPr/>
        </p:nvSpPr>
        <p:spPr>
          <a:xfrm>
            <a:off x="54864" y="54864"/>
            <a:ext cx="9034272" cy="5033772"/>
          </a:xfrm>
          <a:prstGeom prst="rect">
            <a:avLst/>
          </a:prstGeom>
          <a:ln w="114300">
            <a:solidFill>
              <a:srgbClr val="FDBA74"/>
            </a:solidFill>
            <a:prstDash val="solid"/>
          </a:ln>
        </p:spPr>
      </p:sp>
      <p:pic>
        <p:nvPicPr>
          <p:cNvPr id="4" name="logo_256"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footer_257"/>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1B · Part 1</a:t>
            </a:r>
            <a:endParaRPr lang="en-US" sz="1000" dirty="0"/>
          </a:p>
        </p:txBody>
      </p:sp>
      <p:sp>
        <p:nvSpPr>
          <p:cNvPr id="6" name="title_258"/>
          <p:cNvSpPr txBox="1"/>
          <p:nvPr/>
        </p:nvSpPr>
        <p:spPr>
          <a:xfrm rot="-120000">
            <a:off x="320040" y="676656"/>
            <a:ext cx="4151376" cy="530352"/>
          </a:xfrm>
          <a:prstGeom prst="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Look what you can do!</a:t>
            </a:r>
            <a:endParaRPr lang="en-US" sz="1500" dirty="0"/>
          </a:p>
        </p:txBody>
      </p:sp>
      <p:sp>
        <p:nvSpPr>
          <p:cNvPr id="7" name="sub_259"/>
          <p:cNvSpPr txBox="1"/>
          <p:nvPr/>
        </p:nvSpPr>
        <p:spPr>
          <a:xfrm>
            <a:off x="365760" y="1234440"/>
            <a:ext cx="3657600" cy="274320"/>
          </a:xfrm>
          <a:prstGeom prst="rect">
            <a:avLst/>
          </a:prstGeom>
          <a:noFill/>
          <a:ln/>
        </p:spPr>
        <p:txBody>
          <a:bodyPr wrap="square" rtlCol="0" anchor="ctr"/>
          <a:lstStyle/>
          <a:p>
            <a:pPr indent="0" marL="0">
              <a:buNone/>
            </a:pPr>
            <a:r>
              <a:rPr lang="en-US" sz="1200" i="1" dirty="0">
                <a:solidFill>
                  <a:srgbClr val="334155"/>
                </a:solidFill>
                <a:latin typeface="Calibri" pitchFamily="34" charset="0"/>
                <a:ea typeface="Calibri" pitchFamily="34" charset="-122"/>
                <a:cs typeface="Calibri" pitchFamily="34" charset="-120"/>
              </a:rPr>
              <a:t>Guarda cosa sai fare adesso!</a:t>
            </a:r>
            <a:endParaRPr lang="en-US" sz="1200" dirty="0"/>
          </a:p>
        </p:txBody>
      </p:sp>
      <p:sp>
        <p:nvSpPr>
          <p:cNvPr id="8" name="box_260"/>
          <p:cNvSpPr txBox="1"/>
          <p:nvPr/>
        </p:nvSpPr>
        <p:spPr>
          <a:xfrm>
            <a:off x="365760" y="1600200"/>
            <a:ext cx="4846320" cy="548640"/>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200" b="1" dirty="0">
                <a:solidFill>
                  <a:srgbClr val="111111"/>
                </a:solidFill>
                <a:latin typeface="Calibri" pitchFamily="34" charset="0"/>
                <a:ea typeface="Calibri" pitchFamily="34" charset="-122"/>
                <a:cs typeface="Calibri" pitchFamily="34" charset="-120"/>
              </a:rPr>
              <a:t>✓  I can describe what people look like and what they're like.</a:t>
            </a:r>
            <a:endParaRPr lang="en-US" sz="1200" dirty="0"/>
          </a:p>
        </p:txBody>
      </p:sp>
      <p:sp>
        <p:nvSpPr>
          <p:cNvPr id="9" name="faces_261"/>
          <p:cNvSpPr txBox="1"/>
          <p:nvPr/>
        </p:nvSpPr>
        <p:spPr>
          <a:xfrm>
            <a:off x="5230368" y="1600200"/>
            <a:ext cx="1188720" cy="548640"/>
          </a:xfrm>
          <a:prstGeom prst="rect">
            <a:avLst/>
          </a:prstGeom>
          <a:noFill/>
          <a:ln/>
        </p:spPr>
        <p:txBody>
          <a:bodyPr wrap="square" rtlCol="0" anchor="ctr"/>
          <a:lstStyle/>
          <a:p>
            <a:pPr algn="ctr" indent="0" marL="0">
              <a:buNone/>
            </a:pPr>
            <a:r>
              <a:rPr lang="en-US" sz="1400" dirty="0">
                <a:solidFill>
                  <a:srgbClr val="000000"/>
                </a:solidFill>
                <a:latin typeface="Calibri" pitchFamily="34" charset="0"/>
                <a:ea typeface="Calibri" pitchFamily="34" charset="-122"/>
                <a:cs typeface="Calibri" pitchFamily="34" charset="-120"/>
              </a:rPr>
              <a:t>😀 🙂 😐</a:t>
            </a:r>
            <a:endParaRPr lang="en-US" sz="1400" dirty="0"/>
          </a:p>
        </p:txBody>
      </p:sp>
      <p:sp>
        <p:nvSpPr>
          <p:cNvPr id="10" name="box_262"/>
          <p:cNvSpPr txBox="1"/>
          <p:nvPr/>
        </p:nvSpPr>
        <p:spPr>
          <a:xfrm>
            <a:off x="365760" y="2240280"/>
            <a:ext cx="4846320" cy="548640"/>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200" b="1" dirty="0">
                <a:solidFill>
                  <a:srgbClr val="111111"/>
                </a:solidFill>
                <a:latin typeface="Calibri" pitchFamily="34" charset="0"/>
                <a:ea typeface="Calibri" pitchFamily="34" charset="-122"/>
                <a:cs typeface="Calibri" pitchFamily="34" charset="-120"/>
              </a:rPr>
              <a:t>✓  I can use the present simple (she works / doesn't work / does she work?).</a:t>
            </a:r>
            <a:endParaRPr lang="en-US" sz="1200" dirty="0"/>
          </a:p>
        </p:txBody>
      </p:sp>
      <p:sp>
        <p:nvSpPr>
          <p:cNvPr id="11" name="faces_263"/>
          <p:cNvSpPr txBox="1"/>
          <p:nvPr/>
        </p:nvSpPr>
        <p:spPr>
          <a:xfrm>
            <a:off x="5230368" y="2240280"/>
            <a:ext cx="1188720" cy="548640"/>
          </a:xfrm>
          <a:prstGeom prst="rect">
            <a:avLst/>
          </a:prstGeom>
          <a:noFill/>
          <a:ln/>
        </p:spPr>
        <p:txBody>
          <a:bodyPr wrap="square" rtlCol="0" anchor="ctr"/>
          <a:lstStyle/>
          <a:p>
            <a:pPr algn="ctr" indent="0" marL="0">
              <a:buNone/>
            </a:pPr>
            <a:r>
              <a:rPr lang="en-US" sz="1400" dirty="0">
                <a:solidFill>
                  <a:srgbClr val="000000"/>
                </a:solidFill>
                <a:latin typeface="Calibri" pitchFamily="34" charset="0"/>
                <a:ea typeface="Calibri" pitchFamily="34" charset="-122"/>
                <a:cs typeface="Calibri" pitchFamily="34" charset="-120"/>
              </a:rPr>
              <a:t>😀 🙂 😐</a:t>
            </a:r>
            <a:endParaRPr lang="en-US" sz="1400" dirty="0"/>
          </a:p>
        </p:txBody>
      </p:sp>
      <p:sp>
        <p:nvSpPr>
          <p:cNvPr id="12" name="box_264"/>
          <p:cNvSpPr txBox="1"/>
          <p:nvPr/>
        </p:nvSpPr>
        <p:spPr>
          <a:xfrm>
            <a:off x="365760" y="2880360"/>
            <a:ext cx="4846320" cy="548640"/>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1350" b="1" dirty="0">
                <a:solidFill>
                  <a:srgbClr val="111111"/>
                </a:solidFill>
                <a:latin typeface="Calibri" pitchFamily="34" charset="0"/>
                <a:ea typeface="Calibri" pitchFamily="34" charset="-122"/>
                <a:cs typeface="Calibri" pitchFamily="34" charset="-120"/>
              </a:rPr>
              <a:t>✓  I can say -s and -es: /s/ /z/ /ɪz/.</a:t>
            </a:r>
            <a:endParaRPr lang="en-US" sz="1350" dirty="0"/>
          </a:p>
        </p:txBody>
      </p:sp>
      <p:sp>
        <p:nvSpPr>
          <p:cNvPr id="13" name="faces_265"/>
          <p:cNvSpPr txBox="1"/>
          <p:nvPr/>
        </p:nvSpPr>
        <p:spPr>
          <a:xfrm>
            <a:off x="5230368" y="2880360"/>
            <a:ext cx="1188720" cy="548640"/>
          </a:xfrm>
          <a:prstGeom prst="rect">
            <a:avLst/>
          </a:prstGeom>
          <a:noFill/>
          <a:ln/>
        </p:spPr>
        <p:txBody>
          <a:bodyPr wrap="square" rtlCol="0" anchor="ctr"/>
          <a:lstStyle/>
          <a:p>
            <a:pPr algn="ctr" indent="0" marL="0">
              <a:buNone/>
            </a:pPr>
            <a:r>
              <a:rPr lang="en-US" sz="1400" dirty="0">
                <a:solidFill>
                  <a:srgbClr val="000000"/>
                </a:solidFill>
                <a:latin typeface="Calibri" pitchFamily="34" charset="0"/>
                <a:ea typeface="Calibri" pitchFamily="34" charset="-122"/>
                <a:cs typeface="Calibri" pitchFamily="34" charset="-120"/>
              </a:rPr>
              <a:t>😀 🙂 😐</a:t>
            </a:r>
            <a:endParaRPr lang="en-US" sz="1400" dirty="0"/>
          </a:p>
        </p:txBody>
      </p:sp>
      <p:sp>
        <p:nvSpPr>
          <p:cNvPr id="14" name="hw_266"/>
          <p:cNvSpPr txBox="1"/>
          <p:nvPr/>
        </p:nvSpPr>
        <p:spPr>
          <a:xfrm rot="90000">
            <a:off x="6446520" y="1325880"/>
            <a:ext cx="2377440" cy="2651760"/>
          </a:xfrm>
          <a:prstGeom prst="rect">
            <a:avLst/>
          </a:prstGeom>
          <a:solidFill>
            <a:srgbClr val="062F67"/>
          </a:solidFill>
          <a:ln w="31750">
            <a:solidFill>
              <a:srgbClr val="111111"/>
            </a:solidFill>
          </a:ln>
          <a:effectLst>
            <a:outerShdw sx="100000" sy="100000" kx="0" ky="0" algn="bl" rotWithShape="0" blurRad="101600" dist="38100" dir="2700000">
              <a:srgbClr val="000000">
                <a:alpha val="35000"/>
              </a:srgbClr>
            </a:outerShdw>
          </a:effectLst>
        </p:spPr>
        <p:txBody>
          <a:bodyPr wrap="square" lIns="114300" tIns="114300" rIns="114300" bIns="114300" rtlCol="0" anchor="t"/>
          <a:lstStyle/>
          <a:p>
            <a:pPr indent="0" marL="0">
              <a:spcAft>
                <a:spcPts val="500"/>
              </a:spcAft>
              <a:buNone/>
            </a:pPr>
            <a:r>
              <a:rPr lang="en-US" sz="1200" b="1" dirty="0">
                <a:solidFill>
                  <a:srgbClr val="FFD84D"/>
                </a:solidFill>
                <a:latin typeface="Arial Black" pitchFamily="34" charset="0"/>
                <a:ea typeface="Arial Black" pitchFamily="34" charset="-122"/>
                <a:cs typeface="Arial Black" pitchFamily="34" charset="-120"/>
              </a:rPr>
              <a:t>HOMEWORK · COMPITI</a:t>
            </a:r>
            <a:endParaRPr lang="en-US" sz="1250" dirty="0"/>
          </a:p>
          <a:p>
            <a:pPr indent="0" marL="0">
              <a:spcAft>
                <a:spcPts val="500"/>
              </a:spcAft>
              <a:buNone/>
            </a:pPr>
            <a:r>
              <a:rPr lang="en-US" sz="1250" dirty="0">
                <a:solidFill>
                  <a:srgbClr val="FFFFFF"/>
                </a:solidFill>
                <a:latin typeface="Calibri" pitchFamily="34" charset="0"/>
                <a:ea typeface="Calibri" pitchFamily="34" charset="-122"/>
                <a:cs typeface="Calibri" pitchFamily="34" charset="-120"/>
              </a:rPr>
              <a:t>• Homework sheet 1B (normal / easier)</a:t>
            </a:r>
            <a:endParaRPr lang="en-US" sz="1250" dirty="0"/>
          </a:p>
          <a:p>
            <a:pPr indent="0" marL="0">
              <a:spcAft>
                <a:spcPts val="500"/>
              </a:spcAft>
              <a:buNone/>
            </a:pPr>
            <a:r>
              <a:rPr lang="en-US" sz="1250" dirty="0">
                <a:solidFill>
                  <a:srgbClr val="FFFFFF"/>
                </a:solidFill>
                <a:latin typeface="Calibri" pitchFamily="34" charset="0"/>
                <a:ea typeface="Calibri" pitchFamily="34" charset="-122"/>
                <a:cs typeface="Calibri" pitchFamily="34" charset="-120"/>
              </a:rPr>
              <a:t>• Workbook 1B (teacher's choice)</a:t>
            </a:r>
            <a:endParaRPr lang="en-US" sz="1250" dirty="0"/>
          </a:p>
          <a:p>
            <a:pPr indent="0" marL="0">
              <a:spcAft>
                <a:spcPts val="500"/>
              </a:spcAft>
              <a:buNone/>
            </a:pPr>
            <a:r>
              <a:rPr lang="en-US" sz="1050" i="1" dirty="0">
                <a:solidFill>
                  <a:srgbClr val="C7D2FE"/>
                </a:solidFill>
                <a:latin typeface="Calibri" pitchFamily="34" charset="0"/>
                <a:ea typeface="Calibri" pitchFamily="34" charset="-122"/>
                <a:cs typeface="Calibri" pitchFamily="34" charset="-120"/>
              </a:rPr>
              <a:t>📷 Hand it in on the LLS app · Consegna nell'app LLS</a:t>
            </a:r>
            <a:endParaRPr lang="en-US" sz="1250" dirty="0"/>
          </a:p>
        </p:txBody>
      </p:sp>
      <p:sp>
        <p:nvSpPr>
          <p:cNvPr id="15" name="stamp_267"/>
          <p:cNvSpPr txBox="1"/>
          <p:nvPr/>
        </p:nvSpPr>
        <p:spPr>
          <a:xfrm>
            <a:off x="365760" y="3657600"/>
            <a:ext cx="5852160" cy="384048"/>
          </a:xfrm>
          <a:prstGeom prst="roundRect">
            <a:avLst>
              <a:gd name="adj" fmla="val 14286"/>
            </a:avLst>
          </a:prstGeom>
          <a:solidFill>
            <a:srgbClr val="FFFFFF"/>
          </a:solidFill>
          <a:ln w="38100">
            <a:solidFill>
              <a:srgbClr val="6D3FC0"/>
            </a:solidFill>
          </a:ln>
        </p:spPr>
        <p:txBody>
          <a:bodyPr wrap="square" lIns="25400" tIns="25400" rIns="25400" bIns="25400" rtlCol="0" anchor="ctr"/>
          <a:lstStyle/>
          <a:p>
            <a:pPr algn="ctr" indent="0" marL="0">
              <a:buNone/>
            </a:pPr>
            <a:r>
              <a:rPr lang="en-US" sz="1200" dirty="0">
                <a:solidFill>
                  <a:srgbClr val="6D3FC0"/>
                </a:solidFill>
                <a:latin typeface="Calibri" pitchFamily="34" charset="0"/>
                <a:ea typeface="Calibri" pitchFamily="34" charset="-122"/>
                <a:cs typeface="Calibri" pitchFamily="34" charset="-120"/>
              </a:rPr>
              <a:t>Next lesson: 1C · The Remake Project (clothes · present continuous)</a:t>
            </a:r>
            <a:endParaRPr lang="en-US" sz="1200" dirty="0"/>
          </a:p>
        </p:txBody>
      </p:sp>
    </p:spTree>
  </p:cSld>
  <p:clrMapOvr>
    <a:masterClrMapping/>
  </p:clrMapOvr>
  <p:transition spd="med">
    <p:push dir="l"/>
  </p:transition>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268"/>
          <p:cNvSpPr/>
          <p:nvPr/>
        </p:nvSpPr>
        <p:spPr>
          <a:xfrm>
            <a:off x="54864" y="54864"/>
            <a:ext cx="9034272" cy="5033772"/>
          </a:xfrm>
          <a:prstGeom prst="rect">
            <a:avLst/>
          </a:prstGeom>
          <a:ln w="114300">
            <a:solidFill>
              <a:srgbClr val="FDBA74"/>
            </a:solidFill>
            <a:prstDash val="solid"/>
          </a:ln>
        </p:spPr>
      </p:sp>
      <p:pic>
        <p:nvPicPr>
          <p:cNvPr id="4" name="logo_269"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270"/>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EXTRA · Who is it?</a:t>
            </a:r>
            <a:endParaRPr lang="en-US" sz="900" dirty="0"/>
          </a:p>
        </p:txBody>
      </p:sp>
      <p:sp>
        <p:nvSpPr>
          <p:cNvPr id="6" name="timer_271"/>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6 min</a:t>
            </a:r>
            <a:endParaRPr lang="en-US" sz="1200" dirty="0"/>
          </a:p>
        </p:txBody>
      </p:sp>
      <p:sp>
        <p:nvSpPr>
          <p:cNvPr id="7" name="extra_272"/>
          <p:cNvSpPr txBox="1"/>
          <p:nvPr/>
        </p:nvSpPr>
        <p:spPr>
          <a:xfrm rot="360000">
            <a:off x="5943600" y="201168"/>
            <a:ext cx="1005840" cy="347472"/>
          </a:xfrm>
          <a:prstGeom prst="roundRect">
            <a:avLst>
              <a:gd name="adj" fmla="val 21053"/>
            </a:avLst>
          </a:prstGeom>
          <a:solidFill>
            <a:srgbClr val="1FA463"/>
          </a:solidFill>
          <a:ln w="31750">
            <a:solidFill>
              <a:srgbClr val="111111"/>
            </a:solidFill>
          </a:ln>
        </p:spPr>
        <p:txBody>
          <a:bodyPr wrap="square"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EXTRA</a:t>
            </a:r>
            <a:endParaRPr lang="en-US" sz="1300" dirty="0"/>
          </a:p>
        </p:txBody>
      </p:sp>
      <p:sp>
        <p:nvSpPr>
          <p:cNvPr id="8" name="footer_273"/>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1B · Part 1</a:t>
            </a:r>
            <a:endParaRPr lang="en-US" sz="1000" dirty="0"/>
          </a:p>
        </p:txBody>
      </p:sp>
      <p:sp>
        <p:nvSpPr>
          <p:cNvPr id="9" name="title_274"/>
          <p:cNvSpPr txBox="1"/>
          <p:nvPr/>
        </p:nvSpPr>
        <p:spPr>
          <a:xfrm rot="-120000">
            <a:off x="320040" y="676656"/>
            <a:ext cx="5020056" cy="530352"/>
          </a:xfrm>
          <a:prstGeom prst="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Describe the famous person</a:t>
            </a:r>
            <a:endParaRPr lang="en-US" sz="1500" dirty="0"/>
          </a:p>
        </p:txBody>
      </p:sp>
      <p:sp>
        <p:nvSpPr>
          <p:cNvPr id="10" name="post_275"/>
          <p:cNvSpPr/>
          <p:nvPr/>
        </p:nvSpPr>
        <p:spPr>
          <a:xfrm>
            <a:off x="429768" y="1554480"/>
            <a:ext cx="128016" cy="2194560"/>
          </a:xfrm>
          <a:prstGeom prst="rect">
            <a:avLst/>
          </a:prstGeom>
          <a:solidFill>
            <a:srgbClr val="8B5A2B"/>
          </a:solidFill>
          <a:ln w="31750">
            <a:solidFill>
              <a:srgbClr val="111111"/>
            </a:solidFill>
            <a:prstDash val="solid"/>
          </a:ln>
        </p:spPr>
      </p:sp>
      <p:sp>
        <p:nvSpPr>
          <p:cNvPr id="11" name="signA_276"/>
          <p:cNvSpPr txBox="1"/>
          <p:nvPr/>
        </p:nvSpPr>
        <p:spPr>
          <a:xfrm rot="-180000">
            <a:off x="320040" y="1371600"/>
            <a:ext cx="2240280" cy="457200"/>
          </a:xfrm>
          <a:prstGeom prst="homePlate">
            <a:avLst/>
          </a:prstGeom>
          <a:solidFill>
            <a:srgbClr val="1FA463"/>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PLAY!</a:t>
            </a:r>
            <a:pPr indent="0" marL="0">
              <a:buNone/>
            </a:pPr>
            <a:r>
              <a:rPr lang="en-US" sz="1000" dirty="0">
                <a:solidFill>
                  <a:srgbClr val="FFF3B0"/>
                </a:solidFill>
                <a:latin typeface="Arial Black" pitchFamily="34" charset="0"/>
                <a:ea typeface="Arial Black" pitchFamily="34" charset="-122"/>
                <a:cs typeface="Arial Black" pitchFamily="34" charset="-120"/>
              </a:rPr>
              <a:t>  GIOCA!</a:t>
            </a:r>
            <a:endParaRPr lang="en-US" sz="1500" dirty="0"/>
          </a:p>
        </p:txBody>
      </p:sp>
      <p:sp>
        <p:nvSpPr>
          <p:cNvPr id="12" name="signB_277"/>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00" dirty="0">
                <a:solidFill>
                  <a:srgbClr val="111111"/>
                </a:solidFill>
                <a:latin typeface="Calibri" pitchFamily="34" charset="0"/>
                <a:ea typeface="Calibri" pitchFamily="34" charset="-122"/>
                <a:cs typeface="Calibri" pitchFamily="34" charset="-120"/>
              </a:rPr>
              <a:t>One student describes. Their team guesses. Don't say the red words!</a:t>
            </a:r>
            <a:endParaRPr lang="en-US" sz="1200" dirty="0"/>
          </a:p>
          <a:p>
            <a:pPr indent="0" marL="0">
              <a:buNone/>
            </a:pPr>
            <a:r>
              <a:rPr lang="en-US" sz="1050" i="1" dirty="0">
                <a:solidFill>
                  <a:srgbClr val="334155"/>
                </a:solidFill>
                <a:latin typeface="Calibri" pitchFamily="34" charset="0"/>
                <a:ea typeface="Calibri" pitchFamily="34" charset="-122"/>
                <a:cs typeface="Calibri" pitchFamily="34" charset="-120"/>
              </a:rPr>
              <a:t>Uno descrive, la squadra indovina. Non dire le parole rosse!</a:t>
            </a:r>
            <a:endParaRPr lang="en-US" sz="1200" dirty="0"/>
          </a:p>
        </p:txBody>
      </p:sp>
      <p:sp>
        <p:nvSpPr>
          <p:cNvPr id="13" name="n_278"/>
          <p:cNvSpPr txBox="1"/>
          <p:nvPr/>
        </p:nvSpPr>
        <p:spPr>
          <a:xfrm>
            <a:off x="2834640" y="1399032"/>
            <a:ext cx="384048" cy="384048"/>
          </a:xfrm>
          <a:prstGeom prst="ellipse">
            <a:avLst/>
          </a:prstGeom>
          <a:solidFill>
            <a:srgbClr val="EF2F2F"/>
          </a:solidFill>
          <a:ln w="19050">
            <a:solidFill>
              <a:srgbClr val="111111"/>
            </a:solidFill>
          </a:ln>
        </p:spPr>
        <p:txBody>
          <a:bodyPr wrap="square"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1</a:t>
            </a:r>
            <a:endParaRPr lang="en-US" sz="1300" dirty="0"/>
          </a:p>
        </p:txBody>
      </p:sp>
      <p:sp>
        <p:nvSpPr>
          <p:cNvPr id="14" name="st_279"/>
          <p:cNvSpPr txBox="1"/>
          <p:nvPr/>
        </p:nvSpPr>
        <p:spPr>
          <a:xfrm>
            <a:off x="3310128" y="1325880"/>
            <a:ext cx="5486400" cy="548640"/>
          </a:xfrm>
          <a:prstGeom prst="rect">
            <a:avLst/>
          </a:prstGeom>
          <a:solidFill>
            <a:srgbClr val="FFFFFF"/>
          </a:solidFill>
          <a:ln w="15875">
            <a:solidFill>
              <a:srgbClr val="111111"/>
            </a:solidFill>
          </a:ln>
        </p:spPr>
        <p:txBody>
          <a:bodyPr wrap="square" lIns="76200" tIns="76200" rIns="76200" bIns="76200" rtlCol="0" anchor="ctr"/>
          <a:lstStyle/>
          <a:p>
            <a:pPr indent="0" marL="0">
              <a:buNone/>
            </a:pPr>
            <a:r>
              <a:rPr lang="en-US" sz="1250" dirty="0">
                <a:solidFill>
                  <a:srgbClr val="111111"/>
                </a:solidFill>
                <a:latin typeface="Calibri" pitchFamily="34" charset="0"/>
                <a:ea typeface="Calibri" pitchFamily="34" charset="-122"/>
                <a:cs typeface="Calibri" pitchFamily="34" charset="-120"/>
              </a:rPr>
              <a:t>The DESCRIBER stands with their back to the class, facing the screen.</a:t>
            </a:r>
            <a:endParaRPr lang="en-US" sz="1250" dirty="0"/>
          </a:p>
        </p:txBody>
      </p:sp>
      <p:sp>
        <p:nvSpPr>
          <p:cNvPr id="15" name="n_280"/>
          <p:cNvSpPr txBox="1"/>
          <p:nvPr/>
        </p:nvSpPr>
        <p:spPr>
          <a:xfrm>
            <a:off x="2834640" y="2020824"/>
            <a:ext cx="384048" cy="384048"/>
          </a:xfrm>
          <a:prstGeom prst="ellipse">
            <a:avLst/>
          </a:prstGeom>
          <a:solidFill>
            <a:srgbClr val="48BDF2"/>
          </a:solidFill>
          <a:ln w="19050">
            <a:solidFill>
              <a:srgbClr val="111111"/>
            </a:solidFill>
          </a:ln>
        </p:spPr>
        <p:txBody>
          <a:bodyPr wrap="square"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2</a:t>
            </a:r>
            <a:endParaRPr lang="en-US" sz="1300" dirty="0"/>
          </a:p>
        </p:txBody>
      </p:sp>
      <p:sp>
        <p:nvSpPr>
          <p:cNvPr id="16" name="st_281"/>
          <p:cNvSpPr txBox="1"/>
          <p:nvPr/>
        </p:nvSpPr>
        <p:spPr>
          <a:xfrm>
            <a:off x="3310128" y="1947672"/>
            <a:ext cx="5486400" cy="548640"/>
          </a:xfrm>
          <a:prstGeom prst="rect">
            <a:avLst/>
          </a:prstGeom>
          <a:solidFill>
            <a:srgbClr val="FFFFFF"/>
          </a:solidFill>
          <a:ln w="15875">
            <a:solidFill>
              <a:srgbClr val="111111"/>
            </a:solidFill>
          </a:ln>
        </p:spPr>
        <p:txBody>
          <a:bodyPr wrap="square" lIns="76200" tIns="76200" rIns="76200" bIns="76200" rtlCol="0" anchor="ctr"/>
          <a:lstStyle/>
          <a:p>
            <a:pPr indent="0" marL="0">
              <a:buNone/>
            </a:pPr>
            <a:r>
              <a:rPr lang="en-US" sz="1400" b="1" dirty="0">
                <a:solidFill>
                  <a:srgbClr val="111111"/>
                </a:solidFill>
                <a:latin typeface="Calibri" pitchFamily="34" charset="0"/>
                <a:ea typeface="Calibri" pitchFamily="34" charset="-122"/>
                <a:cs typeface="Calibri" pitchFamily="34" charset="-120"/>
              </a:rPr>
              <a:t>Everybody else: you must NOT see the screen – turn round!</a:t>
            </a:r>
            <a:endParaRPr lang="en-US" sz="1400" dirty="0"/>
          </a:p>
        </p:txBody>
      </p:sp>
      <p:sp>
        <p:nvSpPr>
          <p:cNvPr id="17" name="n_282"/>
          <p:cNvSpPr txBox="1"/>
          <p:nvPr/>
        </p:nvSpPr>
        <p:spPr>
          <a:xfrm>
            <a:off x="2834640" y="2642616"/>
            <a:ext cx="384048" cy="384048"/>
          </a:xfrm>
          <a:prstGeom prst="ellipse">
            <a:avLst/>
          </a:prstGeom>
          <a:solidFill>
            <a:srgbClr val="1FA463"/>
          </a:solidFill>
          <a:ln w="19050">
            <a:solidFill>
              <a:srgbClr val="111111"/>
            </a:solidFill>
          </a:ln>
        </p:spPr>
        <p:txBody>
          <a:bodyPr wrap="square"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3</a:t>
            </a:r>
            <a:endParaRPr lang="en-US" sz="1300" dirty="0"/>
          </a:p>
        </p:txBody>
      </p:sp>
      <p:sp>
        <p:nvSpPr>
          <p:cNvPr id="18" name="st_283"/>
          <p:cNvSpPr txBox="1"/>
          <p:nvPr/>
        </p:nvSpPr>
        <p:spPr>
          <a:xfrm>
            <a:off x="3310128" y="2569464"/>
            <a:ext cx="5486400" cy="548640"/>
          </a:xfrm>
          <a:prstGeom prst="rect">
            <a:avLst/>
          </a:prstGeom>
          <a:solidFill>
            <a:srgbClr val="FFFFFF"/>
          </a:solidFill>
          <a:ln w="15875">
            <a:solidFill>
              <a:srgbClr val="111111"/>
            </a:solidFill>
          </a:ln>
        </p:spPr>
        <p:txBody>
          <a:bodyPr wrap="square" lIns="76200" tIns="76200" rIns="76200" bIns="76200" rtlCol="0" anchor="ctr"/>
          <a:lstStyle/>
          <a:p>
            <a:pPr indent="0" marL="0">
              <a:buNone/>
            </a:pPr>
            <a:r>
              <a:rPr lang="en-US" sz="1250" dirty="0">
                <a:solidFill>
                  <a:srgbClr val="111111"/>
                </a:solidFill>
                <a:latin typeface="Calibri" pitchFamily="34" charset="0"/>
                <a:ea typeface="Calibri" pitchFamily="34" charset="-122"/>
                <a:cs typeface="Calibri" pitchFamily="34" charset="-120"/>
              </a:rPr>
              <a:t>Teacher: click → a famous person appears. 1 minute: describe appearance and personality.</a:t>
            </a:r>
            <a:endParaRPr lang="en-US" sz="1250" dirty="0"/>
          </a:p>
        </p:txBody>
      </p:sp>
      <p:sp>
        <p:nvSpPr>
          <p:cNvPr id="19" name="n_284"/>
          <p:cNvSpPr txBox="1"/>
          <p:nvPr/>
        </p:nvSpPr>
        <p:spPr>
          <a:xfrm>
            <a:off x="2834640" y="3264408"/>
            <a:ext cx="384048" cy="384048"/>
          </a:xfrm>
          <a:prstGeom prst="ellipse">
            <a:avLst/>
          </a:prstGeom>
          <a:solidFill>
            <a:srgbClr val="F59E0B"/>
          </a:solidFill>
          <a:ln w="19050">
            <a:solidFill>
              <a:srgbClr val="111111"/>
            </a:solidFill>
          </a:ln>
        </p:spPr>
        <p:txBody>
          <a:bodyPr wrap="square"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4</a:t>
            </a:r>
            <a:endParaRPr lang="en-US" sz="1300" dirty="0"/>
          </a:p>
        </p:txBody>
      </p:sp>
      <p:sp>
        <p:nvSpPr>
          <p:cNvPr id="20" name="st_285"/>
          <p:cNvSpPr txBox="1"/>
          <p:nvPr/>
        </p:nvSpPr>
        <p:spPr>
          <a:xfrm>
            <a:off x="3310128" y="3191256"/>
            <a:ext cx="5486400" cy="548640"/>
          </a:xfrm>
          <a:prstGeom prst="rect">
            <a:avLst/>
          </a:prstGeom>
          <a:solidFill>
            <a:srgbClr val="FFFFFF"/>
          </a:solidFill>
          <a:ln w="15875">
            <a:solidFill>
              <a:srgbClr val="111111"/>
            </a:solidFill>
          </a:ln>
        </p:spPr>
        <p:txBody>
          <a:bodyPr wrap="square" lIns="76200" tIns="76200" rIns="76200" bIns="76200" rtlCol="0" anchor="ctr"/>
          <a:lstStyle/>
          <a:p>
            <a:pPr indent="0" marL="0">
              <a:buNone/>
            </a:pPr>
            <a:r>
              <a:rPr lang="en-US" sz="1400" dirty="0">
                <a:solidFill>
                  <a:srgbClr val="111111"/>
                </a:solidFill>
                <a:latin typeface="Calibri" pitchFamily="34" charset="0"/>
                <a:ea typeface="Calibri" pitchFamily="34" charset="-122"/>
                <a:cs typeface="Calibri" pitchFamily="34" charset="-120"/>
              </a:rPr>
              <a:t>Correct guess = 1 point. A red word = 0.</a:t>
            </a:r>
            <a:endParaRPr lang="en-US" sz="1400" dirty="0"/>
          </a:p>
        </p:txBody>
      </p:sp>
      <p:sp>
        <p:nvSpPr>
          <p:cNvPr id="21" name="n_286"/>
          <p:cNvSpPr txBox="1"/>
          <p:nvPr/>
        </p:nvSpPr>
        <p:spPr>
          <a:xfrm>
            <a:off x="2834640" y="3886200"/>
            <a:ext cx="384048" cy="384048"/>
          </a:xfrm>
          <a:prstGeom prst="ellipse">
            <a:avLst/>
          </a:prstGeom>
          <a:solidFill>
            <a:srgbClr val="062F67"/>
          </a:solidFill>
          <a:ln w="19050">
            <a:solidFill>
              <a:srgbClr val="111111"/>
            </a:solidFill>
          </a:ln>
        </p:spPr>
        <p:txBody>
          <a:bodyPr wrap="square"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5</a:t>
            </a:r>
            <a:endParaRPr lang="en-US" sz="1300" dirty="0"/>
          </a:p>
        </p:txBody>
      </p:sp>
      <p:sp>
        <p:nvSpPr>
          <p:cNvPr id="22" name="st_287"/>
          <p:cNvSpPr txBox="1"/>
          <p:nvPr/>
        </p:nvSpPr>
        <p:spPr>
          <a:xfrm>
            <a:off x="3310128" y="3813048"/>
            <a:ext cx="5486400" cy="548640"/>
          </a:xfrm>
          <a:prstGeom prst="rect">
            <a:avLst/>
          </a:prstGeom>
          <a:solidFill>
            <a:srgbClr val="FFFFFF"/>
          </a:solidFill>
          <a:ln w="15875">
            <a:solidFill>
              <a:srgbClr val="111111"/>
            </a:solidFill>
          </a:ln>
        </p:spPr>
        <p:txBody>
          <a:bodyPr wrap="square" lIns="76200" tIns="76200" rIns="76200" bIns="76200" rtlCol="0" anchor="ctr"/>
          <a:lstStyle/>
          <a:p>
            <a:pPr indent="0" marL="0">
              <a:buNone/>
            </a:pPr>
            <a:r>
              <a:rPr lang="en-US" sz="1350" dirty="0">
                <a:solidFill>
                  <a:srgbClr val="111111"/>
                </a:solidFill>
                <a:latin typeface="Calibri" pitchFamily="34" charset="0"/>
                <a:ea typeface="Calibri" pitchFamily="34" charset="-122"/>
                <a:cs typeface="Calibri" pitchFamily="34" charset="-120"/>
              </a:rPr>
              <a:t>Next slide = next person and a new describer from the other team.</a:t>
            </a:r>
            <a:endParaRPr lang="en-US" sz="1350" dirty="0"/>
          </a:p>
        </p:txBody>
      </p:sp>
    </p:spTree>
  </p:cSld>
  <p:clrMapOvr>
    <a:masterClrMapping/>
  </p:clrMapOvr>
  <p:transition spd="med">
    <p:push dir="l"/>
  </p:transition>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288"/>
          <p:cNvSpPr/>
          <p:nvPr/>
        </p:nvSpPr>
        <p:spPr>
          <a:xfrm>
            <a:off x="54864" y="54864"/>
            <a:ext cx="9034272" cy="5033772"/>
          </a:xfrm>
          <a:prstGeom prst="rect">
            <a:avLst/>
          </a:prstGeom>
          <a:ln w="114300">
            <a:solidFill>
              <a:srgbClr val="FDBA74"/>
            </a:solidFill>
            <a:prstDash val="solid"/>
          </a:ln>
        </p:spPr>
      </p:sp>
      <p:pic>
        <p:nvPicPr>
          <p:cNvPr id="4" name="logo_289"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290"/>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EXTRA · Who is it? · card 1 of 6</a:t>
            </a:r>
            <a:endParaRPr lang="en-US" sz="900" dirty="0"/>
          </a:p>
        </p:txBody>
      </p:sp>
      <p:sp>
        <p:nvSpPr>
          <p:cNvPr id="6" name="extra_291"/>
          <p:cNvSpPr txBox="1"/>
          <p:nvPr/>
        </p:nvSpPr>
        <p:spPr>
          <a:xfrm rot="360000">
            <a:off x="5943600" y="201168"/>
            <a:ext cx="1005840" cy="347472"/>
          </a:xfrm>
          <a:prstGeom prst="roundRect">
            <a:avLst>
              <a:gd name="adj" fmla="val 21053"/>
            </a:avLst>
          </a:prstGeom>
          <a:solidFill>
            <a:srgbClr val="1FA463"/>
          </a:solidFill>
          <a:ln w="31750">
            <a:solidFill>
              <a:srgbClr val="111111"/>
            </a:solidFill>
          </a:ln>
        </p:spPr>
        <p:txBody>
          <a:bodyPr wrap="square"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EXTRA</a:t>
            </a:r>
            <a:endParaRPr lang="en-US" sz="1300" dirty="0"/>
          </a:p>
        </p:txBody>
      </p:sp>
      <p:sp>
        <p:nvSpPr>
          <p:cNvPr id="7" name="footer_292"/>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1B · Part 1</a:t>
            </a:r>
            <a:endParaRPr lang="en-US" sz="1000" dirty="0"/>
          </a:p>
        </p:txBody>
      </p:sp>
      <p:sp>
        <p:nvSpPr>
          <p:cNvPr id="8" name="warn_293"/>
          <p:cNvSpPr txBox="1"/>
          <p:nvPr/>
        </p:nvSpPr>
        <p:spPr>
          <a:xfrm>
            <a:off x="365760" y="731520"/>
            <a:ext cx="5669280" cy="457200"/>
          </a:xfrm>
          <a:prstGeom prst="rect">
            <a:avLst/>
          </a:prstGeom>
          <a:noFill/>
          <a:ln/>
        </p:spPr>
        <p:txBody>
          <a:bodyPr wrap="square" rtlCol="0" anchor="ctr"/>
          <a:lstStyle/>
          <a:p>
            <a:pPr indent="0" marL="0">
              <a:buNone/>
            </a:pPr>
            <a:r>
              <a:rPr lang="en-US" sz="1600" dirty="0">
                <a:solidFill>
                  <a:srgbClr val="EF2F2F"/>
                </a:solidFill>
                <a:latin typeface="Arial Black" pitchFamily="34" charset="0"/>
                <a:ea typeface="Arial Black" pitchFamily="34" charset="-122"/>
                <a:cs typeface="Arial Black" pitchFamily="34" charset="-120"/>
              </a:rPr>
              <a:t>👀 Guessers: don't look!  ·  Non guardate!</a:t>
            </a:r>
            <a:endParaRPr lang="en-US" sz="1600" dirty="0"/>
          </a:p>
        </p:txBody>
      </p:sp>
      <p:sp>
        <p:nvSpPr>
          <p:cNvPr id="9" name="R1_card"/>
          <p:cNvSpPr/>
          <p:nvPr/>
        </p:nvSpPr>
        <p:spPr>
          <a:xfrm rot="-90000">
            <a:off x="1828800" y="1325880"/>
            <a:ext cx="5486400" cy="3291840"/>
          </a:xfrm>
          <a:prstGeom prst="roundRect">
            <a:avLst>
              <a:gd name="adj" fmla="val 4167"/>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sp>
        <p:nvSpPr>
          <p:cNvPr id="10" name="R1_word"/>
          <p:cNvSpPr txBox="1"/>
          <p:nvPr/>
        </p:nvSpPr>
        <p:spPr>
          <a:xfrm rot="-90000">
            <a:off x="1828800" y="1554480"/>
            <a:ext cx="5486400" cy="1097280"/>
          </a:xfrm>
          <a:prstGeom prst="rect">
            <a:avLst/>
          </a:prstGeom>
          <a:noFill/>
          <a:ln/>
        </p:spPr>
        <p:txBody>
          <a:bodyPr wrap="square" rtlCol="0" anchor="ctr"/>
          <a:lstStyle/>
          <a:p>
            <a:pPr algn="ctr" indent="0" marL="0">
              <a:buNone/>
            </a:pPr>
            <a:r>
              <a:rPr lang="en-US" sz="2850" dirty="0">
                <a:solidFill>
                  <a:srgbClr val="062F67"/>
                </a:solidFill>
                <a:latin typeface="Arial Black" pitchFamily="34" charset="0"/>
                <a:ea typeface="Arial Black" pitchFamily="34" charset="-122"/>
                <a:cs typeface="Arial Black" pitchFamily="34" charset="-120"/>
              </a:rPr>
              <a:t>Rowan Atkinson (Mr Bean)</a:t>
            </a:r>
            <a:endParaRPr lang="en-US" sz="2850" dirty="0"/>
          </a:p>
        </p:txBody>
      </p:sp>
      <p:sp>
        <p:nvSpPr>
          <p:cNvPr id="11" name="R1_dont"/>
          <p:cNvSpPr txBox="1"/>
          <p:nvPr/>
        </p:nvSpPr>
        <p:spPr>
          <a:xfrm rot="-90000">
            <a:off x="1828800" y="2743200"/>
            <a:ext cx="5486400" cy="365760"/>
          </a:xfrm>
          <a:prstGeom prst="rect">
            <a:avLst/>
          </a:prstGeom>
          <a:noFill/>
          <a:ln/>
        </p:spPr>
        <p:txBody>
          <a:bodyPr wrap="square" rtlCol="0" anchor="ctr"/>
          <a:lstStyle/>
          <a:p>
            <a:pPr algn="ctr" indent="0" marL="0">
              <a:buNone/>
            </a:pPr>
            <a:r>
              <a:rPr lang="en-US" sz="1600" i="1" dirty="0">
                <a:solidFill>
                  <a:srgbClr val="475569"/>
                </a:solidFill>
                <a:latin typeface="Calibri" pitchFamily="34" charset="0"/>
                <a:ea typeface="Calibri" pitchFamily="34" charset="-122"/>
                <a:cs typeface="Calibri" pitchFamily="34" charset="-120"/>
              </a:rPr>
              <a:t>Don't say:</a:t>
            </a:r>
            <a:endParaRPr lang="en-US" sz="1600" dirty="0"/>
          </a:p>
        </p:txBody>
      </p:sp>
      <p:sp>
        <p:nvSpPr>
          <p:cNvPr id="12" name="R1_ban"/>
          <p:cNvSpPr txBox="1"/>
          <p:nvPr/>
        </p:nvSpPr>
        <p:spPr>
          <a:xfrm rot="-90000">
            <a:off x="2011680" y="3108960"/>
            <a:ext cx="5120640" cy="1097280"/>
          </a:xfrm>
          <a:prstGeom prst="rect">
            <a:avLst/>
          </a:prstGeom>
          <a:noFill/>
          <a:ln/>
        </p:spPr>
        <p:txBody>
          <a:bodyPr wrap="square" rtlCol="0" anchor="ctr"/>
          <a:lstStyle/>
          <a:p>
            <a:pPr algn="ctr" indent="0" marL="0">
              <a:buNone/>
            </a:pPr>
            <a:r>
              <a:rPr lang="en-US" sz="2600" b="1" dirty="0">
                <a:solidFill>
                  <a:srgbClr val="EF2F2F"/>
                </a:solidFill>
                <a:latin typeface="Calibri" pitchFamily="34" charset="0"/>
                <a:ea typeface="Calibri" pitchFamily="34" charset="-122"/>
                <a:cs typeface="Calibri" pitchFamily="34" charset="-120"/>
              </a:rPr>
              <a:t>Bean · funny · English</a:t>
            </a:r>
            <a:endParaRPr lang="en-US" sz="26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par>
                                <p:cTn id="8" presetID="10" presetClass="entr" presetSubtype="0"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400"/>
                                        <p:tgtEl>
                                          <p:spTgt spid="10"/>
                                        </p:tgtEl>
                                      </p:cBhvr>
                                    </p:animEffect>
                                  </p:childTnLst>
                                </p:cTn>
                              </p:par>
                              <p:par>
                                <p:cTn id="11" presetID="10" presetClass="entr" presetSubtype="0" fill="hold"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400"/>
                                        <p:tgtEl>
                                          <p:spTgt spid="11"/>
                                        </p:tgtEl>
                                      </p:cBhvr>
                                    </p:animEffect>
                                  </p:childTnLst>
                                </p:cTn>
                              </p:par>
                              <p:par>
                                <p:cTn id="14" presetID="10" presetClass="entr" presetSubtype="0" fill="hold"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4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294"/>
          <p:cNvSpPr/>
          <p:nvPr/>
        </p:nvSpPr>
        <p:spPr>
          <a:xfrm>
            <a:off x="54864" y="54864"/>
            <a:ext cx="9034272" cy="5033772"/>
          </a:xfrm>
          <a:prstGeom prst="rect">
            <a:avLst/>
          </a:prstGeom>
          <a:ln w="114300">
            <a:solidFill>
              <a:srgbClr val="FDBA74"/>
            </a:solidFill>
            <a:prstDash val="solid"/>
          </a:ln>
        </p:spPr>
      </p:sp>
      <p:pic>
        <p:nvPicPr>
          <p:cNvPr id="4" name="logo_295"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296"/>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EXTRA · Who is it? · card 2 of 6</a:t>
            </a:r>
            <a:endParaRPr lang="en-US" sz="900" dirty="0"/>
          </a:p>
        </p:txBody>
      </p:sp>
      <p:sp>
        <p:nvSpPr>
          <p:cNvPr id="6" name="extra_297"/>
          <p:cNvSpPr txBox="1"/>
          <p:nvPr/>
        </p:nvSpPr>
        <p:spPr>
          <a:xfrm rot="360000">
            <a:off x="5943600" y="201168"/>
            <a:ext cx="1005840" cy="347472"/>
          </a:xfrm>
          <a:prstGeom prst="roundRect">
            <a:avLst>
              <a:gd name="adj" fmla="val 21053"/>
            </a:avLst>
          </a:prstGeom>
          <a:solidFill>
            <a:srgbClr val="1FA463"/>
          </a:solidFill>
          <a:ln w="31750">
            <a:solidFill>
              <a:srgbClr val="111111"/>
            </a:solidFill>
          </a:ln>
        </p:spPr>
        <p:txBody>
          <a:bodyPr wrap="square"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EXTRA</a:t>
            </a:r>
            <a:endParaRPr lang="en-US" sz="1300" dirty="0"/>
          </a:p>
        </p:txBody>
      </p:sp>
      <p:sp>
        <p:nvSpPr>
          <p:cNvPr id="7" name="footer_298"/>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1B · Part 1</a:t>
            </a:r>
            <a:endParaRPr lang="en-US" sz="1000" dirty="0"/>
          </a:p>
        </p:txBody>
      </p:sp>
      <p:sp>
        <p:nvSpPr>
          <p:cNvPr id="8" name="warn_299"/>
          <p:cNvSpPr txBox="1"/>
          <p:nvPr/>
        </p:nvSpPr>
        <p:spPr>
          <a:xfrm>
            <a:off x="365760" y="731520"/>
            <a:ext cx="5669280" cy="457200"/>
          </a:xfrm>
          <a:prstGeom prst="rect">
            <a:avLst/>
          </a:prstGeom>
          <a:noFill/>
          <a:ln/>
        </p:spPr>
        <p:txBody>
          <a:bodyPr wrap="square" rtlCol="0" anchor="ctr"/>
          <a:lstStyle/>
          <a:p>
            <a:pPr indent="0" marL="0">
              <a:buNone/>
            </a:pPr>
            <a:r>
              <a:rPr lang="en-US" sz="1600" dirty="0">
                <a:solidFill>
                  <a:srgbClr val="EF2F2F"/>
                </a:solidFill>
                <a:latin typeface="Arial Black" pitchFamily="34" charset="0"/>
                <a:ea typeface="Arial Black" pitchFamily="34" charset="-122"/>
                <a:cs typeface="Arial Black" pitchFamily="34" charset="-120"/>
              </a:rPr>
              <a:t>👀 Guessers: don't look!  ·  Non guardate!</a:t>
            </a:r>
            <a:endParaRPr lang="en-US" sz="1600" dirty="0"/>
          </a:p>
        </p:txBody>
      </p:sp>
      <p:sp>
        <p:nvSpPr>
          <p:cNvPr id="9" name="R1_card"/>
          <p:cNvSpPr/>
          <p:nvPr/>
        </p:nvSpPr>
        <p:spPr>
          <a:xfrm rot="90000">
            <a:off x="1828800" y="1325880"/>
            <a:ext cx="5486400" cy="3291840"/>
          </a:xfrm>
          <a:prstGeom prst="roundRect">
            <a:avLst>
              <a:gd name="adj" fmla="val 4167"/>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sp>
        <p:nvSpPr>
          <p:cNvPr id="10" name="R1_word"/>
          <p:cNvSpPr txBox="1"/>
          <p:nvPr/>
        </p:nvSpPr>
        <p:spPr>
          <a:xfrm rot="90000">
            <a:off x="1828800" y="1554480"/>
            <a:ext cx="5486400" cy="1097280"/>
          </a:xfrm>
          <a:prstGeom prst="rect">
            <a:avLst/>
          </a:prstGeom>
          <a:noFill/>
          <a:ln/>
        </p:spPr>
        <p:txBody>
          <a:bodyPr wrap="square" rtlCol="0" anchor="ctr"/>
          <a:lstStyle/>
          <a:p>
            <a:pPr algn="ctr" indent="0" marL="0">
              <a:buNone/>
            </a:pPr>
            <a:r>
              <a:rPr lang="en-US" sz="4000" dirty="0">
                <a:solidFill>
                  <a:srgbClr val="062F67"/>
                </a:solidFill>
                <a:latin typeface="Arial Black" pitchFamily="34" charset="0"/>
                <a:ea typeface="Arial Black" pitchFamily="34" charset="-122"/>
                <a:cs typeface="Arial Black" pitchFamily="34" charset="-120"/>
              </a:rPr>
              <a:t>Sophia Loren</a:t>
            </a:r>
            <a:endParaRPr lang="en-US" sz="4000" dirty="0"/>
          </a:p>
        </p:txBody>
      </p:sp>
      <p:sp>
        <p:nvSpPr>
          <p:cNvPr id="11" name="R1_dont"/>
          <p:cNvSpPr txBox="1"/>
          <p:nvPr/>
        </p:nvSpPr>
        <p:spPr>
          <a:xfrm rot="90000">
            <a:off x="1828800" y="2743200"/>
            <a:ext cx="5486400" cy="365760"/>
          </a:xfrm>
          <a:prstGeom prst="rect">
            <a:avLst/>
          </a:prstGeom>
          <a:noFill/>
          <a:ln/>
        </p:spPr>
        <p:txBody>
          <a:bodyPr wrap="square" rtlCol="0" anchor="ctr"/>
          <a:lstStyle/>
          <a:p>
            <a:pPr algn="ctr" indent="0" marL="0">
              <a:buNone/>
            </a:pPr>
            <a:r>
              <a:rPr lang="en-US" sz="1600" i="1" dirty="0">
                <a:solidFill>
                  <a:srgbClr val="475569"/>
                </a:solidFill>
                <a:latin typeface="Calibri" pitchFamily="34" charset="0"/>
                <a:ea typeface="Calibri" pitchFamily="34" charset="-122"/>
                <a:cs typeface="Calibri" pitchFamily="34" charset="-120"/>
              </a:rPr>
              <a:t>Don't say:</a:t>
            </a:r>
            <a:endParaRPr lang="en-US" sz="1600" dirty="0"/>
          </a:p>
        </p:txBody>
      </p:sp>
      <p:sp>
        <p:nvSpPr>
          <p:cNvPr id="12" name="R1_ban"/>
          <p:cNvSpPr txBox="1"/>
          <p:nvPr/>
        </p:nvSpPr>
        <p:spPr>
          <a:xfrm rot="90000">
            <a:off x="2011680" y="3108960"/>
            <a:ext cx="5120640" cy="1097280"/>
          </a:xfrm>
          <a:prstGeom prst="rect">
            <a:avLst/>
          </a:prstGeom>
          <a:noFill/>
          <a:ln/>
        </p:spPr>
        <p:txBody>
          <a:bodyPr wrap="square" rtlCol="0" anchor="ctr"/>
          <a:lstStyle/>
          <a:p>
            <a:pPr algn="ctr" indent="0" marL="0">
              <a:buNone/>
            </a:pPr>
            <a:r>
              <a:rPr lang="en-US" sz="2600" b="1" dirty="0">
                <a:solidFill>
                  <a:srgbClr val="EF2F2F"/>
                </a:solidFill>
                <a:latin typeface="Calibri" pitchFamily="34" charset="0"/>
                <a:ea typeface="Calibri" pitchFamily="34" charset="-122"/>
                <a:cs typeface="Calibri" pitchFamily="34" charset="-120"/>
              </a:rPr>
              <a:t>actress · Italian · Naples</a:t>
            </a:r>
            <a:endParaRPr lang="en-US" sz="26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par>
                                <p:cTn id="8" presetID="10" presetClass="entr" presetSubtype="0"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400"/>
                                        <p:tgtEl>
                                          <p:spTgt spid="10"/>
                                        </p:tgtEl>
                                      </p:cBhvr>
                                    </p:animEffect>
                                  </p:childTnLst>
                                </p:cTn>
                              </p:par>
                              <p:par>
                                <p:cTn id="11" presetID="10" presetClass="entr" presetSubtype="0" fill="hold"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400"/>
                                        <p:tgtEl>
                                          <p:spTgt spid="11"/>
                                        </p:tgtEl>
                                      </p:cBhvr>
                                    </p:animEffect>
                                  </p:childTnLst>
                                </p:cTn>
                              </p:par>
                              <p:par>
                                <p:cTn id="14" presetID="10" presetClass="entr" presetSubtype="0" fill="hold"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4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300"/>
          <p:cNvSpPr/>
          <p:nvPr/>
        </p:nvSpPr>
        <p:spPr>
          <a:xfrm>
            <a:off x="54864" y="54864"/>
            <a:ext cx="9034272" cy="5033772"/>
          </a:xfrm>
          <a:prstGeom prst="rect">
            <a:avLst/>
          </a:prstGeom>
          <a:ln w="114300">
            <a:solidFill>
              <a:srgbClr val="FDBA74"/>
            </a:solidFill>
            <a:prstDash val="solid"/>
          </a:ln>
        </p:spPr>
      </p:sp>
      <p:pic>
        <p:nvPicPr>
          <p:cNvPr id="4" name="logo_301"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302"/>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EXTRA · Who is it? · card 3 of 6</a:t>
            </a:r>
            <a:endParaRPr lang="en-US" sz="900" dirty="0"/>
          </a:p>
        </p:txBody>
      </p:sp>
      <p:sp>
        <p:nvSpPr>
          <p:cNvPr id="6" name="extra_303"/>
          <p:cNvSpPr txBox="1"/>
          <p:nvPr/>
        </p:nvSpPr>
        <p:spPr>
          <a:xfrm rot="360000">
            <a:off x="5943600" y="201168"/>
            <a:ext cx="1005840" cy="347472"/>
          </a:xfrm>
          <a:prstGeom prst="roundRect">
            <a:avLst>
              <a:gd name="adj" fmla="val 21053"/>
            </a:avLst>
          </a:prstGeom>
          <a:solidFill>
            <a:srgbClr val="1FA463"/>
          </a:solidFill>
          <a:ln w="31750">
            <a:solidFill>
              <a:srgbClr val="111111"/>
            </a:solidFill>
          </a:ln>
        </p:spPr>
        <p:txBody>
          <a:bodyPr wrap="square"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EXTRA</a:t>
            </a:r>
            <a:endParaRPr lang="en-US" sz="1300" dirty="0"/>
          </a:p>
        </p:txBody>
      </p:sp>
      <p:sp>
        <p:nvSpPr>
          <p:cNvPr id="7" name="footer_304"/>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1B · Part 1</a:t>
            </a:r>
            <a:endParaRPr lang="en-US" sz="1000" dirty="0"/>
          </a:p>
        </p:txBody>
      </p:sp>
      <p:sp>
        <p:nvSpPr>
          <p:cNvPr id="8" name="warn_305"/>
          <p:cNvSpPr txBox="1"/>
          <p:nvPr/>
        </p:nvSpPr>
        <p:spPr>
          <a:xfrm>
            <a:off x="365760" y="731520"/>
            <a:ext cx="5669280" cy="457200"/>
          </a:xfrm>
          <a:prstGeom prst="rect">
            <a:avLst/>
          </a:prstGeom>
          <a:noFill/>
          <a:ln/>
        </p:spPr>
        <p:txBody>
          <a:bodyPr wrap="square" rtlCol="0" anchor="ctr"/>
          <a:lstStyle/>
          <a:p>
            <a:pPr indent="0" marL="0">
              <a:buNone/>
            </a:pPr>
            <a:r>
              <a:rPr lang="en-US" sz="1600" dirty="0">
                <a:solidFill>
                  <a:srgbClr val="EF2F2F"/>
                </a:solidFill>
                <a:latin typeface="Arial Black" pitchFamily="34" charset="0"/>
                <a:ea typeface="Arial Black" pitchFamily="34" charset="-122"/>
                <a:cs typeface="Arial Black" pitchFamily="34" charset="-120"/>
              </a:rPr>
              <a:t>👀 Guessers: don't look!  ·  Non guardate!</a:t>
            </a:r>
            <a:endParaRPr lang="en-US" sz="1600" dirty="0"/>
          </a:p>
        </p:txBody>
      </p:sp>
      <p:sp>
        <p:nvSpPr>
          <p:cNvPr id="9" name="R1_card"/>
          <p:cNvSpPr/>
          <p:nvPr/>
        </p:nvSpPr>
        <p:spPr>
          <a:xfrm rot="-90000">
            <a:off x="1828800" y="1325880"/>
            <a:ext cx="5486400" cy="3291840"/>
          </a:xfrm>
          <a:prstGeom prst="roundRect">
            <a:avLst>
              <a:gd name="adj" fmla="val 4167"/>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sp>
        <p:nvSpPr>
          <p:cNvPr id="10" name="R1_word"/>
          <p:cNvSpPr txBox="1"/>
          <p:nvPr/>
        </p:nvSpPr>
        <p:spPr>
          <a:xfrm rot="-90000">
            <a:off x="1828800" y="1554480"/>
            <a:ext cx="5486400" cy="1097280"/>
          </a:xfrm>
          <a:prstGeom prst="rect">
            <a:avLst/>
          </a:prstGeom>
          <a:noFill/>
          <a:ln/>
        </p:spPr>
        <p:txBody>
          <a:bodyPr wrap="square" rtlCol="0" anchor="ctr"/>
          <a:lstStyle/>
          <a:p>
            <a:pPr algn="ctr" indent="0" marL="0">
              <a:buNone/>
            </a:pPr>
            <a:r>
              <a:rPr lang="en-US" sz="4000" dirty="0">
                <a:solidFill>
                  <a:srgbClr val="062F67"/>
                </a:solidFill>
                <a:latin typeface="Arial Black" pitchFamily="34" charset="0"/>
                <a:ea typeface="Arial Black" pitchFamily="34" charset="-122"/>
                <a:cs typeface="Arial Black" pitchFamily="34" charset="-120"/>
              </a:rPr>
              <a:t>Lionel Messi</a:t>
            </a:r>
            <a:endParaRPr lang="en-US" sz="4000" dirty="0"/>
          </a:p>
        </p:txBody>
      </p:sp>
      <p:sp>
        <p:nvSpPr>
          <p:cNvPr id="11" name="R1_dont"/>
          <p:cNvSpPr txBox="1"/>
          <p:nvPr/>
        </p:nvSpPr>
        <p:spPr>
          <a:xfrm rot="-90000">
            <a:off x="1828800" y="2743200"/>
            <a:ext cx="5486400" cy="365760"/>
          </a:xfrm>
          <a:prstGeom prst="rect">
            <a:avLst/>
          </a:prstGeom>
          <a:noFill/>
          <a:ln/>
        </p:spPr>
        <p:txBody>
          <a:bodyPr wrap="square" rtlCol="0" anchor="ctr"/>
          <a:lstStyle/>
          <a:p>
            <a:pPr algn="ctr" indent="0" marL="0">
              <a:buNone/>
            </a:pPr>
            <a:r>
              <a:rPr lang="en-US" sz="1600" i="1" dirty="0">
                <a:solidFill>
                  <a:srgbClr val="475569"/>
                </a:solidFill>
                <a:latin typeface="Calibri" pitchFamily="34" charset="0"/>
                <a:ea typeface="Calibri" pitchFamily="34" charset="-122"/>
                <a:cs typeface="Calibri" pitchFamily="34" charset="-120"/>
              </a:rPr>
              <a:t>Don't say:</a:t>
            </a:r>
            <a:endParaRPr lang="en-US" sz="1600" dirty="0"/>
          </a:p>
        </p:txBody>
      </p:sp>
      <p:sp>
        <p:nvSpPr>
          <p:cNvPr id="12" name="R1_ban"/>
          <p:cNvSpPr txBox="1"/>
          <p:nvPr/>
        </p:nvSpPr>
        <p:spPr>
          <a:xfrm rot="-90000">
            <a:off x="2011680" y="3108960"/>
            <a:ext cx="5120640" cy="1097280"/>
          </a:xfrm>
          <a:prstGeom prst="rect">
            <a:avLst/>
          </a:prstGeom>
          <a:noFill/>
          <a:ln/>
        </p:spPr>
        <p:txBody>
          <a:bodyPr wrap="square" rtlCol="0" anchor="ctr"/>
          <a:lstStyle/>
          <a:p>
            <a:pPr algn="ctr" indent="0" marL="0">
              <a:buNone/>
            </a:pPr>
            <a:r>
              <a:rPr lang="en-US" sz="2600" b="1" dirty="0">
                <a:solidFill>
                  <a:srgbClr val="EF2F2F"/>
                </a:solidFill>
                <a:latin typeface="Calibri" pitchFamily="34" charset="0"/>
                <a:ea typeface="Calibri" pitchFamily="34" charset="-122"/>
                <a:cs typeface="Calibri" pitchFamily="34" charset="-120"/>
              </a:rPr>
              <a:t>football · Argentina · Barcelona</a:t>
            </a:r>
            <a:endParaRPr lang="en-US" sz="26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par>
                                <p:cTn id="8" presetID="10" presetClass="entr" presetSubtype="0"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400"/>
                                        <p:tgtEl>
                                          <p:spTgt spid="10"/>
                                        </p:tgtEl>
                                      </p:cBhvr>
                                    </p:animEffect>
                                  </p:childTnLst>
                                </p:cTn>
                              </p:par>
                              <p:par>
                                <p:cTn id="11" presetID="10" presetClass="entr" presetSubtype="0" fill="hold"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400"/>
                                        <p:tgtEl>
                                          <p:spTgt spid="11"/>
                                        </p:tgtEl>
                                      </p:cBhvr>
                                    </p:animEffect>
                                  </p:childTnLst>
                                </p:cTn>
                              </p:par>
                              <p:par>
                                <p:cTn id="14" presetID="10" presetClass="entr" presetSubtype="0" fill="hold"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4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306"/>
          <p:cNvSpPr/>
          <p:nvPr/>
        </p:nvSpPr>
        <p:spPr>
          <a:xfrm>
            <a:off x="54864" y="54864"/>
            <a:ext cx="9034272" cy="5033772"/>
          </a:xfrm>
          <a:prstGeom prst="rect">
            <a:avLst/>
          </a:prstGeom>
          <a:ln w="114300">
            <a:solidFill>
              <a:srgbClr val="FDBA74"/>
            </a:solidFill>
            <a:prstDash val="solid"/>
          </a:ln>
        </p:spPr>
      </p:sp>
      <p:pic>
        <p:nvPicPr>
          <p:cNvPr id="4" name="logo_307"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308"/>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EXTRA · Who is it? · card 4 of 6</a:t>
            </a:r>
            <a:endParaRPr lang="en-US" sz="900" dirty="0"/>
          </a:p>
        </p:txBody>
      </p:sp>
      <p:sp>
        <p:nvSpPr>
          <p:cNvPr id="6" name="extra_309"/>
          <p:cNvSpPr txBox="1"/>
          <p:nvPr/>
        </p:nvSpPr>
        <p:spPr>
          <a:xfrm rot="360000">
            <a:off x="5943600" y="201168"/>
            <a:ext cx="1005840" cy="347472"/>
          </a:xfrm>
          <a:prstGeom prst="roundRect">
            <a:avLst>
              <a:gd name="adj" fmla="val 21053"/>
            </a:avLst>
          </a:prstGeom>
          <a:solidFill>
            <a:srgbClr val="1FA463"/>
          </a:solidFill>
          <a:ln w="31750">
            <a:solidFill>
              <a:srgbClr val="111111"/>
            </a:solidFill>
          </a:ln>
        </p:spPr>
        <p:txBody>
          <a:bodyPr wrap="square"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EXTRA</a:t>
            </a:r>
            <a:endParaRPr lang="en-US" sz="1300" dirty="0"/>
          </a:p>
        </p:txBody>
      </p:sp>
      <p:sp>
        <p:nvSpPr>
          <p:cNvPr id="7" name="footer_310"/>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1B · Part 1</a:t>
            </a:r>
            <a:endParaRPr lang="en-US" sz="1000" dirty="0"/>
          </a:p>
        </p:txBody>
      </p:sp>
      <p:sp>
        <p:nvSpPr>
          <p:cNvPr id="8" name="warn_311"/>
          <p:cNvSpPr txBox="1"/>
          <p:nvPr/>
        </p:nvSpPr>
        <p:spPr>
          <a:xfrm>
            <a:off x="365760" y="731520"/>
            <a:ext cx="5669280" cy="457200"/>
          </a:xfrm>
          <a:prstGeom prst="rect">
            <a:avLst/>
          </a:prstGeom>
          <a:noFill/>
          <a:ln/>
        </p:spPr>
        <p:txBody>
          <a:bodyPr wrap="square" rtlCol="0" anchor="ctr"/>
          <a:lstStyle/>
          <a:p>
            <a:pPr indent="0" marL="0">
              <a:buNone/>
            </a:pPr>
            <a:r>
              <a:rPr lang="en-US" sz="1600" dirty="0">
                <a:solidFill>
                  <a:srgbClr val="EF2F2F"/>
                </a:solidFill>
                <a:latin typeface="Arial Black" pitchFamily="34" charset="0"/>
                <a:ea typeface="Arial Black" pitchFamily="34" charset="-122"/>
                <a:cs typeface="Arial Black" pitchFamily="34" charset="-120"/>
              </a:rPr>
              <a:t>👀 Guessers: don't look!  ·  Non guardate!</a:t>
            </a:r>
            <a:endParaRPr lang="en-US" sz="1600" dirty="0"/>
          </a:p>
        </p:txBody>
      </p:sp>
      <p:sp>
        <p:nvSpPr>
          <p:cNvPr id="9" name="R1_card"/>
          <p:cNvSpPr/>
          <p:nvPr/>
        </p:nvSpPr>
        <p:spPr>
          <a:xfrm rot="90000">
            <a:off x="1828800" y="1325880"/>
            <a:ext cx="5486400" cy="3291840"/>
          </a:xfrm>
          <a:prstGeom prst="roundRect">
            <a:avLst>
              <a:gd name="adj" fmla="val 4167"/>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sp>
        <p:nvSpPr>
          <p:cNvPr id="10" name="R1_word"/>
          <p:cNvSpPr txBox="1"/>
          <p:nvPr/>
        </p:nvSpPr>
        <p:spPr>
          <a:xfrm rot="90000">
            <a:off x="1828800" y="1554480"/>
            <a:ext cx="5486400" cy="1097280"/>
          </a:xfrm>
          <a:prstGeom prst="rect">
            <a:avLst/>
          </a:prstGeom>
          <a:noFill/>
          <a:ln/>
        </p:spPr>
        <p:txBody>
          <a:bodyPr wrap="square" rtlCol="0" anchor="ctr"/>
          <a:lstStyle/>
          <a:p>
            <a:pPr algn="ctr" indent="0" marL="0">
              <a:buNone/>
            </a:pPr>
            <a:r>
              <a:rPr lang="en-US" sz="4000" dirty="0">
                <a:solidFill>
                  <a:srgbClr val="062F67"/>
                </a:solidFill>
                <a:latin typeface="Arial Black" pitchFamily="34" charset="0"/>
                <a:ea typeface="Arial Black" pitchFamily="34" charset="-122"/>
                <a:cs typeface="Arial Black" pitchFamily="34" charset="-120"/>
              </a:rPr>
              <a:t>Andrea Bocelli</a:t>
            </a:r>
            <a:endParaRPr lang="en-US" sz="4000" dirty="0"/>
          </a:p>
        </p:txBody>
      </p:sp>
      <p:sp>
        <p:nvSpPr>
          <p:cNvPr id="11" name="R1_dont"/>
          <p:cNvSpPr txBox="1"/>
          <p:nvPr/>
        </p:nvSpPr>
        <p:spPr>
          <a:xfrm rot="90000">
            <a:off x="1828800" y="2743200"/>
            <a:ext cx="5486400" cy="365760"/>
          </a:xfrm>
          <a:prstGeom prst="rect">
            <a:avLst/>
          </a:prstGeom>
          <a:noFill/>
          <a:ln/>
        </p:spPr>
        <p:txBody>
          <a:bodyPr wrap="square" rtlCol="0" anchor="ctr"/>
          <a:lstStyle/>
          <a:p>
            <a:pPr algn="ctr" indent="0" marL="0">
              <a:buNone/>
            </a:pPr>
            <a:r>
              <a:rPr lang="en-US" sz="1600" i="1" dirty="0">
                <a:solidFill>
                  <a:srgbClr val="475569"/>
                </a:solidFill>
                <a:latin typeface="Calibri" pitchFamily="34" charset="0"/>
                <a:ea typeface="Calibri" pitchFamily="34" charset="-122"/>
                <a:cs typeface="Calibri" pitchFamily="34" charset="-120"/>
              </a:rPr>
              <a:t>Don't say:</a:t>
            </a:r>
            <a:endParaRPr lang="en-US" sz="1600" dirty="0"/>
          </a:p>
        </p:txBody>
      </p:sp>
      <p:sp>
        <p:nvSpPr>
          <p:cNvPr id="12" name="R1_ban"/>
          <p:cNvSpPr txBox="1"/>
          <p:nvPr/>
        </p:nvSpPr>
        <p:spPr>
          <a:xfrm rot="90000">
            <a:off x="2011680" y="3108960"/>
            <a:ext cx="5120640" cy="1097280"/>
          </a:xfrm>
          <a:prstGeom prst="rect">
            <a:avLst/>
          </a:prstGeom>
          <a:noFill/>
          <a:ln/>
        </p:spPr>
        <p:txBody>
          <a:bodyPr wrap="square" rtlCol="0" anchor="ctr"/>
          <a:lstStyle/>
          <a:p>
            <a:pPr algn="ctr" indent="0" marL="0">
              <a:buNone/>
            </a:pPr>
            <a:r>
              <a:rPr lang="en-US" sz="2600" b="1" dirty="0">
                <a:solidFill>
                  <a:srgbClr val="EF2F2F"/>
                </a:solidFill>
                <a:latin typeface="Calibri" pitchFamily="34" charset="0"/>
                <a:ea typeface="Calibri" pitchFamily="34" charset="-122"/>
                <a:cs typeface="Calibri" pitchFamily="34" charset="-120"/>
              </a:rPr>
              <a:t>singer · opera · blind</a:t>
            </a:r>
            <a:endParaRPr lang="en-US" sz="26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par>
                                <p:cTn id="8" presetID="10" presetClass="entr" presetSubtype="0"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400"/>
                                        <p:tgtEl>
                                          <p:spTgt spid="10"/>
                                        </p:tgtEl>
                                      </p:cBhvr>
                                    </p:animEffect>
                                  </p:childTnLst>
                                </p:cTn>
                              </p:par>
                              <p:par>
                                <p:cTn id="11" presetID="10" presetClass="entr" presetSubtype="0" fill="hold"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400"/>
                                        <p:tgtEl>
                                          <p:spTgt spid="11"/>
                                        </p:tgtEl>
                                      </p:cBhvr>
                                    </p:animEffect>
                                  </p:childTnLst>
                                </p:cTn>
                              </p:par>
                              <p:par>
                                <p:cTn id="14" presetID="10" presetClass="entr" presetSubtype="0" fill="hold"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4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312"/>
          <p:cNvSpPr/>
          <p:nvPr/>
        </p:nvSpPr>
        <p:spPr>
          <a:xfrm>
            <a:off x="54864" y="54864"/>
            <a:ext cx="9034272" cy="5033772"/>
          </a:xfrm>
          <a:prstGeom prst="rect">
            <a:avLst/>
          </a:prstGeom>
          <a:ln w="114300">
            <a:solidFill>
              <a:srgbClr val="FDBA74"/>
            </a:solidFill>
            <a:prstDash val="solid"/>
          </a:ln>
        </p:spPr>
      </p:sp>
      <p:pic>
        <p:nvPicPr>
          <p:cNvPr id="4" name="logo_313"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314"/>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EXTRA · Who is it? · card 5 of 6</a:t>
            </a:r>
            <a:endParaRPr lang="en-US" sz="900" dirty="0"/>
          </a:p>
        </p:txBody>
      </p:sp>
      <p:sp>
        <p:nvSpPr>
          <p:cNvPr id="6" name="extra_315"/>
          <p:cNvSpPr txBox="1"/>
          <p:nvPr/>
        </p:nvSpPr>
        <p:spPr>
          <a:xfrm rot="360000">
            <a:off x="5943600" y="201168"/>
            <a:ext cx="1005840" cy="347472"/>
          </a:xfrm>
          <a:prstGeom prst="roundRect">
            <a:avLst>
              <a:gd name="adj" fmla="val 21053"/>
            </a:avLst>
          </a:prstGeom>
          <a:solidFill>
            <a:srgbClr val="1FA463"/>
          </a:solidFill>
          <a:ln w="31750">
            <a:solidFill>
              <a:srgbClr val="111111"/>
            </a:solidFill>
          </a:ln>
        </p:spPr>
        <p:txBody>
          <a:bodyPr wrap="square"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EXTRA</a:t>
            </a:r>
            <a:endParaRPr lang="en-US" sz="1300" dirty="0"/>
          </a:p>
        </p:txBody>
      </p:sp>
      <p:sp>
        <p:nvSpPr>
          <p:cNvPr id="7" name="footer_316"/>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1B · Part 1</a:t>
            </a:r>
            <a:endParaRPr lang="en-US" sz="1000" dirty="0"/>
          </a:p>
        </p:txBody>
      </p:sp>
      <p:sp>
        <p:nvSpPr>
          <p:cNvPr id="8" name="warn_317"/>
          <p:cNvSpPr txBox="1"/>
          <p:nvPr/>
        </p:nvSpPr>
        <p:spPr>
          <a:xfrm>
            <a:off x="365760" y="731520"/>
            <a:ext cx="5669280" cy="457200"/>
          </a:xfrm>
          <a:prstGeom prst="rect">
            <a:avLst/>
          </a:prstGeom>
          <a:noFill/>
          <a:ln/>
        </p:spPr>
        <p:txBody>
          <a:bodyPr wrap="square" rtlCol="0" anchor="ctr"/>
          <a:lstStyle/>
          <a:p>
            <a:pPr indent="0" marL="0">
              <a:buNone/>
            </a:pPr>
            <a:r>
              <a:rPr lang="en-US" sz="1600" dirty="0">
                <a:solidFill>
                  <a:srgbClr val="EF2F2F"/>
                </a:solidFill>
                <a:latin typeface="Arial Black" pitchFamily="34" charset="0"/>
                <a:ea typeface="Arial Black" pitchFamily="34" charset="-122"/>
                <a:cs typeface="Arial Black" pitchFamily="34" charset="-120"/>
              </a:rPr>
              <a:t>👀 Guessers: don't look!  ·  Non guardate!</a:t>
            </a:r>
            <a:endParaRPr lang="en-US" sz="1600" dirty="0"/>
          </a:p>
        </p:txBody>
      </p:sp>
      <p:sp>
        <p:nvSpPr>
          <p:cNvPr id="9" name="R1_card"/>
          <p:cNvSpPr/>
          <p:nvPr/>
        </p:nvSpPr>
        <p:spPr>
          <a:xfrm rot="-90000">
            <a:off x="1828800" y="1325880"/>
            <a:ext cx="5486400" cy="3291840"/>
          </a:xfrm>
          <a:prstGeom prst="roundRect">
            <a:avLst>
              <a:gd name="adj" fmla="val 4167"/>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sp>
        <p:nvSpPr>
          <p:cNvPr id="10" name="R1_word"/>
          <p:cNvSpPr txBox="1"/>
          <p:nvPr/>
        </p:nvSpPr>
        <p:spPr>
          <a:xfrm rot="-90000">
            <a:off x="1828800" y="1554480"/>
            <a:ext cx="5486400" cy="1097280"/>
          </a:xfrm>
          <a:prstGeom prst="rect">
            <a:avLst/>
          </a:prstGeom>
          <a:noFill/>
          <a:ln/>
        </p:spPr>
        <p:txBody>
          <a:bodyPr wrap="square" rtlCol="0" anchor="ctr"/>
          <a:lstStyle/>
          <a:p>
            <a:pPr algn="ctr" indent="0" marL="0">
              <a:buNone/>
            </a:pPr>
            <a:r>
              <a:rPr lang="en-US" sz="4000" dirty="0">
                <a:solidFill>
                  <a:srgbClr val="062F67"/>
                </a:solidFill>
                <a:latin typeface="Arial Black" pitchFamily="34" charset="0"/>
                <a:ea typeface="Arial Black" pitchFamily="34" charset="-122"/>
                <a:cs typeface="Arial Black" pitchFamily="34" charset="-120"/>
              </a:rPr>
              <a:t>Albert Einstein</a:t>
            </a:r>
            <a:endParaRPr lang="en-US" sz="4000" dirty="0"/>
          </a:p>
        </p:txBody>
      </p:sp>
      <p:sp>
        <p:nvSpPr>
          <p:cNvPr id="11" name="R1_dont"/>
          <p:cNvSpPr txBox="1"/>
          <p:nvPr/>
        </p:nvSpPr>
        <p:spPr>
          <a:xfrm rot="-90000">
            <a:off x="1828800" y="2743200"/>
            <a:ext cx="5486400" cy="365760"/>
          </a:xfrm>
          <a:prstGeom prst="rect">
            <a:avLst/>
          </a:prstGeom>
          <a:noFill/>
          <a:ln/>
        </p:spPr>
        <p:txBody>
          <a:bodyPr wrap="square" rtlCol="0" anchor="ctr"/>
          <a:lstStyle/>
          <a:p>
            <a:pPr algn="ctr" indent="0" marL="0">
              <a:buNone/>
            </a:pPr>
            <a:r>
              <a:rPr lang="en-US" sz="1600" i="1" dirty="0">
                <a:solidFill>
                  <a:srgbClr val="475569"/>
                </a:solidFill>
                <a:latin typeface="Calibri" pitchFamily="34" charset="0"/>
                <a:ea typeface="Calibri" pitchFamily="34" charset="-122"/>
                <a:cs typeface="Calibri" pitchFamily="34" charset="-120"/>
              </a:rPr>
              <a:t>Don't say:</a:t>
            </a:r>
            <a:endParaRPr lang="en-US" sz="1600" dirty="0"/>
          </a:p>
        </p:txBody>
      </p:sp>
      <p:sp>
        <p:nvSpPr>
          <p:cNvPr id="12" name="R1_ban"/>
          <p:cNvSpPr txBox="1"/>
          <p:nvPr/>
        </p:nvSpPr>
        <p:spPr>
          <a:xfrm rot="-90000">
            <a:off x="2011680" y="3108960"/>
            <a:ext cx="5120640" cy="1097280"/>
          </a:xfrm>
          <a:prstGeom prst="rect">
            <a:avLst/>
          </a:prstGeom>
          <a:noFill/>
          <a:ln/>
        </p:spPr>
        <p:txBody>
          <a:bodyPr wrap="square" rtlCol="0" anchor="ctr"/>
          <a:lstStyle/>
          <a:p>
            <a:pPr algn="ctr" indent="0" marL="0">
              <a:buNone/>
            </a:pPr>
            <a:r>
              <a:rPr lang="en-US" sz="2600" b="1" dirty="0">
                <a:solidFill>
                  <a:srgbClr val="EF2F2F"/>
                </a:solidFill>
                <a:latin typeface="Calibri" pitchFamily="34" charset="0"/>
                <a:ea typeface="Calibri" pitchFamily="34" charset="-122"/>
                <a:cs typeface="Calibri" pitchFamily="34" charset="-120"/>
              </a:rPr>
              <a:t>scientist · E = mc²</a:t>
            </a:r>
            <a:endParaRPr lang="en-US" sz="26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par>
                                <p:cTn id="8" presetID="10" presetClass="entr" presetSubtype="0"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400"/>
                                        <p:tgtEl>
                                          <p:spTgt spid="10"/>
                                        </p:tgtEl>
                                      </p:cBhvr>
                                    </p:animEffect>
                                  </p:childTnLst>
                                </p:cTn>
                              </p:par>
                              <p:par>
                                <p:cTn id="11" presetID="10" presetClass="entr" presetSubtype="0" fill="hold"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400"/>
                                        <p:tgtEl>
                                          <p:spTgt spid="11"/>
                                        </p:tgtEl>
                                      </p:cBhvr>
                                    </p:animEffect>
                                  </p:childTnLst>
                                </p:cTn>
                              </p:par>
                              <p:par>
                                <p:cTn id="14" presetID="10" presetClass="entr" presetSubtype="0" fill="hold"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4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318"/>
          <p:cNvSpPr/>
          <p:nvPr/>
        </p:nvSpPr>
        <p:spPr>
          <a:xfrm>
            <a:off x="54864" y="54864"/>
            <a:ext cx="9034272" cy="5033772"/>
          </a:xfrm>
          <a:prstGeom prst="rect">
            <a:avLst/>
          </a:prstGeom>
          <a:ln w="114300">
            <a:solidFill>
              <a:srgbClr val="FDBA74"/>
            </a:solidFill>
            <a:prstDash val="solid"/>
          </a:ln>
        </p:spPr>
      </p:sp>
      <p:pic>
        <p:nvPicPr>
          <p:cNvPr id="4" name="logo_319"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320"/>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EXTRA · Who is it? · card 6 of 6</a:t>
            </a:r>
            <a:endParaRPr lang="en-US" sz="900" dirty="0"/>
          </a:p>
        </p:txBody>
      </p:sp>
      <p:sp>
        <p:nvSpPr>
          <p:cNvPr id="6" name="extra_321"/>
          <p:cNvSpPr txBox="1"/>
          <p:nvPr/>
        </p:nvSpPr>
        <p:spPr>
          <a:xfrm rot="360000">
            <a:off x="5943600" y="201168"/>
            <a:ext cx="1005840" cy="347472"/>
          </a:xfrm>
          <a:prstGeom prst="roundRect">
            <a:avLst>
              <a:gd name="adj" fmla="val 21053"/>
            </a:avLst>
          </a:prstGeom>
          <a:solidFill>
            <a:srgbClr val="1FA463"/>
          </a:solidFill>
          <a:ln w="31750">
            <a:solidFill>
              <a:srgbClr val="111111"/>
            </a:solidFill>
          </a:ln>
        </p:spPr>
        <p:txBody>
          <a:bodyPr wrap="square"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EXTRA</a:t>
            </a:r>
            <a:endParaRPr lang="en-US" sz="1300" dirty="0"/>
          </a:p>
        </p:txBody>
      </p:sp>
      <p:sp>
        <p:nvSpPr>
          <p:cNvPr id="7" name="footer_322"/>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1B · Part 1</a:t>
            </a:r>
            <a:endParaRPr lang="en-US" sz="1000" dirty="0"/>
          </a:p>
        </p:txBody>
      </p:sp>
      <p:sp>
        <p:nvSpPr>
          <p:cNvPr id="8" name="warn_323"/>
          <p:cNvSpPr txBox="1"/>
          <p:nvPr/>
        </p:nvSpPr>
        <p:spPr>
          <a:xfrm>
            <a:off x="365760" y="731520"/>
            <a:ext cx="5669280" cy="457200"/>
          </a:xfrm>
          <a:prstGeom prst="rect">
            <a:avLst/>
          </a:prstGeom>
          <a:noFill/>
          <a:ln/>
        </p:spPr>
        <p:txBody>
          <a:bodyPr wrap="square" rtlCol="0" anchor="ctr"/>
          <a:lstStyle/>
          <a:p>
            <a:pPr indent="0" marL="0">
              <a:buNone/>
            </a:pPr>
            <a:r>
              <a:rPr lang="en-US" sz="1600" dirty="0">
                <a:solidFill>
                  <a:srgbClr val="EF2F2F"/>
                </a:solidFill>
                <a:latin typeface="Arial Black" pitchFamily="34" charset="0"/>
                <a:ea typeface="Arial Black" pitchFamily="34" charset="-122"/>
                <a:cs typeface="Arial Black" pitchFamily="34" charset="-120"/>
              </a:rPr>
              <a:t>👀 Guessers: don't look!  ·  Non guardate!</a:t>
            </a:r>
            <a:endParaRPr lang="en-US" sz="1600" dirty="0"/>
          </a:p>
        </p:txBody>
      </p:sp>
      <p:sp>
        <p:nvSpPr>
          <p:cNvPr id="9" name="R1_card"/>
          <p:cNvSpPr/>
          <p:nvPr/>
        </p:nvSpPr>
        <p:spPr>
          <a:xfrm rot="90000">
            <a:off x="1828800" y="1325880"/>
            <a:ext cx="5486400" cy="3291840"/>
          </a:xfrm>
          <a:prstGeom prst="roundRect">
            <a:avLst>
              <a:gd name="adj" fmla="val 4167"/>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sp>
        <p:nvSpPr>
          <p:cNvPr id="10" name="R1_word"/>
          <p:cNvSpPr txBox="1"/>
          <p:nvPr/>
        </p:nvSpPr>
        <p:spPr>
          <a:xfrm rot="90000">
            <a:off x="1828800" y="1554480"/>
            <a:ext cx="5486400" cy="1097280"/>
          </a:xfrm>
          <a:prstGeom prst="rect">
            <a:avLst/>
          </a:prstGeom>
          <a:noFill/>
          <a:ln/>
        </p:spPr>
        <p:txBody>
          <a:bodyPr wrap="square" rtlCol="0" anchor="ctr"/>
          <a:lstStyle/>
          <a:p>
            <a:pPr algn="ctr" indent="0" marL="0">
              <a:buNone/>
            </a:pPr>
            <a:r>
              <a:rPr lang="en-US" sz="3000" dirty="0">
                <a:solidFill>
                  <a:srgbClr val="062F67"/>
                </a:solidFill>
                <a:latin typeface="Arial Black" pitchFamily="34" charset="0"/>
                <a:ea typeface="Arial Black" pitchFamily="34" charset="-122"/>
                <a:cs typeface="Arial Black" pitchFamily="34" charset="-120"/>
              </a:rPr>
              <a:t>Queen Elizabeth II</a:t>
            </a:r>
            <a:endParaRPr lang="en-US" sz="3000" dirty="0"/>
          </a:p>
        </p:txBody>
      </p:sp>
      <p:sp>
        <p:nvSpPr>
          <p:cNvPr id="11" name="R1_dont"/>
          <p:cNvSpPr txBox="1"/>
          <p:nvPr/>
        </p:nvSpPr>
        <p:spPr>
          <a:xfrm rot="90000">
            <a:off x="1828800" y="2743200"/>
            <a:ext cx="5486400" cy="365760"/>
          </a:xfrm>
          <a:prstGeom prst="rect">
            <a:avLst/>
          </a:prstGeom>
          <a:noFill/>
          <a:ln/>
        </p:spPr>
        <p:txBody>
          <a:bodyPr wrap="square" rtlCol="0" anchor="ctr"/>
          <a:lstStyle/>
          <a:p>
            <a:pPr algn="ctr" indent="0" marL="0">
              <a:buNone/>
            </a:pPr>
            <a:r>
              <a:rPr lang="en-US" sz="1600" i="1" dirty="0">
                <a:solidFill>
                  <a:srgbClr val="475569"/>
                </a:solidFill>
                <a:latin typeface="Calibri" pitchFamily="34" charset="0"/>
                <a:ea typeface="Calibri" pitchFamily="34" charset="-122"/>
                <a:cs typeface="Calibri" pitchFamily="34" charset="-120"/>
              </a:rPr>
              <a:t>Don't say:</a:t>
            </a:r>
            <a:endParaRPr lang="en-US" sz="1600" dirty="0"/>
          </a:p>
        </p:txBody>
      </p:sp>
      <p:sp>
        <p:nvSpPr>
          <p:cNvPr id="12" name="R1_ban"/>
          <p:cNvSpPr txBox="1"/>
          <p:nvPr/>
        </p:nvSpPr>
        <p:spPr>
          <a:xfrm rot="90000">
            <a:off x="2011680" y="3108960"/>
            <a:ext cx="5120640" cy="1097280"/>
          </a:xfrm>
          <a:prstGeom prst="rect">
            <a:avLst/>
          </a:prstGeom>
          <a:noFill/>
          <a:ln/>
        </p:spPr>
        <p:txBody>
          <a:bodyPr wrap="square" rtlCol="0" anchor="ctr"/>
          <a:lstStyle/>
          <a:p>
            <a:pPr algn="ctr" indent="0" marL="0">
              <a:buNone/>
            </a:pPr>
            <a:r>
              <a:rPr lang="en-US" sz="2600" b="1" dirty="0">
                <a:solidFill>
                  <a:srgbClr val="EF2F2F"/>
                </a:solidFill>
                <a:latin typeface="Calibri" pitchFamily="34" charset="0"/>
                <a:ea typeface="Calibri" pitchFamily="34" charset="-122"/>
                <a:cs typeface="Calibri" pitchFamily="34" charset="-120"/>
              </a:rPr>
              <a:t>queen · England · king</a:t>
            </a:r>
            <a:endParaRPr lang="en-US" sz="26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par>
                                <p:cTn id="8" presetID="10" presetClass="entr" presetSubtype="0"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400"/>
                                        <p:tgtEl>
                                          <p:spTgt spid="10"/>
                                        </p:tgtEl>
                                      </p:cBhvr>
                                    </p:animEffect>
                                  </p:childTnLst>
                                </p:cTn>
                              </p:par>
                              <p:par>
                                <p:cTn id="11" presetID="10" presetClass="entr" presetSubtype="0" fill="hold"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400"/>
                                        <p:tgtEl>
                                          <p:spTgt spid="11"/>
                                        </p:tgtEl>
                                      </p:cBhvr>
                                    </p:animEffect>
                                  </p:childTnLst>
                                </p:cTn>
                              </p:par>
                              <p:par>
                                <p:cTn id="14" presetID="10" presetClass="entr" presetSubtype="0" fill="hold"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4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Blac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London Language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A2 1B The perfect date?</dc:title>
  <dc:subject>PptxGenJS Presentation</dc:subject>
  <dc:creator>London Language School</dc:creator>
  <cp:lastModifiedBy>London Language School</cp:lastModifiedBy>
  <cp:revision>1</cp:revision>
  <dcterms:created xsi:type="dcterms:W3CDTF">2026-10-06T20:28:56Z</dcterms:created>
  <dcterms:modified xsi:type="dcterms:W3CDTF">2026-10-06T20:28:56Z</dcterms:modified>
</cp:coreProperties>
</file>