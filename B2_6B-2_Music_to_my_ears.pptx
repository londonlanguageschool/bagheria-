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6B PART 2 (60 min) · SB pp.62–63. Aims: read about research into music and work (prediction, skimming for the best summary, gap-fill with phrases, inference) and four surgeons' opinions on music in the operating theatre (jigsaw reading = real information gap); precise evaluative words (soothing, bland, eerie, distracting, uplifting…); discuss statements about music, defending AND challenging views, with fading support; video listening: pianist Isata Kanneh-Mason. Timing: cover 2 · revision 5 · lead-in 3 · skim 4 · gaps 5 · inference 3 · prediction 3 · jigsaw 8 · lexis 4 · statements 9 · video 8 · exit 3 = 57 min.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6B part 1 (5 min). VARIATION: sound / grammar intruder (phonological and grammatical odd one out). Pairs 2 minutes; click one per item. Item 6: 'I remember to lock the door' is a habit/task — the rest are memories with -ing. Accept other well-argued intruders. Say each sound-intruder word aloud with English pronunciation.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(3 min) · SB 4a: 'Do you normally listen to music when you're working or studying? What kinds of music?' VARIATION: mini debate with forced choice — students point to AGREE / NO WAY for each, then the teacher picks one person from each side to justify with an example. Keep it quick; the predictions they make here are tested by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SKIMMING (4 min). Before reading: 'Which summary do YOU think the research will support?' (30 sec vote). Then 90 seconds to read the article 'Music while you work?' and choose. Click 1: answer 2. Ask for EVIDENCE: 'Which sentence proves it?' (the last paragraph: happy music helps divergent/creative thinking but not convergent thinking/problem solving). Why not 1? (it depends on the task). Why not 3? (the research used classical music, but it's the 'happy' mood that mattered, and the claim is too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SB 4c (5 min). Students complete alone (3 min), compare, then click 1 shows all answers: 1 B · 2 F · 3 D · 4 A · 5 C · 6 E. For each, ask 'Which words around the gap helped you?' (e.g. gap 6: 'you're better off' + -ing → opting; gap 4: 'four of the groups did so while…' → listening to… aimed at stimulating different moods, 'such as Holst's Mars and Vivaldi's Spring'). Highlight: 'you're better off + -ing' (= it's better for you to) — high-value chunk.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(3 min) + SB 4d ('Would you now do anything different, based on the research?'). VARIATION: apply the text to new situations. Then challenge: 'Is one study of 155 volunteers enough to change your habits? What would someone sceptical say?' (detect overgeneralisation).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(3 min) · SB 4e. Pairs discuss 1–3 and commit to a number for 4 (write it down) — it's checked after the jigsaw. Teach 'operating theatre' (sala operatoria — not 'operating room' in British English) and 'surgeon' /ˈsɜːdʒən/.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JIGSAW READING (8 min) — a real information gap: nobody has read the others' texts. Groups of 4 (groups of 3: one student reads two). Show each role card while the others look away, or print out/B2_6B-2_Role_cards.pdf. Reading 2 min → retelling 4 min (in their own words; listeners must ask at least one follow-up) → consensus 1 min (SB 4f: 'In a discussion between these four doctors, what would the general consensus be – music or no music while you work?'). Check the prediction from the previous slide: 3 of the 4 use music (Samer Nashef never does). ROLE CARDS: the next slides show each role on its own slide, hidden until you click. Show A's card while B students turn round, then B's while A turn round — or use the printable role cards (out/…_Role_cards.pdf) if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B's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C's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D's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 4g (part of the jigsaw time, or 2 extra minutes). Now everyone reads the whole text quickly to check. Answers (from the text): 1 SN · 2 RT · 3 RT · 4 SA · 5 GW · 6 SA · 7 SN · 8 GW. Ask for the exact words that prove 4 ('it's too eerie; I feel like I am on my own') and 7 ('any extraneous noise interferes with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LEXIS FOR PRECISION (4 min). Brief: move beyond good/bad/nice. Pairs find the words in the texts and guess the meaning from context; click 1 reveals. Then quick personalisation: 'Name something soothing / a crowd-pleaser song / a bland film / an eerie place in Bagheria.' Pronunciation: eerie /ˈɪəri/, soothing /ˈsuːðɪŋ/, extraneous /ɪkˈstreɪniəs/. Italian traps: 'sensible' (Gabriel Weston) = ragionevole, NOT sensibile (=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SB 5 (9 min = 3 rounds × 3 min, small groups of 3). Statements are from the book. Round 1: give your real opinion — full useful-language box; every listener must challenge once with 'Is that always the case?' or 'Can you give me an example?'. Round 2: everyone argues the OPPOSITE of what they really think (argue a position you don't hold) — keywords only. Round 3: one student takes a position and the others try to change their mind; no support; the speaker says 'OK, you've changed my mind' only if convinced. VARIATION: defend → argue the opposite → change someone's mind, with fading scaffold. Note: 'People who listen to classical music are generally more intelligent' — push for evidence vs prejudice (detect bias/overgeneralisation). Round 1: full support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keywords only — students must rebuild the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3: no support — listen for the phrases and award a point each time someone uses one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LISTENING SB 6 (8 min). ⚠ We don't have the video file: use the English File 4th edition Upper-intermediate 6B 'Video listening' from Online Practice / the Teacher's Resource Centre / class DVD. The teacher must preview and check the video, its content and accessibility before class. 6a (first viewing): 'What is unusual about her family? Why does the interviewer say that the future looks bright for the Kanneh-Mason children?' 6b (second viewing): questions 1–8 in the book (the slide shows a selection: book Qs 1, 2, 4, 6 and 8 + 6a). The last question is an INFERENCE question — what does 'escape' mean for her? ⚠ ANSWERS: check with the video / TG — not available here, so no answers are shown. NON-TECH ALTERNATIVE if the video fails: students read the 6b questions and predict the answers in pairs (speculation language: she probably…, I bet…), then do 6c: 'Do you know any very musical people or families, or a family where they are mostly interested in or good at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Retrieval: 'Tell your partner ONE thing each surgeon said — without opening the book.' Self-assess. Homework: Workbook 6B 2a–c, 2e (2d, 2f–h need audio 6.3–6.5).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 SB 4h. VARIATION: negotiation + justification with evidence from the text. Students must justify each song with the research ('it's uplifting', 'no lyrics, so it's not distracting').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persuasion challenge. One student is the 'head teacher' and must raise two objections; the speaker must answer them. The class votes on the most persuasive. Item 3 recycles 6A sleep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B9A3F5"/>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B9A3F5"/>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171B50"/>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6B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6B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B2 · 6B · Part 2 · SB pp.62–63</a:t>
            </a:r>
            <a:endParaRPr lang="en-US" sz="1100" dirty="0"/>
          </a:p>
        </p:txBody>
      </p:sp>
      <p:sp>
        <p:nvSpPr>
          <p:cNvPr id="9" name="title_7"/>
          <p:cNvSpPr txBox="1"/>
          <p:nvPr/>
        </p:nvSpPr>
        <p:spPr>
          <a:xfrm rot="120000">
            <a:off x="411480" y="1325880"/>
            <a:ext cx="4590288"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MUSIC TO MY EARS</a:t>
            </a:r>
            <a:endParaRPr lang="en-US" sz="2650" dirty="0"/>
          </a:p>
        </p:txBody>
      </p:sp>
      <p:sp>
        <p:nvSpPr>
          <p:cNvPr id="10" name="stamp_8"/>
          <p:cNvSpPr txBox="1"/>
          <p:nvPr/>
        </p:nvSpPr>
        <p:spPr>
          <a:xfrm>
            <a:off x="457200" y="2468880"/>
            <a:ext cx="4572000" cy="384048"/>
          </a:xfrm>
          <a:prstGeom prst="roundRect">
            <a:avLst>
              <a:gd name="adj" fmla="val 14286"/>
            </a:avLst>
          </a:prstGeom>
          <a:solidFill>
            <a:srgbClr val="171B50"/>
          </a:solidFill>
          <a:ln w="38100">
            <a:solidFill>
              <a:srgbClr val="48BDF2"/>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READING · Music while you work · doctors' playlists</a:t>
            </a:r>
            <a:endParaRPr lang="en-US" sz="1150" dirty="0"/>
          </a:p>
        </p:txBody>
      </p:sp>
      <p:sp>
        <p:nvSpPr>
          <p:cNvPr id="11" name="stamp_9"/>
          <p:cNvSpPr txBox="1"/>
          <p:nvPr/>
        </p:nvSpPr>
        <p:spPr>
          <a:xfrm>
            <a:off x="457200" y="2944368"/>
            <a:ext cx="4101084" cy="384048"/>
          </a:xfrm>
          <a:prstGeom prst="roundRect">
            <a:avLst>
              <a:gd name="adj" fmla="val 14286"/>
            </a:avLst>
          </a:prstGeom>
          <a:solidFill>
            <a:srgbClr val="171B50"/>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defend or challenge a view</a:t>
            </a:r>
            <a:endParaRPr lang="en-US" sz="1200" dirty="0"/>
          </a:p>
        </p:txBody>
      </p:sp>
      <p:sp>
        <p:nvSpPr>
          <p:cNvPr id="12" name="stamp_10"/>
          <p:cNvSpPr txBox="1"/>
          <p:nvPr/>
        </p:nvSpPr>
        <p:spPr>
          <a:xfrm>
            <a:off x="457200" y="3419856"/>
            <a:ext cx="3044952" cy="384048"/>
          </a:xfrm>
          <a:prstGeom prst="roundRect">
            <a:avLst>
              <a:gd name="adj" fmla="val 14286"/>
            </a:avLst>
          </a:prstGeom>
          <a:solidFill>
            <a:srgbClr val="171B50"/>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VIDEO · Isata Kanneh-Mason</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Headphones">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FirstAidKi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B9A3F5"/>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PianoKeys">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Would you want your surgeon to listen to music?</a:t>
            </a:r>
            <a:endParaRPr lang="en-US" sz="125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Depends what music!</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B9A3F5"/>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6B part 1</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23"/>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Find the intruder!</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B45309"/>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REMEMBER!</a:t>
            </a:r>
            <a:pPr indent="0" marL="0">
              <a:buNone/>
            </a:pPr>
            <a:r>
              <a:rPr lang="en-US" sz="900" dirty="0">
                <a:solidFill>
                  <a:srgbClr val="FFF3B0"/>
                </a:solidFill>
                <a:latin typeface="Arial Black" pitchFamily="34" charset="0"/>
                <a:ea typeface="Arial Black" pitchFamily="34" charset="-122"/>
                <a:cs typeface="Arial Black" pitchFamily="34" charset="-120"/>
              </a:rPr>
              <a:t>  RICORDA!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Which one is different – in sound or in grammar?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Quale è diverso – nel suono o nella grammatica?</a:t>
            </a:r>
            <a:endParaRPr lang="en-US" sz="1250" dirty="0"/>
          </a:p>
        </p:txBody>
      </p:sp>
      <p:sp>
        <p:nvSpPr>
          <p:cNvPr id="14"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6" name="box_31"/>
          <p:cNvSpPr txBox="1"/>
          <p:nvPr/>
        </p:nvSpPr>
        <p:spPr>
          <a:xfrm>
            <a:off x="2788920" y="1371600"/>
            <a:ext cx="1772107"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choir · chorus · cello · orchestra</a:t>
            </a:r>
            <a:endParaRPr lang="en-US" sz="1250" dirty="0"/>
          </a:p>
        </p:txBody>
      </p:sp>
      <p:sp>
        <p:nvSpPr>
          <p:cNvPr id="17" name="R1_a0"/>
          <p:cNvSpPr txBox="1"/>
          <p:nvPr/>
        </p:nvSpPr>
        <p:spPr>
          <a:xfrm>
            <a:off x="4615891"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cello – /tʃ/, others /k/</a:t>
            </a:r>
            <a:endParaRPr lang="en-US" sz="1150" dirty="0"/>
          </a:p>
        </p:txBody>
      </p:sp>
      <p:sp>
        <p:nvSpPr>
          <p:cNvPr id="18" name="box_32"/>
          <p:cNvSpPr txBox="1"/>
          <p:nvPr/>
        </p:nvSpPr>
        <p:spPr>
          <a:xfrm>
            <a:off x="5870448" y="1371600"/>
            <a:ext cx="1772107"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chef · chic · chauffeur · chilli</a:t>
            </a:r>
            <a:endParaRPr lang="en-US" sz="1250" dirty="0"/>
          </a:p>
        </p:txBody>
      </p:sp>
      <p:sp>
        <p:nvSpPr>
          <p:cNvPr id="19" name="R2_a1"/>
          <p:cNvSpPr txBox="1"/>
          <p:nvPr/>
        </p:nvSpPr>
        <p:spPr>
          <a:xfrm>
            <a:off x="7697419" y="1408176"/>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chilli – /tʃ/, others /ʃ/</a:t>
            </a:r>
            <a:endParaRPr lang="en-US" sz="1150" dirty="0"/>
          </a:p>
        </p:txBody>
      </p:sp>
      <p:sp>
        <p:nvSpPr>
          <p:cNvPr id="20" name="box_33"/>
          <p:cNvSpPr txBox="1"/>
          <p:nvPr/>
        </p:nvSpPr>
        <p:spPr>
          <a:xfrm>
            <a:off x="2788920" y="2368296"/>
            <a:ext cx="1772107"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genre · ballet · encore · villa</a:t>
            </a:r>
            <a:endParaRPr lang="en-US" sz="1250" dirty="0"/>
          </a:p>
        </p:txBody>
      </p:sp>
      <p:sp>
        <p:nvSpPr>
          <p:cNvPr id="21" name="R3_a2"/>
          <p:cNvSpPr txBox="1"/>
          <p:nvPr/>
        </p:nvSpPr>
        <p:spPr>
          <a:xfrm>
            <a:off x="4615891"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villa – Italian, others French</a:t>
            </a:r>
            <a:endParaRPr lang="en-US" sz="1150" dirty="0"/>
          </a:p>
        </p:txBody>
      </p:sp>
      <p:sp>
        <p:nvSpPr>
          <p:cNvPr id="22" name="box_34"/>
          <p:cNvSpPr txBox="1"/>
          <p:nvPr/>
        </p:nvSpPr>
        <p:spPr>
          <a:xfrm>
            <a:off x="5870448" y="2368296"/>
            <a:ext cx="1772107"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enjoy · avoid · decide · can't stand</a:t>
            </a:r>
            <a:endParaRPr lang="en-US" sz="1250" dirty="0"/>
          </a:p>
        </p:txBody>
      </p:sp>
      <p:sp>
        <p:nvSpPr>
          <p:cNvPr id="23" name="R4_a3"/>
          <p:cNvSpPr txBox="1"/>
          <p:nvPr/>
        </p:nvSpPr>
        <p:spPr>
          <a:xfrm>
            <a:off x="7697419" y="2404872"/>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decide + to (others + -ing)</a:t>
            </a:r>
            <a:endParaRPr lang="en-US" sz="1150" dirty="0"/>
          </a:p>
        </p:txBody>
      </p:sp>
      <p:sp>
        <p:nvSpPr>
          <p:cNvPr id="24" name="box_35"/>
          <p:cNvSpPr txBox="1"/>
          <p:nvPr/>
        </p:nvSpPr>
        <p:spPr>
          <a:xfrm>
            <a:off x="2788920" y="3364992"/>
            <a:ext cx="1772107"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want · manage · expect · give up</a:t>
            </a:r>
            <a:endParaRPr lang="en-US" sz="1250" dirty="0"/>
          </a:p>
        </p:txBody>
      </p:sp>
      <p:sp>
        <p:nvSpPr>
          <p:cNvPr id="25" name="R5_a4"/>
          <p:cNvSpPr txBox="1"/>
          <p:nvPr/>
        </p:nvSpPr>
        <p:spPr>
          <a:xfrm>
            <a:off x="4615891"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give up + -ing</a:t>
            </a:r>
            <a:endParaRPr lang="en-US" sz="1150" dirty="0"/>
          </a:p>
        </p:txBody>
      </p:sp>
      <p:sp>
        <p:nvSpPr>
          <p:cNvPr id="26" name="box_36"/>
          <p:cNvSpPr txBox="1"/>
          <p:nvPr/>
        </p:nvSpPr>
        <p:spPr>
          <a:xfrm>
            <a:off x="5870448" y="3364992"/>
            <a:ext cx="1772107"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I remember… locking · to lock · calling · meeting</a:t>
            </a:r>
            <a:endParaRPr lang="en-US" sz="1250" dirty="0"/>
          </a:p>
        </p:txBody>
      </p:sp>
      <p:sp>
        <p:nvSpPr>
          <p:cNvPr id="27" name="R6_a5"/>
          <p:cNvSpPr txBox="1"/>
          <p:nvPr/>
        </p:nvSpPr>
        <p:spPr>
          <a:xfrm>
            <a:off x="7697419" y="3401568"/>
            <a:ext cx="112654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to lock (task); others = memories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7"/>
          <p:cNvSpPr/>
          <p:nvPr/>
        </p:nvSpPr>
        <p:spPr>
          <a:xfrm>
            <a:off x="54864" y="54864"/>
            <a:ext cx="9034272" cy="5033772"/>
          </a:xfrm>
          <a:prstGeom prst="rect">
            <a:avLst/>
          </a:prstGeom>
          <a:ln w="114300">
            <a:solidFill>
              <a:srgbClr val="B9A3F5"/>
            </a:solidFill>
            <a:prstDash val="solid"/>
          </a:ln>
        </p:spPr>
      </p:sp>
      <p:pic>
        <p:nvPicPr>
          <p:cNvPr id="4" name="logo_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LEAD-IN · SB 4a</a:t>
            </a:r>
            <a:endParaRPr lang="en-US" sz="900" dirty="0"/>
          </a:p>
        </p:txBody>
      </p:sp>
      <p:sp>
        <p:nvSpPr>
          <p:cNvPr id="6" name="timer_4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4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42"/>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Music while you study?</a:t>
            </a:r>
            <a:endParaRPr lang="en-US" sz="1500" dirty="0"/>
          </a:p>
        </p:txBody>
      </p:sp>
      <p:sp>
        <p:nvSpPr>
          <p:cNvPr id="9" name="tape_4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4"/>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real example.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esempio reale.</a:t>
            </a:r>
            <a:endParaRPr lang="en-US" sz="1250" dirty="0"/>
          </a:p>
        </p:txBody>
      </p:sp>
      <p:sp>
        <p:nvSpPr>
          <p:cNvPr id="14" name="box_48"/>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"I can't study without music."</a:t>
            </a:r>
            <a:endParaRPr lang="en-US" sz="1300" dirty="0"/>
          </a:p>
        </p:txBody>
      </p:sp>
      <p:sp>
        <p:nvSpPr>
          <p:cNvPr id="15" name="stamp_49"/>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6" name="stamp_50"/>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7" name="box_51"/>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"Music with lyrics is impossible when I'm reading."</a:t>
            </a:r>
            <a:endParaRPr lang="en-US" sz="1300" dirty="0"/>
          </a:p>
        </p:txBody>
      </p:sp>
      <p:sp>
        <p:nvSpPr>
          <p:cNvPr id="18" name="stamp_52"/>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9" name="stamp_53"/>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0" name="box_54"/>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"Silence is the best music for maths."</a:t>
            </a:r>
            <a:endParaRPr lang="en-US" sz="1300" dirty="0"/>
          </a:p>
        </p:txBody>
      </p:sp>
      <p:sp>
        <p:nvSpPr>
          <p:cNvPr id="21" name="stamp_55"/>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2" name="stamp_56"/>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3" name="box_57"/>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"Headphones at work are rude."</a:t>
            </a:r>
            <a:endParaRPr lang="en-US" sz="1300" dirty="0"/>
          </a:p>
        </p:txBody>
      </p:sp>
      <p:sp>
        <p:nvSpPr>
          <p:cNvPr id="24" name="stamp_58"/>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5" name="stamp_59"/>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6" name="bubble_60"/>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Push: Has it always been true for you? What would change your mind?</a:t>
            </a:r>
            <a:endParaRPr lang="en-US" sz="1250" dirty="0"/>
          </a:p>
        </p:txBody>
      </p:sp>
      <p:sp>
        <p:nvSpPr>
          <p:cNvPr id="27" name="pageTag_6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p.62 · 4a</a:t>
            </a:r>
            <a:endParaRPr lang="en-US" sz="1050" dirty="0"/>
          </a:p>
        </p:txBody>
      </p:sp>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2"/>
          <p:cNvSpPr/>
          <p:nvPr/>
        </p:nvSpPr>
        <p:spPr>
          <a:xfrm>
            <a:off x="54864" y="54864"/>
            <a:ext cx="9034272" cy="5033772"/>
          </a:xfrm>
          <a:prstGeom prst="rect">
            <a:avLst/>
          </a:prstGeom>
          <a:ln w="114300">
            <a:solidFill>
              <a:srgbClr val="B9A3F5"/>
            </a:solidFill>
            <a:prstDash val="solid"/>
          </a:ln>
        </p:spPr>
      </p:sp>
      <p:pic>
        <p:nvPicPr>
          <p:cNvPr id="4" name="logo_6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Skim · SB 4b</a:t>
            </a:r>
            <a:endParaRPr lang="en-US" sz="900" dirty="0"/>
          </a:p>
        </p:txBody>
      </p:sp>
      <p:sp>
        <p:nvSpPr>
          <p:cNvPr id="6" name="timer_6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6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67"/>
          <p:cNvSpPr txBox="1"/>
          <p:nvPr/>
        </p:nvSpPr>
        <p:spPr>
          <a:xfrm rot="90000">
            <a:off x="320040" y="676656"/>
            <a:ext cx="484632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90 seconds: best summary?</a:t>
            </a:r>
            <a:endParaRPr lang="en-US" sz="1500" dirty="0"/>
          </a:p>
        </p:txBody>
      </p:sp>
      <p:sp>
        <p:nvSpPr>
          <p:cNvPr id="9" name="tape_6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69"/>
          <p:cNvSpPr/>
          <p:nvPr/>
        </p:nvSpPr>
        <p:spPr>
          <a:xfrm rot="-720000">
            <a:off x="4599432" y="1069848"/>
            <a:ext cx="685800" cy="219456"/>
          </a:xfrm>
          <a:prstGeom prst="rect">
            <a:avLst/>
          </a:prstGeom>
          <a:solidFill>
            <a:srgbClr val="FFD84D">
              <a:alpha val="75000"/>
            </a:srgbClr>
          </a:solidFill>
          <a:ln w="6350">
            <a:solidFill>
              <a:srgbClr val="FFD84D"/>
            </a:solidFill>
            <a:prstDash val="solid"/>
          </a:ln>
        </p:spPr>
      </p:sp>
      <p:sp>
        <p:nvSpPr>
          <p:cNvPr id="11" name="post_7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71"/>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7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FAST. Choose 1, 2 or 3. Don't use a dictionary!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IN FRETTA. Scegli 1, 2 o 3. Niente dizionario!</a:t>
            </a:r>
            <a:endParaRPr lang="en-US" sz="1250" dirty="0"/>
          </a:p>
        </p:txBody>
      </p:sp>
      <p:sp>
        <p:nvSpPr>
          <p:cNvPr id="14" name="iconBack_7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74"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6" name="box_75"/>
          <p:cNvSpPr txBox="1"/>
          <p:nvPr/>
        </p:nvSpPr>
        <p:spPr>
          <a:xfrm>
            <a:off x="2788920" y="1371600"/>
            <a:ext cx="6035040"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Music helps you work better.</a:t>
            </a:r>
            <a:endParaRPr lang="en-US" sz="1400" dirty="0"/>
          </a:p>
        </p:txBody>
      </p:sp>
      <p:sp>
        <p:nvSpPr>
          <p:cNvPr id="17" name="box_76"/>
          <p:cNvSpPr txBox="1"/>
          <p:nvPr/>
        </p:nvSpPr>
        <p:spPr>
          <a:xfrm>
            <a:off x="2788920" y="2368296"/>
            <a:ext cx="3741725"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Choose the right music for the right task.</a:t>
            </a:r>
            <a:endParaRPr lang="en-US" sz="1400" dirty="0"/>
          </a:p>
        </p:txBody>
      </p:sp>
      <p:sp>
        <p:nvSpPr>
          <p:cNvPr id="18" name="R1_a1"/>
          <p:cNvSpPr txBox="1"/>
          <p:nvPr/>
        </p:nvSpPr>
        <p:spPr>
          <a:xfrm>
            <a:off x="6585509" y="2404872"/>
            <a:ext cx="2238451"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 the best summary</a:t>
            </a:r>
            <a:endParaRPr lang="en-US" sz="1300" dirty="0"/>
          </a:p>
        </p:txBody>
      </p:sp>
      <p:sp>
        <p:nvSpPr>
          <p:cNvPr id="19" name="box_77"/>
          <p:cNvSpPr txBox="1"/>
          <p:nvPr/>
        </p:nvSpPr>
        <p:spPr>
          <a:xfrm>
            <a:off x="2788920" y="3364992"/>
            <a:ext cx="6035040"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Classical music is best for creative thinking.</a:t>
            </a:r>
            <a:endParaRPr lang="en-US" sz="1400" dirty="0"/>
          </a:p>
        </p:txBody>
      </p:sp>
      <p:sp>
        <p:nvSpPr>
          <p:cNvPr id="20" name="pageTag_7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p.62 · 4b · 'Music while you 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9"/>
          <p:cNvSpPr/>
          <p:nvPr/>
        </p:nvSpPr>
        <p:spPr>
          <a:xfrm>
            <a:off x="54864" y="54864"/>
            <a:ext cx="9034272" cy="5033772"/>
          </a:xfrm>
          <a:prstGeom prst="rect">
            <a:avLst/>
          </a:prstGeom>
          <a:ln w="114300">
            <a:solidFill>
              <a:srgbClr val="B9A3F5"/>
            </a:solidFill>
            <a:prstDash val="solid"/>
          </a:ln>
        </p:spPr>
      </p:sp>
      <p:pic>
        <p:nvPicPr>
          <p:cNvPr id="4" name="logo_8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SB 4c</a:t>
            </a:r>
            <a:endParaRPr lang="en-US" sz="900" dirty="0"/>
          </a:p>
        </p:txBody>
      </p:sp>
      <p:sp>
        <p:nvSpPr>
          <p:cNvPr id="6" name="timer_8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8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84"/>
          <p:cNvSpPr txBox="1"/>
          <p:nvPr/>
        </p:nvSpPr>
        <p:spPr>
          <a:xfrm rot="90000">
            <a:off x="320040" y="676656"/>
            <a:ext cx="397764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Put the phrases back</a:t>
            </a:r>
            <a:endParaRPr lang="en-US" sz="1500" dirty="0"/>
          </a:p>
        </p:txBody>
      </p:sp>
      <p:sp>
        <p:nvSpPr>
          <p:cNvPr id="9" name="tape_8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86"/>
          <p:cNvSpPr/>
          <p:nvPr/>
        </p:nvSpPr>
        <p:spPr>
          <a:xfrm rot="-720000">
            <a:off x="3730752" y="1069848"/>
            <a:ext cx="685800" cy="219456"/>
          </a:xfrm>
          <a:prstGeom prst="rect">
            <a:avLst/>
          </a:prstGeom>
          <a:solidFill>
            <a:srgbClr val="FFD84D">
              <a:alpha val="75000"/>
            </a:srgbClr>
          </a:solidFill>
          <a:ln w="6350">
            <a:solidFill>
              <a:srgbClr val="FFD84D"/>
            </a:solidFill>
            <a:prstDash val="solid"/>
          </a:ln>
        </p:spPr>
      </p:sp>
      <p:sp>
        <p:nvSpPr>
          <p:cNvPr id="11" name="post_8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8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8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again. Which phrase A–F goes in each gap 1–6?</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Rileggi. Quale frase A–F va in ogni spazio 1–6?</a:t>
            </a:r>
            <a:endParaRPr lang="en-US" sz="1250" dirty="0"/>
          </a:p>
        </p:txBody>
      </p:sp>
      <p:sp>
        <p:nvSpPr>
          <p:cNvPr id="14" name="box_90"/>
          <p:cNvSpPr txBox="1"/>
          <p:nvPr/>
        </p:nvSpPr>
        <p:spPr>
          <a:xfrm>
            <a:off x="2788920" y="1371600"/>
            <a:ext cx="1931213"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gap 1</a:t>
            </a:r>
            <a:endParaRPr lang="en-US" sz="1300" dirty="0"/>
          </a:p>
        </p:txBody>
      </p:sp>
      <p:sp>
        <p:nvSpPr>
          <p:cNvPr id="15" name="R1_m0"/>
          <p:cNvSpPr txBox="1"/>
          <p:nvPr/>
        </p:nvSpPr>
        <p:spPr>
          <a:xfrm>
            <a:off x="4793285" y="1389888"/>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B can actually be beneficial</a:t>
            </a:r>
            <a:endParaRPr lang="en-US" sz="1150" dirty="0"/>
          </a:p>
        </p:txBody>
      </p:sp>
      <p:sp>
        <p:nvSpPr>
          <p:cNvPr id="16" name="box_91"/>
          <p:cNvSpPr txBox="1"/>
          <p:nvPr/>
        </p:nvSpPr>
        <p:spPr>
          <a:xfrm>
            <a:off x="2788920" y="1901952"/>
            <a:ext cx="1931213"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gap 2</a:t>
            </a:r>
            <a:endParaRPr lang="en-US" sz="1300" dirty="0"/>
          </a:p>
        </p:txBody>
      </p:sp>
      <p:sp>
        <p:nvSpPr>
          <p:cNvPr id="17" name="R1_m1"/>
          <p:cNvSpPr txBox="1"/>
          <p:nvPr/>
        </p:nvSpPr>
        <p:spPr>
          <a:xfrm>
            <a:off x="4793285" y="1920240"/>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what you're trying to achieve</a:t>
            </a:r>
            <a:endParaRPr lang="en-US" sz="1150" dirty="0"/>
          </a:p>
        </p:txBody>
      </p:sp>
      <p:sp>
        <p:nvSpPr>
          <p:cNvPr id="18" name="box_92"/>
          <p:cNvSpPr txBox="1"/>
          <p:nvPr/>
        </p:nvSpPr>
        <p:spPr>
          <a:xfrm>
            <a:off x="2788920" y="2432304"/>
            <a:ext cx="1931213"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gap 3</a:t>
            </a:r>
            <a:endParaRPr lang="en-US" sz="1300" dirty="0"/>
          </a:p>
        </p:txBody>
      </p:sp>
      <p:sp>
        <p:nvSpPr>
          <p:cNvPr id="19" name="R1_m2"/>
          <p:cNvSpPr txBox="1"/>
          <p:nvPr/>
        </p:nvSpPr>
        <p:spPr>
          <a:xfrm>
            <a:off x="4793285" y="2450592"/>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 listening to various types of music affected different types of thinking</a:t>
            </a:r>
            <a:endParaRPr lang="en-US" sz="1150" dirty="0"/>
          </a:p>
        </p:txBody>
      </p:sp>
      <p:sp>
        <p:nvSpPr>
          <p:cNvPr id="20" name="box_93"/>
          <p:cNvSpPr txBox="1"/>
          <p:nvPr/>
        </p:nvSpPr>
        <p:spPr>
          <a:xfrm>
            <a:off x="2788920" y="2962656"/>
            <a:ext cx="1931213"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gap 4</a:t>
            </a:r>
            <a:endParaRPr lang="en-US" sz="1300" dirty="0"/>
          </a:p>
        </p:txBody>
      </p:sp>
      <p:sp>
        <p:nvSpPr>
          <p:cNvPr id="21" name="R1_m3"/>
          <p:cNvSpPr txBox="1"/>
          <p:nvPr/>
        </p:nvSpPr>
        <p:spPr>
          <a:xfrm>
            <a:off x="4793285" y="2980944"/>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listening to classical music aimed at stimulating different moods</a:t>
            </a:r>
            <a:endParaRPr lang="en-US" sz="1150" dirty="0"/>
          </a:p>
        </p:txBody>
      </p:sp>
      <p:sp>
        <p:nvSpPr>
          <p:cNvPr id="22" name="box_94"/>
          <p:cNvSpPr txBox="1"/>
          <p:nvPr/>
        </p:nvSpPr>
        <p:spPr>
          <a:xfrm>
            <a:off x="2788920" y="3493008"/>
            <a:ext cx="1931213"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gap 5</a:t>
            </a:r>
            <a:endParaRPr lang="en-US" sz="1300" dirty="0"/>
          </a:p>
        </p:txBody>
      </p:sp>
      <p:sp>
        <p:nvSpPr>
          <p:cNvPr id="23" name="R1_m4"/>
          <p:cNvSpPr txBox="1"/>
          <p:nvPr/>
        </p:nvSpPr>
        <p:spPr>
          <a:xfrm>
            <a:off x="4793285" y="3511296"/>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 put on some uplifting music to help get your brain working</a:t>
            </a:r>
            <a:endParaRPr lang="en-US" sz="1150" dirty="0"/>
          </a:p>
        </p:txBody>
      </p:sp>
      <p:sp>
        <p:nvSpPr>
          <p:cNvPr id="24" name="box_95"/>
          <p:cNvSpPr txBox="1"/>
          <p:nvPr/>
        </p:nvSpPr>
        <p:spPr>
          <a:xfrm>
            <a:off x="2788920" y="4023360"/>
            <a:ext cx="1931213" cy="45720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gap 6</a:t>
            </a:r>
            <a:endParaRPr lang="en-US" sz="1300" dirty="0"/>
          </a:p>
        </p:txBody>
      </p:sp>
      <p:sp>
        <p:nvSpPr>
          <p:cNvPr id="25" name="R1_m5"/>
          <p:cNvSpPr txBox="1"/>
          <p:nvPr/>
        </p:nvSpPr>
        <p:spPr>
          <a:xfrm>
            <a:off x="4793285" y="4041648"/>
            <a:ext cx="403067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E opting for quiet solitude</a:t>
            </a:r>
            <a:endParaRPr lang="en-US" sz="1150" dirty="0"/>
          </a:p>
        </p:txBody>
      </p:sp>
      <p:sp>
        <p:nvSpPr>
          <p:cNvPr id="26" name="pageTag_9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p.62 · 4c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7"/>
          <p:cNvSpPr/>
          <p:nvPr/>
        </p:nvSpPr>
        <p:spPr>
          <a:xfrm>
            <a:off x="54864" y="54864"/>
            <a:ext cx="9034272" cy="5033772"/>
          </a:xfrm>
          <a:prstGeom prst="rect">
            <a:avLst/>
          </a:prstGeom>
          <a:ln w="114300">
            <a:solidFill>
              <a:srgbClr val="B9A3F5"/>
            </a:solidFill>
            <a:prstDash val="solid"/>
          </a:ln>
        </p:spPr>
      </p:sp>
      <p:pic>
        <p:nvPicPr>
          <p:cNvPr id="4" name="logo_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Inference · SB 4d</a:t>
            </a:r>
            <a:endParaRPr lang="en-US" sz="900" dirty="0"/>
          </a:p>
        </p:txBody>
      </p:sp>
      <p:sp>
        <p:nvSpPr>
          <p:cNvPr id="6" name="timer_1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102"/>
          <p:cNvSpPr txBox="1"/>
          <p:nvPr/>
        </p:nvSpPr>
        <p:spPr>
          <a:xfrm rot="90000">
            <a:off x="320040" y="676656"/>
            <a:ext cx="484632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So what would you put on?</a:t>
            </a:r>
            <a:endParaRPr lang="en-US" sz="1500" dirty="0"/>
          </a:p>
        </p:txBody>
      </p:sp>
      <p:sp>
        <p:nvSpPr>
          <p:cNvPr id="9" name="tape_10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04"/>
          <p:cNvSpPr/>
          <p:nvPr/>
        </p:nvSpPr>
        <p:spPr>
          <a:xfrm rot="-720000">
            <a:off x="4599432" y="1069848"/>
            <a:ext cx="685800" cy="219456"/>
          </a:xfrm>
          <a:prstGeom prst="rect">
            <a:avLst/>
          </a:prstGeom>
          <a:solidFill>
            <a:srgbClr val="FFD84D">
              <a:alpha val="75000"/>
            </a:srgbClr>
          </a:solidFill>
          <a:ln w="6350">
            <a:solidFill>
              <a:srgbClr val="FFD84D"/>
            </a:solidFill>
            <a:prstDash val="solid"/>
          </a:ln>
        </p:spPr>
      </p:sp>
      <p:sp>
        <p:nvSpPr>
          <p:cNvPr id="11" name="post_10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06"/>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0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Use the research. What's the best choice – and why?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Usa la ricerca. Qual è la scelta migliore – e perché?</a:t>
            </a:r>
            <a:endParaRPr lang="en-US" sz="1250" dirty="0"/>
          </a:p>
        </p:txBody>
      </p:sp>
      <p:sp>
        <p:nvSpPr>
          <p:cNvPr id="14" name="box_108"/>
          <p:cNvSpPr txBox="1"/>
          <p:nvPr/>
        </p:nvSpPr>
        <p:spPr>
          <a:xfrm>
            <a:off x="2788920" y="1371600"/>
            <a:ext cx="3741725"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You're writing a short story for English homework.</a:t>
            </a:r>
            <a:endParaRPr lang="en-US" sz="1300" dirty="0"/>
          </a:p>
        </p:txBody>
      </p:sp>
      <p:sp>
        <p:nvSpPr>
          <p:cNvPr id="15" name="R1_a0"/>
          <p:cNvSpPr txBox="1"/>
          <p:nvPr/>
        </p:nvSpPr>
        <p:spPr>
          <a:xfrm>
            <a:off x="6585509" y="1408176"/>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happy, uplifting music (creative = divergent)</a:t>
            </a:r>
            <a:endParaRPr lang="en-US" sz="1200" dirty="0"/>
          </a:p>
        </p:txBody>
      </p:sp>
      <p:sp>
        <p:nvSpPr>
          <p:cNvPr id="16" name="box_109"/>
          <p:cNvSpPr txBox="1"/>
          <p:nvPr/>
        </p:nvSpPr>
        <p:spPr>
          <a:xfrm>
            <a:off x="2788920" y="2226564"/>
            <a:ext cx="3741725"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You're solving equations for a maths test.</a:t>
            </a:r>
            <a:endParaRPr lang="en-US" sz="1300" dirty="0"/>
          </a:p>
        </p:txBody>
      </p:sp>
      <p:sp>
        <p:nvSpPr>
          <p:cNvPr id="17" name="R2_a1"/>
          <p:cNvSpPr txBox="1"/>
          <p:nvPr/>
        </p:nvSpPr>
        <p:spPr>
          <a:xfrm>
            <a:off x="6585509" y="2263140"/>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silence (convergent – music doesn't help)</a:t>
            </a:r>
            <a:endParaRPr lang="en-US" sz="1200" dirty="0"/>
          </a:p>
        </p:txBody>
      </p:sp>
      <p:sp>
        <p:nvSpPr>
          <p:cNvPr id="18" name="box_110"/>
          <p:cNvSpPr txBox="1"/>
          <p:nvPr/>
        </p:nvSpPr>
        <p:spPr>
          <a:xfrm>
            <a:off x="2788920" y="3081528"/>
            <a:ext cx="3741725"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You're designing a poster for a school event.</a:t>
            </a:r>
            <a:endParaRPr lang="en-US" sz="1300" dirty="0"/>
          </a:p>
        </p:txBody>
      </p:sp>
      <p:sp>
        <p:nvSpPr>
          <p:cNvPr id="19" name="R3_a2"/>
          <p:cNvSpPr txBox="1"/>
          <p:nvPr/>
        </p:nvSpPr>
        <p:spPr>
          <a:xfrm>
            <a:off x="6585509" y="3118104"/>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happy music (creative)</a:t>
            </a:r>
            <a:endParaRPr lang="en-US" sz="1200" dirty="0"/>
          </a:p>
        </p:txBody>
      </p:sp>
      <p:sp>
        <p:nvSpPr>
          <p:cNvPr id="20" name="box_111"/>
          <p:cNvSpPr txBox="1"/>
          <p:nvPr/>
        </p:nvSpPr>
        <p:spPr>
          <a:xfrm>
            <a:off x="2788920" y="3936492"/>
            <a:ext cx="3741725"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You're doing a logic puzzle / escape room.</a:t>
            </a:r>
            <a:endParaRPr lang="en-US" sz="1300" dirty="0"/>
          </a:p>
        </p:txBody>
      </p:sp>
      <p:sp>
        <p:nvSpPr>
          <p:cNvPr id="21" name="R4_a3"/>
          <p:cNvSpPr txBox="1"/>
          <p:nvPr/>
        </p:nvSpPr>
        <p:spPr>
          <a:xfrm>
            <a:off x="6585509" y="3973068"/>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silence (problem solving)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2"/>
          <p:cNvSpPr/>
          <p:nvPr/>
        </p:nvSpPr>
        <p:spPr>
          <a:xfrm>
            <a:off x="54864" y="54864"/>
            <a:ext cx="9034272" cy="5033772"/>
          </a:xfrm>
          <a:prstGeom prst="rect">
            <a:avLst/>
          </a:prstGeom>
          <a:ln w="114300">
            <a:solidFill>
              <a:srgbClr val="B9A3F5"/>
            </a:solidFill>
            <a:prstDash val="solid"/>
          </a:ln>
        </p:spPr>
      </p:sp>
      <p:pic>
        <p:nvPicPr>
          <p:cNvPr id="4" name="logo_11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Before you read · SB 4e</a:t>
            </a:r>
            <a:endParaRPr lang="en-US" sz="900" dirty="0"/>
          </a:p>
        </p:txBody>
      </p:sp>
      <p:sp>
        <p:nvSpPr>
          <p:cNvPr id="6" name="timer_11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1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117"/>
          <p:cNvSpPr txBox="1"/>
          <p:nvPr/>
        </p:nvSpPr>
        <p:spPr>
          <a:xfrm rot="90000">
            <a:off x="320040" y="676656"/>
            <a:ext cx="588873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Music in the operating theatre?</a:t>
            </a:r>
            <a:endParaRPr lang="en-US" sz="1500" dirty="0"/>
          </a:p>
        </p:txBody>
      </p:sp>
      <p:sp>
        <p:nvSpPr>
          <p:cNvPr id="9" name="tape_11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19"/>
          <p:cNvSpPr/>
          <p:nvPr/>
        </p:nvSpPr>
        <p:spPr>
          <a:xfrm rot="-720000">
            <a:off x="5641848" y="1069848"/>
            <a:ext cx="685800" cy="219456"/>
          </a:xfrm>
          <a:prstGeom prst="rect">
            <a:avLst/>
          </a:prstGeom>
          <a:solidFill>
            <a:srgbClr val="FFD84D">
              <a:alpha val="75000"/>
            </a:srgbClr>
          </a:solidFill>
          <a:ln w="6350">
            <a:solidFill>
              <a:srgbClr val="FFD84D"/>
            </a:solidFill>
            <a:prstDash val="solid"/>
          </a:ln>
        </p:spPr>
      </p:sp>
      <p:sp>
        <p:nvSpPr>
          <p:cNvPr id="11" name="post_120"/>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21"/>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2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the photo on p.62. Discuss with a partner.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la foto a p.62. Discuti con un compagno.</a:t>
            </a:r>
            <a:endParaRPr lang="en-US" sz="1250" dirty="0"/>
          </a:p>
        </p:txBody>
      </p:sp>
      <p:sp>
        <p:nvSpPr>
          <p:cNvPr id="14" name="iconBack_12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24" descr="pi:PiFirstAidKit">    </p:cNvPr>
          <p:cNvPicPr>
            <a:picLocks noChangeAspect="1"/>
          </p:cNvPicPr>
          <p:nvPr/>
        </p:nvPicPr>
        <p:blipFill>
          <a:blip r:embed="rId3"/>
          <a:stretch>
            <a:fillRect/>
          </a:stretch>
        </p:blipFill>
        <p:spPr>
          <a:xfrm>
            <a:off x="914400" y="3474720"/>
            <a:ext cx="685800" cy="685800"/>
          </a:xfrm>
          <a:prstGeom prst="rect">
            <a:avLst/>
          </a:prstGeom>
        </p:spPr>
      </p:pic>
      <p:sp>
        <p:nvSpPr>
          <p:cNvPr id="16" name="box_125"/>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1  Is an operation more of a creative task or a problem-solving task?</a:t>
            </a:r>
            <a:endParaRPr lang="en-US" sz="1400" dirty="0"/>
          </a:p>
        </p:txBody>
      </p:sp>
      <p:sp>
        <p:nvSpPr>
          <p:cNvPr id="17" name="box_126"/>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2  Advantages of music in the operating theatre?</a:t>
            </a:r>
            <a:endParaRPr lang="en-US" sz="1400" dirty="0"/>
          </a:p>
        </p:txBody>
      </p:sp>
      <p:sp>
        <p:nvSpPr>
          <p:cNvPr id="18" name="box_127"/>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3  Disadvantages?</a:t>
            </a:r>
            <a:endParaRPr lang="en-US" sz="1400" dirty="0"/>
          </a:p>
        </p:txBody>
      </p:sp>
      <p:sp>
        <p:nvSpPr>
          <p:cNvPr id="19" name="box_128"/>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00" dirty="0">
                <a:solidFill>
                  <a:srgbClr val="111111"/>
                </a:solidFill>
                <a:latin typeface="Calibri" pitchFamily="34" charset="0"/>
                <a:ea typeface="Calibri" pitchFamily="34" charset="-122"/>
                <a:cs typeface="Calibri" pitchFamily="34" charset="-120"/>
              </a:rPr>
              <a:t>4  PREDICT: how many of the 4 surgeons are in favour of music?</a:t>
            </a:r>
            <a:endParaRPr lang="en-US" sz="1400" dirty="0"/>
          </a:p>
        </p:txBody>
      </p:sp>
      <p:sp>
        <p:nvSpPr>
          <p:cNvPr id="20" name="pageTag_12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p.62 · 4e</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0"/>
          <p:cNvSpPr/>
          <p:nvPr/>
        </p:nvSpPr>
        <p:spPr>
          <a:xfrm>
            <a:off x="54864" y="54864"/>
            <a:ext cx="9034272" cy="5033772"/>
          </a:xfrm>
          <a:prstGeom prst="rect">
            <a:avLst/>
          </a:prstGeom>
          <a:ln w="114300">
            <a:solidFill>
              <a:srgbClr val="B9A3F5"/>
            </a:solidFill>
            <a:prstDash val="solid"/>
          </a:ln>
        </p:spPr>
      </p:sp>
      <p:pic>
        <p:nvPicPr>
          <p:cNvPr id="4" name="logo_13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Jigsaw · SB 4f</a:t>
            </a:r>
            <a:endParaRPr lang="en-US" sz="900" dirty="0"/>
          </a:p>
        </p:txBody>
      </p:sp>
      <p:sp>
        <p:nvSpPr>
          <p:cNvPr id="6" name="timer_13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3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135"/>
          <p:cNvSpPr txBox="1"/>
          <p:nvPr/>
        </p:nvSpPr>
        <p:spPr>
          <a:xfrm rot="90000">
            <a:off x="320040" y="676656"/>
            <a:ext cx="484632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Four surgeons, four views</a:t>
            </a:r>
            <a:endParaRPr lang="en-US" sz="1500" dirty="0"/>
          </a:p>
        </p:txBody>
      </p:sp>
      <p:sp>
        <p:nvSpPr>
          <p:cNvPr id="9" name="tape_13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37"/>
          <p:cNvSpPr/>
          <p:nvPr/>
        </p:nvSpPr>
        <p:spPr>
          <a:xfrm rot="-720000">
            <a:off x="4599432" y="1069848"/>
            <a:ext cx="685800" cy="219456"/>
          </a:xfrm>
          <a:prstGeom prst="rect">
            <a:avLst/>
          </a:prstGeom>
          <a:solidFill>
            <a:srgbClr val="FFD84D">
              <a:alpha val="75000"/>
            </a:srgbClr>
          </a:solidFill>
          <a:ln w="6350">
            <a:solidFill>
              <a:srgbClr val="FFD84D"/>
            </a:solidFill>
            <a:prstDash val="solid"/>
          </a:ln>
        </p:spPr>
      </p:sp>
      <p:sp>
        <p:nvSpPr>
          <p:cNvPr id="11" name="post_13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3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4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Info gap: you have different information.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Avete informazioni diverse.</a:t>
            </a:r>
            <a:endParaRPr lang="en-US" sz="1250" dirty="0"/>
          </a:p>
        </p:txBody>
      </p:sp>
      <p:sp>
        <p:nvSpPr>
          <p:cNvPr id="14" name="num_14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4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Groups of 4. Each person reads ONE surgeon on p.62–63. Cover the others!</a:t>
            </a:r>
            <a:endParaRPr lang="en-US" sz="1250" dirty="0"/>
          </a:p>
        </p:txBody>
      </p:sp>
      <p:sp>
        <p:nvSpPr>
          <p:cNvPr id="16" name="num_14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4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minutes: note 3 key points – no copying sentences.</a:t>
            </a:r>
            <a:endParaRPr lang="en-US" sz="1250" dirty="0"/>
          </a:p>
        </p:txBody>
      </p:sp>
      <p:sp>
        <p:nvSpPr>
          <p:cNvPr id="18" name="num_14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4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Tell your group your surgeon's view. Others ask questions.</a:t>
            </a:r>
            <a:endParaRPr lang="en-US" sz="1250" dirty="0"/>
          </a:p>
        </p:txBody>
      </p:sp>
      <p:sp>
        <p:nvSpPr>
          <p:cNvPr id="20" name="num_14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4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Agree: what would the four surgeons' consensus be – music or no music?</a:t>
            </a:r>
            <a:endParaRPr lang="en-US" sz="1250" dirty="0"/>
          </a:p>
        </p:txBody>
      </p:sp>
      <p:sp>
        <p:nvSpPr>
          <p:cNvPr id="22" name="bubble_14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My surgeon is totally against it. The main reason is…</a:t>
            </a:r>
            <a:endParaRPr lang="en-US" sz="1300" dirty="0"/>
          </a:p>
        </p:txBody>
      </p:sp>
      <p:sp>
        <p:nvSpPr>
          <p:cNvPr id="23" name="pageTag_15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p.62–63 · 4f</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1"/>
          <p:cNvSpPr/>
          <p:nvPr/>
        </p:nvSpPr>
        <p:spPr>
          <a:xfrm>
            <a:off x="54864" y="54864"/>
            <a:ext cx="9034272" cy="5033772"/>
          </a:xfrm>
          <a:prstGeom prst="rect">
            <a:avLst/>
          </a:prstGeom>
          <a:ln w="114300">
            <a:solidFill>
              <a:srgbClr val="B9A3F5"/>
            </a:solidFill>
            <a:prstDash val="solid"/>
          </a:ln>
        </p:spPr>
      </p:sp>
      <p:pic>
        <p:nvPicPr>
          <p:cNvPr id="4" name="logo_15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Jigsaw · SB 4f · Student A</a:t>
            </a:r>
            <a:endParaRPr lang="en-US" sz="900" dirty="0"/>
          </a:p>
        </p:txBody>
      </p:sp>
      <p:sp>
        <p:nvSpPr>
          <p:cNvPr id="6" name="footer_15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warn_155"/>
          <p:cNvSpPr txBox="1"/>
          <p:nvPr/>
        </p:nvSpPr>
        <p:spPr>
          <a:xfrm>
            <a:off x="365760" y="713232"/>
            <a:ext cx="8412480" cy="457200"/>
          </a:xfrm>
          <a:prstGeom prst="rect">
            <a:avLst/>
          </a:prstGeom>
          <a:noFill/>
          <a:ln/>
        </p:spPr>
        <p:txBody>
          <a:bodyPr wrap="square" rtlCol="0" anchor="ctr"/>
          <a:lstStyle/>
          <a:p>
            <a:pPr indent="0" marL="0">
              <a:buNone/>
            </a:pPr>
            <a:r>
              <a:rPr lang="en-US" sz="1500" dirty="0">
                <a:solidFill>
                  <a:srgbClr val="EF2F2F"/>
                </a:solidFill>
                <a:latin typeface="Arial Black" pitchFamily="34" charset="0"/>
                <a:ea typeface="Arial Black" pitchFamily="34" charset="-122"/>
                <a:cs typeface="Arial Black" pitchFamily="34" charset="-120"/>
              </a:rPr>
              <a:t>👀 STUDENT A ONLY · B + C + D: look away!  ·  Gli altri non guardano!</a:t>
            </a:r>
            <a:endParaRPr lang="en-US" sz="150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EF2F2F"/>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EF2F2F"/>
                </a:solidFill>
                <a:latin typeface="Arial Black" pitchFamily="34" charset="0"/>
                <a:ea typeface="Arial Black" pitchFamily="34" charset="-122"/>
                <a:cs typeface="Arial Black" pitchFamily="34" charset="-120"/>
              </a:rPr>
              <a:t>Student A · Ramon Tahmassebi · orthopaedic surgeon</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Read ONLY Ramon's paragraph (p.62).</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Find: why he plays music · what his choice depends on · the story about the long operation.</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Useful: puts me in a better mood · crowd-pleasers · singalong tracks</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6"/>
          <p:cNvSpPr/>
          <p:nvPr/>
        </p:nvSpPr>
        <p:spPr>
          <a:xfrm>
            <a:off x="54864" y="54864"/>
            <a:ext cx="9034272" cy="5033772"/>
          </a:xfrm>
          <a:prstGeom prst="rect">
            <a:avLst/>
          </a:prstGeom>
          <a:ln w="114300">
            <a:solidFill>
              <a:srgbClr val="B9A3F5"/>
            </a:solidFill>
            <a:prstDash val="solid"/>
          </a:ln>
        </p:spPr>
      </p:sp>
      <p:pic>
        <p:nvPicPr>
          <p:cNvPr id="4" name="logo_1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Jigsaw · SB 4f · Student B</a:t>
            </a:r>
            <a:endParaRPr lang="en-US" sz="900" dirty="0"/>
          </a:p>
        </p:txBody>
      </p:sp>
      <p:sp>
        <p:nvSpPr>
          <p:cNvPr id="6" name="footer_15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warn_160"/>
          <p:cNvSpPr txBox="1"/>
          <p:nvPr/>
        </p:nvSpPr>
        <p:spPr>
          <a:xfrm>
            <a:off x="365760" y="713232"/>
            <a:ext cx="8412480" cy="457200"/>
          </a:xfrm>
          <a:prstGeom prst="rect">
            <a:avLst/>
          </a:prstGeom>
          <a:noFill/>
          <a:ln/>
        </p:spPr>
        <p:txBody>
          <a:bodyPr wrap="square" rtlCol="0" anchor="ctr"/>
          <a:lstStyle/>
          <a:p>
            <a:pPr indent="0" marL="0">
              <a:buNone/>
            </a:pPr>
            <a:r>
              <a:rPr lang="en-US" sz="1500" dirty="0">
                <a:solidFill>
                  <a:srgbClr val="062F67"/>
                </a:solidFill>
                <a:latin typeface="Arial Black" pitchFamily="34" charset="0"/>
                <a:ea typeface="Arial Black" pitchFamily="34" charset="-122"/>
                <a:cs typeface="Arial Black" pitchFamily="34" charset="-120"/>
              </a:rPr>
              <a:t>👀 STUDENT B ONLY · A + C + D: look away!  ·  Gli altri non guardano!</a:t>
            </a:r>
            <a:endParaRPr lang="en-US" sz="150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062F67"/>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062F67"/>
                </a:solidFill>
                <a:latin typeface="Arial Black" pitchFamily="34" charset="0"/>
                <a:ea typeface="Arial Black" pitchFamily="34" charset="-122"/>
                <a:cs typeface="Arial Black" pitchFamily="34" charset="-120"/>
              </a:rPr>
              <a:t>Student B · Safina Ali · head and neck surgeon</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Read ONLY Safina's paragraph (p.62).</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Find: how music makes her feel · who chooses the music · why she prefers music to silence.</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Useful: soothing · eerie · contemporary music</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1"/>
          <p:cNvSpPr/>
          <p:nvPr/>
        </p:nvSpPr>
        <p:spPr>
          <a:xfrm>
            <a:off x="54864" y="54864"/>
            <a:ext cx="9034272" cy="5033772"/>
          </a:xfrm>
          <a:prstGeom prst="rect">
            <a:avLst/>
          </a:prstGeom>
          <a:ln w="114300">
            <a:solidFill>
              <a:srgbClr val="B9A3F5"/>
            </a:solidFill>
            <a:prstDash val="solid"/>
          </a:ln>
        </p:spPr>
      </p:sp>
      <p:pic>
        <p:nvPicPr>
          <p:cNvPr id="4" name="logo_16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Jigsaw · SB 4f · Student C</a:t>
            </a:r>
            <a:endParaRPr lang="en-US" sz="900" dirty="0"/>
          </a:p>
        </p:txBody>
      </p:sp>
      <p:sp>
        <p:nvSpPr>
          <p:cNvPr id="6" name="footer_16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warn_165"/>
          <p:cNvSpPr txBox="1"/>
          <p:nvPr/>
        </p:nvSpPr>
        <p:spPr>
          <a:xfrm>
            <a:off x="365760" y="713232"/>
            <a:ext cx="8412480" cy="457200"/>
          </a:xfrm>
          <a:prstGeom prst="rect">
            <a:avLst/>
          </a:prstGeom>
          <a:noFill/>
          <a:ln/>
        </p:spPr>
        <p:txBody>
          <a:bodyPr wrap="square" rtlCol="0" anchor="ctr"/>
          <a:lstStyle/>
          <a:p>
            <a:pPr indent="0" marL="0">
              <a:buNone/>
            </a:pPr>
            <a:r>
              <a:rPr lang="en-US" sz="1500" dirty="0">
                <a:solidFill>
                  <a:srgbClr val="1FA463"/>
                </a:solidFill>
                <a:latin typeface="Arial Black" pitchFamily="34" charset="0"/>
                <a:ea typeface="Arial Black" pitchFamily="34" charset="-122"/>
                <a:cs typeface="Arial Black" pitchFamily="34" charset="-120"/>
              </a:rPr>
              <a:t>👀 STUDENT C ONLY · A + B + D: look away!  ·  Gli altri non guardano!</a:t>
            </a:r>
            <a:endParaRPr lang="en-US" sz="150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1FA463"/>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1FA463"/>
                </a:solidFill>
                <a:latin typeface="Arial Black" pitchFamily="34" charset="0"/>
                <a:ea typeface="Arial Black" pitchFamily="34" charset="-122"/>
                <a:cs typeface="Arial Black" pitchFamily="34" charset="-120"/>
              </a:rPr>
              <a:t>Student C · Samer Nashef · cardiac surgeon</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Read ONLY Samer's paragraph (p.62–63).</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Find: his opinion · his first reason · his REAL reason.</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Useful: distracting · bland lift music · extraneous noise</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6"/>
          <p:cNvSpPr/>
          <p:nvPr/>
        </p:nvSpPr>
        <p:spPr>
          <a:xfrm>
            <a:off x="54864" y="54864"/>
            <a:ext cx="9034272" cy="5033772"/>
          </a:xfrm>
          <a:prstGeom prst="rect">
            <a:avLst/>
          </a:prstGeom>
          <a:ln w="114300">
            <a:solidFill>
              <a:srgbClr val="B9A3F5"/>
            </a:solidFill>
            <a:prstDash val="solid"/>
          </a:ln>
        </p:spPr>
      </p:sp>
      <p:pic>
        <p:nvPicPr>
          <p:cNvPr id="4" name="logo_16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Jigsaw · SB 4f · Student D</a:t>
            </a:r>
            <a:endParaRPr lang="en-US" sz="900" dirty="0"/>
          </a:p>
        </p:txBody>
      </p:sp>
      <p:sp>
        <p:nvSpPr>
          <p:cNvPr id="6" name="footer_16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warn_170"/>
          <p:cNvSpPr txBox="1"/>
          <p:nvPr/>
        </p:nvSpPr>
        <p:spPr>
          <a:xfrm>
            <a:off x="365760" y="713232"/>
            <a:ext cx="8412480" cy="457200"/>
          </a:xfrm>
          <a:prstGeom prst="rect">
            <a:avLst/>
          </a:prstGeom>
          <a:noFill/>
          <a:ln/>
        </p:spPr>
        <p:txBody>
          <a:bodyPr wrap="square" rtlCol="0" anchor="ctr"/>
          <a:lstStyle/>
          <a:p>
            <a:pPr indent="0" marL="0">
              <a:buNone/>
            </a:pPr>
            <a:r>
              <a:rPr lang="en-US" sz="1500" dirty="0">
                <a:solidFill>
                  <a:srgbClr val="F59E0B"/>
                </a:solidFill>
                <a:latin typeface="Arial Black" pitchFamily="34" charset="0"/>
                <a:ea typeface="Arial Black" pitchFamily="34" charset="-122"/>
                <a:cs typeface="Arial Black" pitchFamily="34" charset="-120"/>
              </a:rPr>
              <a:t>👀 STUDENT D ONLY · A + B + C: look away!  ·  Gli altri non guardano!</a:t>
            </a:r>
            <a:endParaRPr lang="en-US" sz="150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F59E0B"/>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F59E0B"/>
                </a:solidFill>
                <a:latin typeface="Arial Black" pitchFamily="34" charset="0"/>
                <a:ea typeface="Arial Black" pitchFamily="34" charset="-122"/>
                <a:cs typeface="Arial Black" pitchFamily="34" charset="-120"/>
              </a:rPr>
              <a:t>Student D · Gabriel Weston · skin cancer surgeon</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Read ONLY Gabriel's paragraph (p.63).</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Find: who the music is for · what music for which patients · when he/she turns it off.</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Useful: local anaesthetic · sensible · meticulousness</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1"/>
          <p:cNvSpPr/>
          <p:nvPr/>
        </p:nvSpPr>
        <p:spPr>
          <a:xfrm>
            <a:off x="54864" y="54864"/>
            <a:ext cx="9034272" cy="5033772"/>
          </a:xfrm>
          <a:prstGeom prst="rect">
            <a:avLst/>
          </a:prstGeom>
          <a:ln w="114300">
            <a:solidFill>
              <a:srgbClr val="B9A3F5"/>
            </a:solidFill>
            <a:prstDash val="solid"/>
          </a:ln>
        </p:spPr>
      </p:sp>
      <p:pic>
        <p:nvPicPr>
          <p:cNvPr id="4" name="logo_17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Who says that? · SB 4g</a:t>
            </a:r>
            <a:endParaRPr lang="en-US" sz="900" dirty="0"/>
          </a:p>
        </p:txBody>
      </p:sp>
      <p:sp>
        <p:nvSpPr>
          <p:cNvPr id="6" name="footer_17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title_175"/>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RT, SA, SN or GW?</a:t>
            </a:r>
            <a:endParaRPr lang="en-US" sz="1500" dirty="0"/>
          </a:p>
        </p:txBody>
      </p:sp>
      <p:sp>
        <p:nvSpPr>
          <p:cNvPr id="8" name="tape_17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177"/>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0" name="box_178"/>
          <p:cNvSpPr txBox="1"/>
          <p:nvPr/>
        </p:nvSpPr>
        <p:spPr>
          <a:xfrm>
            <a:off x="320040" y="1371600"/>
            <a:ext cx="3015325"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it's very difficult to choose music that everyone likes</a:t>
            </a:r>
            <a:endParaRPr lang="en-US" sz="1200" dirty="0"/>
          </a:p>
        </p:txBody>
      </p:sp>
      <p:sp>
        <p:nvSpPr>
          <p:cNvPr id="11" name="R1_a0"/>
          <p:cNvSpPr txBox="1"/>
          <p:nvPr/>
        </p:nvSpPr>
        <p:spPr>
          <a:xfrm>
            <a:off x="3390229" y="1408176"/>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SN</a:t>
            </a:r>
            <a:endParaRPr lang="en-US" sz="1300" dirty="0"/>
          </a:p>
        </p:txBody>
      </p:sp>
      <p:sp>
        <p:nvSpPr>
          <p:cNvPr id="12" name="box_179"/>
          <p:cNvSpPr txBox="1"/>
          <p:nvPr/>
        </p:nvSpPr>
        <p:spPr>
          <a:xfrm>
            <a:off x="4636008" y="1371600"/>
            <a:ext cx="3015325"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the choice of music depends on the type of operation</a:t>
            </a:r>
            <a:endParaRPr lang="en-US" sz="1200" dirty="0"/>
          </a:p>
        </p:txBody>
      </p:sp>
      <p:sp>
        <p:nvSpPr>
          <p:cNvPr id="13" name="R2_a1"/>
          <p:cNvSpPr txBox="1"/>
          <p:nvPr/>
        </p:nvSpPr>
        <p:spPr>
          <a:xfrm>
            <a:off x="7706197" y="1408176"/>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RT</a:t>
            </a:r>
            <a:endParaRPr lang="en-US" sz="1300" dirty="0"/>
          </a:p>
        </p:txBody>
      </p:sp>
      <p:sp>
        <p:nvSpPr>
          <p:cNvPr id="14" name="box_180"/>
          <p:cNvSpPr txBox="1"/>
          <p:nvPr/>
        </p:nvSpPr>
        <p:spPr>
          <a:xfrm>
            <a:off x="320040" y="2226564"/>
            <a:ext cx="3015325"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playing a variety of music tends to motivate the team</a:t>
            </a:r>
            <a:endParaRPr lang="en-US" sz="1200" dirty="0"/>
          </a:p>
        </p:txBody>
      </p:sp>
      <p:sp>
        <p:nvSpPr>
          <p:cNvPr id="15" name="R3_a2"/>
          <p:cNvSpPr txBox="1"/>
          <p:nvPr/>
        </p:nvSpPr>
        <p:spPr>
          <a:xfrm>
            <a:off x="3390229" y="2263140"/>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RT</a:t>
            </a:r>
            <a:endParaRPr lang="en-US" sz="1300" dirty="0"/>
          </a:p>
        </p:txBody>
      </p:sp>
      <p:sp>
        <p:nvSpPr>
          <p:cNvPr id="16" name="box_181"/>
          <p:cNvSpPr txBox="1"/>
          <p:nvPr/>
        </p:nvSpPr>
        <p:spPr>
          <a:xfrm>
            <a:off x="4636008" y="2226564"/>
            <a:ext cx="3015325"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working in silence makes them feel alone</a:t>
            </a:r>
            <a:endParaRPr lang="en-US" sz="1200" dirty="0"/>
          </a:p>
        </p:txBody>
      </p:sp>
      <p:sp>
        <p:nvSpPr>
          <p:cNvPr id="17" name="R4_a3"/>
          <p:cNvSpPr txBox="1"/>
          <p:nvPr/>
        </p:nvSpPr>
        <p:spPr>
          <a:xfrm>
            <a:off x="7706197" y="2263140"/>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SA</a:t>
            </a:r>
            <a:endParaRPr lang="en-US" sz="1300" dirty="0"/>
          </a:p>
        </p:txBody>
      </p:sp>
      <p:sp>
        <p:nvSpPr>
          <p:cNvPr id="18" name="box_182"/>
          <p:cNvSpPr txBox="1"/>
          <p:nvPr/>
        </p:nvSpPr>
        <p:spPr>
          <a:xfrm>
            <a:off x="320040" y="3081528"/>
            <a:ext cx="3015325"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he / she sometimes switches off the music in the middle of an operation</a:t>
            </a:r>
            <a:endParaRPr lang="en-US" sz="1200" dirty="0"/>
          </a:p>
        </p:txBody>
      </p:sp>
      <p:sp>
        <p:nvSpPr>
          <p:cNvPr id="19" name="R5_a4"/>
          <p:cNvSpPr txBox="1"/>
          <p:nvPr/>
        </p:nvSpPr>
        <p:spPr>
          <a:xfrm>
            <a:off x="3390229" y="3118104"/>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GW</a:t>
            </a:r>
            <a:endParaRPr lang="en-US" sz="1300" dirty="0"/>
          </a:p>
        </p:txBody>
      </p:sp>
      <p:sp>
        <p:nvSpPr>
          <p:cNvPr id="20" name="box_183"/>
          <p:cNvSpPr txBox="1"/>
          <p:nvPr/>
        </p:nvSpPr>
        <p:spPr>
          <a:xfrm>
            <a:off x="4636008" y="3081528"/>
            <a:ext cx="3015325"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his / her colleagues often choose the music</a:t>
            </a:r>
            <a:endParaRPr lang="en-US" sz="1200" dirty="0"/>
          </a:p>
        </p:txBody>
      </p:sp>
      <p:sp>
        <p:nvSpPr>
          <p:cNvPr id="21" name="R6_a5"/>
          <p:cNvSpPr txBox="1"/>
          <p:nvPr/>
        </p:nvSpPr>
        <p:spPr>
          <a:xfrm>
            <a:off x="7706197" y="3118104"/>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SA</a:t>
            </a:r>
            <a:endParaRPr lang="en-US" sz="1300" dirty="0"/>
          </a:p>
        </p:txBody>
      </p:sp>
      <p:sp>
        <p:nvSpPr>
          <p:cNvPr id="22" name="box_184"/>
          <p:cNvSpPr txBox="1"/>
          <p:nvPr/>
        </p:nvSpPr>
        <p:spPr>
          <a:xfrm>
            <a:off x="320040" y="3936492"/>
            <a:ext cx="3015325"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music gets in the way of doing the job well</a:t>
            </a:r>
            <a:endParaRPr lang="en-US" sz="1200" dirty="0"/>
          </a:p>
        </p:txBody>
      </p:sp>
      <p:sp>
        <p:nvSpPr>
          <p:cNvPr id="23" name="R7_a6"/>
          <p:cNvSpPr txBox="1"/>
          <p:nvPr/>
        </p:nvSpPr>
        <p:spPr>
          <a:xfrm>
            <a:off x="3390229" y="3973068"/>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SN</a:t>
            </a:r>
            <a:endParaRPr lang="en-US" sz="1300" dirty="0"/>
          </a:p>
        </p:txBody>
      </p:sp>
      <p:sp>
        <p:nvSpPr>
          <p:cNvPr id="24" name="box_185"/>
          <p:cNvSpPr txBox="1"/>
          <p:nvPr/>
        </p:nvSpPr>
        <p:spPr>
          <a:xfrm>
            <a:off x="4636008" y="3936492"/>
            <a:ext cx="3015325"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8  he / she plays different music to suit different patients</a:t>
            </a:r>
            <a:endParaRPr lang="en-US" sz="1200" dirty="0"/>
          </a:p>
        </p:txBody>
      </p:sp>
      <p:sp>
        <p:nvSpPr>
          <p:cNvPr id="25" name="R8_a7"/>
          <p:cNvSpPr txBox="1"/>
          <p:nvPr/>
        </p:nvSpPr>
        <p:spPr>
          <a:xfrm>
            <a:off x="7706197" y="3973068"/>
            <a:ext cx="1117763"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GW</a:t>
            </a:r>
            <a:endParaRPr lang="en-US" sz="1300" dirty="0"/>
          </a:p>
        </p:txBody>
      </p:sp>
      <p:sp>
        <p:nvSpPr>
          <p:cNvPr id="26" name="pageTag_18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4g</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7"/>
          <p:cNvSpPr/>
          <p:nvPr/>
        </p:nvSpPr>
        <p:spPr>
          <a:xfrm>
            <a:off x="54864" y="54864"/>
            <a:ext cx="9034272" cy="5033772"/>
          </a:xfrm>
          <a:prstGeom prst="rect">
            <a:avLst/>
          </a:prstGeom>
          <a:ln w="114300">
            <a:solidFill>
              <a:srgbClr val="B9A3F5"/>
            </a:solidFill>
            <a:prstDash val="solid"/>
          </a:ln>
        </p:spPr>
      </p:sp>
      <p:pic>
        <p:nvPicPr>
          <p:cNvPr id="4" name="logo_1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Precise words from the text</a:t>
            </a:r>
            <a:endParaRPr lang="en-US" sz="900" dirty="0"/>
          </a:p>
        </p:txBody>
      </p:sp>
      <p:sp>
        <p:nvSpPr>
          <p:cNvPr id="6" name="timer_1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9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192"/>
          <p:cNvSpPr txBox="1"/>
          <p:nvPr/>
        </p:nvSpPr>
        <p:spPr>
          <a:xfrm rot="90000">
            <a:off x="320040" y="676656"/>
            <a:ext cx="467258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Not just 'nice' or 'bad'</a:t>
            </a:r>
            <a:endParaRPr lang="en-US" sz="1500" dirty="0"/>
          </a:p>
        </p:txBody>
      </p:sp>
      <p:sp>
        <p:nvSpPr>
          <p:cNvPr id="9" name="tape_19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94"/>
          <p:cNvSpPr/>
          <p:nvPr/>
        </p:nvSpPr>
        <p:spPr>
          <a:xfrm rot="-720000">
            <a:off x="4425696" y="1069848"/>
            <a:ext cx="685800" cy="219456"/>
          </a:xfrm>
          <a:prstGeom prst="rect">
            <a:avLst/>
          </a:prstGeom>
          <a:solidFill>
            <a:srgbClr val="FFD84D">
              <a:alpha val="75000"/>
            </a:srgbClr>
          </a:solidFill>
          <a:ln w="6350">
            <a:solidFill>
              <a:srgbClr val="FFD84D"/>
            </a:solidFill>
            <a:prstDash val="solid"/>
          </a:ln>
        </p:spPr>
      </p:sp>
      <p:sp>
        <p:nvSpPr>
          <p:cNvPr id="11" name="post_19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96"/>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9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Find the word in the texts. What does it mean exactly?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Trova la parola nei testi. Cosa significa esattamente?</a:t>
            </a:r>
            <a:endParaRPr lang="en-US" sz="1250" dirty="0"/>
          </a:p>
        </p:txBody>
      </p:sp>
      <p:sp>
        <p:nvSpPr>
          <p:cNvPr id="14" name="box_198"/>
          <p:cNvSpPr txBox="1"/>
          <p:nvPr/>
        </p:nvSpPr>
        <p:spPr>
          <a:xfrm>
            <a:off x="2788920" y="1371600"/>
            <a:ext cx="2534717"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soothing</a:t>
            </a:r>
            <a:endParaRPr lang="en-US" sz="1250" dirty="0"/>
          </a:p>
        </p:txBody>
      </p:sp>
      <p:sp>
        <p:nvSpPr>
          <p:cNvPr id="15" name="R1_m0"/>
          <p:cNvSpPr txBox="1"/>
          <p:nvPr/>
        </p:nvSpPr>
        <p:spPr>
          <a:xfrm>
            <a:off x="5396789" y="138988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makes you calm and relaxed</a:t>
            </a:r>
            <a:endParaRPr lang="en-US" sz="1200" dirty="0"/>
          </a:p>
        </p:txBody>
      </p:sp>
      <p:sp>
        <p:nvSpPr>
          <p:cNvPr id="16" name="box_199"/>
          <p:cNvSpPr txBox="1"/>
          <p:nvPr/>
        </p:nvSpPr>
        <p:spPr>
          <a:xfrm>
            <a:off x="2788920" y="1794510"/>
            <a:ext cx="2534717"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uplifting</a:t>
            </a:r>
            <a:endParaRPr lang="en-US" sz="1250" dirty="0"/>
          </a:p>
        </p:txBody>
      </p:sp>
      <p:sp>
        <p:nvSpPr>
          <p:cNvPr id="17" name="R1_m1"/>
          <p:cNvSpPr txBox="1"/>
          <p:nvPr/>
        </p:nvSpPr>
        <p:spPr>
          <a:xfrm>
            <a:off x="5396789" y="181279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makes you feel happier, more positive</a:t>
            </a:r>
            <a:endParaRPr lang="en-US" sz="1200" dirty="0"/>
          </a:p>
        </p:txBody>
      </p:sp>
      <p:sp>
        <p:nvSpPr>
          <p:cNvPr id="18" name="box_200"/>
          <p:cNvSpPr txBox="1"/>
          <p:nvPr/>
        </p:nvSpPr>
        <p:spPr>
          <a:xfrm>
            <a:off x="2788920" y="2217420"/>
            <a:ext cx="2534717"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eerie</a:t>
            </a:r>
            <a:endParaRPr lang="en-US" sz="1250" dirty="0"/>
          </a:p>
        </p:txBody>
      </p:sp>
      <p:sp>
        <p:nvSpPr>
          <p:cNvPr id="19" name="R1_m2"/>
          <p:cNvSpPr txBox="1"/>
          <p:nvPr/>
        </p:nvSpPr>
        <p:spPr>
          <a:xfrm>
            <a:off x="5396789" y="223570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strange and slightly frightening</a:t>
            </a:r>
            <a:endParaRPr lang="en-US" sz="1200" dirty="0"/>
          </a:p>
        </p:txBody>
      </p:sp>
      <p:sp>
        <p:nvSpPr>
          <p:cNvPr id="20" name="box_201"/>
          <p:cNvSpPr txBox="1"/>
          <p:nvPr/>
        </p:nvSpPr>
        <p:spPr>
          <a:xfrm>
            <a:off x="2788920" y="2640330"/>
            <a:ext cx="2534717"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bland</a:t>
            </a:r>
            <a:endParaRPr lang="en-US" sz="1250" dirty="0"/>
          </a:p>
        </p:txBody>
      </p:sp>
      <p:sp>
        <p:nvSpPr>
          <p:cNvPr id="21" name="R1_m3"/>
          <p:cNvSpPr txBox="1"/>
          <p:nvPr/>
        </p:nvSpPr>
        <p:spPr>
          <a:xfrm>
            <a:off x="5396789" y="265861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boring, with no strong character</a:t>
            </a:r>
            <a:endParaRPr lang="en-US" sz="1200" dirty="0"/>
          </a:p>
        </p:txBody>
      </p:sp>
      <p:sp>
        <p:nvSpPr>
          <p:cNvPr id="22" name="box_202"/>
          <p:cNvSpPr txBox="1"/>
          <p:nvPr/>
        </p:nvSpPr>
        <p:spPr>
          <a:xfrm>
            <a:off x="2788920" y="3063240"/>
            <a:ext cx="2534717"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distracting</a:t>
            </a:r>
            <a:endParaRPr lang="en-US" sz="1250" dirty="0"/>
          </a:p>
        </p:txBody>
      </p:sp>
      <p:sp>
        <p:nvSpPr>
          <p:cNvPr id="23" name="R1_m4"/>
          <p:cNvSpPr txBox="1"/>
          <p:nvPr/>
        </p:nvSpPr>
        <p:spPr>
          <a:xfrm>
            <a:off x="5396789" y="308152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takes your attention away</a:t>
            </a:r>
            <a:endParaRPr lang="en-US" sz="1200" dirty="0"/>
          </a:p>
        </p:txBody>
      </p:sp>
      <p:sp>
        <p:nvSpPr>
          <p:cNvPr id="24" name="box_203"/>
          <p:cNvSpPr txBox="1"/>
          <p:nvPr/>
        </p:nvSpPr>
        <p:spPr>
          <a:xfrm>
            <a:off x="2788920" y="3486150"/>
            <a:ext cx="2534717"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a crowd-pleaser</a:t>
            </a:r>
            <a:endParaRPr lang="en-US" sz="1250" dirty="0"/>
          </a:p>
        </p:txBody>
      </p:sp>
      <p:sp>
        <p:nvSpPr>
          <p:cNvPr id="25" name="R1_m5"/>
          <p:cNvSpPr txBox="1"/>
          <p:nvPr/>
        </p:nvSpPr>
        <p:spPr>
          <a:xfrm>
            <a:off x="5396789" y="350443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something almost everyone likes</a:t>
            </a:r>
            <a:endParaRPr lang="en-US" sz="1200" dirty="0"/>
          </a:p>
        </p:txBody>
      </p:sp>
      <p:sp>
        <p:nvSpPr>
          <p:cNvPr id="26" name="box_204"/>
          <p:cNvSpPr txBox="1"/>
          <p:nvPr/>
        </p:nvSpPr>
        <p:spPr>
          <a:xfrm>
            <a:off x="2788920" y="3909060"/>
            <a:ext cx="2534717"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beneficial</a:t>
            </a:r>
            <a:endParaRPr lang="en-US" sz="1250" dirty="0"/>
          </a:p>
        </p:txBody>
      </p:sp>
      <p:sp>
        <p:nvSpPr>
          <p:cNvPr id="27" name="R1_m6"/>
          <p:cNvSpPr txBox="1"/>
          <p:nvPr/>
        </p:nvSpPr>
        <p:spPr>
          <a:xfrm>
            <a:off x="5396789" y="392734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good for you, has a positive effect</a:t>
            </a:r>
            <a:endParaRPr lang="en-US" sz="1200" dirty="0"/>
          </a:p>
        </p:txBody>
      </p:sp>
      <p:sp>
        <p:nvSpPr>
          <p:cNvPr id="28" name="box_205"/>
          <p:cNvSpPr txBox="1"/>
          <p:nvPr/>
        </p:nvSpPr>
        <p:spPr>
          <a:xfrm>
            <a:off x="2788920" y="4331970"/>
            <a:ext cx="2534717"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8  extraneous</a:t>
            </a:r>
            <a:endParaRPr lang="en-US" sz="1250" dirty="0"/>
          </a:p>
        </p:txBody>
      </p:sp>
      <p:sp>
        <p:nvSpPr>
          <p:cNvPr id="29" name="R1_m7"/>
          <p:cNvSpPr txBox="1"/>
          <p:nvPr/>
        </p:nvSpPr>
        <p:spPr>
          <a:xfrm>
            <a:off x="5396789" y="4350258"/>
            <a:ext cx="342717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not relevant; coming from outside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6"/>
          <p:cNvSpPr/>
          <p:nvPr/>
        </p:nvSpPr>
        <p:spPr>
          <a:xfrm>
            <a:off x="54864" y="54864"/>
            <a:ext cx="9034272" cy="5033772"/>
          </a:xfrm>
          <a:prstGeom prst="rect">
            <a:avLst/>
          </a:prstGeom>
          <a:ln w="114300">
            <a:solidFill>
              <a:srgbClr val="B9A3F5"/>
            </a:solidFill>
            <a:prstDash val="solid"/>
          </a:ln>
        </p:spPr>
      </p:sp>
      <p:pic>
        <p:nvPicPr>
          <p:cNvPr id="4" name="logo_20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SB 5 · Defend or challenge · round 1 of 3</a:t>
            </a:r>
            <a:endParaRPr lang="en-US" sz="900" dirty="0"/>
          </a:p>
        </p:txBody>
      </p:sp>
      <p:sp>
        <p:nvSpPr>
          <p:cNvPr id="6" name="timer_20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9 min</a:t>
            </a:r>
            <a:endParaRPr lang="en-US" sz="1200" dirty="0"/>
          </a:p>
        </p:txBody>
      </p:sp>
      <p:sp>
        <p:nvSpPr>
          <p:cNvPr id="7" name="footer_21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211"/>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Round 1 · Say what you think</a:t>
            </a:r>
            <a:endParaRPr lang="en-US" sz="1500" dirty="0"/>
          </a:p>
        </p:txBody>
      </p:sp>
      <p:sp>
        <p:nvSpPr>
          <p:cNvPr id="9" name="tape_21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13"/>
          <p:cNvSpPr/>
          <p:nvPr/>
        </p:nvSpPr>
        <p:spPr>
          <a:xfrm rot="-720000">
            <a:off x="5120640" y="1069848"/>
            <a:ext cx="685800" cy="219456"/>
          </a:xfrm>
          <a:prstGeom prst="rect">
            <a:avLst/>
          </a:prstGeom>
          <a:solidFill>
            <a:srgbClr val="FFD84D">
              <a:alpha val="75000"/>
            </a:srgbClr>
          </a:solidFill>
          <a:ln w="6350">
            <a:solidFill>
              <a:srgbClr val="FFD84D"/>
            </a:solidFill>
            <a:prstDash val="solid"/>
          </a:ln>
        </p:spPr>
      </p:sp>
      <p:sp>
        <p:nvSpPr>
          <p:cNvPr id="11" name="box_214"/>
          <p:cNvSpPr txBox="1"/>
          <p:nvPr/>
        </p:nvSpPr>
        <p:spPr>
          <a:xfrm>
            <a:off x="320040" y="1371600"/>
            <a:ext cx="5806440" cy="6400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1  The music that means the most to you is the music you listened to as a teenager.</a:t>
            </a:r>
            <a:endParaRPr lang="en-US" sz="1350" dirty="0"/>
          </a:p>
        </p:txBody>
      </p:sp>
      <p:sp>
        <p:nvSpPr>
          <p:cNvPr id="12" name="box_215"/>
          <p:cNvSpPr txBox="1"/>
          <p:nvPr/>
        </p:nvSpPr>
        <p:spPr>
          <a:xfrm>
            <a:off x="320040" y="2103120"/>
            <a:ext cx="5806440" cy="6400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2  You always enjoy music more when you listen to it live.</a:t>
            </a:r>
            <a:endParaRPr lang="en-US" sz="1350" dirty="0"/>
          </a:p>
        </p:txBody>
      </p:sp>
      <p:sp>
        <p:nvSpPr>
          <p:cNvPr id="13" name="box_216"/>
          <p:cNvSpPr txBox="1"/>
          <p:nvPr/>
        </p:nvSpPr>
        <p:spPr>
          <a:xfrm>
            <a:off x="320040" y="2834640"/>
            <a:ext cx="5806440" cy="6400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3  Anyone can learn to sing.</a:t>
            </a:r>
            <a:endParaRPr lang="en-US" sz="1350" dirty="0"/>
          </a:p>
        </p:txBody>
      </p:sp>
      <p:sp>
        <p:nvSpPr>
          <p:cNvPr id="14" name="phrases_217"/>
          <p:cNvSpPr txBox="1"/>
          <p:nvPr/>
        </p:nvSpPr>
        <p:spPr>
          <a:xfrm rot="90000">
            <a:off x="6309360" y="1371600"/>
            <a:ext cx="2514600" cy="329184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 these!  ·  Usale!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 see what you mean, but…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That's partly true, although…</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not so sure about that.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Is that always the case?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Can you give me an example?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Let's say, for example, …</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OK, you've changed my mind.</a:t>
            </a:r>
            <a:endParaRPr lang="en-US" sz="1200" dirty="0"/>
          </a:p>
        </p:txBody>
      </p:sp>
      <p:sp>
        <p:nvSpPr>
          <p:cNvPr id="15" name="pageTag_21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5</a:t>
            </a:r>
            <a:endParaRPr lang="en-US" sz="105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9"/>
          <p:cNvSpPr/>
          <p:nvPr/>
        </p:nvSpPr>
        <p:spPr>
          <a:xfrm>
            <a:off x="54864" y="54864"/>
            <a:ext cx="9034272" cy="5033772"/>
          </a:xfrm>
          <a:prstGeom prst="rect">
            <a:avLst/>
          </a:prstGeom>
          <a:ln w="114300">
            <a:solidFill>
              <a:srgbClr val="B9A3F5"/>
            </a:solidFill>
            <a:prstDash val="solid"/>
          </a:ln>
        </p:spPr>
      </p:sp>
      <p:pic>
        <p:nvPicPr>
          <p:cNvPr id="4" name="logo_22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SB 5 · Defend or challenge · round 2 of 3</a:t>
            </a:r>
            <a:endParaRPr lang="en-US" sz="900" dirty="0"/>
          </a:p>
        </p:txBody>
      </p:sp>
      <p:sp>
        <p:nvSpPr>
          <p:cNvPr id="6" name="footer_2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title_223"/>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Round 2 · Argue the OPPOSITE</a:t>
            </a:r>
            <a:endParaRPr lang="en-US" sz="1500" dirty="0"/>
          </a:p>
        </p:txBody>
      </p:sp>
      <p:sp>
        <p:nvSpPr>
          <p:cNvPr id="8" name="tape_2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225"/>
          <p:cNvSpPr/>
          <p:nvPr/>
        </p:nvSpPr>
        <p:spPr>
          <a:xfrm rot="-720000">
            <a:off x="5120640" y="1069848"/>
            <a:ext cx="685800" cy="219456"/>
          </a:xfrm>
          <a:prstGeom prst="rect">
            <a:avLst/>
          </a:prstGeom>
          <a:solidFill>
            <a:srgbClr val="FFD84D">
              <a:alpha val="75000"/>
            </a:srgbClr>
          </a:solidFill>
          <a:ln w="6350">
            <a:solidFill>
              <a:srgbClr val="FFD84D"/>
            </a:solidFill>
            <a:prstDash val="solid"/>
          </a:ln>
        </p:spPr>
      </p:sp>
      <p:sp>
        <p:nvSpPr>
          <p:cNvPr id="10" name="box_226"/>
          <p:cNvSpPr txBox="1"/>
          <p:nvPr/>
        </p:nvSpPr>
        <p:spPr>
          <a:xfrm>
            <a:off x="320040" y="1371600"/>
            <a:ext cx="5806440" cy="6400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1  People who go to music festivals don't really go to listen to the music.</a:t>
            </a:r>
            <a:endParaRPr lang="en-US" sz="1350" dirty="0"/>
          </a:p>
        </p:txBody>
      </p:sp>
      <p:sp>
        <p:nvSpPr>
          <p:cNvPr id="11" name="box_227"/>
          <p:cNvSpPr txBox="1"/>
          <p:nvPr/>
        </p:nvSpPr>
        <p:spPr>
          <a:xfrm>
            <a:off x="320040" y="2103120"/>
            <a:ext cx="5806440" cy="6400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2  All schoolchildren should be taught to play a musical instrument.</a:t>
            </a:r>
            <a:endParaRPr lang="en-US" sz="1350" dirty="0"/>
          </a:p>
        </p:txBody>
      </p:sp>
      <p:sp>
        <p:nvSpPr>
          <p:cNvPr id="12" name="box_228"/>
          <p:cNvSpPr txBox="1"/>
          <p:nvPr/>
        </p:nvSpPr>
        <p:spPr>
          <a:xfrm>
            <a:off x="320040" y="2834640"/>
            <a:ext cx="5806440" cy="6400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3  When music is sung, the lyrics are as important as the music.</a:t>
            </a:r>
            <a:endParaRPr lang="en-US" sz="1350" dirty="0"/>
          </a:p>
        </p:txBody>
      </p:sp>
      <p:sp>
        <p:nvSpPr>
          <p:cNvPr id="13" name="kh_229"/>
          <p:cNvSpPr txBox="1"/>
          <p:nvPr/>
        </p:nvSpPr>
        <p:spPr>
          <a:xfrm>
            <a:off x="6309360" y="1371600"/>
            <a:ext cx="2514600" cy="365760"/>
          </a:xfrm>
          <a:prstGeom prst="rect">
            <a:avLst/>
          </a:prstGeom>
          <a:solidFill>
            <a:srgbClr val="6D3FC0"/>
          </a:solidFill>
          <a:ln w="19050">
            <a:solidFill>
              <a:srgbClr val="111111"/>
            </a:solidFill>
          </a:ln>
        </p:spPr>
        <p:txBody>
          <a:bodyPr wrap="square" lIns="25400" tIns="25400" rIns="25400" bIns="2540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Keywords only  ·  Solo parole chiave</a:t>
            </a:r>
            <a:endParaRPr lang="en-US" sz="900" dirty="0"/>
          </a:p>
        </p:txBody>
      </p:sp>
      <p:sp>
        <p:nvSpPr>
          <p:cNvPr id="14" name="stamp_230"/>
          <p:cNvSpPr txBox="1"/>
          <p:nvPr/>
        </p:nvSpPr>
        <p:spPr>
          <a:xfrm>
            <a:off x="6309360" y="18288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see what…</a:t>
            </a:r>
            <a:endParaRPr lang="en-US" sz="1150" dirty="0"/>
          </a:p>
        </p:txBody>
      </p:sp>
      <p:sp>
        <p:nvSpPr>
          <p:cNvPr id="15" name="stamp_231"/>
          <p:cNvSpPr txBox="1"/>
          <p:nvPr/>
        </p:nvSpPr>
        <p:spPr>
          <a:xfrm>
            <a:off x="7589520" y="18288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partly true</a:t>
            </a:r>
            <a:endParaRPr lang="en-US" sz="1150" dirty="0"/>
          </a:p>
        </p:txBody>
      </p:sp>
      <p:sp>
        <p:nvSpPr>
          <p:cNvPr id="16" name="stamp_232"/>
          <p:cNvSpPr txBox="1"/>
          <p:nvPr/>
        </p:nvSpPr>
        <p:spPr>
          <a:xfrm>
            <a:off x="6309360" y="22860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not so sure</a:t>
            </a:r>
            <a:endParaRPr lang="en-US" sz="1150" dirty="0"/>
          </a:p>
        </p:txBody>
      </p:sp>
      <p:sp>
        <p:nvSpPr>
          <p:cNvPr id="17" name="stamp_233"/>
          <p:cNvSpPr txBox="1"/>
          <p:nvPr/>
        </p:nvSpPr>
        <p:spPr>
          <a:xfrm>
            <a:off x="7589520" y="22860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always the case?</a:t>
            </a:r>
            <a:endParaRPr lang="en-US" sz="1150" dirty="0"/>
          </a:p>
        </p:txBody>
      </p:sp>
      <p:sp>
        <p:nvSpPr>
          <p:cNvPr id="18" name="stamp_234"/>
          <p:cNvSpPr txBox="1"/>
          <p:nvPr/>
        </p:nvSpPr>
        <p:spPr>
          <a:xfrm>
            <a:off x="6309360" y="27432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an example?</a:t>
            </a:r>
            <a:endParaRPr lang="en-US" sz="1150" dirty="0"/>
          </a:p>
        </p:txBody>
      </p:sp>
      <p:sp>
        <p:nvSpPr>
          <p:cNvPr id="19" name="stamp_235"/>
          <p:cNvSpPr txBox="1"/>
          <p:nvPr/>
        </p:nvSpPr>
        <p:spPr>
          <a:xfrm>
            <a:off x="7589520" y="2743200"/>
            <a:ext cx="1216152" cy="365760"/>
          </a:xfrm>
          <a:prstGeom prst="roundRect">
            <a:avLst>
              <a:gd name="adj" fmla="val 15000"/>
            </a:avLst>
          </a:prstGeom>
          <a:solidFill>
            <a:srgbClr val="FFFFFF"/>
          </a:solidFill>
          <a:ln w="38100">
            <a:solidFill>
              <a:srgbClr val="6D3FC0"/>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changed my mind</a:t>
            </a:r>
            <a:endParaRPr lang="en-US" sz="1100" dirty="0"/>
          </a:p>
        </p:txBody>
      </p:sp>
      <p:sp>
        <p:nvSpPr>
          <p:cNvPr id="20" name="pageTag_2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5</a:t>
            </a:r>
            <a:endParaRPr lang="en-US" sz="1050" dirty="0"/>
          </a:p>
        </p:txBody>
      </p:sp>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7"/>
          <p:cNvSpPr/>
          <p:nvPr/>
        </p:nvSpPr>
        <p:spPr>
          <a:xfrm>
            <a:off x="54864" y="54864"/>
            <a:ext cx="9034272" cy="5033772"/>
          </a:xfrm>
          <a:prstGeom prst="rect">
            <a:avLst/>
          </a:prstGeom>
          <a:ln w="114300">
            <a:solidFill>
              <a:srgbClr val="B9A3F5"/>
            </a:solidFill>
            <a:prstDash val="solid"/>
          </a:ln>
        </p:spPr>
      </p:sp>
      <p:pic>
        <p:nvPicPr>
          <p:cNvPr id="4" name="logo_2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SB 5 · Defend or challenge · round 3 of 3</a:t>
            </a:r>
            <a:endParaRPr lang="en-US" sz="900" dirty="0"/>
          </a:p>
        </p:txBody>
      </p:sp>
      <p:sp>
        <p:nvSpPr>
          <p:cNvPr id="6" name="footer_2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7" name="title_241"/>
          <p:cNvSpPr txBox="1"/>
          <p:nvPr/>
        </p:nvSpPr>
        <p:spPr>
          <a:xfrm rot="90000">
            <a:off x="320040" y="676656"/>
            <a:ext cx="519379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Round 3 · Change their mind</a:t>
            </a:r>
            <a:endParaRPr lang="en-US" sz="1500" dirty="0"/>
          </a:p>
        </p:txBody>
      </p:sp>
      <p:sp>
        <p:nvSpPr>
          <p:cNvPr id="8" name="tape_24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243"/>
          <p:cNvSpPr/>
          <p:nvPr/>
        </p:nvSpPr>
        <p:spPr>
          <a:xfrm rot="-720000">
            <a:off x="4946904" y="1069848"/>
            <a:ext cx="685800" cy="219456"/>
          </a:xfrm>
          <a:prstGeom prst="rect">
            <a:avLst/>
          </a:prstGeom>
          <a:solidFill>
            <a:srgbClr val="FFD84D">
              <a:alpha val="75000"/>
            </a:srgbClr>
          </a:solidFill>
          <a:ln w="6350">
            <a:solidFill>
              <a:srgbClr val="FFD84D"/>
            </a:solidFill>
            <a:prstDash val="solid"/>
          </a:ln>
        </p:spPr>
      </p:sp>
      <p:sp>
        <p:nvSpPr>
          <p:cNvPr id="10" name="box_244"/>
          <p:cNvSpPr txBox="1"/>
          <p:nvPr/>
        </p:nvSpPr>
        <p:spPr>
          <a:xfrm>
            <a:off x="320040" y="1371600"/>
            <a:ext cx="5806440" cy="6400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1  Most young people nowadays are not interested in opera and classical music.</a:t>
            </a:r>
            <a:endParaRPr lang="en-US" sz="1350" dirty="0"/>
          </a:p>
        </p:txBody>
      </p:sp>
      <p:sp>
        <p:nvSpPr>
          <p:cNvPr id="11" name="box_245"/>
          <p:cNvSpPr txBox="1"/>
          <p:nvPr/>
        </p:nvSpPr>
        <p:spPr>
          <a:xfrm>
            <a:off x="320040" y="2103120"/>
            <a:ext cx="5806440" cy="6400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2  People who listen to classical music are generally more intelligent.</a:t>
            </a:r>
            <a:endParaRPr lang="en-US" sz="1350" dirty="0"/>
          </a:p>
        </p:txBody>
      </p:sp>
      <p:sp>
        <p:nvSpPr>
          <p:cNvPr id="12" name="box_246"/>
          <p:cNvSpPr txBox="1"/>
          <p:nvPr/>
        </p:nvSpPr>
        <p:spPr>
          <a:xfrm>
            <a:off x="320040" y="2834640"/>
            <a:ext cx="5806440" cy="6400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3  The best decade for pop music was the 70s.</a:t>
            </a:r>
            <a:endParaRPr lang="en-US" sz="1350" dirty="0"/>
          </a:p>
        </p:txBody>
      </p:sp>
      <p:sp>
        <p:nvSpPr>
          <p:cNvPr id="13" name="none_247"/>
          <p:cNvSpPr txBox="1"/>
          <p:nvPr/>
        </p:nvSpPr>
        <p:spPr>
          <a:xfrm>
            <a:off x="6309360" y="1371600"/>
            <a:ext cx="2514600" cy="3291840"/>
          </a:xfrm>
          <a:prstGeom prst="rect">
            <a:avLst/>
          </a:prstGeom>
          <a:solidFill>
            <a:srgbClr val="FFFFFF"/>
          </a:solidFill>
          <a:ln w="25400">
            <a:solidFill>
              <a:srgbClr val="6D3FC0"/>
            </a:solidFill>
            <a:prstDash val="dash"/>
          </a:ln>
        </p:spPr>
        <p:txBody>
          <a:bodyPr wrap="square" lIns="101600" tIns="101600" rIns="101600" bIns="101600" rtlCol="0" anchor="ctr"/>
          <a:lstStyle/>
          <a:p>
            <a:pPr algn="ctr" indent="0" marL="0">
              <a:buNone/>
            </a:pPr>
            <a:r>
              <a:rPr lang="en-US" sz="1400" dirty="0">
                <a:solidFill>
                  <a:srgbClr val="6D3FC0"/>
                </a:solidFill>
                <a:latin typeface="Arial Black" pitchFamily="34" charset="0"/>
                <a:ea typeface="Arial Black" pitchFamily="34" charset="-122"/>
                <a:cs typeface="Arial Black" pitchFamily="34" charset="-120"/>
              </a:rPr>
              <a:t>No help now – you know it!</a:t>
            </a:r>
            <a:endParaRPr lang="en-US" sz="1400" dirty="0"/>
          </a:p>
          <a:p>
            <a:pPr algn="ctr" indent="0" marL="0">
              <a:buNone/>
            </a:pPr>
            <a:r>
              <a:rPr lang="en-US" sz="1400" dirty="0">
                <a:solidFill>
                  <a:srgbClr val="6D3FC0"/>
                </a:solidFill>
                <a:latin typeface="Arial Black" pitchFamily="34" charset="0"/>
                <a:ea typeface="Arial Black" pitchFamily="34" charset="-122"/>
                <a:cs typeface="Arial Black" pitchFamily="34" charset="-120"/>
              </a:rPr>
              <a:t>Niente aiuto: lo sai già!</a:t>
            </a:r>
            <a:endParaRPr lang="en-US" sz="1400" dirty="0"/>
          </a:p>
        </p:txBody>
      </p:sp>
      <p:sp>
        <p:nvSpPr>
          <p:cNvPr id="14" name="pageTag_24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5</a:t>
            </a:r>
            <a:endParaRPr lang="en-US" sz="105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9"/>
          <p:cNvSpPr/>
          <p:nvPr/>
        </p:nvSpPr>
        <p:spPr>
          <a:xfrm>
            <a:off x="54864" y="54864"/>
            <a:ext cx="9034272" cy="5033772"/>
          </a:xfrm>
          <a:prstGeom prst="rect">
            <a:avLst/>
          </a:prstGeom>
          <a:ln w="114300">
            <a:solidFill>
              <a:srgbClr val="B9A3F5"/>
            </a:solidFill>
            <a:prstDash val="solid"/>
          </a:ln>
        </p:spPr>
      </p:sp>
      <p:pic>
        <p:nvPicPr>
          <p:cNvPr id="4" name="logo_25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LISTENING · SB 6</a:t>
            </a:r>
            <a:endParaRPr lang="en-US" sz="900" dirty="0"/>
          </a:p>
        </p:txBody>
      </p:sp>
      <p:sp>
        <p:nvSpPr>
          <p:cNvPr id="6" name="timer_25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25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8" name="title_254"/>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Isata Kanneh-Mason</a:t>
            </a:r>
            <a:endParaRPr lang="en-US" sz="1500" dirty="0"/>
          </a:p>
        </p:txBody>
      </p:sp>
      <p:sp>
        <p:nvSpPr>
          <p:cNvPr id="9" name="tape_25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6"/>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25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58"/>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3" name="signB_25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Predict first: what's unusual about her family?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Prima prevedi: cosa c'è di insolito nella sua famiglia?</a:t>
            </a:r>
            <a:endParaRPr lang="en-US" sz="1250" dirty="0"/>
          </a:p>
        </p:txBody>
      </p:sp>
      <p:sp>
        <p:nvSpPr>
          <p:cNvPr id="14" name="screen_260"/>
          <p:cNvSpPr/>
          <p:nvPr/>
        </p:nvSpPr>
        <p:spPr>
          <a:xfrm>
            <a:off x="2788920" y="1371600"/>
            <a:ext cx="2926080" cy="1645920"/>
          </a:xfrm>
          <a:prstGeom prst="roundRect">
            <a:avLst>
              <a:gd name="adj" fmla="val 5556"/>
            </a:avLst>
          </a:prstGeom>
          <a:solidFill>
            <a:srgbClr val="1F1630"/>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15" name="play_261"/>
          <p:cNvSpPr txBox="1"/>
          <p:nvPr/>
        </p:nvSpPr>
        <p:spPr>
          <a:xfrm>
            <a:off x="3840480" y="1783080"/>
            <a:ext cx="822960" cy="822960"/>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2600" dirty="0">
                <a:solidFill>
                  <a:srgbClr val="FFFFFF"/>
                </a:solidFill>
                <a:latin typeface="Calibri" pitchFamily="34" charset="0"/>
                <a:ea typeface="Calibri" pitchFamily="34" charset="-122"/>
                <a:cs typeface="Calibri" pitchFamily="34" charset="-120"/>
              </a:rPr>
              <a:t>▶</a:t>
            </a:r>
            <a:endParaRPr lang="en-US" sz="2600" dirty="0"/>
          </a:p>
        </p:txBody>
      </p:sp>
      <p:sp>
        <p:nvSpPr>
          <p:cNvPr id="16" name="vt_262"/>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Interview with pianist Isata Kanneh-Mason</a:t>
            </a:r>
            <a:endParaRPr lang="en-US" sz="1050" dirty="0"/>
          </a:p>
          <a:p>
            <a:pPr indent="0" marL="0">
              <a:buNone/>
            </a:pPr>
            <a:r>
              <a:rPr lang="en-US" sz="900" dirty="0">
                <a:solidFill>
                  <a:srgbClr val="475569"/>
                </a:solidFill>
                <a:latin typeface="Calibri" pitchFamily="34" charset="0"/>
                <a:ea typeface="Calibri" pitchFamily="34" charset="-122"/>
                <a:cs typeface="Calibri" pitchFamily="34" charset="-120"/>
              </a:rPr>
              <a:t>EF4 Upper-int · 6B Video listening (Online Practice / class DVD)</a:t>
            </a:r>
            <a:endParaRPr lang="en-US" sz="1050" dirty="0"/>
          </a:p>
        </p:txBody>
      </p:sp>
      <p:sp>
        <p:nvSpPr>
          <p:cNvPr id="17" name="wyw_263"/>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8" name="box_264"/>
          <p:cNvSpPr txBox="1"/>
          <p:nvPr/>
        </p:nvSpPr>
        <p:spPr>
          <a:xfrm>
            <a:off x="5852160" y="1810512"/>
            <a:ext cx="297180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1  What's unusual about her family? Why is their future bright?</a:t>
            </a:r>
            <a:endParaRPr lang="en-US" sz="800" dirty="0"/>
          </a:p>
        </p:txBody>
      </p:sp>
      <p:sp>
        <p:nvSpPr>
          <p:cNvPr id="19" name="box_265"/>
          <p:cNvSpPr txBox="1"/>
          <p:nvPr/>
        </p:nvSpPr>
        <p:spPr>
          <a:xfrm>
            <a:off x="5852160" y="2298192"/>
            <a:ext cx="297180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2  How did she first get interested in classical music?</a:t>
            </a:r>
            <a:endParaRPr lang="en-US" sz="850" dirty="0"/>
          </a:p>
        </p:txBody>
      </p:sp>
      <p:sp>
        <p:nvSpPr>
          <p:cNvPr id="20" name="box_266"/>
          <p:cNvSpPr txBox="1"/>
          <p:nvPr/>
        </p:nvSpPr>
        <p:spPr>
          <a:xfrm>
            <a:off x="5852160" y="2785872"/>
            <a:ext cx="297180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What happened to her when she was 17?</a:t>
            </a:r>
            <a:endParaRPr lang="en-US" sz="1050" dirty="0"/>
          </a:p>
        </p:txBody>
      </p:sp>
      <p:sp>
        <p:nvSpPr>
          <p:cNvPr id="21" name="box_267"/>
          <p:cNvSpPr txBox="1"/>
          <p:nvPr/>
        </p:nvSpPr>
        <p:spPr>
          <a:xfrm>
            <a:off x="5852160" y="3273552"/>
            <a:ext cx="297180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4  What instrument does her brother Sheku play? How has he been successful?</a:t>
            </a:r>
            <a:endParaRPr lang="en-US" sz="800" dirty="0"/>
          </a:p>
        </p:txBody>
      </p:sp>
      <p:sp>
        <p:nvSpPr>
          <p:cNvPr id="22" name="box_268"/>
          <p:cNvSpPr txBox="1"/>
          <p:nvPr/>
        </p:nvSpPr>
        <p:spPr>
          <a:xfrm>
            <a:off x="5852160" y="3761232"/>
            <a:ext cx="297180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5  What sacrifices did the siblings make? How did they feel?</a:t>
            </a:r>
            <a:endParaRPr lang="en-US" sz="800" dirty="0"/>
          </a:p>
        </p:txBody>
      </p:sp>
      <p:sp>
        <p:nvSpPr>
          <p:cNvPr id="23" name="box_269"/>
          <p:cNvSpPr txBox="1"/>
          <p:nvPr/>
        </p:nvSpPr>
        <p:spPr>
          <a:xfrm>
            <a:off x="5852160" y="4248912"/>
            <a:ext cx="297180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6  What does she mean: 'I'm just so lucky that my escape is what I do'?</a:t>
            </a:r>
            <a:endParaRPr lang="en-US" sz="800" dirty="0"/>
          </a:p>
        </p:txBody>
      </p:sp>
      <p:sp>
        <p:nvSpPr>
          <p:cNvPr id="24" name="bubble_270"/>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6c: Do you know a very musical family?</a:t>
            </a:r>
            <a:endParaRPr lang="en-US" sz="1200" dirty="0"/>
          </a:p>
        </p:txBody>
      </p:sp>
      <p:sp>
        <p:nvSpPr>
          <p:cNvPr id="25" name="pageTag_27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6a–c · video (no file in our folder)</a:t>
            </a:r>
            <a:endParaRPr lang="en-US" sz="105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2"/>
          <p:cNvSpPr/>
          <p:nvPr/>
        </p:nvSpPr>
        <p:spPr>
          <a:xfrm>
            <a:off x="54864" y="54864"/>
            <a:ext cx="9034272" cy="5033772"/>
          </a:xfrm>
          <a:prstGeom prst="rect">
            <a:avLst/>
          </a:prstGeom>
          <a:ln w="114300">
            <a:solidFill>
              <a:srgbClr val="B9A3F5"/>
            </a:solidFill>
            <a:prstDash val="solid"/>
          </a:ln>
        </p:spPr>
      </p:sp>
      <p:pic>
        <p:nvPicPr>
          <p:cNvPr id="4" name="logo_27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7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6" name="title_275"/>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7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77"/>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7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7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skim for the main idea and infer what a writer means.</a:t>
            </a:r>
            <a:endParaRPr lang="en-US" sz="1200" dirty="0"/>
          </a:p>
        </p:txBody>
      </p:sp>
      <p:sp>
        <p:nvSpPr>
          <p:cNvPr id="11" name="faces_28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8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use precise words: soothing, bland, eerie, distracting…</a:t>
            </a:r>
            <a:endParaRPr lang="en-US" sz="1200" dirty="0"/>
          </a:p>
        </p:txBody>
      </p:sp>
      <p:sp>
        <p:nvSpPr>
          <p:cNvPr id="13" name="faces_28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8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defend a view, challenge one – and change my mind.</a:t>
            </a:r>
            <a:endParaRPr lang="en-US" sz="1200" dirty="0"/>
          </a:p>
        </p:txBody>
      </p:sp>
      <p:sp>
        <p:nvSpPr>
          <p:cNvPr id="15" name="faces_28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8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6B: 2a, 2b, 2c, 2e</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86"/>
          <p:cNvSpPr txBox="1"/>
          <p:nvPr/>
        </p:nvSpPr>
        <p:spPr>
          <a:xfrm>
            <a:off x="365760" y="3657600"/>
            <a:ext cx="576072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Revise and Check 5 &amp; 6 · games and challenges</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7"/>
          <p:cNvSpPr/>
          <p:nvPr/>
        </p:nvSpPr>
        <p:spPr>
          <a:xfrm>
            <a:off x="54864" y="54864"/>
            <a:ext cx="9034272" cy="5033772"/>
          </a:xfrm>
          <a:prstGeom prst="rect">
            <a:avLst/>
          </a:prstGeom>
          <a:ln w="114300">
            <a:solidFill>
              <a:srgbClr val="B9A3F5"/>
            </a:solidFill>
            <a:prstDash val="solid"/>
          </a:ln>
        </p:spPr>
      </p:sp>
      <p:pic>
        <p:nvPicPr>
          <p:cNvPr id="4" name="logo_2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SB 4h · Playlist challenge</a:t>
            </a:r>
            <a:endParaRPr lang="en-US" sz="900" dirty="0"/>
          </a:p>
        </p:txBody>
      </p:sp>
      <p:sp>
        <p:nvSpPr>
          <p:cNvPr id="6" name="timer_2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9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9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9" name="title_293"/>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creative playlist</a:t>
            </a:r>
            <a:endParaRPr lang="en-US" sz="1500" dirty="0"/>
          </a:p>
        </p:txBody>
      </p:sp>
      <p:sp>
        <p:nvSpPr>
          <p:cNvPr id="10" name="tape_29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95"/>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12" name="post_296"/>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9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9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on 5 songs for a creative group task.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Mettetevi d'accordo su 5 canzoni per un lavoro creativo di gruppo.</a:t>
            </a:r>
            <a:endParaRPr lang="en-US" sz="1250" dirty="0"/>
          </a:p>
        </p:txBody>
      </p:sp>
      <p:sp>
        <p:nvSpPr>
          <p:cNvPr id="15" name="iconBack_29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00" descr="pi:PiPlaylist">    </p:cNvPr>
          <p:cNvPicPr>
            <a:picLocks noChangeAspect="1"/>
          </p:cNvPicPr>
          <p:nvPr/>
        </p:nvPicPr>
        <p:blipFill>
          <a:blip r:embed="rId3"/>
          <a:stretch>
            <a:fillRect/>
          </a:stretch>
        </p:blipFill>
        <p:spPr>
          <a:xfrm>
            <a:off x="914400" y="3474720"/>
            <a:ext cx="685800" cy="685800"/>
          </a:xfrm>
          <a:prstGeom prst="rect">
            <a:avLst/>
          </a:prstGeom>
        </p:spPr>
      </p:pic>
      <p:sp>
        <p:nvSpPr>
          <p:cNvPr id="17" name="num_301"/>
          <p:cNvSpPr txBox="1"/>
          <p:nvPr/>
        </p:nvSpPr>
        <p:spPr>
          <a:xfrm>
            <a:off x="2788920" y="1490472"/>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302"/>
          <p:cNvSpPr txBox="1"/>
          <p:nvPr/>
        </p:nvSpPr>
        <p:spPr>
          <a:xfrm>
            <a:off x="3264408" y="1371600"/>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In pairs: create a playlist of 5 songs for a creative group task (SB 4h).</a:t>
            </a:r>
            <a:endParaRPr lang="en-US" sz="1300" dirty="0"/>
          </a:p>
        </p:txBody>
      </p:sp>
      <p:sp>
        <p:nvSpPr>
          <p:cNvPr id="19" name="num_303"/>
          <p:cNvSpPr txBox="1"/>
          <p:nvPr/>
        </p:nvSpPr>
        <p:spPr>
          <a:xfrm>
            <a:off x="2788920" y="2203704"/>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304"/>
          <p:cNvSpPr txBox="1"/>
          <p:nvPr/>
        </p:nvSpPr>
        <p:spPr>
          <a:xfrm>
            <a:off x="3264408" y="2084832"/>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the research: happy, uplifting music for divergent thinking.</a:t>
            </a:r>
            <a:endParaRPr lang="en-US" sz="1300" dirty="0"/>
          </a:p>
        </p:txBody>
      </p:sp>
      <p:sp>
        <p:nvSpPr>
          <p:cNvPr id="21" name="num_305"/>
          <p:cNvSpPr txBox="1"/>
          <p:nvPr/>
        </p:nvSpPr>
        <p:spPr>
          <a:xfrm>
            <a:off x="2788920" y="291693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306"/>
          <p:cNvSpPr txBox="1"/>
          <p:nvPr/>
        </p:nvSpPr>
        <p:spPr>
          <a:xfrm>
            <a:off x="3264408" y="2798064"/>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Each pair presents their playlist in 30 seconds.</a:t>
            </a:r>
            <a:endParaRPr lang="en-US" sz="1300" dirty="0"/>
          </a:p>
        </p:txBody>
      </p:sp>
      <p:sp>
        <p:nvSpPr>
          <p:cNvPr id="23" name="num_307"/>
          <p:cNvSpPr txBox="1"/>
          <p:nvPr/>
        </p:nvSpPr>
        <p:spPr>
          <a:xfrm>
            <a:off x="2788920" y="3630168"/>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308"/>
          <p:cNvSpPr txBox="1"/>
          <p:nvPr/>
        </p:nvSpPr>
        <p:spPr>
          <a:xfrm>
            <a:off x="3264408" y="3511296"/>
            <a:ext cx="5559552" cy="621792"/>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class votes: which playlist would REALLY work? Why?</a:t>
            </a:r>
            <a:endParaRPr lang="en-US" sz="1300" dirty="0"/>
          </a:p>
        </p:txBody>
      </p:sp>
      <p:sp>
        <p:nvSpPr>
          <p:cNvPr id="25" name="pageTag_30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p.63 · 4h</a:t>
            </a:r>
            <a:endParaRPr lang="en-US" sz="105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0"/>
          <p:cNvSpPr/>
          <p:nvPr/>
        </p:nvSpPr>
        <p:spPr>
          <a:xfrm>
            <a:off x="54864" y="54864"/>
            <a:ext cx="9034272" cy="5033772"/>
          </a:xfrm>
          <a:prstGeom prst="rect">
            <a:avLst/>
          </a:prstGeom>
          <a:ln w="114300">
            <a:solidFill>
              <a:srgbClr val="B9A3F5"/>
            </a:solidFill>
            <a:prstDash val="solid"/>
          </a:ln>
        </p:spPr>
      </p:sp>
      <p:pic>
        <p:nvPicPr>
          <p:cNvPr id="4" name="logo_31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Persuasion challenge</a:t>
            </a:r>
            <a:endParaRPr lang="en-US" sz="900" dirty="0"/>
          </a:p>
        </p:txBody>
      </p:sp>
      <p:sp>
        <p:nvSpPr>
          <p:cNvPr id="6" name="timer_31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31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1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2</a:t>
            </a:r>
            <a:endParaRPr lang="en-US" sz="1000" dirty="0"/>
          </a:p>
        </p:txBody>
      </p:sp>
      <p:sp>
        <p:nvSpPr>
          <p:cNvPr id="9" name="title_316"/>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One minute to persuade</a:t>
            </a:r>
            <a:endParaRPr lang="en-US" sz="1500" dirty="0"/>
          </a:p>
        </p:txBody>
      </p:sp>
      <p:sp>
        <p:nvSpPr>
          <p:cNvPr id="10" name="tape_31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18"/>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2" name="post_319"/>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2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32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60 seconds to persuade the head teacher!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60 secondi per convincere il preside!</a:t>
            </a:r>
            <a:endParaRPr lang="en-US" sz="1250" dirty="0"/>
          </a:p>
        </p:txBody>
      </p:sp>
      <p:sp>
        <p:nvSpPr>
          <p:cNvPr id="15" name="iconBack_32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23" descr="pi:PiMegaphone">    </p:cNvPr>
          <p:cNvPicPr>
            <a:picLocks noChangeAspect="1"/>
          </p:cNvPicPr>
          <p:nvPr/>
        </p:nvPicPr>
        <p:blipFill>
          <a:blip r:embed="rId3"/>
          <a:stretch>
            <a:fillRect/>
          </a:stretch>
        </p:blipFill>
        <p:spPr>
          <a:xfrm>
            <a:off x="914400" y="3474720"/>
            <a:ext cx="685800" cy="685800"/>
          </a:xfrm>
          <a:prstGeom prst="rect">
            <a:avLst/>
          </a:prstGeom>
        </p:spPr>
      </p:pic>
      <p:sp>
        <p:nvSpPr>
          <p:cNvPr id="17" name="box_324"/>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Music should be allowed in class during individual work.</a:t>
            </a:r>
            <a:endParaRPr lang="en-US" sz="1350" dirty="0"/>
          </a:p>
        </p:txBody>
      </p:sp>
      <p:sp>
        <p:nvSpPr>
          <p:cNvPr id="18" name="box_325"/>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Our school needs a choir – and everyone should join.</a:t>
            </a:r>
            <a:endParaRPr lang="en-US" sz="1350" dirty="0"/>
          </a:p>
        </p:txBody>
      </p:sp>
      <p:sp>
        <p:nvSpPr>
          <p:cNvPr id="19" name="box_326"/>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Lessons should start at 10 a.m. because teenagers need more sleep.</a:t>
            </a:r>
            <a:endParaRPr lang="en-US" sz="1350" dirty="0"/>
          </a:p>
        </p:txBody>
      </p:sp>
      <p:sp>
        <p:nvSpPr>
          <p:cNvPr id="20" name="box_327"/>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Every classroom should have a piano.</a:t>
            </a:r>
            <a:endParaRPr lang="en-US" sz="13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B2 6B-2 Music to my ears</dc:title>
  <dc:subject>PptxGenJS Presentation</dc:subject>
  <dc:creator>London Language School</dc:creator>
  <cp:lastModifiedBy>London Language School</cp:lastModifiedBy>
  <cp:revision>1</cp:revision>
  <dcterms:created xsi:type="dcterms:W3CDTF">2026-10-06T10:44:36Z</dcterms:created>
  <dcterms:modified xsi:type="dcterms:W3CDTF">2026-10-06T10:44:36Z</dcterms:modified>
</cp:coreProperties>
</file>