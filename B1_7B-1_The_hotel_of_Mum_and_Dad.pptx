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7B PART 1 (60 min) · SB pp.70–71. Aims: read an article about the pros and cons of living with your parents as an adult; second conditional and choosing between first and second conditionals (Grammar Bank 7B p.145); sentence stress and rhythm. Timing: cover 2 · revision 5 · lead-in 4 · reading 8 · debate 4 · comments 4 · rule 6 · practice 6 · Communication 7 · sentence stress 3 · speaking 5 · exit 3 = 57 min. Click 1: question — let them answer before click 2 (the answer already uses today's grammar: 'Only if Mum stopped cooking!'). OPTIONAL LEAD-IN (TG): 'Places to live when you're a university student' — at home, in a shared flat, in a hall of residence.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7A part 2 (5 min). VARIATION: memory challenge (backwards recall) — books closed, pairs try to finish Olivia's sentences from the 7A listening exactly, or with a correct ending of their own. 2 points for Olivia's exact ending, 1 point for any grammatically correct ending (e.g. 'As soon as I wake up, I'll check my phone'). Click 1 for all answers (from audio 7.12 and 7.11). Grammar check (Grammar Bank 7A): after if, when, as soon as, unless, until, before, after we use the PRESENT, even for the future; the other clause has will / won't, going to or an imperative. Item 7 = the typical mistake in the TG (✗ I'll call you when I'll arrive). Quick follow-up: 'Unless = ?' (if… not) · 'Olivia wants to study Medicine at…?' (Cambridge).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LEAD-IN (4 min). VARIATION: ranking + forced choice — pairs must agree on ONE order, best → worst, for a 20-year-old student (2 min). Feedback: which option is top for most pairs? Then SB 1a with the three photos (also on the slide): 1 Where do you think these young people are living? Which do you think is the most comfortable place to live? Why? 2 Which place would you prefer to live in? Why? 3 Where do you live? How comfortable is it? Who do you live with? Do you get on well? Do you argue about anything? What? Answers (TG): photo 1 at home (with his parents) · 2 in shared accommodation · 3 in a hall of residence / uni accommodation. Teach hall of residence, flatmate, shared flat. 1b (1 min): pairs think of ONE advantage and ONE disadvantage of living with your parents as an adult; write a few on the board to check in the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(8 min). 1c (3 min): students read the article on p.70 quickly to see if their advantages and disadvantages are there — don't worry about the gaps yet. Background from the article: in the UK, 25% of young adults aged 20–34 still live with their parents. 1d (5 min): read again and complete gaps 1–10 with the words in the book; pairs compare; click 1 for all answers (TG): 1 matter · 2 embarrassing · 3 let · 4 awake · 5 hear · 6 wrong · 7 afford · 8 realized · 9 remove · 10 bills. Vocabulary to check: the downside, household IT technician, laundry, stains, grateful. VARIATION: perspective change — 'The downside' vs 'But on the other hand…': which half is funnier? Which is truer for Italy? (A dyslexia-friendly version of the text is in EF4e_Intermediate_dyslexia_texts.pdf, Unit 7B.)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(4 min). 1e (1 min): books closed / text covered — pairs remember as many pros and cons from the article as they can (the downside: always a child to them, embarrassing to admit, have to let them know your movements, they wait up for you, 'You treat this house like a hotel', household IT technician; on the other hand: bacon and eggs at weekends, a full fridge, home-cooked food, laundry, no bills, saving money). 1f (3 min): the four questions on the slide (book wording). Fact from the article: in the UK, 25% of 20–34-year-olds still live at home. VARIATION: mild controversy + forced choice — finish with a quick vote: 'Parents should charge rent to children who work. Agree or no way?' Age note: if the class is mostly teenagers, ask 'At what age would YOU like to leave home? Why?'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PRESENTATION (4 min). 2a: students read the four online comments on p.71 and decide if each person wants to leave home and why. VARIATION: prediction — before reading, they guess from the four faces on the slide (Vivienne, Marco / Andrea, Carlos) who wants to stay. 2b: pairs look at the highlighted phrases and answer questions 1–3. Click 1 for all answers (TG): Vivienne yes – she wants to have her own things, and not be told what to do · Marco no – somebody else cooks and cleans and he has a nice room · Andrea yes – she doesn't feel independent · Carlos yes – his mum drives him mad and he'd like a dog. 2b: 1 the past simple · 2 the conditional form (would + infinitive) · 3 b (a situation they are imagining). Who do they agree with? (TG extra idea — only if appropriate for the age of the class).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Students open Grammar Bank 7B p.145; play 7.15 to listen and repeat (copy the rhythm). Example sentences are from audio 7.15 and 7.16. Rules (TG grammar notes + Grammar Bank): second conditional = if + past simple, would / wouldn't + infinitive, for a hypothetical / imaginary situation in the present or future (the past tense does NOT mean past time); could + infinitive is possible instead of would (= would be able to); after if we can use were for I / he / she / it (was is also correct); If I were you, I'd… = advice. Choosing between conditionals: first conditional (if + present, will) = a real, possible future situation; second conditional = an imaginary, improbable or impossible one. Compare: If I get the job, I'll rent a flat (it's possible) / If I got the job, I'd rent a flat (I don't think I'll get it). The conditional can also be used without if: I would never buy a flat next to a pub (TG). Italian learners: never use would in the if-clause (✗ If I would have) — Italian uses the congiuntivo there (se avessi). Quick check: 'If you weren't here now, where would you be?' — elicit 3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(6 min). Students do Grammar Bank 7B a 1–5 and b 1–5 in the book, individually then in pairs. Answers (TG key): a 1 Nick wouldn't have to commute every day if he worked from home. 2 If they didn't have such a noisy dog, they'd get on better with their neighbours. 3 I wouldn't buy that bike if I were you – it's too expensive. 4 Would we sell our house if somebody offered us enough money? 5 If my mother-in-law lived with us, we'd get divorced. b 1 My kids would get up earlier if they didn't go to bed so late. (2nd) 2 Where will you live if you go to university? (1st) 3 If you don't pass your exams, what will you do? (1st) 4 I'd buy a bigger house if I was sure we could afford it. (2nd) 5 We couldn't have a dog if we didn't have a garden. (2nd). In b, ask after each sentence: first or second conditional? Why? (TG). Click once per group (a 1–3, a 4–5, b 1–3, b 4–5); the slide shows the verb forms from the key — ⚠ the exact prompts are only in the Student's Book. The rest (a 6–10, b 6–10) is homework. VARIATION: student as teacher — fast finishers explain the difference in b2 between 'if you go' and 'if you went'. EXTRA SUPPORT: Grammar photocopiable 7B (📄 B1_7B_Photocopiables.pdf, page 1) – see the EXTRA slide after the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 / INFORMATION GAP (7 min). Demonstrate first (TG): write in big letters on a piece of paper IF I HAD A JOB, I'D RENT MY OWN FLAT. Don't show it. Write on the board IF I HAD A JOB, I ______ MY OWN FLAT. (+) and elicit guesses — 'Try again!' — until someone says the exact sentence; then show the paper (click 1 shows the model sentence at the bottom only after the guess — or cover it). Then A goes to p.108, B to p.113: each completes the sentences in a logical way in their head; their partner has the same sentences already completed. A reads sentence 1, B says if it's exactly right; if not, A tries again; when it's right, A writes it in. Then B reads to A. VARIATION: curiosity gap + accuracy challenge (they have to produce exact second / first conditional forms, so form errors = 'Try again').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(3 min). Pronunciation notes (TG): stress the words that carry the important information (nouns, verbs, adjectives, adverbs) more strongly; shorter words (articles, pronouns, if, would / 'd) are said less strongly — this gives English its rhythm. Play 7.16 once: students notice that the bold words in the book are stressed (CAPITALS on the slide = bold in the book, p.71). Play again, pausing for repetition; then individuals. VARIATION: change the energy — students tap the desk on each stressed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(5 min). SB 3b: students choose six of the sentence beginnings on p.71 (the ten on the slide, book wording — a mix of 1st and 2nd conditional) and complete them so they are true for them. 3c: A says the first sentence with the correct rhythm; B asks for more information; then B. Book model: 'If I could live anywhere in my city, I'd live in the old part.' – 'Why the old part?' VARIATION: personalisation with boundaries + follow-up questions (every sentence must get a 'Why…?' question). Check they choose will or would correctly (have / get / don't have / feel like → 'll; could / won / was asked / couldn't → 'd). Bagheria twist for fast finishers: 'If I were the mayor of Bagheria, I'd…'. Feedback: did anyone have the same ending as their partner?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Students choose a face for each can-do. Homework: Workbook 7B 1a, 1b, 1c (grammar) and 2a (sentence stress – needs the Workbook audio 7.2; skip it if students can't access the audio) + Grammar Bank 7B a 6–10, b 6–10 + the 7B-1 homework sheet (easier version available). Answers are in the teacher key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GAME (6 min). VARIATION: chain / memory disruption — students must listen to the previous result and transform it (past simple in the if-clause, would in the result). Round 2 with a negative start: 'If I didn't have a phone, …'. Keep the pace quick. For more speaking with the second conditional, use the EXTRA slide 'If you had to choose…' (Communicative photocopiable, page 2 of the handout).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GRAMMAR PHOTOCOPIABLE (10 min) – in class if there's time, otherwise homework. 📄 Print: B1_7B_Photocopiables.pdf, page 1 (one per student). a: Lily and Ben are looking for a house – complete the conversation with second conditional forms (1–2 are examples: moved, wouldn't need). b: complete sentences 1–10 with a verb from the list in the first or second conditional (1 = example), writing the answers in the right-hand column. Pairs compare; click once per group. Official answers (TG photocopiable key): a 3 'd have · 4 lived · 5 'd have · 6 came · 7 brought · 8 'd have · 9 'd be able to / could · 10 was / were · 11 moved · 12 'd take · 13 went · 14 wouldn't take · 15 'd feel · 16 didn't have to · 17 would laugh · 18 asked · b 2 'd buy · 3 goes · 4 reduce · 5 'd take · 6 gets · 7 weren't / wasn't · 8 found · 9 'll never finish · 10 will be. In b, ask: first or second? Why? VARIATION: student as teacher – the student who answers explains the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COMMUNICATIVE PHOTOCOPIABLE (8 min). 📄 Print: B1_7B_Photocopiables.pdf, page 2 – one worksheet per pair or small group (the slide shows five of the questions; the sheet has more, e.g. solar energy or traditional electricity, a gym or a games room). Official procedure (TG): demonstrate by getting a student to ask you one of the questions and answer in as much detail as possible (model on the sheet: 'I'd prefer to live in a new flat, because if I lived in an old flat, I'd have to do a lot of work on it.'). Students then ask their partner / the group; the others return the question with 'What about you?'. Monitor and correct mistakes with conditionals (no would in the if-clause!); get feedback from a few pairs. VARIATION: forced choice + forbidden easy answer ('it depends' is not allowed). No answer key – opinions.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062F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7B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7B · Part 1 · SB pp.70–71</a:t>
            </a:r>
            <a:endParaRPr lang="en-US" sz="11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512064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HOTEL OF MUM AND DAD</a:t>
            </a:r>
            <a:endParaRPr lang="en-US" sz="20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813048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Living with your parents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4485132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second conditional; 1st or 2nd?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3525012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sentence stress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pi:PiHouse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BowlFoo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K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had a job, would you leave home?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Mum stopped cooking!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7A part 2 · Future time clauses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502005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Finish Olivia's sentences!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9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closed! How did Olivia finish her sentences?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 chiusi! Come finiva Olivia le sue frasi?</a:t>
            </a:r>
            <a:endParaRPr lang="en-US" sz="125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pi:PiEx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29"/>
          <p:cNvSpPr txBox="1"/>
          <p:nvPr/>
        </p:nvSpPr>
        <p:spPr>
          <a:xfrm>
            <a:off x="2788920" y="1371600"/>
            <a:ext cx="3138221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They won't give me a place unless…</a:t>
            </a:r>
            <a:endParaRPr lang="en-US" sz="1200" dirty="0"/>
          </a:p>
        </p:txBody>
      </p:sp>
      <p:sp>
        <p:nvSpPr>
          <p:cNvPr id="15" name="R1_m0"/>
          <p:cNvSpPr txBox="1"/>
          <p:nvPr/>
        </p:nvSpPr>
        <p:spPr>
          <a:xfrm>
            <a:off x="6000293" y="1389888"/>
            <a:ext cx="2823667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get at least two A stars and an A.</a:t>
            </a:r>
            <a:endParaRPr lang="en-US" sz="1100" dirty="0"/>
          </a:p>
        </p:txBody>
      </p:sp>
      <p:sp>
        <p:nvSpPr>
          <p:cNvPr id="16" name="box_30"/>
          <p:cNvSpPr txBox="1"/>
          <p:nvPr/>
        </p:nvSpPr>
        <p:spPr>
          <a:xfrm>
            <a:off x="2788920" y="1854926"/>
            <a:ext cx="3138221" cy="41017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As soon as I wake up, …</a:t>
            </a:r>
            <a:endParaRPr lang="en-US" sz="1200" dirty="0"/>
          </a:p>
        </p:txBody>
      </p:sp>
      <p:sp>
        <p:nvSpPr>
          <p:cNvPr id="17" name="R1_m1"/>
          <p:cNvSpPr txBox="1"/>
          <p:nvPr/>
        </p:nvSpPr>
        <p:spPr>
          <a:xfrm>
            <a:off x="6000293" y="1873214"/>
            <a:ext cx="2823667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go to school and pick up the envelope.</a:t>
            </a:r>
            <a:endParaRPr lang="en-US" sz="1100" dirty="0"/>
          </a:p>
        </p:txBody>
      </p:sp>
      <p:sp>
        <p:nvSpPr>
          <p:cNvPr id="18" name="box_31"/>
          <p:cNvSpPr txBox="1"/>
          <p:nvPr/>
        </p:nvSpPr>
        <p:spPr>
          <a:xfrm>
            <a:off x="2788920" y="2338251"/>
            <a:ext cx="3138221" cy="41017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 don't want to plan any celebrations until…</a:t>
            </a:r>
            <a:endParaRPr lang="en-US" sz="1100" dirty="0"/>
          </a:p>
        </p:txBody>
      </p:sp>
      <p:sp>
        <p:nvSpPr>
          <p:cNvPr id="19" name="R1_m2"/>
          <p:cNvSpPr txBox="1"/>
          <p:nvPr/>
        </p:nvSpPr>
        <p:spPr>
          <a:xfrm>
            <a:off x="6000293" y="2356539"/>
            <a:ext cx="2823667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results.</a:t>
            </a:r>
            <a:endParaRPr lang="en-US" sz="1100" dirty="0"/>
          </a:p>
        </p:txBody>
      </p:sp>
      <p:sp>
        <p:nvSpPr>
          <p:cNvPr id="20" name="box_32"/>
          <p:cNvSpPr txBox="1"/>
          <p:nvPr/>
        </p:nvSpPr>
        <p:spPr>
          <a:xfrm>
            <a:off x="2788920" y="2821577"/>
            <a:ext cx="3138221" cy="41017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If I don't get into Cambridge, …</a:t>
            </a:r>
            <a:endParaRPr lang="en-US" sz="1200" dirty="0"/>
          </a:p>
        </p:txBody>
      </p:sp>
      <p:sp>
        <p:nvSpPr>
          <p:cNvPr id="21" name="R1_m3"/>
          <p:cNvSpPr txBox="1"/>
          <p:nvPr/>
        </p:nvSpPr>
        <p:spPr>
          <a:xfrm>
            <a:off x="6000293" y="2839865"/>
            <a:ext cx="2823667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parents will kill me! (joking)</a:t>
            </a:r>
            <a:endParaRPr lang="en-US" sz="1100" dirty="0"/>
          </a:p>
        </p:txBody>
      </p:sp>
      <p:sp>
        <p:nvSpPr>
          <p:cNvPr id="22" name="box_33"/>
          <p:cNvSpPr txBox="1"/>
          <p:nvPr/>
        </p:nvSpPr>
        <p:spPr>
          <a:xfrm>
            <a:off x="2788920" y="3304903"/>
            <a:ext cx="3138221" cy="41017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When I feel a bit more positive, …</a:t>
            </a:r>
            <a:endParaRPr lang="en-US" sz="1200" dirty="0"/>
          </a:p>
        </p:txBody>
      </p:sp>
      <p:sp>
        <p:nvSpPr>
          <p:cNvPr id="23" name="R1_m4"/>
          <p:cNvSpPr txBox="1"/>
          <p:nvPr/>
        </p:nvSpPr>
        <p:spPr>
          <a:xfrm>
            <a:off x="6000293" y="3323191"/>
            <a:ext cx="2823667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try to get a place at another university.</a:t>
            </a:r>
            <a:endParaRPr lang="en-US" sz="1100" dirty="0"/>
          </a:p>
        </p:txBody>
      </p:sp>
      <p:sp>
        <p:nvSpPr>
          <p:cNvPr id="24" name="box_34"/>
          <p:cNvSpPr txBox="1"/>
          <p:nvPr/>
        </p:nvSpPr>
        <p:spPr>
          <a:xfrm>
            <a:off x="2788920" y="3788229"/>
            <a:ext cx="3138221" cy="410174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Her results?</a:t>
            </a:r>
            <a:endParaRPr lang="en-US" sz="1200" dirty="0"/>
          </a:p>
        </p:txBody>
      </p:sp>
      <p:sp>
        <p:nvSpPr>
          <p:cNvPr id="25" name="R1_m5"/>
          <p:cNvSpPr txBox="1"/>
          <p:nvPr/>
        </p:nvSpPr>
        <p:spPr>
          <a:xfrm>
            <a:off x="6000293" y="3806517"/>
            <a:ext cx="2823667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biology · A chemistry, physics · B maths</a:t>
            </a:r>
            <a:endParaRPr lang="en-US" sz="1100" dirty="0"/>
          </a:p>
        </p:txBody>
      </p:sp>
      <p:sp>
        <p:nvSpPr>
          <p:cNvPr id="26" name="box_35"/>
          <p:cNvSpPr txBox="1"/>
          <p:nvPr/>
        </p:nvSpPr>
        <p:spPr>
          <a:xfrm>
            <a:off x="2788920" y="4271554"/>
            <a:ext cx="3138221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I'll call you when I ___ home. (arrive)</a:t>
            </a:r>
            <a:endParaRPr lang="en-US" sz="1200" dirty="0"/>
          </a:p>
        </p:txBody>
      </p:sp>
      <p:sp>
        <p:nvSpPr>
          <p:cNvPr id="27" name="R1_m6"/>
          <p:cNvSpPr txBox="1"/>
          <p:nvPr/>
        </p:nvSpPr>
        <p:spPr>
          <a:xfrm>
            <a:off x="6000293" y="4289842"/>
            <a:ext cx="2823667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(✗ will arrive)</a:t>
            </a:r>
            <a:endParaRPr lang="en-US" sz="1100" dirty="0"/>
          </a:p>
        </p:txBody>
      </p:sp>
      <p:sp>
        <p:nvSpPr>
          <p:cNvPr id="28" name="pageTag_3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7A part 2 · audio 7.10–7.12 · Grammar Bank 7A p.144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Lead-in · Ranking</a:t>
            </a:r>
            <a:endParaRPr lang="en-US" sz="900" dirty="0"/>
          </a:p>
        </p:txBody>
      </p:sp>
      <p:sp>
        <p:nvSpPr>
          <p:cNvPr id="6" name="timer_4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4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42"/>
          <p:cNvSpPr txBox="1"/>
          <p:nvPr/>
        </p:nvSpPr>
        <p:spPr>
          <a:xfrm rot="-120000">
            <a:off x="320040" y="676656"/>
            <a:ext cx="554126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best place to live at 20?</a:t>
            </a:r>
            <a:endParaRPr lang="en-US" sz="1500" dirty="0"/>
          </a:p>
        </p:txBody>
      </p:sp>
      <p:sp>
        <p:nvSpPr>
          <p:cNvPr id="9" name="post_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them with a partner. Then look at the photos on p.70.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Mettetele in ordine con un compagno. Poi guardate le foto a p.70.</a:t>
            </a:r>
            <a:endParaRPr lang="en-US" sz="1100" dirty="0"/>
          </a:p>
        </p:txBody>
      </p:sp>
      <p:sp>
        <p:nvSpPr>
          <p:cNvPr id="12" name="rt_46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</a:t>
            </a:r>
            <a:endParaRPr lang="en-US" sz="1100" dirty="0"/>
          </a:p>
        </p:txBody>
      </p:sp>
      <p:sp>
        <p:nvSpPr>
          <p:cNvPr id="13" name="rb_47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WORST</a:t>
            </a:r>
            <a:endParaRPr lang="en-US" sz="1100" dirty="0"/>
          </a:p>
        </p:txBody>
      </p:sp>
      <p:sp>
        <p:nvSpPr>
          <p:cNvPr id="14" name="arrow_48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A8E6B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5" name="slot_49"/>
          <p:cNvSpPr txBox="1"/>
          <p:nvPr/>
        </p:nvSpPr>
        <p:spPr>
          <a:xfrm>
            <a:off x="4800600" y="13258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6" name="ri_50" descr="at home with your par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17320"/>
            <a:ext cx="411480" cy="411480"/>
          </a:xfrm>
          <a:prstGeom prst="rect">
            <a:avLst/>
          </a:prstGeom>
        </p:spPr>
      </p:pic>
      <p:sp>
        <p:nvSpPr>
          <p:cNvPr id="17" name="box_51"/>
          <p:cNvSpPr txBox="1"/>
          <p:nvPr/>
        </p:nvSpPr>
        <p:spPr>
          <a:xfrm>
            <a:off x="5788152" y="1325880"/>
            <a:ext cx="3035808" cy="5943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 with your parents</a:t>
            </a:r>
            <a:endParaRPr lang="en-US" sz="1300" dirty="0"/>
          </a:p>
        </p:txBody>
      </p:sp>
      <p:sp>
        <p:nvSpPr>
          <p:cNvPr id="18" name="slot_52"/>
          <p:cNvSpPr txBox="1"/>
          <p:nvPr/>
        </p:nvSpPr>
        <p:spPr>
          <a:xfrm>
            <a:off x="4800600" y="20116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9" name="ri_53" descr="in a flat with frien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103120"/>
            <a:ext cx="411480" cy="411480"/>
          </a:xfrm>
          <a:prstGeom prst="rect">
            <a:avLst/>
          </a:prstGeom>
        </p:spPr>
      </p:pic>
      <p:sp>
        <p:nvSpPr>
          <p:cNvPr id="20" name="box_54"/>
          <p:cNvSpPr txBox="1"/>
          <p:nvPr/>
        </p:nvSpPr>
        <p:spPr>
          <a:xfrm>
            <a:off x="5788152" y="2011680"/>
            <a:ext cx="3035808" cy="5943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flat with friends</a:t>
            </a:r>
            <a:endParaRPr lang="en-US" sz="1300" dirty="0"/>
          </a:p>
        </p:txBody>
      </p:sp>
      <p:sp>
        <p:nvSpPr>
          <p:cNvPr id="21" name="slot_55"/>
          <p:cNvSpPr txBox="1"/>
          <p:nvPr/>
        </p:nvSpPr>
        <p:spPr>
          <a:xfrm>
            <a:off x="4800600" y="26974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2" name="ri_56" descr="in a hall of reside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788920"/>
            <a:ext cx="411480" cy="411480"/>
          </a:xfrm>
          <a:prstGeom prst="rect">
            <a:avLst/>
          </a:prstGeom>
        </p:spPr>
      </p:pic>
      <p:sp>
        <p:nvSpPr>
          <p:cNvPr id="23" name="box_57"/>
          <p:cNvSpPr txBox="1"/>
          <p:nvPr/>
        </p:nvSpPr>
        <p:spPr>
          <a:xfrm>
            <a:off x="5788152" y="2697480"/>
            <a:ext cx="3035808" cy="5943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hall of residence</a:t>
            </a:r>
            <a:endParaRPr lang="en-US" sz="1300" dirty="0"/>
          </a:p>
        </p:txBody>
      </p:sp>
      <p:sp>
        <p:nvSpPr>
          <p:cNvPr id="24" name="slot_58"/>
          <p:cNvSpPr txBox="1"/>
          <p:nvPr/>
        </p:nvSpPr>
        <p:spPr>
          <a:xfrm>
            <a:off x="4800600" y="33832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5" name="ri_59" descr="on your ow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474720"/>
            <a:ext cx="411480" cy="411480"/>
          </a:xfrm>
          <a:prstGeom prst="rect">
            <a:avLst/>
          </a:prstGeom>
        </p:spPr>
      </p:pic>
      <p:sp>
        <p:nvSpPr>
          <p:cNvPr id="26" name="box_60"/>
          <p:cNvSpPr txBox="1"/>
          <p:nvPr/>
        </p:nvSpPr>
        <p:spPr>
          <a:xfrm>
            <a:off x="5788152" y="3383280"/>
            <a:ext cx="3035808" cy="5943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own</a:t>
            </a:r>
            <a:endParaRPr lang="en-US" sz="1300" dirty="0"/>
          </a:p>
        </p:txBody>
      </p:sp>
      <p:sp>
        <p:nvSpPr>
          <p:cNvPr id="27" name="slot_61"/>
          <p:cNvSpPr txBox="1"/>
          <p:nvPr/>
        </p:nvSpPr>
        <p:spPr>
          <a:xfrm>
            <a:off x="4800600" y="4069080"/>
            <a:ext cx="41148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8" name="ri_62" descr="with a partn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4160520"/>
            <a:ext cx="411480" cy="411480"/>
          </a:xfrm>
          <a:prstGeom prst="rect">
            <a:avLst/>
          </a:prstGeom>
        </p:spPr>
      </p:pic>
      <p:sp>
        <p:nvSpPr>
          <p:cNvPr id="29" name="box_63"/>
          <p:cNvSpPr txBox="1"/>
          <p:nvPr/>
        </p:nvSpPr>
        <p:spPr>
          <a:xfrm>
            <a:off x="5788152" y="4069080"/>
            <a:ext cx="3035808" cy="5943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partner</a:t>
            </a:r>
            <a:endParaRPr lang="en-US" sz="1300" dirty="0"/>
          </a:p>
        </p:txBody>
      </p:sp>
      <p:sp>
        <p:nvSpPr>
          <p:cNvPr id="30" name="pageTag_6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p.70 · 1a, 1b</a:t>
            </a:r>
            <a:endParaRPr lang="en-US" sz="1050" dirty="0"/>
          </a:p>
        </p:txBody>
      </p:sp>
      <p:sp>
        <p:nvSpPr>
          <p:cNvPr id="31" name="pframe_65"/>
          <p:cNvSpPr/>
          <p:nvPr/>
        </p:nvSpPr>
        <p:spPr>
          <a:xfrm rot="-120000">
            <a:off x="365760" y="3246120"/>
            <a:ext cx="22860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2" name="pimg_66" descr="Where are they living?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 rot="-120000">
            <a:off x="438912" y="3319272"/>
            <a:ext cx="2139696" cy="841248"/>
          </a:xfrm>
          <a:prstGeom prst="rect">
            <a:avLst/>
          </a:prstGeom>
        </p:spPr>
      </p:pic>
      <p:sp>
        <p:nvSpPr>
          <p:cNvPr id="33" name="pcap_67"/>
          <p:cNvSpPr txBox="1"/>
          <p:nvPr/>
        </p:nvSpPr>
        <p:spPr>
          <a:xfrm rot="-120000">
            <a:off x="365760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they living?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6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Things you know if you still live with your parents</a:t>
            </a:r>
            <a:endParaRPr lang="en-US" sz="900" dirty="0"/>
          </a:p>
        </p:txBody>
      </p:sp>
      <p:sp>
        <p:nvSpPr>
          <p:cNvPr id="6" name="timer_7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7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73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ups and downs</a:t>
            </a:r>
            <a:endParaRPr lang="en-US" sz="1500" dirty="0"/>
          </a:p>
        </p:txBody>
      </p:sp>
      <p:sp>
        <p:nvSpPr>
          <p:cNvPr id="9" name="post_7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7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1" name="signB_7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p.70. Were your ideas there? Then choose the correct word 1–10.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p.70. C'erano le vostre idee? Poi scegli la parola giusta 1–10.</a:t>
            </a:r>
            <a:endParaRPr lang="en-US" sz="1100" dirty="0"/>
          </a:p>
        </p:txBody>
      </p:sp>
      <p:sp>
        <p:nvSpPr>
          <p:cNvPr id="12" name="iconBack_7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78" descr="pi:PiBook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79"/>
          <p:cNvSpPr txBox="1"/>
          <p:nvPr/>
        </p:nvSpPr>
        <p:spPr>
          <a:xfrm>
            <a:off x="2788920" y="1371600"/>
            <a:ext cx="2067458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It doesn't ___ how old you are. (matter / mind)</a:t>
            </a:r>
            <a:endParaRPr lang="en-US" sz="1050" dirty="0"/>
          </a:p>
        </p:txBody>
      </p:sp>
      <p:sp>
        <p:nvSpPr>
          <p:cNvPr id="15" name="R1_a0"/>
          <p:cNvSpPr txBox="1"/>
          <p:nvPr/>
        </p:nvSpPr>
        <p:spPr>
          <a:xfrm>
            <a:off x="4911242" y="1408176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</a:t>
            </a:r>
            <a:endParaRPr lang="en-US" sz="950" dirty="0"/>
          </a:p>
        </p:txBody>
      </p:sp>
      <p:sp>
        <p:nvSpPr>
          <p:cNvPr id="16" name="box_80"/>
          <p:cNvSpPr txBox="1"/>
          <p:nvPr/>
        </p:nvSpPr>
        <p:spPr>
          <a:xfrm>
            <a:off x="5870448" y="1371600"/>
            <a:ext cx="2067458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It's really ___ when you meet new people… (embarrassing / embarrassed)</a:t>
            </a:r>
            <a:endParaRPr lang="en-US" sz="850" dirty="0"/>
          </a:p>
        </p:txBody>
      </p:sp>
      <p:sp>
        <p:nvSpPr>
          <p:cNvPr id="17" name="R1_a1"/>
          <p:cNvSpPr txBox="1"/>
          <p:nvPr/>
        </p:nvSpPr>
        <p:spPr>
          <a:xfrm>
            <a:off x="7992770" y="1408176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embarrassing</a:t>
            </a:r>
            <a:endParaRPr lang="en-US" sz="950" dirty="0"/>
          </a:p>
        </p:txBody>
      </p:sp>
      <p:sp>
        <p:nvSpPr>
          <p:cNvPr id="18" name="box_81"/>
          <p:cNvSpPr txBox="1"/>
          <p:nvPr/>
        </p:nvSpPr>
        <p:spPr>
          <a:xfrm>
            <a:off x="2788920" y="2055571"/>
            <a:ext cx="2067458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 have to ___ them know all your movements. (leave / let)</a:t>
            </a:r>
            <a:endParaRPr lang="en-US" sz="1000" dirty="0"/>
          </a:p>
        </p:txBody>
      </p:sp>
      <p:sp>
        <p:nvSpPr>
          <p:cNvPr id="19" name="R1_a2"/>
          <p:cNvSpPr txBox="1"/>
          <p:nvPr/>
        </p:nvSpPr>
        <p:spPr>
          <a:xfrm>
            <a:off x="4911242" y="2092147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</a:t>
            </a:r>
            <a:endParaRPr lang="en-US" sz="950" dirty="0"/>
          </a:p>
        </p:txBody>
      </p:sp>
      <p:sp>
        <p:nvSpPr>
          <p:cNvPr id="20" name="box_82"/>
          <p:cNvSpPr txBox="1"/>
          <p:nvPr/>
        </p:nvSpPr>
        <p:spPr>
          <a:xfrm>
            <a:off x="5870448" y="2055571"/>
            <a:ext cx="2067458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…your parents will be ___, waiting for you. (wake / awake)</a:t>
            </a:r>
            <a:endParaRPr lang="en-US" sz="1050" dirty="0"/>
          </a:p>
        </p:txBody>
      </p:sp>
      <p:sp>
        <p:nvSpPr>
          <p:cNvPr id="21" name="R1_a3"/>
          <p:cNvSpPr txBox="1"/>
          <p:nvPr/>
        </p:nvSpPr>
        <p:spPr>
          <a:xfrm>
            <a:off x="7992770" y="2092147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endParaRPr lang="en-US" sz="950" dirty="0"/>
          </a:p>
        </p:txBody>
      </p:sp>
      <p:sp>
        <p:nvSpPr>
          <p:cNvPr id="22" name="box_83"/>
          <p:cNvSpPr txBox="1"/>
          <p:nvPr/>
        </p:nvSpPr>
        <p:spPr>
          <a:xfrm>
            <a:off x="2788920" y="2739542"/>
            <a:ext cx="2067458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Every day of your life, you ___ 'You treat this house like a hotel.' (hear / listen)</a:t>
            </a:r>
            <a:endParaRPr lang="en-US" sz="850" dirty="0"/>
          </a:p>
        </p:txBody>
      </p:sp>
      <p:sp>
        <p:nvSpPr>
          <p:cNvPr id="23" name="R1_a4"/>
          <p:cNvSpPr txBox="1"/>
          <p:nvPr/>
        </p:nvSpPr>
        <p:spPr>
          <a:xfrm>
            <a:off x="4911242" y="2776118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</a:t>
            </a:r>
            <a:endParaRPr lang="en-US" sz="950" dirty="0"/>
          </a:p>
        </p:txBody>
      </p:sp>
      <p:sp>
        <p:nvSpPr>
          <p:cNvPr id="24" name="box_84"/>
          <p:cNvSpPr txBox="1"/>
          <p:nvPr/>
        </p:nvSpPr>
        <p:spPr>
          <a:xfrm>
            <a:off x="5870448" y="2739542"/>
            <a:ext cx="2067458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If anything goes ___ in the house… (bad / wrong)</a:t>
            </a:r>
            <a:endParaRPr lang="en-US" sz="1050" dirty="0"/>
          </a:p>
        </p:txBody>
      </p:sp>
      <p:sp>
        <p:nvSpPr>
          <p:cNvPr id="25" name="R1_a5"/>
          <p:cNvSpPr txBox="1"/>
          <p:nvPr/>
        </p:nvSpPr>
        <p:spPr>
          <a:xfrm>
            <a:off x="7992770" y="2776118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950" dirty="0"/>
          </a:p>
        </p:txBody>
      </p:sp>
      <p:sp>
        <p:nvSpPr>
          <p:cNvPr id="26" name="box_85"/>
          <p:cNvSpPr txBox="1"/>
          <p:nvPr/>
        </p:nvSpPr>
        <p:spPr>
          <a:xfrm>
            <a:off x="2788920" y="3423514"/>
            <a:ext cx="2067458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…a lot better than you could ___. (afford / pay)</a:t>
            </a:r>
            <a:endParaRPr lang="en-US" sz="1050" dirty="0"/>
          </a:p>
        </p:txBody>
      </p:sp>
      <p:sp>
        <p:nvSpPr>
          <p:cNvPr id="27" name="R1_a6"/>
          <p:cNvSpPr txBox="1"/>
          <p:nvPr/>
        </p:nvSpPr>
        <p:spPr>
          <a:xfrm>
            <a:off x="4911242" y="3460090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</a:t>
            </a:r>
            <a:endParaRPr lang="en-US" sz="950" dirty="0"/>
          </a:p>
        </p:txBody>
      </p:sp>
      <p:sp>
        <p:nvSpPr>
          <p:cNvPr id="28" name="box_86"/>
          <p:cNvSpPr txBox="1"/>
          <p:nvPr/>
        </p:nvSpPr>
        <p:spPr>
          <a:xfrm>
            <a:off x="5870448" y="3423514"/>
            <a:ext cx="2067458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…you've ___ that you'll never be able to cook as well… (realised / known)</a:t>
            </a:r>
            <a:endParaRPr lang="en-US" sz="850" dirty="0"/>
          </a:p>
        </p:txBody>
      </p:sp>
      <p:sp>
        <p:nvSpPr>
          <p:cNvPr id="29" name="R1_a7"/>
          <p:cNvSpPr txBox="1"/>
          <p:nvPr/>
        </p:nvSpPr>
        <p:spPr>
          <a:xfrm>
            <a:off x="7992770" y="3460090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</a:t>
            </a:r>
            <a:endParaRPr lang="en-US" sz="950" dirty="0"/>
          </a:p>
        </p:txBody>
      </p:sp>
      <p:sp>
        <p:nvSpPr>
          <p:cNvPr id="30" name="box_87"/>
          <p:cNvSpPr txBox="1"/>
          <p:nvPr/>
        </p:nvSpPr>
        <p:spPr>
          <a:xfrm>
            <a:off x="2788920" y="4107485"/>
            <a:ext cx="2067458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…laundry powders that ___ all the stains (remove / retire)</a:t>
            </a:r>
            <a:endParaRPr lang="en-US" sz="1050" dirty="0"/>
          </a:p>
        </p:txBody>
      </p:sp>
      <p:sp>
        <p:nvSpPr>
          <p:cNvPr id="31" name="R1_a8"/>
          <p:cNvSpPr txBox="1"/>
          <p:nvPr/>
        </p:nvSpPr>
        <p:spPr>
          <a:xfrm>
            <a:off x="4911242" y="4144061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950" dirty="0"/>
          </a:p>
        </p:txBody>
      </p:sp>
      <p:sp>
        <p:nvSpPr>
          <p:cNvPr id="32" name="box_88"/>
          <p:cNvSpPr txBox="1"/>
          <p:nvPr/>
        </p:nvSpPr>
        <p:spPr>
          <a:xfrm>
            <a:off x="5870448" y="4107485"/>
            <a:ext cx="2067458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You had no idea how much ___ cost. (notes / bills)</a:t>
            </a:r>
            <a:endParaRPr lang="en-US" sz="1050" dirty="0"/>
          </a:p>
        </p:txBody>
      </p:sp>
      <p:sp>
        <p:nvSpPr>
          <p:cNvPr id="33" name="R1_a9"/>
          <p:cNvSpPr txBox="1"/>
          <p:nvPr/>
        </p:nvSpPr>
        <p:spPr>
          <a:xfrm>
            <a:off x="7992770" y="4144061"/>
            <a:ext cx="831190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950" dirty="0"/>
          </a:p>
        </p:txBody>
      </p:sp>
      <p:sp>
        <p:nvSpPr>
          <p:cNvPr id="34" name="pageTag_8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p.70 · 1c, 1d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9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Pros and cons</a:t>
            </a:r>
            <a:endParaRPr lang="en-US" sz="900" dirty="0"/>
          </a:p>
        </p:txBody>
      </p:sp>
      <p:sp>
        <p:nvSpPr>
          <p:cNvPr id="6" name="timer_9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9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95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 to a partner</a:t>
            </a:r>
            <a:endParaRPr lang="en-US" sz="1500" dirty="0"/>
          </a:p>
        </p:txBody>
      </p:sp>
      <p:sp>
        <p:nvSpPr>
          <p:cNvPr id="9" name="post_9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9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9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text. Remember the pros and cons. Then talk!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Copri il testo. Ricorda pro e contro. Poi parlate!</a:t>
            </a:r>
            <a:endParaRPr lang="en-US" sz="1200" dirty="0"/>
          </a:p>
        </p:txBody>
      </p:sp>
      <p:sp>
        <p:nvSpPr>
          <p:cNvPr id="12" name="box_99"/>
          <p:cNvSpPr txBox="1"/>
          <p:nvPr/>
        </p:nvSpPr>
        <p:spPr>
          <a:xfrm>
            <a:off x="2788920" y="1371600"/>
            <a:ext cx="6035040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percentage of young people aged 20–34 do you think live with their parents in your country?</a:t>
            </a:r>
            <a:endParaRPr lang="en-US" sz="1250" dirty="0"/>
          </a:p>
        </p:txBody>
      </p:sp>
      <p:sp>
        <p:nvSpPr>
          <p:cNvPr id="13" name="box_100"/>
          <p:cNvSpPr txBox="1"/>
          <p:nvPr/>
        </p:nvSpPr>
        <p:spPr>
          <a:xfrm>
            <a:off x="2788920" y="2226564"/>
            <a:ext cx="6035040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Are the pros and cons similar in your country?</a:t>
            </a:r>
            <a:endParaRPr lang="en-US" sz="1250" dirty="0"/>
          </a:p>
        </p:txBody>
      </p:sp>
      <p:sp>
        <p:nvSpPr>
          <p:cNvPr id="14" name="box_101"/>
          <p:cNvSpPr txBox="1"/>
          <p:nvPr/>
        </p:nvSpPr>
        <p:spPr>
          <a:xfrm>
            <a:off x="2788920" y="3081528"/>
            <a:ext cx="6035040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Which two advantages and two disadvantages do you think are the most important?</a:t>
            </a:r>
            <a:endParaRPr lang="en-US" sz="1250" dirty="0"/>
          </a:p>
        </p:txBody>
      </p:sp>
      <p:sp>
        <p:nvSpPr>
          <p:cNvPr id="15" name="box_102"/>
          <p:cNvSpPr txBox="1"/>
          <p:nvPr/>
        </p:nvSpPr>
        <p:spPr>
          <a:xfrm>
            <a:off x="2788920" y="3936492"/>
            <a:ext cx="6035040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How do you think parents feel about having their adult children living at home?</a:t>
            </a:r>
            <a:endParaRPr lang="en-US" sz="1250" dirty="0"/>
          </a:p>
        </p:txBody>
      </p:sp>
      <p:sp>
        <p:nvSpPr>
          <p:cNvPr id="16" name="sticky_103"/>
          <p:cNvSpPr txBox="1"/>
          <p:nvPr/>
        </p:nvSpPr>
        <p:spPr>
          <a:xfrm rot="-120000">
            <a:off x="411480" y="406908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advantage is… · The downside is…</a:t>
            </a:r>
            <a:endParaRPr lang="en-US" sz="1150" dirty="0"/>
          </a:p>
        </p:txBody>
      </p:sp>
      <p:sp>
        <p:nvSpPr>
          <p:cNvPr id="17" name="pageTag_10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p.70 · 1e, 1f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0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Presentation · Online comments</a:t>
            </a:r>
            <a:endParaRPr lang="en-US" sz="900" dirty="0"/>
          </a:p>
        </p:txBody>
      </p:sp>
      <p:sp>
        <p:nvSpPr>
          <p:cNvPr id="6" name="timer_10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110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Would they leave home?</a:t>
            </a:r>
            <a:endParaRPr lang="en-US" sz="1500" dirty="0"/>
          </a:p>
        </p:txBody>
      </p:sp>
      <p:sp>
        <p:nvSpPr>
          <p:cNvPr id="9" name="post_11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1" name="signB_11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comments on p.71. Do they want to leave home? Why?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 commenti a p.71. Vogliono andare via di casa? Perché?</a:t>
            </a:r>
            <a:endParaRPr lang="en-US" sz="1200" dirty="0"/>
          </a:p>
        </p:txBody>
      </p:sp>
      <p:sp>
        <p:nvSpPr>
          <p:cNvPr id="12" name="box_114"/>
          <p:cNvSpPr txBox="1"/>
          <p:nvPr/>
        </p:nvSpPr>
        <p:spPr>
          <a:xfrm>
            <a:off x="2788920" y="1371600"/>
            <a:ext cx="2655418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Vivienne @Montreal</a:t>
            </a:r>
            <a:endParaRPr lang="en-US" sz="1200" dirty="0"/>
          </a:p>
        </p:txBody>
      </p:sp>
      <p:sp>
        <p:nvSpPr>
          <p:cNvPr id="13" name="R1_m0"/>
          <p:cNvSpPr txBox="1"/>
          <p:nvPr/>
        </p:nvSpPr>
        <p:spPr>
          <a:xfrm>
            <a:off x="5517490" y="1389888"/>
            <a:ext cx="3306470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– her own things, not told what to do</a:t>
            </a:r>
            <a:endParaRPr lang="en-US" sz="1100" dirty="0"/>
          </a:p>
        </p:txBody>
      </p:sp>
      <p:sp>
        <p:nvSpPr>
          <p:cNvPr id="14" name="box_115"/>
          <p:cNvSpPr txBox="1"/>
          <p:nvPr/>
        </p:nvSpPr>
        <p:spPr>
          <a:xfrm>
            <a:off x="2788920" y="1854926"/>
            <a:ext cx="2655418" cy="41017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Marco @Naples</a:t>
            </a:r>
            <a:endParaRPr lang="en-US" sz="1200" dirty="0"/>
          </a:p>
        </p:txBody>
      </p:sp>
      <p:sp>
        <p:nvSpPr>
          <p:cNvPr id="15" name="R1_m1"/>
          <p:cNvSpPr txBox="1"/>
          <p:nvPr/>
        </p:nvSpPr>
        <p:spPr>
          <a:xfrm>
            <a:off x="5517490" y="1873214"/>
            <a:ext cx="3306470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– somebody else cooks and cleans; nice room</a:t>
            </a:r>
            <a:endParaRPr lang="en-US" sz="1100" dirty="0"/>
          </a:p>
        </p:txBody>
      </p:sp>
      <p:sp>
        <p:nvSpPr>
          <p:cNvPr id="16" name="box_116"/>
          <p:cNvSpPr txBox="1"/>
          <p:nvPr/>
        </p:nvSpPr>
        <p:spPr>
          <a:xfrm>
            <a:off x="2788920" y="2338251"/>
            <a:ext cx="2655418" cy="41017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Andrea @Melbourne</a:t>
            </a:r>
            <a:endParaRPr lang="en-US" sz="1200" dirty="0"/>
          </a:p>
        </p:txBody>
      </p:sp>
      <p:sp>
        <p:nvSpPr>
          <p:cNvPr id="17" name="R1_m2"/>
          <p:cNvSpPr txBox="1"/>
          <p:nvPr/>
        </p:nvSpPr>
        <p:spPr>
          <a:xfrm>
            <a:off x="5517490" y="2356539"/>
            <a:ext cx="3306470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– she doesn't feel independent</a:t>
            </a:r>
            <a:endParaRPr lang="en-US" sz="1100" dirty="0"/>
          </a:p>
        </p:txBody>
      </p:sp>
      <p:sp>
        <p:nvSpPr>
          <p:cNvPr id="18" name="box_117"/>
          <p:cNvSpPr txBox="1"/>
          <p:nvPr/>
        </p:nvSpPr>
        <p:spPr>
          <a:xfrm>
            <a:off x="2788920" y="2821577"/>
            <a:ext cx="2655418" cy="41017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Carlos @Valencia</a:t>
            </a:r>
            <a:endParaRPr lang="en-US" sz="1200" dirty="0"/>
          </a:p>
        </p:txBody>
      </p:sp>
      <p:sp>
        <p:nvSpPr>
          <p:cNvPr id="19" name="R1_m3"/>
          <p:cNvSpPr txBox="1"/>
          <p:nvPr/>
        </p:nvSpPr>
        <p:spPr>
          <a:xfrm>
            <a:off x="5517490" y="2839865"/>
            <a:ext cx="3306470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– his mum drives him mad; he'd like a dog</a:t>
            </a:r>
            <a:endParaRPr lang="en-US" sz="1100" dirty="0"/>
          </a:p>
        </p:txBody>
      </p:sp>
      <p:sp>
        <p:nvSpPr>
          <p:cNvPr id="20" name="box_118"/>
          <p:cNvSpPr txBox="1"/>
          <p:nvPr/>
        </p:nvSpPr>
        <p:spPr>
          <a:xfrm>
            <a:off x="2788920" y="3304903"/>
            <a:ext cx="2655418" cy="41017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In the highlighted phrases, what tense is the verb after if?</a:t>
            </a:r>
            <a:endParaRPr lang="en-US" sz="800" dirty="0"/>
          </a:p>
        </p:txBody>
      </p:sp>
      <p:sp>
        <p:nvSpPr>
          <p:cNvPr id="21" name="R1_m4"/>
          <p:cNvSpPr txBox="1"/>
          <p:nvPr/>
        </p:nvSpPr>
        <p:spPr>
          <a:xfrm>
            <a:off x="5517490" y="3323191"/>
            <a:ext cx="3306470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</a:t>
            </a:r>
            <a:endParaRPr lang="en-US" sz="1100" dirty="0"/>
          </a:p>
        </p:txBody>
      </p:sp>
      <p:sp>
        <p:nvSpPr>
          <p:cNvPr id="22" name="box_119"/>
          <p:cNvSpPr txBox="1"/>
          <p:nvPr/>
        </p:nvSpPr>
        <p:spPr>
          <a:xfrm>
            <a:off x="2788920" y="3788229"/>
            <a:ext cx="2655418" cy="410174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What form is the other verb?</a:t>
            </a:r>
            <a:endParaRPr lang="en-US" sz="1200" dirty="0"/>
          </a:p>
        </p:txBody>
      </p:sp>
      <p:sp>
        <p:nvSpPr>
          <p:cNvPr id="23" name="R1_m5"/>
          <p:cNvSpPr txBox="1"/>
          <p:nvPr/>
        </p:nvSpPr>
        <p:spPr>
          <a:xfrm>
            <a:off x="5517490" y="3806517"/>
            <a:ext cx="3306470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/ wouldn't + infinitive</a:t>
            </a:r>
            <a:endParaRPr lang="en-US" sz="1100" dirty="0"/>
          </a:p>
        </p:txBody>
      </p:sp>
      <p:sp>
        <p:nvSpPr>
          <p:cNvPr id="24" name="box_120"/>
          <p:cNvSpPr txBox="1"/>
          <p:nvPr/>
        </p:nvSpPr>
        <p:spPr>
          <a:xfrm>
            <a:off x="2788920" y="4271554"/>
            <a:ext cx="2655418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a) will probably happen soon, or b) imagining?</a:t>
            </a:r>
            <a:endParaRPr lang="en-US" sz="850" dirty="0"/>
          </a:p>
        </p:txBody>
      </p:sp>
      <p:sp>
        <p:nvSpPr>
          <p:cNvPr id="25" name="R1_m6"/>
          <p:cNvSpPr txBox="1"/>
          <p:nvPr/>
        </p:nvSpPr>
        <p:spPr>
          <a:xfrm>
            <a:off x="5517490" y="4289842"/>
            <a:ext cx="3306470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– a situation they are imagining</a:t>
            </a:r>
            <a:endParaRPr lang="en-US" sz="1100" dirty="0"/>
          </a:p>
        </p:txBody>
      </p:sp>
      <p:sp>
        <p:nvSpPr>
          <p:cNvPr id="26" name="pageTag_12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p.71 · 2a, 2b</a:t>
            </a:r>
            <a:endParaRPr lang="en-US" sz="1050" dirty="0"/>
          </a:p>
        </p:txBody>
      </p:sp>
      <p:sp>
        <p:nvSpPr>
          <p:cNvPr id="27" name="pframe_122"/>
          <p:cNvSpPr/>
          <p:nvPr/>
        </p:nvSpPr>
        <p:spPr>
          <a:xfrm rot="120000">
            <a:off x="685800" y="3154680"/>
            <a:ext cx="1417320" cy="1472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8" name="pimg_123" descr="pictur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120000">
            <a:off x="758952" y="3227832"/>
            <a:ext cx="1271016" cy="125272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2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7B p.145</a:t>
            </a:r>
            <a:endParaRPr lang="en-US" sz="900" dirty="0"/>
          </a:p>
        </p:txBody>
      </p:sp>
      <p:sp>
        <p:nvSpPr>
          <p:cNvPr id="6" name="timer_12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2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129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 conditional</a:t>
            </a:r>
            <a:endParaRPr lang="en-US" sz="1500" dirty="0"/>
          </a:p>
        </p:txBody>
      </p:sp>
      <p:sp>
        <p:nvSpPr>
          <p:cNvPr id="9" name="rh_130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+ past, would + inf.</a:t>
            </a:r>
            <a:endParaRPr lang="en-US" sz="1300" dirty="0"/>
          </a:p>
        </p:txBody>
      </p:sp>
      <p:sp>
        <p:nvSpPr>
          <p:cNvPr id="10" name="rb_131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a job, I'd get my own flat.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get on better with my parents if I didn't live with them.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David spoke good English, he could get a job.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imaginary / unlikely present or future (= se avessi…, farei…)</a:t>
            </a:r>
            <a:endParaRPr lang="en-US" sz="1250" dirty="0"/>
          </a:p>
        </p:txBody>
      </p:sp>
      <p:sp>
        <p:nvSpPr>
          <p:cNvPr id="11" name="rh_132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· If I were you</a:t>
            </a:r>
            <a:endParaRPr lang="en-US" sz="1300" dirty="0"/>
          </a:p>
        </p:txBody>
      </p:sp>
      <p:sp>
        <p:nvSpPr>
          <p:cNvPr id="12" name="rb_133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sister were here, she'd know what to do.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was warmer, we could have a swim.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 you, I'd buy a new computer.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for all persons (was is also OK) · If I were you = advice</a:t>
            </a:r>
            <a:endParaRPr lang="en-US" sz="1250" dirty="0"/>
          </a:p>
        </p:txBody>
      </p:sp>
      <p:sp>
        <p:nvSpPr>
          <p:cNvPr id="13" name="rh_134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 or 2nd?</a:t>
            </a:r>
            <a:endParaRPr lang="en-US" sz="1300" dirty="0"/>
          </a:p>
        </p:txBody>
      </p:sp>
      <p:sp>
        <p:nvSpPr>
          <p:cNvPr id="14" name="rb_135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get a mortgage, we'll buy the house. (real, possible)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lived on my own, I'd have to pay rent. (imaginary)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never buy a flat next to a pub.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can be used without if</a:t>
            </a:r>
            <a:endParaRPr lang="en-US" sz="1250" dirty="0"/>
          </a:p>
        </p:txBody>
      </p:sp>
      <p:sp>
        <p:nvSpPr>
          <p:cNvPr id="15" name="watch_136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If I would have a job… → ✓ If I had a job…   ✗ If I had money, I will buy… → ✓ I would buy…   'd = would (I'd go) – not had!</a:t>
            </a:r>
            <a:endParaRPr lang="en-US" sz="1000" dirty="0"/>
          </a:p>
        </p:txBody>
      </p:sp>
      <p:sp>
        <p:nvSpPr>
          <p:cNvPr id="16" name="pageTag_137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7B p.145 · audio 7.15 · 7.16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3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Grammar Bank 7B · practice</a:t>
            </a:r>
            <a:endParaRPr lang="en-US" sz="900" dirty="0"/>
          </a:p>
        </p:txBody>
      </p:sp>
      <p:sp>
        <p:nvSpPr>
          <p:cNvPr id="6" name="timer_14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4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143"/>
          <p:cNvSpPr txBox="1"/>
          <p:nvPr/>
        </p:nvSpPr>
        <p:spPr>
          <a:xfrm rot="-120000">
            <a:off x="320040" y="676656"/>
            <a:ext cx="241401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1st or 2nd?</a:t>
            </a:r>
            <a:endParaRPr lang="en-US" sz="1500" dirty="0"/>
          </a:p>
        </p:txBody>
      </p:sp>
      <p:sp>
        <p:nvSpPr>
          <p:cNvPr id="9" name="post_14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4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4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7B: a 1–5 and b 1–5. Then check!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Bank 7B: a 1–5 e b 1–5. Poi controlla!</a:t>
            </a:r>
            <a:endParaRPr lang="en-US" sz="1250" dirty="0"/>
          </a:p>
        </p:txBody>
      </p:sp>
      <p:sp>
        <p:nvSpPr>
          <p:cNvPr id="12" name="iconBack_14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48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49"/>
          <p:cNvSpPr txBox="1"/>
          <p:nvPr/>
        </p:nvSpPr>
        <p:spPr>
          <a:xfrm>
            <a:off x="2788920" y="1371600"/>
            <a:ext cx="1207008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1–3</a:t>
            </a:r>
            <a:endParaRPr lang="en-US" sz="1400" dirty="0"/>
          </a:p>
        </p:txBody>
      </p:sp>
      <p:sp>
        <p:nvSpPr>
          <p:cNvPr id="15" name="R1_a0"/>
          <p:cNvSpPr txBox="1"/>
          <p:nvPr/>
        </p:nvSpPr>
        <p:spPr>
          <a:xfrm>
            <a:off x="4050792" y="1408176"/>
            <a:ext cx="477316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wouldn't have to · worked   2 didn't have · 'd get on   3 wouldn't buy · were</a:t>
            </a:r>
            <a:endParaRPr lang="en-US" sz="1250" dirty="0"/>
          </a:p>
        </p:txBody>
      </p:sp>
      <p:sp>
        <p:nvSpPr>
          <p:cNvPr id="16" name="box_150"/>
          <p:cNvSpPr txBox="1"/>
          <p:nvPr/>
        </p:nvSpPr>
        <p:spPr>
          <a:xfrm>
            <a:off x="2788920" y="2226564"/>
            <a:ext cx="1207008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4–5</a:t>
            </a:r>
            <a:endParaRPr lang="en-US" sz="1400" dirty="0"/>
          </a:p>
        </p:txBody>
      </p:sp>
      <p:sp>
        <p:nvSpPr>
          <p:cNvPr id="17" name="R2_a1"/>
          <p:cNvSpPr txBox="1"/>
          <p:nvPr/>
        </p:nvSpPr>
        <p:spPr>
          <a:xfrm>
            <a:off x="4050792" y="2263140"/>
            <a:ext cx="477316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Would… sell · offered   5 lived · 'd get divorced</a:t>
            </a:r>
            <a:endParaRPr lang="en-US" sz="1250" dirty="0"/>
          </a:p>
        </p:txBody>
      </p:sp>
      <p:sp>
        <p:nvSpPr>
          <p:cNvPr id="18" name="box_151"/>
          <p:cNvSpPr txBox="1"/>
          <p:nvPr/>
        </p:nvSpPr>
        <p:spPr>
          <a:xfrm>
            <a:off x="2788920" y="3081528"/>
            <a:ext cx="1207008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1–3</a:t>
            </a:r>
            <a:endParaRPr lang="en-US" sz="1400" dirty="0"/>
          </a:p>
        </p:txBody>
      </p:sp>
      <p:sp>
        <p:nvSpPr>
          <p:cNvPr id="19" name="R3_a2"/>
          <p:cNvSpPr txBox="1"/>
          <p:nvPr/>
        </p:nvSpPr>
        <p:spPr>
          <a:xfrm>
            <a:off x="4050792" y="3118104"/>
            <a:ext cx="477316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would get · didn't go (2nd)   2 will · go (1st)   3 don't pass · will (1st)</a:t>
            </a:r>
            <a:endParaRPr lang="en-US" sz="1250" dirty="0"/>
          </a:p>
        </p:txBody>
      </p:sp>
      <p:sp>
        <p:nvSpPr>
          <p:cNvPr id="20" name="box_152"/>
          <p:cNvSpPr txBox="1"/>
          <p:nvPr/>
        </p:nvSpPr>
        <p:spPr>
          <a:xfrm>
            <a:off x="2788920" y="3936492"/>
            <a:ext cx="1207008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4–5</a:t>
            </a:r>
            <a:endParaRPr lang="en-US" sz="1400" dirty="0"/>
          </a:p>
        </p:txBody>
      </p:sp>
      <p:sp>
        <p:nvSpPr>
          <p:cNvPr id="21" name="R4_a3"/>
          <p:cNvSpPr txBox="1"/>
          <p:nvPr/>
        </p:nvSpPr>
        <p:spPr>
          <a:xfrm>
            <a:off x="4050792" y="3973068"/>
            <a:ext cx="4773168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'd buy · was (2nd)   5 couldn't have · didn't have (2nd)</a:t>
            </a:r>
            <a:endParaRPr lang="en-US" sz="1250" dirty="0"/>
          </a:p>
        </p:txBody>
      </p:sp>
      <p:sp>
        <p:nvSpPr>
          <p:cNvPr id="22" name="pageTag_15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Grammar Bank 7B p.145 · a 1–5, b 1–5 (a 6–10, b 6–10 = homework)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5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Communication A p.108 · B p.113</a:t>
            </a:r>
            <a:endParaRPr lang="en-US" sz="900" dirty="0"/>
          </a:p>
        </p:txBody>
      </p:sp>
      <p:sp>
        <p:nvSpPr>
          <p:cNvPr id="6" name="timer_15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5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159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Guess the sentence</a:t>
            </a:r>
            <a:endParaRPr lang="en-US" sz="1500" dirty="0"/>
          </a:p>
        </p:txBody>
      </p:sp>
      <p:sp>
        <p:nvSpPr>
          <p:cNvPr id="9" name="post_16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6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6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your partner's EXACT sentence. Try again until it's right!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 la frase ESATTA del compagno. Riprova finché è giusta!</a:t>
            </a:r>
            <a:endParaRPr lang="en-US" sz="1100" dirty="0"/>
          </a:p>
        </p:txBody>
      </p:sp>
      <p:sp>
        <p:nvSpPr>
          <p:cNvPr id="12" name="iconBack_163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64" descr="pi:PiTarg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165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166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model: IF I HAD A JOB, I ______ MY OWN FLAT. (+) Guess my exact words!</a:t>
            </a:r>
            <a:endParaRPr lang="en-US" sz="1050" dirty="0"/>
          </a:p>
        </p:txBody>
      </p:sp>
      <p:sp>
        <p:nvSpPr>
          <p:cNvPr id="16" name="num_167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68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p.108, B → p.113. Complete your sentences IN YOUR HEAD – don't write yet.</a:t>
            </a:r>
            <a:endParaRPr lang="en-US" sz="1050" dirty="0"/>
          </a:p>
        </p:txBody>
      </p:sp>
      <p:sp>
        <p:nvSpPr>
          <p:cNvPr id="18" name="num_169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170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reads sentence 1 with an ending. B says: Yes! or Try again.</a:t>
            </a:r>
            <a:endParaRPr lang="en-US" sz="1250" dirty="0"/>
          </a:p>
        </p:txBody>
      </p:sp>
      <p:sp>
        <p:nvSpPr>
          <p:cNvPr id="20" name="num_171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172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right, A writes it in. Then B reads, A checks.</a:t>
            </a:r>
            <a:endParaRPr lang="en-US" sz="1250" dirty="0"/>
          </a:p>
        </p:txBody>
      </p:sp>
      <p:sp>
        <p:nvSpPr>
          <p:cNvPr id="22" name="num_173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174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with the most first-time guesses wins.</a:t>
            </a:r>
            <a:endParaRPr lang="en-US" sz="1250" dirty="0"/>
          </a:p>
        </p:txBody>
      </p:sp>
      <p:sp>
        <p:nvSpPr>
          <p:cNvPr id="24" name="R1_ex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a job, I'd rent my own flat.</a:t>
            </a:r>
            <a:endParaRPr lang="en-US" sz="1300" dirty="0"/>
          </a:p>
        </p:txBody>
      </p:sp>
      <p:sp>
        <p:nvSpPr>
          <p:cNvPr id="25" name="pageTag_17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p.71 · 2d · Communication Guess the sentence A p.108, B p.113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7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Sentence stress · audio 7.16</a:t>
            </a:r>
            <a:endParaRPr lang="en-US" sz="900" dirty="0"/>
          </a:p>
        </p:txBody>
      </p:sp>
      <p:sp>
        <p:nvSpPr>
          <p:cNvPr id="6" name="timer_17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18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181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with rhythm</a:t>
            </a:r>
            <a:endParaRPr lang="en-US" sz="1500" dirty="0"/>
          </a:p>
        </p:txBody>
      </p:sp>
      <p:sp>
        <p:nvSpPr>
          <p:cNvPr id="9" name="post_18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8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8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repeat. Stress the important words!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 e ripeti. Accentua le parole importanti!</a:t>
            </a:r>
            <a:endParaRPr lang="en-US" sz="1250" dirty="0"/>
          </a:p>
        </p:txBody>
      </p:sp>
      <p:sp>
        <p:nvSpPr>
          <p:cNvPr id="12" name="iconBack_18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86" descr="pi:PiMusicNo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87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If I LIVED on my OWN, I'd HAVE to PAY RENT.</a:t>
            </a:r>
            <a:endParaRPr lang="en-US" sz="1350" dirty="0"/>
          </a:p>
        </p:txBody>
      </p:sp>
      <p:sp>
        <p:nvSpPr>
          <p:cNvPr id="15" name="box_188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If we GET a MORTGAGE, we'll BUY the HOUSE.</a:t>
            </a:r>
            <a:endParaRPr lang="en-US" sz="1350" dirty="0"/>
          </a:p>
        </p:txBody>
      </p:sp>
      <p:sp>
        <p:nvSpPr>
          <p:cNvPr id="16" name="box_189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Would you LEAVE HOME if you GOT a JOB?</a:t>
            </a:r>
            <a:endParaRPr lang="en-US" sz="1350" dirty="0"/>
          </a:p>
        </p:txBody>
      </p:sp>
      <p:sp>
        <p:nvSpPr>
          <p:cNvPr id="17" name="box_190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 WON'T MOVE OUT if I CAN'T AFFORD it.</a:t>
            </a:r>
            <a:endParaRPr lang="en-US" sz="1350" dirty="0"/>
          </a:p>
        </p:txBody>
      </p:sp>
      <p:sp>
        <p:nvSpPr>
          <p:cNvPr id="18" name="box_191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If it were MY FLAT, I'd be HAPPY to DO the CLEANING.</a:t>
            </a:r>
            <a:endParaRPr lang="en-US" sz="1350" dirty="0"/>
          </a:p>
        </p:txBody>
      </p:sp>
      <p:sp>
        <p:nvSpPr>
          <p:cNvPr id="19" name="pageTag_19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p.71 · 3a · audio 7.16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9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1st and 2nd conditional</a:t>
            </a:r>
            <a:endParaRPr lang="en-US" sz="900" dirty="0"/>
          </a:p>
        </p:txBody>
      </p:sp>
      <p:sp>
        <p:nvSpPr>
          <p:cNvPr id="6" name="timer_19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9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8" name="title_198"/>
          <p:cNvSpPr txBox="1"/>
          <p:nvPr/>
        </p:nvSpPr>
        <p:spPr>
          <a:xfrm rot="-120000">
            <a:off x="320040" y="676656"/>
            <a:ext cx="137160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I…</a:t>
            </a:r>
            <a:endParaRPr lang="en-US" sz="1500" dirty="0"/>
          </a:p>
        </p:txBody>
      </p:sp>
      <p:sp>
        <p:nvSpPr>
          <p:cNvPr id="9" name="post_19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0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0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six. Make them true for you. Your partner asks for more!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Scegline sei. Rendile vere per te. Il compagno chiede di più!</a:t>
            </a:r>
            <a:endParaRPr lang="en-US" sz="1200" dirty="0"/>
          </a:p>
        </p:txBody>
      </p:sp>
      <p:sp>
        <p:nvSpPr>
          <p:cNvPr id="12" name="iconBack_20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03" descr="pi:PiChatsTeardr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204"/>
          <p:cNvSpPr txBox="1"/>
          <p:nvPr/>
        </p:nvSpPr>
        <p:spPr>
          <a:xfrm>
            <a:off x="2788920" y="1371600"/>
            <a:ext cx="2953512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If I could live anywhere in my town or city, I'd…</a:t>
            </a:r>
            <a:endParaRPr lang="en-US" sz="1050" dirty="0"/>
          </a:p>
        </p:txBody>
      </p:sp>
      <p:sp>
        <p:nvSpPr>
          <p:cNvPr id="15" name="box_205"/>
          <p:cNvSpPr txBox="1"/>
          <p:nvPr/>
        </p:nvSpPr>
        <p:spPr>
          <a:xfrm>
            <a:off x="5870448" y="1371600"/>
            <a:ext cx="2953512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If I have some free time this weekend, I'll…</a:t>
            </a:r>
            <a:endParaRPr lang="en-US" sz="1050" dirty="0"/>
          </a:p>
        </p:txBody>
      </p:sp>
      <p:sp>
        <p:nvSpPr>
          <p:cNvPr id="16" name="box_206"/>
          <p:cNvSpPr txBox="1"/>
          <p:nvPr/>
        </p:nvSpPr>
        <p:spPr>
          <a:xfrm>
            <a:off x="2788920" y="2055571"/>
            <a:ext cx="2953512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If I won a 'dream holiday' in a competition, I…</a:t>
            </a:r>
            <a:endParaRPr lang="en-US" sz="1050" dirty="0"/>
          </a:p>
        </p:txBody>
      </p:sp>
      <p:sp>
        <p:nvSpPr>
          <p:cNvPr id="17" name="box_207"/>
          <p:cNvSpPr txBox="1"/>
          <p:nvPr/>
        </p:nvSpPr>
        <p:spPr>
          <a:xfrm>
            <a:off x="5870448" y="2055571"/>
            <a:ext cx="2953512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If I could choose any car I liked, I…</a:t>
            </a:r>
            <a:endParaRPr lang="en-US" sz="1050" dirty="0"/>
          </a:p>
        </p:txBody>
      </p:sp>
      <p:sp>
        <p:nvSpPr>
          <p:cNvPr id="18" name="box_208"/>
          <p:cNvSpPr txBox="1"/>
          <p:nvPr/>
        </p:nvSpPr>
        <p:spPr>
          <a:xfrm>
            <a:off x="2788920" y="2739542"/>
            <a:ext cx="2953512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If I get a new phone this year, I…</a:t>
            </a:r>
            <a:endParaRPr lang="en-US" sz="1050" dirty="0"/>
          </a:p>
        </p:txBody>
      </p:sp>
      <p:sp>
        <p:nvSpPr>
          <p:cNvPr id="19" name="box_209"/>
          <p:cNvSpPr txBox="1"/>
          <p:nvPr/>
        </p:nvSpPr>
        <p:spPr>
          <a:xfrm>
            <a:off x="5870448" y="2739542"/>
            <a:ext cx="2953512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If I could choose my ideal job, I…</a:t>
            </a:r>
            <a:endParaRPr lang="en-US" sz="1050" dirty="0"/>
          </a:p>
        </p:txBody>
      </p:sp>
      <p:sp>
        <p:nvSpPr>
          <p:cNvPr id="20" name="box_210"/>
          <p:cNvSpPr txBox="1"/>
          <p:nvPr/>
        </p:nvSpPr>
        <p:spPr>
          <a:xfrm>
            <a:off x="2788920" y="3423514"/>
            <a:ext cx="2953512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If I don't have time to do the homework tonight, I…</a:t>
            </a:r>
            <a:endParaRPr lang="en-US" sz="1050" dirty="0"/>
          </a:p>
        </p:txBody>
      </p:sp>
      <p:sp>
        <p:nvSpPr>
          <p:cNvPr id="21" name="box_211"/>
          <p:cNvSpPr txBox="1"/>
          <p:nvPr/>
        </p:nvSpPr>
        <p:spPr>
          <a:xfrm>
            <a:off x="5870448" y="3423514"/>
            <a:ext cx="2953512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If I was asked to work abroad for a year, I…</a:t>
            </a:r>
            <a:endParaRPr lang="en-US" sz="1050" dirty="0"/>
          </a:p>
        </p:txBody>
      </p:sp>
      <p:sp>
        <p:nvSpPr>
          <p:cNvPr id="22" name="box_212"/>
          <p:cNvSpPr txBox="1"/>
          <p:nvPr/>
        </p:nvSpPr>
        <p:spPr>
          <a:xfrm>
            <a:off x="2788920" y="4107485"/>
            <a:ext cx="2953512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If I couldn't use the internet for a week, I…</a:t>
            </a:r>
            <a:endParaRPr lang="en-US" sz="1050" dirty="0"/>
          </a:p>
        </p:txBody>
      </p:sp>
      <p:sp>
        <p:nvSpPr>
          <p:cNvPr id="23" name="box_213"/>
          <p:cNvSpPr txBox="1"/>
          <p:nvPr/>
        </p:nvSpPr>
        <p:spPr>
          <a:xfrm>
            <a:off x="5870448" y="4107485"/>
            <a:ext cx="2953512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If I feel like going out tonight, I…</a:t>
            </a:r>
            <a:endParaRPr lang="en-US" sz="1050" dirty="0"/>
          </a:p>
        </p:txBody>
      </p:sp>
      <p:sp>
        <p:nvSpPr>
          <p:cNvPr id="24" name="pageTag_21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p.71 · 3b, 3c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1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1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1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6" name="title_218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19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20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an article about living with your parents.</a:t>
            </a:r>
            <a:endParaRPr lang="en-US" sz="1200" dirty="0"/>
          </a:p>
        </p:txBody>
      </p:sp>
      <p:sp>
        <p:nvSpPr>
          <p:cNvPr id="9" name="faces_221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22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talk about imaginary situations with if + past, would.</a:t>
            </a:r>
            <a:endParaRPr lang="en-US" sz="1200" dirty="0"/>
          </a:p>
        </p:txBody>
      </p:sp>
      <p:sp>
        <p:nvSpPr>
          <p:cNvPr id="11" name="faces_223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24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choose between the first and second conditional.</a:t>
            </a:r>
            <a:endParaRPr lang="en-US" sz="1200" dirty="0"/>
          </a:p>
        </p:txBody>
      </p:sp>
      <p:sp>
        <p:nvSpPr>
          <p:cNvPr id="13" name="faces_225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26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7B: 1a, 1b, 1c, 2a (audio)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Grammar Bank 7B: a 6–10, b 6–10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7B-1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227"/>
          <p:cNvSpPr txBox="1"/>
          <p:nvPr/>
        </p:nvSpPr>
        <p:spPr>
          <a:xfrm>
            <a:off x="365760" y="365760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7B part 2 · Houses · A famous house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2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Conditional chain</a:t>
            </a:r>
            <a:endParaRPr lang="en-US" sz="900" dirty="0"/>
          </a:p>
        </p:txBody>
      </p:sp>
      <p:sp>
        <p:nvSpPr>
          <p:cNvPr id="6" name="timer_23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32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3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9" name="title_234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chain reaction</a:t>
            </a:r>
            <a:endParaRPr lang="en-US" sz="1500" dirty="0"/>
          </a:p>
        </p:txBody>
      </p:sp>
      <p:sp>
        <p:nvSpPr>
          <p:cNvPr id="10" name="post_23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3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23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chain! Your if-clause = the last result.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la catena! La tua frase con if = l'ultimo risultato.</a:t>
            </a:r>
            <a:endParaRPr lang="en-US" sz="1250" dirty="0"/>
          </a:p>
        </p:txBody>
      </p:sp>
      <p:sp>
        <p:nvSpPr>
          <p:cNvPr id="13" name="iconBack_23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39" descr="pi:PiLink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40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41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starts: If I won the lottery, I'd buy a house by the sea.</a:t>
            </a:r>
            <a:endParaRPr lang="en-US" sz="1300" dirty="0"/>
          </a:p>
        </p:txBody>
      </p:sp>
      <p:sp>
        <p:nvSpPr>
          <p:cNvPr id="17" name="num_242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43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student: If I bought a house by the sea, I'd…</a:t>
            </a:r>
            <a:endParaRPr lang="en-US" sz="1300" dirty="0"/>
          </a:p>
        </p:txBody>
      </p:sp>
      <p:sp>
        <p:nvSpPr>
          <p:cNvPr id="19" name="num_244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45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turns the last result into a new if-clause.</a:t>
            </a:r>
            <a:endParaRPr lang="en-US" sz="1300" dirty="0"/>
          </a:p>
        </p:txBody>
      </p:sp>
      <p:sp>
        <p:nvSpPr>
          <p:cNvPr id="21" name="num_246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47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Hesitate for more than 5 seconds or make a mistake = you're out!</a:t>
            </a:r>
            <a:endParaRPr lang="en-US" sz="1300" dirty="0"/>
          </a:p>
        </p:txBody>
      </p:sp>
      <p:sp>
        <p:nvSpPr>
          <p:cNvPr id="23" name="num_248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box_249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must stay logical. The last student standing wins.</a:t>
            </a:r>
            <a:endParaRPr lang="en-US" sz="1300" dirty="0"/>
          </a:p>
        </p:txBody>
      </p:sp>
      <p:sp>
        <p:nvSpPr>
          <p:cNvPr id="25" name="bubble_250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a house by the sea, I'd go swimming every day. If I went swimming every day, I'd…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5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Grammar · Photocopiable 7B</a:t>
            </a:r>
            <a:endParaRPr lang="en-US" sz="900" dirty="0"/>
          </a:p>
        </p:txBody>
      </p:sp>
      <p:sp>
        <p:nvSpPr>
          <p:cNvPr id="6" name="timer_25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200" dirty="0"/>
          </a:p>
        </p:txBody>
      </p:sp>
      <p:sp>
        <p:nvSpPr>
          <p:cNvPr id="7" name="extra_25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5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9" name="title_257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photocopiable</a:t>
            </a:r>
            <a:endParaRPr lang="en-US" sz="1500" dirty="0"/>
          </a:p>
        </p:txBody>
      </p:sp>
      <p:sp>
        <p:nvSpPr>
          <p:cNvPr id="10" name="post_25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5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26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Handout page 1: do a and b. Then check!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Fotocopia pag. 1: fai a e b. Poi controlla!</a:t>
            </a:r>
            <a:endParaRPr lang="en-US" sz="1250" dirty="0"/>
          </a:p>
        </p:txBody>
      </p:sp>
      <p:sp>
        <p:nvSpPr>
          <p:cNvPr id="13" name="iconBack_26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62" descr="pi:PiPr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box_263"/>
          <p:cNvSpPr txBox="1"/>
          <p:nvPr/>
        </p:nvSpPr>
        <p:spPr>
          <a:xfrm>
            <a:off x="2788920" y="1371600"/>
            <a:ext cx="1086307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3–10</a:t>
            </a:r>
            <a:endParaRPr lang="en-US" sz="1300" dirty="0"/>
          </a:p>
        </p:txBody>
      </p:sp>
      <p:sp>
        <p:nvSpPr>
          <p:cNvPr id="16" name="R1_a0"/>
          <p:cNvSpPr txBox="1"/>
          <p:nvPr/>
        </p:nvSpPr>
        <p:spPr>
          <a:xfrm>
            <a:off x="3930091" y="1408176"/>
            <a:ext cx="4893869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'd have · 4 lived · 5 'd have · 6 came · 7 brought · 8 'd have · 9 'd be able to / could · 10 was / were</a:t>
            </a:r>
            <a:endParaRPr lang="en-US" sz="1150" dirty="0"/>
          </a:p>
        </p:txBody>
      </p:sp>
      <p:sp>
        <p:nvSpPr>
          <p:cNvPr id="17" name="box_264"/>
          <p:cNvSpPr txBox="1"/>
          <p:nvPr/>
        </p:nvSpPr>
        <p:spPr>
          <a:xfrm>
            <a:off x="2788920" y="2226564"/>
            <a:ext cx="1086307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11–18</a:t>
            </a:r>
            <a:endParaRPr lang="en-US" sz="1300" dirty="0"/>
          </a:p>
        </p:txBody>
      </p:sp>
      <p:sp>
        <p:nvSpPr>
          <p:cNvPr id="18" name="R2_a1"/>
          <p:cNvSpPr txBox="1"/>
          <p:nvPr/>
        </p:nvSpPr>
        <p:spPr>
          <a:xfrm>
            <a:off x="3930091" y="2263140"/>
            <a:ext cx="4893869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moved · 12 'd take · 13 went · 14 wouldn't take · 15 'd feel · 16 didn't have to · 17 would laugh · 18 asked</a:t>
            </a:r>
            <a:endParaRPr lang="en-US" sz="1150" dirty="0"/>
          </a:p>
        </p:txBody>
      </p:sp>
      <p:sp>
        <p:nvSpPr>
          <p:cNvPr id="19" name="box_265"/>
          <p:cNvSpPr txBox="1"/>
          <p:nvPr/>
        </p:nvSpPr>
        <p:spPr>
          <a:xfrm>
            <a:off x="2788920" y="3081528"/>
            <a:ext cx="1086307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2–6</a:t>
            </a:r>
            <a:endParaRPr lang="en-US" sz="1300" dirty="0"/>
          </a:p>
        </p:txBody>
      </p:sp>
      <p:sp>
        <p:nvSpPr>
          <p:cNvPr id="20" name="R3_a2"/>
          <p:cNvSpPr txBox="1"/>
          <p:nvPr/>
        </p:nvSpPr>
        <p:spPr>
          <a:xfrm>
            <a:off x="3930091" y="3118104"/>
            <a:ext cx="4893869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'd buy · 3 goes · 4 reduce · 5 'd take · 6 gets</a:t>
            </a:r>
            <a:endParaRPr lang="en-US" sz="1150" dirty="0"/>
          </a:p>
        </p:txBody>
      </p:sp>
      <p:sp>
        <p:nvSpPr>
          <p:cNvPr id="21" name="box_266"/>
          <p:cNvSpPr txBox="1"/>
          <p:nvPr/>
        </p:nvSpPr>
        <p:spPr>
          <a:xfrm>
            <a:off x="2788920" y="3936492"/>
            <a:ext cx="1086307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7–10</a:t>
            </a:r>
            <a:endParaRPr lang="en-US" sz="1300" dirty="0"/>
          </a:p>
        </p:txBody>
      </p:sp>
      <p:sp>
        <p:nvSpPr>
          <p:cNvPr id="22" name="R4_a3"/>
          <p:cNvSpPr txBox="1"/>
          <p:nvPr/>
        </p:nvSpPr>
        <p:spPr>
          <a:xfrm>
            <a:off x="3930091" y="3973068"/>
            <a:ext cx="4893869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weren't / wasn't · 8 found · 9 'll never finish · 10 will be</a:t>
            </a:r>
            <a:endParaRPr lang="en-US" sz="1150" dirty="0"/>
          </a:p>
        </p:txBody>
      </p:sp>
      <p:sp>
        <p:nvSpPr>
          <p:cNvPr id="23" name="pageTag_267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📄 Print: B1_7B_Photocopiables.pdf, page 1 · Grammar 7B second conditional, choosing between conditionals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7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Photocopiable 7B</a:t>
            </a:r>
            <a:endParaRPr lang="en-US" sz="900" dirty="0"/>
          </a:p>
        </p:txBody>
      </p:sp>
      <p:sp>
        <p:nvSpPr>
          <p:cNvPr id="6" name="timer_27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72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7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· Part 1</a:t>
            </a:r>
            <a:endParaRPr lang="en-US" sz="1000" dirty="0"/>
          </a:p>
        </p:txBody>
      </p:sp>
      <p:sp>
        <p:nvSpPr>
          <p:cNvPr id="9" name="title_274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you had to choose…</a:t>
            </a:r>
            <a:endParaRPr lang="en-US" sz="1500" dirty="0"/>
          </a:p>
        </p:txBody>
      </p:sp>
      <p:sp>
        <p:nvSpPr>
          <p:cNvPr id="10" name="post_27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7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7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Handout page 2. Choose one – no 'it depends'!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Fotocopia pag. 2. Scegline una – niente 'dipende'!</a:t>
            </a:r>
            <a:endParaRPr lang="en-US" sz="1200" dirty="0"/>
          </a:p>
        </p:txBody>
      </p:sp>
      <p:sp>
        <p:nvSpPr>
          <p:cNvPr id="13" name="box_278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…a new flat OR an old flat which you could renovate yourself?</a:t>
            </a:r>
            <a:endParaRPr lang="en-US" sz="1250" dirty="0"/>
          </a:p>
        </p:txBody>
      </p:sp>
      <p:sp>
        <p:nvSpPr>
          <p:cNvPr id="14" name="box_279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…a holiday house on the coast OR in the mountains?</a:t>
            </a:r>
            <a:endParaRPr lang="en-US" sz="1250" dirty="0"/>
          </a:p>
        </p:txBody>
      </p:sp>
      <p:sp>
        <p:nvSpPr>
          <p:cNvPr id="15" name="box_280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…a four-bedroom house in the country OR a one-bedroom flat in the city centre?</a:t>
            </a:r>
            <a:endParaRPr lang="en-US" sz="1250" dirty="0"/>
          </a:p>
        </p:txBody>
      </p:sp>
      <p:sp>
        <p:nvSpPr>
          <p:cNvPr id="16" name="box_281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…a house next to a primary school OR next to a restaurant?</a:t>
            </a:r>
            <a:endParaRPr lang="en-US" sz="1250" dirty="0"/>
          </a:p>
        </p:txBody>
      </p:sp>
      <p:sp>
        <p:nvSpPr>
          <p:cNvPr id="17" name="box_282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…a modern, spacious apartment OR an old, cosy house?</a:t>
            </a:r>
            <a:endParaRPr lang="en-US" sz="1250" dirty="0"/>
          </a:p>
        </p:txBody>
      </p:sp>
      <p:sp>
        <p:nvSpPr>
          <p:cNvPr id="18" name="sticky_283"/>
          <p:cNvSpPr txBox="1"/>
          <p:nvPr/>
        </p:nvSpPr>
        <p:spPr>
          <a:xfrm rot="-120000">
            <a:off x="411480" y="3977640"/>
            <a:ext cx="219456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prefer to live in a new flat, because if I lived in an old flat, I'd have to do a lot of work on it.</a:t>
            </a:r>
            <a:endParaRPr lang="en-US" sz="1000" dirty="0"/>
          </a:p>
        </p:txBody>
      </p:sp>
      <p:sp>
        <p:nvSpPr>
          <p:cNvPr id="19" name="pageTag_28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📄 Print: B1_7B_Photocopiables.pdf, page 2 · Communicative 'If you had to choose…'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7B-1 The hotel of Mum and Dad</dc:title>
  <dc:subject>PptxGenJS Presentation</dc:subject>
  <dc:creator>London Language School</dc:creator>
  <cp:lastModifiedBy>London Language School</cp:lastModifiedBy>
  <cp:revision>1</cp:revision>
  <dcterms:created xsi:type="dcterms:W3CDTF">2026-10-05T09:39:32Z</dcterms:created>
  <dcterms:modified xsi:type="dcterms:W3CDTF">2026-10-05T09:39:32Z</dcterms:modified>
</cp:coreProperties>
</file>