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charts/chart1.xml" ContentType="application/vnd.openxmlformats-officedocument.drawingml.chart+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Lst>
  <p:notesMasterIdLst>
    <p:notesMasterId r:id="rId22"/>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notesMaster" Target="notesMasters/notesMaster1.xml"/><Relationship Id="rId23" Type="http://schemas.openxmlformats.org/officeDocument/2006/relationships/presProps" Target="presProps.xml"/><Relationship Id="rId24" Type="http://schemas.openxmlformats.org/officeDocument/2006/relationships/viewProps" Target="viewProps.xml"/><Relationship Id="rId25" Type="http://schemas.openxmlformats.org/officeDocument/2006/relationships/theme" Target="theme/theme1.xml"/><Relationship Id="rId26"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062F67"/>
                </a:solidFill>
                <a:latin typeface="Arial"/>
              </a:defRPr>
            </a:pPr>
            <a:r>
              <a:rPr sz="1300" b="0" i="0" u="none" strike="noStrike">
                <a:solidFill>
                  <a:srgbClr val="062F67"/>
                </a:solidFill>
                <a:latin typeface="Arial"/>
              </a:rPr>
              <a:t>Test results (%)</a:t>
            </a:r>
          </a:p>
        </c:rich>
      </c:tx>
      <c:layout/>
      <c:overlay val="0"/>
    </c:title>
    <c:autoTitleDeleted val="0"/>
    <c:plotArea>
      <c:layout/>
      <c:barChart>
        <c:barDir val="col"/>
        <c:grouping val="clustered"/>
        <c:varyColors val="0"/>
        <c:ser>
          <c:idx val="0"/>
          <c:order val="0"/>
          <c:tx>
            <c:strRef>
              <c:f>Sheet1!$B$1</c:f>
              <c:strCache>
                <c:ptCount val="1"/>
                <c:pt idx="0">
                  <c:v>British teachers</c:v>
                </c:pt>
              </c:strCache>
            </c:strRef>
          </c:tx>
          <c:spPr>
            <a:solidFill>
              <a:srgbClr val="48BDF2"/>
            </a:solidFill>
            <a:effectLst/>
          </c:spPr>
          <c:invertIfNegative val="0"/>
          <c:dLbls>
            <c:numFmt formatCode="#,##0" sourceLinked="0"/>
            <c:txPr>
              <a:bodyPr/>
              <a:lstStyle/>
              <a:p>
                <a:pPr>
                  <a:defRPr b="0" i="0" strike="noStrike" sz="1100" u="none">
                    <a:solidFill>
                      <a:srgbClr val="000000"/>
                    </a:solidFill>
                    <a:latin typeface="Arial"/>
                  </a:defRPr>
                </a:pPr>
              </a:p>
            </c:txPr>
            <c:showLegendKey val="0"/>
            <c:showVal val="1"/>
            <c:showCatName val="0"/>
            <c:showSerName val="0"/>
            <c:showPercent val="0"/>
            <c:showBubbleSize val="0"/>
            <c:showLeaderLines val="0"/>
          </c:dLbls>
          <c:cat>
            <c:multiLvlStrRef>
              <c:f>Sheet1!$A$2:$A$4</c:f>
              <c:multiLvlStrCache>
                <c:ptCount val="3"/>
                <c:lvl>
                  <c:pt idx="0">
                    <c:v>maths</c:v>
                  </c:pt>
                  <c:pt idx="1">
                    <c:v>science</c:v>
                  </c:pt>
                  <c:pt idx="2">
                    <c:v>Mandarin</c:v>
                  </c:pt>
                </c:lvl>
              </c:multiLvlStrCache>
            </c:multiLvlStrRef>
          </c:cat>
          <c:val>
            <c:numRef>
              <c:f>Sheet1!$B$2:$B$4</c:f>
              <c:numCache>
                <c:formatCode>General</c:formatCode>
                <c:ptCount val="3"/>
                <c:pt idx="0">
                  <c:v>54</c:v>
                </c:pt>
                <c:pt idx="1">
                  <c:v>50</c:v>
                </c:pt>
                <c:pt idx="2">
                  <c:v>37</c:v>
                </c:pt>
              </c:numCache>
            </c:numRef>
          </c:val>
        </c:ser>
        <c:ser>
          <c:idx val="1"/>
          <c:order val="1"/>
          <c:tx>
            <c:strRef>
              <c:f>Sheet1!$C$1</c:f>
              <c:strCache>
                <c:ptCount val="1"/>
                <c:pt idx="0">
                  <c:v>Chinese teachers</c:v>
                </c:pt>
              </c:strCache>
            </c:strRef>
          </c:tx>
          <c:spPr>
            <a:solidFill>
              <a:srgbClr val="1FA463"/>
            </a:solidFill>
            <a:effectLst/>
          </c:spPr>
          <c:invertIfNegative val="0"/>
          <c:dLbls>
            <c:numFmt formatCode="#,##0" sourceLinked="0"/>
            <c:txPr>
              <a:bodyPr/>
              <a:lstStyle/>
              <a:p>
                <a:pPr>
                  <a:defRPr b="0" i="0" strike="noStrike" sz="1100" u="none">
                    <a:solidFill>
                      <a:srgbClr val="000000"/>
                    </a:solidFill>
                    <a:latin typeface="Arial"/>
                  </a:defRPr>
                </a:pPr>
              </a:p>
            </c:txPr>
            <c:showLegendKey val="0"/>
            <c:showVal val="1"/>
            <c:showCatName val="0"/>
            <c:showSerName val="0"/>
            <c:showPercent val="0"/>
            <c:showBubbleSize val="0"/>
            <c:showLeaderLines val="0"/>
          </c:dLbls>
          <c:cat>
            <c:multiLvlStrRef>
              <c:f>Sheet1!$A$2:$A$4</c:f>
              <c:multiLvlStrCache>
                <c:ptCount val="3"/>
                <c:lvl>
                  <c:pt idx="0">
                    <c:v>maths</c:v>
                  </c:pt>
                  <c:pt idx="1">
                    <c:v>science</c:v>
                  </c:pt>
                  <c:pt idx="2">
                    <c:v>Mandarin</c:v>
                  </c:pt>
                </c:lvl>
              </c:multiLvlStrCache>
            </c:multiLvlStrRef>
          </c:cat>
          <c:val>
            <c:numRef>
              <c:f>Sheet1!$C$2:$C$4</c:f>
              <c:numCache>
                <c:formatCode>General</c:formatCode>
                <c:ptCount val="3"/>
                <c:pt idx="0">
                  <c:v>68</c:v>
                </c:pt>
                <c:pt idx="1">
                  <c:v>58</c:v>
                </c:pt>
                <c:pt idx="2">
                  <c:v>46</c:v>
                </c:pt>
              </c:numCache>
            </c:numRef>
          </c:val>
        </c:ser>
        <c:dLbls>
          <c:numFmt formatCode="#,##0" sourceLinked="0"/>
          <c:txPr>
            <a:bodyPr/>
            <a:lstStyle/>
            <a:p>
              <a:pPr>
                <a:defRPr b="0" i="0" strike="noStrike" sz="1100" u="none">
                  <a:solidFill>
                    <a:srgbClr val="000000"/>
                  </a:solidFill>
                  <a:latin typeface="Arial"/>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334155"/>
                </a:solidFill>
                <a:latin typeface="Arial"/>
              </a:defRPr>
            </a:pPr>
            <a:endParaRPr lang="en-US"/>
          </a:p>
        </c:txPr>
        <c:crossAx val="2094734552"/>
        <c:crosses val="autoZero"/>
        <c:auto val="1"/>
        <c:lblAlgn val="ctr"/>
        <c:noMultiLvlLbl val="1"/>
      </c:catAx>
      <c:valAx>
        <c:axId val="2094734552"/>
        <c:scaling>
          <c:orientation val="minMax"/>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legend>
      <c:legendPos val="b"/>
      <c:overlay val="0"/>
      <c:txPr>
        <a:bodyPr/>
        <a:lstStyle/>
        <a:p>
          <a:pPr>
            <a:defRPr sz="1100">      </a:defRPr>
          </a:pPr>
          <a:endParaRPr lang="en-US"/>
        </a:p>
      </c:txPr>
    </c:legend>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7A Live and learn (Student's Book pp.66–67). Aims: first conditional and future time clauses (when, until, as soon as, before, after, unless); school subjects and education vocabulary; the letter u. Click 1: question bubble. Ask the class before showing the answer. Click 2: answer. Ask: What will YOU do if you don't pass an exam?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Pairs, 2 minutes, then check. Click 1: answers. Click 2: which school subject each question comes from (= ex. 1c). Q6: three books (published in three volumes; originally six 'books' — accept either). Q8: oxygen is the most common element in the Earth's crust (in the universe it's hydrogen). Ask: Which question was the easiest? Which subject is it from?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 1b: complete the subjects. Click 1: full words; the RED syllable is stressed — drill them (1c audio 7.1). Note BrE 'maths' (not math). Click 2: quick pair talk — Quali materie ti piacciono?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Education words (Vocabulary Bank p.161 + Workbook 1b). Click 1: Italian for the school stages. Click 2: Italian for the other words. Check: Is your school a state school or a private school? How many terms are there in Italy? (Italy: trimestri/quadrimestri.)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 2a–b (audio 7.5). Pairs sort the words, then click 1 to check, then drill. Watch out: Italians often say /u/ for 'study' and 'subject' — it's /ʌ/. 'student' and 'university' start with /juː/ in British English.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 3 (questionnaire adapted). Teens still at school: change to present (What kind of school do you go to?). 6–8 minutes. Click 1–3 to bring in each topic. Encourage follow-up questions. Feedback: one surprising thing your partner said.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 4a. Students read the description (SB p.67) or use this summary. Discuss 1–3 in pairs; get predictions for question 3 on the board — check them at the end (slide 10).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 4b (audio 7.7). Pairs predict, listen, compare. Click 1: answers (from the audioscript, SB p.129): 7.00 = they start much earlier than usual; 30 minutes = physical exercise every day (in Britain PE is about two hours a week); 50 = all 50 students in one class (UK max. usually 30); 11.30 = an early lunch; 5.00 = classes finish but they can't go home – dinner at school, then homework and self-study; 7.00 = they finish and must clean the classroom; 12 hours = the length of the school 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 4c (audio 7.8). Click 1 reveals ✓/✗. Checked against the audioscript (SB p.129). True: 1, 2, 5, 6, 8, 10. False: 3 (that's the British approach), 4 (they ARE surprised), 7 (some students stop coming – nobody is expelled), 9 (no t'ai chi – face massage and traditional games).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 4d (audio 7.9). Students complete the chart while listening. Click 1: numbers. Click 2: chart. Were your predictions right? Click 3: what did the teachers learn? (audioscript p.129: the head teacher says the method clearly gets good results but the discipline is too strict for some; the Chinese teachers agree it doesn't help develop personality or creativity; Miss Li: it's hard to say which is better, but both sides learnt from each other.) Numbers checked against the audioscript.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 4e. Groups of 3. Click to bring in each question. 5 minutes, then one person per group reports back.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Students tick what they can do. Homework: Workbook 7A (1a, 1b, 1c, 1d, 2a — the vocabulary and pronunciation exercises that match today) + LLS homework sheet (attach the PDF in the portal: Lesson page → Homework → 📎 Attach files). Students hand in a photo in the app; you mark it under 📥 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EXTENSION (8–10 min). IMPORTANT: the guessing students must not see the screen. Put the describer with their back to the class, facing the board, and ask everyone else to turn round or close their eyes BEFORE you click to the next slide. Each card is on its own slide, so nobody sees the next words in advance. Swap describer every card (alternate teams). Make more cards from Vocabulary Bank Education (degree, term, pupil, private school…).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Taboo card 1. Check the guessers can't see the screen, THEN click to show the card. 1 minute.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Taboo card 2. Check the guessers can't see the screen, THEN click to show the card. 1 minute.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Taboo card 3. Check the guessers can't see the screen, THEN click to show the card. 1 minute.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Taboo card 4. Check the guessers can't see the screen, THEN click to show the card. 1 minute.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Taboo card 5. Check the guessers can't see the screen, THEN click to show the card. 1 minute.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Taboo card 6. Check the guessers can't see the screen, THEN click to show the card. 1 minute.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Extension (video). Teachers: watch it before class — it's a news report from Chinese state media about the BBC series, so discuss the point of view too. If the link stops working, search YouTube for 'Are Our Kids Tough Enough Chinese School'.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Slide-1-image-1.png"/><Relationship Id="rId2" Type="http://schemas.openxmlformats.org/officeDocument/2006/relationships/image" Target="../media/image-1-2.png"/><Relationship Id="rId3" Type="http://schemas.openxmlformats.org/officeDocument/2006/relationships/image" Target="../media/image-1-3.jpg"/><Relationship Id="rId4" Type="http://schemas.openxmlformats.org/officeDocument/2006/relationships/slideLayout" Target="../slideLayouts/slideLayout1.xml"/><Relationship Id="rId5"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Slide-2-image-1.png"/><Relationship Id="rId2" Type="http://schemas.openxmlformats.org/officeDocument/2006/relationships/image" Target="../media/image-2-2.png"/><Relationship Id="rId3" Type="http://schemas.openxmlformats.org/officeDocument/2006/relationships/image" Target="../media/image-2-3.jpg"/><Relationship Id="rId4" Type="http://schemas.openxmlformats.org/officeDocument/2006/relationships/slideLayout" Target="../slideLayouts/slideLayout1.xml"/><Relationship Id="rId5"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Slide-3-image-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image" Target="../media/image-3-5.png"/><Relationship Id="rId6" Type="http://schemas.openxmlformats.org/officeDocument/2006/relationships/image" Target="../media/image-3-6.png"/><Relationship Id="rId7" Type="http://schemas.openxmlformats.org/officeDocument/2006/relationships/image" Target="../media/image-3-7.png"/><Relationship Id="rId8" Type="http://schemas.openxmlformats.org/officeDocument/2006/relationships/image" Target="../media/image-3-8.png"/><Relationship Id="rId9" Type="http://schemas.openxmlformats.org/officeDocument/2006/relationships/image" Target="../media/image-3-9.png"/><Relationship Id="rId10" Type="http://schemas.openxmlformats.org/officeDocument/2006/relationships/image" Target="../media/image-3-10.png"/><Relationship Id="rId11" Type="http://schemas.openxmlformats.org/officeDocument/2006/relationships/slideLayout" Target="../slideLayouts/slideLayout1.xml"/><Relationship Id="rId1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Slide-4-image-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image" Target="../media/image-4-5.png"/><Relationship Id="rId6" Type="http://schemas.openxmlformats.org/officeDocument/2006/relationships/image" Target="../media/image-4-6.png"/><Relationship Id="rId7" Type="http://schemas.openxmlformats.org/officeDocument/2006/relationships/image" Target="../media/image-4-7.jpg"/><Relationship Id="rId8" Type="http://schemas.openxmlformats.org/officeDocument/2006/relationships/slideLayout" Target="../slideLayouts/slideLayout1.xml"/><Relationship Id="rId9"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Slide-5-image-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image" Target="../media/image-5-5.png"/><Relationship Id="rId6" Type="http://schemas.openxmlformats.org/officeDocument/2006/relationships/image" Target="../media/image-5-6.png"/><Relationship Id="rId7" Type="http://schemas.openxmlformats.org/officeDocument/2006/relationships/slideLayout" Target="../slideLayouts/slideLayout1.xml"/><Relationship Id="rId8"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Slide-6-image-1.png"/><Relationship Id="rId2" Type="http://schemas.openxmlformats.org/officeDocument/2006/relationships/image" Target="../media/image-6-2.png"/><Relationship Id="rId3" Type="http://schemas.openxmlformats.org/officeDocument/2006/relationships/slideLayout" Target="../slideLayouts/slideLayout1.xml"/><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Slide-7-image-1.png"/><Relationship Id="rId2" Type="http://schemas.openxmlformats.org/officeDocument/2006/relationships/image" Target="../media/image-7-2.png"/><Relationship Id="rId3" Type="http://schemas.openxmlformats.org/officeDocument/2006/relationships/image" Target="../media/image-7-3.jpg"/><Relationship Id="rId4" Type="http://schemas.openxmlformats.org/officeDocument/2006/relationships/slideLayout" Target="../slideLayouts/slideLayout1.xml"/><Relationship Id="rId5"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Slide-8-image-1.png"/><Relationship Id="rId2" Type="http://schemas.openxmlformats.org/officeDocument/2006/relationships/image" Target="../media/image-8-2.png"/><Relationship Id="rId3" Type="http://schemas.openxmlformats.org/officeDocument/2006/relationships/slideLayout" Target="../slideLayouts/slideLayout1.xml"/><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Slide-9-image-1.png"/><Relationship Id="rId2" Type="http://schemas.openxmlformats.org/officeDocument/2006/relationships/image" Target="../media/image-9-2.png"/><Relationship Id="rId3" Type="http://schemas.openxmlformats.org/officeDocument/2006/relationships/slideLayout" Target="../slideLayouts/slideLayout1.xml"/><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3" Type="http://schemas.openxmlformats.org/officeDocument/2006/relationships/chart" Target="/ppt/charts/chart1.xml"/><Relationship Id="rId1" Type="http://schemas.openxmlformats.org/officeDocument/2006/relationships/image" Target="../media/Slide-10-image-1.png"/><Relationship Id="rId2" Type="http://schemas.openxmlformats.org/officeDocument/2006/relationships/image" Target="../media/image-10-2.png"/><Relationship Id="rId4" Type="http://schemas.openxmlformats.org/officeDocument/2006/relationships/slideLayout" Target="../slideLayouts/slideLayout1.xml"/><Relationship Id="rId5"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Slide-11-image-1.png"/><Relationship Id="rId2" Type="http://schemas.openxmlformats.org/officeDocument/2006/relationships/image" Target="../media/image-11-2.png"/><Relationship Id="rId3" Type="http://schemas.openxmlformats.org/officeDocument/2006/relationships/image" Target="../media/image-11-3.jpg"/><Relationship Id="rId4" Type="http://schemas.openxmlformats.org/officeDocument/2006/relationships/slideLayout" Target="../slideLayouts/slideLayout1.xml"/><Relationship Id="rId5"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Slide-12-image-1.png"/><Relationship Id="rId2" Type="http://schemas.openxmlformats.org/officeDocument/2006/relationships/image" Target="../media/image-12-2.png"/><Relationship Id="rId3" Type="http://schemas.openxmlformats.org/officeDocument/2006/relationships/slideLayout" Target="../slideLayouts/slideLayout1.xml"/><Relationship Id="rId4"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Slide-13-image-1.png"/><Relationship Id="rId2" Type="http://schemas.openxmlformats.org/officeDocument/2006/relationships/image" Target="../media/image-13-2.png"/><Relationship Id="rId3" Type="http://schemas.openxmlformats.org/officeDocument/2006/relationships/slideLayout" Target="../slideLayouts/slideLayout1.xml"/><Relationship Id="rId4"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Slide-14-image-1.png"/><Relationship Id="rId2" Type="http://schemas.openxmlformats.org/officeDocument/2006/relationships/image" Target="../media/image-14-2.png"/><Relationship Id="rId3" Type="http://schemas.openxmlformats.org/officeDocument/2006/relationships/slideLayout" Target="../slideLayouts/slideLayout1.xml"/><Relationship Id="rId4"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Slide-15-image-1.png"/><Relationship Id="rId2" Type="http://schemas.openxmlformats.org/officeDocument/2006/relationships/image" Target="../media/image-15-2.png"/><Relationship Id="rId3" Type="http://schemas.openxmlformats.org/officeDocument/2006/relationships/slideLayout" Target="../slideLayouts/slideLayout1.xml"/><Relationship Id="rId4"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Slide-16-image-1.png"/><Relationship Id="rId2" Type="http://schemas.openxmlformats.org/officeDocument/2006/relationships/image" Target="../media/image-16-2.png"/><Relationship Id="rId3" Type="http://schemas.openxmlformats.org/officeDocument/2006/relationships/slideLayout" Target="../slideLayouts/slideLayout1.xml"/><Relationship Id="rId4"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Slide-17-image-1.png"/><Relationship Id="rId2" Type="http://schemas.openxmlformats.org/officeDocument/2006/relationships/image" Target="../media/image-17-2.png"/><Relationship Id="rId3" Type="http://schemas.openxmlformats.org/officeDocument/2006/relationships/slideLayout" Target="../slideLayouts/slideLayout1.xml"/><Relationship Id="rId4"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Slide-18-image-1.png"/><Relationship Id="rId2" Type="http://schemas.openxmlformats.org/officeDocument/2006/relationships/image" Target="../media/image-18-2.png"/><Relationship Id="rId3" Type="http://schemas.openxmlformats.org/officeDocument/2006/relationships/slideLayout" Target="../slideLayouts/slideLayout1.xml"/><Relationship Id="rId4"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Slide-19-image-1.png"/><Relationship Id="rId2" Type="http://schemas.openxmlformats.org/officeDocument/2006/relationships/image" Target="../media/image-19-2.png"/><Relationship Id="rId3" Type="http://schemas.openxmlformats.org/officeDocument/2006/relationships/slideLayout" Target="../slideLayouts/slideLayout1.xml"/><Relationship Id="rId4"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4" Type="http://schemas.openxmlformats.org/officeDocument/2006/relationships/hyperlink" Target="https://www.youtube.com/watch?v=g0auxUBYd3s" TargetMode="External"/><Relationship Id="rId1" Type="http://schemas.openxmlformats.org/officeDocument/2006/relationships/image" Target="../media/Slide-20-image-1.png"/><Relationship Id="rId2" Type="http://schemas.openxmlformats.org/officeDocument/2006/relationships/image" Target="../media/image-20-2.png"/><Relationship Id="rId3" Type="http://schemas.openxmlformats.org/officeDocument/2006/relationships/image" Target="../media/image-20-3.jpg"/><Relationship Id="rId5" Type="http://schemas.openxmlformats.org/officeDocument/2006/relationships/slideLayout" Target="../slideLayouts/slideLayout1.xml"/><Relationship Id="rId6" Type="http://schemas.openxmlformats.org/officeDocument/2006/relationships/notesSlide" Target="../notesSlides/notesSlide2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blipFill dpi="0" rotWithShape="1">
          <a:blip r:embed="rId1">
            <a:lum/>
          </a:blip>
          <a:srcRect/>
          <a:stretch>
            <a:fillRect/>
          </a:stretch>
        </a:blipFill>
        <a:effectLst/>
      </p:bgPr>
    </p:bg>
    <p:spTree>
      <p:nvGrpSpPr>
        <p:cNvPr id="2" name=""/>
        <p:cNvGrpSpPr/>
        <p:nvPr/>
      </p:nvGrpSpPr>
      <p:grpSpPr>
        <a:xfrm>
          <a:off x="0" y="0"/>
          <a:ext cx="0" cy="0"/>
          <a:chOff x="0" y="0"/>
          <a:chExt cx="0" cy="0"/>
        </a:xfrm>
      </p:grpSpPr>
      <p:sp>
        <p:nvSpPr>
          <p:cNvPr id="3" name="levelFrame_1"/>
          <p:cNvSpPr/>
          <p:nvPr/>
        </p:nvSpPr>
        <p:spPr>
          <a:xfrm>
            <a:off x="54864" y="54864"/>
            <a:ext cx="9034272" cy="5033772"/>
          </a:xfrm>
          <a:prstGeom prst="rect">
            <a:avLst/>
          </a:prstGeom>
          <a:ln w="114300">
            <a:solidFill>
              <a:srgbClr val="A8E6B4"/>
            </a:solidFill>
            <a:prstDash val="solid"/>
          </a:ln>
        </p:spPr>
      </p:sp>
      <p:sp>
        <p:nvSpPr>
          <p:cNvPr id="4" name="logoBack_2"/>
          <p:cNvSpPr/>
          <p:nvPr/>
        </p:nvSpPr>
        <p:spPr>
          <a:xfrm>
            <a:off x="8229600" y="155448"/>
            <a:ext cx="676656" cy="676656"/>
          </a:xfrm>
          <a:prstGeom prst="ellipse">
            <a:avLst/>
          </a:prstGeom>
          <a:solidFill>
            <a:srgbClr val="FFFFFF"/>
          </a:solidFill>
          <a:ln w="25400">
            <a:solidFill>
              <a:srgbClr val="A8E6B4"/>
            </a:solidFill>
            <a:prstDash val="solid"/>
          </a:ln>
        </p:spPr>
      </p:sp>
      <p:pic>
        <p:nvPicPr>
          <p:cNvPr id="5" name="logo_3" descr="London Language School logo">    </p:cNvPr>
          <p:cNvPicPr>
            <a:picLocks noChangeAspect="1"/>
          </p:cNvPicPr>
          <p:nvPr/>
        </p:nvPicPr>
        <p:blipFill>
          <a:blip r:embed="rId2"/>
          <a:stretch>
            <a:fillRect/>
          </a:stretch>
        </p:blipFill>
        <p:spPr>
          <a:xfrm>
            <a:off x="8275320" y="182880"/>
            <a:ext cx="585216" cy="585216"/>
          </a:xfrm>
          <a:prstGeom prst="rect">
            <a:avLst/>
          </a:prstGeom>
        </p:spPr>
      </p:pic>
      <p:sp>
        <p:nvSpPr>
          <p:cNvPr id="6" name="footer_4"/>
          <p:cNvSpPr txBox="1"/>
          <p:nvPr/>
        </p:nvSpPr>
        <p:spPr>
          <a:xfrm>
            <a:off x="7315200" y="4818888"/>
            <a:ext cx="1554480" cy="219456"/>
          </a:xfrm>
          <a:prstGeom prst="rect">
            <a:avLst/>
          </a:prstGeom>
          <a:solidFill>
            <a:srgbClr val="062F67"/>
          </a:solidFill>
          <a:ln/>
        </p:spPr>
        <p:txBody>
          <a:bodyPr wrap="square" lIns="0" tIns="0" rIns="0" bIns="0" rtlCol="0" anchor="ctr"/>
          <a:lstStyle/>
          <a:p>
            <a:pPr algn="ctr" indent="0" marL="0">
              <a:buNone/>
            </a:pPr>
            <a:r>
              <a:rPr lang="en-US" sz="1000" dirty="0">
                <a:solidFill>
                  <a:srgbClr val="CFE6F7"/>
                </a:solidFill>
                <a:latin typeface="Calibri" pitchFamily="34" charset="0"/>
                <a:ea typeface="Calibri" pitchFamily="34" charset="-122"/>
                <a:cs typeface="Calibri" pitchFamily="34" charset="-120"/>
              </a:rPr>
              <a:t>7A · Part 1</a:t>
            </a:r>
            <a:endParaRPr lang="en-US" sz="1000" dirty="0"/>
          </a:p>
        </p:txBody>
      </p:sp>
      <p:sp>
        <p:nvSpPr>
          <p:cNvPr id="7" name="unit_5"/>
          <p:cNvSpPr txBox="1"/>
          <p:nvPr/>
        </p:nvSpPr>
        <p:spPr>
          <a:xfrm>
            <a:off x="411480" y="411480"/>
            <a:ext cx="1371600" cy="1005840"/>
          </a:xfrm>
          <a:prstGeom prst="rect">
            <a:avLst/>
          </a:prstGeom>
          <a:noFill/>
          <a:ln/>
        </p:spPr>
        <p:txBody>
          <a:bodyPr wrap="square" rtlCol="0" anchor="ctr"/>
          <a:lstStyle/>
          <a:p>
            <a:pPr indent="0" marL="0">
              <a:buNone/>
            </a:pPr>
            <a:r>
              <a:rPr lang="en-US" sz="5100" dirty="0">
                <a:solidFill>
                  <a:srgbClr val="FFD84D"/>
                </a:solidFill>
                <a:latin typeface="Arial Black" pitchFamily="34" charset="0"/>
                <a:ea typeface="Arial Black" pitchFamily="34" charset="-122"/>
                <a:cs typeface="Arial Black" pitchFamily="34" charset="-120"/>
              </a:rPr>
              <a:t>7A</a:t>
            </a:r>
            <a:endParaRPr lang="en-US" sz="5100" dirty="0"/>
          </a:p>
        </p:txBody>
      </p:sp>
      <p:sp>
        <p:nvSpPr>
          <p:cNvPr id="8" name="title_6"/>
          <p:cNvSpPr txBox="1"/>
          <p:nvPr/>
        </p:nvSpPr>
        <p:spPr>
          <a:xfrm rot="-180000">
            <a:off x="411480" y="1417320"/>
            <a:ext cx="4754880" cy="777240"/>
          </a:xfrm>
          <a:prstGeom prst="rect">
            <a:avLst/>
          </a:prstGeom>
          <a:solidFill>
            <a:srgbClr val="FFD84D"/>
          </a:solidFill>
          <a:ln w="31750">
            <a:solidFill>
              <a:srgbClr val="111111"/>
            </a:solidFill>
          </a:ln>
          <a:effectLst>
            <a:outerShdw sx="100000" sy="100000" kx="0" ky="0" algn="bl" rotWithShape="0" blurRad="101600" dist="38100" dir="2700000">
              <a:srgbClr val="000000">
                <a:alpha val="35000"/>
              </a:srgbClr>
            </a:outerShdw>
          </a:effectLst>
        </p:spPr>
        <p:txBody>
          <a:bodyPr wrap="square" lIns="152400" tIns="152400" rIns="152400" bIns="152400" rtlCol="0" anchor="ctr"/>
          <a:lstStyle/>
          <a:p>
            <a:pPr indent="0" marL="0">
              <a:buNone/>
            </a:pPr>
            <a:r>
              <a:rPr lang="en-US" sz="2550" dirty="0">
                <a:solidFill>
                  <a:srgbClr val="111111"/>
                </a:solidFill>
                <a:latin typeface="Arial Black" pitchFamily="34" charset="0"/>
                <a:ea typeface="Arial Black" pitchFamily="34" charset="-122"/>
                <a:cs typeface="Arial Black" pitchFamily="34" charset="-120"/>
              </a:rPr>
              <a:t>LIVE AND LEARN</a:t>
            </a:r>
            <a:endParaRPr lang="en-US" sz="2550" dirty="0"/>
          </a:p>
        </p:txBody>
      </p:sp>
      <p:sp>
        <p:nvSpPr>
          <p:cNvPr id="9" name="stamp_7"/>
          <p:cNvSpPr txBox="1"/>
          <p:nvPr/>
        </p:nvSpPr>
        <p:spPr>
          <a:xfrm>
            <a:off x="457200" y="2468880"/>
            <a:ext cx="4206240" cy="384048"/>
          </a:xfrm>
          <a:prstGeom prst="roundRect">
            <a:avLst>
              <a:gd name="adj" fmla="val 14286"/>
            </a:avLst>
          </a:prstGeom>
          <a:solidFill>
            <a:srgbClr val="062F67"/>
          </a:solidFill>
          <a:ln w="38100">
            <a:solidFill>
              <a:srgbClr val="48BDF2"/>
            </a:solidFill>
          </a:ln>
        </p:spPr>
        <p:txBody>
          <a:bodyPr wrap="square" lIns="25400" tIns="25400" rIns="25400" bIns="25400" rtlCol="0" anchor="ctr"/>
          <a:lstStyle/>
          <a:p>
            <a:pPr algn="ctr" indent="0" marL="0">
              <a:buNone/>
            </a:pPr>
            <a:r>
              <a:rPr lang="en-US" sz="1200" dirty="0">
                <a:solidFill>
                  <a:srgbClr val="FFFFFF"/>
                </a:solidFill>
                <a:latin typeface="Arial Black" pitchFamily="34" charset="0"/>
                <a:ea typeface="Arial Black" pitchFamily="34" charset="-122"/>
                <a:cs typeface="Arial Black" pitchFamily="34" charset="-120"/>
              </a:rPr>
              <a:t>LISTENING · Chinese v British schools</a:t>
            </a:r>
            <a:endParaRPr lang="en-US" sz="1200" dirty="0"/>
          </a:p>
        </p:txBody>
      </p:sp>
      <p:sp>
        <p:nvSpPr>
          <p:cNvPr id="10" name="stamp_8"/>
          <p:cNvSpPr txBox="1"/>
          <p:nvPr/>
        </p:nvSpPr>
        <p:spPr>
          <a:xfrm>
            <a:off x="457200" y="2944368"/>
            <a:ext cx="2743200" cy="384048"/>
          </a:xfrm>
          <a:prstGeom prst="roundRect">
            <a:avLst>
              <a:gd name="adj" fmla="val 14286"/>
            </a:avLst>
          </a:prstGeom>
          <a:solidFill>
            <a:srgbClr val="062F67"/>
          </a:solidFill>
          <a:ln w="38100">
            <a:solidFill>
              <a:srgbClr val="1FA463"/>
            </a:solidFill>
          </a:ln>
        </p:spPr>
        <p:txBody>
          <a:bodyPr wrap="square" lIns="25400" tIns="25400" rIns="25400" bIns="25400" rtlCol="0" anchor="ctr"/>
          <a:lstStyle/>
          <a:p>
            <a:pPr algn="ctr" indent="0" marL="0">
              <a:buNone/>
            </a:pPr>
            <a:r>
              <a:rPr lang="en-US" sz="1200" dirty="0">
                <a:solidFill>
                  <a:srgbClr val="FFFFFF"/>
                </a:solidFill>
                <a:latin typeface="Arial Black" pitchFamily="34" charset="0"/>
                <a:ea typeface="Arial Black" pitchFamily="34" charset="-122"/>
                <a:cs typeface="Arial Black" pitchFamily="34" charset="-120"/>
              </a:rPr>
              <a:t>VOCABULARY · education</a:t>
            </a:r>
            <a:endParaRPr lang="en-US" sz="1200" dirty="0"/>
          </a:p>
        </p:txBody>
      </p:sp>
      <p:sp>
        <p:nvSpPr>
          <p:cNvPr id="11" name="stamp_9"/>
          <p:cNvSpPr txBox="1"/>
          <p:nvPr/>
        </p:nvSpPr>
        <p:spPr>
          <a:xfrm>
            <a:off x="457200" y="3419856"/>
            <a:ext cx="3108960" cy="384048"/>
          </a:xfrm>
          <a:prstGeom prst="roundRect">
            <a:avLst>
              <a:gd name="adj" fmla="val 14286"/>
            </a:avLst>
          </a:prstGeom>
          <a:solidFill>
            <a:srgbClr val="062F67"/>
          </a:solidFill>
          <a:ln w="38100">
            <a:solidFill>
              <a:srgbClr val="EF2F2F"/>
            </a:solidFill>
          </a:ln>
        </p:spPr>
        <p:txBody>
          <a:bodyPr wrap="square" lIns="25400" tIns="25400" rIns="25400" bIns="25400" rtlCol="0" anchor="ctr"/>
          <a:lstStyle/>
          <a:p>
            <a:pPr algn="ctr" indent="0" marL="0">
              <a:buNone/>
            </a:pPr>
            <a:r>
              <a:rPr lang="en-US" sz="1200" dirty="0">
                <a:solidFill>
                  <a:srgbClr val="FFFFFF"/>
                </a:solidFill>
                <a:latin typeface="Arial Black" pitchFamily="34" charset="0"/>
                <a:ea typeface="Arial Black" pitchFamily="34" charset="-122"/>
                <a:cs typeface="Arial Black" pitchFamily="34" charset="-120"/>
              </a:rPr>
              <a:t>PRONUNCIATION · the letter u</a:t>
            </a:r>
            <a:endParaRPr lang="en-US" sz="1200" dirty="0"/>
          </a:p>
        </p:txBody>
      </p:sp>
      <p:sp>
        <p:nvSpPr>
          <p:cNvPr id="12" name="polaroid_10"/>
          <p:cNvSpPr/>
          <p:nvPr/>
        </p:nvSpPr>
        <p:spPr>
          <a:xfrm rot="240000">
            <a:off x="5532120" y="502920"/>
            <a:ext cx="2926080" cy="2642616"/>
          </a:xfrm>
          <a:prstGeom prst="rect">
            <a:avLst/>
          </a:prstGeom>
          <a:solidFill>
            <a:srgbClr val="FFFFFF"/>
          </a:solidFill>
          <a:ln w="31750">
            <a:solidFill>
              <a:srgbClr val="111111"/>
            </a:solidFill>
            <a:prstDash val="solid"/>
          </a:ln>
          <a:effectLst>
            <a:outerShdw sx="100000" sy="100000" kx="0" ky="0" algn="bl" rotWithShape="0" blurRad="101600" dist="38100" dir="2700000">
              <a:srgbClr val="000000">
                <a:alpha val="35000"/>
              </a:srgbClr>
            </a:outerShdw>
          </a:effectLst>
        </p:spPr>
      </p:sp>
      <p:pic>
        <p:nvPicPr>
          <p:cNvPr id="13" name="photo_11" descr="A teacher holding a book">    </p:cNvPr>
          <p:cNvPicPr>
            <a:picLocks noChangeAspect="1"/>
          </p:cNvPicPr>
          <p:nvPr/>
        </p:nvPicPr>
        <p:blipFill>
          <a:blip r:embed="rId3"/>
          <a:srcRect l="0" r="0" t="0" b="0"/>
          <a:stretch/>
        </p:blipFill>
        <p:spPr>
          <a:xfrm rot="240000">
            <a:off x="5623560" y="594360"/>
            <a:ext cx="2743200" cy="2148840"/>
          </a:xfrm>
          <a:prstGeom prst="rect">
            <a:avLst/>
          </a:prstGeom>
        </p:spPr>
      </p:pic>
      <p:sp>
        <p:nvSpPr>
          <p:cNvPr id="14" name="caption_12"/>
          <p:cNvSpPr txBox="1"/>
          <p:nvPr/>
        </p:nvSpPr>
        <p:spPr>
          <a:xfrm rot="240000">
            <a:off x="5532120" y="2761488"/>
            <a:ext cx="2926080" cy="310896"/>
          </a:xfrm>
          <a:prstGeom prst="rect">
            <a:avLst/>
          </a:prstGeom>
          <a:noFill/>
          <a:ln/>
        </p:spPr>
        <p:txBody>
          <a:bodyPr wrap="square" rtlCol="0" anchor="ctr"/>
          <a:lstStyle/>
          <a:p>
            <a:pPr algn="ctr" indent="0" marL="0">
              <a:buNone/>
            </a:pPr>
            <a:r>
              <a:rPr lang="en-US" sz="1200" i="1" dirty="0">
                <a:solidFill>
                  <a:srgbClr val="111111"/>
                </a:solidFill>
                <a:latin typeface="Calibri" pitchFamily="34" charset="0"/>
                <a:ea typeface="Calibri" pitchFamily="34" charset="-122"/>
                <a:cs typeface="Calibri" pitchFamily="34" charset="-120"/>
              </a:rPr>
              <a:t>Exam day…</a:t>
            </a:r>
            <a:endParaRPr lang="en-US" sz="1200" dirty="0"/>
          </a:p>
        </p:txBody>
      </p:sp>
      <p:sp>
        <p:nvSpPr>
          <p:cNvPr id="15" name="R1_q"/>
          <p:cNvSpPr txBox="1"/>
          <p:nvPr/>
        </p:nvSpPr>
        <p:spPr>
          <a:xfrm>
            <a:off x="5029200" y="3246120"/>
            <a:ext cx="2377440" cy="822960"/>
          </a:xfrm>
          <a:prstGeom prst="wedgeRoundRectCallout">
            <a:avLst/>
          </a:prstGeom>
          <a:solidFill>
            <a:srgbClr val="48BDF2"/>
          </a:solidFill>
          <a:ln w="31750">
            <a:solidFill>
              <a:srgbClr val="111111"/>
            </a:solidFill>
          </a:ln>
          <a:effectLst>
            <a:outerShdw sx="100000" sy="100000" kx="0" ky="0" algn="bl" rotWithShape="0" blurRad="101600" dist="38100" dir="2700000">
              <a:srgbClr val="000000">
                <a:alpha val="35000"/>
              </a:srgbClr>
            </a:outerShdw>
          </a:effectLst>
        </p:spPr>
        <p:txBody>
          <a:bodyPr wrap="square" lIns="76200" tIns="76200" rIns="76200" bIns="76200" rtlCol="0" anchor="ctr"/>
          <a:lstStyle/>
          <a:p>
            <a:pPr algn="ctr" indent="0" marL="0">
              <a:buNone/>
            </a:pPr>
            <a:r>
              <a:rPr lang="en-US" sz="1400" b="1" dirty="0">
                <a:solidFill>
                  <a:srgbClr val="111111"/>
                </a:solidFill>
                <a:latin typeface="Calibri" pitchFamily="34" charset="0"/>
                <a:ea typeface="Calibri" pitchFamily="34" charset="-122"/>
                <a:cs typeface="Calibri" pitchFamily="34" charset="-120"/>
              </a:rPr>
              <a:t>What will you do if you don't pass your exams?</a:t>
            </a:r>
            <a:endParaRPr lang="en-US" sz="1400" dirty="0"/>
          </a:p>
        </p:txBody>
      </p:sp>
      <p:sp>
        <p:nvSpPr>
          <p:cNvPr id="16" name="R2_a"/>
          <p:cNvSpPr txBox="1"/>
          <p:nvPr/>
        </p:nvSpPr>
        <p:spPr>
          <a:xfrm>
            <a:off x="6675120" y="4069080"/>
            <a:ext cx="2011680" cy="640080"/>
          </a:xfrm>
          <a:prstGeom prst="wedgeRoundRectCallout">
            <a:avLst/>
          </a:prstGeom>
          <a:solidFill>
            <a:srgbClr val="FFD84D"/>
          </a:solidFill>
          <a:ln w="31750">
            <a:solidFill>
              <a:srgbClr val="111111"/>
            </a:solidFill>
          </a:ln>
          <a:effectLst>
            <a:outerShdw sx="100000" sy="100000" kx="0" ky="0" algn="bl" rotWithShape="0" blurRad="101600" dist="38100" dir="2700000">
              <a:srgbClr val="000000">
                <a:alpha val="35000"/>
              </a:srgbClr>
            </a:outerShdw>
          </a:effectLst>
        </p:spPr>
        <p:txBody>
          <a:bodyPr wrap="square" lIns="76200" tIns="76200" rIns="76200" bIns="76200" rtlCol="0" anchor="ctr"/>
          <a:lstStyle/>
          <a:p>
            <a:pPr algn="ctr" indent="0" marL="0">
              <a:buNone/>
            </a:pPr>
            <a:r>
              <a:rPr lang="en-US" sz="1400" b="1" dirty="0">
                <a:solidFill>
                  <a:srgbClr val="111111"/>
                </a:solidFill>
                <a:latin typeface="Calibri" pitchFamily="34" charset="0"/>
                <a:ea typeface="Calibri" pitchFamily="34" charset="-122"/>
                <a:cs typeface="Calibri" pitchFamily="34" charset="-120"/>
              </a:rPr>
              <a:t>I'll probably retake them.</a:t>
            </a:r>
            <a:endParaRPr lang="en-US" sz="1400" dirty="0"/>
          </a:p>
        </p:txBody>
      </p:sp>
    </p:spTree>
  </p:cSld>
  <p:clrMapOvr>
    <a:masterClrMapping/>
  </p:clrMapOvr>
  <p:transition spd="med">
    <p:push dir="l"/>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5"/>
                                        </p:tgtEl>
                                        <p:attrNameLst>
                                          <p:attrName>style.visibility</p:attrName>
                                        </p:attrNameLst>
                                      </p:cBhvr>
                                      <p:to>
                                        <p:strVal val="visible"/>
                                      </p:to>
                                    </p:set>
                                    <p:animEffect transition="in" filter="fade">
                                      <p:cBhvr>
                                        <p:cTn id="7" dur="400"/>
                                        <p:tgtEl>
                                          <p:spTgt spid="15"/>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6"/>
                                        </p:tgtEl>
                                        <p:attrNameLst>
                                          <p:attrName>style.visibility</p:attrName>
                                        </p:attrNameLst>
                                      </p:cBhvr>
                                      <p:to>
                                        <p:strVal val="visible"/>
                                      </p:to>
                                    </p:set>
                                    <p:animEffect transition="in" filter="fade">
                                      <p:cBhvr>
                                        <p:cTn id="12" dur="40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xml><?xml version="1.0" encoding="utf-8"?>
<p:sld xmlns:a="http://schemas.openxmlformats.org/drawingml/2006/main" xmlns:r="http://schemas.openxmlformats.org/officeDocument/2006/relationships" xmlns:p="http://schemas.openxmlformats.org/presentationml/2006/main">
  <p:cSld name="Slide 2">
    <p:bg>
      <p:bgPr>
        <a:blipFill dpi="0" rotWithShape="1">
          <a:blip r:embed="rId1">
            <a:lum/>
          </a:blip>
          <a:srcRect/>
          <a:stretch>
            <a:fillRect/>
          </a:stretch>
        </a:blipFill>
        <a:effectLst/>
      </p:bgPr>
    </p:bg>
    <p:spTree>
      <p:nvGrpSpPr>
        <p:cNvPr id="2" name=""/>
        <p:cNvGrpSpPr/>
        <p:nvPr/>
      </p:nvGrpSpPr>
      <p:grpSpPr>
        <a:xfrm>
          <a:off x="0" y="0"/>
          <a:ext cx="0" cy="0"/>
          <a:chOff x="0" y="0"/>
          <a:chExt cx="0" cy="0"/>
        </a:xfrm>
      </p:grpSpPr>
      <p:sp>
        <p:nvSpPr>
          <p:cNvPr id="3" name="levelFrame_13"/>
          <p:cNvSpPr/>
          <p:nvPr/>
        </p:nvSpPr>
        <p:spPr>
          <a:xfrm>
            <a:off x="54864" y="54864"/>
            <a:ext cx="9034272" cy="5033772"/>
          </a:xfrm>
          <a:prstGeom prst="rect">
            <a:avLst/>
          </a:prstGeom>
          <a:ln w="114300">
            <a:solidFill>
              <a:srgbClr val="A8E6B4"/>
            </a:solidFill>
            <a:prstDash val="solid"/>
          </a:ln>
        </p:spPr>
      </p:sp>
      <p:pic>
        <p:nvPicPr>
          <p:cNvPr id="4" name="logo_14" descr="London Language School logo">    </p:cNvPr>
          <p:cNvPicPr>
            <a:picLocks noChangeAspect="1"/>
          </p:cNvPicPr>
          <p:nvPr/>
        </p:nvPicPr>
        <p:blipFill>
          <a:blip r:embed="rId2"/>
          <a:stretch>
            <a:fillRect/>
          </a:stretch>
        </p:blipFill>
        <p:spPr>
          <a:xfrm>
            <a:off x="8275320" y="182880"/>
            <a:ext cx="585216" cy="585216"/>
          </a:xfrm>
          <a:prstGeom prst="rect">
            <a:avLst/>
          </a:prstGeom>
        </p:spPr>
      </p:pic>
      <p:sp>
        <p:nvSpPr>
          <p:cNvPr id="5" name="objective_15"/>
          <p:cNvSpPr txBox="1"/>
          <p:nvPr/>
        </p:nvSpPr>
        <p:spPr>
          <a:xfrm>
            <a:off x="320040" y="182880"/>
            <a:ext cx="4206240" cy="365760"/>
          </a:xfrm>
          <a:prstGeom prst="roundRect">
            <a:avLst>
              <a:gd name="adj" fmla="val 20000"/>
            </a:avLst>
          </a:prstGeom>
          <a:solidFill>
            <a:srgbClr val="062F67"/>
          </a:solidFill>
          <a:ln w="31750">
            <a:solidFill>
              <a:srgbClr val="111111"/>
            </a:solidFill>
          </a:ln>
        </p:spPr>
        <p:txBody>
          <a:bodyPr wrap="square" lIns="101600" tIns="101600" rIns="101600" bIns="101600" rtlCol="0" anchor="ctr"/>
          <a:lstStyle/>
          <a:p>
            <a:pPr indent="0" marL="0">
              <a:buNone/>
            </a:pPr>
            <a:r>
              <a:rPr lang="en-US" sz="900" dirty="0">
                <a:solidFill>
                  <a:srgbClr val="FFFFFF"/>
                </a:solidFill>
                <a:latin typeface="Arial Black" pitchFamily="34" charset="0"/>
                <a:ea typeface="Arial Black" pitchFamily="34" charset="-122"/>
                <a:cs typeface="Arial Black" pitchFamily="34" charset="-120"/>
              </a:rPr>
              <a:t>VOCABULARY · School subjects</a:t>
            </a:r>
            <a:endParaRPr lang="en-US" sz="900" dirty="0"/>
          </a:p>
        </p:txBody>
      </p:sp>
      <p:sp>
        <p:nvSpPr>
          <p:cNvPr id="6" name="footer_16"/>
          <p:cNvSpPr txBox="1"/>
          <p:nvPr/>
        </p:nvSpPr>
        <p:spPr>
          <a:xfrm>
            <a:off x="7315200" y="4818888"/>
            <a:ext cx="1554480" cy="219456"/>
          </a:xfrm>
          <a:prstGeom prst="rect">
            <a:avLst/>
          </a:prstGeom>
          <a:solidFill>
            <a:srgbClr val="FFFFFF"/>
          </a:solidFill>
          <a:ln/>
        </p:spPr>
        <p:txBody>
          <a:bodyPr wrap="square" lIns="0" tIns="0" rIns="0" bIns="0" rtlCol="0" anchor="ctr"/>
          <a:lstStyle/>
          <a:p>
            <a:pPr algn="ctr" indent="0" marL="0">
              <a:buNone/>
            </a:pPr>
            <a:r>
              <a:rPr lang="en-US" sz="1000" dirty="0">
                <a:solidFill>
                  <a:srgbClr val="334155"/>
                </a:solidFill>
                <a:latin typeface="Calibri" pitchFamily="34" charset="0"/>
                <a:ea typeface="Calibri" pitchFamily="34" charset="-122"/>
                <a:cs typeface="Calibri" pitchFamily="34" charset="-120"/>
              </a:rPr>
              <a:t>7A · Part 1</a:t>
            </a:r>
            <a:endParaRPr lang="en-US" sz="1000" dirty="0"/>
          </a:p>
        </p:txBody>
      </p:sp>
      <p:sp>
        <p:nvSpPr>
          <p:cNvPr id="7" name="title_17"/>
          <p:cNvSpPr txBox="1"/>
          <p:nvPr/>
        </p:nvSpPr>
        <p:spPr>
          <a:xfrm rot="-120000">
            <a:off x="320040" y="658368"/>
            <a:ext cx="4672584" cy="548640"/>
          </a:xfrm>
          <a:prstGeom prst="rect">
            <a:avLst/>
          </a:prstGeom>
          <a:solidFill>
            <a:srgbClr val="FFD84D"/>
          </a:solidFill>
          <a:ln w="31750">
            <a:solidFill>
              <a:srgbClr val="111111"/>
            </a:solidFill>
          </a:ln>
          <a:effectLst>
            <a:outerShdw sx="100000" sy="100000" kx="0" ky="0" algn="bl" rotWithShape="0" blurRad="101600" dist="38100" dir="2700000">
              <a:srgbClr val="000000">
                <a:alpha val="35000"/>
              </a:srgbClr>
            </a:outerShdw>
          </a:effectLst>
        </p:spPr>
        <p:txBody>
          <a:bodyPr wrap="square" lIns="127000" tIns="127000" rIns="127000" bIns="127000" rtlCol="0" anchor="ctr"/>
          <a:lstStyle/>
          <a:p>
            <a:pPr indent="0" marL="0">
              <a:buNone/>
            </a:pPr>
            <a:r>
              <a:rPr lang="en-US" sz="1600" dirty="0">
                <a:solidFill>
                  <a:srgbClr val="111111"/>
                </a:solidFill>
                <a:latin typeface="Arial Black" pitchFamily="34" charset="0"/>
                <a:ea typeface="Arial Black" pitchFamily="34" charset="-122"/>
                <a:cs typeface="Arial Black" pitchFamily="34" charset="-120"/>
              </a:rPr>
              <a:t>The 2-minute school quiz</a:t>
            </a:r>
            <a:endParaRPr lang="en-US" sz="1600" dirty="0"/>
          </a:p>
        </p:txBody>
      </p:sp>
      <p:sp>
        <p:nvSpPr>
          <p:cNvPr id="8" name="post_18"/>
          <p:cNvSpPr/>
          <p:nvPr/>
        </p:nvSpPr>
        <p:spPr>
          <a:xfrm>
            <a:off x="429768" y="1554480"/>
            <a:ext cx="128016" cy="1280160"/>
          </a:xfrm>
          <a:prstGeom prst="rect">
            <a:avLst/>
          </a:prstGeom>
          <a:solidFill>
            <a:srgbClr val="8B5A2B"/>
          </a:solidFill>
          <a:ln w="31750">
            <a:solidFill>
              <a:srgbClr val="111111"/>
            </a:solidFill>
            <a:prstDash val="solid"/>
          </a:ln>
        </p:spPr>
      </p:sp>
      <p:sp>
        <p:nvSpPr>
          <p:cNvPr id="9" name="signA_19"/>
          <p:cNvSpPr txBox="1"/>
          <p:nvPr/>
        </p:nvSpPr>
        <p:spPr>
          <a:xfrm rot="-180000">
            <a:off x="320040" y="1371600"/>
            <a:ext cx="2103120" cy="457200"/>
          </a:xfrm>
          <a:prstGeom prst="homePlate">
            <a:avLst/>
          </a:prstGeom>
          <a:solidFill>
            <a:srgbClr val="EF2F2F"/>
          </a:solidFill>
          <a:ln w="31750">
            <a:solidFill>
              <a:srgbClr val="111111"/>
            </a:solidFill>
          </a:ln>
          <a:effectLst>
            <a:outerShdw sx="100000" sy="100000" kx="0" ky="0" algn="bl" rotWithShape="0" blurRad="101600" dist="38100" dir="2700000">
              <a:srgbClr val="000000">
                <a:alpha val="35000"/>
              </a:srgbClr>
            </a:outerShdw>
          </a:effectLst>
        </p:spPr>
        <p:txBody>
          <a:bodyPr wrap="square" lIns="76200" tIns="76200" rIns="76200" bIns="76200" rtlCol="0" anchor="ctr"/>
          <a:lstStyle/>
          <a:p>
            <a:pPr indent="0" marL="0">
              <a:buNone/>
            </a:pPr>
            <a:r>
              <a:rPr lang="en-US" sz="1600" b="1" dirty="0">
                <a:solidFill>
                  <a:srgbClr val="FFFFFF"/>
                </a:solidFill>
                <a:latin typeface="Arial Black" pitchFamily="34" charset="0"/>
                <a:ea typeface="Arial Black" pitchFamily="34" charset="-122"/>
                <a:cs typeface="Arial Black" pitchFamily="34" charset="-120"/>
              </a:rPr>
              <a:t>PLAY!</a:t>
            </a:r>
            <a:pPr indent="0" marL="0">
              <a:buNone/>
            </a:pPr>
            <a:r>
              <a:rPr lang="en-US" sz="1100" dirty="0">
                <a:solidFill>
                  <a:srgbClr val="FFF3B0"/>
                </a:solidFill>
                <a:latin typeface="Arial Black" pitchFamily="34" charset="0"/>
                <a:ea typeface="Arial Black" pitchFamily="34" charset="-122"/>
                <a:cs typeface="Arial Black" pitchFamily="34" charset="-120"/>
              </a:rPr>
              <a:t>  GIOCA!</a:t>
            </a:r>
            <a:endParaRPr lang="en-US" sz="1600" dirty="0"/>
          </a:p>
        </p:txBody>
      </p:sp>
      <p:sp>
        <p:nvSpPr>
          <p:cNvPr id="10" name="signB_20"/>
          <p:cNvSpPr txBox="1"/>
          <p:nvPr/>
        </p:nvSpPr>
        <p:spPr>
          <a:xfrm rot="120000">
            <a:off x="365760" y="1938528"/>
            <a:ext cx="2194560" cy="1051560"/>
          </a:xfrm>
          <a:prstGeom prst="rect">
            <a:avLst/>
          </a:prstGeom>
          <a:solidFill>
            <a:srgbClr val="FFFFFF"/>
          </a:solidFill>
          <a:ln w="31750">
            <a:solidFill>
              <a:srgbClr val="111111"/>
            </a:solidFill>
          </a:ln>
        </p:spPr>
        <p:txBody>
          <a:bodyPr wrap="square" lIns="76200" tIns="76200" rIns="76200" bIns="76200" rtlCol="0" anchor="ctr"/>
          <a:lstStyle/>
          <a:p>
            <a:pPr indent="0" marL="0">
              <a:buNone/>
            </a:pPr>
            <a:r>
              <a:rPr lang="en-US" sz="1250" dirty="0">
                <a:solidFill>
                  <a:srgbClr val="111111"/>
                </a:solidFill>
                <a:latin typeface="Calibri" pitchFamily="34" charset="0"/>
                <a:ea typeface="Calibri" pitchFamily="34" charset="-122"/>
                <a:cs typeface="Calibri" pitchFamily="34" charset="-120"/>
              </a:rPr>
              <a:t>In pairs: answer as many as you can in 2 minutes.</a:t>
            </a:r>
            <a:endParaRPr lang="en-US" sz="1250" dirty="0"/>
          </a:p>
          <a:p>
            <a:pPr indent="0" marL="0">
              <a:buNone/>
            </a:pPr>
            <a:r>
              <a:rPr lang="en-US" sz="1150" i="1" dirty="0">
                <a:solidFill>
                  <a:srgbClr val="334155"/>
                </a:solidFill>
                <a:latin typeface="Calibri" pitchFamily="34" charset="0"/>
                <a:ea typeface="Calibri" pitchFamily="34" charset="-122"/>
                <a:cs typeface="Calibri" pitchFamily="34" charset="-120"/>
              </a:rPr>
              <a:t>In coppia: rispondete a più domande possibili in 2 minuti.</a:t>
            </a:r>
            <a:endParaRPr lang="en-US" sz="1250" dirty="0"/>
          </a:p>
        </p:txBody>
      </p:sp>
      <p:sp>
        <p:nvSpPr>
          <p:cNvPr id="11" name="polaroid_21"/>
          <p:cNvSpPr/>
          <p:nvPr/>
        </p:nvSpPr>
        <p:spPr>
          <a:xfrm rot="-240000">
            <a:off x="457200" y="3063240"/>
            <a:ext cx="1600200" cy="1417320"/>
          </a:xfrm>
          <a:prstGeom prst="rect">
            <a:avLst/>
          </a:prstGeom>
          <a:solidFill>
            <a:srgbClr val="FFFFFF"/>
          </a:solidFill>
          <a:ln w="31750">
            <a:solidFill>
              <a:srgbClr val="111111"/>
            </a:solidFill>
            <a:prstDash val="solid"/>
          </a:ln>
          <a:effectLst>
            <a:outerShdw sx="100000" sy="100000" kx="0" ky="0" algn="bl" rotWithShape="0" blurRad="101600" dist="38100" dir="2700000">
              <a:srgbClr val="000000">
                <a:alpha val="35000"/>
              </a:srgbClr>
            </a:outerShdw>
          </a:effectLst>
        </p:spPr>
      </p:sp>
      <p:pic>
        <p:nvPicPr>
          <p:cNvPr id="12" name="photo_22" descr="Illustration of a student doing a quiz">    </p:cNvPr>
          <p:cNvPicPr>
            <a:picLocks noChangeAspect="1"/>
          </p:cNvPicPr>
          <p:nvPr/>
        </p:nvPicPr>
        <p:blipFill>
          <a:blip r:embed="rId3"/>
          <a:srcRect l="0" r="0" t="0" b="0"/>
          <a:stretch/>
        </p:blipFill>
        <p:spPr>
          <a:xfrm rot="-240000">
            <a:off x="548640" y="3154680"/>
            <a:ext cx="1417320" cy="1143000"/>
          </a:xfrm>
          <a:prstGeom prst="rect">
            <a:avLst/>
          </a:prstGeom>
        </p:spPr>
      </p:pic>
      <p:sp>
        <p:nvSpPr>
          <p:cNvPr id="13" name="pageTag_23"/>
          <p:cNvSpPr txBox="1"/>
          <p:nvPr/>
        </p:nvSpPr>
        <p:spPr>
          <a:xfrm>
            <a:off x="320040" y="4773168"/>
            <a:ext cx="6766560" cy="237744"/>
          </a:xfrm>
          <a:prstGeom prst="rect">
            <a:avLst/>
          </a:prstGeom>
          <a:solidFill>
            <a:srgbClr val="FFFFFF"/>
          </a:solidFill>
          <a:ln/>
        </p:spPr>
        <p:txBody>
          <a:bodyPr wrap="square" lIns="25400" tIns="25400" rIns="25400" bIns="25400" rtlCol="0" anchor="ctr"/>
          <a:lstStyle/>
          <a:p>
            <a:pPr indent="0" marL="0">
              <a:buNone/>
            </a:pPr>
            <a:r>
              <a:rPr lang="en-US" sz="1000" dirty="0">
                <a:solidFill>
                  <a:srgbClr val="334155"/>
                </a:solidFill>
                <a:latin typeface="Calibri" pitchFamily="34" charset="0"/>
                <a:ea typeface="Calibri" pitchFamily="34" charset="-122"/>
                <a:cs typeface="Calibri" pitchFamily="34" charset="-120"/>
              </a:rPr>
              <a:t>📖 Teacher: Student's Book p.66 · 1a</a:t>
            </a:r>
            <a:endParaRPr lang="en-US" sz="1000" dirty="0"/>
          </a:p>
        </p:txBody>
      </p:sp>
      <p:sp>
        <p:nvSpPr>
          <p:cNvPr id="14" name="q_24"/>
          <p:cNvSpPr txBox="1"/>
          <p:nvPr/>
        </p:nvSpPr>
        <p:spPr>
          <a:xfrm>
            <a:off x="2788920" y="1325880"/>
            <a:ext cx="3749040" cy="384048"/>
          </a:xfrm>
          <a:prstGeom prst="rect">
            <a:avLst/>
          </a:prstGeom>
          <a:solidFill>
            <a:srgbClr val="FFFFFF"/>
          </a:solidFill>
          <a:ln w="15875">
            <a:solidFill>
              <a:srgbClr val="111111"/>
            </a:solidFill>
          </a:ln>
        </p:spPr>
        <p:txBody>
          <a:bodyPr wrap="square" lIns="76200" tIns="76200" rIns="76200" bIns="76200" rtlCol="0" anchor="ctr"/>
          <a:lstStyle/>
          <a:p>
            <a:pPr indent="0" marL="0">
              <a:buNone/>
            </a:pPr>
            <a:r>
              <a:rPr lang="en-US" sz="1200" dirty="0">
                <a:solidFill>
                  <a:srgbClr val="111111"/>
                </a:solidFill>
                <a:latin typeface="Calibri" pitchFamily="34" charset="0"/>
                <a:ea typeface="Calibri" pitchFamily="34" charset="-122"/>
                <a:cs typeface="Calibri" pitchFamily="34" charset="-120"/>
              </a:rPr>
              <a:t>1  What year did the Second World War start?</a:t>
            </a:r>
            <a:endParaRPr lang="en-US" sz="1200" dirty="0"/>
          </a:p>
        </p:txBody>
      </p:sp>
      <p:sp>
        <p:nvSpPr>
          <p:cNvPr id="15" name="R1_ans0"/>
          <p:cNvSpPr txBox="1"/>
          <p:nvPr/>
        </p:nvSpPr>
        <p:spPr>
          <a:xfrm>
            <a:off x="6629400" y="1344168"/>
            <a:ext cx="1234440" cy="347472"/>
          </a:xfrm>
          <a:prstGeom prst="roundRect">
            <a:avLst>
              <a:gd name="adj" fmla="val 15789"/>
            </a:avLst>
          </a:prstGeom>
          <a:solidFill>
            <a:srgbClr val="FFFFFF"/>
          </a:solidFill>
          <a:ln w="38100">
            <a:solidFill>
              <a:srgbClr val="1FA463"/>
            </a:solidFill>
          </a:ln>
        </p:spPr>
        <p:txBody>
          <a:bodyPr wrap="square" lIns="25400" tIns="25400" rIns="25400" bIns="25400" rtlCol="0" anchor="ctr"/>
          <a:lstStyle/>
          <a:p>
            <a:pPr algn="ctr" indent="0" marL="0">
              <a:buNone/>
            </a:pPr>
            <a:r>
              <a:rPr lang="en-US" sz="1100" dirty="0">
                <a:solidFill>
                  <a:srgbClr val="111111"/>
                </a:solidFill>
                <a:latin typeface="Calibri" pitchFamily="34" charset="0"/>
                <a:ea typeface="Calibri" pitchFamily="34" charset="-122"/>
                <a:cs typeface="Calibri" pitchFamily="34" charset="-120"/>
              </a:rPr>
              <a:t>1939</a:t>
            </a:r>
            <a:endParaRPr lang="en-US" sz="1100" dirty="0"/>
          </a:p>
        </p:txBody>
      </p:sp>
      <p:sp>
        <p:nvSpPr>
          <p:cNvPr id="16" name="R2_subj0"/>
          <p:cNvSpPr txBox="1"/>
          <p:nvPr/>
        </p:nvSpPr>
        <p:spPr>
          <a:xfrm>
            <a:off x="7936992" y="1344168"/>
            <a:ext cx="914400" cy="347472"/>
          </a:xfrm>
          <a:prstGeom prst="roundRect">
            <a:avLst>
              <a:gd name="adj" fmla="val 15789"/>
            </a:avLst>
          </a:prstGeom>
          <a:solidFill>
            <a:srgbClr val="FFFFFF"/>
          </a:solidFill>
          <a:ln w="38100">
            <a:solidFill>
              <a:srgbClr val="EF2F2F"/>
            </a:solidFill>
          </a:ln>
        </p:spPr>
        <p:txBody>
          <a:bodyPr wrap="square" lIns="25400" tIns="25400" rIns="25400" bIns="25400" rtlCol="0" anchor="ctr"/>
          <a:lstStyle/>
          <a:p>
            <a:pPr algn="ctr" indent="0" marL="0">
              <a:buNone/>
            </a:pPr>
            <a:r>
              <a:rPr lang="en-US" sz="1100" dirty="0">
                <a:solidFill>
                  <a:srgbClr val="EF2F2F"/>
                </a:solidFill>
                <a:latin typeface="Arial Black" pitchFamily="34" charset="0"/>
                <a:ea typeface="Arial Black" pitchFamily="34" charset="-122"/>
                <a:cs typeface="Arial Black" pitchFamily="34" charset="-120"/>
              </a:rPr>
              <a:t>history</a:t>
            </a:r>
            <a:endParaRPr lang="en-US" sz="1100" dirty="0"/>
          </a:p>
        </p:txBody>
      </p:sp>
      <p:sp>
        <p:nvSpPr>
          <p:cNvPr id="17" name="q_25"/>
          <p:cNvSpPr txBox="1"/>
          <p:nvPr/>
        </p:nvSpPr>
        <p:spPr>
          <a:xfrm>
            <a:off x="2788920" y="1755648"/>
            <a:ext cx="3749040" cy="384048"/>
          </a:xfrm>
          <a:prstGeom prst="rect">
            <a:avLst/>
          </a:prstGeom>
          <a:solidFill>
            <a:srgbClr val="FFFFFF"/>
          </a:solidFill>
          <a:ln w="15875">
            <a:solidFill>
              <a:srgbClr val="111111"/>
            </a:solidFill>
          </a:ln>
        </p:spPr>
        <p:txBody>
          <a:bodyPr wrap="square" lIns="76200" tIns="76200" rIns="76200" bIns="76200" rtlCol="0" anchor="ctr"/>
          <a:lstStyle/>
          <a:p>
            <a:pPr indent="0" marL="0">
              <a:buNone/>
            </a:pPr>
            <a:r>
              <a:rPr lang="en-US" sz="1200" dirty="0">
                <a:solidFill>
                  <a:srgbClr val="111111"/>
                </a:solidFill>
                <a:latin typeface="Calibri" pitchFamily="34" charset="0"/>
                <a:ea typeface="Calibri" pitchFamily="34" charset="-122"/>
                <a:cs typeface="Calibri" pitchFamily="34" charset="-120"/>
              </a:rPr>
              <a:t>2  Which country's longest river is called the Po?</a:t>
            </a:r>
            <a:endParaRPr lang="en-US" sz="1200" dirty="0"/>
          </a:p>
        </p:txBody>
      </p:sp>
      <p:sp>
        <p:nvSpPr>
          <p:cNvPr id="18" name="R1_ans1"/>
          <p:cNvSpPr txBox="1"/>
          <p:nvPr/>
        </p:nvSpPr>
        <p:spPr>
          <a:xfrm>
            <a:off x="6629400" y="1773936"/>
            <a:ext cx="1234440" cy="347472"/>
          </a:xfrm>
          <a:prstGeom prst="roundRect">
            <a:avLst>
              <a:gd name="adj" fmla="val 15789"/>
            </a:avLst>
          </a:prstGeom>
          <a:solidFill>
            <a:srgbClr val="FFFFFF"/>
          </a:solidFill>
          <a:ln w="38100">
            <a:solidFill>
              <a:srgbClr val="1FA463"/>
            </a:solidFill>
          </a:ln>
        </p:spPr>
        <p:txBody>
          <a:bodyPr wrap="square" lIns="25400" tIns="25400" rIns="25400" bIns="25400" rtlCol="0" anchor="ctr"/>
          <a:lstStyle/>
          <a:p>
            <a:pPr algn="ctr" indent="0" marL="0">
              <a:buNone/>
            </a:pPr>
            <a:r>
              <a:rPr lang="en-US" sz="1100" dirty="0">
                <a:solidFill>
                  <a:srgbClr val="111111"/>
                </a:solidFill>
                <a:latin typeface="Calibri" pitchFamily="34" charset="0"/>
                <a:ea typeface="Calibri" pitchFamily="34" charset="-122"/>
                <a:cs typeface="Calibri" pitchFamily="34" charset="-120"/>
              </a:rPr>
              <a:t>Italy</a:t>
            </a:r>
            <a:endParaRPr lang="en-US" sz="1100" dirty="0"/>
          </a:p>
        </p:txBody>
      </p:sp>
      <p:sp>
        <p:nvSpPr>
          <p:cNvPr id="19" name="R2_subj1"/>
          <p:cNvSpPr txBox="1"/>
          <p:nvPr/>
        </p:nvSpPr>
        <p:spPr>
          <a:xfrm>
            <a:off x="7936992" y="1773936"/>
            <a:ext cx="914400" cy="347472"/>
          </a:xfrm>
          <a:prstGeom prst="roundRect">
            <a:avLst>
              <a:gd name="adj" fmla="val 15789"/>
            </a:avLst>
          </a:prstGeom>
          <a:solidFill>
            <a:srgbClr val="FFFFFF"/>
          </a:solidFill>
          <a:ln w="38100">
            <a:solidFill>
              <a:srgbClr val="EF2F2F"/>
            </a:solidFill>
          </a:ln>
        </p:spPr>
        <p:txBody>
          <a:bodyPr wrap="square" lIns="25400" tIns="25400" rIns="25400" bIns="25400" rtlCol="0" anchor="ctr"/>
          <a:lstStyle/>
          <a:p>
            <a:pPr algn="ctr" indent="0" marL="0">
              <a:buNone/>
            </a:pPr>
            <a:r>
              <a:rPr lang="en-US" sz="1100" dirty="0">
                <a:solidFill>
                  <a:srgbClr val="EF2F2F"/>
                </a:solidFill>
                <a:latin typeface="Arial Black" pitchFamily="34" charset="0"/>
                <a:ea typeface="Arial Black" pitchFamily="34" charset="-122"/>
                <a:cs typeface="Arial Black" pitchFamily="34" charset="-120"/>
              </a:rPr>
              <a:t>geography</a:t>
            </a:r>
            <a:endParaRPr lang="en-US" sz="1100" dirty="0"/>
          </a:p>
        </p:txBody>
      </p:sp>
      <p:sp>
        <p:nvSpPr>
          <p:cNvPr id="20" name="q_26"/>
          <p:cNvSpPr txBox="1"/>
          <p:nvPr/>
        </p:nvSpPr>
        <p:spPr>
          <a:xfrm>
            <a:off x="2788920" y="2185416"/>
            <a:ext cx="3749040" cy="384048"/>
          </a:xfrm>
          <a:prstGeom prst="rect">
            <a:avLst/>
          </a:prstGeom>
          <a:solidFill>
            <a:srgbClr val="FFFFFF"/>
          </a:solidFill>
          <a:ln w="15875">
            <a:solidFill>
              <a:srgbClr val="111111"/>
            </a:solidFill>
          </a:ln>
        </p:spPr>
        <p:txBody>
          <a:bodyPr wrap="square" lIns="76200" tIns="76200" rIns="76200" bIns="76200" rtlCol="0" anchor="ctr"/>
          <a:lstStyle/>
          <a:p>
            <a:pPr indent="0" marL="0">
              <a:buNone/>
            </a:pPr>
            <a:r>
              <a:rPr lang="en-US" sz="1200" dirty="0">
                <a:solidFill>
                  <a:srgbClr val="111111"/>
                </a:solidFill>
                <a:latin typeface="Calibri" pitchFamily="34" charset="0"/>
                <a:ea typeface="Calibri" pitchFamily="34" charset="-122"/>
                <a:cs typeface="Calibri" pitchFamily="34" charset="-120"/>
              </a:rPr>
              <a:t>3  What's √36?</a:t>
            </a:r>
            <a:endParaRPr lang="en-US" sz="1200" dirty="0"/>
          </a:p>
        </p:txBody>
      </p:sp>
      <p:sp>
        <p:nvSpPr>
          <p:cNvPr id="21" name="R1_ans2"/>
          <p:cNvSpPr txBox="1"/>
          <p:nvPr/>
        </p:nvSpPr>
        <p:spPr>
          <a:xfrm>
            <a:off x="6629400" y="2203704"/>
            <a:ext cx="1234440" cy="347472"/>
          </a:xfrm>
          <a:prstGeom prst="roundRect">
            <a:avLst>
              <a:gd name="adj" fmla="val 15789"/>
            </a:avLst>
          </a:prstGeom>
          <a:solidFill>
            <a:srgbClr val="FFFFFF"/>
          </a:solidFill>
          <a:ln w="38100">
            <a:solidFill>
              <a:srgbClr val="1FA463"/>
            </a:solidFill>
          </a:ln>
        </p:spPr>
        <p:txBody>
          <a:bodyPr wrap="square" lIns="25400" tIns="25400" rIns="25400" bIns="25400" rtlCol="0" anchor="ctr"/>
          <a:lstStyle/>
          <a:p>
            <a:pPr algn="ctr" indent="0" marL="0">
              <a:buNone/>
            </a:pPr>
            <a:r>
              <a:rPr lang="en-US" sz="1100" dirty="0">
                <a:solidFill>
                  <a:srgbClr val="111111"/>
                </a:solidFill>
                <a:latin typeface="Calibri" pitchFamily="34" charset="0"/>
                <a:ea typeface="Calibri" pitchFamily="34" charset="-122"/>
                <a:cs typeface="Calibri" pitchFamily="34" charset="-120"/>
              </a:rPr>
              <a:t>6</a:t>
            </a:r>
            <a:endParaRPr lang="en-US" sz="1100" dirty="0"/>
          </a:p>
        </p:txBody>
      </p:sp>
      <p:sp>
        <p:nvSpPr>
          <p:cNvPr id="22" name="R2_subj2"/>
          <p:cNvSpPr txBox="1"/>
          <p:nvPr/>
        </p:nvSpPr>
        <p:spPr>
          <a:xfrm>
            <a:off x="7936992" y="2203704"/>
            <a:ext cx="914400" cy="347472"/>
          </a:xfrm>
          <a:prstGeom prst="roundRect">
            <a:avLst>
              <a:gd name="adj" fmla="val 15789"/>
            </a:avLst>
          </a:prstGeom>
          <a:solidFill>
            <a:srgbClr val="FFFFFF"/>
          </a:solidFill>
          <a:ln w="38100">
            <a:solidFill>
              <a:srgbClr val="EF2F2F"/>
            </a:solidFill>
          </a:ln>
        </p:spPr>
        <p:txBody>
          <a:bodyPr wrap="square" lIns="25400" tIns="25400" rIns="25400" bIns="25400" rtlCol="0" anchor="ctr"/>
          <a:lstStyle/>
          <a:p>
            <a:pPr algn="ctr" indent="0" marL="0">
              <a:buNone/>
            </a:pPr>
            <a:r>
              <a:rPr lang="en-US" sz="1100" dirty="0">
                <a:solidFill>
                  <a:srgbClr val="EF2F2F"/>
                </a:solidFill>
                <a:latin typeface="Arial Black" pitchFamily="34" charset="0"/>
                <a:ea typeface="Arial Black" pitchFamily="34" charset="-122"/>
                <a:cs typeface="Arial Black" pitchFamily="34" charset="-120"/>
              </a:rPr>
              <a:t>maths</a:t>
            </a:r>
            <a:endParaRPr lang="en-US" sz="1100" dirty="0"/>
          </a:p>
        </p:txBody>
      </p:sp>
      <p:sp>
        <p:nvSpPr>
          <p:cNvPr id="23" name="q_27"/>
          <p:cNvSpPr txBox="1"/>
          <p:nvPr/>
        </p:nvSpPr>
        <p:spPr>
          <a:xfrm>
            <a:off x="2788920" y="2615184"/>
            <a:ext cx="3749040" cy="384048"/>
          </a:xfrm>
          <a:prstGeom prst="rect">
            <a:avLst/>
          </a:prstGeom>
          <a:solidFill>
            <a:srgbClr val="FFFFFF"/>
          </a:solidFill>
          <a:ln w="15875">
            <a:solidFill>
              <a:srgbClr val="111111"/>
            </a:solidFill>
          </a:ln>
        </p:spPr>
        <p:txBody>
          <a:bodyPr wrap="square" lIns="76200" tIns="76200" rIns="76200" bIns="76200" rtlCol="0" anchor="ctr"/>
          <a:lstStyle/>
          <a:p>
            <a:pPr indent="0" marL="0">
              <a:buNone/>
            </a:pPr>
            <a:r>
              <a:rPr lang="en-US" sz="1200" dirty="0">
                <a:solidFill>
                  <a:srgbClr val="111111"/>
                </a:solidFill>
                <a:latin typeface="Calibri" pitchFamily="34" charset="0"/>
                <a:ea typeface="Calibri" pitchFamily="34" charset="-122"/>
                <a:cs typeface="Calibri" pitchFamily="34" charset="-120"/>
              </a:rPr>
              <a:t>4  What does USB stand for?</a:t>
            </a:r>
            <a:endParaRPr lang="en-US" sz="1200" dirty="0"/>
          </a:p>
        </p:txBody>
      </p:sp>
      <p:sp>
        <p:nvSpPr>
          <p:cNvPr id="24" name="R1_ans3"/>
          <p:cNvSpPr txBox="1"/>
          <p:nvPr/>
        </p:nvSpPr>
        <p:spPr>
          <a:xfrm>
            <a:off x="6629400" y="2633472"/>
            <a:ext cx="1234440" cy="347472"/>
          </a:xfrm>
          <a:prstGeom prst="roundRect">
            <a:avLst>
              <a:gd name="adj" fmla="val 15789"/>
            </a:avLst>
          </a:prstGeom>
          <a:solidFill>
            <a:srgbClr val="FFFFFF"/>
          </a:solidFill>
          <a:ln w="38100">
            <a:solidFill>
              <a:srgbClr val="1FA463"/>
            </a:solidFill>
          </a:ln>
        </p:spPr>
        <p:txBody>
          <a:bodyPr wrap="square" lIns="25400" tIns="25400" rIns="25400" bIns="25400" rtlCol="0" anchor="ctr"/>
          <a:lstStyle/>
          <a:p>
            <a:pPr algn="ctr" indent="0" marL="0">
              <a:buNone/>
            </a:pPr>
            <a:r>
              <a:rPr lang="en-US" sz="1000" dirty="0">
                <a:solidFill>
                  <a:srgbClr val="111111"/>
                </a:solidFill>
                <a:latin typeface="Calibri" pitchFamily="34" charset="0"/>
                <a:ea typeface="Calibri" pitchFamily="34" charset="-122"/>
                <a:cs typeface="Calibri" pitchFamily="34" charset="-120"/>
              </a:rPr>
              <a:t>Universal Serial Bus</a:t>
            </a:r>
            <a:endParaRPr lang="en-US" sz="1000" dirty="0"/>
          </a:p>
        </p:txBody>
      </p:sp>
      <p:sp>
        <p:nvSpPr>
          <p:cNvPr id="25" name="R2_subj3"/>
          <p:cNvSpPr txBox="1"/>
          <p:nvPr/>
        </p:nvSpPr>
        <p:spPr>
          <a:xfrm>
            <a:off x="7936992" y="2633472"/>
            <a:ext cx="914400" cy="347472"/>
          </a:xfrm>
          <a:prstGeom prst="roundRect">
            <a:avLst>
              <a:gd name="adj" fmla="val 15789"/>
            </a:avLst>
          </a:prstGeom>
          <a:solidFill>
            <a:srgbClr val="FFFFFF"/>
          </a:solidFill>
          <a:ln w="38100">
            <a:solidFill>
              <a:srgbClr val="EF2F2F"/>
            </a:solidFill>
          </a:ln>
        </p:spPr>
        <p:txBody>
          <a:bodyPr wrap="square" lIns="25400" tIns="25400" rIns="25400" bIns="25400" rtlCol="0" anchor="ctr"/>
          <a:lstStyle/>
          <a:p>
            <a:pPr algn="ctr" indent="0" marL="0">
              <a:buNone/>
            </a:pPr>
            <a:r>
              <a:rPr lang="en-US" sz="1100" dirty="0">
                <a:solidFill>
                  <a:srgbClr val="EF2F2F"/>
                </a:solidFill>
                <a:latin typeface="Arial Black" pitchFamily="34" charset="0"/>
                <a:ea typeface="Arial Black" pitchFamily="34" charset="-122"/>
                <a:cs typeface="Arial Black" pitchFamily="34" charset="-120"/>
              </a:rPr>
              <a:t>IT</a:t>
            </a:r>
            <a:endParaRPr lang="en-US" sz="1100" dirty="0"/>
          </a:p>
        </p:txBody>
      </p:sp>
      <p:sp>
        <p:nvSpPr>
          <p:cNvPr id="26" name="q_28"/>
          <p:cNvSpPr txBox="1"/>
          <p:nvPr/>
        </p:nvSpPr>
        <p:spPr>
          <a:xfrm>
            <a:off x="2788920" y="3044952"/>
            <a:ext cx="3749040" cy="384048"/>
          </a:xfrm>
          <a:prstGeom prst="rect">
            <a:avLst/>
          </a:prstGeom>
          <a:solidFill>
            <a:srgbClr val="FFFFFF"/>
          </a:solidFill>
          <a:ln w="15875">
            <a:solidFill>
              <a:srgbClr val="111111"/>
            </a:solidFill>
          </a:ln>
        </p:spPr>
        <p:txBody>
          <a:bodyPr wrap="square" lIns="76200" tIns="76200" rIns="76200" bIns="76200" rtlCol="0" anchor="ctr"/>
          <a:lstStyle/>
          <a:p>
            <a:pPr indent="0" marL="0">
              <a:buNone/>
            </a:pPr>
            <a:r>
              <a:rPr lang="en-US" sz="1200" dirty="0">
                <a:solidFill>
                  <a:srgbClr val="111111"/>
                </a:solidFill>
                <a:latin typeface="Calibri" pitchFamily="34" charset="0"/>
                <a:ea typeface="Calibri" pitchFamily="34" charset="-122"/>
                <a:cs typeface="Calibri" pitchFamily="34" charset="-120"/>
              </a:rPr>
              <a:t>5  Who discovered the law of gravity?</a:t>
            </a:r>
            <a:endParaRPr lang="en-US" sz="1200" dirty="0"/>
          </a:p>
        </p:txBody>
      </p:sp>
      <p:sp>
        <p:nvSpPr>
          <p:cNvPr id="27" name="R1_ans4"/>
          <p:cNvSpPr txBox="1"/>
          <p:nvPr/>
        </p:nvSpPr>
        <p:spPr>
          <a:xfrm>
            <a:off x="6629400" y="3063240"/>
            <a:ext cx="1234440" cy="347472"/>
          </a:xfrm>
          <a:prstGeom prst="roundRect">
            <a:avLst>
              <a:gd name="adj" fmla="val 15789"/>
            </a:avLst>
          </a:prstGeom>
          <a:solidFill>
            <a:srgbClr val="FFFFFF"/>
          </a:solidFill>
          <a:ln w="38100">
            <a:solidFill>
              <a:srgbClr val="1FA463"/>
            </a:solidFill>
          </a:ln>
        </p:spPr>
        <p:txBody>
          <a:bodyPr wrap="square" lIns="25400" tIns="25400" rIns="25400" bIns="25400" rtlCol="0" anchor="ctr"/>
          <a:lstStyle/>
          <a:p>
            <a:pPr algn="ctr" indent="0" marL="0">
              <a:buNone/>
            </a:pPr>
            <a:r>
              <a:rPr lang="en-US" sz="1100" dirty="0">
                <a:solidFill>
                  <a:srgbClr val="111111"/>
                </a:solidFill>
                <a:latin typeface="Calibri" pitchFamily="34" charset="0"/>
                <a:ea typeface="Calibri" pitchFamily="34" charset="-122"/>
                <a:cs typeface="Calibri" pitchFamily="34" charset="-120"/>
              </a:rPr>
              <a:t>Isaac Newton</a:t>
            </a:r>
            <a:endParaRPr lang="en-US" sz="1100" dirty="0"/>
          </a:p>
        </p:txBody>
      </p:sp>
      <p:sp>
        <p:nvSpPr>
          <p:cNvPr id="28" name="R2_subj4"/>
          <p:cNvSpPr txBox="1"/>
          <p:nvPr/>
        </p:nvSpPr>
        <p:spPr>
          <a:xfrm>
            <a:off x="7936992" y="3063240"/>
            <a:ext cx="914400" cy="347472"/>
          </a:xfrm>
          <a:prstGeom prst="roundRect">
            <a:avLst>
              <a:gd name="adj" fmla="val 15789"/>
            </a:avLst>
          </a:prstGeom>
          <a:solidFill>
            <a:srgbClr val="FFFFFF"/>
          </a:solidFill>
          <a:ln w="38100">
            <a:solidFill>
              <a:srgbClr val="EF2F2F"/>
            </a:solidFill>
          </a:ln>
        </p:spPr>
        <p:txBody>
          <a:bodyPr wrap="square" lIns="25400" tIns="25400" rIns="25400" bIns="25400" rtlCol="0" anchor="ctr"/>
          <a:lstStyle/>
          <a:p>
            <a:pPr algn="ctr" indent="0" marL="0">
              <a:buNone/>
            </a:pPr>
            <a:r>
              <a:rPr lang="en-US" sz="1100" dirty="0">
                <a:solidFill>
                  <a:srgbClr val="EF2F2F"/>
                </a:solidFill>
                <a:latin typeface="Arial Black" pitchFamily="34" charset="0"/>
                <a:ea typeface="Arial Black" pitchFamily="34" charset="-122"/>
                <a:cs typeface="Arial Black" pitchFamily="34" charset="-120"/>
              </a:rPr>
              <a:t>physics</a:t>
            </a:r>
            <a:endParaRPr lang="en-US" sz="1100" dirty="0"/>
          </a:p>
        </p:txBody>
      </p:sp>
      <p:sp>
        <p:nvSpPr>
          <p:cNvPr id="29" name="q_29"/>
          <p:cNvSpPr txBox="1"/>
          <p:nvPr/>
        </p:nvSpPr>
        <p:spPr>
          <a:xfrm>
            <a:off x="2788920" y="3474720"/>
            <a:ext cx="3749040" cy="384048"/>
          </a:xfrm>
          <a:prstGeom prst="rect">
            <a:avLst/>
          </a:prstGeom>
          <a:solidFill>
            <a:srgbClr val="FFFFFF"/>
          </a:solidFill>
          <a:ln w="15875">
            <a:solidFill>
              <a:srgbClr val="111111"/>
            </a:solidFill>
          </a:ln>
        </p:spPr>
        <p:txBody>
          <a:bodyPr wrap="square" lIns="76200" tIns="76200" rIns="76200" bIns="76200" rtlCol="0" anchor="ctr"/>
          <a:lstStyle/>
          <a:p>
            <a:pPr indent="0" marL="0">
              <a:buNone/>
            </a:pPr>
            <a:r>
              <a:rPr lang="en-US" sz="1100" dirty="0">
                <a:solidFill>
                  <a:srgbClr val="111111"/>
                </a:solidFill>
                <a:latin typeface="Calibri" pitchFamily="34" charset="0"/>
                <a:ea typeface="Calibri" pitchFamily="34" charset="-122"/>
                <a:cs typeface="Calibri" pitchFamily="34" charset="-120"/>
              </a:rPr>
              <a:t>6  How many books are there in The Lord of the Rings?</a:t>
            </a:r>
            <a:endParaRPr lang="en-US" sz="1100" dirty="0"/>
          </a:p>
        </p:txBody>
      </p:sp>
      <p:sp>
        <p:nvSpPr>
          <p:cNvPr id="30" name="R1_ans5"/>
          <p:cNvSpPr txBox="1"/>
          <p:nvPr/>
        </p:nvSpPr>
        <p:spPr>
          <a:xfrm>
            <a:off x="6629400" y="3493008"/>
            <a:ext cx="1234440" cy="347472"/>
          </a:xfrm>
          <a:prstGeom prst="roundRect">
            <a:avLst>
              <a:gd name="adj" fmla="val 15789"/>
            </a:avLst>
          </a:prstGeom>
          <a:solidFill>
            <a:srgbClr val="FFFFFF"/>
          </a:solidFill>
          <a:ln w="38100">
            <a:solidFill>
              <a:srgbClr val="1FA463"/>
            </a:solidFill>
          </a:ln>
        </p:spPr>
        <p:txBody>
          <a:bodyPr wrap="square" lIns="25400" tIns="25400" rIns="25400" bIns="25400" rtlCol="0" anchor="ctr"/>
          <a:lstStyle/>
          <a:p>
            <a:pPr algn="ctr" indent="0" marL="0">
              <a:buNone/>
            </a:pPr>
            <a:r>
              <a:rPr lang="en-US" sz="1100" dirty="0">
                <a:solidFill>
                  <a:srgbClr val="111111"/>
                </a:solidFill>
                <a:latin typeface="Calibri" pitchFamily="34" charset="0"/>
                <a:ea typeface="Calibri" pitchFamily="34" charset="-122"/>
                <a:cs typeface="Calibri" pitchFamily="34" charset="-120"/>
              </a:rPr>
              <a:t>3</a:t>
            </a:r>
            <a:endParaRPr lang="en-US" sz="1100" dirty="0"/>
          </a:p>
        </p:txBody>
      </p:sp>
      <p:sp>
        <p:nvSpPr>
          <p:cNvPr id="31" name="R2_subj5"/>
          <p:cNvSpPr txBox="1"/>
          <p:nvPr/>
        </p:nvSpPr>
        <p:spPr>
          <a:xfrm>
            <a:off x="7936992" y="3493008"/>
            <a:ext cx="914400" cy="347472"/>
          </a:xfrm>
          <a:prstGeom prst="roundRect">
            <a:avLst>
              <a:gd name="adj" fmla="val 15789"/>
            </a:avLst>
          </a:prstGeom>
          <a:solidFill>
            <a:srgbClr val="FFFFFF"/>
          </a:solidFill>
          <a:ln w="38100">
            <a:solidFill>
              <a:srgbClr val="EF2F2F"/>
            </a:solidFill>
          </a:ln>
        </p:spPr>
        <p:txBody>
          <a:bodyPr wrap="square" lIns="25400" tIns="25400" rIns="25400" bIns="25400" rtlCol="0" anchor="ctr"/>
          <a:lstStyle/>
          <a:p>
            <a:pPr algn="ctr" indent="0" marL="0">
              <a:buNone/>
            </a:pPr>
            <a:r>
              <a:rPr lang="en-US" sz="1100" dirty="0">
                <a:solidFill>
                  <a:srgbClr val="EF2F2F"/>
                </a:solidFill>
                <a:latin typeface="Arial Black" pitchFamily="34" charset="0"/>
                <a:ea typeface="Arial Black" pitchFamily="34" charset="-122"/>
                <a:cs typeface="Arial Black" pitchFamily="34" charset="-120"/>
              </a:rPr>
              <a:t>literature</a:t>
            </a:r>
            <a:endParaRPr lang="en-US" sz="1100" dirty="0"/>
          </a:p>
        </p:txBody>
      </p:sp>
      <p:sp>
        <p:nvSpPr>
          <p:cNvPr id="32" name="q_30"/>
          <p:cNvSpPr txBox="1"/>
          <p:nvPr/>
        </p:nvSpPr>
        <p:spPr>
          <a:xfrm>
            <a:off x="2788920" y="3904488"/>
            <a:ext cx="3749040" cy="384048"/>
          </a:xfrm>
          <a:prstGeom prst="rect">
            <a:avLst/>
          </a:prstGeom>
          <a:solidFill>
            <a:srgbClr val="FFFFFF"/>
          </a:solidFill>
          <a:ln w="15875">
            <a:solidFill>
              <a:srgbClr val="111111"/>
            </a:solidFill>
          </a:ln>
        </p:spPr>
        <p:txBody>
          <a:bodyPr wrap="square" lIns="76200" tIns="76200" rIns="76200" bIns="76200" rtlCol="0" anchor="ctr"/>
          <a:lstStyle/>
          <a:p>
            <a:pPr indent="0" marL="0">
              <a:buNone/>
            </a:pPr>
            <a:r>
              <a:rPr lang="en-US" sz="1200" dirty="0">
                <a:solidFill>
                  <a:srgbClr val="111111"/>
                </a:solidFill>
                <a:latin typeface="Calibri" pitchFamily="34" charset="0"/>
                <a:ea typeface="Calibri" pitchFamily="34" charset="-122"/>
                <a:cs typeface="Calibri" pitchFamily="34" charset="-120"/>
              </a:rPr>
              <a:t>7  In what part of the body is the tibia?</a:t>
            </a:r>
            <a:endParaRPr lang="en-US" sz="1200" dirty="0"/>
          </a:p>
        </p:txBody>
      </p:sp>
      <p:sp>
        <p:nvSpPr>
          <p:cNvPr id="33" name="R1_ans6"/>
          <p:cNvSpPr txBox="1"/>
          <p:nvPr/>
        </p:nvSpPr>
        <p:spPr>
          <a:xfrm>
            <a:off x="6629400" y="3922776"/>
            <a:ext cx="1234440" cy="347472"/>
          </a:xfrm>
          <a:prstGeom prst="roundRect">
            <a:avLst>
              <a:gd name="adj" fmla="val 15789"/>
            </a:avLst>
          </a:prstGeom>
          <a:solidFill>
            <a:srgbClr val="FFFFFF"/>
          </a:solidFill>
          <a:ln w="38100">
            <a:solidFill>
              <a:srgbClr val="1FA463"/>
            </a:solidFill>
          </a:ln>
        </p:spPr>
        <p:txBody>
          <a:bodyPr wrap="square" lIns="25400" tIns="25400" rIns="25400" bIns="25400" rtlCol="0" anchor="ctr"/>
          <a:lstStyle/>
          <a:p>
            <a:pPr algn="ctr" indent="0" marL="0">
              <a:buNone/>
            </a:pPr>
            <a:r>
              <a:rPr lang="en-US" sz="1100" dirty="0">
                <a:solidFill>
                  <a:srgbClr val="111111"/>
                </a:solidFill>
                <a:latin typeface="Calibri" pitchFamily="34" charset="0"/>
                <a:ea typeface="Calibri" pitchFamily="34" charset="-122"/>
                <a:cs typeface="Calibri" pitchFamily="34" charset="-120"/>
              </a:rPr>
              <a:t>the leg</a:t>
            </a:r>
            <a:endParaRPr lang="en-US" sz="1100" dirty="0"/>
          </a:p>
        </p:txBody>
      </p:sp>
      <p:sp>
        <p:nvSpPr>
          <p:cNvPr id="34" name="R2_subj6"/>
          <p:cNvSpPr txBox="1"/>
          <p:nvPr/>
        </p:nvSpPr>
        <p:spPr>
          <a:xfrm>
            <a:off x="7936992" y="3922776"/>
            <a:ext cx="914400" cy="347472"/>
          </a:xfrm>
          <a:prstGeom prst="roundRect">
            <a:avLst>
              <a:gd name="adj" fmla="val 15789"/>
            </a:avLst>
          </a:prstGeom>
          <a:solidFill>
            <a:srgbClr val="FFFFFF"/>
          </a:solidFill>
          <a:ln w="38100">
            <a:solidFill>
              <a:srgbClr val="EF2F2F"/>
            </a:solidFill>
          </a:ln>
        </p:spPr>
        <p:txBody>
          <a:bodyPr wrap="square" lIns="25400" tIns="25400" rIns="25400" bIns="25400" rtlCol="0" anchor="ctr"/>
          <a:lstStyle/>
          <a:p>
            <a:pPr algn="ctr" indent="0" marL="0">
              <a:buNone/>
            </a:pPr>
            <a:r>
              <a:rPr lang="en-US" sz="1100" dirty="0">
                <a:solidFill>
                  <a:srgbClr val="EF2F2F"/>
                </a:solidFill>
                <a:latin typeface="Arial Black" pitchFamily="34" charset="0"/>
                <a:ea typeface="Arial Black" pitchFamily="34" charset="-122"/>
                <a:cs typeface="Arial Black" pitchFamily="34" charset="-120"/>
              </a:rPr>
              <a:t>biology</a:t>
            </a:r>
            <a:endParaRPr lang="en-US" sz="1100" dirty="0"/>
          </a:p>
        </p:txBody>
      </p:sp>
      <p:sp>
        <p:nvSpPr>
          <p:cNvPr id="35" name="q_31"/>
          <p:cNvSpPr txBox="1"/>
          <p:nvPr/>
        </p:nvSpPr>
        <p:spPr>
          <a:xfrm>
            <a:off x="2788920" y="4334256"/>
            <a:ext cx="3749040" cy="384048"/>
          </a:xfrm>
          <a:prstGeom prst="rect">
            <a:avLst/>
          </a:prstGeom>
          <a:solidFill>
            <a:srgbClr val="FFFFFF"/>
          </a:solidFill>
          <a:ln w="15875">
            <a:solidFill>
              <a:srgbClr val="111111"/>
            </a:solidFill>
          </a:ln>
        </p:spPr>
        <p:txBody>
          <a:bodyPr wrap="square" lIns="76200" tIns="76200" rIns="76200" bIns="76200" rtlCol="0" anchor="ctr"/>
          <a:lstStyle/>
          <a:p>
            <a:pPr indent="0" marL="0">
              <a:buNone/>
            </a:pPr>
            <a:r>
              <a:rPr lang="en-US" sz="900" dirty="0">
                <a:solidFill>
                  <a:srgbClr val="111111"/>
                </a:solidFill>
                <a:latin typeface="Calibri" pitchFamily="34" charset="0"/>
                <a:ea typeface="Calibri" pitchFamily="34" charset="-122"/>
                <a:cs typeface="Calibri" pitchFamily="34" charset="-120"/>
              </a:rPr>
              <a:t>8  What's the most common chemical element in the Earth's crust?</a:t>
            </a:r>
            <a:endParaRPr lang="en-US" sz="900" dirty="0"/>
          </a:p>
        </p:txBody>
      </p:sp>
      <p:sp>
        <p:nvSpPr>
          <p:cNvPr id="36" name="R1_ans7"/>
          <p:cNvSpPr txBox="1"/>
          <p:nvPr/>
        </p:nvSpPr>
        <p:spPr>
          <a:xfrm>
            <a:off x="6629400" y="4352544"/>
            <a:ext cx="1234440" cy="347472"/>
          </a:xfrm>
          <a:prstGeom prst="roundRect">
            <a:avLst>
              <a:gd name="adj" fmla="val 15789"/>
            </a:avLst>
          </a:prstGeom>
          <a:solidFill>
            <a:srgbClr val="FFFFFF"/>
          </a:solidFill>
          <a:ln w="38100">
            <a:solidFill>
              <a:srgbClr val="1FA463"/>
            </a:solidFill>
          </a:ln>
        </p:spPr>
        <p:txBody>
          <a:bodyPr wrap="square" lIns="25400" tIns="25400" rIns="25400" bIns="25400" rtlCol="0" anchor="ctr"/>
          <a:lstStyle/>
          <a:p>
            <a:pPr algn="ctr" indent="0" marL="0">
              <a:buNone/>
            </a:pPr>
            <a:r>
              <a:rPr lang="en-US" sz="1100" dirty="0">
                <a:solidFill>
                  <a:srgbClr val="111111"/>
                </a:solidFill>
                <a:latin typeface="Calibri" pitchFamily="34" charset="0"/>
                <a:ea typeface="Calibri" pitchFamily="34" charset="-122"/>
                <a:cs typeface="Calibri" pitchFamily="34" charset="-120"/>
              </a:rPr>
              <a:t>oxygen</a:t>
            </a:r>
            <a:endParaRPr lang="en-US" sz="1100" dirty="0"/>
          </a:p>
        </p:txBody>
      </p:sp>
      <p:sp>
        <p:nvSpPr>
          <p:cNvPr id="37" name="R2_subj7"/>
          <p:cNvSpPr txBox="1"/>
          <p:nvPr/>
        </p:nvSpPr>
        <p:spPr>
          <a:xfrm>
            <a:off x="7936992" y="4352544"/>
            <a:ext cx="914400" cy="347472"/>
          </a:xfrm>
          <a:prstGeom prst="roundRect">
            <a:avLst>
              <a:gd name="adj" fmla="val 15789"/>
            </a:avLst>
          </a:prstGeom>
          <a:solidFill>
            <a:srgbClr val="FFFFFF"/>
          </a:solidFill>
          <a:ln w="38100">
            <a:solidFill>
              <a:srgbClr val="EF2F2F"/>
            </a:solidFill>
          </a:ln>
        </p:spPr>
        <p:txBody>
          <a:bodyPr wrap="square" lIns="25400" tIns="25400" rIns="25400" bIns="25400" rtlCol="0" anchor="ctr"/>
          <a:lstStyle/>
          <a:p>
            <a:pPr algn="ctr" indent="0" marL="0">
              <a:buNone/>
            </a:pPr>
            <a:r>
              <a:rPr lang="en-US" sz="1100" dirty="0">
                <a:solidFill>
                  <a:srgbClr val="EF2F2F"/>
                </a:solidFill>
                <a:latin typeface="Arial Black" pitchFamily="34" charset="0"/>
                <a:ea typeface="Arial Black" pitchFamily="34" charset="-122"/>
                <a:cs typeface="Arial Black" pitchFamily="34" charset="-120"/>
              </a:rPr>
              <a:t>chemistry</a:t>
            </a:r>
            <a:endParaRPr lang="en-US" sz="1100" dirty="0"/>
          </a:p>
        </p:txBody>
      </p:sp>
      <p:sp>
        <p:nvSpPr>
          <p:cNvPr id="38" name="hint_32"/>
          <p:cNvSpPr txBox="1"/>
          <p:nvPr/>
        </p:nvSpPr>
        <p:spPr>
          <a:xfrm>
            <a:off x="6629400" y="1005840"/>
            <a:ext cx="2286000" cy="274320"/>
          </a:xfrm>
          <a:prstGeom prst="rect">
            <a:avLst/>
          </a:prstGeom>
          <a:noFill/>
          <a:ln/>
        </p:spPr>
        <p:txBody>
          <a:bodyPr wrap="square" rtlCol="0" anchor="ctr"/>
          <a:lstStyle/>
          <a:p>
            <a:pPr indent="0" marL="0">
              <a:buNone/>
            </a:pPr>
            <a:r>
              <a:rPr lang="en-US" sz="1100" dirty="0">
                <a:solidFill>
                  <a:srgbClr val="5B6782"/>
                </a:solidFill>
                <a:latin typeface="Calibri" pitchFamily="34" charset="0"/>
                <a:ea typeface="Calibri" pitchFamily="34" charset="-122"/>
                <a:cs typeface="Calibri" pitchFamily="34" charset="-120"/>
              </a:rPr>
              <a:t>Answers ↓   Subject ↓</a:t>
            </a:r>
            <a:endParaRPr lang="en-US" sz="1100" dirty="0"/>
          </a:p>
        </p:txBody>
      </p:sp>
    </p:spTree>
  </p:cSld>
  <p:clrMapOvr>
    <a:masterClrMapping/>
  </p:clrMapOvr>
  <p:transition spd="med">
    <p:push dir="l"/>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5"/>
                                        </p:tgtEl>
                                        <p:attrNameLst>
                                          <p:attrName>style.visibility</p:attrName>
                                        </p:attrNameLst>
                                      </p:cBhvr>
                                      <p:to>
                                        <p:strVal val="visible"/>
                                      </p:to>
                                    </p:set>
                                    <p:animEffect transition="in" filter="fade">
                                      <p:cBhvr>
                                        <p:cTn id="7" dur="400"/>
                                        <p:tgtEl>
                                          <p:spTgt spid="15"/>
                                        </p:tgtEl>
                                      </p:cBhvr>
                                    </p:animEffect>
                                  </p:childTnLst>
                                </p:cTn>
                              </p:par>
                              <p:par>
                                <p:cTn id="8" presetID="10" presetClass="entr" presetSubtype="0" fill="hold" nodeType="withEffect">
                                  <p:stCondLst>
                                    <p:cond delay="0"/>
                                  </p:stCondLst>
                                  <p:childTnLst>
                                    <p:set>
                                      <p:cBhvr>
                                        <p:cTn id="9" dur="1" fill="hold">
                                          <p:stCondLst>
                                            <p:cond delay="0"/>
                                          </p:stCondLst>
                                        </p:cTn>
                                        <p:tgtEl>
                                          <p:spTgt spid="18"/>
                                        </p:tgtEl>
                                        <p:attrNameLst>
                                          <p:attrName>style.visibility</p:attrName>
                                        </p:attrNameLst>
                                      </p:cBhvr>
                                      <p:to>
                                        <p:strVal val="visible"/>
                                      </p:to>
                                    </p:set>
                                    <p:animEffect transition="in" filter="fade">
                                      <p:cBhvr>
                                        <p:cTn id="10" dur="400"/>
                                        <p:tgtEl>
                                          <p:spTgt spid="18"/>
                                        </p:tgtEl>
                                      </p:cBhvr>
                                    </p:animEffect>
                                  </p:childTnLst>
                                </p:cTn>
                              </p:par>
                              <p:par>
                                <p:cTn id="11" presetID="10" presetClass="entr" presetSubtype="0" fill="hold" nodeType="withEffect">
                                  <p:stCondLst>
                                    <p:cond delay="0"/>
                                  </p:stCondLst>
                                  <p:childTnLst>
                                    <p:set>
                                      <p:cBhvr>
                                        <p:cTn id="12" dur="1" fill="hold">
                                          <p:stCondLst>
                                            <p:cond delay="0"/>
                                          </p:stCondLst>
                                        </p:cTn>
                                        <p:tgtEl>
                                          <p:spTgt spid="21"/>
                                        </p:tgtEl>
                                        <p:attrNameLst>
                                          <p:attrName>style.visibility</p:attrName>
                                        </p:attrNameLst>
                                      </p:cBhvr>
                                      <p:to>
                                        <p:strVal val="visible"/>
                                      </p:to>
                                    </p:set>
                                    <p:animEffect transition="in" filter="fade">
                                      <p:cBhvr>
                                        <p:cTn id="13" dur="400"/>
                                        <p:tgtEl>
                                          <p:spTgt spid="21"/>
                                        </p:tgtEl>
                                      </p:cBhvr>
                                    </p:animEffect>
                                  </p:childTnLst>
                                </p:cTn>
                              </p:par>
                              <p:par>
                                <p:cTn id="14" presetID="10" presetClass="entr" presetSubtype="0" fill="hold" nodeType="withEffect">
                                  <p:stCondLst>
                                    <p:cond delay="0"/>
                                  </p:stCondLst>
                                  <p:childTnLst>
                                    <p:set>
                                      <p:cBhvr>
                                        <p:cTn id="15" dur="1" fill="hold">
                                          <p:stCondLst>
                                            <p:cond delay="0"/>
                                          </p:stCondLst>
                                        </p:cTn>
                                        <p:tgtEl>
                                          <p:spTgt spid="24"/>
                                        </p:tgtEl>
                                        <p:attrNameLst>
                                          <p:attrName>style.visibility</p:attrName>
                                        </p:attrNameLst>
                                      </p:cBhvr>
                                      <p:to>
                                        <p:strVal val="visible"/>
                                      </p:to>
                                    </p:set>
                                    <p:animEffect transition="in" filter="fade">
                                      <p:cBhvr>
                                        <p:cTn id="16" dur="400"/>
                                        <p:tgtEl>
                                          <p:spTgt spid="24"/>
                                        </p:tgtEl>
                                      </p:cBhvr>
                                    </p:animEffect>
                                  </p:childTnLst>
                                </p:cTn>
                              </p:par>
                              <p:par>
                                <p:cTn id="17" presetID="10" presetClass="entr" presetSubtype="0" fill="hold" nodeType="withEffect">
                                  <p:stCondLst>
                                    <p:cond delay="0"/>
                                  </p:stCondLst>
                                  <p:childTnLst>
                                    <p:set>
                                      <p:cBhvr>
                                        <p:cTn id="18" dur="1" fill="hold">
                                          <p:stCondLst>
                                            <p:cond delay="0"/>
                                          </p:stCondLst>
                                        </p:cTn>
                                        <p:tgtEl>
                                          <p:spTgt spid="27"/>
                                        </p:tgtEl>
                                        <p:attrNameLst>
                                          <p:attrName>style.visibility</p:attrName>
                                        </p:attrNameLst>
                                      </p:cBhvr>
                                      <p:to>
                                        <p:strVal val="visible"/>
                                      </p:to>
                                    </p:set>
                                    <p:animEffect transition="in" filter="fade">
                                      <p:cBhvr>
                                        <p:cTn id="19" dur="400"/>
                                        <p:tgtEl>
                                          <p:spTgt spid="27"/>
                                        </p:tgtEl>
                                      </p:cBhvr>
                                    </p:animEffect>
                                  </p:childTnLst>
                                </p:cTn>
                              </p:par>
                              <p:par>
                                <p:cTn id="20" presetID="10" presetClass="entr" presetSubtype="0" fill="hold" nodeType="withEffect">
                                  <p:stCondLst>
                                    <p:cond delay="0"/>
                                  </p:stCondLst>
                                  <p:childTnLst>
                                    <p:set>
                                      <p:cBhvr>
                                        <p:cTn id="21" dur="1" fill="hold">
                                          <p:stCondLst>
                                            <p:cond delay="0"/>
                                          </p:stCondLst>
                                        </p:cTn>
                                        <p:tgtEl>
                                          <p:spTgt spid="30"/>
                                        </p:tgtEl>
                                        <p:attrNameLst>
                                          <p:attrName>style.visibility</p:attrName>
                                        </p:attrNameLst>
                                      </p:cBhvr>
                                      <p:to>
                                        <p:strVal val="visible"/>
                                      </p:to>
                                    </p:set>
                                    <p:animEffect transition="in" filter="fade">
                                      <p:cBhvr>
                                        <p:cTn id="22" dur="400"/>
                                        <p:tgtEl>
                                          <p:spTgt spid="30"/>
                                        </p:tgtEl>
                                      </p:cBhvr>
                                    </p:animEffect>
                                  </p:childTnLst>
                                </p:cTn>
                              </p:par>
                              <p:par>
                                <p:cTn id="23" presetID="10" presetClass="entr" presetSubtype="0" fill="hold" nodeType="withEffect">
                                  <p:stCondLst>
                                    <p:cond delay="0"/>
                                  </p:stCondLst>
                                  <p:childTnLst>
                                    <p:set>
                                      <p:cBhvr>
                                        <p:cTn id="24" dur="1" fill="hold">
                                          <p:stCondLst>
                                            <p:cond delay="0"/>
                                          </p:stCondLst>
                                        </p:cTn>
                                        <p:tgtEl>
                                          <p:spTgt spid="33"/>
                                        </p:tgtEl>
                                        <p:attrNameLst>
                                          <p:attrName>style.visibility</p:attrName>
                                        </p:attrNameLst>
                                      </p:cBhvr>
                                      <p:to>
                                        <p:strVal val="visible"/>
                                      </p:to>
                                    </p:set>
                                    <p:animEffect transition="in" filter="fade">
                                      <p:cBhvr>
                                        <p:cTn id="25" dur="400"/>
                                        <p:tgtEl>
                                          <p:spTgt spid="33"/>
                                        </p:tgtEl>
                                      </p:cBhvr>
                                    </p:animEffect>
                                  </p:childTnLst>
                                </p:cTn>
                              </p:par>
                              <p:par>
                                <p:cTn id="26" presetID="10" presetClass="entr" presetSubtype="0" fill="hold" nodeType="withEffect">
                                  <p:stCondLst>
                                    <p:cond delay="0"/>
                                  </p:stCondLst>
                                  <p:childTnLst>
                                    <p:set>
                                      <p:cBhvr>
                                        <p:cTn id="27" dur="1" fill="hold">
                                          <p:stCondLst>
                                            <p:cond delay="0"/>
                                          </p:stCondLst>
                                        </p:cTn>
                                        <p:tgtEl>
                                          <p:spTgt spid="36"/>
                                        </p:tgtEl>
                                        <p:attrNameLst>
                                          <p:attrName>style.visibility</p:attrName>
                                        </p:attrNameLst>
                                      </p:cBhvr>
                                      <p:to>
                                        <p:strVal val="visible"/>
                                      </p:to>
                                    </p:set>
                                    <p:animEffect transition="in" filter="fade">
                                      <p:cBhvr>
                                        <p:cTn id="28" dur="400"/>
                                        <p:tgtEl>
                                          <p:spTgt spid="36"/>
                                        </p:tgtEl>
                                      </p:cBhvr>
                                    </p:animEffect>
                                  </p:childTnLst>
                                </p:cTn>
                              </p:par>
                            </p:childTnLst>
                          </p:cTn>
                        </p:par>
                      </p:childTnLst>
                    </p:cTn>
                  </p:par>
                  <p:par>
                    <p:cTn id="29" fill="hold">
                      <p:stCondLst>
                        <p:cond delay="indefinite"/>
                      </p:stCondLst>
                      <p:childTnLst>
                        <p:par>
                          <p:cTn id="30" fill="hold">
                            <p:stCondLst>
                              <p:cond delay="0"/>
                            </p:stCondLst>
                            <p:childTnLst>
                              <p:par>
                                <p:cTn id="31" presetID="10" presetClass="entr" presetSubtype="0" fill="hold" nodeType="clickEffect">
                                  <p:stCondLst>
                                    <p:cond delay="0"/>
                                  </p:stCondLst>
                                  <p:childTnLst>
                                    <p:set>
                                      <p:cBhvr>
                                        <p:cTn id="32" dur="1" fill="hold">
                                          <p:stCondLst>
                                            <p:cond delay="0"/>
                                          </p:stCondLst>
                                        </p:cTn>
                                        <p:tgtEl>
                                          <p:spTgt spid="16"/>
                                        </p:tgtEl>
                                        <p:attrNameLst>
                                          <p:attrName>style.visibility</p:attrName>
                                        </p:attrNameLst>
                                      </p:cBhvr>
                                      <p:to>
                                        <p:strVal val="visible"/>
                                      </p:to>
                                    </p:set>
                                    <p:animEffect transition="in" filter="fade">
                                      <p:cBhvr>
                                        <p:cTn id="33" dur="400"/>
                                        <p:tgtEl>
                                          <p:spTgt spid="16"/>
                                        </p:tgtEl>
                                      </p:cBhvr>
                                    </p:animEffect>
                                  </p:childTnLst>
                                </p:cTn>
                              </p:par>
                              <p:par>
                                <p:cTn id="34" presetID="10" presetClass="entr" presetSubtype="0" fill="hold" nodeType="withEffect">
                                  <p:stCondLst>
                                    <p:cond delay="0"/>
                                  </p:stCondLst>
                                  <p:childTnLst>
                                    <p:set>
                                      <p:cBhvr>
                                        <p:cTn id="35" dur="1" fill="hold">
                                          <p:stCondLst>
                                            <p:cond delay="0"/>
                                          </p:stCondLst>
                                        </p:cTn>
                                        <p:tgtEl>
                                          <p:spTgt spid="19"/>
                                        </p:tgtEl>
                                        <p:attrNameLst>
                                          <p:attrName>style.visibility</p:attrName>
                                        </p:attrNameLst>
                                      </p:cBhvr>
                                      <p:to>
                                        <p:strVal val="visible"/>
                                      </p:to>
                                    </p:set>
                                    <p:animEffect transition="in" filter="fade">
                                      <p:cBhvr>
                                        <p:cTn id="36" dur="400"/>
                                        <p:tgtEl>
                                          <p:spTgt spid="19"/>
                                        </p:tgtEl>
                                      </p:cBhvr>
                                    </p:animEffect>
                                  </p:childTnLst>
                                </p:cTn>
                              </p:par>
                              <p:par>
                                <p:cTn id="37" presetID="10" presetClass="entr" presetSubtype="0" fill="hold" nodeType="withEffect">
                                  <p:stCondLst>
                                    <p:cond delay="0"/>
                                  </p:stCondLst>
                                  <p:childTnLst>
                                    <p:set>
                                      <p:cBhvr>
                                        <p:cTn id="38" dur="1" fill="hold">
                                          <p:stCondLst>
                                            <p:cond delay="0"/>
                                          </p:stCondLst>
                                        </p:cTn>
                                        <p:tgtEl>
                                          <p:spTgt spid="22"/>
                                        </p:tgtEl>
                                        <p:attrNameLst>
                                          <p:attrName>style.visibility</p:attrName>
                                        </p:attrNameLst>
                                      </p:cBhvr>
                                      <p:to>
                                        <p:strVal val="visible"/>
                                      </p:to>
                                    </p:set>
                                    <p:animEffect transition="in" filter="fade">
                                      <p:cBhvr>
                                        <p:cTn id="39" dur="400"/>
                                        <p:tgtEl>
                                          <p:spTgt spid="22"/>
                                        </p:tgtEl>
                                      </p:cBhvr>
                                    </p:animEffect>
                                  </p:childTnLst>
                                </p:cTn>
                              </p:par>
                              <p:par>
                                <p:cTn id="40" presetID="10" presetClass="entr" presetSubtype="0" fill="hold" nodeType="withEffect">
                                  <p:stCondLst>
                                    <p:cond delay="0"/>
                                  </p:stCondLst>
                                  <p:childTnLst>
                                    <p:set>
                                      <p:cBhvr>
                                        <p:cTn id="41" dur="1" fill="hold">
                                          <p:stCondLst>
                                            <p:cond delay="0"/>
                                          </p:stCondLst>
                                        </p:cTn>
                                        <p:tgtEl>
                                          <p:spTgt spid="25"/>
                                        </p:tgtEl>
                                        <p:attrNameLst>
                                          <p:attrName>style.visibility</p:attrName>
                                        </p:attrNameLst>
                                      </p:cBhvr>
                                      <p:to>
                                        <p:strVal val="visible"/>
                                      </p:to>
                                    </p:set>
                                    <p:animEffect transition="in" filter="fade">
                                      <p:cBhvr>
                                        <p:cTn id="42" dur="400"/>
                                        <p:tgtEl>
                                          <p:spTgt spid="25"/>
                                        </p:tgtEl>
                                      </p:cBhvr>
                                    </p:animEffect>
                                  </p:childTnLst>
                                </p:cTn>
                              </p:par>
                              <p:par>
                                <p:cTn id="43" presetID="10" presetClass="entr" presetSubtype="0" fill="hold" nodeType="withEffect">
                                  <p:stCondLst>
                                    <p:cond delay="0"/>
                                  </p:stCondLst>
                                  <p:childTnLst>
                                    <p:set>
                                      <p:cBhvr>
                                        <p:cTn id="44" dur="1" fill="hold">
                                          <p:stCondLst>
                                            <p:cond delay="0"/>
                                          </p:stCondLst>
                                        </p:cTn>
                                        <p:tgtEl>
                                          <p:spTgt spid="28"/>
                                        </p:tgtEl>
                                        <p:attrNameLst>
                                          <p:attrName>style.visibility</p:attrName>
                                        </p:attrNameLst>
                                      </p:cBhvr>
                                      <p:to>
                                        <p:strVal val="visible"/>
                                      </p:to>
                                    </p:set>
                                    <p:animEffect transition="in" filter="fade">
                                      <p:cBhvr>
                                        <p:cTn id="45" dur="400"/>
                                        <p:tgtEl>
                                          <p:spTgt spid="28"/>
                                        </p:tgtEl>
                                      </p:cBhvr>
                                    </p:animEffect>
                                  </p:childTnLst>
                                </p:cTn>
                              </p:par>
                              <p:par>
                                <p:cTn id="46" presetID="10" presetClass="entr" presetSubtype="0" fill="hold" nodeType="withEffect">
                                  <p:stCondLst>
                                    <p:cond delay="0"/>
                                  </p:stCondLst>
                                  <p:childTnLst>
                                    <p:set>
                                      <p:cBhvr>
                                        <p:cTn id="47" dur="1" fill="hold">
                                          <p:stCondLst>
                                            <p:cond delay="0"/>
                                          </p:stCondLst>
                                        </p:cTn>
                                        <p:tgtEl>
                                          <p:spTgt spid="31"/>
                                        </p:tgtEl>
                                        <p:attrNameLst>
                                          <p:attrName>style.visibility</p:attrName>
                                        </p:attrNameLst>
                                      </p:cBhvr>
                                      <p:to>
                                        <p:strVal val="visible"/>
                                      </p:to>
                                    </p:set>
                                    <p:animEffect transition="in" filter="fade">
                                      <p:cBhvr>
                                        <p:cTn id="48" dur="400"/>
                                        <p:tgtEl>
                                          <p:spTgt spid="31"/>
                                        </p:tgtEl>
                                      </p:cBhvr>
                                    </p:animEffect>
                                  </p:childTnLst>
                                </p:cTn>
                              </p:par>
                              <p:par>
                                <p:cTn id="49" presetID="10" presetClass="entr" presetSubtype="0" fill="hold" nodeType="withEffect">
                                  <p:stCondLst>
                                    <p:cond delay="0"/>
                                  </p:stCondLst>
                                  <p:childTnLst>
                                    <p:set>
                                      <p:cBhvr>
                                        <p:cTn id="50" dur="1" fill="hold">
                                          <p:stCondLst>
                                            <p:cond delay="0"/>
                                          </p:stCondLst>
                                        </p:cTn>
                                        <p:tgtEl>
                                          <p:spTgt spid="34"/>
                                        </p:tgtEl>
                                        <p:attrNameLst>
                                          <p:attrName>style.visibility</p:attrName>
                                        </p:attrNameLst>
                                      </p:cBhvr>
                                      <p:to>
                                        <p:strVal val="visible"/>
                                      </p:to>
                                    </p:set>
                                    <p:animEffect transition="in" filter="fade">
                                      <p:cBhvr>
                                        <p:cTn id="51" dur="400"/>
                                        <p:tgtEl>
                                          <p:spTgt spid="34"/>
                                        </p:tgtEl>
                                      </p:cBhvr>
                                    </p:animEffect>
                                  </p:childTnLst>
                                </p:cTn>
                              </p:par>
                              <p:par>
                                <p:cTn id="52" presetID="10" presetClass="entr" presetSubtype="0" fill="hold" nodeType="withEffect">
                                  <p:stCondLst>
                                    <p:cond delay="0"/>
                                  </p:stCondLst>
                                  <p:childTnLst>
                                    <p:set>
                                      <p:cBhvr>
                                        <p:cTn id="53" dur="1" fill="hold">
                                          <p:stCondLst>
                                            <p:cond delay="0"/>
                                          </p:stCondLst>
                                        </p:cTn>
                                        <p:tgtEl>
                                          <p:spTgt spid="37"/>
                                        </p:tgtEl>
                                        <p:attrNameLst>
                                          <p:attrName>style.visibility</p:attrName>
                                        </p:attrNameLst>
                                      </p:cBhvr>
                                      <p:to>
                                        <p:strVal val="visible"/>
                                      </p:to>
                                    </p:set>
                                    <p:animEffect transition="in" filter="fade">
                                      <p:cBhvr>
                                        <p:cTn id="54" dur="400"/>
                                        <p:tgtEl>
                                          <p:spTgt spid="3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name="Slide 3">
    <p:bg>
      <p:bgPr>
        <a:blipFill dpi="0" rotWithShape="1">
          <a:blip r:embed="rId1">
            <a:lum/>
          </a:blip>
          <a:srcRect/>
          <a:stretch>
            <a:fillRect/>
          </a:stretch>
        </a:blipFill>
        <a:effectLst/>
      </p:bgPr>
    </p:bg>
    <p:spTree>
      <p:nvGrpSpPr>
        <p:cNvPr id="2" name=""/>
        <p:cNvGrpSpPr/>
        <p:nvPr/>
      </p:nvGrpSpPr>
      <p:grpSpPr>
        <a:xfrm>
          <a:off x="0" y="0"/>
          <a:ext cx="0" cy="0"/>
          <a:chOff x="0" y="0"/>
          <a:chExt cx="0" cy="0"/>
        </a:xfrm>
      </p:grpSpPr>
      <p:sp>
        <p:nvSpPr>
          <p:cNvPr id="3" name="levelFrame_33"/>
          <p:cNvSpPr/>
          <p:nvPr/>
        </p:nvSpPr>
        <p:spPr>
          <a:xfrm>
            <a:off x="54864" y="54864"/>
            <a:ext cx="9034272" cy="5033772"/>
          </a:xfrm>
          <a:prstGeom prst="rect">
            <a:avLst/>
          </a:prstGeom>
          <a:ln w="114300">
            <a:solidFill>
              <a:srgbClr val="A8E6B4"/>
            </a:solidFill>
            <a:prstDash val="solid"/>
          </a:ln>
        </p:spPr>
      </p:sp>
      <p:pic>
        <p:nvPicPr>
          <p:cNvPr id="4" name="logo_34" descr="London Language School logo">    </p:cNvPr>
          <p:cNvPicPr>
            <a:picLocks noChangeAspect="1"/>
          </p:cNvPicPr>
          <p:nvPr/>
        </p:nvPicPr>
        <p:blipFill>
          <a:blip r:embed="rId2"/>
          <a:stretch>
            <a:fillRect/>
          </a:stretch>
        </p:blipFill>
        <p:spPr>
          <a:xfrm>
            <a:off x="8275320" y="182880"/>
            <a:ext cx="585216" cy="585216"/>
          </a:xfrm>
          <a:prstGeom prst="rect">
            <a:avLst/>
          </a:prstGeom>
        </p:spPr>
      </p:pic>
      <p:sp>
        <p:nvSpPr>
          <p:cNvPr id="5" name="objective_35"/>
          <p:cNvSpPr txBox="1"/>
          <p:nvPr/>
        </p:nvSpPr>
        <p:spPr>
          <a:xfrm>
            <a:off x="320040" y="182880"/>
            <a:ext cx="4206240" cy="365760"/>
          </a:xfrm>
          <a:prstGeom prst="roundRect">
            <a:avLst>
              <a:gd name="adj" fmla="val 20000"/>
            </a:avLst>
          </a:prstGeom>
          <a:solidFill>
            <a:srgbClr val="062F67"/>
          </a:solidFill>
          <a:ln w="31750">
            <a:solidFill>
              <a:srgbClr val="111111"/>
            </a:solidFill>
          </a:ln>
        </p:spPr>
        <p:txBody>
          <a:bodyPr wrap="square" lIns="101600" tIns="101600" rIns="101600" bIns="101600" rtlCol="0" anchor="ctr"/>
          <a:lstStyle/>
          <a:p>
            <a:pPr indent="0" marL="0">
              <a:buNone/>
            </a:pPr>
            <a:r>
              <a:rPr lang="en-US" sz="900" dirty="0">
                <a:solidFill>
                  <a:srgbClr val="FFFFFF"/>
                </a:solidFill>
                <a:latin typeface="Arial Black" pitchFamily="34" charset="0"/>
                <a:ea typeface="Arial Black" pitchFamily="34" charset="-122"/>
                <a:cs typeface="Arial Black" pitchFamily="34" charset="-120"/>
              </a:rPr>
              <a:t>VOCABULARY · School subjects</a:t>
            </a:r>
            <a:endParaRPr lang="en-US" sz="900" dirty="0"/>
          </a:p>
        </p:txBody>
      </p:sp>
      <p:sp>
        <p:nvSpPr>
          <p:cNvPr id="6" name="footer_36"/>
          <p:cNvSpPr txBox="1"/>
          <p:nvPr/>
        </p:nvSpPr>
        <p:spPr>
          <a:xfrm>
            <a:off x="7315200" y="4818888"/>
            <a:ext cx="1554480" cy="219456"/>
          </a:xfrm>
          <a:prstGeom prst="rect">
            <a:avLst/>
          </a:prstGeom>
          <a:solidFill>
            <a:srgbClr val="FFFFFF"/>
          </a:solidFill>
          <a:ln/>
        </p:spPr>
        <p:txBody>
          <a:bodyPr wrap="square" lIns="0" tIns="0" rIns="0" bIns="0" rtlCol="0" anchor="ctr"/>
          <a:lstStyle/>
          <a:p>
            <a:pPr algn="ctr" indent="0" marL="0">
              <a:buNone/>
            </a:pPr>
            <a:r>
              <a:rPr lang="en-US" sz="1000" dirty="0">
                <a:solidFill>
                  <a:srgbClr val="334155"/>
                </a:solidFill>
                <a:latin typeface="Calibri" pitchFamily="34" charset="0"/>
                <a:ea typeface="Calibri" pitchFamily="34" charset="-122"/>
                <a:cs typeface="Calibri" pitchFamily="34" charset="-120"/>
              </a:rPr>
              <a:t>7A · Part 1</a:t>
            </a:r>
            <a:endParaRPr lang="en-US" sz="1000" dirty="0"/>
          </a:p>
        </p:txBody>
      </p:sp>
      <p:sp>
        <p:nvSpPr>
          <p:cNvPr id="7" name="title_37"/>
          <p:cNvSpPr txBox="1"/>
          <p:nvPr/>
        </p:nvSpPr>
        <p:spPr>
          <a:xfrm rot="-120000">
            <a:off x="320040" y="658368"/>
            <a:ext cx="3630168" cy="548640"/>
          </a:xfrm>
          <a:prstGeom prst="rect">
            <a:avLst/>
          </a:prstGeom>
          <a:solidFill>
            <a:srgbClr val="FFD84D"/>
          </a:solidFill>
          <a:ln w="31750">
            <a:solidFill>
              <a:srgbClr val="111111"/>
            </a:solidFill>
          </a:ln>
          <a:effectLst>
            <a:outerShdw sx="100000" sy="100000" kx="0" ky="0" algn="bl" rotWithShape="0" blurRad="101600" dist="38100" dir="2700000">
              <a:srgbClr val="000000">
                <a:alpha val="35000"/>
              </a:srgbClr>
            </a:outerShdw>
          </a:effectLst>
        </p:spPr>
        <p:txBody>
          <a:bodyPr wrap="square" lIns="127000" tIns="127000" rIns="127000" bIns="127000" rtlCol="0" anchor="ctr"/>
          <a:lstStyle/>
          <a:p>
            <a:pPr indent="0" marL="0">
              <a:buNone/>
            </a:pPr>
            <a:r>
              <a:rPr lang="en-US" sz="1600" dirty="0">
                <a:solidFill>
                  <a:srgbClr val="111111"/>
                </a:solidFill>
                <a:latin typeface="Arial Black" pitchFamily="34" charset="0"/>
                <a:ea typeface="Arial Black" pitchFamily="34" charset="-122"/>
                <a:cs typeface="Arial Black" pitchFamily="34" charset="-120"/>
              </a:rPr>
              <a:t>Name that subject!</a:t>
            </a:r>
            <a:endParaRPr lang="en-US" sz="1600" dirty="0"/>
          </a:p>
        </p:txBody>
      </p:sp>
      <p:sp>
        <p:nvSpPr>
          <p:cNvPr id="8" name="clue_38"/>
          <p:cNvSpPr txBox="1"/>
          <p:nvPr/>
        </p:nvSpPr>
        <p:spPr>
          <a:xfrm rot="-120000">
            <a:off x="411480" y="1463040"/>
            <a:ext cx="1965960" cy="457200"/>
          </a:xfrm>
          <a:prstGeom prst="rect">
            <a:avLst/>
          </a:prstGeom>
          <a:solidFill>
            <a:srgbClr val="FFFFFF"/>
          </a:solidFill>
          <a:ln w="31750">
            <a:solidFill>
              <a:srgbClr val="111111"/>
            </a:solidFill>
          </a:ln>
        </p:spPr>
        <p:txBody>
          <a:bodyPr wrap="square" rtlCol="0" anchor="ctr"/>
          <a:lstStyle/>
          <a:p>
            <a:pPr algn="ctr" indent="0" marL="0">
              <a:buNone/>
            </a:pPr>
            <a:r>
              <a:rPr lang="en-US" sz="1500" dirty="0">
                <a:solidFill>
                  <a:srgbClr val="062F67"/>
                </a:solidFill>
                <a:latin typeface="Arial Black" pitchFamily="34" charset="0"/>
                <a:ea typeface="Arial Black" pitchFamily="34" charset="-122"/>
                <a:cs typeface="Arial Black" pitchFamily="34" charset="-120"/>
              </a:rPr>
              <a:t>bio____</a:t>
            </a:r>
            <a:endParaRPr lang="en-US" sz="1500" dirty="0"/>
          </a:p>
        </p:txBody>
      </p:sp>
      <p:sp>
        <p:nvSpPr>
          <p:cNvPr id="9" name="iconBack_39"/>
          <p:cNvSpPr/>
          <p:nvPr/>
        </p:nvSpPr>
        <p:spPr>
          <a:xfrm>
            <a:off x="2039112" y="1243584"/>
            <a:ext cx="438912" cy="438912"/>
          </a:xfrm>
          <a:prstGeom prst="ellipse">
            <a:avLst/>
          </a:prstGeom>
          <a:solidFill>
            <a:srgbClr val="FFFFFF"/>
          </a:solidFill>
          <a:ln w="31750">
            <a:solidFill>
              <a:srgbClr val="111111"/>
            </a:solidFill>
            <a:prstDash val="solid"/>
          </a:ln>
          <a:effectLst>
            <a:outerShdw sx="100000" sy="100000" kx="0" ky="0" algn="bl" rotWithShape="0" blurRad="101600" dist="38100" dir="2700000">
              <a:srgbClr val="000000">
                <a:alpha val="35000"/>
              </a:srgbClr>
            </a:outerShdw>
          </a:effectLst>
        </p:spPr>
      </p:sp>
      <p:pic>
        <p:nvPicPr>
          <p:cNvPr id="10" name="icon_40" descr="biology">    </p:cNvPr>
          <p:cNvPicPr>
            <a:picLocks noChangeAspect="1"/>
          </p:cNvPicPr>
          <p:nvPr/>
        </p:nvPicPr>
        <p:blipFill>
          <a:blip r:embed="rId3"/>
          <a:stretch>
            <a:fillRect/>
          </a:stretch>
        </p:blipFill>
        <p:spPr>
          <a:xfrm>
            <a:off x="2126894" y="1331366"/>
            <a:ext cx="263347" cy="263347"/>
          </a:xfrm>
          <a:prstGeom prst="rect">
            <a:avLst/>
          </a:prstGeom>
        </p:spPr>
      </p:pic>
      <p:sp>
        <p:nvSpPr>
          <p:cNvPr id="11" name="R1_word0"/>
          <p:cNvSpPr txBox="1"/>
          <p:nvPr/>
        </p:nvSpPr>
        <p:spPr>
          <a:xfrm>
            <a:off x="411480" y="1965960"/>
            <a:ext cx="1965960" cy="457200"/>
          </a:xfrm>
          <a:prstGeom prst="rect">
            <a:avLst/>
          </a:prstGeom>
          <a:solidFill>
            <a:srgbClr val="FFD84D"/>
          </a:solidFill>
          <a:ln w="15875">
            <a:solidFill>
              <a:srgbClr val="111111"/>
            </a:solidFill>
          </a:ln>
        </p:spPr>
        <p:txBody>
          <a:bodyPr wrap="square" rtlCol="0" anchor="ctr"/>
          <a:lstStyle/>
          <a:p>
            <a:pPr algn="ctr" indent="0" marL="0">
              <a:buNone/>
            </a:pPr>
            <a:r>
              <a:rPr lang="en-US" sz="1600" dirty="0">
                <a:solidFill>
                  <a:srgbClr val="111111"/>
                </a:solidFill>
                <a:latin typeface="Calibri" pitchFamily="34" charset="0"/>
                <a:ea typeface="Calibri" pitchFamily="34" charset="-122"/>
                <a:cs typeface="Calibri" pitchFamily="34" charset="-120"/>
              </a:rPr>
              <a:t>bi</a:t>
            </a:r>
            <a:pPr algn="ctr" indent="0" marL="0">
              <a:buNone/>
            </a:pPr>
            <a:r>
              <a:rPr lang="en-US" sz="1600" b="1" u="sng" dirty="0">
                <a:solidFill>
                  <a:srgbClr val="EF2F2F"/>
                </a:solidFill>
                <a:latin typeface="Calibri" pitchFamily="34" charset="0"/>
                <a:ea typeface="Calibri" pitchFamily="34" charset="-122"/>
                <a:cs typeface="Calibri" pitchFamily="34" charset="-120"/>
              </a:rPr>
              <a:t>OL</a:t>
            </a:r>
            <a:pPr algn="ctr" indent="0" marL="0">
              <a:buNone/>
            </a:pPr>
            <a:r>
              <a:rPr lang="en-US" sz="1600" dirty="0">
                <a:solidFill>
                  <a:srgbClr val="111111"/>
                </a:solidFill>
                <a:latin typeface="Calibri" pitchFamily="34" charset="0"/>
                <a:ea typeface="Calibri" pitchFamily="34" charset="-122"/>
                <a:cs typeface="Calibri" pitchFamily="34" charset="-120"/>
              </a:rPr>
              <a:t>ogy</a:t>
            </a:r>
            <a:endParaRPr lang="en-US" sz="1600" dirty="0"/>
          </a:p>
        </p:txBody>
      </p:sp>
      <p:sp>
        <p:nvSpPr>
          <p:cNvPr id="12" name="clue_41"/>
          <p:cNvSpPr txBox="1"/>
          <p:nvPr/>
        </p:nvSpPr>
        <p:spPr>
          <a:xfrm rot="120000">
            <a:off x="2560320" y="1463040"/>
            <a:ext cx="1965960" cy="457200"/>
          </a:xfrm>
          <a:prstGeom prst="rect">
            <a:avLst/>
          </a:prstGeom>
          <a:solidFill>
            <a:srgbClr val="FFFFFF"/>
          </a:solidFill>
          <a:ln w="31750">
            <a:solidFill>
              <a:srgbClr val="111111"/>
            </a:solidFill>
          </a:ln>
        </p:spPr>
        <p:txBody>
          <a:bodyPr wrap="square" rtlCol="0" anchor="ctr"/>
          <a:lstStyle/>
          <a:p>
            <a:pPr algn="ctr" indent="0" marL="0">
              <a:buNone/>
            </a:pPr>
            <a:r>
              <a:rPr lang="en-US" sz="1500" dirty="0">
                <a:solidFill>
                  <a:srgbClr val="062F67"/>
                </a:solidFill>
                <a:latin typeface="Arial Black" pitchFamily="34" charset="0"/>
                <a:ea typeface="Arial Black" pitchFamily="34" charset="-122"/>
                <a:cs typeface="Arial Black" pitchFamily="34" charset="-120"/>
              </a:rPr>
              <a:t>chem____</a:t>
            </a:r>
            <a:endParaRPr lang="en-US" sz="1500" dirty="0"/>
          </a:p>
        </p:txBody>
      </p:sp>
      <p:sp>
        <p:nvSpPr>
          <p:cNvPr id="13" name="iconBack_42"/>
          <p:cNvSpPr/>
          <p:nvPr/>
        </p:nvSpPr>
        <p:spPr>
          <a:xfrm>
            <a:off x="4187952" y="1243584"/>
            <a:ext cx="438912" cy="438912"/>
          </a:xfrm>
          <a:prstGeom prst="ellipse">
            <a:avLst/>
          </a:prstGeom>
          <a:solidFill>
            <a:srgbClr val="FFFFFF"/>
          </a:solidFill>
          <a:ln w="31750">
            <a:solidFill>
              <a:srgbClr val="111111"/>
            </a:solidFill>
            <a:prstDash val="solid"/>
          </a:ln>
          <a:effectLst>
            <a:outerShdw sx="100000" sy="100000" kx="0" ky="0" algn="bl" rotWithShape="0" blurRad="101600" dist="38100" dir="2700000">
              <a:srgbClr val="000000">
                <a:alpha val="35000"/>
              </a:srgbClr>
            </a:outerShdw>
          </a:effectLst>
        </p:spPr>
      </p:sp>
      <p:pic>
        <p:nvPicPr>
          <p:cNvPr id="14" name="icon_43" descr="chemistry">    </p:cNvPr>
          <p:cNvPicPr>
            <a:picLocks noChangeAspect="1"/>
          </p:cNvPicPr>
          <p:nvPr/>
        </p:nvPicPr>
        <p:blipFill>
          <a:blip r:embed="rId4"/>
          <a:stretch>
            <a:fillRect/>
          </a:stretch>
        </p:blipFill>
        <p:spPr>
          <a:xfrm>
            <a:off x="4275734" y="1331366"/>
            <a:ext cx="263347" cy="263347"/>
          </a:xfrm>
          <a:prstGeom prst="rect">
            <a:avLst/>
          </a:prstGeom>
        </p:spPr>
      </p:pic>
      <p:sp>
        <p:nvSpPr>
          <p:cNvPr id="15" name="R1_word1"/>
          <p:cNvSpPr txBox="1"/>
          <p:nvPr/>
        </p:nvSpPr>
        <p:spPr>
          <a:xfrm>
            <a:off x="2560320" y="1965960"/>
            <a:ext cx="1965960" cy="457200"/>
          </a:xfrm>
          <a:prstGeom prst="rect">
            <a:avLst/>
          </a:prstGeom>
          <a:solidFill>
            <a:srgbClr val="FFD84D"/>
          </a:solidFill>
          <a:ln w="15875">
            <a:solidFill>
              <a:srgbClr val="111111"/>
            </a:solidFill>
          </a:ln>
        </p:spPr>
        <p:txBody>
          <a:bodyPr wrap="square" rtlCol="0" anchor="ctr"/>
          <a:lstStyle/>
          <a:p>
            <a:pPr algn="ctr" indent="0" marL="0">
              <a:buNone/>
            </a:pPr>
            <a:r>
              <a:rPr lang="en-US" sz="1600" b="1" u="sng" dirty="0">
                <a:solidFill>
                  <a:srgbClr val="EF2F2F"/>
                </a:solidFill>
                <a:latin typeface="Calibri" pitchFamily="34" charset="0"/>
                <a:ea typeface="Calibri" pitchFamily="34" charset="-122"/>
                <a:cs typeface="Calibri" pitchFamily="34" charset="-120"/>
              </a:rPr>
              <a:t>CHE</a:t>
            </a:r>
            <a:pPr algn="ctr" indent="0" marL="0">
              <a:buNone/>
            </a:pPr>
            <a:r>
              <a:rPr lang="en-US" sz="1600" dirty="0">
                <a:solidFill>
                  <a:srgbClr val="111111"/>
                </a:solidFill>
                <a:latin typeface="Calibri" pitchFamily="34" charset="0"/>
                <a:ea typeface="Calibri" pitchFamily="34" charset="-122"/>
                <a:cs typeface="Calibri" pitchFamily="34" charset="-120"/>
              </a:rPr>
              <a:t>mistry</a:t>
            </a:r>
            <a:endParaRPr lang="en-US" sz="1600" dirty="0"/>
          </a:p>
        </p:txBody>
      </p:sp>
      <p:sp>
        <p:nvSpPr>
          <p:cNvPr id="16" name="clue_44"/>
          <p:cNvSpPr txBox="1"/>
          <p:nvPr/>
        </p:nvSpPr>
        <p:spPr>
          <a:xfrm rot="-120000">
            <a:off x="4709160" y="1463040"/>
            <a:ext cx="1965960" cy="457200"/>
          </a:xfrm>
          <a:prstGeom prst="rect">
            <a:avLst/>
          </a:prstGeom>
          <a:solidFill>
            <a:srgbClr val="FFFFFF"/>
          </a:solidFill>
          <a:ln w="31750">
            <a:solidFill>
              <a:srgbClr val="111111"/>
            </a:solidFill>
          </a:ln>
        </p:spPr>
        <p:txBody>
          <a:bodyPr wrap="square" rtlCol="0" anchor="ctr"/>
          <a:lstStyle/>
          <a:p>
            <a:pPr algn="ctr" indent="0" marL="0">
              <a:buNone/>
            </a:pPr>
            <a:r>
              <a:rPr lang="en-US" sz="1500" dirty="0">
                <a:solidFill>
                  <a:srgbClr val="062F67"/>
                </a:solidFill>
                <a:latin typeface="Arial Black" pitchFamily="34" charset="0"/>
                <a:ea typeface="Arial Black" pitchFamily="34" charset="-122"/>
                <a:cs typeface="Arial Black" pitchFamily="34" charset="-120"/>
              </a:rPr>
              <a:t>geo____</a:t>
            </a:r>
            <a:endParaRPr lang="en-US" sz="1500" dirty="0"/>
          </a:p>
        </p:txBody>
      </p:sp>
      <p:sp>
        <p:nvSpPr>
          <p:cNvPr id="17" name="iconBack_45"/>
          <p:cNvSpPr/>
          <p:nvPr/>
        </p:nvSpPr>
        <p:spPr>
          <a:xfrm>
            <a:off x="6336792" y="1243584"/>
            <a:ext cx="438912" cy="438912"/>
          </a:xfrm>
          <a:prstGeom prst="ellipse">
            <a:avLst/>
          </a:prstGeom>
          <a:solidFill>
            <a:srgbClr val="FFFFFF"/>
          </a:solidFill>
          <a:ln w="31750">
            <a:solidFill>
              <a:srgbClr val="111111"/>
            </a:solidFill>
            <a:prstDash val="solid"/>
          </a:ln>
          <a:effectLst>
            <a:outerShdw sx="100000" sy="100000" kx="0" ky="0" algn="bl" rotWithShape="0" blurRad="101600" dist="38100" dir="2700000">
              <a:srgbClr val="000000">
                <a:alpha val="35000"/>
              </a:srgbClr>
            </a:outerShdw>
          </a:effectLst>
        </p:spPr>
      </p:sp>
      <p:pic>
        <p:nvPicPr>
          <p:cNvPr id="18" name="icon_46" descr="geography">    </p:cNvPr>
          <p:cNvPicPr>
            <a:picLocks noChangeAspect="1"/>
          </p:cNvPicPr>
          <p:nvPr/>
        </p:nvPicPr>
        <p:blipFill>
          <a:blip r:embed="rId5"/>
          <a:stretch>
            <a:fillRect/>
          </a:stretch>
        </p:blipFill>
        <p:spPr>
          <a:xfrm>
            <a:off x="6424574" y="1331366"/>
            <a:ext cx="263347" cy="263347"/>
          </a:xfrm>
          <a:prstGeom prst="rect">
            <a:avLst/>
          </a:prstGeom>
        </p:spPr>
      </p:pic>
      <p:sp>
        <p:nvSpPr>
          <p:cNvPr id="19" name="R1_word2"/>
          <p:cNvSpPr txBox="1"/>
          <p:nvPr/>
        </p:nvSpPr>
        <p:spPr>
          <a:xfrm>
            <a:off x="4709160" y="1965960"/>
            <a:ext cx="1965960" cy="457200"/>
          </a:xfrm>
          <a:prstGeom prst="rect">
            <a:avLst/>
          </a:prstGeom>
          <a:solidFill>
            <a:srgbClr val="FFD84D"/>
          </a:solidFill>
          <a:ln w="15875">
            <a:solidFill>
              <a:srgbClr val="111111"/>
            </a:solidFill>
          </a:ln>
        </p:spPr>
        <p:txBody>
          <a:bodyPr wrap="square" rtlCol="0" anchor="ctr"/>
          <a:lstStyle/>
          <a:p>
            <a:pPr algn="ctr" indent="0" marL="0">
              <a:buNone/>
            </a:pPr>
            <a:r>
              <a:rPr lang="en-US" sz="1600" dirty="0">
                <a:solidFill>
                  <a:srgbClr val="111111"/>
                </a:solidFill>
                <a:latin typeface="Calibri" pitchFamily="34" charset="0"/>
                <a:ea typeface="Calibri" pitchFamily="34" charset="-122"/>
                <a:cs typeface="Calibri" pitchFamily="34" charset="-120"/>
              </a:rPr>
              <a:t>ge</a:t>
            </a:r>
            <a:pPr algn="ctr" indent="0" marL="0">
              <a:buNone/>
            </a:pPr>
            <a:r>
              <a:rPr lang="en-US" sz="1600" b="1" u="sng" dirty="0">
                <a:solidFill>
                  <a:srgbClr val="EF2F2F"/>
                </a:solidFill>
                <a:latin typeface="Calibri" pitchFamily="34" charset="0"/>
                <a:ea typeface="Calibri" pitchFamily="34" charset="-122"/>
                <a:cs typeface="Calibri" pitchFamily="34" charset="-120"/>
              </a:rPr>
              <a:t>O</a:t>
            </a:r>
            <a:pPr algn="ctr" indent="0" marL="0">
              <a:buNone/>
            </a:pPr>
            <a:r>
              <a:rPr lang="en-US" sz="1600" dirty="0">
                <a:solidFill>
                  <a:srgbClr val="111111"/>
                </a:solidFill>
                <a:latin typeface="Calibri" pitchFamily="34" charset="0"/>
                <a:ea typeface="Calibri" pitchFamily="34" charset="-122"/>
                <a:cs typeface="Calibri" pitchFamily="34" charset="-120"/>
              </a:rPr>
              <a:t>graphy</a:t>
            </a:r>
            <a:endParaRPr lang="en-US" sz="1600" dirty="0"/>
          </a:p>
        </p:txBody>
      </p:sp>
      <p:sp>
        <p:nvSpPr>
          <p:cNvPr id="20" name="clue_47"/>
          <p:cNvSpPr txBox="1"/>
          <p:nvPr/>
        </p:nvSpPr>
        <p:spPr>
          <a:xfrm rot="120000">
            <a:off x="6858000" y="1463040"/>
            <a:ext cx="1965960" cy="457200"/>
          </a:xfrm>
          <a:prstGeom prst="rect">
            <a:avLst/>
          </a:prstGeom>
          <a:solidFill>
            <a:srgbClr val="FFFFFF"/>
          </a:solidFill>
          <a:ln w="31750">
            <a:solidFill>
              <a:srgbClr val="111111"/>
            </a:solidFill>
          </a:ln>
        </p:spPr>
        <p:txBody>
          <a:bodyPr wrap="square" rtlCol="0" anchor="ctr"/>
          <a:lstStyle/>
          <a:p>
            <a:pPr algn="ctr" indent="0" marL="0">
              <a:buNone/>
            </a:pPr>
            <a:r>
              <a:rPr lang="en-US" sz="1500" dirty="0">
                <a:solidFill>
                  <a:srgbClr val="062F67"/>
                </a:solidFill>
                <a:latin typeface="Arial Black" pitchFamily="34" charset="0"/>
                <a:ea typeface="Arial Black" pitchFamily="34" charset="-122"/>
                <a:cs typeface="Arial Black" pitchFamily="34" charset="-120"/>
              </a:rPr>
              <a:t>his____</a:t>
            </a:r>
            <a:endParaRPr lang="en-US" sz="1500" dirty="0"/>
          </a:p>
        </p:txBody>
      </p:sp>
      <p:sp>
        <p:nvSpPr>
          <p:cNvPr id="21" name="iconBack_48"/>
          <p:cNvSpPr/>
          <p:nvPr/>
        </p:nvSpPr>
        <p:spPr>
          <a:xfrm>
            <a:off x="8485632" y="1243584"/>
            <a:ext cx="438912" cy="438912"/>
          </a:xfrm>
          <a:prstGeom prst="ellipse">
            <a:avLst/>
          </a:prstGeom>
          <a:solidFill>
            <a:srgbClr val="FFFFFF"/>
          </a:solidFill>
          <a:ln w="31750">
            <a:solidFill>
              <a:srgbClr val="111111"/>
            </a:solidFill>
            <a:prstDash val="solid"/>
          </a:ln>
          <a:effectLst>
            <a:outerShdw sx="100000" sy="100000" kx="0" ky="0" algn="bl" rotWithShape="0" blurRad="101600" dist="38100" dir="2700000">
              <a:srgbClr val="000000">
                <a:alpha val="35000"/>
              </a:srgbClr>
            </a:outerShdw>
          </a:effectLst>
        </p:spPr>
      </p:sp>
      <p:pic>
        <p:nvPicPr>
          <p:cNvPr id="22" name="icon_49" descr="history">    </p:cNvPr>
          <p:cNvPicPr>
            <a:picLocks noChangeAspect="1"/>
          </p:cNvPicPr>
          <p:nvPr/>
        </p:nvPicPr>
        <p:blipFill>
          <a:blip r:embed="rId6"/>
          <a:stretch>
            <a:fillRect/>
          </a:stretch>
        </p:blipFill>
        <p:spPr>
          <a:xfrm>
            <a:off x="8573414" y="1331366"/>
            <a:ext cx="263347" cy="263347"/>
          </a:xfrm>
          <a:prstGeom prst="rect">
            <a:avLst/>
          </a:prstGeom>
        </p:spPr>
      </p:pic>
      <p:sp>
        <p:nvSpPr>
          <p:cNvPr id="23" name="R1_word3"/>
          <p:cNvSpPr txBox="1"/>
          <p:nvPr/>
        </p:nvSpPr>
        <p:spPr>
          <a:xfrm>
            <a:off x="6858000" y="1965960"/>
            <a:ext cx="1965960" cy="457200"/>
          </a:xfrm>
          <a:prstGeom prst="rect">
            <a:avLst/>
          </a:prstGeom>
          <a:solidFill>
            <a:srgbClr val="FFD84D"/>
          </a:solidFill>
          <a:ln w="15875">
            <a:solidFill>
              <a:srgbClr val="111111"/>
            </a:solidFill>
          </a:ln>
        </p:spPr>
        <p:txBody>
          <a:bodyPr wrap="square" rtlCol="0" anchor="ctr"/>
          <a:lstStyle/>
          <a:p>
            <a:pPr algn="ctr" indent="0" marL="0">
              <a:buNone/>
            </a:pPr>
            <a:r>
              <a:rPr lang="en-US" sz="1600" b="1" u="sng" dirty="0">
                <a:solidFill>
                  <a:srgbClr val="EF2F2F"/>
                </a:solidFill>
                <a:latin typeface="Calibri" pitchFamily="34" charset="0"/>
                <a:ea typeface="Calibri" pitchFamily="34" charset="-122"/>
                <a:cs typeface="Calibri" pitchFamily="34" charset="-120"/>
              </a:rPr>
              <a:t>HIS</a:t>
            </a:r>
            <a:pPr algn="ctr" indent="0" marL="0">
              <a:buNone/>
            </a:pPr>
            <a:r>
              <a:rPr lang="en-US" sz="1600" dirty="0">
                <a:solidFill>
                  <a:srgbClr val="111111"/>
                </a:solidFill>
                <a:latin typeface="Calibri" pitchFamily="34" charset="0"/>
                <a:ea typeface="Calibri" pitchFamily="34" charset="-122"/>
                <a:cs typeface="Calibri" pitchFamily="34" charset="-120"/>
              </a:rPr>
              <a:t>tory</a:t>
            </a:r>
            <a:endParaRPr lang="en-US" sz="1600" dirty="0"/>
          </a:p>
        </p:txBody>
      </p:sp>
      <p:sp>
        <p:nvSpPr>
          <p:cNvPr id="24" name="clue_50"/>
          <p:cNvSpPr txBox="1"/>
          <p:nvPr/>
        </p:nvSpPr>
        <p:spPr>
          <a:xfrm rot="-120000">
            <a:off x="411480" y="2697480"/>
            <a:ext cx="1965960" cy="457200"/>
          </a:xfrm>
          <a:prstGeom prst="rect">
            <a:avLst/>
          </a:prstGeom>
          <a:solidFill>
            <a:srgbClr val="FFFFFF"/>
          </a:solidFill>
          <a:ln w="31750">
            <a:solidFill>
              <a:srgbClr val="111111"/>
            </a:solidFill>
          </a:ln>
        </p:spPr>
        <p:txBody>
          <a:bodyPr wrap="square" rtlCol="0" anchor="ctr"/>
          <a:lstStyle/>
          <a:p>
            <a:pPr algn="ctr" indent="0" marL="0">
              <a:buNone/>
            </a:pPr>
            <a:r>
              <a:rPr lang="en-US" sz="1250" dirty="0">
                <a:solidFill>
                  <a:srgbClr val="062F67"/>
                </a:solidFill>
                <a:latin typeface="Arial Black" pitchFamily="34" charset="0"/>
                <a:ea typeface="Arial Black" pitchFamily="34" charset="-122"/>
                <a:cs typeface="Arial Black" pitchFamily="34" charset="-120"/>
              </a:rPr>
              <a:t>infor… tech…____</a:t>
            </a:r>
            <a:endParaRPr lang="en-US" sz="1250" dirty="0"/>
          </a:p>
        </p:txBody>
      </p:sp>
      <p:sp>
        <p:nvSpPr>
          <p:cNvPr id="25" name="iconBack_51"/>
          <p:cNvSpPr/>
          <p:nvPr/>
        </p:nvSpPr>
        <p:spPr>
          <a:xfrm>
            <a:off x="2039112" y="2478024"/>
            <a:ext cx="438912" cy="438912"/>
          </a:xfrm>
          <a:prstGeom prst="ellipse">
            <a:avLst/>
          </a:prstGeom>
          <a:solidFill>
            <a:srgbClr val="FFFFFF"/>
          </a:solidFill>
          <a:ln w="31750">
            <a:solidFill>
              <a:srgbClr val="111111"/>
            </a:solidFill>
            <a:prstDash val="solid"/>
          </a:ln>
          <a:effectLst>
            <a:outerShdw sx="100000" sy="100000" kx="0" ky="0" algn="bl" rotWithShape="0" blurRad="101600" dist="38100" dir="2700000">
              <a:srgbClr val="000000">
                <a:alpha val="35000"/>
              </a:srgbClr>
            </a:outerShdw>
          </a:effectLst>
        </p:spPr>
      </p:sp>
      <p:pic>
        <p:nvPicPr>
          <p:cNvPr id="26" name="icon_52" descr="information technology (IT)">    </p:cNvPr>
          <p:cNvPicPr>
            <a:picLocks noChangeAspect="1"/>
          </p:cNvPicPr>
          <p:nvPr/>
        </p:nvPicPr>
        <p:blipFill>
          <a:blip r:embed="rId7"/>
          <a:stretch>
            <a:fillRect/>
          </a:stretch>
        </p:blipFill>
        <p:spPr>
          <a:xfrm>
            <a:off x="2126894" y="2565806"/>
            <a:ext cx="263347" cy="263347"/>
          </a:xfrm>
          <a:prstGeom prst="rect">
            <a:avLst/>
          </a:prstGeom>
        </p:spPr>
      </p:pic>
      <p:sp>
        <p:nvSpPr>
          <p:cNvPr id="27" name="R1_word4"/>
          <p:cNvSpPr txBox="1"/>
          <p:nvPr/>
        </p:nvSpPr>
        <p:spPr>
          <a:xfrm>
            <a:off x="411480" y="3200400"/>
            <a:ext cx="1965960" cy="457200"/>
          </a:xfrm>
          <a:prstGeom prst="rect">
            <a:avLst/>
          </a:prstGeom>
          <a:solidFill>
            <a:srgbClr val="FFD84D"/>
          </a:solidFill>
          <a:ln w="15875">
            <a:solidFill>
              <a:srgbClr val="111111"/>
            </a:solidFill>
          </a:ln>
        </p:spPr>
        <p:txBody>
          <a:bodyPr wrap="square" rtlCol="0" anchor="ctr"/>
          <a:lstStyle/>
          <a:p>
            <a:pPr algn="ctr" indent="0" marL="0">
              <a:buNone/>
            </a:pPr>
            <a:r>
              <a:rPr lang="en-US" sz="1100" dirty="0">
                <a:solidFill>
                  <a:srgbClr val="111111"/>
                </a:solidFill>
                <a:latin typeface="Calibri" pitchFamily="34" charset="0"/>
                <a:ea typeface="Calibri" pitchFamily="34" charset="-122"/>
                <a:cs typeface="Calibri" pitchFamily="34" charset="-120"/>
              </a:rPr>
              <a:t>infor</a:t>
            </a:r>
            <a:pPr algn="ctr" indent="0" marL="0">
              <a:buNone/>
            </a:pPr>
            <a:r>
              <a:rPr lang="en-US" sz="1100" b="1" u="sng" dirty="0">
                <a:solidFill>
                  <a:srgbClr val="EF2F2F"/>
                </a:solidFill>
                <a:latin typeface="Calibri" pitchFamily="34" charset="0"/>
                <a:ea typeface="Calibri" pitchFamily="34" charset="-122"/>
                <a:cs typeface="Calibri" pitchFamily="34" charset="-120"/>
              </a:rPr>
              <a:t>MA</a:t>
            </a:r>
            <a:pPr algn="ctr" indent="0" marL="0">
              <a:buNone/>
            </a:pPr>
            <a:r>
              <a:rPr lang="en-US" sz="1100" dirty="0">
                <a:solidFill>
                  <a:srgbClr val="111111"/>
                </a:solidFill>
                <a:latin typeface="Calibri" pitchFamily="34" charset="0"/>
                <a:ea typeface="Calibri" pitchFamily="34" charset="-122"/>
                <a:cs typeface="Calibri" pitchFamily="34" charset="-120"/>
              </a:rPr>
              <a:t>tion tech</a:t>
            </a:r>
            <a:pPr algn="ctr" indent="0" marL="0">
              <a:buNone/>
            </a:pPr>
            <a:r>
              <a:rPr lang="en-US" sz="1100" b="1" u="sng" dirty="0">
                <a:solidFill>
                  <a:srgbClr val="EF2F2F"/>
                </a:solidFill>
                <a:latin typeface="Calibri" pitchFamily="34" charset="0"/>
                <a:ea typeface="Calibri" pitchFamily="34" charset="-122"/>
                <a:cs typeface="Calibri" pitchFamily="34" charset="-120"/>
              </a:rPr>
              <a:t>NO</a:t>
            </a:r>
            <a:pPr algn="ctr" indent="0" marL="0">
              <a:buNone/>
            </a:pPr>
            <a:r>
              <a:rPr lang="en-US" sz="1100" dirty="0">
                <a:solidFill>
                  <a:srgbClr val="111111"/>
                </a:solidFill>
                <a:latin typeface="Calibri" pitchFamily="34" charset="0"/>
                <a:ea typeface="Calibri" pitchFamily="34" charset="-122"/>
                <a:cs typeface="Calibri" pitchFamily="34" charset="-120"/>
              </a:rPr>
              <a:t>logy</a:t>
            </a:r>
            <a:endParaRPr lang="en-US" sz="1100" dirty="0"/>
          </a:p>
        </p:txBody>
      </p:sp>
      <p:sp>
        <p:nvSpPr>
          <p:cNvPr id="28" name="clue_53"/>
          <p:cNvSpPr txBox="1"/>
          <p:nvPr/>
        </p:nvSpPr>
        <p:spPr>
          <a:xfrm rot="120000">
            <a:off x="2560320" y="2697480"/>
            <a:ext cx="1965960" cy="457200"/>
          </a:xfrm>
          <a:prstGeom prst="rect">
            <a:avLst/>
          </a:prstGeom>
          <a:solidFill>
            <a:srgbClr val="FFFFFF"/>
          </a:solidFill>
          <a:ln w="31750">
            <a:solidFill>
              <a:srgbClr val="111111"/>
            </a:solidFill>
          </a:ln>
        </p:spPr>
        <p:txBody>
          <a:bodyPr wrap="square" rtlCol="0" anchor="ctr"/>
          <a:lstStyle/>
          <a:p>
            <a:pPr algn="ctr" indent="0" marL="0">
              <a:buNone/>
            </a:pPr>
            <a:r>
              <a:rPr lang="en-US" sz="1500" dirty="0">
                <a:solidFill>
                  <a:srgbClr val="062F67"/>
                </a:solidFill>
                <a:latin typeface="Arial Black" pitchFamily="34" charset="0"/>
                <a:ea typeface="Arial Black" pitchFamily="34" charset="-122"/>
                <a:cs typeface="Arial Black" pitchFamily="34" charset="-120"/>
              </a:rPr>
              <a:t>liter____</a:t>
            </a:r>
            <a:endParaRPr lang="en-US" sz="1500" dirty="0"/>
          </a:p>
        </p:txBody>
      </p:sp>
      <p:sp>
        <p:nvSpPr>
          <p:cNvPr id="29" name="iconBack_54"/>
          <p:cNvSpPr/>
          <p:nvPr/>
        </p:nvSpPr>
        <p:spPr>
          <a:xfrm>
            <a:off x="4187952" y="2478024"/>
            <a:ext cx="438912" cy="438912"/>
          </a:xfrm>
          <a:prstGeom prst="ellipse">
            <a:avLst/>
          </a:prstGeom>
          <a:solidFill>
            <a:srgbClr val="FFFFFF"/>
          </a:solidFill>
          <a:ln w="31750">
            <a:solidFill>
              <a:srgbClr val="111111"/>
            </a:solidFill>
            <a:prstDash val="solid"/>
          </a:ln>
          <a:effectLst>
            <a:outerShdw sx="100000" sy="100000" kx="0" ky="0" algn="bl" rotWithShape="0" blurRad="101600" dist="38100" dir="2700000">
              <a:srgbClr val="000000">
                <a:alpha val="35000"/>
              </a:srgbClr>
            </a:outerShdw>
          </a:effectLst>
        </p:spPr>
      </p:sp>
      <p:pic>
        <p:nvPicPr>
          <p:cNvPr id="30" name="icon_55" descr="literature">    </p:cNvPr>
          <p:cNvPicPr>
            <a:picLocks noChangeAspect="1"/>
          </p:cNvPicPr>
          <p:nvPr/>
        </p:nvPicPr>
        <p:blipFill>
          <a:blip r:embed="rId8"/>
          <a:stretch>
            <a:fillRect/>
          </a:stretch>
        </p:blipFill>
        <p:spPr>
          <a:xfrm>
            <a:off x="4275734" y="2565806"/>
            <a:ext cx="263347" cy="263347"/>
          </a:xfrm>
          <a:prstGeom prst="rect">
            <a:avLst/>
          </a:prstGeom>
        </p:spPr>
      </p:pic>
      <p:sp>
        <p:nvSpPr>
          <p:cNvPr id="31" name="R1_word5"/>
          <p:cNvSpPr txBox="1"/>
          <p:nvPr/>
        </p:nvSpPr>
        <p:spPr>
          <a:xfrm>
            <a:off x="2560320" y="3200400"/>
            <a:ext cx="1965960" cy="457200"/>
          </a:xfrm>
          <a:prstGeom prst="rect">
            <a:avLst/>
          </a:prstGeom>
          <a:solidFill>
            <a:srgbClr val="FFD84D"/>
          </a:solidFill>
          <a:ln w="15875">
            <a:solidFill>
              <a:srgbClr val="111111"/>
            </a:solidFill>
          </a:ln>
        </p:spPr>
        <p:txBody>
          <a:bodyPr wrap="square" rtlCol="0" anchor="ctr"/>
          <a:lstStyle/>
          <a:p>
            <a:pPr algn="ctr" indent="0" marL="0">
              <a:buNone/>
            </a:pPr>
            <a:r>
              <a:rPr lang="en-US" sz="1600" b="1" u="sng" dirty="0">
                <a:solidFill>
                  <a:srgbClr val="EF2F2F"/>
                </a:solidFill>
                <a:latin typeface="Calibri" pitchFamily="34" charset="0"/>
                <a:ea typeface="Calibri" pitchFamily="34" charset="-122"/>
                <a:cs typeface="Calibri" pitchFamily="34" charset="-120"/>
              </a:rPr>
              <a:t>LI</a:t>
            </a:r>
            <a:pPr algn="ctr" indent="0" marL="0">
              <a:buNone/>
            </a:pPr>
            <a:r>
              <a:rPr lang="en-US" sz="1600" dirty="0">
                <a:solidFill>
                  <a:srgbClr val="111111"/>
                </a:solidFill>
                <a:latin typeface="Calibri" pitchFamily="34" charset="0"/>
                <a:ea typeface="Calibri" pitchFamily="34" charset="-122"/>
                <a:cs typeface="Calibri" pitchFamily="34" charset="-120"/>
              </a:rPr>
              <a:t>terature</a:t>
            </a:r>
            <a:endParaRPr lang="en-US" sz="1600" dirty="0"/>
          </a:p>
        </p:txBody>
      </p:sp>
      <p:sp>
        <p:nvSpPr>
          <p:cNvPr id="32" name="clue_56"/>
          <p:cNvSpPr txBox="1"/>
          <p:nvPr/>
        </p:nvSpPr>
        <p:spPr>
          <a:xfrm rot="-120000">
            <a:off x="4709160" y="2697480"/>
            <a:ext cx="1965960" cy="457200"/>
          </a:xfrm>
          <a:prstGeom prst="rect">
            <a:avLst/>
          </a:prstGeom>
          <a:solidFill>
            <a:srgbClr val="FFFFFF"/>
          </a:solidFill>
          <a:ln w="31750">
            <a:solidFill>
              <a:srgbClr val="111111"/>
            </a:solidFill>
          </a:ln>
        </p:spPr>
        <p:txBody>
          <a:bodyPr wrap="square" rtlCol="0" anchor="ctr"/>
          <a:lstStyle/>
          <a:p>
            <a:pPr algn="ctr" indent="0" marL="0">
              <a:buNone/>
            </a:pPr>
            <a:r>
              <a:rPr lang="en-US" sz="1500" dirty="0">
                <a:solidFill>
                  <a:srgbClr val="062F67"/>
                </a:solidFill>
                <a:latin typeface="Arial Black" pitchFamily="34" charset="0"/>
                <a:ea typeface="Arial Black" pitchFamily="34" charset="-122"/>
                <a:cs typeface="Arial Black" pitchFamily="34" charset="-120"/>
              </a:rPr>
              <a:t>mat____</a:t>
            </a:r>
            <a:endParaRPr lang="en-US" sz="1500" dirty="0"/>
          </a:p>
        </p:txBody>
      </p:sp>
      <p:sp>
        <p:nvSpPr>
          <p:cNvPr id="33" name="iconBack_57"/>
          <p:cNvSpPr/>
          <p:nvPr/>
        </p:nvSpPr>
        <p:spPr>
          <a:xfrm>
            <a:off x="6336792" y="2478024"/>
            <a:ext cx="438912" cy="438912"/>
          </a:xfrm>
          <a:prstGeom prst="ellipse">
            <a:avLst/>
          </a:prstGeom>
          <a:solidFill>
            <a:srgbClr val="FFFFFF"/>
          </a:solidFill>
          <a:ln w="31750">
            <a:solidFill>
              <a:srgbClr val="111111"/>
            </a:solidFill>
            <a:prstDash val="solid"/>
          </a:ln>
          <a:effectLst>
            <a:outerShdw sx="100000" sy="100000" kx="0" ky="0" algn="bl" rotWithShape="0" blurRad="101600" dist="38100" dir="2700000">
              <a:srgbClr val="000000">
                <a:alpha val="35000"/>
              </a:srgbClr>
            </a:outerShdw>
          </a:effectLst>
        </p:spPr>
      </p:sp>
      <p:pic>
        <p:nvPicPr>
          <p:cNvPr id="34" name="icon_58" descr="maths">    </p:cNvPr>
          <p:cNvPicPr>
            <a:picLocks noChangeAspect="1"/>
          </p:cNvPicPr>
          <p:nvPr/>
        </p:nvPicPr>
        <p:blipFill>
          <a:blip r:embed="rId9"/>
          <a:stretch>
            <a:fillRect/>
          </a:stretch>
        </p:blipFill>
        <p:spPr>
          <a:xfrm>
            <a:off x="6424574" y="2565806"/>
            <a:ext cx="263347" cy="263347"/>
          </a:xfrm>
          <a:prstGeom prst="rect">
            <a:avLst/>
          </a:prstGeom>
        </p:spPr>
      </p:pic>
      <p:sp>
        <p:nvSpPr>
          <p:cNvPr id="35" name="R1_word6"/>
          <p:cNvSpPr txBox="1"/>
          <p:nvPr/>
        </p:nvSpPr>
        <p:spPr>
          <a:xfrm>
            <a:off x="4709160" y="3200400"/>
            <a:ext cx="1965960" cy="457200"/>
          </a:xfrm>
          <a:prstGeom prst="rect">
            <a:avLst/>
          </a:prstGeom>
          <a:solidFill>
            <a:srgbClr val="FFD84D"/>
          </a:solidFill>
          <a:ln w="15875">
            <a:solidFill>
              <a:srgbClr val="111111"/>
            </a:solidFill>
          </a:ln>
        </p:spPr>
        <p:txBody>
          <a:bodyPr wrap="square" rtlCol="0" anchor="ctr"/>
          <a:lstStyle/>
          <a:p>
            <a:pPr algn="ctr" indent="0" marL="0">
              <a:buNone/>
            </a:pPr>
            <a:r>
              <a:rPr lang="en-US" sz="1600" b="1" u="sng" dirty="0">
                <a:solidFill>
                  <a:srgbClr val="EF2F2F"/>
                </a:solidFill>
                <a:latin typeface="Calibri" pitchFamily="34" charset="0"/>
                <a:ea typeface="Calibri" pitchFamily="34" charset="-122"/>
                <a:cs typeface="Calibri" pitchFamily="34" charset="-120"/>
              </a:rPr>
              <a:t>MATHS</a:t>
            </a:r>
            <a:endParaRPr lang="en-US" sz="1600" dirty="0"/>
          </a:p>
        </p:txBody>
      </p:sp>
      <p:sp>
        <p:nvSpPr>
          <p:cNvPr id="36" name="clue_59"/>
          <p:cNvSpPr txBox="1"/>
          <p:nvPr/>
        </p:nvSpPr>
        <p:spPr>
          <a:xfrm rot="120000">
            <a:off x="6858000" y="2697480"/>
            <a:ext cx="1965960" cy="457200"/>
          </a:xfrm>
          <a:prstGeom prst="rect">
            <a:avLst/>
          </a:prstGeom>
          <a:solidFill>
            <a:srgbClr val="FFFFFF"/>
          </a:solidFill>
          <a:ln w="31750">
            <a:solidFill>
              <a:srgbClr val="111111"/>
            </a:solidFill>
          </a:ln>
        </p:spPr>
        <p:txBody>
          <a:bodyPr wrap="square" rtlCol="0" anchor="ctr"/>
          <a:lstStyle/>
          <a:p>
            <a:pPr algn="ctr" indent="0" marL="0">
              <a:buNone/>
            </a:pPr>
            <a:r>
              <a:rPr lang="en-US" sz="1500" dirty="0">
                <a:solidFill>
                  <a:srgbClr val="062F67"/>
                </a:solidFill>
                <a:latin typeface="Arial Black" pitchFamily="34" charset="0"/>
                <a:ea typeface="Arial Black" pitchFamily="34" charset="-122"/>
                <a:cs typeface="Arial Black" pitchFamily="34" charset="-120"/>
              </a:rPr>
              <a:t>phy____</a:t>
            </a:r>
            <a:endParaRPr lang="en-US" sz="1500" dirty="0"/>
          </a:p>
        </p:txBody>
      </p:sp>
      <p:sp>
        <p:nvSpPr>
          <p:cNvPr id="37" name="iconBack_60"/>
          <p:cNvSpPr/>
          <p:nvPr/>
        </p:nvSpPr>
        <p:spPr>
          <a:xfrm>
            <a:off x="8485632" y="2478024"/>
            <a:ext cx="438912" cy="438912"/>
          </a:xfrm>
          <a:prstGeom prst="ellipse">
            <a:avLst/>
          </a:prstGeom>
          <a:solidFill>
            <a:srgbClr val="FFFFFF"/>
          </a:solidFill>
          <a:ln w="31750">
            <a:solidFill>
              <a:srgbClr val="111111"/>
            </a:solidFill>
            <a:prstDash val="solid"/>
          </a:ln>
          <a:effectLst>
            <a:outerShdw sx="100000" sy="100000" kx="0" ky="0" algn="bl" rotWithShape="0" blurRad="101600" dist="38100" dir="2700000">
              <a:srgbClr val="000000">
                <a:alpha val="35000"/>
              </a:srgbClr>
            </a:outerShdw>
          </a:effectLst>
        </p:spPr>
      </p:sp>
      <p:pic>
        <p:nvPicPr>
          <p:cNvPr id="38" name="icon_61" descr="physics">    </p:cNvPr>
          <p:cNvPicPr>
            <a:picLocks noChangeAspect="1"/>
          </p:cNvPicPr>
          <p:nvPr/>
        </p:nvPicPr>
        <p:blipFill>
          <a:blip r:embed="rId10"/>
          <a:stretch>
            <a:fillRect/>
          </a:stretch>
        </p:blipFill>
        <p:spPr>
          <a:xfrm>
            <a:off x="8573414" y="2565806"/>
            <a:ext cx="263347" cy="263347"/>
          </a:xfrm>
          <a:prstGeom prst="rect">
            <a:avLst/>
          </a:prstGeom>
        </p:spPr>
      </p:pic>
      <p:sp>
        <p:nvSpPr>
          <p:cNvPr id="39" name="R1_word7"/>
          <p:cNvSpPr txBox="1"/>
          <p:nvPr/>
        </p:nvSpPr>
        <p:spPr>
          <a:xfrm>
            <a:off x="6858000" y="3200400"/>
            <a:ext cx="1965960" cy="457200"/>
          </a:xfrm>
          <a:prstGeom prst="rect">
            <a:avLst/>
          </a:prstGeom>
          <a:solidFill>
            <a:srgbClr val="FFD84D"/>
          </a:solidFill>
          <a:ln w="15875">
            <a:solidFill>
              <a:srgbClr val="111111"/>
            </a:solidFill>
          </a:ln>
        </p:spPr>
        <p:txBody>
          <a:bodyPr wrap="square" rtlCol="0" anchor="ctr"/>
          <a:lstStyle/>
          <a:p>
            <a:pPr algn="ctr" indent="0" marL="0">
              <a:buNone/>
            </a:pPr>
            <a:r>
              <a:rPr lang="en-US" sz="1600" b="1" u="sng" dirty="0">
                <a:solidFill>
                  <a:srgbClr val="EF2F2F"/>
                </a:solidFill>
                <a:latin typeface="Calibri" pitchFamily="34" charset="0"/>
                <a:ea typeface="Calibri" pitchFamily="34" charset="-122"/>
                <a:cs typeface="Calibri" pitchFamily="34" charset="-120"/>
              </a:rPr>
              <a:t>PHY</a:t>
            </a:r>
            <a:pPr algn="ctr" indent="0" marL="0">
              <a:buNone/>
            </a:pPr>
            <a:r>
              <a:rPr lang="en-US" sz="1600" dirty="0">
                <a:solidFill>
                  <a:srgbClr val="111111"/>
                </a:solidFill>
                <a:latin typeface="Calibri" pitchFamily="34" charset="0"/>
                <a:ea typeface="Calibri" pitchFamily="34" charset="-122"/>
                <a:cs typeface="Calibri" pitchFamily="34" charset="-120"/>
              </a:rPr>
              <a:t>sics</a:t>
            </a:r>
            <a:endParaRPr lang="en-US" sz="1600" dirty="0"/>
          </a:p>
        </p:txBody>
      </p:sp>
      <p:sp>
        <p:nvSpPr>
          <p:cNvPr id="40" name="R2_talk"/>
          <p:cNvSpPr txBox="1"/>
          <p:nvPr/>
        </p:nvSpPr>
        <p:spPr>
          <a:xfrm>
            <a:off x="2743200" y="3977640"/>
            <a:ext cx="3657600" cy="640080"/>
          </a:xfrm>
          <a:prstGeom prst="wedgeRoundRectCallout">
            <a:avLst/>
          </a:prstGeom>
          <a:solidFill>
            <a:srgbClr val="48BDF2"/>
          </a:solidFill>
          <a:ln w="31750">
            <a:solidFill>
              <a:srgbClr val="111111"/>
            </a:solidFill>
          </a:ln>
          <a:effectLst>
            <a:outerShdw sx="100000" sy="100000" kx="0" ky="0" algn="bl" rotWithShape="0" blurRad="101600" dist="38100" dir="2700000">
              <a:srgbClr val="000000">
                <a:alpha val="35000"/>
              </a:srgbClr>
            </a:outerShdw>
          </a:effectLst>
        </p:spPr>
        <p:txBody>
          <a:bodyPr wrap="square" lIns="76200" tIns="76200" rIns="76200" bIns="76200" rtlCol="0" anchor="ctr"/>
          <a:lstStyle/>
          <a:p>
            <a:pPr algn="ctr" indent="0" marL="0">
              <a:buNone/>
            </a:pPr>
            <a:r>
              <a:rPr lang="en-US" sz="1400" dirty="0">
                <a:solidFill>
                  <a:srgbClr val="111111"/>
                </a:solidFill>
                <a:latin typeface="Calibri" pitchFamily="34" charset="0"/>
                <a:ea typeface="Calibri" pitchFamily="34" charset="-122"/>
                <a:cs typeface="Calibri" pitchFamily="34" charset="-120"/>
              </a:rPr>
              <a:t>Which subjects are you good at? Which do you hate? 😄</a:t>
            </a:r>
            <a:endParaRPr lang="en-US" sz="1400" dirty="0"/>
          </a:p>
        </p:txBody>
      </p:sp>
      <p:sp>
        <p:nvSpPr>
          <p:cNvPr id="41" name="pageTag_62"/>
          <p:cNvSpPr txBox="1"/>
          <p:nvPr/>
        </p:nvSpPr>
        <p:spPr>
          <a:xfrm>
            <a:off x="320040" y="4773168"/>
            <a:ext cx="6766560" cy="237744"/>
          </a:xfrm>
          <a:prstGeom prst="rect">
            <a:avLst/>
          </a:prstGeom>
          <a:solidFill>
            <a:srgbClr val="FFFFFF"/>
          </a:solidFill>
          <a:ln/>
        </p:spPr>
        <p:txBody>
          <a:bodyPr wrap="square" lIns="25400" tIns="25400" rIns="25400" bIns="25400" rtlCol="0" anchor="ctr"/>
          <a:lstStyle/>
          <a:p>
            <a:pPr indent="0" marL="0">
              <a:buNone/>
            </a:pPr>
            <a:r>
              <a:rPr lang="en-US" sz="1000" dirty="0">
                <a:solidFill>
                  <a:srgbClr val="334155"/>
                </a:solidFill>
                <a:latin typeface="Calibri" pitchFamily="34" charset="0"/>
                <a:ea typeface="Calibri" pitchFamily="34" charset="-122"/>
                <a:cs typeface="Calibri" pitchFamily="34" charset="-120"/>
              </a:rPr>
              <a:t>📖 Teacher: Student's Book p.66 · 1b–c · audio 7.1</a:t>
            </a:r>
            <a:endParaRPr lang="en-US" sz="1000" dirty="0"/>
          </a:p>
        </p:txBody>
      </p:sp>
    </p:spTree>
  </p:cSld>
  <p:clrMapOvr>
    <a:masterClrMapping/>
  </p:clrMapOvr>
  <p:transition spd="med">
    <p:push dir="l"/>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fade">
                                      <p:cBhvr>
                                        <p:cTn id="7" dur="400"/>
                                        <p:tgtEl>
                                          <p:spTgt spid="11"/>
                                        </p:tgtEl>
                                      </p:cBhvr>
                                    </p:animEffect>
                                  </p:childTnLst>
                                </p:cTn>
                              </p:par>
                              <p:par>
                                <p:cTn id="8" presetID="10" presetClass="entr" presetSubtype="0" fill="hold" nodeType="withEffect">
                                  <p:stCondLst>
                                    <p:cond delay="0"/>
                                  </p:stCondLst>
                                  <p:childTnLst>
                                    <p:set>
                                      <p:cBhvr>
                                        <p:cTn id="9" dur="1" fill="hold">
                                          <p:stCondLst>
                                            <p:cond delay="0"/>
                                          </p:stCondLst>
                                        </p:cTn>
                                        <p:tgtEl>
                                          <p:spTgt spid="15"/>
                                        </p:tgtEl>
                                        <p:attrNameLst>
                                          <p:attrName>style.visibility</p:attrName>
                                        </p:attrNameLst>
                                      </p:cBhvr>
                                      <p:to>
                                        <p:strVal val="visible"/>
                                      </p:to>
                                    </p:set>
                                    <p:animEffect transition="in" filter="fade">
                                      <p:cBhvr>
                                        <p:cTn id="10" dur="400"/>
                                        <p:tgtEl>
                                          <p:spTgt spid="15"/>
                                        </p:tgtEl>
                                      </p:cBhvr>
                                    </p:animEffect>
                                  </p:childTnLst>
                                </p:cTn>
                              </p:par>
                              <p:par>
                                <p:cTn id="11" presetID="10" presetClass="entr" presetSubtype="0" fill="hold" nodeType="withEffect">
                                  <p:stCondLst>
                                    <p:cond delay="0"/>
                                  </p:stCondLst>
                                  <p:childTnLst>
                                    <p:set>
                                      <p:cBhvr>
                                        <p:cTn id="12" dur="1" fill="hold">
                                          <p:stCondLst>
                                            <p:cond delay="0"/>
                                          </p:stCondLst>
                                        </p:cTn>
                                        <p:tgtEl>
                                          <p:spTgt spid="19"/>
                                        </p:tgtEl>
                                        <p:attrNameLst>
                                          <p:attrName>style.visibility</p:attrName>
                                        </p:attrNameLst>
                                      </p:cBhvr>
                                      <p:to>
                                        <p:strVal val="visible"/>
                                      </p:to>
                                    </p:set>
                                    <p:animEffect transition="in" filter="fade">
                                      <p:cBhvr>
                                        <p:cTn id="13" dur="400"/>
                                        <p:tgtEl>
                                          <p:spTgt spid="19"/>
                                        </p:tgtEl>
                                      </p:cBhvr>
                                    </p:animEffect>
                                  </p:childTnLst>
                                </p:cTn>
                              </p:par>
                              <p:par>
                                <p:cTn id="14" presetID="10" presetClass="entr" presetSubtype="0" fill="hold" nodeType="withEffect">
                                  <p:stCondLst>
                                    <p:cond delay="0"/>
                                  </p:stCondLst>
                                  <p:childTnLst>
                                    <p:set>
                                      <p:cBhvr>
                                        <p:cTn id="15" dur="1" fill="hold">
                                          <p:stCondLst>
                                            <p:cond delay="0"/>
                                          </p:stCondLst>
                                        </p:cTn>
                                        <p:tgtEl>
                                          <p:spTgt spid="23"/>
                                        </p:tgtEl>
                                        <p:attrNameLst>
                                          <p:attrName>style.visibility</p:attrName>
                                        </p:attrNameLst>
                                      </p:cBhvr>
                                      <p:to>
                                        <p:strVal val="visible"/>
                                      </p:to>
                                    </p:set>
                                    <p:animEffect transition="in" filter="fade">
                                      <p:cBhvr>
                                        <p:cTn id="16" dur="400"/>
                                        <p:tgtEl>
                                          <p:spTgt spid="23"/>
                                        </p:tgtEl>
                                      </p:cBhvr>
                                    </p:animEffect>
                                  </p:childTnLst>
                                </p:cTn>
                              </p:par>
                              <p:par>
                                <p:cTn id="17" presetID="10" presetClass="entr" presetSubtype="0" fill="hold" nodeType="withEffect">
                                  <p:stCondLst>
                                    <p:cond delay="0"/>
                                  </p:stCondLst>
                                  <p:childTnLst>
                                    <p:set>
                                      <p:cBhvr>
                                        <p:cTn id="18" dur="1" fill="hold">
                                          <p:stCondLst>
                                            <p:cond delay="0"/>
                                          </p:stCondLst>
                                        </p:cTn>
                                        <p:tgtEl>
                                          <p:spTgt spid="27"/>
                                        </p:tgtEl>
                                        <p:attrNameLst>
                                          <p:attrName>style.visibility</p:attrName>
                                        </p:attrNameLst>
                                      </p:cBhvr>
                                      <p:to>
                                        <p:strVal val="visible"/>
                                      </p:to>
                                    </p:set>
                                    <p:animEffect transition="in" filter="fade">
                                      <p:cBhvr>
                                        <p:cTn id="19" dur="400"/>
                                        <p:tgtEl>
                                          <p:spTgt spid="27"/>
                                        </p:tgtEl>
                                      </p:cBhvr>
                                    </p:animEffect>
                                  </p:childTnLst>
                                </p:cTn>
                              </p:par>
                              <p:par>
                                <p:cTn id="20" presetID="10" presetClass="entr" presetSubtype="0" fill="hold" nodeType="withEffect">
                                  <p:stCondLst>
                                    <p:cond delay="0"/>
                                  </p:stCondLst>
                                  <p:childTnLst>
                                    <p:set>
                                      <p:cBhvr>
                                        <p:cTn id="21" dur="1" fill="hold">
                                          <p:stCondLst>
                                            <p:cond delay="0"/>
                                          </p:stCondLst>
                                        </p:cTn>
                                        <p:tgtEl>
                                          <p:spTgt spid="31"/>
                                        </p:tgtEl>
                                        <p:attrNameLst>
                                          <p:attrName>style.visibility</p:attrName>
                                        </p:attrNameLst>
                                      </p:cBhvr>
                                      <p:to>
                                        <p:strVal val="visible"/>
                                      </p:to>
                                    </p:set>
                                    <p:animEffect transition="in" filter="fade">
                                      <p:cBhvr>
                                        <p:cTn id="22" dur="400"/>
                                        <p:tgtEl>
                                          <p:spTgt spid="31"/>
                                        </p:tgtEl>
                                      </p:cBhvr>
                                    </p:animEffect>
                                  </p:childTnLst>
                                </p:cTn>
                              </p:par>
                              <p:par>
                                <p:cTn id="23" presetID="10" presetClass="entr" presetSubtype="0" fill="hold" nodeType="withEffect">
                                  <p:stCondLst>
                                    <p:cond delay="0"/>
                                  </p:stCondLst>
                                  <p:childTnLst>
                                    <p:set>
                                      <p:cBhvr>
                                        <p:cTn id="24" dur="1" fill="hold">
                                          <p:stCondLst>
                                            <p:cond delay="0"/>
                                          </p:stCondLst>
                                        </p:cTn>
                                        <p:tgtEl>
                                          <p:spTgt spid="35"/>
                                        </p:tgtEl>
                                        <p:attrNameLst>
                                          <p:attrName>style.visibility</p:attrName>
                                        </p:attrNameLst>
                                      </p:cBhvr>
                                      <p:to>
                                        <p:strVal val="visible"/>
                                      </p:to>
                                    </p:set>
                                    <p:animEffect transition="in" filter="fade">
                                      <p:cBhvr>
                                        <p:cTn id="25" dur="400"/>
                                        <p:tgtEl>
                                          <p:spTgt spid="35"/>
                                        </p:tgtEl>
                                      </p:cBhvr>
                                    </p:animEffect>
                                  </p:childTnLst>
                                </p:cTn>
                              </p:par>
                              <p:par>
                                <p:cTn id="26" presetID="10" presetClass="entr" presetSubtype="0" fill="hold" nodeType="withEffect">
                                  <p:stCondLst>
                                    <p:cond delay="0"/>
                                  </p:stCondLst>
                                  <p:childTnLst>
                                    <p:set>
                                      <p:cBhvr>
                                        <p:cTn id="27" dur="1" fill="hold">
                                          <p:stCondLst>
                                            <p:cond delay="0"/>
                                          </p:stCondLst>
                                        </p:cTn>
                                        <p:tgtEl>
                                          <p:spTgt spid="39"/>
                                        </p:tgtEl>
                                        <p:attrNameLst>
                                          <p:attrName>style.visibility</p:attrName>
                                        </p:attrNameLst>
                                      </p:cBhvr>
                                      <p:to>
                                        <p:strVal val="visible"/>
                                      </p:to>
                                    </p:set>
                                    <p:animEffect transition="in" filter="fade">
                                      <p:cBhvr>
                                        <p:cTn id="28" dur="400"/>
                                        <p:tgtEl>
                                          <p:spTgt spid="39"/>
                                        </p:tgtEl>
                                      </p:cBhvr>
                                    </p:animEffect>
                                  </p:childTnLst>
                                </p:cTn>
                              </p:par>
                            </p:childTnLst>
                          </p:cTn>
                        </p:par>
                      </p:childTnLst>
                    </p:cTn>
                  </p:par>
                  <p:par>
                    <p:cTn id="29" fill="hold">
                      <p:stCondLst>
                        <p:cond delay="indefinite"/>
                      </p:stCondLst>
                      <p:childTnLst>
                        <p:par>
                          <p:cTn id="30" fill="hold">
                            <p:stCondLst>
                              <p:cond delay="0"/>
                            </p:stCondLst>
                            <p:childTnLst>
                              <p:par>
                                <p:cTn id="31" presetID="10" presetClass="entr" presetSubtype="0" fill="hold" nodeType="clickEffect">
                                  <p:stCondLst>
                                    <p:cond delay="0"/>
                                  </p:stCondLst>
                                  <p:childTnLst>
                                    <p:set>
                                      <p:cBhvr>
                                        <p:cTn id="32" dur="1" fill="hold">
                                          <p:stCondLst>
                                            <p:cond delay="0"/>
                                          </p:stCondLst>
                                        </p:cTn>
                                        <p:tgtEl>
                                          <p:spTgt spid="40"/>
                                        </p:tgtEl>
                                        <p:attrNameLst>
                                          <p:attrName>style.visibility</p:attrName>
                                        </p:attrNameLst>
                                      </p:cBhvr>
                                      <p:to>
                                        <p:strVal val="visible"/>
                                      </p:to>
                                    </p:set>
                                    <p:animEffect transition="in" filter="fade">
                                      <p:cBhvr>
                                        <p:cTn id="33" dur="400"/>
                                        <p:tgtEl>
                                          <p:spTgt spid="4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name="Slide 4">
    <p:bg>
      <p:bgPr>
        <a:blipFill dpi="0" rotWithShape="1">
          <a:blip r:embed="rId1">
            <a:lum/>
          </a:blip>
          <a:srcRect/>
          <a:stretch>
            <a:fillRect/>
          </a:stretch>
        </a:blipFill>
        <a:effectLst/>
      </p:bgPr>
    </p:bg>
    <p:spTree>
      <p:nvGrpSpPr>
        <p:cNvPr id="2" name=""/>
        <p:cNvGrpSpPr/>
        <p:nvPr/>
      </p:nvGrpSpPr>
      <p:grpSpPr>
        <a:xfrm>
          <a:off x="0" y="0"/>
          <a:ext cx="0" cy="0"/>
          <a:chOff x="0" y="0"/>
          <a:chExt cx="0" cy="0"/>
        </a:xfrm>
      </p:grpSpPr>
      <p:sp>
        <p:nvSpPr>
          <p:cNvPr id="3" name="levelFrame_63"/>
          <p:cNvSpPr/>
          <p:nvPr/>
        </p:nvSpPr>
        <p:spPr>
          <a:xfrm>
            <a:off x="54864" y="54864"/>
            <a:ext cx="9034272" cy="5033772"/>
          </a:xfrm>
          <a:prstGeom prst="rect">
            <a:avLst/>
          </a:prstGeom>
          <a:ln w="114300">
            <a:solidFill>
              <a:srgbClr val="A8E6B4"/>
            </a:solidFill>
            <a:prstDash val="solid"/>
          </a:ln>
        </p:spPr>
      </p:sp>
      <p:pic>
        <p:nvPicPr>
          <p:cNvPr id="4" name="logo_64" descr="London Language School logo">    </p:cNvPr>
          <p:cNvPicPr>
            <a:picLocks noChangeAspect="1"/>
          </p:cNvPicPr>
          <p:nvPr/>
        </p:nvPicPr>
        <p:blipFill>
          <a:blip r:embed="rId2"/>
          <a:stretch>
            <a:fillRect/>
          </a:stretch>
        </p:blipFill>
        <p:spPr>
          <a:xfrm>
            <a:off x="8275320" y="182880"/>
            <a:ext cx="585216" cy="585216"/>
          </a:xfrm>
          <a:prstGeom prst="rect">
            <a:avLst/>
          </a:prstGeom>
        </p:spPr>
      </p:pic>
      <p:sp>
        <p:nvSpPr>
          <p:cNvPr id="5" name="objective_65"/>
          <p:cNvSpPr txBox="1"/>
          <p:nvPr/>
        </p:nvSpPr>
        <p:spPr>
          <a:xfrm>
            <a:off x="320040" y="182880"/>
            <a:ext cx="4206240" cy="365760"/>
          </a:xfrm>
          <a:prstGeom prst="roundRect">
            <a:avLst>
              <a:gd name="adj" fmla="val 20000"/>
            </a:avLst>
          </a:prstGeom>
          <a:solidFill>
            <a:srgbClr val="062F67"/>
          </a:solidFill>
          <a:ln w="31750">
            <a:solidFill>
              <a:srgbClr val="111111"/>
            </a:solidFill>
          </a:ln>
        </p:spPr>
        <p:txBody>
          <a:bodyPr wrap="square" lIns="101600" tIns="101600" rIns="101600" bIns="101600" rtlCol="0" anchor="ctr"/>
          <a:lstStyle/>
          <a:p>
            <a:pPr indent="0" marL="0">
              <a:buNone/>
            </a:pPr>
            <a:r>
              <a:rPr lang="en-US" sz="900" dirty="0">
                <a:solidFill>
                  <a:srgbClr val="FFFFFF"/>
                </a:solidFill>
                <a:latin typeface="Arial Black" pitchFamily="34" charset="0"/>
                <a:ea typeface="Arial Black" pitchFamily="34" charset="-122"/>
                <a:cs typeface="Arial Black" pitchFamily="34" charset="-120"/>
              </a:rPr>
              <a:t>VOCABULARY · Education</a:t>
            </a:r>
            <a:endParaRPr lang="en-US" sz="900" dirty="0"/>
          </a:p>
        </p:txBody>
      </p:sp>
      <p:sp>
        <p:nvSpPr>
          <p:cNvPr id="6" name="footer_66"/>
          <p:cNvSpPr txBox="1"/>
          <p:nvPr/>
        </p:nvSpPr>
        <p:spPr>
          <a:xfrm>
            <a:off x="7315200" y="4818888"/>
            <a:ext cx="1554480" cy="219456"/>
          </a:xfrm>
          <a:prstGeom prst="rect">
            <a:avLst/>
          </a:prstGeom>
          <a:solidFill>
            <a:srgbClr val="FFFFFF"/>
          </a:solidFill>
          <a:ln/>
        </p:spPr>
        <p:txBody>
          <a:bodyPr wrap="square" lIns="0" tIns="0" rIns="0" bIns="0" rtlCol="0" anchor="ctr"/>
          <a:lstStyle/>
          <a:p>
            <a:pPr algn="ctr" indent="0" marL="0">
              <a:buNone/>
            </a:pPr>
            <a:r>
              <a:rPr lang="en-US" sz="1000" dirty="0">
                <a:solidFill>
                  <a:srgbClr val="334155"/>
                </a:solidFill>
                <a:latin typeface="Calibri" pitchFamily="34" charset="0"/>
                <a:ea typeface="Calibri" pitchFamily="34" charset="-122"/>
                <a:cs typeface="Calibri" pitchFamily="34" charset="-120"/>
              </a:rPr>
              <a:t>7A · Part 1</a:t>
            </a:r>
            <a:endParaRPr lang="en-US" sz="1000" dirty="0"/>
          </a:p>
        </p:txBody>
      </p:sp>
      <p:sp>
        <p:nvSpPr>
          <p:cNvPr id="7" name="title_67"/>
          <p:cNvSpPr txBox="1"/>
          <p:nvPr/>
        </p:nvSpPr>
        <p:spPr>
          <a:xfrm rot="-120000">
            <a:off x="320040" y="658368"/>
            <a:ext cx="5541264" cy="548640"/>
          </a:xfrm>
          <a:prstGeom prst="rect">
            <a:avLst/>
          </a:prstGeom>
          <a:solidFill>
            <a:srgbClr val="FFD84D"/>
          </a:solidFill>
          <a:ln w="31750">
            <a:solidFill>
              <a:srgbClr val="111111"/>
            </a:solidFill>
          </a:ln>
          <a:effectLst>
            <a:outerShdw sx="100000" sy="100000" kx="0" ky="0" algn="bl" rotWithShape="0" blurRad="101600" dist="38100" dir="2700000">
              <a:srgbClr val="000000">
                <a:alpha val="35000"/>
              </a:srgbClr>
            </a:outerShdw>
          </a:effectLst>
        </p:spPr>
        <p:txBody>
          <a:bodyPr wrap="square" lIns="127000" tIns="127000" rIns="127000" bIns="127000" rtlCol="0" anchor="ctr"/>
          <a:lstStyle/>
          <a:p>
            <a:pPr indent="0" marL="0">
              <a:buNone/>
            </a:pPr>
            <a:r>
              <a:rPr lang="en-US" sz="1600" dirty="0">
                <a:solidFill>
                  <a:srgbClr val="111111"/>
                </a:solidFill>
                <a:latin typeface="Arial Black" pitchFamily="34" charset="0"/>
                <a:ea typeface="Arial Black" pitchFamily="34" charset="-122"/>
                <a:cs typeface="Arial Black" pitchFamily="34" charset="-120"/>
              </a:rPr>
              <a:t>School in the UK: the toolkit</a:t>
            </a:r>
            <a:endParaRPr lang="en-US" sz="1600" dirty="0"/>
          </a:p>
        </p:txBody>
      </p:sp>
      <p:sp>
        <p:nvSpPr>
          <p:cNvPr id="8" name="stamp_68"/>
          <p:cNvSpPr txBox="1"/>
          <p:nvPr/>
        </p:nvSpPr>
        <p:spPr>
          <a:xfrm>
            <a:off x="365760" y="1417320"/>
            <a:ext cx="1920240" cy="457200"/>
          </a:xfrm>
          <a:prstGeom prst="roundRect">
            <a:avLst>
              <a:gd name="adj" fmla="val 12000"/>
            </a:avLst>
          </a:prstGeom>
          <a:solidFill>
            <a:srgbClr val="FFFFFF"/>
          </a:solidFill>
          <a:ln w="38100">
            <a:solidFill>
              <a:srgbClr val="48BDF2"/>
            </a:solidFill>
          </a:ln>
        </p:spPr>
        <p:txBody>
          <a:bodyPr wrap="square" lIns="25400" tIns="25400" rIns="25400" bIns="25400" rtlCol="0" anchor="ctr"/>
          <a:lstStyle/>
          <a:p>
            <a:pPr algn="ctr" indent="0" marL="0">
              <a:buNone/>
            </a:pPr>
            <a:r>
              <a:rPr lang="en-US" sz="1200" dirty="0">
                <a:solidFill>
                  <a:srgbClr val="48BDF2"/>
                </a:solidFill>
                <a:latin typeface="Arial Black" pitchFamily="34" charset="0"/>
                <a:ea typeface="Arial Black" pitchFamily="34" charset="-122"/>
                <a:cs typeface="Arial Black" pitchFamily="34" charset="-120"/>
              </a:rPr>
              <a:t>nursery school</a:t>
            </a:r>
            <a:endParaRPr lang="en-US" sz="1200" dirty="0"/>
          </a:p>
        </p:txBody>
      </p:sp>
      <p:sp>
        <p:nvSpPr>
          <p:cNvPr id="9" name="iconBack_69"/>
          <p:cNvSpPr/>
          <p:nvPr/>
        </p:nvSpPr>
        <p:spPr>
          <a:xfrm>
            <a:off x="256032" y="1170432"/>
            <a:ext cx="384048" cy="384048"/>
          </a:xfrm>
          <a:prstGeom prst="ellipse">
            <a:avLst/>
          </a:prstGeom>
          <a:solidFill>
            <a:srgbClr val="FFFFFF"/>
          </a:solidFill>
          <a:ln w="31750">
            <a:solidFill>
              <a:srgbClr val="111111"/>
            </a:solidFill>
            <a:prstDash val="solid"/>
          </a:ln>
          <a:effectLst>
            <a:outerShdw sx="100000" sy="100000" kx="0" ky="0" algn="bl" rotWithShape="0" blurRad="101600" dist="38100" dir="2700000">
              <a:srgbClr val="000000">
                <a:alpha val="35000"/>
              </a:srgbClr>
            </a:outerShdw>
          </a:effectLst>
        </p:spPr>
      </p:sp>
      <p:pic>
        <p:nvPicPr>
          <p:cNvPr id="10" name="icon_70" descr="nursery school">    </p:cNvPr>
          <p:cNvPicPr>
            <a:picLocks noChangeAspect="1"/>
          </p:cNvPicPr>
          <p:nvPr/>
        </p:nvPicPr>
        <p:blipFill>
          <a:blip r:embed="rId3"/>
          <a:stretch>
            <a:fillRect/>
          </a:stretch>
        </p:blipFill>
        <p:spPr>
          <a:xfrm>
            <a:off x="332842" y="1247242"/>
            <a:ext cx="230429" cy="230429"/>
          </a:xfrm>
          <a:prstGeom prst="rect">
            <a:avLst/>
          </a:prstGeom>
        </p:spPr>
      </p:pic>
      <p:sp>
        <p:nvSpPr>
          <p:cNvPr id="11" name="age_71"/>
          <p:cNvSpPr txBox="1"/>
          <p:nvPr/>
        </p:nvSpPr>
        <p:spPr>
          <a:xfrm>
            <a:off x="365760" y="1920240"/>
            <a:ext cx="1920240" cy="274320"/>
          </a:xfrm>
          <a:prstGeom prst="rect">
            <a:avLst/>
          </a:prstGeom>
          <a:noFill/>
          <a:ln/>
        </p:spPr>
        <p:txBody>
          <a:bodyPr wrap="square" rtlCol="0" anchor="ctr"/>
          <a:lstStyle/>
          <a:p>
            <a:pPr algn="ctr" indent="0" marL="0">
              <a:buNone/>
            </a:pPr>
            <a:r>
              <a:rPr lang="en-US" sz="1000" dirty="0">
                <a:solidFill>
                  <a:srgbClr val="062F67"/>
                </a:solidFill>
                <a:latin typeface="Arial Black" pitchFamily="34" charset="0"/>
                <a:ea typeface="Arial Black" pitchFamily="34" charset="-122"/>
                <a:cs typeface="Arial Black" pitchFamily="34" charset="-120"/>
              </a:rPr>
              <a:t>2–5</a:t>
            </a:r>
            <a:endParaRPr lang="en-US" sz="1000" dirty="0"/>
          </a:p>
        </p:txBody>
      </p:sp>
      <p:sp>
        <p:nvSpPr>
          <p:cNvPr id="12" name="R1_it0"/>
          <p:cNvSpPr txBox="1"/>
          <p:nvPr/>
        </p:nvSpPr>
        <p:spPr>
          <a:xfrm>
            <a:off x="365760" y="2176272"/>
            <a:ext cx="1920240" cy="274320"/>
          </a:xfrm>
          <a:prstGeom prst="rect">
            <a:avLst/>
          </a:prstGeom>
          <a:noFill/>
          <a:ln/>
        </p:spPr>
        <p:txBody>
          <a:bodyPr wrap="square" rtlCol="0" anchor="ctr"/>
          <a:lstStyle/>
          <a:p>
            <a:pPr algn="ctr" indent="0" marL="0">
              <a:buNone/>
            </a:pPr>
            <a:r>
              <a:rPr lang="en-US" sz="1200" i="1" dirty="0">
                <a:solidFill>
                  <a:srgbClr val="334155"/>
                </a:solidFill>
                <a:latin typeface="Calibri" pitchFamily="34" charset="0"/>
                <a:ea typeface="Calibri" pitchFamily="34" charset="-122"/>
                <a:cs typeface="Calibri" pitchFamily="34" charset="-120"/>
              </a:rPr>
              <a:t>scuola dell'infanzia</a:t>
            </a:r>
            <a:endParaRPr lang="en-US" sz="1200" dirty="0"/>
          </a:p>
        </p:txBody>
      </p:sp>
      <p:sp>
        <p:nvSpPr>
          <p:cNvPr id="13" name="arrow_72"/>
          <p:cNvSpPr/>
          <p:nvPr/>
        </p:nvSpPr>
        <p:spPr>
          <a:xfrm>
            <a:off x="2304288" y="1517904"/>
            <a:ext cx="201168" cy="256032"/>
          </a:xfrm>
          <a:prstGeom prst="rightArrow">
            <a:avLst/>
          </a:prstGeom>
          <a:solidFill>
            <a:srgbClr val="111111"/>
          </a:solidFill>
          <a:ln w="12700">
            <a:solidFill>
              <a:srgbClr val="111111"/>
            </a:solidFill>
            <a:prstDash val="solid"/>
          </a:ln>
        </p:spPr>
      </p:sp>
      <p:sp>
        <p:nvSpPr>
          <p:cNvPr id="14" name="stamp_73"/>
          <p:cNvSpPr txBox="1"/>
          <p:nvPr/>
        </p:nvSpPr>
        <p:spPr>
          <a:xfrm>
            <a:off x="2514600" y="1417320"/>
            <a:ext cx="1920240" cy="457200"/>
          </a:xfrm>
          <a:prstGeom prst="roundRect">
            <a:avLst>
              <a:gd name="adj" fmla="val 12000"/>
            </a:avLst>
          </a:prstGeom>
          <a:solidFill>
            <a:srgbClr val="FFFFFF"/>
          </a:solidFill>
          <a:ln w="38100">
            <a:solidFill>
              <a:srgbClr val="1FA463"/>
            </a:solidFill>
          </a:ln>
        </p:spPr>
        <p:txBody>
          <a:bodyPr wrap="square" lIns="25400" tIns="25400" rIns="25400" bIns="25400" rtlCol="0" anchor="ctr"/>
          <a:lstStyle/>
          <a:p>
            <a:pPr algn="ctr" indent="0" marL="0">
              <a:buNone/>
            </a:pPr>
            <a:r>
              <a:rPr lang="en-US" sz="1200" dirty="0">
                <a:solidFill>
                  <a:srgbClr val="1FA463"/>
                </a:solidFill>
                <a:latin typeface="Arial Black" pitchFamily="34" charset="0"/>
                <a:ea typeface="Arial Black" pitchFamily="34" charset="-122"/>
                <a:cs typeface="Arial Black" pitchFamily="34" charset="-120"/>
              </a:rPr>
              <a:t>primary school</a:t>
            </a:r>
            <a:endParaRPr lang="en-US" sz="1200" dirty="0"/>
          </a:p>
        </p:txBody>
      </p:sp>
      <p:sp>
        <p:nvSpPr>
          <p:cNvPr id="15" name="iconBack_74"/>
          <p:cNvSpPr/>
          <p:nvPr/>
        </p:nvSpPr>
        <p:spPr>
          <a:xfrm>
            <a:off x="2404872" y="1170432"/>
            <a:ext cx="384048" cy="384048"/>
          </a:xfrm>
          <a:prstGeom prst="ellipse">
            <a:avLst/>
          </a:prstGeom>
          <a:solidFill>
            <a:srgbClr val="FFFFFF"/>
          </a:solidFill>
          <a:ln w="31750">
            <a:solidFill>
              <a:srgbClr val="111111"/>
            </a:solidFill>
            <a:prstDash val="solid"/>
          </a:ln>
          <a:effectLst>
            <a:outerShdw sx="100000" sy="100000" kx="0" ky="0" algn="bl" rotWithShape="0" blurRad="101600" dist="38100" dir="2700000">
              <a:srgbClr val="000000">
                <a:alpha val="35000"/>
              </a:srgbClr>
            </a:outerShdw>
          </a:effectLst>
        </p:spPr>
      </p:sp>
      <p:pic>
        <p:nvPicPr>
          <p:cNvPr id="16" name="icon_75" descr="primary school">    </p:cNvPr>
          <p:cNvPicPr>
            <a:picLocks noChangeAspect="1"/>
          </p:cNvPicPr>
          <p:nvPr/>
        </p:nvPicPr>
        <p:blipFill>
          <a:blip r:embed="rId4"/>
          <a:stretch>
            <a:fillRect/>
          </a:stretch>
        </p:blipFill>
        <p:spPr>
          <a:xfrm>
            <a:off x="2481682" y="1247242"/>
            <a:ext cx="230429" cy="230429"/>
          </a:xfrm>
          <a:prstGeom prst="rect">
            <a:avLst/>
          </a:prstGeom>
        </p:spPr>
      </p:pic>
      <p:sp>
        <p:nvSpPr>
          <p:cNvPr id="17" name="age_76"/>
          <p:cNvSpPr txBox="1"/>
          <p:nvPr/>
        </p:nvSpPr>
        <p:spPr>
          <a:xfrm>
            <a:off x="2514600" y="1920240"/>
            <a:ext cx="1920240" cy="274320"/>
          </a:xfrm>
          <a:prstGeom prst="rect">
            <a:avLst/>
          </a:prstGeom>
          <a:noFill/>
          <a:ln/>
        </p:spPr>
        <p:txBody>
          <a:bodyPr wrap="square" rtlCol="0" anchor="ctr"/>
          <a:lstStyle/>
          <a:p>
            <a:pPr algn="ctr" indent="0" marL="0">
              <a:buNone/>
            </a:pPr>
            <a:r>
              <a:rPr lang="en-US" sz="1000" dirty="0">
                <a:solidFill>
                  <a:srgbClr val="062F67"/>
                </a:solidFill>
                <a:latin typeface="Arial Black" pitchFamily="34" charset="0"/>
                <a:ea typeface="Arial Black" pitchFamily="34" charset="-122"/>
                <a:cs typeface="Arial Black" pitchFamily="34" charset="-120"/>
              </a:rPr>
              <a:t>4–11</a:t>
            </a:r>
            <a:endParaRPr lang="en-US" sz="1000" dirty="0"/>
          </a:p>
        </p:txBody>
      </p:sp>
      <p:sp>
        <p:nvSpPr>
          <p:cNvPr id="18" name="R1_it1"/>
          <p:cNvSpPr txBox="1"/>
          <p:nvPr/>
        </p:nvSpPr>
        <p:spPr>
          <a:xfrm>
            <a:off x="2514600" y="2176272"/>
            <a:ext cx="1920240" cy="274320"/>
          </a:xfrm>
          <a:prstGeom prst="rect">
            <a:avLst/>
          </a:prstGeom>
          <a:noFill/>
          <a:ln/>
        </p:spPr>
        <p:txBody>
          <a:bodyPr wrap="square" rtlCol="0" anchor="ctr"/>
          <a:lstStyle/>
          <a:p>
            <a:pPr algn="ctr" indent="0" marL="0">
              <a:buNone/>
            </a:pPr>
            <a:r>
              <a:rPr lang="en-US" sz="1200" i="1" dirty="0">
                <a:solidFill>
                  <a:srgbClr val="334155"/>
                </a:solidFill>
                <a:latin typeface="Calibri" pitchFamily="34" charset="0"/>
                <a:ea typeface="Calibri" pitchFamily="34" charset="-122"/>
                <a:cs typeface="Calibri" pitchFamily="34" charset="-120"/>
              </a:rPr>
              <a:t>scuola primaria</a:t>
            </a:r>
            <a:endParaRPr lang="en-US" sz="1200" dirty="0"/>
          </a:p>
        </p:txBody>
      </p:sp>
      <p:sp>
        <p:nvSpPr>
          <p:cNvPr id="19" name="arrow_77"/>
          <p:cNvSpPr/>
          <p:nvPr/>
        </p:nvSpPr>
        <p:spPr>
          <a:xfrm>
            <a:off x="4453128" y="1517904"/>
            <a:ext cx="201168" cy="256032"/>
          </a:xfrm>
          <a:prstGeom prst="rightArrow">
            <a:avLst/>
          </a:prstGeom>
          <a:solidFill>
            <a:srgbClr val="111111"/>
          </a:solidFill>
          <a:ln w="12700">
            <a:solidFill>
              <a:srgbClr val="111111"/>
            </a:solidFill>
            <a:prstDash val="solid"/>
          </a:ln>
        </p:spPr>
      </p:sp>
      <p:sp>
        <p:nvSpPr>
          <p:cNvPr id="20" name="stamp_78"/>
          <p:cNvSpPr txBox="1"/>
          <p:nvPr/>
        </p:nvSpPr>
        <p:spPr>
          <a:xfrm>
            <a:off x="4663440" y="1417320"/>
            <a:ext cx="1920240" cy="457200"/>
          </a:xfrm>
          <a:prstGeom prst="roundRect">
            <a:avLst>
              <a:gd name="adj" fmla="val 12000"/>
            </a:avLst>
          </a:prstGeom>
          <a:solidFill>
            <a:srgbClr val="FFFFFF"/>
          </a:solidFill>
          <a:ln w="38100">
            <a:solidFill>
              <a:srgbClr val="F59E0B"/>
            </a:solidFill>
          </a:ln>
        </p:spPr>
        <p:txBody>
          <a:bodyPr wrap="square" lIns="25400" tIns="25400" rIns="25400" bIns="25400" rtlCol="0" anchor="ctr"/>
          <a:lstStyle/>
          <a:p>
            <a:pPr algn="ctr" indent="0" marL="0">
              <a:buNone/>
            </a:pPr>
            <a:r>
              <a:rPr lang="en-US" sz="1200" dirty="0">
                <a:solidFill>
                  <a:srgbClr val="F59E0B"/>
                </a:solidFill>
                <a:latin typeface="Arial Black" pitchFamily="34" charset="0"/>
                <a:ea typeface="Arial Black" pitchFamily="34" charset="-122"/>
                <a:cs typeface="Arial Black" pitchFamily="34" charset="-120"/>
              </a:rPr>
              <a:t>secondary school</a:t>
            </a:r>
            <a:endParaRPr lang="en-US" sz="1200" dirty="0"/>
          </a:p>
        </p:txBody>
      </p:sp>
      <p:sp>
        <p:nvSpPr>
          <p:cNvPr id="21" name="iconBack_79"/>
          <p:cNvSpPr/>
          <p:nvPr/>
        </p:nvSpPr>
        <p:spPr>
          <a:xfrm>
            <a:off x="4553712" y="1170432"/>
            <a:ext cx="384048" cy="384048"/>
          </a:xfrm>
          <a:prstGeom prst="ellipse">
            <a:avLst/>
          </a:prstGeom>
          <a:solidFill>
            <a:srgbClr val="FFFFFF"/>
          </a:solidFill>
          <a:ln w="31750">
            <a:solidFill>
              <a:srgbClr val="111111"/>
            </a:solidFill>
            <a:prstDash val="solid"/>
          </a:ln>
          <a:effectLst>
            <a:outerShdw sx="100000" sy="100000" kx="0" ky="0" algn="bl" rotWithShape="0" blurRad="101600" dist="38100" dir="2700000">
              <a:srgbClr val="000000">
                <a:alpha val="35000"/>
              </a:srgbClr>
            </a:outerShdw>
          </a:effectLst>
        </p:spPr>
      </p:sp>
      <p:pic>
        <p:nvPicPr>
          <p:cNvPr id="22" name="icon_80" descr="secondary school">    </p:cNvPr>
          <p:cNvPicPr>
            <a:picLocks noChangeAspect="1"/>
          </p:cNvPicPr>
          <p:nvPr/>
        </p:nvPicPr>
        <p:blipFill>
          <a:blip r:embed="rId5"/>
          <a:stretch>
            <a:fillRect/>
          </a:stretch>
        </p:blipFill>
        <p:spPr>
          <a:xfrm>
            <a:off x="4630522" y="1247242"/>
            <a:ext cx="230429" cy="230429"/>
          </a:xfrm>
          <a:prstGeom prst="rect">
            <a:avLst/>
          </a:prstGeom>
        </p:spPr>
      </p:pic>
      <p:sp>
        <p:nvSpPr>
          <p:cNvPr id="23" name="age_81"/>
          <p:cNvSpPr txBox="1"/>
          <p:nvPr/>
        </p:nvSpPr>
        <p:spPr>
          <a:xfrm>
            <a:off x="4663440" y="1920240"/>
            <a:ext cx="1920240" cy="274320"/>
          </a:xfrm>
          <a:prstGeom prst="rect">
            <a:avLst/>
          </a:prstGeom>
          <a:noFill/>
          <a:ln/>
        </p:spPr>
        <p:txBody>
          <a:bodyPr wrap="square" rtlCol="0" anchor="ctr"/>
          <a:lstStyle/>
          <a:p>
            <a:pPr algn="ctr" indent="0" marL="0">
              <a:buNone/>
            </a:pPr>
            <a:r>
              <a:rPr lang="en-US" sz="1000" dirty="0">
                <a:solidFill>
                  <a:srgbClr val="062F67"/>
                </a:solidFill>
                <a:latin typeface="Arial Black" pitchFamily="34" charset="0"/>
                <a:ea typeface="Arial Black" pitchFamily="34" charset="-122"/>
                <a:cs typeface="Arial Black" pitchFamily="34" charset="-120"/>
              </a:rPr>
              <a:t>11–18</a:t>
            </a:r>
            <a:endParaRPr lang="en-US" sz="1000" dirty="0"/>
          </a:p>
        </p:txBody>
      </p:sp>
      <p:sp>
        <p:nvSpPr>
          <p:cNvPr id="24" name="R1_it2"/>
          <p:cNvSpPr txBox="1"/>
          <p:nvPr/>
        </p:nvSpPr>
        <p:spPr>
          <a:xfrm>
            <a:off x="4663440" y="2176272"/>
            <a:ext cx="1920240" cy="274320"/>
          </a:xfrm>
          <a:prstGeom prst="rect">
            <a:avLst/>
          </a:prstGeom>
          <a:noFill/>
          <a:ln/>
        </p:spPr>
        <p:txBody>
          <a:bodyPr wrap="square" rtlCol="0" anchor="ctr"/>
          <a:lstStyle/>
          <a:p>
            <a:pPr algn="ctr" indent="0" marL="0">
              <a:buNone/>
            </a:pPr>
            <a:r>
              <a:rPr lang="en-US" sz="1200" i="1" dirty="0">
                <a:solidFill>
                  <a:srgbClr val="334155"/>
                </a:solidFill>
                <a:latin typeface="Calibri" pitchFamily="34" charset="0"/>
                <a:ea typeface="Calibri" pitchFamily="34" charset="-122"/>
                <a:cs typeface="Calibri" pitchFamily="34" charset="-120"/>
              </a:rPr>
              <a:t>scuola secondaria</a:t>
            </a:r>
            <a:endParaRPr lang="en-US" sz="1200" dirty="0"/>
          </a:p>
        </p:txBody>
      </p:sp>
      <p:sp>
        <p:nvSpPr>
          <p:cNvPr id="25" name="arrow_82"/>
          <p:cNvSpPr/>
          <p:nvPr/>
        </p:nvSpPr>
        <p:spPr>
          <a:xfrm>
            <a:off x="6601968" y="1517904"/>
            <a:ext cx="201168" cy="256032"/>
          </a:xfrm>
          <a:prstGeom prst="rightArrow">
            <a:avLst/>
          </a:prstGeom>
          <a:solidFill>
            <a:srgbClr val="111111"/>
          </a:solidFill>
          <a:ln w="12700">
            <a:solidFill>
              <a:srgbClr val="111111"/>
            </a:solidFill>
            <a:prstDash val="solid"/>
          </a:ln>
        </p:spPr>
      </p:sp>
      <p:sp>
        <p:nvSpPr>
          <p:cNvPr id="26" name="stamp_83"/>
          <p:cNvSpPr txBox="1"/>
          <p:nvPr/>
        </p:nvSpPr>
        <p:spPr>
          <a:xfrm>
            <a:off x="6812280" y="1417320"/>
            <a:ext cx="1920240" cy="457200"/>
          </a:xfrm>
          <a:prstGeom prst="roundRect">
            <a:avLst>
              <a:gd name="adj" fmla="val 12000"/>
            </a:avLst>
          </a:prstGeom>
          <a:solidFill>
            <a:srgbClr val="FFFFFF"/>
          </a:solidFill>
          <a:ln w="38100">
            <a:solidFill>
              <a:srgbClr val="EF2F2F"/>
            </a:solidFill>
          </a:ln>
        </p:spPr>
        <p:txBody>
          <a:bodyPr wrap="square" lIns="25400" tIns="25400" rIns="25400" bIns="25400" rtlCol="0" anchor="ctr"/>
          <a:lstStyle/>
          <a:p>
            <a:pPr algn="ctr" indent="0" marL="0">
              <a:buNone/>
            </a:pPr>
            <a:r>
              <a:rPr lang="en-US" sz="1200" dirty="0">
                <a:solidFill>
                  <a:srgbClr val="EF2F2F"/>
                </a:solidFill>
                <a:latin typeface="Arial Black" pitchFamily="34" charset="0"/>
                <a:ea typeface="Arial Black" pitchFamily="34" charset="-122"/>
                <a:cs typeface="Arial Black" pitchFamily="34" charset="-120"/>
              </a:rPr>
              <a:t>university</a:t>
            </a:r>
            <a:endParaRPr lang="en-US" sz="1200" dirty="0"/>
          </a:p>
        </p:txBody>
      </p:sp>
      <p:sp>
        <p:nvSpPr>
          <p:cNvPr id="27" name="iconBack_84"/>
          <p:cNvSpPr/>
          <p:nvPr/>
        </p:nvSpPr>
        <p:spPr>
          <a:xfrm>
            <a:off x="6702552" y="1170432"/>
            <a:ext cx="384048" cy="384048"/>
          </a:xfrm>
          <a:prstGeom prst="ellipse">
            <a:avLst/>
          </a:prstGeom>
          <a:solidFill>
            <a:srgbClr val="FFFFFF"/>
          </a:solidFill>
          <a:ln w="31750">
            <a:solidFill>
              <a:srgbClr val="111111"/>
            </a:solidFill>
            <a:prstDash val="solid"/>
          </a:ln>
          <a:effectLst>
            <a:outerShdw sx="100000" sy="100000" kx="0" ky="0" algn="bl" rotWithShape="0" blurRad="101600" dist="38100" dir="2700000">
              <a:srgbClr val="000000">
                <a:alpha val="35000"/>
              </a:srgbClr>
            </a:outerShdw>
          </a:effectLst>
        </p:spPr>
      </p:sp>
      <p:pic>
        <p:nvPicPr>
          <p:cNvPr id="28" name="icon_85" descr="university">    </p:cNvPr>
          <p:cNvPicPr>
            <a:picLocks noChangeAspect="1"/>
          </p:cNvPicPr>
          <p:nvPr/>
        </p:nvPicPr>
        <p:blipFill>
          <a:blip r:embed="rId6"/>
          <a:stretch>
            <a:fillRect/>
          </a:stretch>
        </p:blipFill>
        <p:spPr>
          <a:xfrm>
            <a:off x="6779362" y="1247242"/>
            <a:ext cx="230429" cy="230429"/>
          </a:xfrm>
          <a:prstGeom prst="rect">
            <a:avLst/>
          </a:prstGeom>
        </p:spPr>
      </p:pic>
      <p:sp>
        <p:nvSpPr>
          <p:cNvPr id="29" name="age_86"/>
          <p:cNvSpPr txBox="1"/>
          <p:nvPr/>
        </p:nvSpPr>
        <p:spPr>
          <a:xfrm>
            <a:off x="6812280" y="1920240"/>
            <a:ext cx="1920240" cy="274320"/>
          </a:xfrm>
          <a:prstGeom prst="rect">
            <a:avLst/>
          </a:prstGeom>
          <a:noFill/>
          <a:ln/>
        </p:spPr>
        <p:txBody>
          <a:bodyPr wrap="square" rtlCol="0" anchor="ctr"/>
          <a:lstStyle/>
          <a:p>
            <a:pPr algn="ctr" indent="0" marL="0">
              <a:buNone/>
            </a:pPr>
            <a:r>
              <a:rPr lang="en-US" sz="1000" dirty="0">
                <a:solidFill>
                  <a:srgbClr val="062F67"/>
                </a:solidFill>
                <a:latin typeface="Arial Black" pitchFamily="34" charset="0"/>
                <a:ea typeface="Arial Black" pitchFamily="34" charset="-122"/>
                <a:cs typeface="Arial Black" pitchFamily="34" charset="-120"/>
              </a:rPr>
              <a:t>18+ → a degree</a:t>
            </a:r>
            <a:endParaRPr lang="en-US" sz="1000" dirty="0"/>
          </a:p>
        </p:txBody>
      </p:sp>
      <p:sp>
        <p:nvSpPr>
          <p:cNvPr id="30" name="R1_it3"/>
          <p:cNvSpPr txBox="1"/>
          <p:nvPr/>
        </p:nvSpPr>
        <p:spPr>
          <a:xfrm>
            <a:off x="6812280" y="2176272"/>
            <a:ext cx="1920240" cy="274320"/>
          </a:xfrm>
          <a:prstGeom prst="rect">
            <a:avLst/>
          </a:prstGeom>
          <a:noFill/>
          <a:ln/>
        </p:spPr>
        <p:txBody>
          <a:bodyPr wrap="square" rtlCol="0" anchor="ctr"/>
          <a:lstStyle/>
          <a:p>
            <a:pPr algn="ctr" indent="0" marL="0">
              <a:buNone/>
            </a:pPr>
            <a:r>
              <a:rPr lang="en-US" sz="1200" i="1" dirty="0">
                <a:solidFill>
                  <a:srgbClr val="334155"/>
                </a:solidFill>
                <a:latin typeface="Calibri" pitchFamily="34" charset="0"/>
                <a:ea typeface="Calibri" pitchFamily="34" charset="-122"/>
                <a:cs typeface="Calibri" pitchFamily="34" charset="-120"/>
              </a:rPr>
              <a:t>università → laurea</a:t>
            </a:r>
            <a:endParaRPr lang="en-US" sz="1200" dirty="0"/>
          </a:p>
        </p:txBody>
      </p:sp>
      <p:sp>
        <p:nvSpPr>
          <p:cNvPr id="31" name="polaroid_87"/>
          <p:cNvSpPr/>
          <p:nvPr/>
        </p:nvSpPr>
        <p:spPr>
          <a:xfrm rot="-240000">
            <a:off x="457200" y="2651760"/>
            <a:ext cx="2103120" cy="2002536"/>
          </a:xfrm>
          <a:prstGeom prst="rect">
            <a:avLst/>
          </a:prstGeom>
          <a:solidFill>
            <a:srgbClr val="FFFFFF"/>
          </a:solidFill>
          <a:ln w="31750">
            <a:solidFill>
              <a:srgbClr val="111111"/>
            </a:solidFill>
            <a:prstDash val="solid"/>
          </a:ln>
          <a:effectLst>
            <a:outerShdw sx="100000" sy="100000" kx="0" ky="0" algn="bl" rotWithShape="0" blurRad="101600" dist="38100" dir="2700000">
              <a:srgbClr val="000000">
                <a:alpha val="35000"/>
              </a:srgbClr>
            </a:outerShdw>
          </a:effectLst>
        </p:spPr>
      </p:sp>
      <p:pic>
        <p:nvPicPr>
          <p:cNvPr id="32" name="photo_88" descr="Pupils raising their hands in class">    </p:cNvPr>
          <p:cNvPicPr>
            <a:picLocks noChangeAspect="1"/>
          </p:cNvPicPr>
          <p:nvPr/>
        </p:nvPicPr>
        <p:blipFill>
          <a:blip r:embed="rId7"/>
          <a:srcRect l="0" r="0" t="0" b="0"/>
          <a:stretch/>
        </p:blipFill>
        <p:spPr>
          <a:xfrm rot="-240000">
            <a:off x="548640" y="2743200"/>
            <a:ext cx="1920240" cy="1508760"/>
          </a:xfrm>
          <a:prstGeom prst="rect">
            <a:avLst/>
          </a:prstGeom>
        </p:spPr>
      </p:pic>
      <p:sp>
        <p:nvSpPr>
          <p:cNvPr id="33" name="caption_89"/>
          <p:cNvSpPr txBox="1"/>
          <p:nvPr/>
        </p:nvSpPr>
        <p:spPr>
          <a:xfrm rot="-240000">
            <a:off x="457200" y="4270248"/>
            <a:ext cx="2103120" cy="310896"/>
          </a:xfrm>
          <a:prstGeom prst="rect">
            <a:avLst/>
          </a:prstGeom>
          <a:noFill/>
          <a:ln/>
        </p:spPr>
        <p:txBody>
          <a:bodyPr wrap="square" rtlCol="0" anchor="ctr"/>
          <a:lstStyle/>
          <a:p>
            <a:pPr algn="ctr" indent="0" marL="0">
              <a:buNone/>
            </a:pPr>
            <a:r>
              <a:rPr lang="en-US" sz="1200" i="1" dirty="0">
                <a:solidFill>
                  <a:srgbClr val="111111"/>
                </a:solidFill>
                <a:latin typeface="Calibri" pitchFamily="34" charset="0"/>
                <a:ea typeface="Calibri" pitchFamily="34" charset="-122"/>
                <a:cs typeface="Calibri" pitchFamily="34" charset="-120"/>
              </a:rPr>
              <a:t>Hands up!</a:t>
            </a:r>
            <a:endParaRPr lang="en-US" sz="1200" dirty="0"/>
          </a:p>
        </p:txBody>
      </p:sp>
      <p:sp>
        <p:nvSpPr>
          <p:cNvPr id="34" name="pair_90"/>
          <p:cNvSpPr txBox="1"/>
          <p:nvPr/>
        </p:nvSpPr>
        <p:spPr>
          <a:xfrm>
            <a:off x="2926080" y="2697480"/>
            <a:ext cx="2880360" cy="329184"/>
          </a:xfrm>
          <a:prstGeom prst="rect">
            <a:avLst/>
          </a:prstGeom>
          <a:solidFill>
            <a:srgbClr val="FFFFFF"/>
          </a:solidFill>
          <a:ln w="12700">
            <a:solidFill>
              <a:srgbClr val="111111"/>
            </a:solidFill>
          </a:ln>
        </p:spPr>
        <p:txBody>
          <a:bodyPr wrap="square" lIns="63500" tIns="63500" rIns="63500" bIns="63500" rtlCol="0" anchor="ctr"/>
          <a:lstStyle/>
          <a:p>
            <a:pPr indent="0" marL="0">
              <a:buNone/>
            </a:pPr>
            <a:r>
              <a:rPr lang="en-US" sz="1100" b="1" dirty="0">
                <a:solidFill>
                  <a:srgbClr val="062F67"/>
                </a:solidFill>
                <a:latin typeface="Calibri" pitchFamily="34" charset="0"/>
                <a:ea typeface="Calibri" pitchFamily="34" charset="-122"/>
                <a:cs typeface="Calibri" pitchFamily="34" charset="-120"/>
              </a:rPr>
              <a:t>state school  </a:t>
            </a:r>
            <a:pPr indent="0" marL="0">
              <a:buNone/>
            </a:pPr>
            <a:r>
              <a:rPr lang="en-US" sz="1100" dirty="0">
                <a:solidFill>
                  <a:srgbClr val="111111"/>
                </a:solidFill>
                <a:latin typeface="Calibri" pitchFamily="34" charset="0"/>
                <a:ea typeface="Calibri" pitchFamily="34" charset="-122"/>
                <a:cs typeface="Calibri" pitchFamily="34" charset="-120"/>
              </a:rPr>
              <a:t>free (the government pays)</a:t>
            </a:r>
            <a:endParaRPr lang="en-US" sz="1100" dirty="0"/>
          </a:p>
        </p:txBody>
      </p:sp>
      <p:sp>
        <p:nvSpPr>
          <p:cNvPr id="35" name="R2_pit0"/>
          <p:cNvSpPr txBox="1"/>
          <p:nvPr/>
        </p:nvSpPr>
        <p:spPr>
          <a:xfrm>
            <a:off x="2926080" y="3026664"/>
            <a:ext cx="2880360" cy="237744"/>
          </a:xfrm>
          <a:prstGeom prst="rect">
            <a:avLst/>
          </a:prstGeom>
          <a:noFill/>
          <a:ln/>
        </p:spPr>
        <p:txBody>
          <a:bodyPr wrap="square" lIns="63500" tIns="63500" rIns="63500" bIns="63500" rtlCol="0" anchor="ctr"/>
          <a:lstStyle/>
          <a:p>
            <a:pPr indent="0" marL="0">
              <a:buNone/>
            </a:pPr>
            <a:r>
              <a:rPr lang="en-US" sz="700" i="1" dirty="0">
                <a:solidFill>
                  <a:srgbClr val="334155"/>
                </a:solidFill>
                <a:latin typeface="Calibri" pitchFamily="34" charset="0"/>
                <a:ea typeface="Calibri" pitchFamily="34" charset="-122"/>
                <a:cs typeface="Calibri" pitchFamily="34" charset="-120"/>
              </a:rPr>
              <a:t>scuola pubblica</a:t>
            </a:r>
            <a:endParaRPr lang="en-US" sz="700" dirty="0"/>
          </a:p>
        </p:txBody>
      </p:sp>
      <p:sp>
        <p:nvSpPr>
          <p:cNvPr id="36" name="pair_91"/>
          <p:cNvSpPr txBox="1"/>
          <p:nvPr/>
        </p:nvSpPr>
        <p:spPr>
          <a:xfrm>
            <a:off x="5943600" y="2697480"/>
            <a:ext cx="2880360" cy="329184"/>
          </a:xfrm>
          <a:prstGeom prst="rect">
            <a:avLst/>
          </a:prstGeom>
          <a:solidFill>
            <a:srgbClr val="FFFFFF"/>
          </a:solidFill>
          <a:ln w="12700">
            <a:solidFill>
              <a:srgbClr val="111111"/>
            </a:solidFill>
          </a:ln>
        </p:spPr>
        <p:txBody>
          <a:bodyPr wrap="square" lIns="63500" tIns="63500" rIns="63500" bIns="63500" rtlCol="0" anchor="ctr"/>
          <a:lstStyle/>
          <a:p>
            <a:pPr indent="0" marL="0">
              <a:buNone/>
            </a:pPr>
            <a:r>
              <a:rPr lang="en-US" sz="1200" b="1" dirty="0">
                <a:solidFill>
                  <a:srgbClr val="062F67"/>
                </a:solidFill>
                <a:latin typeface="Calibri" pitchFamily="34" charset="0"/>
                <a:ea typeface="Calibri" pitchFamily="34" charset="-122"/>
                <a:cs typeface="Calibri" pitchFamily="34" charset="-120"/>
              </a:rPr>
              <a:t>private school  </a:t>
            </a:r>
            <a:pPr indent="0" marL="0">
              <a:buNone/>
            </a:pPr>
            <a:r>
              <a:rPr lang="en-US" sz="1200" dirty="0">
                <a:solidFill>
                  <a:srgbClr val="111111"/>
                </a:solidFill>
                <a:latin typeface="Calibri" pitchFamily="34" charset="0"/>
                <a:ea typeface="Calibri" pitchFamily="34" charset="-122"/>
                <a:cs typeface="Calibri" pitchFamily="34" charset="-120"/>
              </a:rPr>
              <a:t>parents pay</a:t>
            </a:r>
            <a:endParaRPr lang="en-US" sz="1200" dirty="0"/>
          </a:p>
        </p:txBody>
      </p:sp>
      <p:sp>
        <p:nvSpPr>
          <p:cNvPr id="37" name="R2_pit1"/>
          <p:cNvSpPr txBox="1"/>
          <p:nvPr/>
        </p:nvSpPr>
        <p:spPr>
          <a:xfrm>
            <a:off x="5943600" y="3026664"/>
            <a:ext cx="2880360" cy="237744"/>
          </a:xfrm>
          <a:prstGeom prst="rect">
            <a:avLst/>
          </a:prstGeom>
          <a:noFill/>
          <a:ln/>
        </p:spPr>
        <p:txBody>
          <a:bodyPr wrap="square" lIns="63500" tIns="63500" rIns="63500" bIns="63500" rtlCol="0" anchor="ctr"/>
          <a:lstStyle/>
          <a:p>
            <a:pPr indent="0" marL="0">
              <a:buNone/>
            </a:pPr>
            <a:r>
              <a:rPr lang="en-US" sz="700" i="1" dirty="0">
                <a:solidFill>
                  <a:srgbClr val="334155"/>
                </a:solidFill>
                <a:latin typeface="Calibri" pitchFamily="34" charset="0"/>
                <a:ea typeface="Calibri" pitchFamily="34" charset="-122"/>
                <a:cs typeface="Calibri" pitchFamily="34" charset="-120"/>
              </a:rPr>
              <a:t>scuola privata</a:t>
            </a:r>
            <a:endParaRPr lang="en-US" sz="700" dirty="0"/>
          </a:p>
        </p:txBody>
      </p:sp>
      <p:sp>
        <p:nvSpPr>
          <p:cNvPr id="38" name="pair_92"/>
          <p:cNvSpPr txBox="1"/>
          <p:nvPr/>
        </p:nvSpPr>
        <p:spPr>
          <a:xfrm>
            <a:off x="2926080" y="3355848"/>
            <a:ext cx="2880360" cy="329184"/>
          </a:xfrm>
          <a:prstGeom prst="rect">
            <a:avLst/>
          </a:prstGeom>
          <a:solidFill>
            <a:srgbClr val="FFFFFF"/>
          </a:solidFill>
          <a:ln w="12700">
            <a:solidFill>
              <a:srgbClr val="111111"/>
            </a:solidFill>
          </a:ln>
        </p:spPr>
        <p:txBody>
          <a:bodyPr wrap="square" lIns="63500" tIns="63500" rIns="63500" bIns="63500" rtlCol="0" anchor="ctr"/>
          <a:lstStyle/>
          <a:p>
            <a:pPr indent="0" marL="0">
              <a:buNone/>
            </a:pPr>
            <a:r>
              <a:rPr lang="en-US" sz="1200" b="1" dirty="0">
                <a:solidFill>
                  <a:srgbClr val="062F67"/>
                </a:solidFill>
                <a:latin typeface="Calibri" pitchFamily="34" charset="0"/>
                <a:ea typeface="Calibri" pitchFamily="34" charset="-122"/>
                <a:cs typeface="Calibri" pitchFamily="34" charset="-120"/>
              </a:rPr>
              <a:t>boarding school  </a:t>
            </a:r>
            <a:pPr indent="0" marL="0">
              <a:buNone/>
            </a:pPr>
            <a:r>
              <a:rPr lang="en-US" sz="1200" dirty="0">
                <a:solidFill>
                  <a:srgbClr val="111111"/>
                </a:solidFill>
                <a:latin typeface="Calibri" pitchFamily="34" charset="0"/>
                <a:ea typeface="Calibri" pitchFamily="34" charset="-122"/>
                <a:cs typeface="Calibri" pitchFamily="34" charset="-120"/>
              </a:rPr>
              <a:t>you live there</a:t>
            </a:r>
            <a:endParaRPr lang="en-US" sz="1200" dirty="0"/>
          </a:p>
        </p:txBody>
      </p:sp>
      <p:sp>
        <p:nvSpPr>
          <p:cNvPr id="39" name="R2_pit2"/>
          <p:cNvSpPr txBox="1"/>
          <p:nvPr/>
        </p:nvSpPr>
        <p:spPr>
          <a:xfrm>
            <a:off x="2926080" y="3685032"/>
            <a:ext cx="2880360" cy="237744"/>
          </a:xfrm>
          <a:prstGeom prst="rect">
            <a:avLst/>
          </a:prstGeom>
          <a:noFill/>
          <a:ln/>
        </p:spPr>
        <p:txBody>
          <a:bodyPr wrap="square" lIns="63500" tIns="63500" rIns="63500" bIns="63500" rtlCol="0" anchor="ctr"/>
          <a:lstStyle/>
          <a:p>
            <a:pPr indent="0" marL="0">
              <a:buNone/>
            </a:pPr>
            <a:r>
              <a:rPr lang="en-US" sz="700" i="1" dirty="0">
                <a:solidFill>
                  <a:srgbClr val="334155"/>
                </a:solidFill>
                <a:latin typeface="Calibri" pitchFamily="34" charset="0"/>
                <a:ea typeface="Calibri" pitchFamily="34" charset="-122"/>
                <a:cs typeface="Calibri" pitchFamily="34" charset="-120"/>
              </a:rPr>
              <a:t>collegio</a:t>
            </a:r>
            <a:endParaRPr lang="en-US" sz="700" dirty="0"/>
          </a:p>
        </p:txBody>
      </p:sp>
      <p:sp>
        <p:nvSpPr>
          <p:cNvPr id="40" name="pair_93"/>
          <p:cNvSpPr txBox="1"/>
          <p:nvPr/>
        </p:nvSpPr>
        <p:spPr>
          <a:xfrm>
            <a:off x="5943600" y="3355848"/>
            <a:ext cx="2880360" cy="329184"/>
          </a:xfrm>
          <a:prstGeom prst="rect">
            <a:avLst/>
          </a:prstGeom>
          <a:solidFill>
            <a:srgbClr val="FFFFFF"/>
          </a:solidFill>
          <a:ln w="12700">
            <a:solidFill>
              <a:srgbClr val="111111"/>
            </a:solidFill>
          </a:ln>
        </p:spPr>
        <p:txBody>
          <a:bodyPr wrap="square" lIns="63500" tIns="63500" rIns="63500" bIns="63500" rtlCol="0" anchor="ctr"/>
          <a:lstStyle/>
          <a:p>
            <a:pPr indent="0" marL="0">
              <a:buNone/>
            </a:pPr>
            <a:r>
              <a:rPr lang="en-US" sz="1200" b="1" dirty="0">
                <a:solidFill>
                  <a:srgbClr val="062F67"/>
                </a:solidFill>
                <a:latin typeface="Calibri" pitchFamily="34" charset="0"/>
                <a:ea typeface="Calibri" pitchFamily="34" charset="-122"/>
                <a:cs typeface="Calibri" pitchFamily="34" charset="-120"/>
              </a:rPr>
              <a:t>the head  </a:t>
            </a:r>
            <a:pPr indent="0" marL="0">
              <a:buNone/>
            </a:pPr>
            <a:r>
              <a:rPr lang="en-US" sz="1200" dirty="0">
                <a:solidFill>
                  <a:srgbClr val="111111"/>
                </a:solidFill>
                <a:latin typeface="Calibri" pitchFamily="34" charset="0"/>
                <a:ea typeface="Calibri" pitchFamily="34" charset="-122"/>
                <a:cs typeface="Calibri" pitchFamily="34" charset="-120"/>
              </a:rPr>
              <a:t>boss of the school</a:t>
            </a:r>
            <a:endParaRPr lang="en-US" sz="1200" dirty="0"/>
          </a:p>
        </p:txBody>
      </p:sp>
      <p:sp>
        <p:nvSpPr>
          <p:cNvPr id="41" name="R2_pit3"/>
          <p:cNvSpPr txBox="1"/>
          <p:nvPr/>
        </p:nvSpPr>
        <p:spPr>
          <a:xfrm>
            <a:off x="5943600" y="3685032"/>
            <a:ext cx="2880360" cy="237744"/>
          </a:xfrm>
          <a:prstGeom prst="rect">
            <a:avLst/>
          </a:prstGeom>
          <a:noFill/>
          <a:ln/>
        </p:spPr>
        <p:txBody>
          <a:bodyPr wrap="square" lIns="63500" tIns="63500" rIns="63500" bIns="63500" rtlCol="0" anchor="ctr"/>
          <a:lstStyle/>
          <a:p>
            <a:pPr indent="0" marL="0">
              <a:buNone/>
            </a:pPr>
            <a:r>
              <a:rPr lang="en-US" sz="700" i="1" dirty="0">
                <a:solidFill>
                  <a:srgbClr val="334155"/>
                </a:solidFill>
                <a:latin typeface="Calibri" pitchFamily="34" charset="0"/>
                <a:ea typeface="Calibri" pitchFamily="34" charset="-122"/>
                <a:cs typeface="Calibri" pitchFamily="34" charset="-120"/>
              </a:rPr>
              <a:t>il preside</a:t>
            </a:r>
            <a:endParaRPr lang="en-US" sz="700" dirty="0"/>
          </a:p>
        </p:txBody>
      </p:sp>
      <p:sp>
        <p:nvSpPr>
          <p:cNvPr id="42" name="pair_94"/>
          <p:cNvSpPr txBox="1"/>
          <p:nvPr/>
        </p:nvSpPr>
        <p:spPr>
          <a:xfrm>
            <a:off x="2926080" y="4014216"/>
            <a:ext cx="2880360" cy="329184"/>
          </a:xfrm>
          <a:prstGeom prst="rect">
            <a:avLst/>
          </a:prstGeom>
          <a:solidFill>
            <a:srgbClr val="FFFFFF"/>
          </a:solidFill>
          <a:ln w="12700">
            <a:solidFill>
              <a:srgbClr val="111111"/>
            </a:solidFill>
          </a:ln>
        </p:spPr>
        <p:txBody>
          <a:bodyPr wrap="square" lIns="63500" tIns="63500" rIns="63500" bIns="63500" rtlCol="0" anchor="ctr"/>
          <a:lstStyle/>
          <a:p>
            <a:pPr indent="0" marL="0">
              <a:buNone/>
            </a:pPr>
            <a:r>
              <a:rPr lang="en-US" sz="1100" b="1" dirty="0">
                <a:solidFill>
                  <a:srgbClr val="062F67"/>
                </a:solidFill>
                <a:latin typeface="Calibri" pitchFamily="34" charset="0"/>
                <a:ea typeface="Calibri" pitchFamily="34" charset="-122"/>
                <a:cs typeface="Calibri" pitchFamily="34" charset="-120"/>
              </a:rPr>
              <a:t>pupils / students  </a:t>
            </a:r>
            <a:pPr indent="0" marL="0">
              <a:buNone/>
            </a:pPr>
            <a:r>
              <a:rPr lang="en-US" sz="1100" dirty="0">
                <a:solidFill>
                  <a:srgbClr val="111111"/>
                </a:solidFill>
                <a:latin typeface="Calibri" pitchFamily="34" charset="0"/>
                <a:ea typeface="Calibri" pitchFamily="34" charset="-122"/>
                <a:cs typeface="Calibri" pitchFamily="34" charset="-120"/>
              </a:rPr>
              <a:t>at school / at university</a:t>
            </a:r>
            <a:endParaRPr lang="en-US" sz="1100" dirty="0"/>
          </a:p>
        </p:txBody>
      </p:sp>
      <p:sp>
        <p:nvSpPr>
          <p:cNvPr id="43" name="R2_pit4"/>
          <p:cNvSpPr txBox="1"/>
          <p:nvPr/>
        </p:nvSpPr>
        <p:spPr>
          <a:xfrm>
            <a:off x="2926080" y="4343400"/>
            <a:ext cx="2880360" cy="237744"/>
          </a:xfrm>
          <a:prstGeom prst="rect">
            <a:avLst/>
          </a:prstGeom>
          <a:noFill/>
          <a:ln/>
        </p:spPr>
        <p:txBody>
          <a:bodyPr wrap="square" lIns="63500" tIns="63500" rIns="63500" bIns="63500" rtlCol="0" anchor="ctr"/>
          <a:lstStyle/>
          <a:p>
            <a:pPr indent="0" marL="0">
              <a:buNone/>
            </a:pPr>
            <a:r>
              <a:rPr lang="en-US" sz="700" i="1" dirty="0">
                <a:solidFill>
                  <a:srgbClr val="334155"/>
                </a:solidFill>
                <a:latin typeface="Calibri" pitchFamily="34" charset="0"/>
                <a:ea typeface="Calibri" pitchFamily="34" charset="-122"/>
                <a:cs typeface="Calibri" pitchFamily="34" charset="-120"/>
              </a:rPr>
              <a:t>alunni / studenti</a:t>
            </a:r>
            <a:endParaRPr lang="en-US" sz="700" dirty="0"/>
          </a:p>
        </p:txBody>
      </p:sp>
      <p:sp>
        <p:nvSpPr>
          <p:cNvPr id="44" name="pair_95"/>
          <p:cNvSpPr txBox="1"/>
          <p:nvPr/>
        </p:nvSpPr>
        <p:spPr>
          <a:xfrm>
            <a:off x="5943600" y="4014216"/>
            <a:ext cx="2880360" cy="329184"/>
          </a:xfrm>
          <a:prstGeom prst="rect">
            <a:avLst/>
          </a:prstGeom>
          <a:solidFill>
            <a:srgbClr val="FFFFFF"/>
          </a:solidFill>
          <a:ln w="12700">
            <a:solidFill>
              <a:srgbClr val="111111"/>
            </a:solidFill>
          </a:ln>
        </p:spPr>
        <p:txBody>
          <a:bodyPr wrap="square" lIns="63500" tIns="63500" rIns="63500" bIns="63500" rtlCol="0" anchor="ctr"/>
          <a:lstStyle/>
          <a:p>
            <a:pPr indent="0" marL="0">
              <a:buNone/>
            </a:pPr>
            <a:r>
              <a:rPr lang="en-US" sz="1200" b="1" dirty="0">
                <a:solidFill>
                  <a:srgbClr val="062F67"/>
                </a:solidFill>
                <a:latin typeface="Calibri" pitchFamily="34" charset="0"/>
                <a:ea typeface="Calibri" pitchFamily="34" charset="-122"/>
                <a:cs typeface="Calibri" pitchFamily="34" charset="-120"/>
              </a:rPr>
              <a:t>term  </a:t>
            </a:r>
            <a:pPr indent="0" marL="0">
              <a:buNone/>
            </a:pPr>
            <a:r>
              <a:rPr lang="en-US" sz="1200" dirty="0">
                <a:solidFill>
                  <a:srgbClr val="111111"/>
                </a:solidFill>
                <a:latin typeface="Calibri" pitchFamily="34" charset="0"/>
                <a:ea typeface="Calibri" pitchFamily="34" charset="-122"/>
                <a:cs typeface="Calibri" pitchFamily="34" charset="-120"/>
              </a:rPr>
              <a:t>part of the school year</a:t>
            </a:r>
            <a:endParaRPr lang="en-US" sz="1200" dirty="0"/>
          </a:p>
        </p:txBody>
      </p:sp>
      <p:sp>
        <p:nvSpPr>
          <p:cNvPr id="45" name="R2_pit5"/>
          <p:cNvSpPr txBox="1"/>
          <p:nvPr/>
        </p:nvSpPr>
        <p:spPr>
          <a:xfrm>
            <a:off x="5943600" y="4343400"/>
            <a:ext cx="2880360" cy="237744"/>
          </a:xfrm>
          <a:prstGeom prst="rect">
            <a:avLst/>
          </a:prstGeom>
          <a:noFill/>
          <a:ln/>
        </p:spPr>
        <p:txBody>
          <a:bodyPr wrap="square" lIns="63500" tIns="63500" rIns="63500" bIns="63500" rtlCol="0" anchor="ctr"/>
          <a:lstStyle/>
          <a:p>
            <a:pPr indent="0" marL="0">
              <a:buNone/>
            </a:pPr>
            <a:r>
              <a:rPr lang="en-US" sz="700" i="1" dirty="0">
                <a:solidFill>
                  <a:srgbClr val="334155"/>
                </a:solidFill>
                <a:latin typeface="Calibri" pitchFamily="34" charset="0"/>
                <a:ea typeface="Calibri" pitchFamily="34" charset="-122"/>
                <a:cs typeface="Calibri" pitchFamily="34" charset="-120"/>
              </a:rPr>
              <a:t>trimestre</a:t>
            </a:r>
            <a:endParaRPr lang="en-US" sz="700" dirty="0"/>
          </a:p>
        </p:txBody>
      </p:sp>
      <p:sp>
        <p:nvSpPr>
          <p:cNvPr id="46" name="pageTag_96"/>
          <p:cNvSpPr txBox="1"/>
          <p:nvPr/>
        </p:nvSpPr>
        <p:spPr>
          <a:xfrm>
            <a:off x="320040" y="4773168"/>
            <a:ext cx="6766560" cy="237744"/>
          </a:xfrm>
          <a:prstGeom prst="rect">
            <a:avLst/>
          </a:prstGeom>
          <a:solidFill>
            <a:srgbClr val="FFFFFF"/>
          </a:solidFill>
          <a:ln/>
        </p:spPr>
        <p:txBody>
          <a:bodyPr wrap="square" lIns="25400" tIns="25400" rIns="25400" bIns="25400" rtlCol="0" anchor="ctr"/>
          <a:lstStyle/>
          <a:p>
            <a:pPr indent="0" marL="0">
              <a:buNone/>
            </a:pPr>
            <a:r>
              <a:rPr lang="en-US" sz="1000" dirty="0">
                <a:solidFill>
                  <a:srgbClr val="334155"/>
                </a:solidFill>
                <a:latin typeface="Calibri" pitchFamily="34" charset="0"/>
                <a:ea typeface="Calibri" pitchFamily="34" charset="-122"/>
                <a:cs typeface="Calibri" pitchFamily="34" charset="-120"/>
              </a:rPr>
              <a:t>📖 Teacher: Vocabulary Bank p.161 · Education</a:t>
            </a:r>
            <a:endParaRPr lang="en-US" sz="1000" dirty="0"/>
          </a:p>
        </p:txBody>
      </p:sp>
    </p:spTree>
  </p:cSld>
  <p:clrMapOvr>
    <a:masterClrMapping/>
  </p:clrMapOvr>
  <p:transition spd="med">
    <p:push dir="l"/>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fade">
                                      <p:cBhvr>
                                        <p:cTn id="7" dur="400"/>
                                        <p:tgtEl>
                                          <p:spTgt spid="12"/>
                                        </p:tgtEl>
                                      </p:cBhvr>
                                    </p:animEffect>
                                  </p:childTnLst>
                                </p:cTn>
                              </p:par>
                              <p:par>
                                <p:cTn id="8" presetID="10" presetClass="entr" presetSubtype="0" fill="hold" nodeType="withEffect">
                                  <p:stCondLst>
                                    <p:cond delay="0"/>
                                  </p:stCondLst>
                                  <p:childTnLst>
                                    <p:set>
                                      <p:cBhvr>
                                        <p:cTn id="9" dur="1" fill="hold">
                                          <p:stCondLst>
                                            <p:cond delay="0"/>
                                          </p:stCondLst>
                                        </p:cTn>
                                        <p:tgtEl>
                                          <p:spTgt spid="18"/>
                                        </p:tgtEl>
                                        <p:attrNameLst>
                                          <p:attrName>style.visibility</p:attrName>
                                        </p:attrNameLst>
                                      </p:cBhvr>
                                      <p:to>
                                        <p:strVal val="visible"/>
                                      </p:to>
                                    </p:set>
                                    <p:animEffect transition="in" filter="fade">
                                      <p:cBhvr>
                                        <p:cTn id="10" dur="400"/>
                                        <p:tgtEl>
                                          <p:spTgt spid="18"/>
                                        </p:tgtEl>
                                      </p:cBhvr>
                                    </p:animEffect>
                                  </p:childTnLst>
                                </p:cTn>
                              </p:par>
                              <p:par>
                                <p:cTn id="11" presetID="10" presetClass="entr" presetSubtype="0" fill="hold" nodeType="withEffect">
                                  <p:stCondLst>
                                    <p:cond delay="0"/>
                                  </p:stCondLst>
                                  <p:childTnLst>
                                    <p:set>
                                      <p:cBhvr>
                                        <p:cTn id="12" dur="1" fill="hold">
                                          <p:stCondLst>
                                            <p:cond delay="0"/>
                                          </p:stCondLst>
                                        </p:cTn>
                                        <p:tgtEl>
                                          <p:spTgt spid="24"/>
                                        </p:tgtEl>
                                        <p:attrNameLst>
                                          <p:attrName>style.visibility</p:attrName>
                                        </p:attrNameLst>
                                      </p:cBhvr>
                                      <p:to>
                                        <p:strVal val="visible"/>
                                      </p:to>
                                    </p:set>
                                    <p:animEffect transition="in" filter="fade">
                                      <p:cBhvr>
                                        <p:cTn id="13" dur="400"/>
                                        <p:tgtEl>
                                          <p:spTgt spid="24"/>
                                        </p:tgtEl>
                                      </p:cBhvr>
                                    </p:animEffect>
                                  </p:childTnLst>
                                </p:cTn>
                              </p:par>
                              <p:par>
                                <p:cTn id="14" presetID="10" presetClass="entr" presetSubtype="0" fill="hold" nodeType="withEffect">
                                  <p:stCondLst>
                                    <p:cond delay="0"/>
                                  </p:stCondLst>
                                  <p:childTnLst>
                                    <p:set>
                                      <p:cBhvr>
                                        <p:cTn id="15" dur="1" fill="hold">
                                          <p:stCondLst>
                                            <p:cond delay="0"/>
                                          </p:stCondLst>
                                        </p:cTn>
                                        <p:tgtEl>
                                          <p:spTgt spid="30"/>
                                        </p:tgtEl>
                                        <p:attrNameLst>
                                          <p:attrName>style.visibility</p:attrName>
                                        </p:attrNameLst>
                                      </p:cBhvr>
                                      <p:to>
                                        <p:strVal val="visible"/>
                                      </p:to>
                                    </p:set>
                                    <p:animEffect transition="in" filter="fade">
                                      <p:cBhvr>
                                        <p:cTn id="16" dur="400"/>
                                        <p:tgtEl>
                                          <p:spTgt spid="30"/>
                                        </p:tgtEl>
                                      </p:cBhvr>
                                    </p:animEffect>
                                  </p:childTnLst>
                                </p:cTn>
                              </p:par>
                            </p:childTnLst>
                          </p:cTn>
                        </p:par>
                      </p:childTnLst>
                    </p:cTn>
                  </p:par>
                  <p:par>
                    <p:cTn id="17" fill="hold">
                      <p:stCondLst>
                        <p:cond delay="indefinite"/>
                      </p:stCondLst>
                      <p:childTnLst>
                        <p:par>
                          <p:cTn id="18" fill="hold">
                            <p:stCondLst>
                              <p:cond delay="0"/>
                            </p:stCondLst>
                            <p:childTnLst>
                              <p:par>
                                <p:cTn id="19" presetID="10" presetClass="entr" presetSubtype="0" fill="hold" nodeType="clickEffect">
                                  <p:stCondLst>
                                    <p:cond delay="0"/>
                                  </p:stCondLst>
                                  <p:childTnLst>
                                    <p:set>
                                      <p:cBhvr>
                                        <p:cTn id="20" dur="1" fill="hold">
                                          <p:stCondLst>
                                            <p:cond delay="0"/>
                                          </p:stCondLst>
                                        </p:cTn>
                                        <p:tgtEl>
                                          <p:spTgt spid="35"/>
                                        </p:tgtEl>
                                        <p:attrNameLst>
                                          <p:attrName>style.visibility</p:attrName>
                                        </p:attrNameLst>
                                      </p:cBhvr>
                                      <p:to>
                                        <p:strVal val="visible"/>
                                      </p:to>
                                    </p:set>
                                    <p:animEffect transition="in" filter="fade">
                                      <p:cBhvr>
                                        <p:cTn id="21" dur="400"/>
                                        <p:tgtEl>
                                          <p:spTgt spid="35"/>
                                        </p:tgtEl>
                                      </p:cBhvr>
                                    </p:animEffect>
                                  </p:childTnLst>
                                </p:cTn>
                              </p:par>
                              <p:par>
                                <p:cTn id="22" presetID="10" presetClass="entr" presetSubtype="0" fill="hold" nodeType="withEffect">
                                  <p:stCondLst>
                                    <p:cond delay="0"/>
                                  </p:stCondLst>
                                  <p:childTnLst>
                                    <p:set>
                                      <p:cBhvr>
                                        <p:cTn id="23" dur="1" fill="hold">
                                          <p:stCondLst>
                                            <p:cond delay="0"/>
                                          </p:stCondLst>
                                        </p:cTn>
                                        <p:tgtEl>
                                          <p:spTgt spid="37"/>
                                        </p:tgtEl>
                                        <p:attrNameLst>
                                          <p:attrName>style.visibility</p:attrName>
                                        </p:attrNameLst>
                                      </p:cBhvr>
                                      <p:to>
                                        <p:strVal val="visible"/>
                                      </p:to>
                                    </p:set>
                                    <p:animEffect transition="in" filter="fade">
                                      <p:cBhvr>
                                        <p:cTn id="24" dur="400"/>
                                        <p:tgtEl>
                                          <p:spTgt spid="37"/>
                                        </p:tgtEl>
                                      </p:cBhvr>
                                    </p:animEffect>
                                  </p:childTnLst>
                                </p:cTn>
                              </p:par>
                              <p:par>
                                <p:cTn id="25" presetID="10" presetClass="entr" presetSubtype="0" fill="hold" nodeType="withEffect">
                                  <p:stCondLst>
                                    <p:cond delay="0"/>
                                  </p:stCondLst>
                                  <p:childTnLst>
                                    <p:set>
                                      <p:cBhvr>
                                        <p:cTn id="26" dur="1" fill="hold">
                                          <p:stCondLst>
                                            <p:cond delay="0"/>
                                          </p:stCondLst>
                                        </p:cTn>
                                        <p:tgtEl>
                                          <p:spTgt spid="39"/>
                                        </p:tgtEl>
                                        <p:attrNameLst>
                                          <p:attrName>style.visibility</p:attrName>
                                        </p:attrNameLst>
                                      </p:cBhvr>
                                      <p:to>
                                        <p:strVal val="visible"/>
                                      </p:to>
                                    </p:set>
                                    <p:animEffect transition="in" filter="fade">
                                      <p:cBhvr>
                                        <p:cTn id="27" dur="400"/>
                                        <p:tgtEl>
                                          <p:spTgt spid="39"/>
                                        </p:tgtEl>
                                      </p:cBhvr>
                                    </p:animEffect>
                                  </p:childTnLst>
                                </p:cTn>
                              </p:par>
                              <p:par>
                                <p:cTn id="28" presetID="10" presetClass="entr" presetSubtype="0" fill="hold" nodeType="withEffect">
                                  <p:stCondLst>
                                    <p:cond delay="0"/>
                                  </p:stCondLst>
                                  <p:childTnLst>
                                    <p:set>
                                      <p:cBhvr>
                                        <p:cTn id="29" dur="1" fill="hold">
                                          <p:stCondLst>
                                            <p:cond delay="0"/>
                                          </p:stCondLst>
                                        </p:cTn>
                                        <p:tgtEl>
                                          <p:spTgt spid="41"/>
                                        </p:tgtEl>
                                        <p:attrNameLst>
                                          <p:attrName>style.visibility</p:attrName>
                                        </p:attrNameLst>
                                      </p:cBhvr>
                                      <p:to>
                                        <p:strVal val="visible"/>
                                      </p:to>
                                    </p:set>
                                    <p:animEffect transition="in" filter="fade">
                                      <p:cBhvr>
                                        <p:cTn id="30" dur="400"/>
                                        <p:tgtEl>
                                          <p:spTgt spid="41"/>
                                        </p:tgtEl>
                                      </p:cBhvr>
                                    </p:animEffect>
                                  </p:childTnLst>
                                </p:cTn>
                              </p:par>
                              <p:par>
                                <p:cTn id="31" presetID="10" presetClass="entr" presetSubtype="0" fill="hold" nodeType="withEffect">
                                  <p:stCondLst>
                                    <p:cond delay="0"/>
                                  </p:stCondLst>
                                  <p:childTnLst>
                                    <p:set>
                                      <p:cBhvr>
                                        <p:cTn id="32" dur="1" fill="hold">
                                          <p:stCondLst>
                                            <p:cond delay="0"/>
                                          </p:stCondLst>
                                        </p:cTn>
                                        <p:tgtEl>
                                          <p:spTgt spid="43"/>
                                        </p:tgtEl>
                                        <p:attrNameLst>
                                          <p:attrName>style.visibility</p:attrName>
                                        </p:attrNameLst>
                                      </p:cBhvr>
                                      <p:to>
                                        <p:strVal val="visible"/>
                                      </p:to>
                                    </p:set>
                                    <p:animEffect transition="in" filter="fade">
                                      <p:cBhvr>
                                        <p:cTn id="33" dur="400"/>
                                        <p:tgtEl>
                                          <p:spTgt spid="43"/>
                                        </p:tgtEl>
                                      </p:cBhvr>
                                    </p:animEffect>
                                  </p:childTnLst>
                                </p:cTn>
                              </p:par>
                              <p:par>
                                <p:cTn id="34" presetID="10" presetClass="entr" presetSubtype="0" fill="hold" nodeType="withEffect">
                                  <p:stCondLst>
                                    <p:cond delay="0"/>
                                  </p:stCondLst>
                                  <p:childTnLst>
                                    <p:set>
                                      <p:cBhvr>
                                        <p:cTn id="35" dur="1" fill="hold">
                                          <p:stCondLst>
                                            <p:cond delay="0"/>
                                          </p:stCondLst>
                                        </p:cTn>
                                        <p:tgtEl>
                                          <p:spTgt spid="45"/>
                                        </p:tgtEl>
                                        <p:attrNameLst>
                                          <p:attrName>style.visibility</p:attrName>
                                        </p:attrNameLst>
                                      </p:cBhvr>
                                      <p:to>
                                        <p:strVal val="visible"/>
                                      </p:to>
                                    </p:set>
                                    <p:animEffect transition="in" filter="fade">
                                      <p:cBhvr>
                                        <p:cTn id="36" dur="400"/>
                                        <p:tgtEl>
                                          <p:spTgt spid="4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name="Slide 5">
    <p:bg>
      <p:bgPr>
        <a:blipFill dpi="0" rotWithShape="1">
          <a:blip r:embed="rId1">
            <a:lum/>
          </a:blip>
          <a:srcRect/>
          <a:stretch>
            <a:fillRect/>
          </a:stretch>
        </a:blipFill>
        <a:effectLst/>
      </p:bgPr>
    </p:bg>
    <p:spTree>
      <p:nvGrpSpPr>
        <p:cNvPr id="2" name=""/>
        <p:cNvGrpSpPr/>
        <p:nvPr/>
      </p:nvGrpSpPr>
      <p:grpSpPr>
        <a:xfrm>
          <a:off x="0" y="0"/>
          <a:ext cx="0" cy="0"/>
          <a:chOff x="0" y="0"/>
          <a:chExt cx="0" cy="0"/>
        </a:xfrm>
      </p:grpSpPr>
      <p:sp>
        <p:nvSpPr>
          <p:cNvPr id="3" name="levelFrame_97"/>
          <p:cNvSpPr/>
          <p:nvPr/>
        </p:nvSpPr>
        <p:spPr>
          <a:xfrm>
            <a:off x="54864" y="54864"/>
            <a:ext cx="9034272" cy="5033772"/>
          </a:xfrm>
          <a:prstGeom prst="rect">
            <a:avLst/>
          </a:prstGeom>
          <a:ln w="114300">
            <a:solidFill>
              <a:srgbClr val="A8E6B4"/>
            </a:solidFill>
            <a:prstDash val="solid"/>
          </a:ln>
        </p:spPr>
      </p:sp>
      <p:pic>
        <p:nvPicPr>
          <p:cNvPr id="4" name="logo_98" descr="London Language School logo">    </p:cNvPr>
          <p:cNvPicPr>
            <a:picLocks noChangeAspect="1"/>
          </p:cNvPicPr>
          <p:nvPr/>
        </p:nvPicPr>
        <p:blipFill>
          <a:blip r:embed="rId2"/>
          <a:stretch>
            <a:fillRect/>
          </a:stretch>
        </p:blipFill>
        <p:spPr>
          <a:xfrm>
            <a:off x="8275320" y="182880"/>
            <a:ext cx="585216" cy="585216"/>
          </a:xfrm>
          <a:prstGeom prst="rect">
            <a:avLst/>
          </a:prstGeom>
        </p:spPr>
      </p:pic>
      <p:sp>
        <p:nvSpPr>
          <p:cNvPr id="5" name="objective_99"/>
          <p:cNvSpPr txBox="1"/>
          <p:nvPr/>
        </p:nvSpPr>
        <p:spPr>
          <a:xfrm>
            <a:off x="320040" y="182880"/>
            <a:ext cx="4206240" cy="365760"/>
          </a:xfrm>
          <a:prstGeom prst="roundRect">
            <a:avLst>
              <a:gd name="adj" fmla="val 20000"/>
            </a:avLst>
          </a:prstGeom>
          <a:solidFill>
            <a:srgbClr val="062F67"/>
          </a:solidFill>
          <a:ln w="31750">
            <a:solidFill>
              <a:srgbClr val="111111"/>
            </a:solidFill>
          </a:ln>
        </p:spPr>
        <p:txBody>
          <a:bodyPr wrap="square" lIns="101600" tIns="101600" rIns="101600" bIns="101600" rtlCol="0" anchor="ctr"/>
          <a:lstStyle/>
          <a:p>
            <a:pPr indent="0" marL="0">
              <a:buNone/>
            </a:pPr>
            <a:r>
              <a:rPr lang="en-US" sz="900" dirty="0">
                <a:solidFill>
                  <a:srgbClr val="FFFFFF"/>
                </a:solidFill>
                <a:latin typeface="Arial Black" pitchFamily="34" charset="0"/>
                <a:ea typeface="Arial Black" pitchFamily="34" charset="-122"/>
                <a:cs typeface="Arial Black" pitchFamily="34" charset="-120"/>
              </a:rPr>
              <a:t>PRONUNCIATION · The letter u</a:t>
            </a:r>
            <a:endParaRPr lang="en-US" sz="900" dirty="0"/>
          </a:p>
        </p:txBody>
      </p:sp>
      <p:sp>
        <p:nvSpPr>
          <p:cNvPr id="6" name="footer_100"/>
          <p:cNvSpPr txBox="1"/>
          <p:nvPr/>
        </p:nvSpPr>
        <p:spPr>
          <a:xfrm>
            <a:off x="7315200" y="4818888"/>
            <a:ext cx="1554480" cy="219456"/>
          </a:xfrm>
          <a:prstGeom prst="rect">
            <a:avLst/>
          </a:prstGeom>
          <a:solidFill>
            <a:srgbClr val="FFFFFF"/>
          </a:solidFill>
          <a:ln/>
        </p:spPr>
        <p:txBody>
          <a:bodyPr wrap="square" lIns="0" tIns="0" rIns="0" bIns="0" rtlCol="0" anchor="ctr"/>
          <a:lstStyle/>
          <a:p>
            <a:pPr algn="ctr" indent="0" marL="0">
              <a:buNone/>
            </a:pPr>
            <a:r>
              <a:rPr lang="en-US" sz="1000" dirty="0">
                <a:solidFill>
                  <a:srgbClr val="334155"/>
                </a:solidFill>
                <a:latin typeface="Calibri" pitchFamily="34" charset="0"/>
                <a:ea typeface="Calibri" pitchFamily="34" charset="-122"/>
                <a:cs typeface="Calibri" pitchFamily="34" charset="-120"/>
              </a:rPr>
              <a:t>7A · Part 1</a:t>
            </a:r>
            <a:endParaRPr lang="en-US" sz="1000" dirty="0"/>
          </a:p>
        </p:txBody>
      </p:sp>
      <p:sp>
        <p:nvSpPr>
          <p:cNvPr id="7" name="title_101"/>
          <p:cNvSpPr txBox="1"/>
          <p:nvPr/>
        </p:nvSpPr>
        <p:spPr>
          <a:xfrm rot="-120000">
            <a:off x="320040" y="658368"/>
            <a:ext cx="5020056" cy="548640"/>
          </a:xfrm>
          <a:prstGeom prst="rect">
            <a:avLst/>
          </a:prstGeom>
          <a:solidFill>
            <a:srgbClr val="FFD84D"/>
          </a:solidFill>
          <a:ln w="31750">
            <a:solidFill>
              <a:srgbClr val="111111"/>
            </a:solidFill>
          </a:ln>
          <a:effectLst>
            <a:outerShdw sx="100000" sy="100000" kx="0" ky="0" algn="bl" rotWithShape="0" blurRad="101600" dist="38100" dir="2700000">
              <a:srgbClr val="000000">
                <a:alpha val="35000"/>
              </a:srgbClr>
            </a:outerShdw>
          </a:effectLst>
        </p:spPr>
        <p:txBody>
          <a:bodyPr wrap="square" lIns="127000" tIns="127000" rIns="127000" bIns="127000" rtlCol="0" anchor="ctr"/>
          <a:lstStyle/>
          <a:p>
            <a:pPr indent="0" marL="0">
              <a:buNone/>
            </a:pPr>
            <a:r>
              <a:rPr lang="en-US" sz="1600" dirty="0">
                <a:solidFill>
                  <a:srgbClr val="111111"/>
                </a:solidFill>
                <a:latin typeface="Arial Black" pitchFamily="34" charset="0"/>
                <a:ea typeface="Arial Black" pitchFamily="34" charset="-122"/>
                <a:cs typeface="Arial Black" pitchFamily="34" charset="-120"/>
              </a:rPr>
              <a:t>Four sounds, one letter: u</a:t>
            </a:r>
            <a:endParaRPr lang="en-US" sz="1600" dirty="0"/>
          </a:p>
        </p:txBody>
      </p:sp>
      <p:sp>
        <p:nvSpPr>
          <p:cNvPr id="8" name="stamp_102"/>
          <p:cNvSpPr txBox="1"/>
          <p:nvPr/>
        </p:nvSpPr>
        <p:spPr>
          <a:xfrm>
            <a:off x="365760" y="1371600"/>
            <a:ext cx="1920240" cy="457200"/>
          </a:xfrm>
          <a:prstGeom prst="roundRect">
            <a:avLst>
              <a:gd name="adj" fmla="val 12000"/>
            </a:avLst>
          </a:prstGeom>
          <a:solidFill>
            <a:srgbClr val="FFFFFF"/>
          </a:solidFill>
          <a:ln w="38100">
            <a:solidFill>
              <a:srgbClr val="48BDF2"/>
            </a:solidFill>
          </a:ln>
        </p:spPr>
        <p:txBody>
          <a:bodyPr wrap="square" lIns="25400" tIns="25400" rIns="25400" bIns="25400" rtlCol="0" anchor="ctr"/>
          <a:lstStyle/>
          <a:p>
            <a:pPr algn="ctr" indent="0" marL="0">
              <a:buNone/>
            </a:pPr>
            <a:r>
              <a:rPr lang="en-US" sz="1800" dirty="0">
                <a:solidFill>
                  <a:srgbClr val="48BDF2"/>
                </a:solidFill>
                <a:latin typeface="Arial Black" pitchFamily="34" charset="0"/>
                <a:ea typeface="Arial Black" pitchFamily="34" charset="-122"/>
                <a:cs typeface="Arial Black" pitchFamily="34" charset="-120"/>
              </a:rPr>
              <a:t>/juː/</a:t>
            </a:r>
            <a:endParaRPr lang="en-US" sz="1800" dirty="0"/>
          </a:p>
        </p:txBody>
      </p:sp>
      <p:sp>
        <p:nvSpPr>
          <p:cNvPr id="9" name="iconBack_103"/>
          <p:cNvSpPr/>
          <p:nvPr/>
        </p:nvSpPr>
        <p:spPr>
          <a:xfrm>
            <a:off x="457200" y="1810512"/>
            <a:ext cx="329184" cy="329184"/>
          </a:xfrm>
          <a:prstGeom prst="ellipse">
            <a:avLst/>
          </a:prstGeom>
          <a:solidFill>
            <a:srgbClr val="FFFFFF"/>
          </a:solidFill>
          <a:ln w="31750">
            <a:solidFill>
              <a:srgbClr val="111111"/>
            </a:solidFill>
            <a:prstDash val="solid"/>
          </a:ln>
          <a:effectLst>
            <a:outerShdw sx="100000" sy="100000" kx="0" ky="0" algn="bl" rotWithShape="0" blurRad="101600" dist="38100" dir="2700000">
              <a:srgbClr val="000000">
                <a:alpha val="35000"/>
              </a:srgbClr>
            </a:outerShdw>
          </a:effectLst>
        </p:spPr>
      </p:sp>
      <p:pic>
        <p:nvPicPr>
          <p:cNvPr id="10" name="icon_104" descr="uniform">    </p:cNvPr>
          <p:cNvPicPr>
            <a:picLocks noChangeAspect="1"/>
          </p:cNvPicPr>
          <p:nvPr/>
        </p:nvPicPr>
        <p:blipFill>
          <a:blip r:embed="rId3"/>
          <a:stretch>
            <a:fillRect/>
          </a:stretch>
        </p:blipFill>
        <p:spPr>
          <a:xfrm>
            <a:off x="523037" y="1876349"/>
            <a:ext cx="197510" cy="197510"/>
          </a:xfrm>
          <a:prstGeom prst="rect">
            <a:avLst/>
          </a:prstGeom>
        </p:spPr>
      </p:pic>
      <p:sp>
        <p:nvSpPr>
          <p:cNvPr id="11" name="ex_105"/>
          <p:cNvSpPr txBox="1"/>
          <p:nvPr/>
        </p:nvSpPr>
        <p:spPr>
          <a:xfrm>
            <a:off x="365760" y="1847088"/>
            <a:ext cx="1920240" cy="274320"/>
          </a:xfrm>
          <a:prstGeom prst="rect">
            <a:avLst/>
          </a:prstGeom>
          <a:noFill/>
          <a:ln/>
        </p:spPr>
        <p:txBody>
          <a:bodyPr wrap="square" rtlCol="0" anchor="ctr"/>
          <a:lstStyle/>
          <a:p>
            <a:pPr algn="ctr" indent="0" marL="0">
              <a:buNone/>
            </a:pPr>
            <a:r>
              <a:rPr lang="en-US" sz="1100" i="1" dirty="0">
                <a:solidFill>
                  <a:srgbClr val="334155"/>
                </a:solidFill>
                <a:latin typeface="Calibri" pitchFamily="34" charset="0"/>
                <a:ea typeface="Calibri" pitchFamily="34" charset="-122"/>
                <a:cs typeface="Calibri" pitchFamily="34" charset="-120"/>
              </a:rPr>
              <a:t>uniform</a:t>
            </a:r>
            <a:endParaRPr lang="en-US" sz="1100" dirty="0"/>
          </a:p>
        </p:txBody>
      </p:sp>
      <p:sp>
        <p:nvSpPr>
          <p:cNvPr id="12" name="R1_col0"/>
          <p:cNvSpPr txBox="1"/>
          <p:nvPr/>
        </p:nvSpPr>
        <p:spPr>
          <a:xfrm>
            <a:off x="365760" y="2194560"/>
            <a:ext cx="1920240" cy="1463040"/>
          </a:xfrm>
          <a:prstGeom prst="rect">
            <a:avLst/>
          </a:prstGeom>
          <a:solidFill>
            <a:srgbClr val="FFFFFF"/>
          </a:solidFill>
          <a:ln w="25400">
            <a:solidFill>
              <a:srgbClr val="48BDF2"/>
            </a:solidFill>
          </a:ln>
        </p:spPr>
        <p:txBody>
          <a:bodyPr wrap="square" lIns="76200" tIns="76200" rIns="76200" bIns="76200" rtlCol="0" anchor="t"/>
          <a:lstStyle/>
          <a:p>
            <a:pPr algn="ctr" indent="0" marL="0">
              <a:buNone/>
            </a:pPr>
            <a:r>
              <a:rPr lang="en-US" sz="1500" dirty="0">
                <a:solidFill>
                  <a:srgbClr val="111111"/>
                </a:solidFill>
                <a:latin typeface="Calibri" pitchFamily="34" charset="0"/>
                <a:ea typeface="Calibri" pitchFamily="34" charset="-122"/>
                <a:cs typeface="Calibri" pitchFamily="34" charset="-120"/>
              </a:rPr>
              <a:t>education</a:t>
            </a:r>
            <a:endParaRPr lang="en-US" sz="1500" dirty="0"/>
          </a:p>
          <a:p>
            <a:pPr algn="ctr" indent="0" marL="0">
              <a:buNone/>
            </a:pPr>
            <a:r>
              <a:rPr lang="en-US" sz="1500" dirty="0">
                <a:solidFill>
                  <a:srgbClr val="111111"/>
                </a:solidFill>
                <a:latin typeface="Calibri" pitchFamily="34" charset="0"/>
                <a:ea typeface="Calibri" pitchFamily="34" charset="-122"/>
                <a:cs typeface="Calibri" pitchFamily="34" charset="-120"/>
              </a:rPr>
              <a:t>music</a:t>
            </a:r>
            <a:endParaRPr lang="en-US" sz="1500" dirty="0"/>
          </a:p>
          <a:p>
            <a:pPr algn="ctr" indent="0" marL="0">
              <a:buNone/>
            </a:pPr>
            <a:r>
              <a:rPr lang="en-US" sz="1500" dirty="0">
                <a:solidFill>
                  <a:srgbClr val="111111"/>
                </a:solidFill>
                <a:latin typeface="Calibri" pitchFamily="34" charset="0"/>
                <a:ea typeface="Calibri" pitchFamily="34" charset="-122"/>
                <a:cs typeface="Calibri" pitchFamily="34" charset="-120"/>
              </a:rPr>
              <a:t>pupil</a:t>
            </a:r>
            <a:endParaRPr lang="en-US" sz="1500" dirty="0"/>
          </a:p>
          <a:p>
            <a:pPr algn="ctr" indent="0" marL="0">
              <a:buNone/>
            </a:pPr>
            <a:r>
              <a:rPr lang="en-US" sz="1500" dirty="0">
                <a:solidFill>
                  <a:srgbClr val="111111"/>
                </a:solidFill>
                <a:latin typeface="Calibri" pitchFamily="34" charset="0"/>
                <a:ea typeface="Calibri" pitchFamily="34" charset="-122"/>
                <a:cs typeface="Calibri" pitchFamily="34" charset="-120"/>
              </a:rPr>
              <a:t>student</a:t>
            </a:r>
            <a:endParaRPr lang="en-US" sz="1500" dirty="0"/>
          </a:p>
          <a:p>
            <a:pPr algn="ctr" indent="0" marL="0">
              <a:buNone/>
            </a:pPr>
            <a:r>
              <a:rPr lang="en-US" sz="1500" dirty="0">
                <a:solidFill>
                  <a:srgbClr val="111111"/>
                </a:solidFill>
                <a:latin typeface="Calibri" pitchFamily="34" charset="0"/>
                <a:ea typeface="Calibri" pitchFamily="34" charset="-122"/>
                <a:cs typeface="Calibri" pitchFamily="34" charset="-120"/>
              </a:rPr>
              <a:t>university</a:t>
            </a:r>
            <a:endParaRPr lang="en-US" sz="1500" dirty="0"/>
          </a:p>
        </p:txBody>
      </p:sp>
      <p:sp>
        <p:nvSpPr>
          <p:cNvPr id="13" name="stamp_106"/>
          <p:cNvSpPr txBox="1"/>
          <p:nvPr/>
        </p:nvSpPr>
        <p:spPr>
          <a:xfrm>
            <a:off x="2514600" y="1371600"/>
            <a:ext cx="1920240" cy="457200"/>
          </a:xfrm>
          <a:prstGeom prst="roundRect">
            <a:avLst>
              <a:gd name="adj" fmla="val 12000"/>
            </a:avLst>
          </a:prstGeom>
          <a:solidFill>
            <a:srgbClr val="FFFFFF"/>
          </a:solidFill>
          <a:ln w="38100">
            <a:solidFill>
              <a:srgbClr val="1FA463"/>
            </a:solidFill>
          </a:ln>
        </p:spPr>
        <p:txBody>
          <a:bodyPr wrap="square" lIns="25400" tIns="25400" rIns="25400" bIns="25400" rtlCol="0" anchor="ctr"/>
          <a:lstStyle/>
          <a:p>
            <a:pPr algn="ctr" indent="0" marL="0">
              <a:buNone/>
            </a:pPr>
            <a:r>
              <a:rPr lang="en-US" sz="1800" dirty="0">
                <a:solidFill>
                  <a:srgbClr val="1FA463"/>
                </a:solidFill>
                <a:latin typeface="Arial Black" pitchFamily="34" charset="0"/>
                <a:ea typeface="Arial Black" pitchFamily="34" charset="-122"/>
                <a:cs typeface="Arial Black" pitchFamily="34" charset="-120"/>
              </a:rPr>
              <a:t>/ʌ/</a:t>
            </a:r>
            <a:endParaRPr lang="en-US" sz="1800" dirty="0"/>
          </a:p>
        </p:txBody>
      </p:sp>
      <p:sp>
        <p:nvSpPr>
          <p:cNvPr id="14" name="iconBack_107"/>
          <p:cNvSpPr/>
          <p:nvPr/>
        </p:nvSpPr>
        <p:spPr>
          <a:xfrm>
            <a:off x="2606040" y="1810512"/>
            <a:ext cx="329184" cy="329184"/>
          </a:xfrm>
          <a:prstGeom prst="ellipse">
            <a:avLst/>
          </a:prstGeom>
          <a:solidFill>
            <a:srgbClr val="FFFFFF"/>
          </a:solidFill>
          <a:ln w="31750">
            <a:solidFill>
              <a:srgbClr val="111111"/>
            </a:solidFill>
            <a:prstDash val="solid"/>
          </a:ln>
          <a:effectLst>
            <a:outerShdw sx="100000" sy="100000" kx="0" ky="0" algn="bl" rotWithShape="0" blurRad="101600" dist="38100" dir="2700000">
              <a:srgbClr val="000000">
                <a:alpha val="35000"/>
              </a:srgbClr>
            </a:outerShdw>
          </a:effectLst>
        </p:spPr>
      </p:sp>
      <p:pic>
        <p:nvPicPr>
          <p:cNvPr id="15" name="icon_108" descr="lunch">    </p:cNvPr>
          <p:cNvPicPr>
            <a:picLocks noChangeAspect="1"/>
          </p:cNvPicPr>
          <p:nvPr/>
        </p:nvPicPr>
        <p:blipFill>
          <a:blip r:embed="rId4"/>
          <a:stretch>
            <a:fillRect/>
          </a:stretch>
        </p:blipFill>
        <p:spPr>
          <a:xfrm>
            <a:off x="2671877" y="1876349"/>
            <a:ext cx="197510" cy="197510"/>
          </a:xfrm>
          <a:prstGeom prst="rect">
            <a:avLst/>
          </a:prstGeom>
        </p:spPr>
      </p:pic>
      <p:sp>
        <p:nvSpPr>
          <p:cNvPr id="16" name="ex_109"/>
          <p:cNvSpPr txBox="1"/>
          <p:nvPr/>
        </p:nvSpPr>
        <p:spPr>
          <a:xfrm>
            <a:off x="2514600" y="1847088"/>
            <a:ext cx="1920240" cy="274320"/>
          </a:xfrm>
          <a:prstGeom prst="rect">
            <a:avLst/>
          </a:prstGeom>
          <a:noFill/>
          <a:ln/>
        </p:spPr>
        <p:txBody>
          <a:bodyPr wrap="square" rtlCol="0" anchor="ctr"/>
          <a:lstStyle/>
          <a:p>
            <a:pPr algn="ctr" indent="0" marL="0">
              <a:buNone/>
            </a:pPr>
            <a:r>
              <a:rPr lang="en-US" sz="1100" i="1" dirty="0">
                <a:solidFill>
                  <a:srgbClr val="334155"/>
                </a:solidFill>
                <a:latin typeface="Calibri" pitchFamily="34" charset="0"/>
                <a:ea typeface="Calibri" pitchFamily="34" charset="-122"/>
                <a:cs typeface="Calibri" pitchFamily="34" charset="-120"/>
              </a:rPr>
              <a:t>lunch</a:t>
            </a:r>
            <a:endParaRPr lang="en-US" sz="1100" dirty="0"/>
          </a:p>
        </p:txBody>
      </p:sp>
      <p:sp>
        <p:nvSpPr>
          <p:cNvPr id="17" name="R1_col1"/>
          <p:cNvSpPr txBox="1"/>
          <p:nvPr/>
        </p:nvSpPr>
        <p:spPr>
          <a:xfrm>
            <a:off x="2514600" y="2194560"/>
            <a:ext cx="1920240" cy="1463040"/>
          </a:xfrm>
          <a:prstGeom prst="rect">
            <a:avLst/>
          </a:prstGeom>
          <a:solidFill>
            <a:srgbClr val="FFFFFF"/>
          </a:solidFill>
          <a:ln w="25400">
            <a:solidFill>
              <a:srgbClr val="1FA463"/>
            </a:solidFill>
          </a:ln>
        </p:spPr>
        <p:txBody>
          <a:bodyPr wrap="square" lIns="76200" tIns="76200" rIns="76200" bIns="76200" rtlCol="0" anchor="t"/>
          <a:lstStyle/>
          <a:p>
            <a:pPr algn="ctr" indent="0" marL="0">
              <a:buNone/>
            </a:pPr>
            <a:r>
              <a:rPr lang="en-US" sz="1500" dirty="0">
                <a:solidFill>
                  <a:srgbClr val="111111"/>
                </a:solidFill>
                <a:latin typeface="Calibri" pitchFamily="34" charset="0"/>
                <a:ea typeface="Calibri" pitchFamily="34" charset="-122"/>
                <a:cs typeface="Calibri" pitchFamily="34" charset="-120"/>
              </a:rPr>
              <a:t>lunch</a:t>
            </a:r>
            <a:endParaRPr lang="en-US" sz="1500" dirty="0"/>
          </a:p>
          <a:p>
            <a:pPr algn="ctr" indent="0" marL="0">
              <a:buNone/>
            </a:pPr>
            <a:r>
              <a:rPr lang="en-US" sz="1500" dirty="0">
                <a:solidFill>
                  <a:srgbClr val="111111"/>
                </a:solidFill>
                <a:latin typeface="Calibri" pitchFamily="34" charset="0"/>
                <a:ea typeface="Calibri" pitchFamily="34" charset="-122"/>
                <a:cs typeface="Calibri" pitchFamily="34" charset="-120"/>
              </a:rPr>
              <a:t>result</a:t>
            </a:r>
            <a:endParaRPr lang="en-US" sz="1500" dirty="0"/>
          </a:p>
          <a:p>
            <a:pPr algn="ctr" indent="0" marL="0">
              <a:buNone/>
            </a:pPr>
            <a:r>
              <a:rPr lang="en-US" sz="1500" dirty="0">
                <a:solidFill>
                  <a:srgbClr val="111111"/>
                </a:solidFill>
                <a:latin typeface="Calibri" pitchFamily="34" charset="0"/>
                <a:ea typeface="Calibri" pitchFamily="34" charset="-122"/>
                <a:cs typeface="Calibri" pitchFamily="34" charset="-120"/>
              </a:rPr>
              <a:t>study</a:t>
            </a:r>
            <a:endParaRPr lang="en-US" sz="1500" dirty="0"/>
          </a:p>
          <a:p>
            <a:pPr algn="ctr" indent="0" marL="0">
              <a:buNone/>
            </a:pPr>
            <a:r>
              <a:rPr lang="en-US" sz="1500" dirty="0">
                <a:solidFill>
                  <a:srgbClr val="111111"/>
                </a:solidFill>
                <a:latin typeface="Calibri" pitchFamily="34" charset="0"/>
                <a:ea typeface="Calibri" pitchFamily="34" charset="-122"/>
                <a:cs typeface="Calibri" pitchFamily="34" charset="-120"/>
              </a:rPr>
              <a:t>subject</a:t>
            </a:r>
            <a:endParaRPr lang="en-US" sz="1500" dirty="0"/>
          </a:p>
        </p:txBody>
      </p:sp>
      <p:sp>
        <p:nvSpPr>
          <p:cNvPr id="18" name="stamp_110"/>
          <p:cNvSpPr txBox="1"/>
          <p:nvPr/>
        </p:nvSpPr>
        <p:spPr>
          <a:xfrm>
            <a:off x="4663440" y="1371600"/>
            <a:ext cx="1920240" cy="457200"/>
          </a:xfrm>
          <a:prstGeom prst="roundRect">
            <a:avLst>
              <a:gd name="adj" fmla="val 12000"/>
            </a:avLst>
          </a:prstGeom>
          <a:solidFill>
            <a:srgbClr val="FFFFFF"/>
          </a:solidFill>
          <a:ln w="38100">
            <a:solidFill>
              <a:srgbClr val="F59E0B"/>
            </a:solidFill>
          </a:ln>
        </p:spPr>
        <p:txBody>
          <a:bodyPr wrap="square" lIns="25400" tIns="25400" rIns="25400" bIns="25400" rtlCol="0" anchor="ctr"/>
          <a:lstStyle/>
          <a:p>
            <a:pPr algn="ctr" indent="0" marL="0">
              <a:buNone/>
            </a:pPr>
            <a:r>
              <a:rPr lang="en-US" sz="1800" dirty="0">
                <a:solidFill>
                  <a:srgbClr val="F59E0B"/>
                </a:solidFill>
                <a:latin typeface="Arial Black" pitchFamily="34" charset="0"/>
                <a:ea typeface="Arial Black" pitchFamily="34" charset="-122"/>
                <a:cs typeface="Arial Black" pitchFamily="34" charset="-120"/>
              </a:rPr>
              <a:t>/uː/</a:t>
            </a:r>
            <a:endParaRPr lang="en-US" sz="1800" dirty="0"/>
          </a:p>
        </p:txBody>
      </p:sp>
      <p:sp>
        <p:nvSpPr>
          <p:cNvPr id="19" name="iconBack_111"/>
          <p:cNvSpPr/>
          <p:nvPr/>
        </p:nvSpPr>
        <p:spPr>
          <a:xfrm>
            <a:off x="4754880" y="1810512"/>
            <a:ext cx="329184" cy="329184"/>
          </a:xfrm>
          <a:prstGeom prst="ellipse">
            <a:avLst/>
          </a:prstGeom>
          <a:solidFill>
            <a:srgbClr val="FFFFFF"/>
          </a:solidFill>
          <a:ln w="31750">
            <a:solidFill>
              <a:srgbClr val="111111"/>
            </a:solidFill>
            <a:prstDash val="solid"/>
          </a:ln>
          <a:effectLst>
            <a:outerShdw sx="100000" sy="100000" kx="0" ky="0" algn="bl" rotWithShape="0" blurRad="101600" dist="38100" dir="2700000">
              <a:srgbClr val="000000">
                <a:alpha val="35000"/>
              </a:srgbClr>
            </a:outerShdw>
          </a:effectLst>
        </p:spPr>
      </p:sp>
      <p:pic>
        <p:nvPicPr>
          <p:cNvPr id="20" name="icon_112" descr="blue">    </p:cNvPr>
          <p:cNvPicPr>
            <a:picLocks noChangeAspect="1"/>
          </p:cNvPicPr>
          <p:nvPr/>
        </p:nvPicPr>
        <p:blipFill>
          <a:blip r:embed="rId5"/>
          <a:stretch>
            <a:fillRect/>
          </a:stretch>
        </p:blipFill>
        <p:spPr>
          <a:xfrm>
            <a:off x="4820717" y="1876349"/>
            <a:ext cx="197510" cy="197510"/>
          </a:xfrm>
          <a:prstGeom prst="rect">
            <a:avLst/>
          </a:prstGeom>
        </p:spPr>
      </p:pic>
      <p:sp>
        <p:nvSpPr>
          <p:cNvPr id="21" name="ex_113"/>
          <p:cNvSpPr txBox="1"/>
          <p:nvPr/>
        </p:nvSpPr>
        <p:spPr>
          <a:xfrm>
            <a:off x="4663440" y="1847088"/>
            <a:ext cx="1920240" cy="274320"/>
          </a:xfrm>
          <a:prstGeom prst="rect">
            <a:avLst/>
          </a:prstGeom>
          <a:noFill/>
          <a:ln/>
        </p:spPr>
        <p:txBody>
          <a:bodyPr wrap="square" rtlCol="0" anchor="ctr"/>
          <a:lstStyle/>
          <a:p>
            <a:pPr algn="ctr" indent="0" marL="0">
              <a:buNone/>
            </a:pPr>
            <a:r>
              <a:rPr lang="en-US" sz="1100" i="1" dirty="0">
                <a:solidFill>
                  <a:srgbClr val="334155"/>
                </a:solidFill>
                <a:latin typeface="Calibri" pitchFamily="34" charset="0"/>
                <a:ea typeface="Calibri" pitchFamily="34" charset="-122"/>
                <a:cs typeface="Calibri" pitchFamily="34" charset="-120"/>
              </a:rPr>
              <a:t>blue</a:t>
            </a:r>
            <a:endParaRPr lang="en-US" sz="1100" dirty="0"/>
          </a:p>
        </p:txBody>
      </p:sp>
      <p:sp>
        <p:nvSpPr>
          <p:cNvPr id="22" name="R1_col2"/>
          <p:cNvSpPr txBox="1"/>
          <p:nvPr/>
        </p:nvSpPr>
        <p:spPr>
          <a:xfrm>
            <a:off x="4663440" y="2194560"/>
            <a:ext cx="1920240" cy="1463040"/>
          </a:xfrm>
          <a:prstGeom prst="rect">
            <a:avLst/>
          </a:prstGeom>
          <a:solidFill>
            <a:srgbClr val="FFFFFF"/>
          </a:solidFill>
          <a:ln w="25400">
            <a:solidFill>
              <a:srgbClr val="F59E0B"/>
            </a:solidFill>
          </a:ln>
        </p:spPr>
        <p:txBody>
          <a:bodyPr wrap="square" lIns="76200" tIns="76200" rIns="76200" bIns="76200" rtlCol="0" anchor="t"/>
          <a:lstStyle/>
          <a:p>
            <a:pPr algn="ctr" indent="0" marL="0">
              <a:buNone/>
            </a:pPr>
            <a:r>
              <a:rPr lang="en-US" sz="1500" dirty="0">
                <a:solidFill>
                  <a:srgbClr val="111111"/>
                </a:solidFill>
                <a:latin typeface="Calibri" pitchFamily="34" charset="0"/>
                <a:ea typeface="Calibri" pitchFamily="34" charset="-122"/>
                <a:cs typeface="Calibri" pitchFamily="34" charset="-120"/>
              </a:rPr>
              <a:t>rude</a:t>
            </a:r>
            <a:endParaRPr lang="en-US" sz="1500" dirty="0"/>
          </a:p>
          <a:p>
            <a:pPr algn="ctr" indent="0" marL="0">
              <a:buNone/>
            </a:pPr>
            <a:r>
              <a:rPr lang="en-US" sz="1500" dirty="0">
                <a:solidFill>
                  <a:srgbClr val="111111"/>
                </a:solidFill>
                <a:latin typeface="Calibri" pitchFamily="34" charset="0"/>
                <a:ea typeface="Calibri" pitchFamily="34" charset="-122"/>
                <a:cs typeface="Calibri" pitchFamily="34" charset="-120"/>
              </a:rPr>
              <a:t>rules</a:t>
            </a:r>
            <a:endParaRPr lang="en-US" sz="1500" dirty="0"/>
          </a:p>
          <a:p>
            <a:pPr algn="ctr" indent="0" marL="0">
              <a:buNone/>
            </a:pPr>
            <a:r>
              <a:rPr lang="en-US" sz="1500" dirty="0">
                <a:solidFill>
                  <a:srgbClr val="111111"/>
                </a:solidFill>
                <a:latin typeface="Calibri" pitchFamily="34" charset="0"/>
                <a:ea typeface="Calibri" pitchFamily="34" charset="-122"/>
                <a:cs typeface="Calibri" pitchFamily="34" charset="-120"/>
              </a:rPr>
              <a:t>true</a:t>
            </a:r>
            <a:endParaRPr lang="en-US" sz="1500" dirty="0"/>
          </a:p>
        </p:txBody>
      </p:sp>
      <p:sp>
        <p:nvSpPr>
          <p:cNvPr id="23" name="stamp_114"/>
          <p:cNvSpPr txBox="1"/>
          <p:nvPr/>
        </p:nvSpPr>
        <p:spPr>
          <a:xfrm>
            <a:off x="6812280" y="1371600"/>
            <a:ext cx="1920240" cy="457200"/>
          </a:xfrm>
          <a:prstGeom prst="roundRect">
            <a:avLst>
              <a:gd name="adj" fmla="val 12000"/>
            </a:avLst>
          </a:prstGeom>
          <a:solidFill>
            <a:srgbClr val="FFFFFF"/>
          </a:solidFill>
          <a:ln w="38100">
            <a:solidFill>
              <a:srgbClr val="EF2F2F"/>
            </a:solidFill>
          </a:ln>
        </p:spPr>
        <p:txBody>
          <a:bodyPr wrap="square" lIns="25400" tIns="25400" rIns="25400" bIns="25400" rtlCol="0" anchor="ctr"/>
          <a:lstStyle/>
          <a:p>
            <a:pPr algn="ctr" indent="0" marL="0">
              <a:buNone/>
            </a:pPr>
            <a:r>
              <a:rPr lang="en-US" sz="1800" dirty="0">
                <a:solidFill>
                  <a:srgbClr val="EF2F2F"/>
                </a:solidFill>
                <a:latin typeface="Arial Black" pitchFamily="34" charset="0"/>
                <a:ea typeface="Arial Black" pitchFamily="34" charset="-122"/>
                <a:cs typeface="Arial Black" pitchFamily="34" charset="-120"/>
              </a:rPr>
              <a:t>/ʊ/</a:t>
            </a:r>
            <a:endParaRPr lang="en-US" sz="1800" dirty="0"/>
          </a:p>
        </p:txBody>
      </p:sp>
      <p:sp>
        <p:nvSpPr>
          <p:cNvPr id="24" name="iconBack_115"/>
          <p:cNvSpPr/>
          <p:nvPr/>
        </p:nvSpPr>
        <p:spPr>
          <a:xfrm>
            <a:off x="6903720" y="1810512"/>
            <a:ext cx="329184" cy="329184"/>
          </a:xfrm>
          <a:prstGeom prst="ellipse">
            <a:avLst/>
          </a:prstGeom>
          <a:solidFill>
            <a:srgbClr val="FFFFFF"/>
          </a:solidFill>
          <a:ln w="31750">
            <a:solidFill>
              <a:srgbClr val="111111"/>
            </a:solidFill>
            <a:prstDash val="solid"/>
          </a:ln>
          <a:effectLst>
            <a:outerShdw sx="100000" sy="100000" kx="0" ky="0" algn="bl" rotWithShape="0" blurRad="101600" dist="38100" dir="2700000">
              <a:srgbClr val="000000">
                <a:alpha val="35000"/>
              </a:srgbClr>
            </a:outerShdw>
          </a:effectLst>
        </p:spPr>
      </p:sp>
      <p:pic>
        <p:nvPicPr>
          <p:cNvPr id="25" name="icon_116" descr="put">    </p:cNvPr>
          <p:cNvPicPr>
            <a:picLocks noChangeAspect="1"/>
          </p:cNvPicPr>
          <p:nvPr/>
        </p:nvPicPr>
        <p:blipFill>
          <a:blip r:embed="rId6"/>
          <a:stretch>
            <a:fillRect/>
          </a:stretch>
        </p:blipFill>
        <p:spPr>
          <a:xfrm>
            <a:off x="6969557" y="1876349"/>
            <a:ext cx="197510" cy="197510"/>
          </a:xfrm>
          <a:prstGeom prst="rect">
            <a:avLst/>
          </a:prstGeom>
        </p:spPr>
      </p:pic>
      <p:sp>
        <p:nvSpPr>
          <p:cNvPr id="26" name="ex_117"/>
          <p:cNvSpPr txBox="1"/>
          <p:nvPr/>
        </p:nvSpPr>
        <p:spPr>
          <a:xfrm>
            <a:off x="6812280" y="1847088"/>
            <a:ext cx="1920240" cy="274320"/>
          </a:xfrm>
          <a:prstGeom prst="rect">
            <a:avLst/>
          </a:prstGeom>
          <a:noFill/>
          <a:ln/>
        </p:spPr>
        <p:txBody>
          <a:bodyPr wrap="square" rtlCol="0" anchor="ctr"/>
          <a:lstStyle/>
          <a:p>
            <a:pPr algn="ctr" indent="0" marL="0">
              <a:buNone/>
            </a:pPr>
            <a:r>
              <a:rPr lang="en-US" sz="1100" i="1" dirty="0">
                <a:solidFill>
                  <a:srgbClr val="334155"/>
                </a:solidFill>
                <a:latin typeface="Calibri" pitchFamily="34" charset="0"/>
                <a:ea typeface="Calibri" pitchFamily="34" charset="-122"/>
                <a:cs typeface="Calibri" pitchFamily="34" charset="-120"/>
              </a:rPr>
              <a:t>put</a:t>
            </a:r>
            <a:endParaRPr lang="en-US" sz="1100" dirty="0"/>
          </a:p>
        </p:txBody>
      </p:sp>
      <p:sp>
        <p:nvSpPr>
          <p:cNvPr id="27" name="R1_col3"/>
          <p:cNvSpPr txBox="1"/>
          <p:nvPr/>
        </p:nvSpPr>
        <p:spPr>
          <a:xfrm>
            <a:off x="6812280" y="2194560"/>
            <a:ext cx="1920240" cy="1463040"/>
          </a:xfrm>
          <a:prstGeom prst="rect">
            <a:avLst/>
          </a:prstGeom>
          <a:solidFill>
            <a:srgbClr val="FFFFFF"/>
          </a:solidFill>
          <a:ln w="25400">
            <a:solidFill>
              <a:srgbClr val="EF2F2F"/>
            </a:solidFill>
          </a:ln>
        </p:spPr>
        <p:txBody>
          <a:bodyPr wrap="square" lIns="76200" tIns="76200" rIns="76200" bIns="76200" rtlCol="0" anchor="t"/>
          <a:lstStyle/>
          <a:p>
            <a:pPr algn="ctr" indent="0" marL="0">
              <a:buNone/>
            </a:pPr>
            <a:r>
              <a:rPr lang="en-US" sz="1500" dirty="0">
                <a:solidFill>
                  <a:srgbClr val="111111"/>
                </a:solidFill>
                <a:latin typeface="Calibri" pitchFamily="34" charset="0"/>
                <a:ea typeface="Calibri" pitchFamily="34" charset="-122"/>
                <a:cs typeface="Calibri" pitchFamily="34" charset="-120"/>
              </a:rPr>
              <a:t>full</a:t>
            </a:r>
            <a:endParaRPr lang="en-US" sz="1500" dirty="0"/>
          </a:p>
          <a:p>
            <a:pPr algn="ctr" indent="0" marL="0">
              <a:buNone/>
            </a:pPr>
            <a:r>
              <a:rPr lang="en-US" sz="1500" dirty="0">
                <a:solidFill>
                  <a:srgbClr val="111111"/>
                </a:solidFill>
                <a:latin typeface="Calibri" pitchFamily="34" charset="0"/>
                <a:ea typeface="Calibri" pitchFamily="34" charset="-122"/>
                <a:cs typeface="Calibri" pitchFamily="34" charset="-120"/>
              </a:rPr>
              <a:t>put</a:t>
            </a:r>
            <a:endParaRPr lang="en-US" sz="1500" dirty="0"/>
          </a:p>
        </p:txBody>
      </p:sp>
      <p:sp>
        <p:nvSpPr>
          <p:cNvPr id="28" name="words_118"/>
          <p:cNvSpPr txBox="1"/>
          <p:nvPr/>
        </p:nvSpPr>
        <p:spPr>
          <a:xfrm rot="-60000">
            <a:off x="365760" y="3794760"/>
            <a:ext cx="8412480" cy="457200"/>
          </a:xfrm>
          <a:prstGeom prst="rect">
            <a:avLst/>
          </a:prstGeom>
          <a:solidFill>
            <a:srgbClr val="FFD84D"/>
          </a:solidFill>
          <a:ln w="31750">
            <a:solidFill>
              <a:srgbClr val="111111"/>
            </a:solidFill>
          </a:ln>
        </p:spPr>
        <p:txBody>
          <a:bodyPr wrap="square" rtlCol="0" anchor="ctr"/>
          <a:lstStyle/>
          <a:p>
            <a:pPr algn="ctr" indent="0" marL="0">
              <a:buNone/>
            </a:pPr>
            <a:r>
              <a:rPr lang="en-US" sz="1200" b="1" dirty="0">
                <a:solidFill>
                  <a:srgbClr val="111111"/>
                </a:solidFill>
                <a:latin typeface="Calibri" pitchFamily="34" charset="0"/>
                <a:ea typeface="Calibri" pitchFamily="34" charset="-122"/>
                <a:cs typeface="Calibri" pitchFamily="34" charset="-120"/>
              </a:rPr>
              <a:t>education · full · lunch · music · pupil · put · result · rude · rules · student · study · subject · true · university</a:t>
            </a:r>
            <a:endParaRPr lang="en-US" sz="1200" dirty="0"/>
          </a:p>
        </p:txBody>
      </p:sp>
      <p:sp>
        <p:nvSpPr>
          <p:cNvPr id="29" name="instr_119"/>
          <p:cNvSpPr txBox="1"/>
          <p:nvPr/>
        </p:nvSpPr>
        <p:spPr>
          <a:xfrm>
            <a:off x="365760" y="4315968"/>
            <a:ext cx="8412480" cy="274320"/>
          </a:xfrm>
          <a:prstGeom prst="rect">
            <a:avLst/>
          </a:prstGeom>
          <a:noFill/>
          <a:ln/>
        </p:spPr>
        <p:txBody>
          <a:bodyPr wrap="square" rtlCol="0" anchor="ctr"/>
          <a:lstStyle/>
          <a:p>
            <a:pPr algn="ctr" indent="0" marL="0">
              <a:buNone/>
            </a:pPr>
            <a:r>
              <a:rPr lang="en-US" sz="1200" dirty="0">
                <a:solidFill>
                  <a:srgbClr val="334155"/>
                </a:solidFill>
                <a:latin typeface="Calibri" pitchFamily="34" charset="0"/>
                <a:ea typeface="Calibri" pitchFamily="34" charset="-122"/>
                <a:cs typeface="Calibri" pitchFamily="34" charset="-120"/>
              </a:rPr>
              <a:t>Put the words in the right column.  ·  Metti le parole nella colonna giusta.</a:t>
            </a:r>
            <a:endParaRPr lang="en-US" sz="1200" dirty="0"/>
          </a:p>
        </p:txBody>
      </p:sp>
      <p:sp>
        <p:nvSpPr>
          <p:cNvPr id="30" name="pageTag_120"/>
          <p:cNvSpPr txBox="1"/>
          <p:nvPr/>
        </p:nvSpPr>
        <p:spPr>
          <a:xfrm>
            <a:off x="320040" y="4773168"/>
            <a:ext cx="6766560" cy="237744"/>
          </a:xfrm>
          <a:prstGeom prst="rect">
            <a:avLst/>
          </a:prstGeom>
          <a:solidFill>
            <a:srgbClr val="FFFFFF"/>
          </a:solidFill>
          <a:ln/>
        </p:spPr>
        <p:txBody>
          <a:bodyPr wrap="square" lIns="25400" tIns="25400" rIns="25400" bIns="25400" rtlCol="0" anchor="ctr"/>
          <a:lstStyle/>
          <a:p>
            <a:pPr indent="0" marL="0">
              <a:buNone/>
            </a:pPr>
            <a:r>
              <a:rPr lang="en-US" sz="1000" dirty="0">
                <a:solidFill>
                  <a:srgbClr val="334155"/>
                </a:solidFill>
                <a:latin typeface="Calibri" pitchFamily="34" charset="0"/>
                <a:ea typeface="Calibri" pitchFamily="34" charset="-122"/>
                <a:cs typeface="Calibri" pitchFamily="34" charset="-120"/>
              </a:rPr>
              <a:t>📖 Teacher: Student's Book p.66 · 2a–c · audio 7.5–7.6</a:t>
            </a:r>
            <a:endParaRPr lang="en-US" sz="1000" dirty="0"/>
          </a:p>
        </p:txBody>
      </p:sp>
    </p:spTree>
  </p:cSld>
  <p:clrMapOvr>
    <a:masterClrMapping/>
  </p:clrMapOvr>
  <p:transition spd="med">
    <p:push dir="l"/>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fade">
                                      <p:cBhvr>
                                        <p:cTn id="7" dur="400"/>
                                        <p:tgtEl>
                                          <p:spTgt spid="12"/>
                                        </p:tgtEl>
                                      </p:cBhvr>
                                    </p:animEffect>
                                  </p:childTnLst>
                                </p:cTn>
                              </p:par>
                              <p:par>
                                <p:cTn id="8" presetID="10" presetClass="entr" presetSubtype="0" fill="hold" nodeType="withEffect">
                                  <p:stCondLst>
                                    <p:cond delay="0"/>
                                  </p:stCondLst>
                                  <p:childTnLst>
                                    <p:set>
                                      <p:cBhvr>
                                        <p:cTn id="9" dur="1" fill="hold">
                                          <p:stCondLst>
                                            <p:cond delay="0"/>
                                          </p:stCondLst>
                                        </p:cTn>
                                        <p:tgtEl>
                                          <p:spTgt spid="17"/>
                                        </p:tgtEl>
                                        <p:attrNameLst>
                                          <p:attrName>style.visibility</p:attrName>
                                        </p:attrNameLst>
                                      </p:cBhvr>
                                      <p:to>
                                        <p:strVal val="visible"/>
                                      </p:to>
                                    </p:set>
                                    <p:animEffect transition="in" filter="fade">
                                      <p:cBhvr>
                                        <p:cTn id="10" dur="400"/>
                                        <p:tgtEl>
                                          <p:spTgt spid="17"/>
                                        </p:tgtEl>
                                      </p:cBhvr>
                                    </p:animEffect>
                                  </p:childTnLst>
                                </p:cTn>
                              </p:par>
                              <p:par>
                                <p:cTn id="11" presetID="10" presetClass="entr" presetSubtype="0" fill="hold" nodeType="withEffect">
                                  <p:stCondLst>
                                    <p:cond delay="0"/>
                                  </p:stCondLst>
                                  <p:childTnLst>
                                    <p:set>
                                      <p:cBhvr>
                                        <p:cTn id="12" dur="1" fill="hold">
                                          <p:stCondLst>
                                            <p:cond delay="0"/>
                                          </p:stCondLst>
                                        </p:cTn>
                                        <p:tgtEl>
                                          <p:spTgt spid="22"/>
                                        </p:tgtEl>
                                        <p:attrNameLst>
                                          <p:attrName>style.visibility</p:attrName>
                                        </p:attrNameLst>
                                      </p:cBhvr>
                                      <p:to>
                                        <p:strVal val="visible"/>
                                      </p:to>
                                    </p:set>
                                    <p:animEffect transition="in" filter="fade">
                                      <p:cBhvr>
                                        <p:cTn id="13" dur="400"/>
                                        <p:tgtEl>
                                          <p:spTgt spid="22"/>
                                        </p:tgtEl>
                                      </p:cBhvr>
                                    </p:animEffect>
                                  </p:childTnLst>
                                </p:cTn>
                              </p:par>
                              <p:par>
                                <p:cTn id="14" presetID="10" presetClass="entr" presetSubtype="0" fill="hold" nodeType="withEffect">
                                  <p:stCondLst>
                                    <p:cond delay="0"/>
                                  </p:stCondLst>
                                  <p:childTnLst>
                                    <p:set>
                                      <p:cBhvr>
                                        <p:cTn id="15" dur="1" fill="hold">
                                          <p:stCondLst>
                                            <p:cond delay="0"/>
                                          </p:stCondLst>
                                        </p:cTn>
                                        <p:tgtEl>
                                          <p:spTgt spid="27"/>
                                        </p:tgtEl>
                                        <p:attrNameLst>
                                          <p:attrName>style.visibility</p:attrName>
                                        </p:attrNameLst>
                                      </p:cBhvr>
                                      <p:to>
                                        <p:strVal val="visible"/>
                                      </p:to>
                                    </p:set>
                                    <p:animEffect transition="in" filter="fade">
                                      <p:cBhvr>
                                        <p:cTn id="16" dur="400"/>
                                        <p:tgtEl>
                                          <p:spTgt spid="2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name="Slide 6">
    <p:bg>
      <p:bgPr>
        <a:blipFill dpi="0" rotWithShape="1">
          <a:blip r:embed="rId1">
            <a:lum/>
          </a:blip>
          <a:srcRect/>
          <a:stretch>
            <a:fillRect/>
          </a:stretch>
        </a:blipFill>
        <a:effectLst/>
      </p:bgPr>
    </p:bg>
    <p:spTree>
      <p:nvGrpSpPr>
        <p:cNvPr id="2" name=""/>
        <p:cNvGrpSpPr/>
        <p:nvPr/>
      </p:nvGrpSpPr>
      <p:grpSpPr>
        <a:xfrm>
          <a:off x="0" y="0"/>
          <a:ext cx="0" cy="0"/>
          <a:chOff x="0" y="0"/>
          <a:chExt cx="0" cy="0"/>
        </a:xfrm>
      </p:grpSpPr>
      <p:sp>
        <p:nvSpPr>
          <p:cNvPr id="3" name="levelFrame_121"/>
          <p:cNvSpPr/>
          <p:nvPr/>
        </p:nvSpPr>
        <p:spPr>
          <a:xfrm>
            <a:off x="54864" y="54864"/>
            <a:ext cx="9034272" cy="5033772"/>
          </a:xfrm>
          <a:prstGeom prst="rect">
            <a:avLst/>
          </a:prstGeom>
          <a:ln w="114300">
            <a:solidFill>
              <a:srgbClr val="A8E6B4"/>
            </a:solidFill>
            <a:prstDash val="solid"/>
          </a:ln>
        </p:spPr>
      </p:sp>
      <p:pic>
        <p:nvPicPr>
          <p:cNvPr id="4" name="logo_122" descr="London Language School logo">    </p:cNvPr>
          <p:cNvPicPr>
            <a:picLocks noChangeAspect="1"/>
          </p:cNvPicPr>
          <p:nvPr/>
        </p:nvPicPr>
        <p:blipFill>
          <a:blip r:embed="rId2"/>
          <a:stretch>
            <a:fillRect/>
          </a:stretch>
        </p:blipFill>
        <p:spPr>
          <a:xfrm>
            <a:off x="8275320" y="182880"/>
            <a:ext cx="585216" cy="585216"/>
          </a:xfrm>
          <a:prstGeom prst="rect">
            <a:avLst/>
          </a:prstGeom>
        </p:spPr>
      </p:pic>
      <p:sp>
        <p:nvSpPr>
          <p:cNvPr id="5" name="objective_123"/>
          <p:cNvSpPr txBox="1"/>
          <p:nvPr/>
        </p:nvSpPr>
        <p:spPr>
          <a:xfrm>
            <a:off x="320040" y="182880"/>
            <a:ext cx="4206240" cy="365760"/>
          </a:xfrm>
          <a:prstGeom prst="roundRect">
            <a:avLst>
              <a:gd name="adj" fmla="val 20000"/>
            </a:avLst>
          </a:prstGeom>
          <a:solidFill>
            <a:srgbClr val="062F67"/>
          </a:solidFill>
          <a:ln w="31750">
            <a:solidFill>
              <a:srgbClr val="111111"/>
            </a:solidFill>
          </a:ln>
        </p:spPr>
        <p:txBody>
          <a:bodyPr wrap="square" lIns="101600" tIns="101600" rIns="101600" bIns="101600" rtlCol="0" anchor="ctr"/>
          <a:lstStyle/>
          <a:p>
            <a:pPr indent="0" marL="0">
              <a:buNone/>
            </a:pPr>
            <a:r>
              <a:rPr lang="en-US" sz="900" dirty="0">
                <a:solidFill>
                  <a:srgbClr val="FFFFFF"/>
                </a:solidFill>
                <a:latin typeface="Arial Black" pitchFamily="34" charset="0"/>
                <a:ea typeface="Arial Black" pitchFamily="34" charset="-122"/>
                <a:cs typeface="Arial Black" pitchFamily="34" charset="-120"/>
              </a:rPr>
              <a:t>SPEAKING · Your education</a:t>
            </a:r>
            <a:endParaRPr lang="en-US" sz="900" dirty="0"/>
          </a:p>
        </p:txBody>
      </p:sp>
      <p:sp>
        <p:nvSpPr>
          <p:cNvPr id="6" name="footer_124"/>
          <p:cNvSpPr txBox="1"/>
          <p:nvPr/>
        </p:nvSpPr>
        <p:spPr>
          <a:xfrm>
            <a:off x="7315200" y="4818888"/>
            <a:ext cx="1554480" cy="219456"/>
          </a:xfrm>
          <a:prstGeom prst="rect">
            <a:avLst/>
          </a:prstGeom>
          <a:solidFill>
            <a:srgbClr val="FFFFFF"/>
          </a:solidFill>
          <a:ln/>
        </p:spPr>
        <p:txBody>
          <a:bodyPr wrap="square" lIns="0" tIns="0" rIns="0" bIns="0" rtlCol="0" anchor="ctr"/>
          <a:lstStyle/>
          <a:p>
            <a:pPr algn="ctr" indent="0" marL="0">
              <a:buNone/>
            </a:pPr>
            <a:r>
              <a:rPr lang="en-US" sz="1000" dirty="0">
                <a:solidFill>
                  <a:srgbClr val="334155"/>
                </a:solidFill>
                <a:latin typeface="Calibri" pitchFamily="34" charset="0"/>
                <a:ea typeface="Calibri" pitchFamily="34" charset="-122"/>
                <a:cs typeface="Calibri" pitchFamily="34" charset="-120"/>
              </a:rPr>
              <a:t>7A · Part 1</a:t>
            </a:r>
            <a:endParaRPr lang="en-US" sz="1000" dirty="0"/>
          </a:p>
        </p:txBody>
      </p:sp>
      <p:sp>
        <p:nvSpPr>
          <p:cNvPr id="7" name="title_125"/>
          <p:cNvSpPr txBox="1"/>
          <p:nvPr/>
        </p:nvSpPr>
        <p:spPr>
          <a:xfrm rot="-120000">
            <a:off x="320040" y="658368"/>
            <a:ext cx="5020056" cy="548640"/>
          </a:xfrm>
          <a:prstGeom prst="rect">
            <a:avLst/>
          </a:prstGeom>
          <a:solidFill>
            <a:srgbClr val="FFD84D"/>
          </a:solidFill>
          <a:ln w="31750">
            <a:solidFill>
              <a:srgbClr val="111111"/>
            </a:solidFill>
          </a:ln>
          <a:effectLst>
            <a:outerShdw sx="100000" sy="100000" kx="0" ky="0" algn="bl" rotWithShape="0" blurRad="101600" dist="38100" dir="2700000">
              <a:srgbClr val="000000">
                <a:alpha val="35000"/>
              </a:srgbClr>
            </a:outerShdw>
          </a:effectLst>
        </p:spPr>
        <p:txBody>
          <a:bodyPr wrap="square" lIns="127000" tIns="127000" rIns="127000" bIns="127000" rtlCol="0" anchor="ctr"/>
          <a:lstStyle/>
          <a:p>
            <a:pPr indent="0" marL="0">
              <a:buNone/>
            </a:pPr>
            <a:r>
              <a:rPr lang="en-US" sz="1600" dirty="0">
                <a:solidFill>
                  <a:srgbClr val="111111"/>
                </a:solidFill>
                <a:latin typeface="Arial Black" pitchFamily="34" charset="0"/>
                <a:ea typeface="Arial Black" pitchFamily="34" charset="-122"/>
                <a:cs typeface="Arial Black" pitchFamily="34" charset="-120"/>
              </a:rPr>
              <a:t>Your education: interview!</a:t>
            </a:r>
            <a:endParaRPr lang="en-US" sz="1600" dirty="0"/>
          </a:p>
        </p:txBody>
      </p:sp>
      <p:sp>
        <p:nvSpPr>
          <p:cNvPr id="8" name="post_126"/>
          <p:cNvSpPr/>
          <p:nvPr/>
        </p:nvSpPr>
        <p:spPr>
          <a:xfrm>
            <a:off x="429768" y="1554480"/>
            <a:ext cx="128016" cy="2651760"/>
          </a:xfrm>
          <a:prstGeom prst="rect">
            <a:avLst/>
          </a:prstGeom>
          <a:solidFill>
            <a:srgbClr val="8B5A2B"/>
          </a:solidFill>
          <a:ln w="31750">
            <a:solidFill>
              <a:srgbClr val="111111"/>
            </a:solidFill>
            <a:prstDash val="solid"/>
          </a:ln>
        </p:spPr>
      </p:sp>
      <p:sp>
        <p:nvSpPr>
          <p:cNvPr id="9" name="signA_127"/>
          <p:cNvSpPr txBox="1"/>
          <p:nvPr/>
        </p:nvSpPr>
        <p:spPr>
          <a:xfrm rot="-180000">
            <a:off x="320040" y="1371600"/>
            <a:ext cx="2103120" cy="457200"/>
          </a:xfrm>
          <a:prstGeom prst="homePlate">
            <a:avLst/>
          </a:prstGeom>
          <a:solidFill>
            <a:srgbClr val="1FA463"/>
          </a:solidFill>
          <a:ln w="31750">
            <a:solidFill>
              <a:srgbClr val="111111"/>
            </a:solidFill>
          </a:ln>
          <a:effectLst>
            <a:outerShdw sx="100000" sy="100000" kx="0" ky="0" algn="bl" rotWithShape="0" blurRad="101600" dist="38100" dir="2700000">
              <a:srgbClr val="000000">
                <a:alpha val="35000"/>
              </a:srgbClr>
            </a:outerShdw>
          </a:effectLst>
        </p:spPr>
        <p:txBody>
          <a:bodyPr wrap="square" lIns="76200" tIns="76200" rIns="76200" bIns="76200" rtlCol="0" anchor="ctr"/>
          <a:lstStyle/>
          <a:p>
            <a:pPr indent="0" marL="0">
              <a:buNone/>
            </a:pPr>
            <a:r>
              <a:rPr lang="en-US" sz="1600" b="1" dirty="0">
                <a:solidFill>
                  <a:srgbClr val="FFFFFF"/>
                </a:solidFill>
                <a:latin typeface="Arial Black" pitchFamily="34" charset="0"/>
                <a:ea typeface="Arial Black" pitchFamily="34" charset="-122"/>
                <a:cs typeface="Arial Black" pitchFamily="34" charset="-120"/>
              </a:rPr>
              <a:t>SPEAK!</a:t>
            </a:r>
            <a:pPr indent="0" marL="0">
              <a:buNone/>
            </a:pPr>
            <a:r>
              <a:rPr lang="en-US" sz="1100" dirty="0">
                <a:solidFill>
                  <a:srgbClr val="FFF3B0"/>
                </a:solidFill>
                <a:latin typeface="Arial Black" pitchFamily="34" charset="0"/>
                <a:ea typeface="Arial Black" pitchFamily="34" charset="-122"/>
                <a:cs typeface="Arial Black" pitchFamily="34" charset="-120"/>
              </a:rPr>
              <a:t>  PARLA!</a:t>
            </a:r>
            <a:endParaRPr lang="en-US" sz="1600" dirty="0"/>
          </a:p>
        </p:txBody>
      </p:sp>
      <p:sp>
        <p:nvSpPr>
          <p:cNvPr id="10" name="signB_128"/>
          <p:cNvSpPr txBox="1"/>
          <p:nvPr/>
        </p:nvSpPr>
        <p:spPr>
          <a:xfrm rot="120000">
            <a:off x="365760" y="1938528"/>
            <a:ext cx="2377440" cy="868680"/>
          </a:xfrm>
          <a:prstGeom prst="rect">
            <a:avLst/>
          </a:prstGeom>
          <a:solidFill>
            <a:srgbClr val="FFFFFF"/>
          </a:solidFill>
          <a:ln w="31750">
            <a:solidFill>
              <a:srgbClr val="111111"/>
            </a:solidFill>
          </a:ln>
        </p:spPr>
        <p:txBody>
          <a:bodyPr wrap="square" lIns="76200" tIns="76200" rIns="76200" bIns="76200" rtlCol="0" anchor="ctr"/>
          <a:lstStyle/>
          <a:p>
            <a:pPr indent="0" marL="0">
              <a:buNone/>
            </a:pPr>
            <a:r>
              <a:rPr lang="en-US" sz="1150" dirty="0">
                <a:solidFill>
                  <a:srgbClr val="111111"/>
                </a:solidFill>
                <a:latin typeface="Calibri" pitchFamily="34" charset="0"/>
                <a:ea typeface="Calibri" pitchFamily="34" charset="-122"/>
                <a:cs typeface="Calibri" pitchFamily="34" charset="-120"/>
              </a:rPr>
              <a:t>Interview your partner. Ask for more information.</a:t>
            </a:r>
            <a:endParaRPr lang="en-US" sz="1150" dirty="0"/>
          </a:p>
          <a:p>
            <a:pPr indent="0" marL="0">
              <a:buNone/>
            </a:pPr>
            <a:r>
              <a:rPr lang="en-US" sz="1100" i="1" dirty="0">
                <a:solidFill>
                  <a:srgbClr val="334155"/>
                </a:solidFill>
                <a:latin typeface="Calibri" pitchFamily="34" charset="0"/>
                <a:ea typeface="Calibri" pitchFamily="34" charset="-122"/>
                <a:cs typeface="Calibri" pitchFamily="34" charset="-120"/>
              </a:rPr>
              <a:t>Intervista il compagno. Chiedi più dettagli.</a:t>
            </a:r>
            <a:endParaRPr lang="en-US" sz="1150" dirty="0"/>
          </a:p>
        </p:txBody>
      </p:sp>
      <p:sp>
        <p:nvSpPr>
          <p:cNvPr id="11" name="R1_b1"/>
          <p:cNvSpPr txBox="1"/>
          <p:nvPr/>
        </p:nvSpPr>
        <p:spPr>
          <a:xfrm>
            <a:off x="2926080" y="1325880"/>
            <a:ext cx="2880360" cy="1325880"/>
          </a:xfrm>
          <a:prstGeom prst="wedgeRectCallout">
            <a:avLst/>
          </a:prstGeom>
          <a:solidFill>
            <a:srgbClr val="E0F2FE"/>
          </a:solidFill>
          <a:ln w="31750">
            <a:solidFill>
              <a:srgbClr val="111111"/>
            </a:solidFill>
          </a:ln>
          <a:effectLst>
            <a:outerShdw sx="100000" sy="100000" kx="0" ky="0" algn="bl" rotWithShape="0" blurRad="101600" dist="38100" dir="2700000">
              <a:srgbClr val="000000">
                <a:alpha val="35000"/>
              </a:srgbClr>
            </a:outerShdw>
          </a:effectLst>
        </p:spPr>
        <p:txBody>
          <a:bodyPr wrap="square" lIns="76200" tIns="76200" rIns="76200" bIns="76200" rtlCol="0" anchor="ctr"/>
          <a:lstStyle/>
          <a:p>
            <a:pPr algn="l" indent="0" marL="0">
              <a:buNone/>
            </a:pPr>
            <a:r>
              <a:rPr lang="en-US" sz="1250" dirty="0">
                <a:solidFill>
                  <a:srgbClr val="111111"/>
                </a:solidFill>
                <a:latin typeface="Calibri" pitchFamily="34" charset="0"/>
                <a:ea typeface="Calibri" pitchFamily="34" charset="-122"/>
                <a:cs typeface="Calibri" pitchFamily="34" charset="-120"/>
              </a:rPr>
              <a:t>YOUR SCHOOL</a:t>
            </a:r>
            <a:endParaRPr lang="en-US" sz="1250" dirty="0"/>
          </a:p>
          <a:p>
            <a:pPr algn="l" indent="0" marL="0">
              <a:buNone/>
            </a:pPr>
            <a:r>
              <a:rPr lang="en-US" sz="1250" dirty="0">
                <a:solidFill>
                  <a:srgbClr val="111111"/>
                </a:solidFill>
                <a:latin typeface="Calibri" pitchFamily="34" charset="0"/>
                <a:ea typeface="Calibri" pitchFamily="34" charset="-122"/>
                <a:cs typeface="Calibri" pitchFamily="34" charset="-120"/>
              </a:rPr>
              <a:t>What kind of secondary school did you go to?</a:t>
            </a:r>
            <a:endParaRPr lang="en-US" sz="1250" dirty="0"/>
          </a:p>
          <a:p>
            <a:pPr algn="l" indent="0" marL="0">
              <a:buNone/>
            </a:pPr>
            <a:r>
              <a:rPr lang="en-US" sz="1250" dirty="0">
                <a:solidFill>
                  <a:srgbClr val="111111"/>
                </a:solidFill>
                <a:latin typeface="Calibri" pitchFamily="34" charset="0"/>
                <a:ea typeface="Calibri" pitchFamily="34" charset="-122"/>
                <a:cs typeface="Calibri" pitchFamily="34" charset="-120"/>
              </a:rPr>
              <a:t>Did you like it?</a:t>
            </a:r>
            <a:endParaRPr lang="en-US" sz="1250" dirty="0"/>
          </a:p>
          <a:p>
            <a:pPr algn="l" indent="0" marL="0">
              <a:buNone/>
            </a:pPr>
            <a:r>
              <a:rPr lang="en-US" sz="1250" dirty="0">
                <a:solidFill>
                  <a:srgbClr val="111111"/>
                </a:solidFill>
                <a:latin typeface="Calibri" pitchFamily="34" charset="0"/>
                <a:ea typeface="Calibri" pitchFamily="34" charset="-122"/>
                <a:cs typeface="Calibri" pitchFamily="34" charset="-120"/>
              </a:rPr>
              <a:t>What time did your school day start?</a:t>
            </a:r>
            <a:endParaRPr lang="en-US" sz="1250" dirty="0"/>
          </a:p>
        </p:txBody>
      </p:sp>
      <p:sp>
        <p:nvSpPr>
          <p:cNvPr id="12" name="R2_b2"/>
          <p:cNvSpPr txBox="1"/>
          <p:nvPr/>
        </p:nvSpPr>
        <p:spPr>
          <a:xfrm rot="120000">
            <a:off x="5989320" y="1600200"/>
            <a:ext cx="2834640" cy="1188720"/>
          </a:xfrm>
          <a:prstGeom prst="wedgeRoundRectCallout">
            <a:avLst/>
          </a:prstGeom>
          <a:solidFill>
            <a:srgbClr val="FEF9C3"/>
          </a:solidFill>
          <a:ln w="31750">
            <a:solidFill>
              <a:srgbClr val="111111"/>
            </a:solidFill>
          </a:ln>
          <a:effectLst>
            <a:outerShdw sx="100000" sy="100000" kx="0" ky="0" algn="bl" rotWithShape="0" blurRad="101600" dist="38100" dir="2700000">
              <a:srgbClr val="000000">
                <a:alpha val="35000"/>
              </a:srgbClr>
            </a:outerShdw>
          </a:effectLst>
        </p:spPr>
        <p:txBody>
          <a:bodyPr wrap="square" lIns="76200" tIns="76200" rIns="76200" bIns="76200" rtlCol="0" anchor="ctr"/>
          <a:lstStyle/>
          <a:p>
            <a:pPr algn="l" indent="0" marL="0">
              <a:buNone/>
            </a:pPr>
            <a:r>
              <a:rPr lang="en-US" sz="1300" dirty="0">
                <a:solidFill>
                  <a:srgbClr val="111111"/>
                </a:solidFill>
                <a:latin typeface="Calibri" pitchFamily="34" charset="0"/>
                <a:ea typeface="Calibri" pitchFamily="34" charset="-122"/>
                <a:cs typeface="Calibri" pitchFamily="34" charset="-120"/>
              </a:rPr>
              <a:t>SUBJECTS &amp; HOMEWORK</a:t>
            </a:r>
            <a:endParaRPr lang="en-US" sz="1300" dirty="0"/>
          </a:p>
          <a:p>
            <a:pPr algn="l" indent="0" marL="0">
              <a:buNone/>
            </a:pPr>
            <a:r>
              <a:rPr lang="en-US" sz="1300" dirty="0">
                <a:solidFill>
                  <a:srgbClr val="111111"/>
                </a:solidFill>
                <a:latin typeface="Calibri" pitchFamily="34" charset="0"/>
                <a:ea typeface="Calibri" pitchFamily="34" charset="-122"/>
                <a:cs typeface="Calibri" pitchFamily="34" charset="-120"/>
              </a:rPr>
              <a:t>Which subjects were you good / bad at?</a:t>
            </a:r>
            <a:endParaRPr lang="en-US" sz="1300" dirty="0"/>
          </a:p>
          <a:p>
            <a:pPr algn="l" indent="0" marL="0">
              <a:buNone/>
            </a:pPr>
            <a:r>
              <a:rPr lang="en-US" sz="1300" dirty="0">
                <a:solidFill>
                  <a:srgbClr val="111111"/>
                </a:solidFill>
                <a:latin typeface="Calibri" pitchFamily="34" charset="0"/>
                <a:ea typeface="Calibri" pitchFamily="34" charset="-122"/>
                <a:cs typeface="Calibri" pitchFamily="34" charset="-120"/>
              </a:rPr>
              <a:t>How much homework did you get?</a:t>
            </a:r>
            <a:endParaRPr lang="en-US" sz="1300" dirty="0"/>
          </a:p>
        </p:txBody>
      </p:sp>
      <p:sp>
        <p:nvSpPr>
          <p:cNvPr id="13" name="R3_b3"/>
          <p:cNvSpPr txBox="1"/>
          <p:nvPr/>
        </p:nvSpPr>
        <p:spPr>
          <a:xfrm rot="-60000">
            <a:off x="4023360" y="3063240"/>
            <a:ext cx="3108960" cy="1325880"/>
          </a:xfrm>
          <a:prstGeom prst="wedgeRoundRectCallout">
            <a:avLst/>
          </a:prstGeom>
          <a:solidFill>
            <a:srgbClr val="FEE2E2"/>
          </a:solidFill>
          <a:ln w="31750">
            <a:solidFill>
              <a:srgbClr val="111111"/>
            </a:solidFill>
          </a:ln>
          <a:effectLst>
            <a:outerShdw sx="100000" sy="100000" kx="0" ky="0" algn="bl" rotWithShape="0" blurRad="101600" dist="38100" dir="2700000">
              <a:srgbClr val="000000">
                <a:alpha val="35000"/>
              </a:srgbClr>
            </a:outerShdw>
          </a:effectLst>
        </p:spPr>
        <p:txBody>
          <a:bodyPr wrap="square" lIns="76200" tIns="76200" rIns="76200" bIns="76200" rtlCol="0" anchor="ctr"/>
          <a:lstStyle/>
          <a:p>
            <a:pPr algn="l" indent="0" marL="0">
              <a:buNone/>
            </a:pPr>
            <a:r>
              <a:rPr lang="en-US" sz="1300" dirty="0">
                <a:solidFill>
                  <a:srgbClr val="111111"/>
                </a:solidFill>
                <a:latin typeface="Calibri" pitchFamily="34" charset="0"/>
                <a:ea typeface="Calibri" pitchFamily="34" charset="-122"/>
                <a:cs typeface="Calibri" pitchFamily="34" charset="-120"/>
              </a:rPr>
              <a:t>RULES &amp; DISCIPLINE</a:t>
            </a:r>
            <a:endParaRPr lang="en-US" sz="1300" dirty="0"/>
          </a:p>
          <a:p>
            <a:pPr algn="l" indent="0" marL="0">
              <a:buNone/>
            </a:pPr>
            <a:r>
              <a:rPr lang="en-US" sz="1300" dirty="0">
                <a:solidFill>
                  <a:srgbClr val="111111"/>
                </a:solidFill>
                <a:latin typeface="Calibri" pitchFamily="34" charset="0"/>
                <a:ea typeface="Calibri" pitchFamily="34" charset="-122"/>
                <a:cs typeface="Calibri" pitchFamily="34" charset="-120"/>
              </a:rPr>
              <a:t>Did you have to wear a uniform?</a:t>
            </a:r>
            <a:endParaRPr lang="en-US" sz="1300" dirty="0"/>
          </a:p>
          <a:p>
            <a:pPr algn="l" indent="0" marL="0">
              <a:buNone/>
            </a:pPr>
            <a:r>
              <a:rPr lang="en-US" sz="1300" dirty="0">
                <a:solidFill>
                  <a:srgbClr val="111111"/>
                </a:solidFill>
                <a:latin typeface="Calibri" pitchFamily="34" charset="0"/>
                <a:ea typeface="Calibri" pitchFamily="34" charset="-122"/>
                <a:cs typeface="Calibri" pitchFamily="34" charset="-120"/>
              </a:rPr>
              <a:t>Were your teachers too strict?</a:t>
            </a:r>
            <a:endParaRPr lang="en-US" sz="1300" dirty="0"/>
          </a:p>
          <a:p>
            <a:pPr algn="l" indent="0" marL="0">
              <a:buNone/>
            </a:pPr>
            <a:r>
              <a:rPr lang="en-US" sz="1300" dirty="0">
                <a:solidFill>
                  <a:srgbClr val="111111"/>
                </a:solidFill>
                <a:latin typeface="Calibri" pitchFamily="34" charset="0"/>
                <a:ea typeface="Calibri" pitchFamily="34" charset="-122"/>
                <a:cs typeface="Calibri" pitchFamily="34" charset="-120"/>
              </a:rPr>
              <a:t>How did pupils behave?</a:t>
            </a:r>
            <a:endParaRPr lang="en-US" sz="1300" dirty="0"/>
          </a:p>
        </p:txBody>
      </p:sp>
      <p:sp>
        <p:nvSpPr>
          <p:cNvPr id="14" name="sticky_129"/>
          <p:cNvSpPr txBox="1"/>
          <p:nvPr/>
        </p:nvSpPr>
        <p:spPr>
          <a:xfrm rot="360000">
            <a:off x="7452360" y="3429000"/>
            <a:ext cx="1280160" cy="777240"/>
          </a:xfrm>
          <a:prstGeom prst="rect">
            <a:avLst/>
          </a:prstGeom>
          <a:solidFill>
            <a:srgbClr val="FFD84D"/>
          </a:solidFill>
          <a:ln w="12700">
            <a:solidFill>
              <a:srgbClr val="B7950B"/>
            </a:solidFill>
          </a:ln>
          <a:effectLst>
            <a:outerShdw sx="100000" sy="100000" kx="0" ky="0" algn="bl" rotWithShape="0" blurRad="101600" dist="38100" dir="2700000">
              <a:srgbClr val="000000">
                <a:alpha val="35000"/>
              </a:srgbClr>
            </a:outerShdw>
          </a:effectLst>
        </p:spPr>
        <p:txBody>
          <a:bodyPr wrap="square" lIns="50800" tIns="50800" rIns="50800" bIns="50800" rtlCol="0" anchor="ctr"/>
          <a:lstStyle/>
          <a:p>
            <a:pPr algn="ctr" indent="0" marL="0">
              <a:buNone/>
            </a:pPr>
            <a:r>
              <a:rPr lang="en-US" sz="1300" b="1" dirty="0">
                <a:solidFill>
                  <a:srgbClr val="111111"/>
                </a:solidFill>
                <a:latin typeface="Calibri" pitchFamily="34" charset="0"/>
                <a:ea typeface="Calibri" pitchFamily="34" charset="-122"/>
                <a:cs typeface="Calibri" pitchFamily="34" charset="-120"/>
              </a:rPr>
              <a:t>Follow-up!</a:t>
            </a:r>
            <a:endParaRPr lang="en-US" sz="1300" dirty="0"/>
          </a:p>
          <a:p>
            <a:pPr algn="ctr" indent="0" marL="0">
              <a:buNone/>
            </a:pPr>
            <a:r>
              <a:rPr lang="en-US" sz="1300" b="1" dirty="0">
                <a:solidFill>
                  <a:srgbClr val="111111"/>
                </a:solidFill>
                <a:latin typeface="Calibri" pitchFamily="34" charset="0"/>
                <a:ea typeface="Calibri" pitchFamily="34" charset="-122"/>
                <a:cs typeface="Calibri" pitchFamily="34" charset="-120"/>
              </a:rPr>
              <a:t>Really? Why?</a:t>
            </a:r>
            <a:endParaRPr lang="en-US" sz="1300" dirty="0"/>
          </a:p>
        </p:txBody>
      </p:sp>
      <p:sp>
        <p:nvSpPr>
          <p:cNvPr id="15" name="pageTag_130"/>
          <p:cNvSpPr txBox="1"/>
          <p:nvPr/>
        </p:nvSpPr>
        <p:spPr>
          <a:xfrm>
            <a:off x="320040" y="4773168"/>
            <a:ext cx="6766560" cy="237744"/>
          </a:xfrm>
          <a:prstGeom prst="rect">
            <a:avLst/>
          </a:prstGeom>
          <a:solidFill>
            <a:srgbClr val="FFFFFF"/>
          </a:solidFill>
          <a:ln/>
        </p:spPr>
        <p:txBody>
          <a:bodyPr wrap="square" lIns="25400" tIns="25400" rIns="25400" bIns="25400" rtlCol="0" anchor="ctr"/>
          <a:lstStyle/>
          <a:p>
            <a:pPr indent="0" marL="0">
              <a:buNone/>
            </a:pPr>
            <a:r>
              <a:rPr lang="en-US" sz="1000" dirty="0">
                <a:solidFill>
                  <a:srgbClr val="334155"/>
                </a:solidFill>
                <a:latin typeface="Calibri" pitchFamily="34" charset="0"/>
                <a:ea typeface="Calibri" pitchFamily="34" charset="-122"/>
                <a:cs typeface="Calibri" pitchFamily="34" charset="-120"/>
              </a:rPr>
              <a:t>📖 Teacher: Student's Book p.66 · 3 Speaking</a:t>
            </a:r>
            <a:endParaRPr lang="en-US" sz="1000" dirty="0"/>
          </a:p>
        </p:txBody>
      </p:sp>
    </p:spTree>
  </p:cSld>
  <p:clrMapOvr>
    <a:masterClrMapping/>
  </p:clrMapOvr>
  <p:transition spd="med">
    <p:push dir="l"/>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fade">
                                      <p:cBhvr>
                                        <p:cTn id="7" dur="400"/>
                                        <p:tgtEl>
                                          <p:spTgt spid="11"/>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2"/>
                                        </p:tgtEl>
                                        <p:attrNameLst>
                                          <p:attrName>style.visibility</p:attrName>
                                        </p:attrNameLst>
                                      </p:cBhvr>
                                      <p:to>
                                        <p:strVal val="visible"/>
                                      </p:to>
                                    </p:set>
                                    <p:animEffect transition="in" filter="fade">
                                      <p:cBhvr>
                                        <p:cTn id="12" dur="400"/>
                                        <p:tgtEl>
                                          <p:spTgt spid="12"/>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13"/>
                                        </p:tgtEl>
                                        <p:attrNameLst>
                                          <p:attrName>style.visibility</p:attrName>
                                        </p:attrNameLst>
                                      </p:cBhvr>
                                      <p:to>
                                        <p:strVal val="visible"/>
                                      </p:to>
                                    </p:set>
                                    <p:animEffect transition="in" filter="fade">
                                      <p:cBhvr>
                                        <p:cTn id="17" dur="4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name="Slide 7">
    <p:bg>
      <p:bgPr>
        <a:blipFill dpi="0" rotWithShape="1">
          <a:blip r:embed="rId1">
            <a:lum/>
          </a:blip>
          <a:srcRect/>
          <a:stretch>
            <a:fillRect/>
          </a:stretch>
        </a:blipFill>
        <a:effectLst/>
      </p:bgPr>
    </p:bg>
    <p:spTree>
      <p:nvGrpSpPr>
        <p:cNvPr id="2" name=""/>
        <p:cNvGrpSpPr/>
        <p:nvPr/>
      </p:nvGrpSpPr>
      <p:grpSpPr>
        <a:xfrm>
          <a:off x="0" y="0"/>
          <a:ext cx="0" cy="0"/>
          <a:chOff x="0" y="0"/>
          <a:chExt cx="0" cy="0"/>
        </a:xfrm>
      </p:grpSpPr>
      <p:sp>
        <p:nvSpPr>
          <p:cNvPr id="3" name="levelFrame_131"/>
          <p:cNvSpPr/>
          <p:nvPr/>
        </p:nvSpPr>
        <p:spPr>
          <a:xfrm>
            <a:off x="54864" y="54864"/>
            <a:ext cx="9034272" cy="5033772"/>
          </a:xfrm>
          <a:prstGeom prst="rect">
            <a:avLst/>
          </a:prstGeom>
          <a:ln w="114300">
            <a:solidFill>
              <a:srgbClr val="A8E6B4"/>
            </a:solidFill>
            <a:prstDash val="solid"/>
          </a:ln>
        </p:spPr>
      </p:sp>
      <p:pic>
        <p:nvPicPr>
          <p:cNvPr id="4" name="logo_132" descr="London Language School logo">    </p:cNvPr>
          <p:cNvPicPr>
            <a:picLocks noChangeAspect="1"/>
          </p:cNvPicPr>
          <p:nvPr/>
        </p:nvPicPr>
        <p:blipFill>
          <a:blip r:embed="rId2"/>
          <a:stretch>
            <a:fillRect/>
          </a:stretch>
        </p:blipFill>
        <p:spPr>
          <a:xfrm>
            <a:off x="8275320" y="182880"/>
            <a:ext cx="585216" cy="585216"/>
          </a:xfrm>
          <a:prstGeom prst="rect">
            <a:avLst/>
          </a:prstGeom>
        </p:spPr>
      </p:pic>
      <p:sp>
        <p:nvSpPr>
          <p:cNvPr id="5" name="objective_133"/>
          <p:cNvSpPr txBox="1"/>
          <p:nvPr/>
        </p:nvSpPr>
        <p:spPr>
          <a:xfrm>
            <a:off x="320040" y="182880"/>
            <a:ext cx="4206240" cy="365760"/>
          </a:xfrm>
          <a:prstGeom prst="roundRect">
            <a:avLst>
              <a:gd name="adj" fmla="val 20000"/>
            </a:avLst>
          </a:prstGeom>
          <a:solidFill>
            <a:srgbClr val="062F67"/>
          </a:solidFill>
          <a:ln w="31750">
            <a:solidFill>
              <a:srgbClr val="111111"/>
            </a:solidFill>
          </a:ln>
        </p:spPr>
        <p:txBody>
          <a:bodyPr wrap="square" lIns="101600" tIns="101600" rIns="101600" bIns="101600" rtlCol="0" anchor="ctr"/>
          <a:lstStyle/>
          <a:p>
            <a:pPr indent="0" marL="0">
              <a:buNone/>
            </a:pPr>
            <a:r>
              <a:rPr lang="en-US" sz="900" dirty="0">
                <a:solidFill>
                  <a:srgbClr val="FFFFFF"/>
                </a:solidFill>
                <a:latin typeface="Arial Black" pitchFamily="34" charset="0"/>
                <a:ea typeface="Arial Black" pitchFamily="34" charset="-122"/>
                <a:cs typeface="Arial Black" pitchFamily="34" charset="-120"/>
              </a:rPr>
              <a:t>LISTENING · Chinese v British</a:t>
            </a:r>
            <a:endParaRPr lang="en-US" sz="900" dirty="0"/>
          </a:p>
        </p:txBody>
      </p:sp>
      <p:sp>
        <p:nvSpPr>
          <p:cNvPr id="6" name="footer_134"/>
          <p:cNvSpPr txBox="1"/>
          <p:nvPr/>
        </p:nvSpPr>
        <p:spPr>
          <a:xfrm>
            <a:off x="7315200" y="4818888"/>
            <a:ext cx="1554480" cy="219456"/>
          </a:xfrm>
          <a:prstGeom prst="rect">
            <a:avLst/>
          </a:prstGeom>
          <a:solidFill>
            <a:srgbClr val="FFFFFF"/>
          </a:solidFill>
          <a:ln/>
        </p:spPr>
        <p:txBody>
          <a:bodyPr wrap="square" lIns="0" tIns="0" rIns="0" bIns="0" rtlCol="0" anchor="ctr"/>
          <a:lstStyle/>
          <a:p>
            <a:pPr algn="ctr" indent="0" marL="0">
              <a:buNone/>
            </a:pPr>
            <a:r>
              <a:rPr lang="en-US" sz="1000" dirty="0">
                <a:solidFill>
                  <a:srgbClr val="334155"/>
                </a:solidFill>
                <a:latin typeface="Calibri" pitchFamily="34" charset="0"/>
                <a:ea typeface="Calibri" pitchFamily="34" charset="-122"/>
                <a:cs typeface="Calibri" pitchFamily="34" charset="-120"/>
              </a:rPr>
              <a:t>7A · Part 1</a:t>
            </a:r>
            <a:endParaRPr lang="en-US" sz="1000" dirty="0"/>
          </a:p>
        </p:txBody>
      </p:sp>
      <p:sp>
        <p:nvSpPr>
          <p:cNvPr id="7" name="title_135"/>
          <p:cNvSpPr txBox="1"/>
          <p:nvPr/>
        </p:nvSpPr>
        <p:spPr>
          <a:xfrm rot="-120000">
            <a:off x="320040" y="658368"/>
            <a:ext cx="6583680" cy="548640"/>
          </a:xfrm>
          <a:prstGeom prst="rect">
            <a:avLst/>
          </a:prstGeom>
          <a:solidFill>
            <a:srgbClr val="FFD84D"/>
          </a:solidFill>
          <a:ln w="31750">
            <a:solidFill>
              <a:srgbClr val="111111"/>
            </a:solidFill>
          </a:ln>
          <a:effectLst>
            <a:outerShdw sx="100000" sy="100000" kx="0" ky="0" algn="bl" rotWithShape="0" blurRad="101600" dist="38100" dir="2700000">
              <a:srgbClr val="000000">
                <a:alpha val="35000"/>
              </a:srgbClr>
            </a:outerShdw>
          </a:effectLst>
        </p:spPr>
        <p:txBody>
          <a:bodyPr wrap="square" lIns="127000" tIns="127000" rIns="127000" bIns="127000" rtlCol="0" anchor="ctr"/>
          <a:lstStyle/>
          <a:p>
            <a:pPr indent="0" marL="0">
              <a:buNone/>
            </a:pPr>
            <a:r>
              <a:rPr lang="en-US" sz="1600" dirty="0">
                <a:solidFill>
                  <a:srgbClr val="111111"/>
                </a:solidFill>
                <a:latin typeface="Arial Black" pitchFamily="34" charset="0"/>
                <a:ea typeface="Arial Black" pitchFamily="34" charset="-122"/>
                <a:cs typeface="Arial Black" pitchFamily="34" charset="-120"/>
              </a:rPr>
              <a:t>Chinese v British: which is better?</a:t>
            </a:r>
            <a:endParaRPr lang="en-US" sz="1600" dirty="0"/>
          </a:p>
        </p:txBody>
      </p:sp>
      <p:sp>
        <p:nvSpPr>
          <p:cNvPr id="8" name="polaroid_136"/>
          <p:cNvSpPr/>
          <p:nvPr/>
        </p:nvSpPr>
        <p:spPr>
          <a:xfrm rot="180000">
            <a:off x="5989320" y="1325880"/>
            <a:ext cx="2743200" cy="2459736"/>
          </a:xfrm>
          <a:prstGeom prst="rect">
            <a:avLst/>
          </a:prstGeom>
          <a:solidFill>
            <a:srgbClr val="FFFFFF"/>
          </a:solidFill>
          <a:ln w="31750">
            <a:solidFill>
              <a:srgbClr val="111111"/>
            </a:solidFill>
            <a:prstDash val="solid"/>
          </a:ln>
          <a:effectLst>
            <a:outerShdw sx="100000" sy="100000" kx="0" ky="0" algn="bl" rotWithShape="0" blurRad="101600" dist="38100" dir="2700000">
              <a:srgbClr val="000000">
                <a:alpha val="35000"/>
              </a:srgbClr>
            </a:outerShdw>
          </a:effectLst>
        </p:spPr>
      </p:sp>
      <p:pic>
        <p:nvPicPr>
          <p:cNvPr id="9" name="photo_137" descr="Chinese teacher">    </p:cNvPr>
          <p:cNvPicPr>
            <a:picLocks noChangeAspect="1"/>
          </p:cNvPicPr>
          <p:nvPr/>
        </p:nvPicPr>
        <p:blipFill>
          <a:blip r:embed="rId3"/>
          <a:srcRect l="0" r="0" t="0" b="0"/>
          <a:stretch/>
        </p:blipFill>
        <p:spPr>
          <a:xfrm rot="180000">
            <a:off x="6080760" y="1417320"/>
            <a:ext cx="2560320" cy="1965960"/>
          </a:xfrm>
          <a:prstGeom prst="rect">
            <a:avLst/>
          </a:prstGeom>
        </p:spPr>
      </p:pic>
      <p:sp>
        <p:nvSpPr>
          <p:cNvPr id="10" name="caption_138"/>
          <p:cNvSpPr txBox="1"/>
          <p:nvPr/>
        </p:nvSpPr>
        <p:spPr>
          <a:xfrm rot="180000">
            <a:off x="5989320" y="3401568"/>
            <a:ext cx="2743200" cy="310896"/>
          </a:xfrm>
          <a:prstGeom prst="rect">
            <a:avLst/>
          </a:prstGeom>
          <a:noFill/>
          <a:ln/>
        </p:spPr>
        <p:txBody>
          <a:bodyPr wrap="square" rtlCol="0" anchor="ctr"/>
          <a:lstStyle/>
          <a:p>
            <a:pPr algn="ctr" indent="0" marL="0">
              <a:buNone/>
            </a:pPr>
            <a:r>
              <a:rPr lang="en-US" sz="1200" i="1" dirty="0">
                <a:solidFill>
                  <a:srgbClr val="111111"/>
                </a:solidFill>
                <a:latin typeface="Calibri" pitchFamily="34" charset="0"/>
                <a:ea typeface="Calibri" pitchFamily="34" charset="-122"/>
                <a:cs typeface="Calibri" pitchFamily="34" charset="-120"/>
              </a:rPr>
              <a:t>Mr Zou?</a:t>
            </a:r>
            <a:endParaRPr lang="en-US" sz="1200" dirty="0"/>
          </a:p>
        </p:txBody>
      </p:sp>
      <p:sp>
        <p:nvSpPr>
          <p:cNvPr id="11" name="text_139"/>
          <p:cNvSpPr txBox="1"/>
          <p:nvPr/>
        </p:nvSpPr>
        <p:spPr>
          <a:xfrm>
            <a:off x="365760" y="1371600"/>
            <a:ext cx="5303520" cy="1325880"/>
          </a:xfrm>
          <a:prstGeom prst="rect">
            <a:avLst/>
          </a:prstGeom>
          <a:solidFill>
            <a:srgbClr val="FFFFFF"/>
          </a:solidFill>
          <a:ln w="31750">
            <a:solidFill>
              <a:srgbClr val="111111"/>
            </a:solidFill>
          </a:ln>
        </p:spPr>
        <p:txBody>
          <a:bodyPr wrap="square" lIns="101600" tIns="101600" rIns="101600" bIns="101600" rtlCol="0" anchor="t"/>
          <a:lstStyle/>
          <a:p>
            <a:pPr indent="0" marL="0">
              <a:buNone/>
            </a:pPr>
            <a:r>
              <a:rPr lang="en-US" sz="1400" b="1" dirty="0">
                <a:solidFill>
                  <a:srgbClr val="EF2F2F"/>
                </a:solidFill>
                <a:latin typeface="Calibri" pitchFamily="34" charset="0"/>
                <a:ea typeface="Calibri" pitchFamily="34" charset="-122"/>
                <a:cs typeface="Calibri" pitchFamily="34" charset="-120"/>
              </a:rPr>
              <a:t>The experiment</a:t>
            </a:r>
            <a:endParaRPr lang="en-US" sz="1400" dirty="0"/>
          </a:p>
          <a:p>
            <a:pPr indent="0" marL="0">
              <a:buNone/>
            </a:pPr>
            <a:r>
              <a:rPr lang="en-US" sz="1400" dirty="0">
                <a:solidFill>
                  <a:srgbClr val="111111"/>
                </a:solidFill>
                <a:latin typeface="Calibri" pitchFamily="34" charset="0"/>
                <a:ea typeface="Calibri" pitchFamily="34" charset="-122"/>
                <a:cs typeface="Calibri" pitchFamily="34" charset="-120"/>
              </a:rPr>
              <a:t>5 teachers from China teach maths, science and Mandarin to half of Year 9 (age 13–14) in a British school for 4 weeks.</a:t>
            </a:r>
            <a:endParaRPr lang="en-US" sz="1400" dirty="0"/>
          </a:p>
          <a:p>
            <a:pPr indent="0" marL="0">
              <a:buNone/>
            </a:pPr>
            <a:r>
              <a:rPr lang="en-US" sz="1400" b="1" dirty="0">
                <a:solidFill>
                  <a:srgbClr val="111111"/>
                </a:solidFill>
                <a:latin typeface="Calibri" pitchFamily="34" charset="0"/>
                <a:ea typeface="Calibri" pitchFamily="34" charset="-122"/>
                <a:cs typeface="Calibri" pitchFamily="34" charset="-120"/>
              </a:rPr>
              <a:t>Then both groups take the same tests.</a:t>
            </a:r>
            <a:endParaRPr lang="en-US" sz="1400" dirty="0"/>
          </a:p>
        </p:txBody>
      </p:sp>
      <p:sp>
        <p:nvSpPr>
          <p:cNvPr id="12" name="bubble_140"/>
          <p:cNvSpPr txBox="1"/>
          <p:nvPr/>
        </p:nvSpPr>
        <p:spPr>
          <a:xfrm>
            <a:off x="365760" y="2926080"/>
            <a:ext cx="5303520" cy="1234440"/>
          </a:xfrm>
          <a:prstGeom prst="wedgeRectCallout">
            <a:avLst/>
          </a:prstGeom>
          <a:solidFill>
            <a:srgbClr val="E0F2FE"/>
          </a:solidFill>
          <a:ln w="31750">
            <a:solidFill>
              <a:srgbClr val="111111"/>
            </a:solidFill>
          </a:ln>
          <a:effectLst>
            <a:outerShdw sx="100000" sy="100000" kx="0" ky="0" algn="bl" rotWithShape="0" blurRad="101600" dist="38100" dir="2700000">
              <a:srgbClr val="000000">
                <a:alpha val="35000"/>
              </a:srgbClr>
            </a:outerShdw>
          </a:effectLst>
        </p:spPr>
        <p:txBody>
          <a:bodyPr wrap="square" lIns="76200" tIns="76200" rIns="76200" bIns="76200" rtlCol="0" anchor="ctr"/>
          <a:lstStyle/>
          <a:p>
            <a:pPr algn="l" indent="0" marL="0">
              <a:buNone/>
            </a:pPr>
            <a:r>
              <a:rPr lang="en-US" sz="1400" dirty="0">
                <a:solidFill>
                  <a:srgbClr val="111111"/>
                </a:solidFill>
                <a:latin typeface="Calibri" pitchFamily="34" charset="0"/>
                <a:ea typeface="Calibri" pitchFamily="34" charset="-122"/>
                <a:cs typeface="Calibri" pitchFamily="34" charset="-120"/>
              </a:rPr>
              <a:t>1  Some studies say Asian school systems are better. Do you agree?</a:t>
            </a:r>
            <a:endParaRPr lang="en-US" sz="1400" dirty="0"/>
          </a:p>
          <a:p>
            <a:pPr algn="l" indent="0" marL="0">
              <a:buNone/>
            </a:pPr>
            <a:r>
              <a:rPr lang="en-US" sz="1400" dirty="0">
                <a:solidFill>
                  <a:srgbClr val="111111"/>
                </a:solidFill>
                <a:latin typeface="Calibri" pitchFamily="34" charset="0"/>
                <a:ea typeface="Calibri" pitchFamily="34" charset="-122"/>
                <a:cs typeface="Calibri" pitchFamily="34" charset="-120"/>
              </a:rPr>
              <a:t>2  What's the experiment?</a:t>
            </a:r>
            <a:endParaRPr lang="en-US" sz="1400" dirty="0"/>
          </a:p>
          <a:p>
            <a:pPr algn="l" indent="0" marL="0">
              <a:buNone/>
            </a:pPr>
            <a:r>
              <a:rPr lang="en-US" sz="1400" dirty="0">
                <a:solidFill>
                  <a:srgbClr val="111111"/>
                </a:solidFill>
                <a:latin typeface="Calibri" pitchFamily="34" charset="0"/>
                <a:ea typeface="Calibri" pitchFamily="34" charset="-122"/>
                <a:cs typeface="Calibri" pitchFamily="34" charset="-120"/>
              </a:rPr>
              <a:t>3  What do you think the result will be?</a:t>
            </a:r>
            <a:endParaRPr lang="en-US" sz="1400" dirty="0"/>
          </a:p>
        </p:txBody>
      </p:sp>
      <p:sp>
        <p:nvSpPr>
          <p:cNvPr id="13" name="sticky_141"/>
          <p:cNvSpPr txBox="1"/>
          <p:nvPr/>
        </p:nvSpPr>
        <p:spPr>
          <a:xfrm rot="-360000">
            <a:off x="6126480" y="3749040"/>
            <a:ext cx="1234440" cy="548640"/>
          </a:xfrm>
          <a:prstGeom prst="rect">
            <a:avLst/>
          </a:prstGeom>
          <a:solidFill>
            <a:srgbClr val="FFD84D"/>
          </a:solidFill>
          <a:ln w="12700">
            <a:solidFill>
              <a:srgbClr val="B7950B"/>
            </a:solidFill>
          </a:ln>
          <a:effectLst>
            <a:outerShdw sx="100000" sy="100000" kx="0" ky="0" algn="bl" rotWithShape="0" blurRad="101600" dist="38100" dir="2700000">
              <a:srgbClr val="000000">
                <a:alpha val="35000"/>
              </a:srgbClr>
            </a:outerShdw>
          </a:effectLst>
        </p:spPr>
        <p:txBody>
          <a:bodyPr wrap="square" lIns="50800" tIns="50800" rIns="50800" bIns="50800" rtlCol="0" anchor="ctr"/>
          <a:lstStyle/>
          <a:p>
            <a:pPr algn="ctr" indent="0" marL="0">
              <a:buNone/>
            </a:pPr>
            <a:r>
              <a:rPr lang="en-US" sz="1300" b="1" dirty="0">
                <a:solidFill>
                  <a:srgbClr val="111111"/>
                </a:solidFill>
                <a:latin typeface="Calibri" pitchFamily="34" charset="0"/>
                <a:ea typeface="Calibri" pitchFamily="34" charset="-122"/>
                <a:cs typeface="Calibri" pitchFamily="34" charset="-120"/>
              </a:rPr>
              <a:t>12-hour days?</a:t>
            </a:r>
            <a:endParaRPr lang="en-US" sz="1300" dirty="0"/>
          </a:p>
        </p:txBody>
      </p:sp>
      <p:sp>
        <p:nvSpPr>
          <p:cNvPr id="14" name="sticky_142"/>
          <p:cNvSpPr txBox="1"/>
          <p:nvPr/>
        </p:nvSpPr>
        <p:spPr>
          <a:xfrm rot="300000">
            <a:off x="7498080" y="3703320"/>
            <a:ext cx="1325880" cy="548640"/>
          </a:xfrm>
          <a:prstGeom prst="rect">
            <a:avLst/>
          </a:prstGeom>
          <a:solidFill>
            <a:srgbClr val="BAE6FD"/>
          </a:solidFill>
          <a:ln w="12700">
            <a:solidFill>
              <a:srgbClr val="B7950B"/>
            </a:solidFill>
          </a:ln>
          <a:effectLst>
            <a:outerShdw sx="100000" sy="100000" kx="0" ky="0" algn="bl" rotWithShape="0" blurRad="101600" dist="38100" dir="2700000">
              <a:srgbClr val="000000">
                <a:alpha val="35000"/>
              </a:srgbClr>
            </a:outerShdw>
          </a:effectLst>
        </p:spPr>
        <p:txBody>
          <a:bodyPr wrap="square" lIns="50800" tIns="50800" rIns="50800" bIns="50800" rtlCol="0" anchor="ctr"/>
          <a:lstStyle/>
          <a:p>
            <a:pPr algn="ctr" indent="0" marL="0">
              <a:buNone/>
            </a:pPr>
            <a:r>
              <a:rPr lang="en-US" sz="1300" b="1" dirty="0">
                <a:solidFill>
                  <a:srgbClr val="111111"/>
                </a:solidFill>
                <a:latin typeface="Calibri" pitchFamily="34" charset="0"/>
                <a:ea typeface="Calibri" pitchFamily="34" charset="-122"/>
                <a:cs typeface="Calibri" pitchFamily="34" charset="-120"/>
              </a:rPr>
              <a:t>strict discipline?</a:t>
            </a:r>
            <a:endParaRPr lang="en-US" sz="1300" dirty="0"/>
          </a:p>
        </p:txBody>
      </p:sp>
      <p:sp>
        <p:nvSpPr>
          <p:cNvPr id="15" name="pageTag_143"/>
          <p:cNvSpPr txBox="1"/>
          <p:nvPr/>
        </p:nvSpPr>
        <p:spPr>
          <a:xfrm>
            <a:off x="320040" y="4773168"/>
            <a:ext cx="6766560" cy="237744"/>
          </a:xfrm>
          <a:prstGeom prst="rect">
            <a:avLst/>
          </a:prstGeom>
          <a:solidFill>
            <a:srgbClr val="FFFFFF"/>
          </a:solidFill>
          <a:ln/>
        </p:spPr>
        <p:txBody>
          <a:bodyPr wrap="square" lIns="25400" tIns="25400" rIns="25400" bIns="25400" rtlCol="0" anchor="ctr"/>
          <a:lstStyle/>
          <a:p>
            <a:pPr indent="0" marL="0">
              <a:buNone/>
            </a:pPr>
            <a:r>
              <a:rPr lang="en-US" sz="1000" dirty="0">
                <a:solidFill>
                  <a:srgbClr val="334155"/>
                </a:solidFill>
                <a:latin typeface="Calibri" pitchFamily="34" charset="0"/>
                <a:ea typeface="Calibri" pitchFamily="34" charset="-122"/>
                <a:cs typeface="Calibri" pitchFamily="34" charset="-120"/>
              </a:rPr>
              <a:t>📖 Teacher: Student's Book p.67 · 4a</a:t>
            </a:r>
            <a:endParaRPr lang="en-US" sz="1000" dirty="0"/>
          </a:p>
        </p:txBody>
      </p:sp>
    </p:spTree>
  </p:cSld>
  <p:clrMapOvr>
    <a:masterClrMapping/>
  </p:clrMapOvr>
  <p:transition spd="med">
    <p:push dir="l"/>
  </p:transition>
</p:sld>
</file>

<file path=ppt/slides/slide8.xml><?xml version="1.0" encoding="utf-8"?>
<p:sld xmlns:a="http://schemas.openxmlformats.org/drawingml/2006/main" xmlns:r="http://schemas.openxmlformats.org/officeDocument/2006/relationships" xmlns:p="http://schemas.openxmlformats.org/presentationml/2006/main">
  <p:cSld name="Slide 8">
    <p:bg>
      <p:bgPr>
        <a:blipFill dpi="0" rotWithShape="1">
          <a:blip r:embed="rId1">
            <a:lum/>
          </a:blip>
          <a:srcRect/>
          <a:stretch>
            <a:fillRect/>
          </a:stretch>
        </a:blipFill>
        <a:effectLst/>
      </p:bgPr>
    </p:bg>
    <p:spTree>
      <p:nvGrpSpPr>
        <p:cNvPr id="2" name=""/>
        <p:cNvGrpSpPr/>
        <p:nvPr/>
      </p:nvGrpSpPr>
      <p:grpSpPr>
        <a:xfrm>
          <a:off x="0" y="0"/>
          <a:ext cx="0" cy="0"/>
          <a:chOff x="0" y="0"/>
          <a:chExt cx="0" cy="0"/>
        </a:xfrm>
      </p:grpSpPr>
      <p:sp>
        <p:nvSpPr>
          <p:cNvPr id="3" name="levelFrame_144"/>
          <p:cNvSpPr/>
          <p:nvPr/>
        </p:nvSpPr>
        <p:spPr>
          <a:xfrm>
            <a:off x="54864" y="54864"/>
            <a:ext cx="9034272" cy="5033772"/>
          </a:xfrm>
          <a:prstGeom prst="rect">
            <a:avLst/>
          </a:prstGeom>
          <a:ln w="114300">
            <a:solidFill>
              <a:srgbClr val="A8E6B4"/>
            </a:solidFill>
            <a:prstDash val="solid"/>
          </a:ln>
        </p:spPr>
      </p:sp>
      <p:pic>
        <p:nvPicPr>
          <p:cNvPr id="4" name="logo_145" descr="London Language School logo">    </p:cNvPr>
          <p:cNvPicPr>
            <a:picLocks noChangeAspect="1"/>
          </p:cNvPicPr>
          <p:nvPr/>
        </p:nvPicPr>
        <p:blipFill>
          <a:blip r:embed="rId2"/>
          <a:stretch>
            <a:fillRect/>
          </a:stretch>
        </p:blipFill>
        <p:spPr>
          <a:xfrm>
            <a:off x="8275320" y="182880"/>
            <a:ext cx="585216" cy="585216"/>
          </a:xfrm>
          <a:prstGeom prst="rect">
            <a:avLst/>
          </a:prstGeom>
        </p:spPr>
      </p:pic>
      <p:sp>
        <p:nvSpPr>
          <p:cNvPr id="5" name="objective_146"/>
          <p:cNvSpPr txBox="1"/>
          <p:nvPr/>
        </p:nvSpPr>
        <p:spPr>
          <a:xfrm>
            <a:off x="320040" y="182880"/>
            <a:ext cx="4206240" cy="365760"/>
          </a:xfrm>
          <a:prstGeom prst="roundRect">
            <a:avLst>
              <a:gd name="adj" fmla="val 20000"/>
            </a:avLst>
          </a:prstGeom>
          <a:solidFill>
            <a:srgbClr val="062F67"/>
          </a:solidFill>
          <a:ln w="31750">
            <a:solidFill>
              <a:srgbClr val="111111"/>
            </a:solidFill>
          </a:ln>
        </p:spPr>
        <p:txBody>
          <a:bodyPr wrap="square" lIns="101600" tIns="101600" rIns="101600" bIns="101600" rtlCol="0" anchor="ctr"/>
          <a:lstStyle/>
          <a:p>
            <a:pPr indent="0" marL="0">
              <a:buNone/>
            </a:pPr>
            <a:r>
              <a:rPr lang="en-US" sz="900" dirty="0">
                <a:solidFill>
                  <a:srgbClr val="FFFFFF"/>
                </a:solidFill>
                <a:latin typeface="Arial Black" pitchFamily="34" charset="0"/>
                <a:ea typeface="Arial Black" pitchFamily="34" charset="-122"/>
                <a:cs typeface="Arial Black" pitchFamily="34" charset="-120"/>
              </a:rPr>
              <a:t>LISTENING · Week 1</a:t>
            </a:r>
            <a:endParaRPr lang="en-US" sz="900" dirty="0"/>
          </a:p>
        </p:txBody>
      </p:sp>
      <p:sp>
        <p:nvSpPr>
          <p:cNvPr id="6" name="footer_147"/>
          <p:cNvSpPr txBox="1"/>
          <p:nvPr/>
        </p:nvSpPr>
        <p:spPr>
          <a:xfrm>
            <a:off x="7315200" y="4818888"/>
            <a:ext cx="1554480" cy="219456"/>
          </a:xfrm>
          <a:prstGeom prst="rect">
            <a:avLst/>
          </a:prstGeom>
          <a:solidFill>
            <a:srgbClr val="FFFFFF"/>
          </a:solidFill>
          <a:ln/>
        </p:spPr>
        <p:txBody>
          <a:bodyPr wrap="square" lIns="0" tIns="0" rIns="0" bIns="0" rtlCol="0" anchor="ctr"/>
          <a:lstStyle/>
          <a:p>
            <a:pPr algn="ctr" indent="0" marL="0">
              <a:buNone/>
            </a:pPr>
            <a:r>
              <a:rPr lang="en-US" sz="1000" dirty="0">
                <a:solidFill>
                  <a:srgbClr val="334155"/>
                </a:solidFill>
                <a:latin typeface="Calibri" pitchFamily="34" charset="0"/>
                <a:ea typeface="Calibri" pitchFamily="34" charset="-122"/>
                <a:cs typeface="Calibri" pitchFamily="34" charset="-120"/>
              </a:rPr>
              <a:t>7A · Part 1</a:t>
            </a:r>
            <a:endParaRPr lang="en-US" sz="1000" dirty="0"/>
          </a:p>
        </p:txBody>
      </p:sp>
      <p:sp>
        <p:nvSpPr>
          <p:cNvPr id="7" name="title_148"/>
          <p:cNvSpPr txBox="1"/>
          <p:nvPr/>
        </p:nvSpPr>
        <p:spPr>
          <a:xfrm rot="-120000">
            <a:off x="320040" y="658368"/>
            <a:ext cx="5715000" cy="548640"/>
          </a:xfrm>
          <a:prstGeom prst="rect">
            <a:avLst/>
          </a:prstGeom>
          <a:solidFill>
            <a:srgbClr val="FFD84D"/>
          </a:solidFill>
          <a:ln w="31750">
            <a:solidFill>
              <a:srgbClr val="111111"/>
            </a:solidFill>
          </a:ln>
          <a:effectLst>
            <a:outerShdw sx="100000" sy="100000" kx="0" ky="0" algn="bl" rotWithShape="0" blurRad="101600" dist="38100" dir="2700000">
              <a:srgbClr val="000000">
                <a:alpha val="35000"/>
              </a:srgbClr>
            </a:outerShdw>
          </a:effectLst>
        </p:spPr>
        <p:txBody>
          <a:bodyPr wrap="square" lIns="127000" tIns="127000" rIns="127000" bIns="127000" rtlCol="0" anchor="ctr"/>
          <a:lstStyle/>
          <a:p>
            <a:pPr indent="0" marL="0">
              <a:buNone/>
            </a:pPr>
            <a:r>
              <a:rPr lang="en-US" sz="1600" dirty="0">
                <a:solidFill>
                  <a:srgbClr val="111111"/>
                </a:solidFill>
                <a:latin typeface="Arial Black" pitchFamily="34" charset="0"/>
                <a:ea typeface="Arial Black" pitchFamily="34" charset="-122"/>
                <a:cs typeface="Arial Black" pitchFamily="34" charset="-120"/>
              </a:rPr>
              <a:t>Week 1: why are these a shock?</a:t>
            </a:r>
            <a:endParaRPr lang="en-US" sz="1600" dirty="0"/>
          </a:p>
        </p:txBody>
      </p:sp>
      <p:sp>
        <p:nvSpPr>
          <p:cNvPr id="8" name="post_149"/>
          <p:cNvSpPr/>
          <p:nvPr/>
        </p:nvSpPr>
        <p:spPr>
          <a:xfrm>
            <a:off x="429768" y="1554480"/>
            <a:ext cx="128016" cy="2560320"/>
          </a:xfrm>
          <a:prstGeom prst="rect">
            <a:avLst/>
          </a:prstGeom>
          <a:solidFill>
            <a:srgbClr val="8B5A2B"/>
          </a:solidFill>
          <a:ln w="31750">
            <a:solidFill>
              <a:srgbClr val="111111"/>
            </a:solidFill>
            <a:prstDash val="solid"/>
          </a:ln>
        </p:spPr>
      </p:sp>
      <p:sp>
        <p:nvSpPr>
          <p:cNvPr id="9" name="signA_150"/>
          <p:cNvSpPr txBox="1"/>
          <p:nvPr/>
        </p:nvSpPr>
        <p:spPr>
          <a:xfrm rot="-180000">
            <a:off x="320040" y="1371600"/>
            <a:ext cx="2103120" cy="457200"/>
          </a:xfrm>
          <a:prstGeom prst="homePlate">
            <a:avLst/>
          </a:prstGeom>
          <a:solidFill>
            <a:srgbClr val="062F67"/>
          </a:solidFill>
          <a:ln w="31750">
            <a:solidFill>
              <a:srgbClr val="111111"/>
            </a:solidFill>
          </a:ln>
          <a:effectLst>
            <a:outerShdw sx="100000" sy="100000" kx="0" ky="0" algn="bl" rotWithShape="0" blurRad="101600" dist="38100" dir="2700000">
              <a:srgbClr val="000000">
                <a:alpha val="35000"/>
              </a:srgbClr>
            </a:outerShdw>
          </a:effectLst>
        </p:spPr>
        <p:txBody>
          <a:bodyPr wrap="square" lIns="76200" tIns="76200" rIns="76200" bIns="76200" rtlCol="0" anchor="ctr"/>
          <a:lstStyle/>
          <a:p>
            <a:pPr indent="0" marL="0">
              <a:buNone/>
            </a:pPr>
            <a:r>
              <a:rPr lang="en-US" sz="1600" b="1" dirty="0">
                <a:solidFill>
                  <a:srgbClr val="FFFFFF"/>
                </a:solidFill>
                <a:latin typeface="Arial Black" pitchFamily="34" charset="0"/>
                <a:ea typeface="Arial Black" pitchFamily="34" charset="-122"/>
                <a:cs typeface="Arial Black" pitchFamily="34" charset="-120"/>
              </a:rPr>
              <a:t>LISTEN!</a:t>
            </a:r>
            <a:pPr indent="0" marL="0">
              <a:buNone/>
            </a:pPr>
            <a:r>
              <a:rPr lang="en-US" sz="1100" dirty="0">
                <a:solidFill>
                  <a:srgbClr val="FFF3B0"/>
                </a:solidFill>
                <a:latin typeface="Arial Black" pitchFamily="34" charset="0"/>
                <a:ea typeface="Arial Black" pitchFamily="34" charset="-122"/>
                <a:cs typeface="Arial Black" pitchFamily="34" charset="-120"/>
              </a:rPr>
              <a:t>  ASCOLTA!</a:t>
            </a:r>
            <a:endParaRPr lang="en-US" sz="1600" dirty="0"/>
          </a:p>
        </p:txBody>
      </p:sp>
      <p:sp>
        <p:nvSpPr>
          <p:cNvPr id="10" name="signB_151"/>
          <p:cNvSpPr txBox="1"/>
          <p:nvPr/>
        </p:nvSpPr>
        <p:spPr>
          <a:xfrm rot="120000">
            <a:off x="365760" y="1938528"/>
            <a:ext cx="2377440" cy="1188720"/>
          </a:xfrm>
          <a:prstGeom prst="rect">
            <a:avLst/>
          </a:prstGeom>
          <a:solidFill>
            <a:srgbClr val="FFFFFF"/>
          </a:solidFill>
          <a:ln w="31750">
            <a:solidFill>
              <a:srgbClr val="111111"/>
            </a:solidFill>
          </a:ln>
        </p:spPr>
        <p:txBody>
          <a:bodyPr wrap="square" lIns="76200" tIns="76200" rIns="76200" bIns="76200" rtlCol="0" anchor="ctr"/>
          <a:lstStyle/>
          <a:p>
            <a:pPr indent="0" marL="0">
              <a:buNone/>
            </a:pPr>
            <a:r>
              <a:rPr lang="en-US" sz="1100" dirty="0">
                <a:solidFill>
                  <a:srgbClr val="111111"/>
                </a:solidFill>
                <a:latin typeface="Calibri" pitchFamily="34" charset="0"/>
                <a:ea typeface="Calibri" pitchFamily="34" charset="-122"/>
                <a:cs typeface="Calibri" pitchFamily="34" charset="-120"/>
              </a:rPr>
              <a:t>Listen to Week 1 (7.7). Why are these times and numbers a shock for the students?</a:t>
            </a:r>
            <a:endParaRPr lang="en-US" sz="1100" dirty="0"/>
          </a:p>
          <a:p>
            <a:pPr indent="0" marL="0">
              <a:buNone/>
            </a:pPr>
            <a:r>
              <a:rPr lang="en-US" sz="1000" i="1" dirty="0">
                <a:solidFill>
                  <a:srgbClr val="334155"/>
                </a:solidFill>
                <a:latin typeface="Calibri" pitchFamily="34" charset="0"/>
                <a:ea typeface="Calibri" pitchFamily="34" charset="-122"/>
                <a:cs typeface="Calibri" pitchFamily="34" charset="-120"/>
              </a:rPr>
              <a:t>Ascolta. Perché questi orari e numeri sono uno shock per gli studenti?</a:t>
            </a:r>
            <a:endParaRPr lang="en-US" sz="1100" dirty="0"/>
          </a:p>
        </p:txBody>
      </p:sp>
      <p:sp>
        <p:nvSpPr>
          <p:cNvPr id="11" name="stamp_152"/>
          <p:cNvSpPr txBox="1"/>
          <p:nvPr/>
        </p:nvSpPr>
        <p:spPr>
          <a:xfrm rot="-120000">
            <a:off x="3017520" y="1371600"/>
            <a:ext cx="1737360" cy="512064"/>
          </a:xfrm>
          <a:prstGeom prst="roundRect">
            <a:avLst>
              <a:gd name="adj" fmla="val 10714"/>
            </a:avLst>
          </a:prstGeom>
          <a:solidFill>
            <a:srgbClr val="FFFFFF"/>
          </a:solidFill>
          <a:ln w="38100">
            <a:solidFill>
              <a:srgbClr val="EF2F2F"/>
            </a:solidFill>
          </a:ln>
        </p:spPr>
        <p:txBody>
          <a:bodyPr wrap="square" lIns="25400" tIns="25400" rIns="25400" bIns="25400" rtlCol="0" anchor="ctr"/>
          <a:lstStyle/>
          <a:p>
            <a:pPr algn="ctr" indent="0" marL="0">
              <a:buNone/>
            </a:pPr>
            <a:r>
              <a:rPr lang="en-US" sz="1800" dirty="0">
                <a:solidFill>
                  <a:srgbClr val="EF2F2F"/>
                </a:solidFill>
                <a:latin typeface="Calibri" pitchFamily="34" charset="0"/>
                <a:ea typeface="Calibri" pitchFamily="34" charset="-122"/>
                <a:cs typeface="Calibri" pitchFamily="34" charset="-120"/>
              </a:rPr>
              <a:t>7.00 a.m.</a:t>
            </a:r>
            <a:endParaRPr lang="en-US" sz="1800" dirty="0"/>
          </a:p>
        </p:txBody>
      </p:sp>
      <p:sp>
        <p:nvSpPr>
          <p:cNvPr id="12" name="R1_why0"/>
          <p:cNvSpPr txBox="1"/>
          <p:nvPr/>
        </p:nvSpPr>
        <p:spPr>
          <a:xfrm>
            <a:off x="2971800" y="1920240"/>
            <a:ext cx="1828800" cy="402336"/>
          </a:xfrm>
          <a:prstGeom prst="rect">
            <a:avLst/>
          </a:prstGeom>
          <a:solidFill>
            <a:srgbClr val="FFF9DB"/>
          </a:solidFill>
          <a:ln w="12700">
            <a:solidFill>
              <a:srgbClr val="111111"/>
            </a:solidFill>
          </a:ln>
        </p:spPr>
        <p:txBody>
          <a:bodyPr wrap="square" lIns="25400" tIns="25400" rIns="25400" bIns="25400" rtlCol="0" anchor="ctr"/>
          <a:lstStyle/>
          <a:p>
            <a:pPr algn="ctr" indent="0" marL="0">
              <a:buNone/>
            </a:pPr>
            <a:r>
              <a:rPr lang="en-US" sz="1050" dirty="0">
                <a:solidFill>
                  <a:srgbClr val="111111"/>
                </a:solidFill>
                <a:latin typeface="Calibri" pitchFamily="34" charset="0"/>
                <a:ea typeface="Calibri" pitchFamily="34" charset="-122"/>
                <a:cs typeface="Calibri" pitchFamily="34" charset="-120"/>
              </a:rPr>
              <a:t>they start the day much earlier</a:t>
            </a:r>
            <a:endParaRPr lang="en-US" sz="1050" dirty="0"/>
          </a:p>
        </p:txBody>
      </p:sp>
      <p:sp>
        <p:nvSpPr>
          <p:cNvPr id="13" name="stamp_153"/>
          <p:cNvSpPr txBox="1"/>
          <p:nvPr/>
        </p:nvSpPr>
        <p:spPr>
          <a:xfrm rot="120000">
            <a:off x="4937760" y="1371600"/>
            <a:ext cx="1737360" cy="512064"/>
          </a:xfrm>
          <a:prstGeom prst="roundRect">
            <a:avLst>
              <a:gd name="adj" fmla="val 10714"/>
            </a:avLst>
          </a:prstGeom>
          <a:solidFill>
            <a:srgbClr val="FFFFFF"/>
          </a:solidFill>
          <a:ln w="38100">
            <a:solidFill>
              <a:srgbClr val="48BDF2"/>
            </a:solidFill>
          </a:ln>
        </p:spPr>
        <p:txBody>
          <a:bodyPr wrap="square" lIns="25400" tIns="25400" rIns="25400" bIns="25400" rtlCol="0" anchor="ctr"/>
          <a:lstStyle/>
          <a:p>
            <a:pPr algn="ctr" indent="0" marL="0">
              <a:buNone/>
            </a:pPr>
            <a:r>
              <a:rPr lang="en-US" sz="1600" dirty="0">
                <a:solidFill>
                  <a:srgbClr val="48BDF2"/>
                </a:solidFill>
                <a:latin typeface="Calibri" pitchFamily="34" charset="0"/>
                <a:ea typeface="Calibri" pitchFamily="34" charset="-122"/>
                <a:cs typeface="Calibri" pitchFamily="34" charset="-120"/>
              </a:rPr>
              <a:t>30 minutes a day</a:t>
            </a:r>
            <a:endParaRPr lang="en-US" sz="1600" dirty="0"/>
          </a:p>
        </p:txBody>
      </p:sp>
      <p:sp>
        <p:nvSpPr>
          <p:cNvPr id="14" name="R1_why1"/>
          <p:cNvSpPr txBox="1"/>
          <p:nvPr/>
        </p:nvSpPr>
        <p:spPr>
          <a:xfrm>
            <a:off x="4892040" y="1920240"/>
            <a:ext cx="1828800" cy="402336"/>
          </a:xfrm>
          <a:prstGeom prst="rect">
            <a:avLst/>
          </a:prstGeom>
          <a:solidFill>
            <a:srgbClr val="FFF9DB"/>
          </a:solidFill>
          <a:ln w="12700">
            <a:solidFill>
              <a:srgbClr val="111111"/>
            </a:solidFill>
          </a:ln>
        </p:spPr>
        <p:txBody>
          <a:bodyPr wrap="square" lIns="25400" tIns="25400" rIns="25400" bIns="25400" rtlCol="0" anchor="ctr"/>
          <a:lstStyle/>
          <a:p>
            <a:pPr algn="ctr" indent="0" marL="0">
              <a:buNone/>
            </a:pPr>
            <a:r>
              <a:rPr lang="en-US" sz="1050" dirty="0">
                <a:solidFill>
                  <a:srgbClr val="111111"/>
                </a:solidFill>
                <a:latin typeface="Calibri" pitchFamily="34" charset="0"/>
                <a:ea typeface="Calibri" pitchFamily="34" charset="-122"/>
                <a:cs typeface="Calibri" pitchFamily="34" charset="-120"/>
              </a:rPr>
              <a:t>PE every day (UK: about 2 hours a week)</a:t>
            </a:r>
            <a:endParaRPr lang="en-US" sz="1050" dirty="0"/>
          </a:p>
        </p:txBody>
      </p:sp>
      <p:sp>
        <p:nvSpPr>
          <p:cNvPr id="15" name="stamp_154"/>
          <p:cNvSpPr txBox="1"/>
          <p:nvPr/>
        </p:nvSpPr>
        <p:spPr>
          <a:xfrm rot="-120000">
            <a:off x="6858000" y="1371600"/>
            <a:ext cx="1737360" cy="512064"/>
          </a:xfrm>
          <a:prstGeom prst="roundRect">
            <a:avLst>
              <a:gd name="adj" fmla="val 10714"/>
            </a:avLst>
          </a:prstGeom>
          <a:solidFill>
            <a:srgbClr val="FFFFFF"/>
          </a:solidFill>
          <a:ln w="38100">
            <a:solidFill>
              <a:srgbClr val="1FA463"/>
            </a:solidFill>
          </a:ln>
        </p:spPr>
        <p:txBody>
          <a:bodyPr wrap="square" lIns="25400" tIns="25400" rIns="25400" bIns="25400" rtlCol="0" anchor="ctr"/>
          <a:lstStyle/>
          <a:p>
            <a:pPr algn="ctr" indent="0" marL="0">
              <a:buNone/>
            </a:pPr>
            <a:r>
              <a:rPr lang="en-US" sz="1800" dirty="0">
                <a:solidFill>
                  <a:srgbClr val="1FA463"/>
                </a:solidFill>
                <a:latin typeface="Calibri" pitchFamily="34" charset="0"/>
                <a:ea typeface="Calibri" pitchFamily="34" charset="-122"/>
                <a:cs typeface="Calibri" pitchFamily="34" charset="-120"/>
              </a:rPr>
              <a:t>50</a:t>
            </a:r>
            <a:endParaRPr lang="en-US" sz="1800" dirty="0"/>
          </a:p>
        </p:txBody>
      </p:sp>
      <p:sp>
        <p:nvSpPr>
          <p:cNvPr id="16" name="R1_why2"/>
          <p:cNvSpPr txBox="1"/>
          <p:nvPr/>
        </p:nvSpPr>
        <p:spPr>
          <a:xfrm>
            <a:off x="6812280" y="1920240"/>
            <a:ext cx="1828800" cy="402336"/>
          </a:xfrm>
          <a:prstGeom prst="rect">
            <a:avLst/>
          </a:prstGeom>
          <a:solidFill>
            <a:srgbClr val="FFF9DB"/>
          </a:solidFill>
          <a:ln w="12700">
            <a:solidFill>
              <a:srgbClr val="111111"/>
            </a:solidFill>
          </a:ln>
        </p:spPr>
        <p:txBody>
          <a:bodyPr wrap="square" lIns="25400" tIns="25400" rIns="25400" bIns="25400" rtlCol="0" anchor="ctr"/>
          <a:lstStyle/>
          <a:p>
            <a:pPr algn="ctr" indent="0" marL="0">
              <a:buNone/>
            </a:pPr>
            <a:r>
              <a:rPr lang="en-US" sz="1050" dirty="0">
                <a:solidFill>
                  <a:srgbClr val="111111"/>
                </a:solidFill>
                <a:latin typeface="Calibri" pitchFamily="34" charset="0"/>
                <a:ea typeface="Calibri" pitchFamily="34" charset="-122"/>
                <a:cs typeface="Calibri" pitchFamily="34" charset="-120"/>
              </a:rPr>
              <a:t>students in one class (UK: max. about 30)</a:t>
            </a:r>
            <a:endParaRPr lang="en-US" sz="1050" dirty="0"/>
          </a:p>
        </p:txBody>
      </p:sp>
      <p:sp>
        <p:nvSpPr>
          <p:cNvPr id="17" name="stamp_155"/>
          <p:cNvSpPr txBox="1"/>
          <p:nvPr/>
        </p:nvSpPr>
        <p:spPr>
          <a:xfrm rot="120000">
            <a:off x="3017520" y="2423160"/>
            <a:ext cx="1737360" cy="512064"/>
          </a:xfrm>
          <a:prstGeom prst="roundRect">
            <a:avLst>
              <a:gd name="adj" fmla="val 10714"/>
            </a:avLst>
          </a:prstGeom>
          <a:solidFill>
            <a:srgbClr val="FFFFFF"/>
          </a:solidFill>
          <a:ln w="38100">
            <a:solidFill>
              <a:srgbClr val="F59E0B"/>
            </a:solidFill>
          </a:ln>
        </p:spPr>
        <p:txBody>
          <a:bodyPr wrap="square" lIns="25400" tIns="25400" rIns="25400" bIns="25400" rtlCol="0" anchor="ctr"/>
          <a:lstStyle/>
          <a:p>
            <a:pPr algn="ctr" indent="0" marL="0">
              <a:buNone/>
            </a:pPr>
            <a:r>
              <a:rPr lang="en-US" sz="1800" dirty="0">
                <a:solidFill>
                  <a:srgbClr val="F59E0B"/>
                </a:solidFill>
                <a:latin typeface="Calibri" pitchFamily="34" charset="0"/>
                <a:ea typeface="Calibri" pitchFamily="34" charset="-122"/>
                <a:cs typeface="Calibri" pitchFamily="34" charset="-120"/>
              </a:rPr>
              <a:t>11.30 a.m.</a:t>
            </a:r>
            <a:endParaRPr lang="en-US" sz="1800" dirty="0"/>
          </a:p>
        </p:txBody>
      </p:sp>
      <p:sp>
        <p:nvSpPr>
          <p:cNvPr id="18" name="R1_why3"/>
          <p:cNvSpPr txBox="1"/>
          <p:nvPr/>
        </p:nvSpPr>
        <p:spPr>
          <a:xfrm>
            <a:off x="2971800" y="2971800"/>
            <a:ext cx="1828800" cy="402336"/>
          </a:xfrm>
          <a:prstGeom prst="rect">
            <a:avLst/>
          </a:prstGeom>
          <a:solidFill>
            <a:srgbClr val="FFF9DB"/>
          </a:solidFill>
          <a:ln w="12700">
            <a:solidFill>
              <a:srgbClr val="111111"/>
            </a:solidFill>
          </a:ln>
        </p:spPr>
        <p:txBody>
          <a:bodyPr wrap="square" lIns="25400" tIns="25400" rIns="25400" bIns="25400" rtlCol="0" anchor="ctr"/>
          <a:lstStyle/>
          <a:p>
            <a:pPr algn="ctr" indent="0" marL="0">
              <a:buNone/>
            </a:pPr>
            <a:r>
              <a:rPr lang="en-US" sz="1050" dirty="0">
                <a:solidFill>
                  <a:srgbClr val="111111"/>
                </a:solidFill>
                <a:latin typeface="Calibri" pitchFamily="34" charset="0"/>
                <a:ea typeface="Calibri" pitchFamily="34" charset="-122"/>
                <a:cs typeface="Calibri" pitchFamily="34" charset="-120"/>
              </a:rPr>
              <a:t>lunch – very early!</a:t>
            </a:r>
            <a:endParaRPr lang="en-US" sz="1050" dirty="0"/>
          </a:p>
        </p:txBody>
      </p:sp>
      <p:sp>
        <p:nvSpPr>
          <p:cNvPr id="19" name="stamp_156"/>
          <p:cNvSpPr txBox="1"/>
          <p:nvPr/>
        </p:nvSpPr>
        <p:spPr>
          <a:xfrm rot="-120000">
            <a:off x="4937760" y="2423160"/>
            <a:ext cx="1737360" cy="512064"/>
          </a:xfrm>
          <a:prstGeom prst="roundRect">
            <a:avLst>
              <a:gd name="adj" fmla="val 10714"/>
            </a:avLst>
          </a:prstGeom>
          <a:solidFill>
            <a:srgbClr val="FFFFFF"/>
          </a:solidFill>
          <a:ln w="38100">
            <a:solidFill>
              <a:srgbClr val="062F67"/>
            </a:solidFill>
          </a:ln>
        </p:spPr>
        <p:txBody>
          <a:bodyPr wrap="square" lIns="25400" tIns="25400" rIns="25400" bIns="25400" rtlCol="0" anchor="ctr"/>
          <a:lstStyle/>
          <a:p>
            <a:pPr algn="ctr" indent="0" marL="0">
              <a:buNone/>
            </a:pPr>
            <a:r>
              <a:rPr lang="en-US" sz="1800" dirty="0">
                <a:solidFill>
                  <a:srgbClr val="062F67"/>
                </a:solidFill>
                <a:latin typeface="Calibri" pitchFamily="34" charset="0"/>
                <a:ea typeface="Calibri" pitchFamily="34" charset="-122"/>
                <a:cs typeface="Calibri" pitchFamily="34" charset="-120"/>
              </a:rPr>
              <a:t>5.00 p.m.</a:t>
            </a:r>
            <a:endParaRPr lang="en-US" sz="1800" dirty="0"/>
          </a:p>
        </p:txBody>
      </p:sp>
      <p:sp>
        <p:nvSpPr>
          <p:cNvPr id="20" name="R1_why4"/>
          <p:cNvSpPr txBox="1"/>
          <p:nvPr/>
        </p:nvSpPr>
        <p:spPr>
          <a:xfrm>
            <a:off x="4892040" y="2971800"/>
            <a:ext cx="1828800" cy="402336"/>
          </a:xfrm>
          <a:prstGeom prst="rect">
            <a:avLst/>
          </a:prstGeom>
          <a:solidFill>
            <a:srgbClr val="FFF9DB"/>
          </a:solidFill>
          <a:ln w="12700">
            <a:solidFill>
              <a:srgbClr val="111111"/>
            </a:solidFill>
          </a:ln>
        </p:spPr>
        <p:txBody>
          <a:bodyPr wrap="square" lIns="25400" tIns="25400" rIns="25400" bIns="25400" rtlCol="0" anchor="ctr"/>
          <a:lstStyle/>
          <a:p>
            <a:pPr algn="ctr" indent="0" marL="0">
              <a:buNone/>
            </a:pPr>
            <a:r>
              <a:rPr lang="en-US" sz="1050" dirty="0">
                <a:solidFill>
                  <a:srgbClr val="111111"/>
                </a:solidFill>
                <a:latin typeface="Calibri" pitchFamily="34" charset="0"/>
                <a:ea typeface="Calibri" pitchFamily="34" charset="-122"/>
                <a:cs typeface="Calibri" pitchFamily="34" charset="-120"/>
              </a:rPr>
              <a:t>lessons end – but they can't go home</a:t>
            </a:r>
            <a:endParaRPr lang="en-US" sz="1050" dirty="0"/>
          </a:p>
        </p:txBody>
      </p:sp>
      <p:sp>
        <p:nvSpPr>
          <p:cNvPr id="21" name="stamp_157"/>
          <p:cNvSpPr txBox="1"/>
          <p:nvPr/>
        </p:nvSpPr>
        <p:spPr>
          <a:xfrm rot="120000">
            <a:off x="6858000" y="2423160"/>
            <a:ext cx="1737360" cy="512064"/>
          </a:xfrm>
          <a:prstGeom prst="roundRect">
            <a:avLst>
              <a:gd name="adj" fmla="val 10714"/>
            </a:avLst>
          </a:prstGeom>
          <a:solidFill>
            <a:srgbClr val="FFFFFF"/>
          </a:solidFill>
          <a:ln w="38100">
            <a:solidFill>
              <a:srgbClr val="EF2F2F"/>
            </a:solidFill>
          </a:ln>
        </p:spPr>
        <p:txBody>
          <a:bodyPr wrap="square" lIns="25400" tIns="25400" rIns="25400" bIns="25400" rtlCol="0" anchor="ctr"/>
          <a:lstStyle/>
          <a:p>
            <a:pPr algn="ctr" indent="0" marL="0">
              <a:buNone/>
            </a:pPr>
            <a:r>
              <a:rPr lang="en-US" sz="1800" dirty="0">
                <a:solidFill>
                  <a:srgbClr val="EF2F2F"/>
                </a:solidFill>
                <a:latin typeface="Calibri" pitchFamily="34" charset="0"/>
                <a:ea typeface="Calibri" pitchFamily="34" charset="-122"/>
                <a:cs typeface="Calibri" pitchFamily="34" charset="-120"/>
              </a:rPr>
              <a:t>7.00 p.m.</a:t>
            </a:r>
            <a:endParaRPr lang="en-US" sz="1800" dirty="0"/>
          </a:p>
        </p:txBody>
      </p:sp>
      <p:sp>
        <p:nvSpPr>
          <p:cNvPr id="22" name="R1_why5"/>
          <p:cNvSpPr txBox="1"/>
          <p:nvPr/>
        </p:nvSpPr>
        <p:spPr>
          <a:xfrm>
            <a:off x="6812280" y="2971800"/>
            <a:ext cx="1828800" cy="402336"/>
          </a:xfrm>
          <a:prstGeom prst="rect">
            <a:avLst/>
          </a:prstGeom>
          <a:solidFill>
            <a:srgbClr val="FFF9DB"/>
          </a:solidFill>
          <a:ln w="12700">
            <a:solidFill>
              <a:srgbClr val="111111"/>
            </a:solidFill>
          </a:ln>
        </p:spPr>
        <p:txBody>
          <a:bodyPr wrap="square" lIns="25400" tIns="25400" rIns="25400" bIns="25400" rtlCol="0" anchor="ctr"/>
          <a:lstStyle/>
          <a:p>
            <a:pPr algn="ctr" indent="0" marL="0">
              <a:buNone/>
            </a:pPr>
            <a:r>
              <a:rPr lang="en-US" sz="1050" dirty="0">
                <a:solidFill>
                  <a:srgbClr val="111111"/>
                </a:solidFill>
                <a:latin typeface="Calibri" pitchFamily="34" charset="0"/>
                <a:ea typeface="Calibri" pitchFamily="34" charset="-122"/>
                <a:cs typeface="Calibri" pitchFamily="34" charset="-120"/>
              </a:rPr>
              <a:t>homework done – now clean the classroom</a:t>
            </a:r>
            <a:endParaRPr lang="en-US" sz="1050" dirty="0"/>
          </a:p>
        </p:txBody>
      </p:sp>
      <p:sp>
        <p:nvSpPr>
          <p:cNvPr id="23" name="stamp_158"/>
          <p:cNvSpPr txBox="1"/>
          <p:nvPr/>
        </p:nvSpPr>
        <p:spPr>
          <a:xfrm rot="-120000">
            <a:off x="3017520" y="3474720"/>
            <a:ext cx="1737360" cy="512064"/>
          </a:xfrm>
          <a:prstGeom prst="roundRect">
            <a:avLst>
              <a:gd name="adj" fmla="val 10714"/>
            </a:avLst>
          </a:prstGeom>
          <a:solidFill>
            <a:srgbClr val="FFFFFF"/>
          </a:solidFill>
          <a:ln w="38100">
            <a:solidFill>
              <a:srgbClr val="48BDF2"/>
            </a:solidFill>
          </a:ln>
        </p:spPr>
        <p:txBody>
          <a:bodyPr wrap="square" lIns="25400" tIns="25400" rIns="25400" bIns="25400" rtlCol="0" anchor="ctr"/>
          <a:lstStyle/>
          <a:p>
            <a:pPr algn="ctr" indent="0" marL="0">
              <a:buNone/>
            </a:pPr>
            <a:r>
              <a:rPr lang="en-US" sz="1800" dirty="0">
                <a:solidFill>
                  <a:srgbClr val="48BDF2"/>
                </a:solidFill>
                <a:latin typeface="Calibri" pitchFamily="34" charset="0"/>
                <a:ea typeface="Calibri" pitchFamily="34" charset="-122"/>
                <a:cs typeface="Calibri" pitchFamily="34" charset="-120"/>
              </a:rPr>
              <a:t>12 hours</a:t>
            </a:r>
            <a:endParaRPr lang="en-US" sz="1800" dirty="0"/>
          </a:p>
        </p:txBody>
      </p:sp>
      <p:sp>
        <p:nvSpPr>
          <p:cNvPr id="24" name="R1_why6"/>
          <p:cNvSpPr txBox="1"/>
          <p:nvPr/>
        </p:nvSpPr>
        <p:spPr>
          <a:xfrm>
            <a:off x="2971800" y="4023360"/>
            <a:ext cx="1828800" cy="402336"/>
          </a:xfrm>
          <a:prstGeom prst="rect">
            <a:avLst/>
          </a:prstGeom>
          <a:solidFill>
            <a:srgbClr val="FFF9DB"/>
          </a:solidFill>
          <a:ln w="12700">
            <a:solidFill>
              <a:srgbClr val="111111"/>
            </a:solidFill>
          </a:ln>
        </p:spPr>
        <p:txBody>
          <a:bodyPr wrap="square" lIns="25400" tIns="25400" rIns="25400" bIns="25400" rtlCol="0" anchor="ctr"/>
          <a:lstStyle/>
          <a:p>
            <a:pPr algn="ctr" indent="0" marL="0">
              <a:buNone/>
            </a:pPr>
            <a:r>
              <a:rPr lang="en-US" sz="1050" dirty="0">
                <a:solidFill>
                  <a:srgbClr val="111111"/>
                </a:solidFill>
                <a:latin typeface="Calibri" pitchFamily="34" charset="0"/>
                <a:ea typeface="Calibri" pitchFamily="34" charset="-122"/>
                <a:cs typeface="Calibri" pitchFamily="34" charset="-120"/>
              </a:rPr>
              <a:t>the school day!</a:t>
            </a:r>
            <a:endParaRPr lang="en-US" sz="1050" dirty="0"/>
          </a:p>
        </p:txBody>
      </p:sp>
      <p:sp>
        <p:nvSpPr>
          <p:cNvPr id="25" name="pageTag_159"/>
          <p:cNvSpPr txBox="1"/>
          <p:nvPr/>
        </p:nvSpPr>
        <p:spPr>
          <a:xfrm>
            <a:off x="320040" y="4773168"/>
            <a:ext cx="6766560" cy="237744"/>
          </a:xfrm>
          <a:prstGeom prst="rect">
            <a:avLst/>
          </a:prstGeom>
          <a:solidFill>
            <a:srgbClr val="FFFFFF"/>
          </a:solidFill>
          <a:ln/>
        </p:spPr>
        <p:txBody>
          <a:bodyPr wrap="square" lIns="25400" tIns="25400" rIns="25400" bIns="25400" rtlCol="0" anchor="ctr"/>
          <a:lstStyle/>
          <a:p>
            <a:pPr indent="0" marL="0">
              <a:buNone/>
            </a:pPr>
            <a:r>
              <a:rPr lang="en-US" sz="1000" dirty="0">
                <a:solidFill>
                  <a:srgbClr val="334155"/>
                </a:solidFill>
                <a:latin typeface="Calibri" pitchFamily="34" charset="0"/>
                <a:ea typeface="Calibri" pitchFamily="34" charset="-122"/>
                <a:cs typeface="Calibri" pitchFamily="34" charset="-120"/>
              </a:rPr>
              <a:t>📖 Teacher: Student's Book p.67 · 4b · audio 7.7 · answers checked against the audioscript</a:t>
            </a:r>
            <a:endParaRPr lang="en-US" sz="1000" dirty="0"/>
          </a:p>
        </p:txBody>
      </p:sp>
    </p:spTree>
  </p:cSld>
  <p:clrMapOvr>
    <a:masterClrMapping/>
  </p:clrMapOvr>
  <p:transition spd="med">
    <p:push dir="l"/>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fade">
                                      <p:cBhvr>
                                        <p:cTn id="7" dur="400"/>
                                        <p:tgtEl>
                                          <p:spTgt spid="12"/>
                                        </p:tgtEl>
                                      </p:cBhvr>
                                    </p:animEffect>
                                  </p:childTnLst>
                                </p:cTn>
                              </p:par>
                              <p:par>
                                <p:cTn id="8" presetID="10" presetClass="entr" presetSubtype="0" fill="hold" nodeType="withEffect">
                                  <p:stCondLst>
                                    <p:cond delay="0"/>
                                  </p:stCondLst>
                                  <p:childTnLst>
                                    <p:set>
                                      <p:cBhvr>
                                        <p:cTn id="9" dur="1" fill="hold">
                                          <p:stCondLst>
                                            <p:cond delay="0"/>
                                          </p:stCondLst>
                                        </p:cTn>
                                        <p:tgtEl>
                                          <p:spTgt spid="14"/>
                                        </p:tgtEl>
                                        <p:attrNameLst>
                                          <p:attrName>style.visibility</p:attrName>
                                        </p:attrNameLst>
                                      </p:cBhvr>
                                      <p:to>
                                        <p:strVal val="visible"/>
                                      </p:to>
                                    </p:set>
                                    <p:animEffect transition="in" filter="fade">
                                      <p:cBhvr>
                                        <p:cTn id="10" dur="400"/>
                                        <p:tgtEl>
                                          <p:spTgt spid="14"/>
                                        </p:tgtEl>
                                      </p:cBhvr>
                                    </p:animEffect>
                                  </p:childTnLst>
                                </p:cTn>
                              </p:par>
                              <p:par>
                                <p:cTn id="11" presetID="10" presetClass="entr" presetSubtype="0" fill="hold" nodeType="withEffect">
                                  <p:stCondLst>
                                    <p:cond delay="0"/>
                                  </p:stCondLst>
                                  <p:childTnLst>
                                    <p:set>
                                      <p:cBhvr>
                                        <p:cTn id="12" dur="1" fill="hold">
                                          <p:stCondLst>
                                            <p:cond delay="0"/>
                                          </p:stCondLst>
                                        </p:cTn>
                                        <p:tgtEl>
                                          <p:spTgt spid="16"/>
                                        </p:tgtEl>
                                        <p:attrNameLst>
                                          <p:attrName>style.visibility</p:attrName>
                                        </p:attrNameLst>
                                      </p:cBhvr>
                                      <p:to>
                                        <p:strVal val="visible"/>
                                      </p:to>
                                    </p:set>
                                    <p:animEffect transition="in" filter="fade">
                                      <p:cBhvr>
                                        <p:cTn id="13" dur="400"/>
                                        <p:tgtEl>
                                          <p:spTgt spid="16"/>
                                        </p:tgtEl>
                                      </p:cBhvr>
                                    </p:animEffect>
                                  </p:childTnLst>
                                </p:cTn>
                              </p:par>
                              <p:par>
                                <p:cTn id="14" presetID="10" presetClass="entr" presetSubtype="0" fill="hold" nodeType="withEffect">
                                  <p:stCondLst>
                                    <p:cond delay="0"/>
                                  </p:stCondLst>
                                  <p:childTnLst>
                                    <p:set>
                                      <p:cBhvr>
                                        <p:cTn id="15" dur="1" fill="hold">
                                          <p:stCondLst>
                                            <p:cond delay="0"/>
                                          </p:stCondLst>
                                        </p:cTn>
                                        <p:tgtEl>
                                          <p:spTgt spid="18"/>
                                        </p:tgtEl>
                                        <p:attrNameLst>
                                          <p:attrName>style.visibility</p:attrName>
                                        </p:attrNameLst>
                                      </p:cBhvr>
                                      <p:to>
                                        <p:strVal val="visible"/>
                                      </p:to>
                                    </p:set>
                                    <p:animEffect transition="in" filter="fade">
                                      <p:cBhvr>
                                        <p:cTn id="16" dur="400"/>
                                        <p:tgtEl>
                                          <p:spTgt spid="18"/>
                                        </p:tgtEl>
                                      </p:cBhvr>
                                    </p:animEffect>
                                  </p:childTnLst>
                                </p:cTn>
                              </p:par>
                              <p:par>
                                <p:cTn id="17" presetID="10" presetClass="entr" presetSubtype="0" fill="hold" nodeType="withEffect">
                                  <p:stCondLst>
                                    <p:cond delay="0"/>
                                  </p:stCondLst>
                                  <p:childTnLst>
                                    <p:set>
                                      <p:cBhvr>
                                        <p:cTn id="18" dur="1" fill="hold">
                                          <p:stCondLst>
                                            <p:cond delay="0"/>
                                          </p:stCondLst>
                                        </p:cTn>
                                        <p:tgtEl>
                                          <p:spTgt spid="20"/>
                                        </p:tgtEl>
                                        <p:attrNameLst>
                                          <p:attrName>style.visibility</p:attrName>
                                        </p:attrNameLst>
                                      </p:cBhvr>
                                      <p:to>
                                        <p:strVal val="visible"/>
                                      </p:to>
                                    </p:set>
                                    <p:animEffect transition="in" filter="fade">
                                      <p:cBhvr>
                                        <p:cTn id="19" dur="400"/>
                                        <p:tgtEl>
                                          <p:spTgt spid="20"/>
                                        </p:tgtEl>
                                      </p:cBhvr>
                                    </p:animEffect>
                                  </p:childTnLst>
                                </p:cTn>
                              </p:par>
                              <p:par>
                                <p:cTn id="20" presetID="10" presetClass="entr" presetSubtype="0" fill="hold" nodeType="withEffect">
                                  <p:stCondLst>
                                    <p:cond delay="0"/>
                                  </p:stCondLst>
                                  <p:childTnLst>
                                    <p:set>
                                      <p:cBhvr>
                                        <p:cTn id="21" dur="1" fill="hold">
                                          <p:stCondLst>
                                            <p:cond delay="0"/>
                                          </p:stCondLst>
                                        </p:cTn>
                                        <p:tgtEl>
                                          <p:spTgt spid="22"/>
                                        </p:tgtEl>
                                        <p:attrNameLst>
                                          <p:attrName>style.visibility</p:attrName>
                                        </p:attrNameLst>
                                      </p:cBhvr>
                                      <p:to>
                                        <p:strVal val="visible"/>
                                      </p:to>
                                    </p:set>
                                    <p:animEffect transition="in" filter="fade">
                                      <p:cBhvr>
                                        <p:cTn id="22" dur="400"/>
                                        <p:tgtEl>
                                          <p:spTgt spid="22"/>
                                        </p:tgtEl>
                                      </p:cBhvr>
                                    </p:animEffect>
                                  </p:childTnLst>
                                </p:cTn>
                              </p:par>
                              <p:par>
                                <p:cTn id="23" presetID="10" presetClass="entr" presetSubtype="0" fill="hold" nodeType="withEffect">
                                  <p:stCondLst>
                                    <p:cond delay="0"/>
                                  </p:stCondLst>
                                  <p:childTnLst>
                                    <p:set>
                                      <p:cBhvr>
                                        <p:cTn id="24" dur="1" fill="hold">
                                          <p:stCondLst>
                                            <p:cond delay="0"/>
                                          </p:stCondLst>
                                        </p:cTn>
                                        <p:tgtEl>
                                          <p:spTgt spid="24"/>
                                        </p:tgtEl>
                                        <p:attrNameLst>
                                          <p:attrName>style.visibility</p:attrName>
                                        </p:attrNameLst>
                                      </p:cBhvr>
                                      <p:to>
                                        <p:strVal val="visible"/>
                                      </p:to>
                                    </p:set>
                                    <p:animEffect transition="in" filter="fade">
                                      <p:cBhvr>
                                        <p:cTn id="25" dur="400"/>
                                        <p:tgtEl>
                                          <p:spTgt spid="2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name="Slide 9">
    <p:bg>
      <p:bgPr>
        <a:blipFill dpi="0" rotWithShape="1">
          <a:blip r:embed="rId1">
            <a:lum/>
          </a:blip>
          <a:srcRect/>
          <a:stretch>
            <a:fillRect/>
          </a:stretch>
        </a:blipFill>
        <a:effectLst/>
      </p:bgPr>
    </p:bg>
    <p:spTree>
      <p:nvGrpSpPr>
        <p:cNvPr id="2" name=""/>
        <p:cNvGrpSpPr/>
        <p:nvPr/>
      </p:nvGrpSpPr>
      <p:grpSpPr>
        <a:xfrm>
          <a:off x="0" y="0"/>
          <a:ext cx="0" cy="0"/>
          <a:chOff x="0" y="0"/>
          <a:chExt cx="0" cy="0"/>
        </a:xfrm>
      </p:grpSpPr>
      <p:sp>
        <p:nvSpPr>
          <p:cNvPr id="3" name="levelFrame_160"/>
          <p:cNvSpPr/>
          <p:nvPr/>
        </p:nvSpPr>
        <p:spPr>
          <a:xfrm>
            <a:off x="54864" y="54864"/>
            <a:ext cx="9034272" cy="5033772"/>
          </a:xfrm>
          <a:prstGeom prst="rect">
            <a:avLst/>
          </a:prstGeom>
          <a:ln w="114300">
            <a:solidFill>
              <a:srgbClr val="A8E6B4"/>
            </a:solidFill>
            <a:prstDash val="solid"/>
          </a:ln>
        </p:spPr>
      </p:sp>
      <p:pic>
        <p:nvPicPr>
          <p:cNvPr id="4" name="logo_161" descr="London Language School logo">    </p:cNvPr>
          <p:cNvPicPr>
            <a:picLocks noChangeAspect="1"/>
          </p:cNvPicPr>
          <p:nvPr/>
        </p:nvPicPr>
        <p:blipFill>
          <a:blip r:embed="rId2"/>
          <a:stretch>
            <a:fillRect/>
          </a:stretch>
        </p:blipFill>
        <p:spPr>
          <a:xfrm>
            <a:off x="8275320" y="182880"/>
            <a:ext cx="585216" cy="585216"/>
          </a:xfrm>
          <a:prstGeom prst="rect">
            <a:avLst/>
          </a:prstGeom>
        </p:spPr>
      </p:pic>
      <p:sp>
        <p:nvSpPr>
          <p:cNvPr id="5" name="objective_162"/>
          <p:cNvSpPr txBox="1"/>
          <p:nvPr/>
        </p:nvSpPr>
        <p:spPr>
          <a:xfrm>
            <a:off x="320040" y="182880"/>
            <a:ext cx="4206240" cy="365760"/>
          </a:xfrm>
          <a:prstGeom prst="roundRect">
            <a:avLst>
              <a:gd name="adj" fmla="val 20000"/>
            </a:avLst>
          </a:prstGeom>
          <a:solidFill>
            <a:srgbClr val="062F67"/>
          </a:solidFill>
          <a:ln w="31750">
            <a:solidFill>
              <a:srgbClr val="111111"/>
            </a:solidFill>
          </a:ln>
        </p:spPr>
        <p:txBody>
          <a:bodyPr wrap="square" lIns="101600" tIns="101600" rIns="101600" bIns="101600" rtlCol="0" anchor="ctr"/>
          <a:lstStyle/>
          <a:p>
            <a:pPr indent="0" marL="0">
              <a:buNone/>
            </a:pPr>
            <a:r>
              <a:rPr lang="en-US" sz="900" dirty="0">
                <a:solidFill>
                  <a:srgbClr val="FFFFFF"/>
                </a:solidFill>
                <a:latin typeface="Arial Black" pitchFamily="34" charset="0"/>
                <a:ea typeface="Arial Black" pitchFamily="34" charset="-122"/>
                <a:cs typeface="Arial Black" pitchFamily="34" charset="-120"/>
              </a:rPr>
              <a:t>LISTENING · Weeks 2 and 3</a:t>
            </a:r>
            <a:endParaRPr lang="en-US" sz="900" dirty="0"/>
          </a:p>
        </p:txBody>
      </p:sp>
      <p:sp>
        <p:nvSpPr>
          <p:cNvPr id="6" name="footer_163"/>
          <p:cNvSpPr txBox="1"/>
          <p:nvPr/>
        </p:nvSpPr>
        <p:spPr>
          <a:xfrm>
            <a:off x="7315200" y="4818888"/>
            <a:ext cx="1554480" cy="219456"/>
          </a:xfrm>
          <a:prstGeom prst="rect">
            <a:avLst/>
          </a:prstGeom>
          <a:solidFill>
            <a:srgbClr val="FFFFFF"/>
          </a:solidFill>
          <a:ln/>
        </p:spPr>
        <p:txBody>
          <a:bodyPr wrap="square" lIns="0" tIns="0" rIns="0" bIns="0" rtlCol="0" anchor="ctr"/>
          <a:lstStyle/>
          <a:p>
            <a:pPr algn="ctr" indent="0" marL="0">
              <a:buNone/>
            </a:pPr>
            <a:r>
              <a:rPr lang="en-US" sz="1000" dirty="0">
                <a:solidFill>
                  <a:srgbClr val="334155"/>
                </a:solidFill>
                <a:latin typeface="Calibri" pitchFamily="34" charset="0"/>
                <a:ea typeface="Calibri" pitchFamily="34" charset="-122"/>
                <a:cs typeface="Calibri" pitchFamily="34" charset="-120"/>
              </a:rPr>
              <a:t>7A · Part 1</a:t>
            </a:r>
            <a:endParaRPr lang="en-US" sz="1000" dirty="0"/>
          </a:p>
        </p:txBody>
      </p:sp>
      <p:sp>
        <p:nvSpPr>
          <p:cNvPr id="7" name="title_164"/>
          <p:cNvSpPr txBox="1"/>
          <p:nvPr/>
        </p:nvSpPr>
        <p:spPr>
          <a:xfrm rot="-120000">
            <a:off x="320040" y="658368"/>
            <a:ext cx="6409944" cy="548640"/>
          </a:xfrm>
          <a:prstGeom prst="rect">
            <a:avLst/>
          </a:prstGeom>
          <a:solidFill>
            <a:srgbClr val="FFD84D"/>
          </a:solidFill>
          <a:ln w="31750">
            <a:solidFill>
              <a:srgbClr val="111111"/>
            </a:solidFill>
          </a:ln>
          <a:effectLst>
            <a:outerShdw sx="100000" sy="100000" kx="0" ky="0" algn="bl" rotWithShape="0" blurRad="101600" dist="38100" dir="2700000">
              <a:srgbClr val="000000">
                <a:alpha val="35000"/>
              </a:srgbClr>
            </a:outerShdw>
          </a:effectLst>
        </p:spPr>
        <p:txBody>
          <a:bodyPr wrap="square" lIns="127000" tIns="127000" rIns="127000" bIns="127000" rtlCol="0" anchor="ctr"/>
          <a:lstStyle/>
          <a:p>
            <a:pPr indent="0" marL="0">
              <a:buNone/>
            </a:pPr>
            <a:r>
              <a:rPr lang="en-US" sz="1600" dirty="0">
                <a:solidFill>
                  <a:srgbClr val="111111"/>
                </a:solidFill>
                <a:latin typeface="Arial Black" pitchFamily="34" charset="0"/>
                <a:ea typeface="Arial Black" pitchFamily="34" charset="-122"/>
                <a:cs typeface="Arial Black" pitchFamily="34" charset="-120"/>
              </a:rPr>
              <a:t>True about the Chinese teachers? ✓</a:t>
            </a:r>
            <a:endParaRPr lang="en-US" sz="1600" dirty="0"/>
          </a:p>
        </p:txBody>
      </p:sp>
      <p:sp>
        <p:nvSpPr>
          <p:cNvPr id="8" name="item_165"/>
          <p:cNvSpPr txBox="1"/>
          <p:nvPr/>
        </p:nvSpPr>
        <p:spPr>
          <a:xfrm>
            <a:off x="365760" y="1371600"/>
            <a:ext cx="3657600" cy="512064"/>
          </a:xfrm>
          <a:prstGeom prst="rect">
            <a:avLst/>
          </a:prstGeom>
          <a:solidFill>
            <a:srgbClr val="FFFFFF"/>
          </a:solidFill>
          <a:ln w="15875">
            <a:solidFill>
              <a:srgbClr val="111111"/>
            </a:solidFill>
          </a:ln>
        </p:spPr>
        <p:txBody>
          <a:bodyPr wrap="square" lIns="76200" tIns="76200" rIns="76200" bIns="76200" rtlCol="0" anchor="ctr"/>
          <a:lstStyle/>
          <a:p>
            <a:pPr indent="0" marL="0">
              <a:buNone/>
            </a:pPr>
            <a:r>
              <a:rPr lang="en-US" sz="1300" dirty="0">
                <a:solidFill>
                  <a:srgbClr val="111111"/>
                </a:solidFill>
                <a:latin typeface="Calibri" pitchFamily="34" charset="0"/>
                <a:ea typeface="Calibri" pitchFamily="34" charset="-122"/>
                <a:cs typeface="Calibri" pitchFamily="34" charset="-120"/>
              </a:rPr>
              <a:t>1  They teach very quickly.</a:t>
            </a:r>
            <a:endParaRPr lang="en-US" sz="1300" dirty="0"/>
          </a:p>
        </p:txBody>
      </p:sp>
      <p:sp>
        <p:nvSpPr>
          <p:cNvPr id="9" name="R1_tick0"/>
          <p:cNvSpPr txBox="1"/>
          <p:nvPr/>
        </p:nvSpPr>
        <p:spPr>
          <a:xfrm>
            <a:off x="4069080" y="1426464"/>
            <a:ext cx="411480" cy="411480"/>
          </a:xfrm>
          <a:prstGeom prst="ellipse">
            <a:avLst/>
          </a:prstGeom>
          <a:solidFill>
            <a:srgbClr val="1FA463"/>
          </a:solidFill>
          <a:ln w="31750">
            <a:solidFill>
              <a:srgbClr val="111111"/>
            </a:solidFill>
          </a:ln>
        </p:spPr>
        <p:txBody>
          <a:bodyPr wrap="square" rtlCol="0" anchor="ctr"/>
          <a:lstStyle/>
          <a:p>
            <a:pPr algn="ctr" indent="0" marL="0">
              <a:buNone/>
            </a:pPr>
            <a:r>
              <a:rPr lang="en-US" sz="1600" dirty="0">
                <a:solidFill>
                  <a:srgbClr val="FFFFFF"/>
                </a:solidFill>
                <a:latin typeface="Arial Black" pitchFamily="34" charset="0"/>
                <a:ea typeface="Arial Black" pitchFamily="34" charset="-122"/>
                <a:cs typeface="Arial Black" pitchFamily="34" charset="-120"/>
              </a:rPr>
              <a:t>✓</a:t>
            </a:r>
            <a:endParaRPr lang="en-US" sz="1600" dirty="0"/>
          </a:p>
        </p:txBody>
      </p:sp>
      <p:sp>
        <p:nvSpPr>
          <p:cNvPr id="10" name="item_166"/>
          <p:cNvSpPr txBox="1"/>
          <p:nvPr/>
        </p:nvSpPr>
        <p:spPr>
          <a:xfrm>
            <a:off x="365760" y="1975104"/>
            <a:ext cx="3657600" cy="512064"/>
          </a:xfrm>
          <a:prstGeom prst="rect">
            <a:avLst/>
          </a:prstGeom>
          <a:solidFill>
            <a:srgbClr val="FFFFFF"/>
          </a:solidFill>
          <a:ln w="15875">
            <a:solidFill>
              <a:srgbClr val="111111"/>
            </a:solidFill>
          </a:ln>
        </p:spPr>
        <p:txBody>
          <a:bodyPr wrap="square" lIns="76200" tIns="76200" rIns="76200" bIns="76200" rtlCol="0" anchor="ctr"/>
          <a:lstStyle/>
          <a:p>
            <a:pPr indent="0" marL="0">
              <a:buNone/>
            </a:pPr>
            <a:r>
              <a:rPr lang="en-US" sz="1300" dirty="0">
                <a:solidFill>
                  <a:srgbClr val="111111"/>
                </a:solidFill>
                <a:latin typeface="Calibri" pitchFamily="34" charset="0"/>
                <a:ea typeface="Calibri" pitchFamily="34" charset="-122"/>
                <a:cs typeface="Calibri" pitchFamily="34" charset="-120"/>
              </a:rPr>
              <a:t>2  They make students copy from the board.</a:t>
            </a:r>
            <a:endParaRPr lang="en-US" sz="1300" dirty="0"/>
          </a:p>
        </p:txBody>
      </p:sp>
      <p:sp>
        <p:nvSpPr>
          <p:cNvPr id="11" name="R1_tick1"/>
          <p:cNvSpPr txBox="1"/>
          <p:nvPr/>
        </p:nvSpPr>
        <p:spPr>
          <a:xfrm>
            <a:off x="4069080" y="2029968"/>
            <a:ext cx="411480" cy="411480"/>
          </a:xfrm>
          <a:prstGeom prst="ellipse">
            <a:avLst/>
          </a:prstGeom>
          <a:solidFill>
            <a:srgbClr val="1FA463"/>
          </a:solidFill>
          <a:ln w="31750">
            <a:solidFill>
              <a:srgbClr val="111111"/>
            </a:solidFill>
          </a:ln>
        </p:spPr>
        <p:txBody>
          <a:bodyPr wrap="square" rtlCol="0" anchor="ctr"/>
          <a:lstStyle/>
          <a:p>
            <a:pPr algn="ctr" indent="0" marL="0">
              <a:buNone/>
            </a:pPr>
            <a:r>
              <a:rPr lang="en-US" sz="1600" dirty="0">
                <a:solidFill>
                  <a:srgbClr val="FFFFFF"/>
                </a:solidFill>
                <a:latin typeface="Arial Black" pitchFamily="34" charset="0"/>
                <a:ea typeface="Arial Black" pitchFamily="34" charset="-122"/>
                <a:cs typeface="Arial Black" pitchFamily="34" charset="-120"/>
              </a:rPr>
              <a:t>✓</a:t>
            </a:r>
            <a:endParaRPr lang="en-US" sz="1600" dirty="0"/>
          </a:p>
        </p:txBody>
      </p:sp>
      <p:sp>
        <p:nvSpPr>
          <p:cNvPr id="12" name="item_167"/>
          <p:cNvSpPr txBox="1"/>
          <p:nvPr/>
        </p:nvSpPr>
        <p:spPr>
          <a:xfrm>
            <a:off x="365760" y="2578608"/>
            <a:ext cx="3657600" cy="512064"/>
          </a:xfrm>
          <a:prstGeom prst="rect">
            <a:avLst/>
          </a:prstGeom>
          <a:solidFill>
            <a:srgbClr val="FFFFFF"/>
          </a:solidFill>
          <a:ln w="15875">
            <a:solidFill>
              <a:srgbClr val="111111"/>
            </a:solidFill>
          </a:ln>
        </p:spPr>
        <p:txBody>
          <a:bodyPr wrap="square" lIns="76200" tIns="76200" rIns="76200" bIns="76200" rtlCol="0" anchor="ctr"/>
          <a:lstStyle/>
          <a:p>
            <a:pPr indent="0" marL="0">
              <a:buNone/>
            </a:pPr>
            <a:r>
              <a:rPr lang="en-US" sz="1200" dirty="0">
                <a:solidFill>
                  <a:srgbClr val="111111"/>
                </a:solidFill>
                <a:latin typeface="Calibri" pitchFamily="34" charset="0"/>
                <a:ea typeface="Calibri" pitchFamily="34" charset="-122"/>
                <a:cs typeface="Calibri" pitchFamily="34" charset="-120"/>
              </a:rPr>
              <a:t>3  They let students do experiments on their own.</a:t>
            </a:r>
            <a:endParaRPr lang="en-US" sz="1200" dirty="0"/>
          </a:p>
        </p:txBody>
      </p:sp>
      <p:sp>
        <p:nvSpPr>
          <p:cNvPr id="13" name="R1_tick2"/>
          <p:cNvSpPr txBox="1"/>
          <p:nvPr/>
        </p:nvSpPr>
        <p:spPr>
          <a:xfrm>
            <a:off x="4069080" y="2633472"/>
            <a:ext cx="411480" cy="411480"/>
          </a:xfrm>
          <a:prstGeom prst="ellipse">
            <a:avLst/>
          </a:prstGeom>
          <a:solidFill>
            <a:srgbClr val="EF2F2F"/>
          </a:solidFill>
          <a:ln w="31750">
            <a:solidFill>
              <a:srgbClr val="111111"/>
            </a:solidFill>
          </a:ln>
        </p:spPr>
        <p:txBody>
          <a:bodyPr wrap="square" rtlCol="0" anchor="ctr"/>
          <a:lstStyle/>
          <a:p>
            <a:pPr algn="ctr" indent="0" marL="0">
              <a:buNone/>
            </a:pPr>
            <a:r>
              <a:rPr lang="en-US" sz="1600" dirty="0">
                <a:solidFill>
                  <a:srgbClr val="FFFFFF"/>
                </a:solidFill>
                <a:latin typeface="Arial Black" pitchFamily="34" charset="0"/>
                <a:ea typeface="Arial Black" pitchFamily="34" charset="-122"/>
                <a:cs typeface="Arial Black" pitchFamily="34" charset="-120"/>
              </a:rPr>
              <a:t>✗</a:t>
            </a:r>
            <a:endParaRPr lang="en-US" sz="1600" dirty="0"/>
          </a:p>
        </p:txBody>
      </p:sp>
      <p:sp>
        <p:nvSpPr>
          <p:cNvPr id="14" name="item_168"/>
          <p:cNvSpPr txBox="1"/>
          <p:nvPr/>
        </p:nvSpPr>
        <p:spPr>
          <a:xfrm>
            <a:off x="365760" y="3182112"/>
            <a:ext cx="3657600" cy="512064"/>
          </a:xfrm>
          <a:prstGeom prst="rect">
            <a:avLst/>
          </a:prstGeom>
          <a:solidFill>
            <a:srgbClr val="FFFFFF"/>
          </a:solidFill>
          <a:ln w="15875">
            <a:solidFill>
              <a:srgbClr val="111111"/>
            </a:solidFill>
          </a:ln>
        </p:spPr>
        <p:txBody>
          <a:bodyPr wrap="square" lIns="76200" tIns="76200" rIns="76200" bIns="76200" rtlCol="0" anchor="ctr"/>
          <a:lstStyle/>
          <a:p>
            <a:pPr indent="0" marL="0">
              <a:buNone/>
            </a:pPr>
            <a:r>
              <a:rPr lang="en-US" sz="1100" dirty="0">
                <a:solidFill>
                  <a:srgbClr val="111111"/>
                </a:solidFill>
                <a:latin typeface="Calibri" pitchFamily="34" charset="0"/>
                <a:ea typeface="Calibri" pitchFamily="34" charset="-122"/>
                <a:cs typeface="Calibri" pitchFamily="34" charset="-120"/>
              </a:rPr>
              <a:t>4  They're not surprised by the students' attitude to learning.</a:t>
            </a:r>
            <a:endParaRPr lang="en-US" sz="1100" dirty="0"/>
          </a:p>
        </p:txBody>
      </p:sp>
      <p:sp>
        <p:nvSpPr>
          <p:cNvPr id="15" name="R1_tick3"/>
          <p:cNvSpPr txBox="1"/>
          <p:nvPr/>
        </p:nvSpPr>
        <p:spPr>
          <a:xfrm>
            <a:off x="4069080" y="3236976"/>
            <a:ext cx="411480" cy="411480"/>
          </a:xfrm>
          <a:prstGeom prst="ellipse">
            <a:avLst/>
          </a:prstGeom>
          <a:solidFill>
            <a:srgbClr val="EF2F2F"/>
          </a:solidFill>
          <a:ln w="31750">
            <a:solidFill>
              <a:srgbClr val="111111"/>
            </a:solidFill>
          </a:ln>
        </p:spPr>
        <p:txBody>
          <a:bodyPr wrap="square" rtlCol="0" anchor="ctr"/>
          <a:lstStyle/>
          <a:p>
            <a:pPr algn="ctr" indent="0" marL="0">
              <a:buNone/>
            </a:pPr>
            <a:r>
              <a:rPr lang="en-US" sz="1600" dirty="0">
                <a:solidFill>
                  <a:srgbClr val="FFFFFF"/>
                </a:solidFill>
                <a:latin typeface="Arial Black" pitchFamily="34" charset="0"/>
                <a:ea typeface="Arial Black" pitchFamily="34" charset="-122"/>
                <a:cs typeface="Arial Black" pitchFamily="34" charset="-120"/>
              </a:rPr>
              <a:t>✗</a:t>
            </a:r>
            <a:endParaRPr lang="en-US" sz="1600" dirty="0"/>
          </a:p>
        </p:txBody>
      </p:sp>
      <p:sp>
        <p:nvSpPr>
          <p:cNvPr id="16" name="item_169"/>
          <p:cNvSpPr txBox="1"/>
          <p:nvPr/>
        </p:nvSpPr>
        <p:spPr>
          <a:xfrm>
            <a:off x="365760" y="3785616"/>
            <a:ext cx="3657600" cy="512064"/>
          </a:xfrm>
          <a:prstGeom prst="rect">
            <a:avLst/>
          </a:prstGeom>
          <a:solidFill>
            <a:srgbClr val="FFFFFF"/>
          </a:solidFill>
          <a:ln w="15875">
            <a:solidFill>
              <a:srgbClr val="111111"/>
            </a:solidFill>
          </a:ln>
        </p:spPr>
        <p:txBody>
          <a:bodyPr wrap="square" lIns="76200" tIns="76200" rIns="76200" bIns="76200" rtlCol="0" anchor="ctr"/>
          <a:lstStyle/>
          <a:p>
            <a:pPr indent="0" marL="0">
              <a:buNone/>
            </a:pPr>
            <a:r>
              <a:rPr lang="en-US" sz="1100" dirty="0">
                <a:solidFill>
                  <a:srgbClr val="111111"/>
                </a:solidFill>
                <a:latin typeface="Calibri" pitchFamily="34" charset="0"/>
                <a:ea typeface="Calibri" pitchFamily="34" charset="-122"/>
                <a:cs typeface="Calibri" pitchFamily="34" charset="-120"/>
              </a:rPr>
              <a:t>5  They try punishing students to make them pay attention.</a:t>
            </a:r>
            <a:endParaRPr lang="en-US" sz="1100" dirty="0"/>
          </a:p>
        </p:txBody>
      </p:sp>
      <p:sp>
        <p:nvSpPr>
          <p:cNvPr id="17" name="R1_tick4"/>
          <p:cNvSpPr txBox="1"/>
          <p:nvPr/>
        </p:nvSpPr>
        <p:spPr>
          <a:xfrm>
            <a:off x="4069080" y="3840480"/>
            <a:ext cx="411480" cy="411480"/>
          </a:xfrm>
          <a:prstGeom prst="ellipse">
            <a:avLst/>
          </a:prstGeom>
          <a:solidFill>
            <a:srgbClr val="1FA463"/>
          </a:solidFill>
          <a:ln w="31750">
            <a:solidFill>
              <a:srgbClr val="111111"/>
            </a:solidFill>
          </a:ln>
        </p:spPr>
        <p:txBody>
          <a:bodyPr wrap="square" rtlCol="0" anchor="ctr"/>
          <a:lstStyle/>
          <a:p>
            <a:pPr algn="ctr" indent="0" marL="0">
              <a:buNone/>
            </a:pPr>
            <a:r>
              <a:rPr lang="en-US" sz="1600" dirty="0">
                <a:solidFill>
                  <a:srgbClr val="FFFFFF"/>
                </a:solidFill>
                <a:latin typeface="Arial Black" pitchFamily="34" charset="0"/>
                <a:ea typeface="Arial Black" pitchFamily="34" charset="-122"/>
                <a:cs typeface="Arial Black" pitchFamily="34" charset="-120"/>
              </a:rPr>
              <a:t>✓</a:t>
            </a:r>
            <a:endParaRPr lang="en-US" sz="1600" dirty="0"/>
          </a:p>
        </p:txBody>
      </p:sp>
      <p:sp>
        <p:nvSpPr>
          <p:cNvPr id="18" name="item_170"/>
          <p:cNvSpPr txBox="1"/>
          <p:nvPr/>
        </p:nvSpPr>
        <p:spPr>
          <a:xfrm>
            <a:off x="4617720" y="1371600"/>
            <a:ext cx="3657600" cy="512064"/>
          </a:xfrm>
          <a:prstGeom prst="rect">
            <a:avLst/>
          </a:prstGeom>
          <a:solidFill>
            <a:srgbClr val="FFFFFF"/>
          </a:solidFill>
          <a:ln w="15875">
            <a:solidFill>
              <a:srgbClr val="111111"/>
            </a:solidFill>
          </a:ln>
        </p:spPr>
        <p:txBody>
          <a:bodyPr wrap="square" lIns="76200" tIns="76200" rIns="76200" bIns="76200" rtlCol="0" anchor="ctr"/>
          <a:lstStyle/>
          <a:p>
            <a:pPr indent="0" marL="0">
              <a:buNone/>
            </a:pPr>
            <a:r>
              <a:rPr lang="en-US" sz="1100" dirty="0">
                <a:solidFill>
                  <a:srgbClr val="111111"/>
                </a:solidFill>
                <a:latin typeface="Calibri" pitchFamily="34" charset="0"/>
                <a:ea typeface="Calibri" pitchFamily="34" charset="-122"/>
                <a:cs typeface="Calibri" pitchFamily="34" charset="-120"/>
              </a:rPr>
              <a:t>6  They have problems with disciplining the British students.</a:t>
            </a:r>
            <a:endParaRPr lang="en-US" sz="1100" dirty="0"/>
          </a:p>
        </p:txBody>
      </p:sp>
      <p:sp>
        <p:nvSpPr>
          <p:cNvPr id="19" name="R1_tick5"/>
          <p:cNvSpPr txBox="1"/>
          <p:nvPr/>
        </p:nvSpPr>
        <p:spPr>
          <a:xfrm>
            <a:off x="8321040" y="1426464"/>
            <a:ext cx="411480" cy="411480"/>
          </a:xfrm>
          <a:prstGeom prst="ellipse">
            <a:avLst/>
          </a:prstGeom>
          <a:solidFill>
            <a:srgbClr val="1FA463"/>
          </a:solidFill>
          <a:ln w="31750">
            <a:solidFill>
              <a:srgbClr val="111111"/>
            </a:solidFill>
          </a:ln>
        </p:spPr>
        <p:txBody>
          <a:bodyPr wrap="square" rtlCol="0" anchor="ctr"/>
          <a:lstStyle/>
          <a:p>
            <a:pPr algn="ctr" indent="0" marL="0">
              <a:buNone/>
            </a:pPr>
            <a:r>
              <a:rPr lang="en-US" sz="1600" dirty="0">
                <a:solidFill>
                  <a:srgbClr val="FFFFFF"/>
                </a:solidFill>
                <a:latin typeface="Arial Black" pitchFamily="34" charset="0"/>
                <a:ea typeface="Arial Black" pitchFamily="34" charset="-122"/>
                <a:cs typeface="Arial Black" pitchFamily="34" charset="-120"/>
              </a:rPr>
              <a:t>✓</a:t>
            </a:r>
            <a:endParaRPr lang="en-US" sz="1600" dirty="0"/>
          </a:p>
        </p:txBody>
      </p:sp>
      <p:sp>
        <p:nvSpPr>
          <p:cNvPr id="20" name="item_171"/>
          <p:cNvSpPr txBox="1"/>
          <p:nvPr/>
        </p:nvSpPr>
        <p:spPr>
          <a:xfrm>
            <a:off x="4617720" y="1975104"/>
            <a:ext cx="3657600" cy="512064"/>
          </a:xfrm>
          <a:prstGeom prst="rect">
            <a:avLst/>
          </a:prstGeom>
          <a:solidFill>
            <a:srgbClr val="FFFFFF"/>
          </a:solidFill>
          <a:ln w="15875">
            <a:solidFill>
              <a:srgbClr val="111111"/>
            </a:solidFill>
          </a:ln>
        </p:spPr>
        <p:txBody>
          <a:bodyPr wrap="square" lIns="76200" tIns="76200" rIns="76200" bIns="76200" rtlCol="0" anchor="ctr"/>
          <a:lstStyle/>
          <a:p>
            <a:pPr indent="0" marL="0">
              <a:buNone/>
            </a:pPr>
            <a:r>
              <a:rPr lang="en-US" sz="1300" dirty="0">
                <a:solidFill>
                  <a:srgbClr val="111111"/>
                </a:solidFill>
                <a:latin typeface="Calibri" pitchFamily="34" charset="0"/>
                <a:ea typeface="Calibri" pitchFamily="34" charset="-122"/>
                <a:cs typeface="Calibri" pitchFamily="34" charset="-120"/>
              </a:rPr>
              <a:t>7  They expel several students from the class.</a:t>
            </a:r>
            <a:endParaRPr lang="en-US" sz="1300" dirty="0"/>
          </a:p>
        </p:txBody>
      </p:sp>
      <p:sp>
        <p:nvSpPr>
          <p:cNvPr id="21" name="R1_tick6"/>
          <p:cNvSpPr txBox="1"/>
          <p:nvPr/>
        </p:nvSpPr>
        <p:spPr>
          <a:xfrm>
            <a:off x="8321040" y="2029968"/>
            <a:ext cx="411480" cy="411480"/>
          </a:xfrm>
          <a:prstGeom prst="ellipse">
            <a:avLst/>
          </a:prstGeom>
          <a:solidFill>
            <a:srgbClr val="EF2F2F"/>
          </a:solidFill>
          <a:ln w="31750">
            <a:solidFill>
              <a:srgbClr val="111111"/>
            </a:solidFill>
          </a:ln>
        </p:spPr>
        <p:txBody>
          <a:bodyPr wrap="square" rtlCol="0" anchor="ctr"/>
          <a:lstStyle/>
          <a:p>
            <a:pPr algn="ctr" indent="0" marL="0">
              <a:buNone/>
            </a:pPr>
            <a:r>
              <a:rPr lang="en-US" sz="1600" dirty="0">
                <a:solidFill>
                  <a:srgbClr val="FFFFFF"/>
                </a:solidFill>
                <a:latin typeface="Arial Black" pitchFamily="34" charset="0"/>
                <a:ea typeface="Arial Black" pitchFamily="34" charset="-122"/>
                <a:cs typeface="Arial Black" pitchFamily="34" charset="-120"/>
              </a:rPr>
              <a:t>✗</a:t>
            </a:r>
            <a:endParaRPr lang="en-US" sz="1600" dirty="0"/>
          </a:p>
        </p:txBody>
      </p:sp>
      <p:sp>
        <p:nvSpPr>
          <p:cNvPr id="22" name="item_172"/>
          <p:cNvSpPr txBox="1"/>
          <p:nvPr/>
        </p:nvSpPr>
        <p:spPr>
          <a:xfrm>
            <a:off x="4617720" y="2578608"/>
            <a:ext cx="3657600" cy="512064"/>
          </a:xfrm>
          <a:prstGeom prst="rect">
            <a:avLst/>
          </a:prstGeom>
          <a:solidFill>
            <a:srgbClr val="FFFFFF"/>
          </a:solidFill>
          <a:ln w="15875">
            <a:solidFill>
              <a:srgbClr val="111111"/>
            </a:solidFill>
          </a:ln>
        </p:spPr>
        <p:txBody>
          <a:bodyPr wrap="square" lIns="76200" tIns="76200" rIns="76200" bIns="76200" rtlCol="0" anchor="ctr"/>
          <a:lstStyle/>
          <a:p>
            <a:pPr indent="0" marL="0">
              <a:buNone/>
            </a:pPr>
            <a:r>
              <a:rPr lang="en-US" sz="1100" dirty="0">
                <a:solidFill>
                  <a:srgbClr val="111111"/>
                </a:solidFill>
                <a:latin typeface="Calibri" pitchFamily="34" charset="0"/>
                <a:ea typeface="Calibri" pitchFamily="34" charset="-122"/>
                <a:cs typeface="Calibri" pitchFamily="34" charset="-120"/>
              </a:rPr>
              <a:t>8  When they see their method isn't working, they change their approach.</a:t>
            </a:r>
            <a:endParaRPr lang="en-US" sz="1100" dirty="0"/>
          </a:p>
        </p:txBody>
      </p:sp>
      <p:sp>
        <p:nvSpPr>
          <p:cNvPr id="23" name="R1_tick7"/>
          <p:cNvSpPr txBox="1"/>
          <p:nvPr/>
        </p:nvSpPr>
        <p:spPr>
          <a:xfrm>
            <a:off x="8321040" y="2633472"/>
            <a:ext cx="411480" cy="411480"/>
          </a:xfrm>
          <a:prstGeom prst="ellipse">
            <a:avLst/>
          </a:prstGeom>
          <a:solidFill>
            <a:srgbClr val="1FA463"/>
          </a:solidFill>
          <a:ln w="31750">
            <a:solidFill>
              <a:srgbClr val="111111"/>
            </a:solidFill>
          </a:ln>
        </p:spPr>
        <p:txBody>
          <a:bodyPr wrap="square" rtlCol="0" anchor="ctr"/>
          <a:lstStyle/>
          <a:p>
            <a:pPr algn="ctr" indent="0" marL="0">
              <a:buNone/>
            </a:pPr>
            <a:r>
              <a:rPr lang="en-US" sz="1600" dirty="0">
                <a:solidFill>
                  <a:srgbClr val="FFFFFF"/>
                </a:solidFill>
                <a:latin typeface="Arial Black" pitchFamily="34" charset="0"/>
                <a:ea typeface="Arial Black" pitchFamily="34" charset="-122"/>
                <a:cs typeface="Arial Black" pitchFamily="34" charset="-120"/>
              </a:rPr>
              <a:t>✓</a:t>
            </a:r>
            <a:endParaRPr lang="en-US" sz="1600" dirty="0"/>
          </a:p>
        </p:txBody>
      </p:sp>
      <p:sp>
        <p:nvSpPr>
          <p:cNvPr id="24" name="item_173"/>
          <p:cNvSpPr txBox="1"/>
          <p:nvPr/>
        </p:nvSpPr>
        <p:spPr>
          <a:xfrm>
            <a:off x="4617720" y="3182112"/>
            <a:ext cx="3657600" cy="512064"/>
          </a:xfrm>
          <a:prstGeom prst="rect">
            <a:avLst/>
          </a:prstGeom>
          <a:solidFill>
            <a:srgbClr val="FFFFFF"/>
          </a:solidFill>
          <a:ln w="15875">
            <a:solidFill>
              <a:srgbClr val="111111"/>
            </a:solidFill>
          </a:ln>
        </p:spPr>
        <p:txBody>
          <a:bodyPr wrap="square" lIns="76200" tIns="76200" rIns="76200" bIns="76200" rtlCol="0" anchor="ctr"/>
          <a:lstStyle/>
          <a:p>
            <a:pPr indent="0" marL="0">
              <a:buNone/>
            </a:pPr>
            <a:r>
              <a:rPr lang="en-US" sz="1300" dirty="0">
                <a:solidFill>
                  <a:srgbClr val="111111"/>
                </a:solidFill>
                <a:latin typeface="Calibri" pitchFamily="34" charset="0"/>
                <a:ea typeface="Calibri" pitchFamily="34" charset="-122"/>
                <a:cs typeface="Calibri" pitchFamily="34" charset="-120"/>
              </a:rPr>
              <a:t>9  They make the children do t'ai chi.</a:t>
            </a:r>
            <a:endParaRPr lang="en-US" sz="1300" dirty="0"/>
          </a:p>
        </p:txBody>
      </p:sp>
      <p:sp>
        <p:nvSpPr>
          <p:cNvPr id="25" name="R1_tick8"/>
          <p:cNvSpPr txBox="1"/>
          <p:nvPr/>
        </p:nvSpPr>
        <p:spPr>
          <a:xfrm>
            <a:off x="8321040" y="3236976"/>
            <a:ext cx="411480" cy="411480"/>
          </a:xfrm>
          <a:prstGeom prst="ellipse">
            <a:avLst/>
          </a:prstGeom>
          <a:solidFill>
            <a:srgbClr val="EF2F2F"/>
          </a:solidFill>
          <a:ln w="31750">
            <a:solidFill>
              <a:srgbClr val="111111"/>
            </a:solidFill>
          </a:ln>
        </p:spPr>
        <p:txBody>
          <a:bodyPr wrap="square" rtlCol="0" anchor="ctr"/>
          <a:lstStyle/>
          <a:p>
            <a:pPr algn="ctr" indent="0" marL="0">
              <a:buNone/>
            </a:pPr>
            <a:r>
              <a:rPr lang="en-US" sz="1600" dirty="0">
                <a:solidFill>
                  <a:srgbClr val="FFFFFF"/>
                </a:solidFill>
                <a:latin typeface="Arial Black" pitchFamily="34" charset="0"/>
                <a:ea typeface="Arial Black" pitchFamily="34" charset="-122"/>
                <a:cs typeface="Arial Black" pitchFamily="34" charset="-120"/>
              </a:rPr>
              <a:t>✗</a:t>
            </a:r>
            <a:endParaRPr lang="en-US" sz="1600" dirty="0"/>
          </a:p>
        </p:txBody>
      </p:sp>
      <p:sp>
        <p:nvSpPr>
          <p:cNvPr id="26" name="item_174"/>
          <p:cNvSpPr txBox="1"/>
          <p:nvPr/>
        </p:nvSpPr>
        <p:spPr>
          <a:xfrm>
            <a:off x="4617720" y="3785616"/>
            <a:ext cx="3657600" cy="512064"/>
          </a:xfrm>
          <a:prstGeom prst="rect">
            <a:avLst/>
          </a:prstGeom>
          <a:solidFill>
            <a:srgbClr val="FFFFFF"/>
          </a:solidFill>
          <a:ln w="15875">
            <a:solidFill>
              <a:srgbClr val="111111"/>
            </a:solidFill>
          </a:ln>
        </p:spPr>
        <p:txBody>
          <a:bodyPr wrap="square" lIns="76200" tIns="76200" rIns="76200" bIns="76200" rtlCol="0" anchor="ctr"/>
          <a:lstStyle/>
          <a:p>
            <a:pPr indent="0" marL="0">
              <a:buNone/>
            </a:pPr>
            <a:r>
              <a:rPr lang="en-US" sz="1150" dirty="0">
                <a:solidFill>
                  <a:srgbClr val="111111"/>
                </a:solidFill>
                <a:latin typeface="Calibri" pitchFamily="34" charset="0"/>
                <a:ea typeface="Calibri" pitchFamily="34" charset="-122"/>
                <a:cs typeface="Calibri" pitchFamily="34" charset="-120"/>
              </a:rPr>
              <a:t>10  They make a good impression on the parents.</a:t>
            </a:r>
            <a:endParaRPr lang="en-US" sz="1150" dirty="0"/>
          </a:p>
        </p:txBody>
      </p:sp>
      <p:sp>
        <p:nvSpPr>
          <p:cNvPr id="27" name="R1_tick9"/>
          <p:cNvSpPr txBox="1"/>
          <p:nvPr/>
        </p:nvSpPr>
        <p:spPr>
          <a:xfrm>
            <a:off x="8321040" y="3840480"/>
            <a:ext cx="411480" cy="411480"/>
          </a:xfrm>
          <a:prstGeom prst="ellipse">
            <a:avLst/>
          </a:prstGeom>
          <a:solidFill>
            <a:srgbClr val="1FA463"/>
          </a:solidFill>
          <a:ln w="31750">
            <a:solidFill>
              <a:srgbClr val="111111"/>
            </a:solidFill>
          </a:ln>
        </p:spPr>
        <p:txBody>
          <a:bodyPr wrap="square" rtlCol="0" anchor="ctr"/>
          <a:lstStyle/>
          <a:p>
            <a:pPr algn="ctr" indent="0" marL="0">
              <a:buNone/>
            </a:pPr>
            <a:r>
              <a:rPr lang="en-US" sz="1600" dirty="0">
                <a:solidFill>
                  <a:srgbClr val="FFFFFF"/>
                </a:solidFill>
                <a:latin typeface="Arial Black" pitchFamily="34" charset="0"/>
                <a:ea typeface="Arial Black" pitchFamily="34" charset="-122"/>
                <a:cs typeface="Arial Black" pitchFamily="34" charset="-120"/>
              </a:rPr>
              <a:t>✓</a:t>
            </a:r>
            <a:endParaRPr lang="en-US" sz="1600" dirty="0"/>
          </a:p>
        </p:txBody>
      </p:sp>
      <p:sp>
        <p:nvSpPr>
          <p:cNvPr id="28" name="instr_175"/>
          <p:cNvSpPr txBox="1"/>
          <p:nvPr/>
        </p:nvSpPr>
        <p:spPr>
          <a:xfrm>
            <a:off x="365760" y="4434840"/>
            <a:ext cx="8412480" cy="274320"/>
          </a:xfrm>
          <a:prstGeom prst="rect">
            <a:avLst/>
          </a:prstGeom>
          <a:noFill/>
          <a:ln/>
        </p:spPr>
        <p:txBody>
          <a:bodyPr wrap="square" rtlCol="0" anchor="ctr"/>
          <a:lstStyle/>
          <a:p>
            <a:pPr indent="0" marL="0">
              <a:buNone/>
            </a:pPr>
            <a:r>
              <a:rPr lang="en-US" sz="1200" dirty="0">
                <a:solidFill>
                  <a:srgbClr val="334155"/>
                </a:solidFill>
                <a:latin typeface="Calibri" pitchFamily="34" charset="0"/>
                <a:ea typeface="Calibri" pitchFamily="34" charset="-122"/>
                <a:cs typeface="Calibri" pitchFamily="34" charset="-120"/>
              </a:rPr>
              <a:t>Listen (7.8) and tick ✓ the true sentences.  ·  Ascolta e spunta le frasi vere.</a:t>
            </a:r>
            <a:endParaRPr lang="en-US" sz="1200" dirty="0"/>
          </a:p>
        </p:txBody>
      </p:sp>
      <p:sp>
        <p:nvSpPr>
          <p:cNvPr id="29" name="pageTag_176"/>
          <p:cNvSpPr txBox="1"/>
          <p:nvPr/>
        </p:nvSpPr>
        <p:spPr>
          <a:xfrm>
            <a:off x="320040" y="4773168"/>
            <a:ext cx="6766560" cy="237744"/>
          </a:xfrm>
          <a:prstGeom prst="rect">
            <a:avLst/>
          </a:prstGeom>
          <a:solidFill>
            <a:srgbClr val="FFFFFF"/>
          </a:solidFill>
          <a:ln/>
        </p:spPr>
        <p:txBody>
          <a:bodyPr wrap="square" lIns="25400" tIns="25400" rIns="25400" bIns="25400" rtlCol="0" anchor="ctr"/>
          <a:lstStyle/>
          <a:p>
            <a:pPr indent="0" marL="0">
              <a:buNone/>
            </a:pPr>
            <a:r>
              <a:rPr lang="en-US" sz="1000" dirty="0">
                <a:solidFill>
                  <a:srgbClr val="334155"/>
                </a:solidFill>
                <a:latin typeface="Calibri" pitchFamily="34" charset="0"/>
                <a:ea typeface="Calibri" pitchFamily="34" charset="-122"/>
                <a:cs typeface="Calibri" pitchFamily="34" charset="-120"/>
              </a:rPr>
              <a:t>📖 Teacher: Student's Book p.67 · 4c · audio 7.8</a:t>
            </a:r>
            <a:endParaRPr lang="en-US" sz="1000" dirty="0"/>
          </a:p>
        </p:txBody>
      </p:sp>
    </p:spTree>
  </p:cSld>
  <p:clrMapOvr>
    <a:masterClrMapping/>
  </p:clrMapOvr>
  <p:transition spd="med">
    <p:push dir="l"/>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400"/>
                                        <p:tgtEl>
                                          <p:spTgt spid="9"/>
                                        </p:tgtEl>
                                      </p:cBhvr>
                                    </p:animEffect>
                                  </p:childTnLst>
                                </p:cTn>
                              </p:par>
                              <p:par>
                                <p:cTn id="8" presetID="10" presetClass="entr" presetSubtype="0" fill="hold" nodeType="withEffect">
                                  <p:stCondLst>
                                    <p:cond delay="0"/>
                                  </p:stCondLst>
                                  <p:childTnLst>
                                    <p:set>
                                      <p:cBhvr>
                                        <p:cTn id="9" dur="1" fill="hold">
                                          <p:stCondLst>
                                            <p:cond delay="0"/>
                                          </p:stCondLst>
                                        </p:cTn>
                                        <p:tgtEl>
                                          <p:spTgt spid="11"/>
                                        </p:tgtEl>
                                        <p:attrNameLst>
                                          <p:attrName>style.visibility</p:attrName>
                                        </p:attrNameLst>
                                      </p:cBhvr>
                                      <p:to>
                                        <p:strVal val="visible"/>
                                      </p:to>
                                    </p:set>
                                    <p:animEffect transition="in" filter="fade">
                                      <p:cBhvr>
                                        <p:cTn id="10" dur="400"/>
                                        <p:tgtEl>
                                          <p:spTgt spid="11"/>
                                        </p:tgtEl>
                                      </p:cBhvr>
                                    </p:animEffect>
                                  </p:childTnLst>
                                </p:cTn>
                              </p:par>
                              <p:par>
                                <p:cTn id="11" presetID="10" presetClass="entr" presetSubtype="0" fill="hold" nodeType="withEffect">
                                  <p:stCondLst>
                                    <p:cond delay="0"/>
                                  </p:stCondLst>
                                  <p:childTnLst>
                                    <p:set>
                                      <p:cBhvr>
                                        <p:cTn id="12" dur="1" fill="hold">
                                          <p:stCondLst>
                                            <p:cond delay="0"/>
                                          </p:stCondLst>
                                        </p:cTn>
                                        <p:tgtEl>
                                          <p:spTgt spid="13"/>
                                        </p:tgtEl>
                                        <p:attrNameLst>
                                          <p:attrName>style.visibility</p:attrName>
                                        </p:attrNameLst>
                                      </p:cBhvr>
                                      <p:to>
                                        <p:strVal val="visible"/>
                                      </p:to>
                                    </p:set>
                                    <p:animEffect transition="in" filter="fade">
                                      <p:cBhvr>
                                        <p:cTn id="13" dur="400"/>
                                        <p:tgtEl>
                                          <p:spTgt spid="13"/>
                                        </p:tgtEl>
                                      </p:cBhvr>
                                    </p:animEffect>
                                  </p:childTnLst>
                                </p:cTn>
                              </p:par>
                              <p:par>
                                <p:cTn id="14" presetID="10" presetClass="entr" presetSubtype="0" fill="hold" nodeType="withEffect">
                                  <p:stCondLst>
                                    <p:cond delay="0"/>
                                  </p:stCondLst>
                                  <p:childTnLst>
                                    <p:set>
                                      <p:cBhvr>
                                        <p:cTn id="15" dur="1" fill="hold">
                                          <p:stCondLst>
                                            <p:cond delay="0"/>
                                          </p:stCondLst>
                                        </p:cTn>
                                        <p:tgtEl>
                                          <p:spTgt spid="15"/>
                                        </p:tgtEl>
                                        <p:attrNameLst>
                                          <p:attrName>style.visibility</p:attrName>
                                        </p:attrNameLst>
                                      </p:cBhvr>
                                      <p:to>
                                        <p:strVal val="visible"/>
                                      </p:to>
                                    </p:set>
                                    <p:animEffect transition="in" filter="fade">
                                      <p:cBhvr>
                                        <p:cTn id="16" dur="400"/>
                                        <p:tgtEl>
                                          <p:spTgt spid="15"/>
                                        </p:tgtEl>
                                      </p:cBhvr>
                                    </p:animEffect>
                                  </p:childTnLst>
                                </p:cTn>
                              </p:par>
                              <p:par>
                                <p:cTn id="17" presetID="10" presetClass="entr" presetSubtype="0" fill="hold" nodeType="withEffect">
                                  <p:stCondLst>
                                    <p:cond delay="0"/>
                                  </p:stCondLst>
                                  <p:childTnLst>
                                    <p:set>
                                      <p:cBhvr>
                                        <p:cTn id="18" dur="1" fill="hold">
                                          <p:stCondLst>
                                            <p:cond delay="0"/>
                                          </p:stCondLst>
                                        </p:cTn>
                                        <p:tgtEl>
                                          <p:spTgt spid="17"/>
                                        </p:tgtEl>
                                        <p:attrNameLst>
                                          <p:attrName>style.visibility</p:attrName>
                                        </p:attrNameLst>
                                      </p:cBhvr>
                                      <p:to>
                                        <p:strVal val="visible"/>
                                      </p:to>
                                    </p:set>
                                    <p:animEffect transition="in" filter="fade">
                                      <p:cBhvr>
                                        <p:cTn id="19" dur="400"/>
                                        <p:tgtEl>
                                          <p:spTgt spid="17"/>
                                        </p:tgtEl>
                                      </p:cBhvr>
                                    </p:animEffect>
                                  </p:childTnLst>
                                </p:cTn>
                              </p:par>
                              <p:par>
                                <p:cTn id="20" presetID="10" presetClass="entr" presetSubtype="0" fill="hold" nodeType="withEffect">
                                  <p:stCondLst>
                                    <p:cond delay="0"/>
                                  </p:stCondLst>
                                  <p:childTnLst>
                                    <p:set>
                                      <p:cBhvr>
                                        <p:cTn id="21" dur="1" fill="hold">
                                          <p:stCondLst>
                                            <p:cond delay="0"/>
                                          </p:stCondLst>
                                        </p:cTn>
                                        <p:tgtEl>
                                          <p:spTgt spid="19"/>
                                        </p:tgtEl>
                                        <p:attrNameLst>
                                          <p:attrName>style.visibility</p:attrName>
                                        </p:attrNameLst>
                                      </p:cBhvr>
                                      <p:to>
                                        <p:strVal val="visible"/>
                                      </p:to>
                                    </p:set>
                                    <p:animEffect transition="in" filter="fade">
                                      <p:cBhvr>
                                        <p:cTn id="22" dur="400"/>
                                        <p:tgtEl>
                                          <p:spTgt spid="19"/>
                                        </p:tgtEl>
                                      </p:cBhvr>
                                    </p:animEffect>
                                  </p:childTnLst>
                                </p:cTn>
                              </p:par>
                              <p:par>
                                <p:cTn id="23" presetID="10" presetClass="entr" presetSubtype="0" fill="hold" nodeType="withEffect">
                                  <p:stCondLst>
                                    <p:cond delay="0"/>
                                  </p:stCondLst>
                                  <p:childTnLst>
                                    <p:set>
                                      <p:cBhvr>
                                        <p:cTn id="24" dur="1" fill="hold">
                                          <p:stCondLst>
                                            <p:cond delay="0"/>
                                          </p:stCondLst>
                                        </p:cTn>
                                        <p:tgtEl>
                                          <p:spTgt spid="21"/>
                                        </p:tgtEl>
                                        <p:attrNameLst>
                                          <p:attrName>style.visibility</p:attrName>
                                        </p:attrNameLst>
                                      </p:cBhvr>
                                      <p:to>
                                        <p:strVal val="visible"/>
                                      </p:to>
                                    </p:set>
                                    <p:animEffect transition="in" filter="fade">
                                      <p:cBhvr>
                                        <p:cTn id="25" dur="400"/>
                                        <p:tgtEl>
                                          <p:spTgt spid="21"/>
                                        </p:tgtEl>
                                      </p:cBhvr>
                                    </p:animEffect>
                                  </p:childTnLst>
                                </p:cTn>
                              </p:par>
                              <p:par>
                                <p:cTn id="26" presetID="10" presetClass="entr" presetSubtype="0" fill="hold" nodeType="withEffect">
                                  <p:stCondLst>
                                    <p:cond delay="0"/>
                                  </p:stCondLst>
                                  <p:childTnLst>
                                    <p:set>
                                      <p:cBhvr>
                                        <p:cTn id="27" dur="1" fill="hold">
                                          <p:stCondLst>
                                            <p:cond delay="0"/>
                                          </p:stCondLst>
                                        </p:cTn>
                                        <p:tgtEl>
                                          <p:spTgt spid="23"/>
                                        </p:tgtEl>
                                        <p:attrNameLst>
                                          <p:attrName>style.visibility</p:attrName>
                                        </p:attrNameLst>
                                      </p:cBhvr>
                                      <p:to>
                                        <p:strVal val="visible"/>
                                      </p:to>
                                    </p:set>
                                    <p:animEffect transition="in" filter="fade">
                                      <p:cBhvr>
                                        <p:cTn id="28" dur="400"/>
                                        <p:tgtEl>
                                          <p:spTgt spid="23"/>
                                        </p:tgtEl>
                                      </p:cBhvr>
                                    </p:animEffect>
                                  </p:childTnLst>
                                </p:cTn>
                              </p:par>
                              <p:par>
                                <p:cTn id="29" presetID="10" presetClass="entr" presetSubtype="0" fill="hold" nodeType="withEffect">
                                  <p:stCondLst>
                                    <p:cond delay="0"/>
                                  </p:stCondLst>
                                  <p:childTnLst>
                                    <p:set>
                                      <p:cBhvr>
                                        <p:cTn id="30" dur="1" fill="hold">
                                          <p:stCondLst>
                                            <p:cond delay="0"/>
                                          </p:stCondLst>
                                        </p:cTn>
                                        <p:tgtEl>
                                          <p:spTgt spid="25"/>
                                        </p:tgtEl>
                                        <p:attrNameLst>
                                          <p:attrName>style.visibility</p:attrName>
                                        </p:attrNameLst>
                                      </p:cBhvr>
                                      <p:to>
                                        <p:strVal val="visible"/>
                                      </p:to>
                                    </p:set>
                                    <p:animEffect transition="in" filter="fade">
                                      <p:cBhvr>
                                        <p:cTn id="31" dur="400"/>
                                        <p:tgtEl>
                                          <p:spTgt spid="25"/>
                                        </p:tgtEl>
                                      </p:cBhvr>
                                    </p:animEffect>
                                  </p:childTnLst>
                                </p:cTn>
                              </p:par>
                              <p:par>
                                <p:cTn id="32" presetID="10" presetClass="entr" presetSubtype="0" fill="hold" nodeType="withEffect">
                                  <p:stCondLst>
                                    <p:cond delay="0"/>
                                  </p:stCondLst>
                                  <p:childTnLst>
                                    <p:set>
                                      <p:cBhvr>
                                        <p:cTn id="33" dur="1" fill="hold">
                                          <p:stCondLst>
                                            <p:cond delay="0"/>
                                          </p:stCondLst>
                                        </p:cTn>
                                        <p:tgtEl>
                                          <p:spTgt spid="27"/>
                                        </p:tgtEl>
                                        <p:attrNameLst>
                                          <p:attrName>style.visibility</p:attrName>
                                        </p:attrNameLst>
                                      </p:cBhvr>
                                      <p:to>
                                        <p:strVal val="visible"/>
                                      </p:to>
                                    </p:set>
                                    <p:animEffect transition="in" filter="fade">
                                      <p:cBhvr>
                                        <p:cTn id="34" dur="400"/>
                                        <p:tgtEl>
                                          <p:spTgt spid="2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name="Slide 10">
    <p:bg>
      <p:bgPr>
        <a:blipFill dpi="0" rotWithShape="1">
          <a:blip r:embed="rId1">
            <a:lum/>
          </a:blip>
          <a:srcRect/>
          <a:stretch>
            <a:fillRect/>
          </a:stretch>
        </a:blipFill>
        <a:effectLst/>
      </p:bgPr>
    </p:bg>
    <p:spTree>
      <p:nvGrpSpPr>
        <p:cNvPr id="2" name=""/>
        <p:cNvGrpSpPr/>
        <p:nvPr/>
      </p:nvGrpSpPr>
      <p:grpSpPr>
        <a:xfrm>
          <a:off x="0" y="0"/>
          <a:ext cx="0" cy="0"/>
          <a:chOff x="0" y="0"/>
          <a:chExt cx="0" cy="0"/>
        </a:xfrm>
      </p:grpSpPr>
      <p:sp>
        <p:nvSpPr>
          <p:cNvPr id="3" name="levelFrame_177"/>
          <p:cNvSpPr/>
          <p:nvPr/>
        </p:nvSpPr>
        <p:spPr>
          <a:xfrm>
            <a:off x="54864" y="54864"/>
            <a:ext cx="9034272" cy="5033772"/>
          </a:xfrm>
          <a:prstGeom prst="rect">
            <a:avLst/>
          </a:prstGeom>
          <a:ln w="114300">
            <a:solidFill>
              <a:srgbClr val="A8E6B4"/>
            </a:solidFill>
            <a:prstDash val="solid"/>
          </a:ln>
        </p:spPr>
      </p:sp>
      <p:pic>
        <p:nvPicPr>
          <p:cNvPr id="4" name="logo_178" descr="London Language School logo">    </p:cNvPr>
          <p:cNvPicPr>
            <a:picLocks noChangeAspect="1"/>
          </p:cNvPicPr>
          <p:nvPr/>
        </p:nvPicPr>
        <p:blipFill>
          <a:blip r:embed="rId2"/>
          <a:stretch>
            <a:fillRect/>
          </a:stretch>
        </p:blipFill>
        <p:spPr>
          <a:xfrm>
            <a:off x="8275320" y="182880"/>
            <a:ext cx="585216" cy="585216"/>
          </a:xfrm>
          <a:prstGeom prst="rect">
            <a:avLst/>
          </a:prstGeom>
        </p:spPr>
      </p:pic>
      <p:sp>
        <p:nvSpPr>
          <p:cNvPr id="5" name="objective_179"/>
          <p:cNvSpPr txBox="1"/>
          <p:nvPr/>
        </p:nvSpPr>
        <p:spPr>
          <a:xfrm>
            <a:off x="320040" y="182880"/>
            <a:ext cx="4206240" cy="365760"/>
          </a:xfrm>
          <a:prstGeom prst="roundRect">
            <a:avLst>
              <a:gd name="adj" fmla="val 20000"/>
            </a:avLst>
          </a:prstGeom>
          <a:solidFill>
            <a:srgbClr val="062F67"/>
          </a:solidFill>
          <a:ln w="31750">
            <a:solidFill>
              <a:srgbClr val="111111"/>
            </a:solidFill>
          </a:ln>
        </p:spPr>
        <p:txBody>
          <a:bodyPr wrap="square" lIns="101600" tIns="101600" rIns="101600" bIns="101600" rtlCol="0" anchor="ctr"/>
          <a:lstStyle/>
          <a:p>
            <a:pPr indent="0" marL="0">
              <a:buNone/>
            </a:pPr>
            <a:r>
              <a:rPr lang="en-US" sz="900" dirty="0">
                <a:solidFill>
                  <a:srgbClr val="FFFFFF"/>
                </a:solidFill>
                <a:latin typeface="Arial Black" pitchFamily="34" charset="0"/>
                <a:ea typeface="Arial Black" pitchFamily="34" charset="-122"/>
                <a:cs typeface="Arial Black" pitchFamily="34" charset="-120"/>
              </a:rPr>
              <a:t>LISTENING · Week 4: the results</a:t>
            </a:r>
            <a:endParaRPr lang="en-US" sz="900" dirty="0"/>
          </a:p>
        </p:txBody>
      </p:sp>
      <p:sp>
        <p:nvSpPr>
          <p:cNvPr id="6" name="footer_180"/>
          <p:cNvSpPr txBox="1"/>
          <p:nvPr/>
        </p:nvSpPr>
        <p:spPr>
          <a:xfrm>
            <a:off x="7315200" y="4818888"/>
            <a:ext cx="1554480" cy="219456"/>
          </a:xfrm>
          <a:prstGeom prst="rect">
            <a:avLst/>
          </a:prstGeom>
          <a:solidFill>
            <a:srgbClr val="FFFFFF"/>
          </a:solidFill>
          <a:ln/>
        </p:spPr>
        <p:txBody>
          <a:bodyPr wrap="square" lIns="0" tIns="0" rIns="0" bIns="0" rtlCol="0" anchor="ctr"/>
          <a:lstStyle/>
          <a:p>
            <a:pPr algn="ctr" indent="0" marL="0">
              <a:buNone/>
            </a:pPr>
            <a:r>
              <a:rPr lang="en-US" sz="1000" dirty="0">
                <a:solidFill>
                  <a:srgbClr val="334155"/>
                </a:solidFill>
                <a:latin typeface="Calibri" pitchFamily="34" charset="0"/>
                <a:ea typeface="Calibri" pitchFamily="34" charset="-122"/>
                <a:cs typeface="Calibri" pitchFamily="34" charset="-120"/>
              </a:rPr>
              <a:t>7A · Part 1</a:t>
            </a:r>
            <a:endParaRPr lang="en-US" sz="1000" dirty="0"/>
          </a:p>
        </p:txBody>
      </p:sp>
      <p:sp>
        <p:nvSpPr>
          <p:cNvPr id="7" name="title_181"/>
          <p:cNvSpPr txBox="1"/>
          <p:nvPr/>
        </p:nvSpPr>
        <p:spPr>
          <a:xfrm rot="-120000">
            <a:off x="320040" y="658368"/>
            <a:ext cx="3630168" cy="548640"/>
          </a:xfrm>
          <a:prstGeom prst="rect">
            <a:avLst/>
          </a:prstGeom>
          <a:solidFill>
            <a:srgbClr val="FFD84D"/>
          </a:solidFill>
          <a:ln w="31750">
            <a:solidFill>
              <a:srgbClr val="111111"/>
            </a:solidFill>
          </a:ln>
          <a:effectLst>
            <a:outerShdw sx="100000" sy="100000" kx="0" ky="0" algn="bl" rotWithShape="0" blurRad="101600" dist="38100" dir="2700000">
              <a:srgbClr val="000000">
                <a:alpha val="35000"/>
              </a:srgbClr>
            </a:outerShdw>
          </a:effectLst>
        </p:spPr>
        <p:txBody>
          <a:bodyPr wrap="square" lIns="127000" tIns="127000" rIns="127000" bIns="127000" rtlCol="0" anchor="ctr"/>
          <a:lstStyle/>
          <a:p>
            <a:pPr indent="0" marL="0">
              <a:buNone/>
            </a:pPr>
            <a:r>
              <a:rPr lang="en-US" sz="1600" dirty="0">
                <a:solidFill>
                  <a:srgbClr val="111111"/>
                </a:solidFill>
                <a:latin typeface="Arial Black" pitchFamily="34" charset="0"/>
                <a:ea typeface="Arial Black" pitchFamily="34" charset="-122"/>
                <a:cs typeface="Arial Black" pitchFamily="34" charset="-120"/>
              </a:rPr>
              <a:t>And the winner is…</a:t>
            </a:r>
            <a:endParaRPr lang="en-US" sz="1600" dirty="0"/>
          </a:p>
        </p:txBody>
      </p:sp>
      <p:sp>
        <p:nvSpPr>
          <p:cNvPr id="8" name="cell_182"/>
          <p:cNvSpPr txBox="1"/>
          <p:nvPr/>
        </p:nvSpPr>
        <p:spPr>
          <a:xfrm>
            <a:off x="365760" y="1371600"/>
            <a:ext cx="1371600" cy="457200"/>
          </a:xfrm>
          <a:prstGeom prst="rect">
            <a:avLst/>
          </a:prstGeom>
          <a:solidFill>
            <a:srgbClr val="062F67"/>
          </a:solidFill>
          <a:ln w="15875">
            <a:solidFill>
              <a:srgbClr val="111111"/>
            </a:solidFill>
          </a:ln>
        </p:spPr>
        <p:txBody>
          <a:bodyPr wrap="square" rtlCol="0" anchor="ctr"/>
          <a:lstStyle/>
          <a:p>
            <a:pPr algn="ctr" indent="0" marL="0">
              <a:buNone/>
            </a:pPr>
            <a:r>
              <a:rPr lang="en-US" sz="1000" dirty="0">
                <a:solidFill>
                  <a:srgbClr val="FFFFFF"/>
                </a:solidFill>
                <a:latin typeface="Arial Black" pitchFamily="34" charset="0"/>
                <a:ea typeface="Arial Black" pitchFamily="34" charset="-122"/>
                <a:cs typeface="Arial Black" pitchFamily="34" charset="-120"/>
              </a:rPr>
              <a:t>Test</a:t>
            </a:r>
            <a:endParaRPr lang="en-US" sz="1000" dirty="0"/>
          </a:p>
        </p:txBody>
      </p:sp>
      <p:sp>
        <p:nvSpPr>
          <p:cNvPr id="9" name="cell_183"/>
          <p:cNvSpPr txBox="1"/>
          <p:nvPr/>
        </p:nvSpPr>
        <p:spPr>
          <a:xfrm>
            <a:off x="1783080" y="1371600"/>
            <a:ext cx="1371600" cy="457200"/>
          </a:xfrm>
          <a:prstGeom prst="rect">
            <a:avLst/>
          </a:prstGeom>
          <a:solidFill>
            <a:srgbClr val="062F67"/>
          </a:solidFill>
          <a:ln w="15875">
            <a:solidFill>
              <a:srgbClr val="111111"/>
            </a:solidFill>
          </a:ln>
        </p:spPr>
        <p:txBody>
          <a:bodyPr wrap="square" rtlCol="0" anchor="ctr"/>
          <a:lstStyle/>
          <a:p>
            <a:pPr algn="ctr" indent="0" marL="0">
              <a:buNone/>
            </a:pPr>
            <a:r>
              <a:rPr lang="en-US" sz="1000" dirty="0">
                <a:solidFill>
                  <a:srgbClr val="FFFFFF"/>
                </a:solidFill>
                <a:latin typeface="Arial Black" pitchFamily="34" charset="0"/>
                <a:ea typeface="Arial Black" pitchFamily="34" charset="-122"/>
                <a:cs typeface="Arial Black" pitchFamily="34" charset="-120"/>
              </a:rPr>
              <a:t>British teachers</a:t>
            </a:r>
            <a:endParaRPr lang="en-US" sz="1000" dirty="0"/>
          </a:p>
        </p:txBody>
      </p:sp>
      <p:sp>
        <p:nvSpPr>
          <p:cNvPr id="10" name="cell_184"/>
          <p:cNvSpPr txBox="1"/>
          <p:nvPr/>
        </p:nvSpPr>
        <p:spPr>
          <a:xfrm>
            <a:off x="3200400" y="1371600"/>
            <a:ext cx="1371600" cy="457200"/>
          </a:xfrm>
          <a:prstGeom prst="rect">
            <a:avLst/>
          </a:prstGeom>
          <a:solidFill>
            <a:srgbClr val="062F67"/>
          </a:solidFill>
          <a:ln w="15875">
            <a:solidFill>
              <a:srgbClr val="111111"/>
            </a:solidFill>
          </a:ln>
        </p:spPr>
        <p:txBody>
          <a:bodyPr wrap="square" rtlCol="0" anchor="ctr"/>
          <a:lstStyle/>
          <a:p>
            <a:pPr algn="ctr" indent="0" marL="0">
              <a:buNone/>
            </a:pPr>
            <a:r>
              <a:rPr lang="en-US" sz="1000" dirty="0">
                <a:solidFill>
                  <a:srgbClr val="FFFFFF"/>
                </a:solidFill>
                <a:latin typeface="Arial Black" pitchFamily="34" charset="0"/>
                <a:ea typeface="Arial Black" pitchFamily="34" charset="-122"/>
                <a:cs typeface="Arial Black" pitchFamily="34" charset="-120"/>
              </a:rPr>
              <a:t>Chinese teachers</a:t>
            </a:r>
            <a:endParaRPr lang="en-US" sz="1000" dirty="0"/>
          </a:p>
        </p:txBody>
      </p:sp>
      <p:sp>
        <p:nvSpPr>
          <p:cNvPr id="11" name="cell_185"/>
          <p:cNvSpPr txBox="1"/>
          <p:nvPr/>
        </p:nvSpPr>
        <p:spPr>
          <a:xfrm>
            <a:off x="365760" y="1874520"/>
            <a:ext cx="1371600" cy="457200"/>
          </a:xfrm>
          <a:prstGeom prst="rect">
            <a:avLst/>
          </a:prstGeom>
          <a:solidFill>
            <a:srgbClr val="FFFFFF"/>
          </a:solidFill>
          <a:ln w="15875">
            <a:solidFill>
              <a:srgbClr val="111111"/>
            </a:solidFill>
          </a:ln>
        </p:spPr>
        <p:txBody>
          <a:bodyPr wrap="square" rtlCol="0" anchor="ctr"/>
          <a:lstStyle/>
          <a:p>
            <a:pPr algn="ctr" indent="0" marL="0">
              <a:buNone/>
            </a:pPr>
            <a:r>
              <a:rPr lang="en-US" sz="1500" dirty="0">
                <a:solidFill>
                  <a:srgbClr val="111111"/>
                </a:solidFill>
                <a:latin typeface="Calibri" pitchFamily="34" charset="0"/>
                <a:ea typeface="Calibri" pitchFamily="34" charset="-122"/>
                <a:cs typeface="Calibri" pitchFamily="34" charset="-120"/>
              </a:rPr>
              <a:t>maths</a:t>
            </a:r>
            <a:endParaRPr lang="en-US" sz="1500" dirty="0"/>
          </a:p>
        </p:txBody>
      </p:sp>
      <p:sp>
        <p:nvSpPr>
          <p:cNvPr id="12" name="cell_186"/>
          <p:cNvSpPr txBox="1"/>
          <p:nvPr/>
        </p:nvSpPr>
        <p:spPr>
          <a:xfrm>
            <a:off x="1783080" y="1874520"/>
            <a:ext cx="1371600" cy="457200"/>
          </a:xfrm>
          <a:prstGeom prst="rect">
            <a:avLst/>
          </a:prstGeom>
          <a:solidFill>
            <a:srgbClr val="FFFFFF"/>
          </a:solidFill>
          <a:ln w="15875">
            <a:solidFill>
              <a:srgbClr val="111111"/>
            </a:solidFill>
          </a:ln>
        </p:spPr>
        <p:txBody>
          <a:bodyPr wrap="square" rtlCol="0" anchor="ctr"/>
          <a:lstStyle/>
          <a:p>
            <a:pPr algn="ctr" indent="0" marL="0">
              <a:buNone/>
            </a:pPr>
            <a:r>
              <a:rPr lang="en-US" sz="1500" dirty="0">
                <a:solidFill>
                  <a:srgbClr val="111111"/>
                </a:solidFill>
                <a:latin typeface="Calibri" pitchFamily="34" charset="0"/>
                <a:ea typeface="Calibri" pitchFamily="34" charset="-122"/>
                <a:cs typeface="Calibri" pitchFamily="34" charset="-120"/>
              </a:rPr>
              <a:t>?</a:t>
            </a:r>
            <a:endParaRPr lang="en-US" sz="1500" dirty="0"/>
          </a:p>
        </p:txBody>
      </p:sp>
      <p:sp>
        <p:nvSpPr>
          <p:cNvPr id="13" name="R1_res11"/>
          <p:cNvSpPr txBox="1"/>
          <p:nvPr/>
        </p:nvSpPr>
        <p:spPr>
          <a:xfrm>
            <a:off x="1783080" y="1874520"/>
            <a:ext cx="1371600" cy="457200"/>
          </a:xfrm>
          <a:prstGeom prst="rect">
            <a:avLst/>
          </a:prstGeom>
          <a:solidFill>
            <a:srgbClr val="E0F2FE"/>
          </a:solidFill>
          <a:ln w="15875">
            <a:solidFill>
              <a:srgbClr val="111111"/>
            </a:solidFill>
          </a:ln>
        </p:spPr>
        <p:txBody>
          <a:bodyPr wrap="square" rtlCol="0" anchor="ctr"/>
          <a:lstStyle/>
          <a:p>
            <a:pPr algn="ctr" indent="0" marL="0">
              <a:buNone/>
            </a:pPr>
            <a:r>
              <a:rPr lang="en-US" sz="1500" dirty="0">
                <a:solidFill>
                  <a:srgbClr val="111111"/>
                </a:solidFill>
                <a:latin typeface="Arial Black" pitchFamily="34" charset="0"/>
                <a:ea typeface="Arial Black" pitchFamily="34" charset="-122"/>
                <a:cs typeface="Arial Black" pitchFamily="34" charset="-120"/>
              </a:rPr>
              <a:t>54%</a:t>
            </a:r>
            <a:endParaRPr lang="en-US" sz="1500" dirty="0"/>
          </a:p>
        </p:txBody>
      </p:sp>
      <p:sp>
        <p:nvSpPr>
          <p:cNvPr id="14" name="cell_187"/>
          <p:cNvSpPr txBox="1"/>
          <p:nvPr/>
        </p:nvSpPr>
        <p:spPr>
          <a:xfrm>
            <a:off x="3200400" y="1874520"/>
            <a:ext cx="1371600" cy="457200"/>
          </a:xfrm>
          <a:prstGeom prst="rect">
            <a:avLst/>
          </a:prstGeom>
          <a:solidFill>
            <a:srgbClr val="FFFFFF"/>
          </a:solidFill>
          <a:ln w="15875">
            <a:solidFill>
              <a:srgbClr val="111111"/>
            </a:solidFill>
          </a:ln>
        </p:spPr>
        <p:txBody>
          <a:bodyPr wrap="square" rtlCol="0" anchor="ctr"/>
          <a:lstStyle/>
          <a:p>
            <a:pPr algn="ctr" indent="0" marL="0">
              <a:buNone/>
            </a:pPr>
            <a:r>
              <a:rPr lang="en-US" sz="1500" dirty="0">
                <a:solidFill>
                  <a:srgbClr val="111111"/>
                </a:solidFill>
                <a:latin typeface="Calibri" pitchFamily="34" charset="0"/>
                <a:ea typeface="Calibri" pitchFamily="34" charset="-122"/>
                <a:cs typeface="Calibri" pitchFamily="34" charset="-120"/>
              </a:rPr>
              <a:t>?</a:t>
            </a:r>
            <a:endParaRPr lang="en-US" sz="1500" dirty="0"/>
          </a:p>
        </p:txBody>
      </p:sp>
      <p:sp>
        <p:nvSpPr>
          <p:cNvPr id="15" name="R1_res12"/>
          <p:cNvSpPr txBox="1"/>
          <p:nvPr/>
        </p:nvSpPr>
        <p:spPr>
          <a:xfrm>
            <a:off x="3200400" y="1874520"/>
            <a:ext cx="1371600" cy="457200"/>
          </a:xfrm>
          <a:prstGeom prst="rect">
            <a:avLst/>
          </a:prstGeom>
          <a:solidFill>
            <a:srgbClr val="DCFCE7"/>
          </a:solidFill>
          <a:ln w="15875">
            <a:solidFill>
              <a:srgbClr val="111111"/>
            </a:solidFill>
          </a:ln>
        </p:spPr>
        <p:txBody>
          <a:bodyPr wrap="square" rtlCol="0" anchor="ctr"/>
          <a:lstStyle/>
          <a:p>
            <a:pPr algn="ctr" indent="0" marL="0">
              <a:buNone/>
            </a:pPr>
            <a:r>
              <a:rPr lang="en-US" sz="1500" dirty="0">
                <a:solidFill>
                  <a:srgbClr val="111111"/>
                </a:solidFill>
                <a:latin typeface="Arial Black" pitchFamily="34" charset="0"/>
                <a:ea typeface="Arial Black" pitchFamily="34" charset="-122"/>
                <a:cs typeface="Arial Black" pitchFamily="34" charset="-120"/>
              </a:rPr>
              <a:t>68%</a:t>
            </a:r>
            <a:endParaRPr lang="en-US" sz="1500" dirty="0"/>
          </a:p>
        </p:txBody>
      </p:sp>
      <p:sp>
        <p:nvSpPr>
          <p:cNvPr id="16" name="cell_188"/>
          <p:cNvSpPr txBox="1"/>
          <p:nvPr/>
        </p:nvSpPr>
        <p:spPr>
          <a:xfrm>
            <a:off x="365760" y="2377440"/>
            <a:ext cx="1371600" cy="457200"/>
          </a:xfrm>
          <a:prstGeom prst="rect">
            <a:avLst/>
          </a:prstGeom>
          <a:solidFill>
            <a:srgbClr val="FFFFFF"/>
          </a:solidFill>
          <a:ln w="15875">
            <a:solidFill>
              <a:srgbClr val="111111"/>
            </a:solidFill>
          </a:ln>
        </p:spPr>
        <p:txBody>
          <a:bodyPr wrap="square" rtlCol="0" anchor="ctr"/>
          <a:lstStyle/>
          <a:p>
            <a:pPr algn="ctr" indent="0" marL="0">
              <a:buNone/>
            </a:pPr>
            <a:r>
              <a:rPr lang="en-US" sz="1500" dirty="0">
                <a:solidFill>
                  <a:srgbClr val="111111"/>
                </a:solidFill>
                <a:latin typeface="Calibri" pitchFamily="34" charset="0"/>
                <a:ea typeface="Calibri" pitchFamily="34" charset="-122"/>
                <a:cs typeface="Calibri" pitchFamily="34" charset="-120"/>
              </a:rPr>
              <a:t>science</a:t>
            </a:r>
            <a:endParaRPr lang="en-US" sz="1500" dirty="0"/>
          </a:p>
        </p:txBody>
      </p:sp>
      <p:sp>
        <p:nvSpPr>
          <p:cNvPr id="17" name="cell_189"/>
          <p:cNvSpPr txBox="1"/>
          <p:nvPr/>
        </p:nvSpPr>
        <p:spPr>
          <a:xfrm>
            <a:off x="1783080" y="2377440"/>
            <a:ext cx="1371600" cy="457200"/>
          </a:xfrm>
          <a:prstGeom prst="rect">
            <a:avLst/>
          </a:prstGeom>
          <a:solidFill>
            <a:srgbClr val="FFFFFF"/>
          </a:solidFill>
          <a:ln w="15875">
            <a:solidFill>
              <a:srgbClr val="111111"/>
            </a:solidFill>
          </a:ln>
        </p:spPr>
        <p:txBody>
          <a:bodyPr wrap="square" rtlCol="0" anchor="ctr"/>
          <a:lstStyle/>
          <a:p>
            <a:pPr algn="ctr" indent="0" marL="0">
              <a:buNone/>
            </a:pPr>
            <a:r>
              <a:rPr lang="en-US" sz="1500" dirty="0">
                <a:solidFill>
                  <a:srgbClr val="111111"/>
                </a:solidFill>
                <a:latin typeface="Calibri" pitchFamily="34" charset="0"/>
                <a:ea typeface="Calibri" pitchFamily="34" charset="-122"/>
                <a:cs typeface="Calibri" pitchFamily="34" charset="-120"/>
              </a:rPr>
              <a:t>?</a:t>
            </a:r>
            <a:endParaRPr lang="en-US" sz="1500" dirty="0"/>
          </a:p>
        </p:txBody>
      </p:sp>
      <p:sp>
        <p:nvSpPr>
          <p:cNvPr id="18" name="R1_res21"/>
          <p:cNvSpPr txBox="1"/>
          <p:nvPr/>
        </p:nvSpPr>
        <p:spPr>
          <a:xfrm>
            <a:off x="1783080" y="2377440"/>
            <a:ext cx="1371600" cy="457200"/>
          </a:xfrm>
          <a:prstGeom prst="rect">
            <a:avLst/>
          </a:prstGeom>
          <a:solidFill>
            <a:srgbClr val="E0F2FE"/>
          </a:solidFill>
          <a:ln w="15875">
            <a:solidFill>
              <a:srgbClr val="111111"/>
            </a:solidFill>
          </a:ln>
        </p:spPr>
        <p:txBody>
          <a:bodyPr wrap="square" rtlCol="0" anchor="ctr"/>
          <a:lstStyle/>
          <a:p>
            <a:pPr algn="ctr" indent="0" marL="0">
              <a:buNone/>
            </a:pPr>
            <a:r>
              <a:rPr lang="en-US" sz="1500" dirty="0">
                <a:solidFill>
                  <a:srgbClr val="111111"/>
                </a:solidFill>
                <a:latin typeface="Arial Black" pitchFamily="34" charset="0"/>
                <a:ea typeface="Arial Black" pitchFamily="34" charset="-122"/>
                <a:cs typeface="Arial Black" pitchFamily="34" charset="-120"/>
              </a:rPr>
              <a:t>50%</a:t>
            </a:r>
            <a:endParaRPr lang="en-US" sz="1500" dirty="0"/>
          </a:p>
        </p:txBody>
      </p:sp>
      <p:sp>
        <p:nvSpPr>
          <p:cNvPr id="19" name="cell_190"/>
          <p:cNvSpPr txBox="1"/>
          <p:nvPr/>
        </p:nvSpPr>
        <p:spPr>
          <a:xfrm>
            <a:off x="3200400" y="2377440"/>
            <a:ext cx="1371600" cy="457200"/>
          </a:xfrm>
          <a:prstGeom prst="rect">
            <a:avLst/>
          </a:prstGeom>
          <a:solidFill>
            <a:srgbClr val="FFFFFF"/>
          </a:solidFill>
          <a:ln w="15875">
            <a:solidFill>
              <a:srgbClr val="111111"/>
            </a:solidFill>
          </a:ln>
        </p:spPr>
        <p:txBody>
          <a:bodyPr wrap="square" rtlCol="0" anchor="ctr"/>
          <a:lstStyle/>
          <a:p>
            <a:pPr algn="ctr" indent="0" marL="0">
              <a:buNone/>
            </a:pPr>
            <a:r>
              <a:rPr lang="en-US" sz="1500" dirty="0">
                <a:solidFill>
                  <a:srgbClr val="111111"/>
                </a:solidFill>
                <a:latin typeface="Calibri" pitchFamily="34" charset="0"/>
                <a:ea typeface="Calibri" pitchFamily="34" charset="-122"/>
                <a:cs typeface="Calibri" pitchFamily="34" charset="-120"/>
              </a:rPr>
              <a:t>?</a:t>
            </a:r>
            <a:endParaRPr lang="en-US" sz="1500" dirty="0"/>
          </a:p>
        </p:txBody>
      </p:sp>
      <p:sp>
        <p:nvSpPr>
          <p:cNvPr id="20" name="R1_res22"/>
          <p:cNvSpPr txBox="1"/>
          <p:nvPr/>
        </p:nvSpPr>
        <p:spPr>
          <a:xfrm>
            <a:off x="3200400" y="2377440"/>
            <a:ext cx="1371600" cy="457200"/>
          </a:xfrm>
          <a:prstGeom prst="rect">
            <a:avLst/>
          </a:prstGeom>
          <a:solidFill>
            <a:srgbClr val="DCFCE7"/>
          </a:solidFill>
          <a:ln w="15875">
            <a:solidFill>
              <a:srgbClr val="111111"/>
            </a:solidFill>
          </a:ln>
        </p:spPr>
        <p:txBody>
          <a:bodyPr wrap="square" rtlCol="0" anchor="ctr"/>
          <a:lstStyle/>
          <a:p>
            <a:pPr algn="ctr" indent="0" marL="0">
              <a:buNone/>
            </a:pPr>
            <a:r>
              <a:rPr lang="en-US" sz="1500" dirty="0">
                <a:solidFill>
                  <a:srgbClr val="111111"/>
                </a:solidFill>
                <a:latin typeface="Arial Black" pitchFamily="34" charset="0"/>
                <a:ea typeface="Arial Black" pitchFamily="34" charset="-122"/>
                <a:cs typeface="Arial Black" pitchFamily="34" charset="-120"/>
              </a:rPr>
              <a:t>58%</a:t>
            </a:r>
            <a:endParaRPr lang="en-US" sz="1500" dirty="0"/>
          </a:p>
        </p:txBody>
      </p:sp>
      <p:sp>
        <p:nvSpPr>
          <p:cNvPr id="21" name="cell_191"/>
          <p:cNvSpPr txBox="1"/>
          <p:nvPr/>
        </p:nvSpPr>
        <p:spPr>
          <a:xfrm>
            <a:off x="365760" y="2880360"/>
            <a:ext cx="1371600" cy="457200"/>
          </a:xfrm>
          <a:prstGeom prst="rect">
            <a:avLst/>
          </a:prstGeom>
          <a:solidFill>
            <a:srgbClr val="FFFFFF"/>
          </a:solidFill>
          <a:ln w="15875">
            <a:solidFill>
              <a:srgbClr val="111111"/>
            </a:solidFill>
          </a:ln>
        </p:spPr>
        <p:txBody>
          <a:bodyPr wrap="square" rtlCol="0" anchor="ctr"/>
          <a:lstStyle/>
          <a:p>
            <a:pPr algn="ctr" indent="0" marL="0">
              <a:buNone/>
            </a:pPr>
            <a:r>
              <a:rPr lang="en-US" sz="1500" dirty="0">
                <a:solidFill>
                  <a:srgbClr val="111111"/>
                </a:solidFill>
                <a:latin typeface="Calibri" pitchFamily="34" charset="0"/>
                <a:ea typeface="Calibri" pitchFamily="34" charset="-122"/>
                <a:cs typeface="Calibri" pitchFamily="34" charset="-120"/>
              </a:rPr>
              <a:t>Mandarin</a:t>
            </a:r>
            <a:endParaRPr lang="en-US" sz="1500" dirty="0"/>
          </a:p>
        </p:txBody>
      </p:sp>
      <p:sp>
        <p:nvSpPr>
          <p:cNvPr id="22" name="cell_192"/>
          <p:cNvSpPr txBox="1"/>
          <p:nvPr/>
        </p:nvSpPr>
        <p:spPr>
          <a:xfrm>
            <a:off x="1783080" y="2880360"/>
            <a:ext cx="1371600" cy="457200"/>
          </a:xfrm>
          <a:prstGeom prst="rect">
            <a:avLst/>
          </a:prstGeom>
          <a:solidFill>
            <a:srgbClr val="FFFFFF"/>
          </a:solidFill>
          <a:ln w="15875">
            <a:solidFill>
              <a:srgbClr val="111111"/>
            </a:solidFill>
          </a:ln>
        </p:spPr>
        <p:txBody>
          <a:bodyPr wrap="square" rtlCol="0" anchor="ctr"/>
          <a:lstStyle/>
          <a:p>
            <a:pPr algn="ctr" indent="0" marL="0">
              <a:buNone/>
            </a:pPr>
            <a:r>
              <a:rPr lang="en-US" sz="1500" dirty="0">
                <a:solidFill>
                  <a:srgbClr val="111111"/>
                </a:solidFill>
                <a:latin typeface="Calibri" pitchFamily="34" charset="0"/>
                <a:ea typeface="Calibri" pitchFamily="34" charset="-122"/>
                <a:cs typeface="Calibri" pitchFamily="34" charset="-120"/>
              </a:rPr>
              <a:t>?</a:t>
            </a:r>
            <a:endParaRPr lang="en-US" sz="1500" dirty="0"/>
          </a:p>
        </p:txBody>
      </p:sp>
      <p:sp>
        <p:nvSpPr>
          <p:cNvPr id="23" name="R1_res31"/>
          <p:cNvSpPr txBox="1"/>
          <p:nvPr/>
        </p:nvSpPr>
        <p:spPr>
          <a:xfrm>
            <a:off x="1783080" y="2880360"/>
            <a:ext cx="1371600" cy="457200"/>
          </a:xfrm>
          <a:prstGeom prst="rect">
            <a:avLst/>
          </a:prstGeom>
          <a:solidFill>
            <a:srgbClr val="E0F2FE"/>
          </a:solidFill>
          <a:ln w="15875">
            <a:solidFill>
              <a:srgbClr val="111111"/>
            </a:solidFill>
          </a:ln>
        </p:spPr>
        <p:txBody>
          <a:bodyPr wrap="square" rtlCol="0" anchor="ctr"/>
          <a:lstStyle/>
          <a:p>
            <a:pPr algn="ctr" indent="0" marL="0">
              <a:buNone/>
            </a:pPr>
            <a:r>
              <a:rPr lang="en-US" sz="1500" dirty="0">
                <a:solidFill>
                  <a:srgbClr val="111111"/>
                </a:solidFill>
                <a:latin typeface="Arial Black" pitchFamily="34" charset="0"/>
                <a:ea typeface="Arial Black" pitchFamily="34" charset="-122"/>
                <a:cs typeface="Arial Black" pitchFamily="34" charset="-120"/>
              </a:rPr>
              <a:t>37%</a:t>
            </a:r>
            <a:endParaRPr lang="en-US" sz="1500" dirty="0"/>
          </a:p>
        </p:txBody>
      </p:sp>
      <p:sp>
        <p:nvSpPr>
          <p:cNvPr id="24" name="cell_193"/>
          <p:cNvSpPr txBox="1"/>
          <p:nvPr/>
        </p:nvSpPr>
        <p:spPr>
          <a:xfrm>
            <a:off x="3200400" y="2880360"/>
            <a:ext cx="1371600" cy="457200"/>
          </a:xfrm>
          <a:prstGeom prst="rect">
            <a:avLst/>
          </a:prstGeom>
          <a:solidFill>
            <a:srgbClr val="FFFFFF"/>
          </a:solidFill>
          <a:ln w="15875">
            <a:solidFill>
              <a:srgbClr val="111111"/>
            </a:solidFill>
          </a:ln>
        </p:spPr>
        <p:txBody>
          <a:bodyPr wrap="square" rtlCol="0" anchor="ctr"/>
          <a:lstStyle/>
          <a:p>
            <a:pPr algn="ctr" indent="0" marL="0">
              <a:buNone/>
            </a:pPr>
            <a:r>
              <a:rPr lang="en-US" sz="1500" dirty="0">
                <a:solidFill>
                  <a:srgbClr val="111111"/>
                </a:solidFill>
                <a:latin typeface="Calibri" pitchFamily="34" charset="0"/>
                <a:ea typeface="Calibri" pitchFamily="34" charset="-122"/>
                <a:cs typeface="Calibri" pitchFamily="34" charset="-120"/>
              </a:rPr>
              <a:t>?</a:t>
            </a:r>
            <a:endParaRPr lang="en-US" sz="1500" dirty="0"/>
          </a:p>
        </p:txBody>
      </p:sp>
      <p:sp>
        <p:nvSpPr>
          <p:cNvPr id="25" name="R1_res32"/>
          <p:cNvSpPr txBox="1"/>
          <p:nvPr/>
        </p:nvSpPr>
        <p:spPr>
          <a:xfrm>
            <a:off x="3200400" y="2880360"/>
            <a:ext cx="1371600" cy="457200"/>
          </a:xfrm>
          <a:prstGeom prst="rect">
            <a:avLst/>
          </a:prstGeom>
          <a:solidFill>
            <a:srgbClr val="DCFCE7"/>
          </a:solidFill>
          <a:ln w="15875">
            <a:solidFill>
              <a:srgbClr val="111111"/>
            </a:solidFill>
          </a:ln>
        </p:spPr>
        <p:txBody>
          <a:bodyPr wrap="square" rtlCol="0" anchor="ctr"/>
          <a:lstStyle/>
          <a:p>
            <a:pPr algn="ctr" indent="0" marL="0">
              <a:buNone/>
            </a:pPr>
            <a:r>
              <a:rPr lang="en-US" sz="1500" dirty="0">
                <a:solidFill>
                  <a:srgbClr val="111111"/>
                </a:solidFill>
                <a:latin typeface="Arial Black" pitchFamily="34" charset="0"/>
                <a:ea typeface="Arial Black" pitchFamily="34" charset="-122"/>
                <a:cs typeface="Arial Black" pitchFamily="34" charset="-120"/>
              </a:rPr>
              <a:t>46%</a:t>
            </a:r>
            <a:endParaRPr lang="en-US" sz="1500" dirty="0"/>
          </a:p>
        </p:txBody>
      </p:sp>
      <p:graphicFrame>
        <p:nvGraphicFramePr>
          <p:cNvPr id="26" name="R2_chart" descr=""/>
          <p:cNvGraphicFramePr/>
          <p:nvPr/>
        </p:nvGraphicFramePr>
        <p:xfrm>
          <a:off x="4846320" y="1234440"/>
          <a:ext cx="4023360" cy="2743200"/>
        </p:xfrm>
        <a:graphic xmlns:a="http://schemas.openxmlformats.org/drawingml/2006/main">
          <a:graphicData uri="http://schemas.openxmlformats.org/drawingml/2006/chart">
            <c:chart xmlns:c="http://schemas.openxmlformats.org/drawingml/2006/chart" r:id="rId3"/>
          </a:graphicData>
        </a:graphic>
      </p:graphicFrame>
      <p:sp>
        <p:nvSpPr>
          <p:cNvPr id="27" name="R3_q"/>
          <p:cNvSpPr txBox="1"/>
          <p:nvPr/>
        </p:nvSpPr>
        <p:spPr>
          <a:xfrm>
            <a:off x="365760" y="3520440"/>
            <a:ext cx="4114800" cy="685800"/>
          </a:xfrm>
          <a:prstGeom prst="wedgeRoundRectCallout">
            <a:avLst/>
          </a:prstGeom>
          <a:solidFill>
            <a:srgbClr val="FFD84D"/>
          </a:solidFill>
          <a:ln w="31750">
            <a:solidFill>
              <a:srgbClr val="111111"/>
            </a:solidFill>
          </a:ln>
          <a:effectLst>
            <a:outerShdw sx="100000" sy="100000" kx="0" ky="0" algn="bl" rotWithShape="0" blurRad="101600" dist="38100" dir="2700000">
              <a:srgbClr val="000000">
                <a:alpha val="35000"/>
              </a:srgbClr>
            </a:outerShdw>
          </a:effectLst>
        </p:spPr>
        <p:txBody>
          <a:bodyPr wrap="square" lIns="76200" tIns="76200" rIns="76200" bIns="76200" rtlCol="0" anchor="ctr"/>
          <a:lstStyle/>
          <a:p>
            <a:pPr algn="ctr" indent="0" marL="0">
              <a:buNone/>
            </a:pPr>
            <a:r>
              <a:rPr lang="en-US" sz="1400" dirty="0">
                <a:solidFill>
                  <a:srgbClr val="111111"/>
                </a:solidFill>
                <a:latin typeface="Calibri" pitchFamily="34" charset="0"/>
                <a:ea typeface="Calibri" pitchFamily="34" charset="-122"/>
                <a:cs typeface="Calibri" pitchFamily="34" charset="-120"/>
              </a:rPr>
              <a:t>What did the British and Chinese teachers learn?</a:t>
            </a:r>
            <a:endParaRPr lang="en-US" sz="1400" dirty="0"/>
          </a:p>
        </p:txBody>
      </p:sp>
      <p:sp>
        <p:nvSpPr>
          <p:cNvPr id="28" name="pageTag_194"/>
          <p:cNvSpPr txBox="1"/>
          <p:nvPr/>
        </p:nvSpPr>
        <p:spPr>
          <a:xfrm>
            <a:off x="320040" y="4773168"/>
            <a:ext cx="6766560" cy="237744"/>
          </a:xfrm>
          <a:prstGeom prst="rect">
            <a:avLst/>
          </a:prstGeom>
          <a:solidFill>
            <a:srgbClr val="FFFFFF"/>
          </a:solidFill>
          <a:ln/>
        </p:spPr>
        <p:txBody>
          <a:bodyPr wrap="square" lIns="25400" tIns="25400" rIns="25400" bIns="25400" rtlCol="0" anchor="ctr"/>
          <a:lstStyle/>
          <a:p>
            <a:pPr indent="0" marL="0">
              <a:buNone/>
            </a:pPr>
            <a:r>
              <a:rPr lang="en-US" sz="1000" dirty="0">
                <a:solidFill>
                  <a:srgbClr val="334155"/>
                </a:solidFill>
                <a:latin typeface="Calibri" pitchFamily="34" charset="0"/>
                <a:ea typeface="Calibri" pitchFamily="34" charset="-122"/>
                <a:cs typeface="Calibri" pitchFamily="34" charset="-120"/>
              </a:rPr>
              <a:t>📖 Teacher: Student's Book p.67 · 4d · audio 7.9</a:t>
            </a:r>
            <a:endParaRPr lang="en-US" sz="1000" dirty="0"/>
          </a:p>
        </p:txBody>
      </p:sp>
    </p:spTree>
  </p:cSld>
  <p:clrMapOvr>
    <a:masterClrMapping/>
  </p:clrMapOvr>
  <p:transition spd="med">
    <p:push dir="l"/>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3"/>
                                        </p:tgtEl>
                                        <p:attrNameLst>
                                          <p:attrName>style.visibility</p:attrName>
                                        </p:attrNameLst>
                                      </p:cBhvr>
                                      <p:to>
                                        <p:strVal val="visible"/>
                                      </p:to>
                                    </p:set>
                                    <p:animEffect transition="in" filter="fade">
                                      <p:cBhvr>
                                        <p:cTn id="7" dur="400"/>
                                        <p:tgtEl>
                                          <p:spTgt spid="13"/>
                                        </p:tgtEl>
                                      </p:cBhvr>
                                    </p:animEffect>
                                  </p:childTnLst>
                                </p:cTn>
                              </p:par>
                              <p:par>
                                <p:cTn id="8" presetID="10" presetClass="entr" presetSubtype="0" fill="hold" nodeType="withEffect">
                                  <p:stCondLst>
                                    <p:cond delay="0"/>
                                  </p:stCondLst>
                                  <p:childTnLst>
                                    <p:set>
                                      <p:cBhvr>
                                        <p:cTn id="9" dur="1" fill="hold">
                                          <p:stCondLst>
                                            <p:cond delay="0"/>
                                          </p:stCondLst>
                                        </p:cTn>
                                        <p:tgtEl>
                                          <p:spTgt spid="15"/>
                                        </p:tgtEl>
                                        <p:attrNameLst>
                                          <p:attrName>style.visibility</p:attrName>
                                        </p:attrNameLst>
                                      </p:cBhvr>
                                      <p:to>
                                        <p:strVal val="visible"/>
                                      </p:to>
                                    </p:set>
                                    <p:animEffect transition="in" filter="fade">
                                      <p:cBhvr>
                                        <p:cTn id="10" dur="400"/>
                                        <p:tgtEl>
                                          <p:spTgt spid="15"/>
                                        </p:tgtEl>
                                      </p:cBhvr>
                                    </p:animEffect>
                                  </p:childTnLst>
                                </p:cTn>
                              </p:par>
                              <p:par>
                                <p:cTn id="11" presetID="10" presetClass="entr" presetSubtype="0" fill="hold" nodeType="withEffect">
                                  <p:stCondLst>
                                    <p:cond delay="0"/>
                                  </p:stCondLst>
                                  <p:childTnLst>
                                    <p:set>
                                      <p:cBhvr>
                                        <p:cTn id="12" dur="1" fill="hold">
                                          <p:stCondLst>
                                            <p:cond delay="0"/>
                                          </p:stCondLst>
                                        </p:cTn>
                                        <p:tgtEl>
                                          <p:spTgt spid="18"/>
                                        </p:tgtEl>
                                        <p:attrNameLst>
                                          <p:attrName>style.visibility</p:attrName>
                                        </p:attrNameLst>
                                      </p:cBhvr>
                                      <p:to>
                                        <p:strVal val="visible"/>
                                      </p:to>
                                    </p:set>
                                    <p:animEffect transition="in" filter="fade">
                                      <p:cBhvr>
                                        <p:cTn id="13" dur="400"/>
                                        <p:tgtEl>
                                          <p:spTgt spid="18"/>
                                        </p:tgtEl>
                                      </p:cBhvr>
                                    </p:animEffect>
                                  </p:childTnLst>
                                </p:cTn>
                              </p:par>
                              <p:par>
                                <p:cTn id="14" presetID="10" presetClass="entr" presetSubtype="0" fill="hold" nodeType="withEffect">
                                  <p:stCondLst>
                                    <p:cond delay="0"/>
                                  </p:stCondLst>
                                  <p:childTnLst>
                                    <p:set>
                                      <p:cBhvr>
                                        <p:cTn id="15" dur="1" fill="hold">
                                          <p:stCondLst>
                                            <p:cond delay="0"/>
                                          </p:stCondLst>
                                        </p:cTn>
                                        <p:tgtEl>
                                          <p:spTgt spid="20"/>
                                        </p:tgtEl>
                                        <p:attrNameLst>
                                          <p:attrName>style.visibility</p:attrName>
                                        </p:attrNameLst>
                                      </p:cBhvr>
                                      <p:to>
                                        <p:strVal val="visible"/>
                                      </p:to>
                                    </p:set>
                                    <p:animEffect transition="in" filter="fade">
                                      <p:cBhvr>
                                        <p:cTn id="16" dur="400"/>
                                        <p:tgtEl>
                                          <p:spTgt spid="20"/>
                                        </p:tgtEl>
                                      </p:cBhvr>
                                    </p:animEffect>
                                  </p:childTnLst>
                                </p:cTn>
                              </p:par>
                              <p:par>
                                <p:cTn id="17" presetID="10" presetClass="entr" presetSubtype="0" fill="hold" nodeType="withEffect">
                                  <p:stCondLst>
                                    <p:cond delay="0"/>
                                  </p:stCondLst>
                                  <p:childTnLst>
                                    <p:set>
                                      <p:cBhvr>
                                        <p:cTn id="18" dur="1" fill="hold">
                                          <p:stCondLst>
                                            <p:cond delay="0"/>
                                          </p:stCondLst>
                                        </p:cTn>
                                        <p:tgtEl>
                                          <p:spTgt spid="23"/>
                                        </p:tgtEl>
                                        <p:attrNameLst>
                                          <p:attrName>style.visibility</p:attrName>
                                        </p:attrNameLst>
                                      </p:cBhvr>
                                      <p:to>
                                        <p:strVal val="visible"/>
                                      </p:to>
                                    </p:set>
                                    <p:animEffect transition="in" filter="fade">
                                      <p:cBhvr>
                                        <p:cTn id="19" dur="400"/>
                                        <p:tgtEl>
                                          <p:spTgt spid="23"/>
                                        </p:tgtEl>
                                      </p:cBhvr>
                                    </p:animEffect>
                                  </p:childTnLst>
                                </p:cTn>
                              </p:par>
                              <p:par>
                                <p:cTn id="20" presetID="10" presetClass="entr" presetSubtype="0" fill="hold" nodeType="withEffect">
                                  <p:stCondLst>
                                    <p:cond delay="0"/>
                                  </p:stCondLst>
                                  <p:childTnLst>
                                    <p:set>
                                      <p:cBhvr>
                                        <p:cTn id="21" dur="1" fill="hold">
                                          <p:stCondLst>
                                            <p:cond delay="0"/>
                                          </p:stCondLst>
                                        </p:cTn>
                                        <p:tgtEl>
                                          <p:spTgt spid="25"/>
                                        </p:tgtEl>
                                        <p:attrNameLst>
                                          <p:attrName>style.visibility</p:attrName>
                                        </p:attrNameLst>
                                      </p:cBhvr>
                                      <p:to>
                                        <p:strVal val="visible"/>
                                      </p:to>
                                    </p:set>
                                    <p:animEffect transition="in" filter="fade">
                                      <p:cBhvr>
                                        <p:cTn id="22" dur="400"/>
                                        <p:tgtEl>
                                          <p:spTgt spid="25"/>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26"/>
                                        </p:tgtEl>
                                        <p:attrNameLst>
                                          <p:attrName>style.visibility</p:attrName>
                                        </p:attrNameLst>
                                      </p:cBhvr>
                                      <p:to>
                                        <p:strVal val="visible"/>
                                      </p:to>
                                    </p:set>
                                    <p:animEffect transition="in" filter="fade">
                                      <p:cBhvr>
                                        <p:cTn id="27" dur="400"/>
                                        <p:tgtEl>
                                          <p:spTgt spid="26"/>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27"/>
                                        </p:tgtEl>
                                        <p:attrNameLst>
                                          <p:attrName>style.visibility</p:attrName>
                                        </p:attrNameLst>
                                      </p:cBhvr>
                                      <p:to>
                                        <p:strVal val="visible"/>
                                      </p:to>
                                    </p:set>
                                    <p:animEffect transition="in" filter="fade">
                                      <p:cBhvr>
                                        <p:cTn id="32" dur="400"/>
                                        <p:tgtEl>
                                          <p:spTgt spid="2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name="Slide 11">
    <p:bg>
      <p:bgPr>
        <a:blipFill dpi="0" rotWithShape="1">
          <a:blip r:embed="rId1">
            <a:lum/>
          </a:blip>
          <a:srcRect/>
          <a:stretch>
            <a:fillRect/>
          </a:stretch>
        </a:blipFill>
        <a:effectLst/>
      </p:bgPr>
    </p:bg>
    <p:spTree>
      <p:nvGrpSpPr>
        <p:cNvPr id="2" name=""/>
        <p:cNvGrpSpPr/>
        <p:nvPr/>
      </p:nvGrpSpPr>
      <p:grpSpPr>
        <a:xfrm>
          <a:off x="0" y="0"/>
          <a:ext cx="0" cy="0"/>
          <a:chOff x="0" y="0"/>
          <a:chExt cx="0" cy="0"/>
        </a:xfrm>
      </p:grpSpPr>
      <p:sp>
        <p:nvSpPr>
          <p:cNvPr id="3" name="levelFrame_195"/>
          <p:cNvSpPr/>
          <p:nvPr/>
        </p:nvSpPr>
        <p:spPr>
          <a:xfrm>
            <a:off x="54864" y="54864"/>
            <a:ext cx="9034272" cy="5033772"/>
          </a:xfrm>
          <a:prstGeom prst="rect">
            <a:avLst/>
          </a:prstGeom>
          <a:ln w="114300">
            <a:solidFill>
              <a:srgbClr val="A8E6B4"/>
            </a:solidFill>
            <a:prstDash val="solid"/>
          </a:ln>
        </p:spPr>
      </p:sp>
      <p:pic>
        <p:nvPicPr>
          <p:cNvPr id="4" name="logo_196" descr="London Language School logo">    </p:cNvPr>
          <p:cNvPicPr>
            <a:picLocks noChangeAspect="1"/>
          </p:cNvPicPr>
          <p:nvPr/>
        </p:nvPicPr>
        <p:blipFill>
          <a:blip r:embed="rId2"/>
          <a:stretch>
            <a:fillRect/>
          </a:stretch>
        </p:blipFill>
        <p:spPr>
          <a:xfrm>
            <a:off x="8275320" y="182880"/>
            <a:ext cx="585216" cy="585216"/>
          </a:xfrm>
          <a:prstGeom prst="rect">
            <a:avLst/>
          </a:prstGeom>
        </p:spPr>
      </p:pic>
      <p:sp>
        <p:nvSpPr>
          <p:cNvPr id="5" name="objective_197"/>
          <p:cNvSpPr txBox="1"/>
          <p:nvPr/>
        </p:nvSpPr>
        <p:spPr>
          <a:xfrm>
            <a:off x="320040" y="182880"/>
            <a:ext cx="4206240" cy="365760"/>
          </a:xfrm>
          <a:prstGeom prst="roundRect">
            <a:avLst>
              <a:gd name="adj" fmla="val 20000"/>
            </a:avLst>
          </a:prstGeom>
          <a:solidFill>
            <a:srgbClr val="062F67"/>
          </a:solidFill>
          <a:ln w="31750">
            <a:solidFill>
              <a:srgbClr val="111111"/>
            </a:solidFill>
          </a:ln>
        </p:spPr>
        <p:txBody>
          <a:bodyPr wrap="square" lIns="101600" tIns="101600" rIns="101600" bIns="101600" rtlCol="0" anchor="ctr"/>
          <a:lstStyle/>
          <a:p>
            <a:pPr indent="0" marL="0">
              <a:buNone/>
            </a:pPr>
            <a:r>
              <a:rPr lang="en-US" sz="900" dirty="0">
                <a:solidFill>
                  <a:srgbClr val="FFFFFF"/>
                </a:solidFill>
                <a:latin typeface="Arial Black" pitchFamily="34" charset="0"/>
                <a:ea typeface="Arial Black" pitchFamily="34" charset="-122"/>
                <a:cs typeface="Arial Black" pitchFamily="34" charset="-120"/>
              </a:rPr>
              <a:t>SPEAKING · What do you think?</a:t>
            </a:r>
            <a:endParaRPr lang="en-US" sz="900" dirty="0"/>
          </a:p>
        </p:txBody>
      </p:sp>
      <p:sp>
        <p:nvSpPr>
          <p:cNvPr id="6" name="footer_198"/>
          <p:cNvSpPr txBox="1"/>
          <p:nvPr/>
        </p:nvSpPr>
        <p:spPr>
          <a:xfrm>
            <a:off x="7315200" y="4818888"/>
            <a:ext cx="1554480" cy="219456"/>
          </a:xfrm>
          <a:prstGeom prst="rect">
            <a:avLst/>
          </a:prstGeom>
          <a:solidFill>
            <a:srgbClr val="FFFFFF"/>
          </a:solidFill>
          <a:ln/>
        </p:spPr>
        <p:txBody>
          <a:bodyPr wrap="square" lIns="0" tIns="0" rIns="0" bIns="0" rtlCol="0" anchor="ctr"/>
          <a:lstStyle/>
          <a:p>
            <a:pPr algn="ctr" indent="0" marL="0">
              <a:buNone/>
            </a:pPr>
            <a:r>
              <a:rPr lang="en-US" sz="1000" dirty="0">
                <a:solidFill>
                  <a:srgbClr val="334155"/>
                </a:solidFill>
                <a:latin typeface="Calibri" pitchFamily="34" charset="0"/>
                <a:ea typeface="Calibri" pitchFamily="34" charset="-122"/>
                <a:cs typeface="Calibri" pitchFamily="34" charset="-120"/>
              </a:rPr>
              <a:t>7A · Part 1</a:t>
            </a:r>
            <a:endParaRPr lang="en-US" sz="1000" dirty="0"/>
          </a:p>
        </p:txBody>
      </p:sp>
      <p:sp>
        <p:nvSpPr>
          <p:cNvPr id="7" name="title_199"/>
          <p:cNvSpPr txBox="1"/>
          <p:nvPr/>
        </p:nvSpPr>
        <p:spPr>
          <a:xfrm rot="-120000">
            <a:off x="320040" y="658368"/>
            <a:ext cx="6409944" cy="548640"/>
          </a:xfrm>
          <a:prstGeom prst="rect">
            <a:avLst/>
          </a:prstGeom>
          <a:solidFill>
            <a:srgbClr val="FFD84D"/>
          </a:solidFill>
          <a:ln w="31750">
            <a:solidFill>
              <a:srgbClr val="111111"/>
            </a:solidFill>
          </a:ln>
          <a:effectLst>
            <a:outerShdw sx="100000" sy="100000" kx="0" ky="0" algn="bl" rotWithShape="0" blurRad="101600" dist="38100" dir="2700000">
              <a:srgbClr val="000000">
                <a:alpha val="35000"/>
              </a:srgbClr>
            </a:outerShdw>
          </a:effectLst>
        </p:spPr>
        <p:txBody>
          <a:bodyPr wrap="square" lIns="127000" tIns="127000" rIns="127000" bIns="127000" rtlCol="0" anchor="ctr"/>
          <a:lstStyle/>
          <a:p>
            <a:pPr indent="0" marL="0">
              <a:buNone/>
            </a:pPr>
            <a:r>
              <a:rPr lang="en-US" sz="1600" dirty="0">
                <a:solidFill>
                  <a:srgbClr val="111111"/>
                </a:solidFill>
                <a:latin typeface="Arial Black" pitchFamily="34" charset="0"/>
                <a:ea typeface="Arial Black" pitchFamily="34" charset="-122"/>
                <a:cs typeface="Arial Black" pitchFamily="34" charset="-120"/>
              </a:rPr>
              <a:t>Chinese or British school for you?</a:t>
            </a:r>
            <a:endParaRPr lang="en-US" sz="1600" dirty="0"/>
          </a:p>
        </p:txBody>
      </p:sp>
      <p:sp>
        <p:nvSpPr>
          <p:cNvPr id="8" name="polaroid_200"/>
          <p:cNvSpPr/>
          <p:nvPr/>
        </p:nvSpPr>
        <p:spPr>
          <a:xfrm rot="-180000">
            <a:off x="5760720" y="1371600"/>
            <a:ext cx="3017520" cy="1728216"/>
          </a:xfrm>
          <a:prstGeom prst="rect">
            <a:avLst/>
          </a:prstGeom>
          <a:solidFill>
            <a:srgbClr val="FFFFFF"/>
          </a:solidFill>
          <a:ln w="31750">
            <a:solidFill>
              <a:srgbClr val="111111"/>
            </a:solidFill>
            <a:prstDash val="solid"/>
          </a:ln>
          <a:effectLst>
            <a:outerShdw sx="100000" sy="100000" kx="0" ky="0" algn="bl" rotWithShape="0" blurRad="101600" dist="38100" dir="2700000">
              <a:srgbClr val="000000">
                <a:alpha val="35000"/>
              </a:srgbClr>
            </a:outerShdw>
          </a:effectLst>
        </p:spPr>
      </p:sp>
      <p:pic>
        <p:nvPicPr>
          <p:cNvPr id="9" name="photo_201" descr="Students looking shocked in class">    </p:cNvPr>
          <p:cNvPicPr>
            <a:picLocks noChangeAspect="1"/>
          </p:cNvPicPr>
          <p:nvPr/>
        </p:nvPicPr>
        <p:blipFill>
          <a:blip r:embed="rId3"/>
          <a:srcRect l="0" r="0" t="0" b="0"/>
          <a:stretch/>
        </p:blipFill>
        <p:spPr>
          <a:xfrm rot="-180000">
            <a:off x="5852160" y="1463040"/>
            <a:ext cx="2834640" cy="1234440"/>
          </a:xfrm>
          <a:prstGeom prst="rect">
            <a:avLst/>
          </a:prstGeom>
        </p:spPr>
      </p:pic>
      <p:sp>
        <p:nvSpPr>
          <p:cNvPr id="10" name="caption_202"/>
          <p:cNvSpPr txBox="1"/>
          <p:nvPr/>
        </p:nvSpPr>
        <p:spPr>
          <a:xfrm rot="-180000">
            <a:off x="5760720" y="2715768"/>
            <a:ext cx="3017520" cy="310896"/>
          </a:xfrm>
          <a:prstGeom prst="rect">
            <a:avLst/>
          </a:prstGeom>
          <a:noFill/>
          <a:ln/>
        </p:spPr>
        <p:txBody>
          <a:bodyPr wrap="square" rtlCol="0" anchor="ctr"/>
          <a:lstStyle/>
          <a:p>
            <a:pPr algn="ctr" indent="0" marL="0">
              <a:buNone/>
            </a:pPr>
            <a:r>
              <a:rPr lang="en-US" sz="1200" i="1" dirty="0">
                <a:solidFill>
                  <a:srgbClr val="111111"/>
                </a:solidFill>
                <a:latin typeface="Calibri" pitchFamily="34" charset="0"/>
                <a:ea typeface="Calibri" pitchFamily="34" charset="-122"/>
                <a:cs typeface="Calibri" pitchFamily="34" charset="-120"/>
              </a:rPr>
              <a:t>Shock!</a:t>
            </a:r>
            <a:endParaRPr lang="en-US" sz="1200" dirty="0"/>
          </a:p>
        </p:txBody>
      </p:sp>
      <p:sp>
        <p:nvSpPr>
          <p:cNvPr id="11" name="post_203"/>
          <p:cNvSpPr/>
          <p:nvPr/>
        </p:nvSpPr>
        <p:spPr>
          <a:xfrm>
            <a:off x="429768" y="1554480"/>
            <a:ext cx="128016" cy="2377440"/>
          </a:xfrm>
          <a:prstGeom prst="rect">
            <a:avLst/>
          </a:prstGeom>
          <a:solidFill>
            <a:srgbClr val="8B5A2B"/>
          </a:solidFill>
          <a:ln w="31750">
            <a:solidFill>
              <a:srgbClr val="111111"/>
            </a:solidFill>
            <a:prstDash val="solid"/>
          </a:ln>
        </p:spPr>
      </p:sp>
      <p:sp>
        <p:nvSpPr>
          <p:cNvPr id="12" name="signA_204"/>
          <p:cNvSpPr txBox="1"/>
          <p:nvPr/>
        </p:nvSpPr>
        <p:spPr>
          <a:xfrm rot="-180000">
            <a:off x="320040" y="1371600"/>
            <a:ext cx="2103120" cy="457200"/>
          </a:xfrm>
          <a:prstGeom prst="homePlate">
            <a:avLst/>
          </a:prstGeom>
          <a:solidFill>
            <a:srgbClr val="1FA463"/>
          </a:solidFill>
          <a:ln w="31750">
            <a:solidFill>
              <a:srgbClr val="111111"/>
            </a:solidFill>
          </a:ln>
          <a:effectLst>
            <a:outerShdw sx="100000" sy="100000" kx="0" ky="0" algn="bl" rotWithShape="0" blurRad="101600" dist="38100" dir="2700000">
              <a:srgbClr val="000000">
                <a:alpha val="35000"/>
              </a:srgbClr>
            </a:outerShdw>
          </a:effectLst>
        </p:spPr>
        <p:txBody>
          <a:bodyPr wrap="square" lIns="76200" tIns="76200" rIns="76200" bIns="76200" rtlCol="0" anchor="ctr"/>
          <a:lstStyle/>
          <a:p>
            <a:pPr indent="0" marL="0">
              <a:buNone/>
            </a:pPr>
            <a:r>
              <a:rPr lang="en-US" sz="1600" b="1" dirty="0">
                <a:solidFill>
                  <a:srgbClr val="FFFFFF"/>
                </a:solidFill>
                <a:latin typeface="Arial Black" pitchFamily="34" charset="0"/>
                <a:ea typeface="Arial Black" pitchFamily="34" charset="-122"/>
                <a:cs typeface="Arial Black" pitchFamily="34" charset="-120"/>
              </a:rPr>
              <a:t>SPEAK!</a:t>
            </a:r>
            <a:pPr indent="0" marL="0">
              <a:buNone/>
            </a:pPr>
            <a:r>
              <a:rPr lang="en-US" sz="1100" dirty="0">
                <a:solidFill>
                  <a:srgbClr val="FFF3B0"/>
                </a:solidFill>
                <a:latin typeface="Arial Black" pitchFamily="34" charset="0"/>
                <a:ea typeface="Arial Black" pitchFamily="34" charset="-122"/>
                <a:cs typeface="Arial Black" pitchFamily="34" charset="-120"/>
              </a:rPr>
              <a:t>  PARLA!</a:t>
            </a:r>
            <a:endParaRPr lang="en-US" sz="1600" dirty="0"/>
          </a:p>
        </p:txBody>
      </p:sp>
      <p:sp>
        <p:nvSpPr>
          <p:cNvPr id="13" name="signB_205"/>
          <p:cNvSpPr txBox="1"/>
          <p:nvPr/>
        </p:nvSpPr>
        <p:spPr>
          <a:xfrm rot="120000">
            <a:off x="365760" y="1938528"/>
            <a:ext cx="2377440" cy="685800"/>
          </a:xfrm>
          <a:prstGeom prst="rect">
            <a:avLst/>
          </a:prstGeom>
          <a:solidFill>
            <a:srgbClr val="FFFFFF"/>
          </a:solidFill>
          <a:ln w="31750">
            <a:solidFill>
              <a:srgbClr val="111111"/>
            </a:solidFill>
          </a:ln>
        </p:spPr>
        <p:txBody>
          <a:bodyPr wrap="square" lIns="76200" tIns="76200" rIns="76200" bIns="76200" rtlCol="0" anchor="ctr"/>
          <a:lstStyle/>
          <a:p>
            <a:pPr indent="0" marL="0">
              <a:buNone/>
            </a:pPr>
            <a:r>
              <a:rPr lang="en-US" sz="1300" dirty="0">
                <a:solidFill>
                  <a:srgbClr val="111111"/>
                </a:solidFill>
                <a:latin typeface="Calibri" pitchFamily="34" charset="0"/>
                <a:ea typeface="Calibri" pitchFamily="34" charset="-122"/>
                <a:cs typeface="Calibri" pitchFamily="34" charset="-120"/>
              </a:rPr>
              <a:t>Discuss in small groups.</a:t>
            </a:r>
            <a:endParaRPr lang="en-US" sz="1300" dirty="0"/>
          </a:p>
          <a:p>
            <a:pPr indent="0" marL="0">
              <a:buNone/>
            </a:pPr>
            <a:r>
              <a:rPr lang="en-US" sz="1200" i="1" dirty="0">
                <a:solidFill>
                  <a:srgbClr val="334155"/>
                </a:solidFill>
                <a:latin typeface="Calibri" pitchFamily="34" charset="0"/>
                <a:ea typeface="Calibri" pitchFamily="34" charset="-122"/>
                <a:cs typeface="Calibri" pitchFamily="34" charset="-120"/>
              </a:rPr>
              <a:t>Discutete in piccoli gruppi.</a:t>
            </a:r>
            <a:endParaRPr lang="en-US" sz="1300" dirty="0"/>
          </a:p>
        </p:txBody>
      </p:sp>
      <p:sp>
        <p:nvSpPr>
          <p:cNvPr id="14" name="R1_d1"/>
          <p:cNvSpPr txBox="1"/>
          <p:nvPr/>
        </p:nvSpPr>
        <p:spPr>
          <a:xfrm>
            <a:off x="2834640" y="1417320"/>
            <a:ext cx="2743200" cy="731520"/>
          </a:xfrm>
          <a:prstGeom prst="wedgeRoundRectCallout">
            <a:avLst/>
          </a:prstGeom>
          <a:solidFill>
            <a:srgbClr val="E0F2FE"/>
          </a:solidFill>
          <a:ln w="31750">
            <a:solidFill>
              <a:srgbClr val="111111"/>
            </a:solidFill>
          </a:ln>
          <a:effectLst>
            <a:outerShdw sx="100000" sy="100000" kx="0" ky="0" algn="bl" rotWithShape="0" blurRad="101600" dist="38100" dir="2700000">
              <a:srgbClr val="000000">
                <a:alpha val="35000"/>
              </a:srgbClr>
            </a:outerShdw>
          </a:effectLst>
        </p:spPr>
        <p:txBody>
          <a:bodyPr wrap="square" lIns="76200" tIns="76200" rIns="76200" bIns="76200" rtlCol="0" anchor="ctr"/>
          <a:lstStyle/>
          <a:p>
            <a:pPr algn="ctr" indent="0" marL="0">
              <a:buNone/>
            </a:pPr>
            <a:r>
              <a:rPr lang="en-US" sz="1400" dirty="0">
                <a:solidFill>
                  <a:srgbClr val="111111"/>
                </a:solidFill>
                <a:latin typeface="Calibri" pitchFamily="34" charset="0"/>
                <a:ea typeface="Calibri" pitchFamily="34" charset="-122"/>
                <a:cs typeface="Calibri" pitchFamily="34" charset="-120"/>
              </a:rPr>
              <a:t>1  What's good or bad about the Chinese system?</a:t>
            </a:r>
            <a:endParaRPr lang="en-US" sz="1400" dirty="0"/>
          </a:p>
        </p:txBody>
      </p:sp>
      <p:sp>
        <p:nvSpPr>
          <p:cNvPr id="15" name="R2_d2"/>
          <p:cNvSpPr txBox="1"/>
          <p:nvPr/>
        </p:nvSpPr>
        <p:spPr>
          <a:xfrm rot="60000">
            <a:off x="2834640" y="2331720"/>
            <a:ext cx="2743200" cy="731520"/>
          </a:xfrm>
          <a:prstGeom prst="wedgeRoundRectCallout">
            <a:avLst/>
          </a:prstGeom>
          <a:solidFill>
            <a:srgbClr val="FEF9C3"/>
          </a:solidFill>
          <a:ln w="31750">
            <a:solidFill>
              <a:srgbClr val="111111"/>
            </a:solidFill>
          </a:ln>
          <a:effectLst>
            <a:outerShdw sx="100000" sy="100000" kx="0" ky="0" algn="bl" rotWithShape="0" blurRad="101600" dist="38100" dir="2700000">
              <a:srgbClr val="000000">
                <a:alpha val="35000"/>
              </a:srgbClr>
            </a:outerShdw>
          </a:effectLst>
        </p:spPr>
        <p:txBody>
          <a:bodyPr wrap="square" lIns="76200" tIns="76200" rIns="76200" bIns="76200" rtlCol="0" anchor="ctr"/>
          <a:lstStyle/>
          <a:p>
            <a:pPr algn="ctr" indent="0" marL="0">
              <a:buNone/>
            </a:pPr>
            <a:r>
              <a:rPr lang="en-US" sz="1400" dirty="0">
                <a:solidFill>
                  <a:srgbClr val="111111"/>
                </a:solidFill>
                <a:latin typeface="Calibri" pitchFamily="34" charset="0"/>
                <a:ea typeface="Calibri" pitchFamily="34" charset="-122"/>
                <a:cs typeface="Calibri" pitchFamily="34" charset="-120"/>
              </a:rPr>
              <a:t>2  Would Italian students be shocked by it? Why (not)?</a:t>
            </a:r>
            <a:endParaRPr lang="en-US" sz="1400" dirty="0"/>
          </a:p>
        </p:txBody>
      </p:sp>
      <p:sp>
        <p:nvSpPr>
          <p:cNvPr id="16" name="R3_d3"/>
          <p:cNvSpPr txBox="1"/>
          <p:nvPr/>
        </p:nvSpPr>
        <p:spPr>
          <a:xfrm rot="-60000">
            <a:off x="2834640" y="3246120"/>
            <a:ext cx="3291840" cy="868680"/>
          </a:xfrm>
          <a:prstGeom prst="wedgeRoundRectCallout">
            <a:avLst/>
          </a:prstGeom>
          <a:solidFill>
            <a:srgbClr val="FEE2E2"/>
          </a:solidFill>
          <a:ln w="31750">
            <a:solidFill>
              <a:srgbClr val="111111"/>
            </a:solidFill>
          </a:ln>
          <a:effectLst>
            <a:outerShdw sx="100000" sy="100000" kx="0" ky="0" algn="bl" rotWithShape="0" blurRad="101600" dist="38100" dir="2700000">
              <a:srgbClr val="000000">
                <a:alpha val="35000"/>
              </a:srgbClr>
            </a:outerShdw>
          </a:effectLst>
        </p:spPr>
        <p:txBody>
          <a:bodyPr wrap="square" lIns="76200" tIns="76200" rIns="76200" bIns="76200" rtlCol="0" anchor="ctr"/>
          <a:lstStyle/>
          <a:p>
            <a:pPr algn="ctr" indent="0" marL="0">
              <a:buNone/>
            </a:pPr>
            <a:r>
              <a:rPr lang="en-US" sz="1400" dirty="0">
                <a:solidFill>
                  <a:srgbClr val="111111"/>
                </a:solidFill>
                <a:latin typeface="Calibri" pitchFamily="34" charset="0"/>
                <a:ea typeface="Calibri" pitchFamily="34" charset="-122"/>
                <a:cs typeface="Calibri" pitchFamily="34" charset="-120"/>
              </a:rPr>
              <a:t>3  Would you prefer to study (or teach!) in a British or a Chinese school?</a:t>
            </a:r>
            <a:endParaRPr lang="en-US" sz="1400" dirty="0"/>
          </a:p>
        </p:txBody>
      </p:sp>
      <p:sp>
        <p:nvSpPr>
          <p:cNvPr id="17" name="pageTag_206"/>
          <p:cNvSpPr txBox="1"/>
          <p:nvPr/>
        </p:nvSpPr>
        <p:spPr>
          <a:xfrm>
            <a:off x="320040" y="4773168"/>
            <a:ext cx="6766560" cy="237744"/>
          </a:xfrm>
          <a:prstGeom prst="rect">
            <a:avLst/>
          </a:prstGeom>
          <a:solidFill>
            <a:srgbClr val="FFFFFF"/>
          </a:solidFill>
          <a:ln/>
        </p:spPr>
        <p:txBody>
          <a:bodyPr wrap="square" lIns="25400" tIns="25400" rIns="25400" bIns="25400" rtlCol="0" anchor="ctr"/>
          <a:lstStyle/>
          <a:p>
            <a:pPr indent="0" marL="0">
              <a:buNone/>
            </a:pPr>
            <a:r>
              <a:rPr lang="en-US" sz="1000" dirty="0">
                <a:solidFill>
                  <a:srgbClr val="334155"/>
                </a:solidFill>
                <a:latin typeface="Calibri" pitchFamily="34" charset="0"/>
                <a:ea typeface="Calibri" pitchFamily="34" charset="-122"/>
                <a:cs typeface="Calibri" pitchFamily="34" charset="-120"/>
              </a:rPr>
              <a:t>📖 Teacher: Student's Book p.67 · 4e</a:t>
            </a:r>
            <a:endParaRPr lang="en-US" sz="1000" dirty="0"/>
          </a:p>
        </p:txBody>
      </p:sp>
    </p:spTree>
  </p:cSld>
  <p:clrMapOvr>
    <a:masterClrMapping/>
  </p:clrMapOvr>
  <p:transition spd="med">
    <p:push dir="l"/>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4"/>
                                        </p:tgtEl>
                                        <p:attrNameLst>
                                          <p:attrName>style.visibility</p:attrName>
                                        </p:attrNameLst>
                                      </p:cBhvr>
                                      <p:to>
                                        <p:strVal val="visible"/>
                                      </p:to>
                                    </p:set>
                                    <p:animEffect transition="in" filter="fade">
                                      <p:cBhvr>
                                        <p:cTn id="7" dur="400"/>
                                        <p:tgtEl>
                                          <p:spTgt spid="14"/>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5"/>
                                        </p:tgtEl>
                                        <p:attrNameLst>
                                          <p:attrName>style.visibility</p:attrName>
                                        </p:attrNameLst>
                                      </p:cBhvr>
                                      <p:to>
                                        <p:strVal val="visible"/>
                                      </p:to>
                                    </p:set>
                                    <p:animEffect transition="in" filter="fade">
                                      <p:cBhvr>
                                        <p:cTn id="12" dur="400"/>
                                        <p:tgtEl>
                                          <p:spTgt spid="15"/>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16"/>
                                        </p:tgtEl>
                                        <p:attrNameLst>
                                          <p:attrName>style.visibility</p:attrName>
                                        </p:attrNameLst>
                                      </p:cBhvr>
                                      <p:to>
                                        <p:strVal val="visible"/>
                                      </p:to>
                                    </p:set>
                                    <p:animEffect transition="in" filter="fade">
                                      <p:cBhvr>
                                        <p:cTn id="17" dur="40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name="Slide 12">
    <p:bg>
      <p:bgPr>
        <a:blipFill dpi="0" rotWithShape="1">
          <a:blip r:embed="rId1">
            <a:lum/>
          </a:blip>
          <a:srcRect/>
          <a:stretch>
            <a:fillRect/>
          </a:stretch>
        </a:blipFill>
        <a:effectLst/>
      </p:bgPr>
    </p:bg>
    <p:spTree>
      <p:nvGrpSpPr>
        <p:cNvPr id="2" name=""/>
        <p:cNvGrpSpPr/>
        <p:nvPr/>
      </p:nvGrpSpPr>
      <p:grpSpPr>
        <a:xfrm>
          <a:off x="0" y="0"/>
          <a:ext cx="0" cy="0"/>
          <a:chOff x="0" y="0"/>
          <a:chExt cx="0" cy="0"/>
        </a:xfrm>
      </p:grpSpPr>
      <p:sp>
        <p:nvSpPr>
          <p:cNvPr id="3" name="levelFrame_207"/>
          <p:cNvSpPr/>
          <p:nvPr/>
        </p:nvSpPr>
        <p:spPr>
          <a:xfrm>
            <a:off x="54864" y="54864"/>
            <a:ext cx="9034272" cy="5033772"/>
          </a:xfrm>
          <a:prstGeom prst="rect">
            <a:avLst/>
          </a:prstGeom>
          <a:ln w="114300">
            <a:solidFill>
              <a:srgbClr val="A8E6B4"/>
            </a:solidFill>
            <a:prstDash val="solid"/>
          </a:ln>
        </p:spPr>
      </p:sp>
      <p:pic>
        <p:nvPicPr>
          <p:cNvPr id="4" name="logo_208" descr="London Language School logo">    </p:cNvPr>
          <p:cNvPicPr>
            <a:picLocks noChangeAspect="1"/>
          </p:cNvPicPr>
          <p:nvPr/>
        </p:nvPicPr>
        <p:blipFill>
          <a:blip r:embed="rId2"/>
          <a:stretch>
            <a:fillRect/>
          </a:stretch>
        </p:blipFill>
        <p:spPr>
          <a:xfrm>
            <a:off x="8275320" y="182880"/>
            <a:ext cx="585216" cy="585216"/>
          </a:xfrm>
          <a:prstGeom prst="rect">
            <a:avLst/>
          </a:prstGeom>
        </p:spPr>
      </p:pic>
      <p:sp>
        <p:nvSpPr>
          <p:cNvPr id="5" name="objective_209"/>
          <p:cNvSpPr txBox="1"/>
          <p:nvPr/>
        </p:nvSpPr>
        <p:spPr>
          <a:xfrm>
            <a:off x="320040" y="182880"/>
            <a:ext cx="4206240" cy="365760"/>
          </a:xfrm>
          <a:prstGeom prst="roundRect">
            <a:avLst>
              <a:gd name="adj" fmla="val 20000"/>
            </a:avLst>
          </a:prstGeom>
          <a:solidFill>
            <a:srgbClr val="062F67"/>
          </a:solidFill>
          <a:ln w="31750">
            <a:solidFill>
              <a:srgbClr val="111111"/>
            </a:solidFill>
          </a:ln>
        </p:spPr>
        <p:txBody>
          <a:bodyPr wrap="square" lIns="101600" tIns="101600" rIns="101600" bIns="101600" rtlCol="0" anchor="ctr"/>
          <a:lstStyle/>
          <a:p>
            <a:pPr indent="0" marL="0">
              <a:buNone/>
            </a:pPr>
            <a:r>
              <a:rPr lang="en-US" sz="900" dirty="0">
                <a:solidFill>
                  <a:srgbClr val="FFFFFF"/>
                </a:solidFill>
                <a:latin typeface="Arial Black" pitchFamily="34" charset="0"/>
                <a:ea typeface="Arial Black" pitchFamily="34" charset="-122"/>
                <a:cs typeface="Arial Black" pitchFamily="34" charset="-120"/>
              </a:rPr>
              <a:t>TODAY · Can you…?</a:t>
            </a:r>
            <a:endParaRPr lang="en-US" sz="900" dirty="0"/>
          </a:p>
        </p:txBody>
      </p:sp>
      <p:sp>
        <p:nvSpPr>
          <p:cNvPr id="6" name="footer_210"/>
          <p:cNvSpPr txBox="1"/>
          <p:nvPr/>
        </p:nvSpPr>
        <p:spPr>
          <a:xfrm>
            <a:off x="7315200" y="4818888"/>
            <a:ext cx="1554480" cy="219456"/>
          </a:xfrm>
          <a:prstGeom prst="rect">
            <a:avLst/>
          </a:prstGeom>
          <a:solidFill>
            <a:srgbClr val="FFFFFF"/>
          </a:solidFill>
          <a:ln/>
        </p:spPr>
        <p:txBody>
          <a:bodyPr wrap="square" lIns="0" tIns="0" rIns="0" bIns="0" rtlCol="0" anchor="ctr"/>
          <a:lstStyle/>
          <a:p>
            <a:pPr algn="ctr" indent="0" marL="0">
              <a:buNone/>
            </a:pPr>
            <a:r>
              <a:rPr lang="en-US" sz="1000" dirty="0">
                <a:solidFill>
                  <a:srgbClr val="334155"/>
                </a:solidFill>
                <a:latin typeface="Calibri" pitchFamily="34" charset="0"/>
                <a:ea typeface="Calibri" pitchFamily="34" charset="-122"/>
                <a:cs typeface="Calibri" pitchFamily="34" charset="-120"/>
              </a:rPr>
              <a:t>7A · Part 1</a:t>
            </a:r>
            <a:endParaRPr lang="en-US" sz="1000" dirty="0"/>
          </a:p>
        </p:txBody>
      </p:sp>
      <p:sp>
        <p:nvSpPr>
          <p:cNvPr id="7" name="title_211"/>
          <p:cNvSpPr txBox="1"/>
          <p:nvPr/>
        </p:nvSpPr>
        <p:spPr>
          <a:xfrm rot="-120000">
            <a:off x="320040" y="658368"/>
            <a:ext cx="4498848" cy="548640"/>
          </a:xfrm>
          <a:prstGeom prst="rect">
            <a:avLst/>
          </a:prstGeom>
          <a:solidFill>
            <a:srgbClr val="FFD84D"/>
          </a:solidFill>
          <a:ln w="31750">
            <a:solidFill>
              <a:srgbClr val="111111"/>
            </a:solidFill>
          </a:ln>
          <a:effectLst>
            <a:outerShdw sx="100000" sy="100000" kx="0" ky="0" algn="bl" rotWithShape="0" blurRad="101600" dist="38100" dir="2700000">
              <a:srgbClr val="000000">
                <a:alpha val="35000"/>
              </a:srgbClr>
            </a:outerShdw>
          </a:effectLst>
        </p:spPr>
        <p:txBody>
          <a:bodyPr wrap="square" lIns="127000" tIns="127000" rIns="127000" bIns="127000" rtlCol="0" anchor="ctr"/>
          <a:lstStyle/>
          <a:p>
            <a:pPr indent="0" marL="0">
              <a:buNone/>
            </a:pPr>
            <a:r>
              <a:rPr lang="en-US" sz="1600" dirty="0">
                <a:solidFill>
                  <a:srgbClr val="111111"/>
                </a:solidFill>
                <a:latin typeface="Arial Black" pitchFamily="34" charset="0"/>
                <a:ea typeface="Arial Black" pitchFamily="34" charset="-122"/>
                <a:cs typeface="Arial Black" pitchFamily="34" charset="-120"/>
              </a:rPr>
              <a:t>Can you…? ✓  + Homework</a:t>
            </a:r>
            <a:endParaRPr lang="en-US" sz="1600" dirty="0"/>
          </a:p>
        </p:txBody>
      </p:sp>
      <p:sp>
        <p:nvSpPr>
          <p:cNvPr id="8" name="can_212"/>
          <p:cNvSpPr txBox="1"/>
          <p:nvPr/>
        </p:nvSpPr>
        <p:spPr>
          <a:xfrm>
            <a:off x="365760" y="1371600"/>
            <a:ext cx="4206240" cy="411480"/>
          </a:xfrm>
          <a:prstGeom prst="rect">
            <a:avLst/>
          </a:prstGeom>
          <a:solidFill>
            <a:srgbClr val="FFFFFF"/>
          </a:solidFill>
          <a:ln w="15875">
            <a:solidFill>
              <a:srgbClr val="111111"/>
            </a:solidFill>
          </a:ln>
        </p:spPr>
        <p:txBody>
          <a:bodyPr wrap="square" lIns="76200" tIns="76200" rIns="76200" bIns="76200" rtlCol="0" anchor="ctr"/>
          <a:lstStyle/>
          <a:p>
            <a:pPr indent="0" marL="0">
              <a:buNone/>
            </a:pPr>
            <a:r>
              <a:rPr lang="en-US" sz="1250" b="1" dirty="0">
                <a:solidFill>
                  <a:srgbClr val="111111"/>
                </a:solidFill>
                <a:latin typeface="Calibri" pitchFamily="34" charset="0"/>
                <a:ea typeface="Calibri" pitchFamily="34" charset="-122"/>
                <a:cs typeface="Calibri" pitchFamily="34" charset="-120"/>
              </a:rPr>
              <a:t>☐  </a:t>
            </a:r>
            <a:pPr indent="0" marL="0">
              <a:buNone/>
            </a:pPr>
            <a:r>
              <a:rPr lang="en-US" sz="1250" dirty="0">
                <a:solidFill>
                  <a:srgbClr val="111111"/>
                </a:solidFill>
                <a:latin typeface="Calibri" pitchFamily="34" charset="0"/>
                <a:ea typeface="Calibri" pitchFamily="34" charset="-122"/>
                <a:cs typeface="Calibri" pitchFamily="34" charset="-120"/>
              </a:rPr>
              <a:t>name 8 school subjects and stress them correctly?</a:t>
            </a:r>
            <a:endParaRPr lang="en-US" sz="1250" dirty="0"/>
          </a:p>
        </p:txBody>
      </p:sp>
      <p:sp>
        <p:nvSpPr>
          <p:cNvPr id="9" name="can_213"/>
          <p:cNvSpPr txBox="1"/>
          <p:nvPr/>
        </p:nvSpPr>
        <p:spPr>
          <a:xfrm>
            <a:off x="365760" y="1874520"/>
            <a:ext cx="4206240" cy="411480"/>
          </a:xfrm>
          <a:prstGeom prst="rect">
            <a:avLst/>
          </a:prstGeom>
          <a:solidFill>
            <a:srgbClr val="FFFFFF"/>
          </a:solidFill>
          <a:ln w="15875">
            <a:solidFill>
              <a:srgbClr val="111111"/>
            </a:solidFill>
          </a:ln>
        </p:spPr>
        <p:txBody>
          <a:bodyPr wrap="square" lIns="76200" tIns="76200" rIns="76200" bIns="76200" rtlCol="0" anchor="ctr"/>
          <a:lstStyle/>
          <a:p>
            <a:pPr indent="0" marL="0">
              <a:buNone/>
            </a:pPr>
            <a:r>
              <a:rPr lang="en-US" sz="1100" b="1" dirty="0">
                <a:solidFill>
                  <a:srgbClr val="111111"/>
                </a:solidFill>
                <a:latin typeface="Calibri" pitchFamily="34" charset="0"/>
                <a:ea typeface="Calibri" pitchFamily="34" charset="-122"/>
                <a:cs typeface="Calibri" pitchFamily="34" charset="-120"/>
              </a:rPr>
              <a:t>☐  </a:t>
            </a:r>
            <a:pPr indent="0" marL="0">
              <a:buNone/>
            </a:pPr>
            <a:r>
              <a:rPr lang="en-US" sz="1100" dirty="0">
                <a:solidFill>
                  <a:srgbClr val="111111"/>
                </a:solidFill>
                <a:latin typeface="Calibri" pitchFamily="34" charset="0"/>
                <a:ea typeface="Calibri" pitchFamily="34" charset="-122"/>
                <a:cs typeface="Calibri" pitchFamily="34" charset="-120"/>
              </a:rPr>
              <a:t>use words for school in the UK (state school, term…)?</a:t>
            </a:r>
            <a:endParaRPr lang="en-US" sz="1100" dirty="0"/>
          </a:p>
        </p:txBody>
      </p:sp>
      <p:sp>
        <p:nvSpPr>
          <p:cNvPr id="10" name="can_214"/>
          <p:cNvSpPr txBox="1"/>
          <p:nvPr/>
        </p:nvSpPr>
        <p:spPr>
          <a:xfrm>
            <a:off x="365760" y="2377440"/>
            <a:ext cx="4206240" cy="411480"/>
          </a:xfrm>
          <a:prstGeom prst="rect">
            <a:avLst/>
          </a:prstGeom>
          <a:solidFill>
            <a:srgbClr val="FFFFFF"/>
          </a:solidFill>
          <a:ln w="15875">
            <a:solidFill>
              <a:srgbClr val="111111"/>
            </a:solidFill>
          </a:ln>
        </p:spPr>
        <p:txBody>
          <a:bodyPr wrap="square" lIns="76200" tIns="76200" rIns="76200" bIns="76200" rtlCol="0" anchor="ctr"/>
          <a:lstStyle/>
          <a:p>
            <a:pPr indent="0" marL="0">
              <a:buNone/>
            </a:pPr>
            <a:r>
              <a:rPr lang="en-US" sz="1400" b="1" dirty="0">
                <a:solidFill>
                  <a:srgbClr val="111111"/>
                </a:solidFill>
                <a:latin typeface="Calibri" pitchFamily="34" charset="0"/>
                <a:ea typeface="Calibri" pitchFamily="34" charset="-122"/>
                <a:cs typeface="Calibri" pitchFamily="34" charset="-120"/>
              </a:rPr>
              <a:t>☐  </a:t>
            </a:r>
            <a:pPr indent="0" marL="0">
              <a:buNone/>
            </a:pPr>
            <a:r>
              <a:rPr lang="en-US" sz="1400" dirty="0">
                <a:solidFill>
                  <a:srgbClr val="111111"/>
                </a:solidFill>
                <a:latin typeface="Calibri" pitchFamily="34" charset="0"/>
                <a:ea typeface="Calibri" pitchFamily="34" charset="-122"/>
                <a:cs typeface="Calibri" pitchFamily="34" charset="-120"/>
              </a:rPr>
              <a:t>say the 4 sounds of the letter u?</a:t>
            </a:r>
            <a:endParaRPr lang="en-US" sz="1400" dirty="0"/>
          </a:p>
        </p:txBody>
      </p:sp>
      <p:sp>
        <p:nvSpPr>
          <p:cNvPr id="11" name="can_215"/>
          <p:cNvSpPr txBox="1"/>
          <p:nvPr/>
        </p:nvSpPr>
        <p:spPr>
          <a:xfrm>
            <a:off x="365760" y="2880360"/>
            <a:ext cx="4206240" cy="411480"/>
          </a:xfrm>
          <a:prstGeom prst="rect">
            <a:avLst/>
          </a:prstGeom>
          <a:solidFill>
            <a:srgbClr val="FFFFFF"/>
          </a:solidFill>
          <a:ln w="15875">
            <a:solidFill>
              <a:srgbClr val="111111"/>
            </a:solidFill>
          </a:ln>
        </p:spPr>
        <p:txBody>
          <a:bodyPr wrap="square" lIns="76200" tIns="76200" rIns="76200" bIns="76200" rtlCol="0" anchor="ctr"/>
          <a:lstStyle/>
          <a:p>
            <a:pPr indent="0" marL="0">
              <a:buNone/>
            </a:pPr>
            <a:r>
              <a:rPr lang="en-US" sz="1000" b="1" dirty="0">
                <a:solidFill>
                  <a:srgbClr val="111111"/>
                </a:solidFill>
                <a:latin typeface="Calibri" pitchFamily="34" charset="0"/>
                <a:ea typeface="Calibri" pitchFamily="34" charset="-122"/>
                <a:cs typeface="Calibri" pitchFamily="34" charset="-120"/>
              </a:rPr>
              <a:t>☐  </a:t>
            </a:r>
            <a:pPr indent="0" marL="0">
              <a:buNone/>
            </a:pPr>
            <a:r>
              <a:rPr lang="en-US" sz="1000" dirty="0">
                <a:solidFill>
                  <a:srgbClr val="111111"/>
                </a:solidFill>
                <a:latin typeface="Calibri" pitchFamily="34" charset="0"/>
                <a:ea typeface="Calibri" pitchFamily="34" charset="-122"/>
                <a:cs typeface="Calibri" pitchFamily="34" charset="-120"/>
              </a:rPr>
              <a:t>talk about your education and the Chinese v British experiment?</a:t>
            </a:r>
            <a:endParaRPr lang="en-US" sz="1000" dirty="0"/>
          </a:p>
        </p:txBody>
      </p:sp>
      <p:sp>
        <p:nvSpPr>
          <p:cNvPr id="12" name="hw_216"/>
          <p:cNvSpPr txBox="1"/>
          <p:nvPr/>
        </p:nvSpPr>
        <p:spPr>
          <a:xfrm rot="120000">
            <a:off x="4846320" y="1325880"/>
            <a:ext cx="3977640" cy="2103120"/>
          </a:xfrm>
          <a:prstGeom prst="rect">
            <a:avLst/>
          </a:prstGeom>
          <a:solidFill>
            <a:srgbClr val="FFD84D"/>
          </a:solidFill>
          <a:ln w="31750">
            <a:solidFill>
              <a:srgbClr val="111111"/>
            </a:solidFill>
          </a:ln>
          <a:effectLst>
            <a:outerShdw sx="100000" sy="100000" kx="0" ky="0" algn="bl" rotWithShape="0" blurRad="101600" dist="38100" dir="2700000">
              <a:srgbClr val="000000">
                <a:alpha val="35000"/>
              </a:srgbClr>
            </a:outerShdw>
          </a:effectLst>
        </p:spPr>
        <p:txBody>
          <a:bodyPr wrap="square" lIns="127000" tIns="127000" rIns="127000" bIns="127000" rtlCol="0" anchor="t"/>
          <a:lstStyle/>
          <a:p>
            <a:pPr indent="0" marL="0">
              <a:buNone/>
            </a:pPr>
            <a:r>
              <a:rPr lang="en-US" sz="1500" b="1" dirty="0">
                <a:solidFill>
                  <a:srgbClr val="EF2F2F"/>
                </a:solidFill>
                <a:latin typeface="Arial Black" pitchFamily="34" charset="0"/>
                <a:ea typeface="Arial Black" pitchFamily="34" charset="-122"/>
                <a:cs typeface="Arial Black" pitchFamily="34" charset="-120"/>
              </a:rPr>
              <a:t>📗 HOMEWORK · COMPITI</a:t>
            </a:r>
            <a:endParaRPr lang="en-US" sz="1400" dirty="0"/>
          </a:p>
          <a:p>
            <a:pPr indent="0" marL="0">
              <a:buNone/>
            </a:pPr>
            <a:r>
              <a:rPr lang="en-US" sz="1400" b="1" dirty="0">
                <a:solidFill>
                  <a:srgbClr val="111111"/>
                </a:solidFill>
                <a:latin typeface="Calibri" pitchFamily="34" charset="0"/>
                <a:ea typeface="Calibri" pitchFamily="34" charset="-122"/>
                <a:cs typeface="Calibri" pitchFamily="34" charset="-120"/>
              </a:rPr>
              <a:t>Workbook 7A: exercises 1a, 1b, 1c, 1d, 2a</a:t>
            </a:r>
            <a:endParaRPr lang="en-US" sz="1400" dirty="0"/>
          </a:p>
          <a:p>
            <a:pPr indent="0" marL="0">
              <a:buNone/>
            </a:pPr>
            <a:r>
              <a:rPr lang="en-US" sz="1400" dirty="0">
                <a:solidFill>
                  <a:srgbClr val="111111"/>
                </a:solidFill>
                <a:latin typeface="Calibri" pitchFamily="34" charset="0"/>
                <a:ea typeface="Calibri" pitchFamily="34" charset="-122"/>
                <a:cs typeface="Calibri" pitchFamily="34" charset="-120"/>
              </a:rPr>
              <a:t>+ the homework sheet: write about YOUR school.</a:t>
            </a:r>
            <a:endParaRPr lang="en-US" sz="1400" dirty="0"/>
          </a:p>
          <a:p>
            <a:pPr indent="0" marL="0">
              <a:buNone/>
            </a:pPr>
            <a:r>
              <a:rPr lang="en-US" sz="1400" dirty="0">
                <a:solidFill>
                  <a:srgbClr val="111111"/>
                </a:solidFill>
                <a:latin typeface="Calibri" pitchFamily="34" charset="0"/>
                <a:ea typeface="Calibri" pitchFamily="34" charset="-122"/>
                <a:cs typeface="Calibri" pitchFamily="34" charset="-120"/>
              </a:rPr>
              <a:t>📷 Take a photo and hand it in on the LLS app.</a:t>
            </a:r>
            <a:endParaRPr lang="en-US" sz="1400" dirty="0"/>
          </a:p>
          <a:p>
            <a:pPr indent="0" marL="0">
              <a:buNone/>
            </a:pPr>
            <a:r>
              <a:rPr lang="en-US" sz="1400" i="1" dirty="0">
                <a:solidFill>
                  <a:srgbClr val="334155"/>
                </a:solidFill>
                <a:latin typeface="Calibri" pitchFamily="34" charset="0"/>
                <a:ea typeface="Calibri" pitchFamily="34" charset="-122"/>
                <a:cs typeface="Calibri" pitchFamily="34" charset="-120"/>
              </a:rPr>
              <a:t>Fai una foto e consegnala nell'app LLS.</a:t>
            </a:r>
            <a:endParaRPr lang="en-US" sz="1400" dirty="0"/>
          </a:p>
        </p:txBody>
      </p:sp>
      <p:sp>
        <p:nvSpPr>
          <p:cNvPr id="13" name="bubble_217"/>
          <p:cNvSpPr txBox="1"/>
          <p:nvPr/>
        </p:nvSpPr>
        <p:spPr>
          <a:xfrm>
            <a:off x="4937760" y="3657600"/>
            <a:ext cx="3749040" cy="685800"/>
          </a:xfrm>
          <a:prstGeom prst="wedgeRoundRectCallout">
            <a:avLst/>
          </a:prstGeom>
          <a:solidFill>
            <a:srgbClr val="48BDF2"/>
          </a:solidFill>
          <a:ln w="31750">
            <a:solidFill>
              <a:srgbClr val="111111"/>
            </a:solidFill>
          </a:ln>
          <a:effectLst>
            <a:outerShdw sx="100000" sy="100000" kx="0" ky="0" algn="bl" rotWithShape="0" blurRad="101600" dist="38100" dir="2700000">
              <a:srgbClr val="000000">
                <a:alpha val="35000"/>
              </a:srgbClr>
            </a:outerShdw>
          </a:effectLst>
        </p:spPr>
        <p:txBody>
          <a:bodyPr wrap="square" lIns="76200" tIns="76200" rIns="76200" bIns="76200" rtlCol="0" anchor="ctr"/>
          <a:lstStyle/>
          <a:p>
            <a:pPr algn="ctr" indent="0" marL="0">
              <a:buNone/>
            </a:pPr>
            <a:r>
              <a:rPr lang="en-US" sz="1400" b="1" dirty="0">
                <a:solidFill>
                  <a:srgbClr val="111111"/>
                </a:solidFill>
                <a:latin typeface="Calibri" pitchFamily="34" charset="0"/>
                <a:ea typeface="Calibri" pitchFamily="34" charset="-122"/>
                <a:cs typeface="Calibri" pitchFamily="34" charset="-120"/>
              </a:rPr>
              <a:t>Next lesson: exams, results and 'If…'! 😉</a:t>
            </a:r>
            <a:endParaRPr lang="en-US" sz="1400" dirty="0"/>
          </a:p>
        </p:txBody>
      </p:sp>
    </p:spTree>
  </p:cSld>
  <p:clrMapOvr>
    <a:masterClrMapping/>
  </p:clrMapOvr>
  <p:transition spd="med">
    <p:push dir="l"/>
  </p:transition>
</p:sld>
</file>

<file path=ppt/slides/slide13.xml><?xml version="1.0" encoding="utf-8"?>
<p:sld xmlns:a="http://schemas.openxmlformats.org/drawingml/2006/main" xmlns:r="http://schemas.openxmlformats.org/officeDocument/2006/relationships" xmlns:p="http://schemas.openxmlformats.org/presentationml/2006/main">
  <p:cSld name="Slide 13">
    <p:bg>
      <p:bgPr>
        <a:blipFill dpi="0" rotWithShape="1">
          <a:blip r:embed="rId1">
            <a:lum/>
          </a:blip>
          <a:srcRect/>
          <a:stretch>
            <a:fillRect/>
          </a:stretch>
        </a:blipFill>
        <a:effectLst/>
      </p:bgPr>
    </p:bg>
    <p:spTree>
      <p:nvGrpSpPr>
        <p:cNvPr id="2" name=""/>
        <p:cNvGrpSpPr/>
        <p:nvPr/>
      </p:nvGrpSpPr>
      <p:grpSpPr>
        <a:xfrm>
          <a:off x="0" y="0"/>
          <a:ext cx="0" cy="0"/>
          <a:chOff x="0" y="0"/>
          <a:chExt cx="0" cy="0"/>
        </a:xfrm>
      </p:grpSpPr>
      <p:sp>
        <p:nvSpPr>
          <p:cNvPr id="3" name="levelFrame_218"/>
          <p:cNvSpPr/>
          <p:nvPr/>
        </p:nvSpPr>
        <p:spPr>
          <a:xfrm>
            <a:off x="54864" y="54864"/>
            <a:ext cx="9034272" cy="5033772"/>
          </a:xfrm>
          <a:prstGeom prst="rect">
            <a:avLst/>
          </a:prstGeom>
          <a:ln w="114300">
            <a:solidFill>
              <a:srgbClr val="A8E6B4"/>
            </a:solidFill>
            <a:prstDash val="solid"/>
          </a:ln>
        </p:spPr>
      </p:sp>
      <p:pic>
        <p:nvPicPr>
          <p:cNvPr id="4" name="logo_219" descr="London Language School logo">    </p:cNvPr>
          <p:cNvPicPr>
            <a:picLocks noChangeAspect="1"/>
          </p:cNvPicPr>
          <p:nvPr/>
        </p:nvPicPr>
        <p:blipFill>
          <a:blip r:embed="rId2"/>
          <a:stretch>
            <a:fillRect/>
          </a:stretch>
        </p:blipFill>
        <p:spPr>
          <a:xfrm>
            <a:off x="8275320" y="182880"/>
            <a:ext cx="585216" cy="585216"/>
          </a:xfrm>
          <a:prstGeom prst="rect">
            <a:avLst/>
          </a:prstGeom>
        </p:spPr>
      </p:pic>
      <p:sp>
        <p:nvSpPr>
          <p:cNvPr id="5" name="objective_220"/>
          <p:cNvSpPr txBox="1"/>
          <p:nvPr/>
        </p:nvSpPr>
        <p:spPr>
          <a:xfrm>
            <a:off x="320040" y="182880"/>
            <a:ext cx="4206240" cy="365760"/>
          </a:xfrm>
          <a:prstGeom prst="roundRect">
            <a:avLst>
              <a:gd name="adj" fmla="val 20000"/>
            </a:avLst>
          </a:prstGeom>
          <a:solidFill>
            <a:srgbClr val="062F67"/>
          </a:solidFill>
          <a:ln w="31750">
            <a:solidFill>
              <a:srgbClr val="111111"/>
            </a:solidFill>
          </a:ln>
        </p:spPr>
        <p:txBody>
          <a:bodyPr wrap="square" lIns="101600" tIns="101600" rIns="101600" bIns="101600" rtlCol="0" anchor="ctr"/>
          <a:lstStyle/>
          <a:p>
            <a:pPr indent="0" marL="0">
              <a:buNone/>
            </a:pPr>
            <a:r>
              <a:rPr lang="en-US" sz="900" dirty="0">
                <a:solidFill>
                  <a:srgbClr val="FFFFFF"/>
                </a:solidFill>
                <a:latin typeface="Arial Black" pitchFamily="34" charset="0"/>
                <a:ea typeface="Arial Black" pitchFamily="34" charset="-122"/>
                <a:cs typeface="Arial Black" pitchFamily="34" charset="-120"/>
              </a:rPr>
              <a:t>EXTENSION · Vocabulary game</a:t>
            </a:r>
            <a:endParaRPr lang="en-US" sz="900" dirty="0"/>
          </a:p>
        </p:txBody>
      </p:sp>
      <p:sp>
        <p:nvSpPr>
          <p:cNvPr id="6" name="footer_221"/>
          <p:cNvSpPr txBox="1"/>
          <p:nvPr/>
        </p:nvSpPr>
        <p:spPr>
          <a:xfrm>
            <a:off x="7315200" y="4818888"/>
            <a:ext cx="1554480" cy="219456"/>
          </a:xfrm>
          <a:prstGeom prst="rect">
            <a:avLst/>
          </a:prstGeom>
          <a:solidFill>
            <a:srgbClr val="FFFFFF"/>
          </a:solidFill>
          <a:ln/>
        </p:spPr>
        <p:txBody>
          <a:bodyPr wrap="square" lIns="0" tIns="0" rIns="0" bIns="0" rtlCol="0" anchor="ctr"/>
          <a:lstStyle/>
          <a:p>
            <a:pPr algn="ctr" indent="0" marL="0">
              <a:buNone/>
            </a:pPr>
            <a:r>
              <a:rPr lang="en-US" sz="1000" dirty="0">
                <a:solidFill>
                  <a:srgbClr val="334155"/>
                </a:solidFill>
                <a:latin typeface="Calibri" pitchFamily="34" charset="0"/>
                <a:ea typeface="Calibri" pitchFamily="34" charset="-122"/>
                <a:cs typeface="Calibri" pitchFamily="34" charset="-120"/>
              </a:rPr>
              <a:t>7A · Part 1</a:t>
            </a:r>
            <a:endParaRPr lang="en-US" sz="1000" dirty="0"/>
          </a:p>
        </p:txBody>
      </p:sp>
      <p:sp>
        <p:nvSpPr>
          <p:cNvPr id="7" name="extra_222"/>
          <p:cNvSpPr txBox="1"/>
          <p:nvPr/>
        </p:nvSpPr>
        <p:spPr>
          <a:xfrm rot="360000">
            <a:off x="6995160" y="228600"/>
            <a:ext cx="1097280" cy="347472"/>
          </a:xfrm>
          <a:prstGeom prst="roundRect">
            <a:avLst>
              <a:gd name="adj" fmla="val 21053"/>
            </a:avLst>
          </a:prstGeom>
          <a:solidFill>
            <a:srgbClr val="1FA463"/>
          </a:solidFill>
          <a:ln w="31750">
            <a:solidFill>
              <a:srgbClr val="111111"/>
            </a:solidFill>
          </a:ln>
        </p:spPr>
        <p:txBody>
          <a:bodyPr wrap="square" rtlCol="0" anchor="ctr"/>
          <a:lstStyle/>
          <a:p>
            <a:pPr algn="ctr" indent="0" marL="0">
              <a:buNone/>
            </a:pPr>
            <a:r>
              <a:rPr lang="en-US" sz="1300" dirty="0">
                <a:solidFill>
                  <a:srgbClr val="FFFFFF"/>
                </a:solidFill>
                <a:latin typeface="Arial Black" pitchFamily="34" charset="0"/>
                <a:ea typeface="Arial Black" pitchFamily="34" charset="-122"/>
                <a:cs typeface="Arial Black" pitchFamily="34" charset="-120"/>
              </a:rPr>
              <a:t>EXTRA</a:t>
            </a:r>
            <a:endParaRPr lang="en-US" sz="1300" dirty="0"/>
          </a:p>
        </p:txBody>
      </p:sp>
      <p:sp>
        <p:nvSpPr>
          <p:cNvPr id="8" name="title_223"/>
          <p:cNvSpPr txBox="1"/>
          <p:nvPr/>
        </p:nvSpPr>
        <p:spPr>
          <a:xfrm rot="-120000">
            <a:off x="320040" y="658368"/>
            <a:ext cx="5020056" cy="548640"/>
          </a:xfrm>
          <a:prstGeom prst="rect">
            <a:avLst/>
          </a:prstGeom>
          <a:solidFill>
            <a:srgbClr val="FFD84D"/>
          </a:solidFill>
          <a:ln w="31750">
            <a:solidFill>
              <a:srgbClr val="111111"/>
            </a:solidFill>
          </a:ln>
          <a:effectLst>
            <a:outerShdw sx="100000" sy="100000" kx="0" ky="0" algn="bl" rotWithShape="0" blurRad="101600" dist="38100" dir="2700000">
              <a:srgbClr val="000000">
                <a:alpha val="35000"/>
              </a:srgbClr>
            </a:outerShdw>
          </a:effectLst>
        </p:spPr>
        <p:txBody>
          <a:bodyPr wrap="square" lIns="127000" tIns="127000" rIns="127000" bIns="127000" rtlCol="0" anchor="ctr"/>
          <a:lstStyle/>
          <a:p>
            <a:pPr indent="0" marL="0">
              <a:buNone/>
            </a:pPr>
            <a:r>
              <a:rPr lang="en-US" sz="1600" dirty="0">
                <a:solidFill>
                  <a:srgbClr val="111111"/>
                </a:solidFill>
                <a:latin typeface="Arial Black" pitchFamily="34" charset="0"/>
                <a:ea typeface="Arial Black" pitchFamily="34" charset="-122"/>
                <a:cs typeface="Arial Black" pitchFamily="34" charset="-120"/>
              </a:rPr>
              <a:t>Subject Taboo: how to play</a:t>
            </a:r>
            <a:endParaRPr lang="en-US" sz="1600" dirty="0"/>
          </a:p>
        </p:txBody>
      </p:sp>
      <p:sp>
        <p:nvSpPr>
          <p:cNvPr id="9" name="post_224"/>
          <p:cNvSpPr/>
          <p:nvPr/>
        </p:nvSpPr>
        <p:spPr>
          <a:xfrm>
            <a:off x="429768" y="1554480"/>
            <a:ext cx="128016" cy="2377440"/>
          </a:xfrm>
          <a:prstGeom prst="rect">
            <a:avLst/>
          </a:prstGeom>
          <a:solidFill>
            <a:srgbClr val="8B5A2B"/>
          </a:solidFill>
          <a:ln w="31750">
            <a:solidFill>
              <a:srgbClr val="111111"/>
            </a:solidFill>
            <a:prstDash val="solid"/>
          </a:ln>
        </p:spPr>
      </p:sp>
      <p:sp>
        <p:nvSpPr>
          <p:cNvPr id="10" name="signA_225"/>
          <p:cNvSpPr txBox="1"/>
          <p:nvPr/>
        </p:nvSpPr>
        <p:spPr>
          <a:xfrm rot="-180000">
            <a:off x="320040" y="1371600"/>
            <a:ext cx="2103120" cy="457200"/>
          </a:xfrm>
          <a:prstGeom prst="homePlate">
            <a:avLst/>
          </a:prstGeom>
          <a:solidFill>
            <a:srgbClr val="EF2F2F"/>
          </a:solidFill>
          <a:ln w="31750">
            <a:solidFill>
              <a:srgbClr val="111111"/>
            </a:solidFill>
          </a:ln>
          <a:effectLst>
            <a:outerShdw sx="100000" sy="100000" kx="0" ky="0" algn="bl" rotWithShape="0" blurRad="101600" dist="38100" dir="2700000">
              <a:srgbClr val="000000">
                <a:alpha val="35000"/>
              </a:srgbClr>
            </a:outerShdw>
          </a:effectLst>
        </p:spPr>
        <p:txBody>
          <a:bodyPr wrap="square" lIns="76200" tIns="76200" rIns="76200" bIns="76200" rtlCol="0" anchor="ctr"/>
          <a:lstStyle/>
          <a:p>
            <a:pPr indent="0" marL="0">
              <a:buNone/>
            </a:pPr>
            <a:r>
              <a:rPr lang="en-US" sz="1600" b="1" dirty="0">
                <a:solidFill>
                  <a:srgbClr val="FFFFFF"/>
                </a:solidFill>
                <a:latin typeface="Arial Black" pitchFamily="34" charset="0"/>
                <a:ea typeface="Arial Black" pitchFamily="34" charset="-122"/>
                <a:cs typeface="Arial Black" pitchFamily="34" charset="-120"/>
              </a:rPr>
              <a:t>PLAY!</a:t>
            </a:r>
            <a:pPr indent="0" marL="0">
              <a:buNone/>
            </a:pPr>
            <a:r>
              <a:rPr lang="en-US" sz="1100" dirty="0">
                <a:solidFill>
                  <a:srgbClr val="FFF3B0"/>
                </a:solidFill>
                <a:latin typeface="Arial Black" pitchFamily="34" charset="0"/>
                <a:ea typeface="Arial Black" pitchFamily="34" charset="-122"/>
                <a:cs typeface="Arial Black" pitchFamily="34" charset="-120"/>
              </a:rPr>
              <a:t>  GIOCA!</a:t>
            </a:r>
            <a:endParaRPr lang="en-US" sz="1600" dirty="0"/>
          </a:p>
        </p:txBody>
      </p:sp>
      <p:sp>
        <p:nvSpPr>
          <p:cNvPr id="11" name="signB_226"/>
          <p:cNvSpPr txBox="1"/>
          <p:nvPr/>
        </p:nvSpPr>
        <p:spPr>
          <a:xfrm rot="120000">
            <a:off x="365760" y="1938528"/>
            <a:ext cx="2377440" cy="822960"/>
          </a:xfrm>
          <a:prstGeom prst="rect">
            <a:avLst/>
          </a:prstGeom>
          <a:solidFill>
            <a:srgbClr val="FFFFFF"/>
          </a:solidFill>
          <a:ln w="31750">
            <a:solidFill>
              <a:srgbClr val="111111"/>
            </a:solidFill>
          </a:ln>
        </p:spPr>
        <p:txBody>
          <a:bodyPr wrap="square" lIns="76200" tIns="76200" rIns="76200" bIns="76200" rtlCol="0" anchor="ctr"/>
          <a:lstStyle/>
          <a:p>
            <a:pPr indent="0" marL="0">
              <a:buNone/>
            </a:pPr>
            <a:r>
              <a:rPr lang="en-US" sz="1100" dirty="0">
                <a:solidFill>
                  <a:srgbClr val="111111"/>
                </a:solidFill>
                <a:latin typeface="Calibri" pitchFamily="34" charset="0"/>
                <a:ea typeface="Calibri" pitchFamily="34" charset="-122"/>
                <a:cs typeface="Calibri" pitchFamily="34" charset="-120"/>
              </a:rPr>
              <a:t>Two teams. One describer at a time.</a:t>
            </a:r>
            <a:endParaRPr lang="en-US" sz="1100" dirty="0"/>
          </a:p>
          <a:p>
            <a:pPr indent="0" marL="0">
              <a:buNone/>
            </a:pPr>
            <a:r>
              <a:rPr lang="en-US" sz="1000" i="1" dirty="0">
                <a:solidFill>
                  <a:srgbClr val="334155"/>
                </a:solidFill>
                <a:latin typeface="Calibri" pitchFamily="34" charset="0"/>
                <a:ea typeface="Calibri" pitchFamily="34" charset="-122"/>
                <a:cs typeface="Calibri" pitchFamily="34" charset="-120"/>
              </a:rPr>
              <a:t>Due squadre. Descrive una persona alla volta.</a:t>
            </a:r>
            <a:endParaRPr lang="en-US" sz="1100" dirty="0"/>
          </a:p>
        </p:txBody>
      </p:sp>
      <p:sp>
        <p:nvSpPr>
          <p:cNvPr id="12" name="n_227"/>
          <p:cNvSpPr txBox="1"/>
          <p:nvPr/>
        </p:nvSpPr>
        <p:spPr>
          <a:xfrm>
            <a:off x="2834640" y="1399032"/>
            <a:ext cx="384048" cy="384048"/>
          </a:xfrm>
          <a:prstGeom prst="ellipse">
            <a:avLst/>
          </a:prstGeom>
          <a:solidFill>
            <a:srgbClr val="EF2F2F"/>
          </a:solidFill>
          <a:ln w="31750">
            <a:solidFill>
              <a:srgbClr val="111111"/>
            </a:solidFill>
          </a:ln>
        </p:spPr>
        <p:txBody>
          <a:bodyPr wrap="square" rtlCol="0" anchor="ctr"/>
          <a:lstStyle/>
          <a:p>
            <a:pPr algn="ctr" indent="0" marL="0">
              <a:buNone/>
            </a:pPr>
            <a:r>
              <a:rPr lang="en-US" sz="1300" dirty="0">
                <a:solidFill>
                  <a:srgbClr val="FFFFFF"/>
                </a:solidFill>
                <a:latin typeface="Arial Black" pitchFamily="34" charset="0"/>
                <a:ea typeface="Arial Black" pitchFamily="34" charset="-122"/>
                <a:cs typeface="Arial Black" pitchFamily="34" charset="-120"/>
              </a:rPr>
              <a:t>1</a:t>
            </a:r>
            <a:endParaRPr lang="en-US" sz="1300" dirty="0"/>
          </a:p>
        </p:txBody>
      </p:sp>
      <p:sp>
        <p:nvSpPr>
          <p:cNvPr id="13" name="st_228"/>
          <p:cNvSpPr txBox="1"/>
          <p:nvPr/>
        </p:nvSpPr>
        <p:spPr>
          <a:xfrm>
            <a:off x="3310128" y="1325880"/>
            <a:ext cx="5486400" cy="530352"/>
          </a:xfrm>
          <a:prstGeom prst="rect">
            <a:avLst/>
          </a:prstGeom>
          <a:solidFill>
            <a:srgbClr val="FFFFFF"/>
          </a:solidFill>
          <a:ln w="15875">
            <a:solidFill>
              <a:srgbClr val="111111"/>
            </a:solidFill>
          </a:ln>
        </p:spPr>
        <p:txBody>
          <a:bodyPr wrap="square" lIns="76200" tIns="76200" rIns="76200" bIns="76200" rtlCol="0" anchor="ctr"/>
          <a:lstStyle/>
          <a:p>
            <a:pPr indent="0" marL="0">
              <a:buNone/>
            </a:pPr>
            <a:r>
              <a:rPr lang="en-US" sz="1250" dirty="0">
                <a:solidFill>
                  <a:srgbClr val="111111"/>
                </a:solidFill>
                <a:latin typeface="Calibri" pitchFamily="34" charset="0"/>
                <a:ea typeface="Calibri" pitchFamily="34" charset="-122"/>
                <a:cs typeface="Calibri" pitchFamily="34" charset="-120"/>
              </a:rPr>
              <a:t>The DESCRIBER stands with their back to the class, facing the screen.</a:t>
            </a:r>
            <a:endParaRPr lang="en-US" sz="1250" dirty="0"/>
          </a:p>
        </p:txBody>
      </p:sp>
      <p:sp>
        <p:nvSpPr>
          <p:cNvPr id="14" name="n_229"/>
          <p:cNvSpPr txBox="1"/>
          <p:nvPr/>
        </p:nvSpPr>
        <p:spPr>
          <a:xfrm>
            <a:off x="2834640" y="2002536"/>
            <a:ext cx="384048" cy="384048"/>
          </a:xfrm>
          <a:prstGeom prst="ellipse">
            <a:avLst/>
          </a:prstGeom>
          <a:solidFill>
            <a:srgbClr val="48BDF2"/>
          </a:solidFill>
          <a:ln w="31750">
            <a:solidFill>
              <a:srgbClr val="111111"/>
            </a:solidFill>
          </a:ln>
        </p:spPr>
        <p:txBody>
          <a:bodyPr wrap="square" rtlCol="0" anchor="ctr"/>
          <a:lstStyle/>
          <a:p>
            <a:pPr algn="ctr" indent="0" marL="0">
              <a:buNone/>
            </a:pPr>
            <a:r>
              <a:rPr lang="en-US" sz="1300" dirty="0">
                <a:solidFill>
                  <a:srgbClr val="FFFFFF"/>
                </a:solidFill>
                <a:latin typeface="Arial Black" pitchFamily="34" charset="0"/>
                <a:ea typeface="Arial Black" pitchFamily="34" charset="-122"/>
                <a:cs typeface="Arial Black" pitchFamily="34" charset="-120"/>
              </a:rPr>
              <a:t>2</a:t>
            </a:r>
            <a:endParaRPr lang="en-US" sz="1300" dirty="0"/>
          </a:p>
        </p:txBody>
      </p:sp>
      <p:sp>
        <p:nvSpPr>
          <p:cNvPr id="15" name="st_230"/>
          <p:cNvSpPr txBox="1"/>
          <p:nvPr/>
        </p:nvSpPr>
        <p:spPr>
          <a:xfrm>
            <a:off x="3310128" y="1929384"/>
            <a:ext cx="5486400" cy="530352"/>
          </a:xfrm>
          <a:prstGeom prst="rect">
            <a:avLst/>
          </a:prstGeom>
          <a:solidFill>
            <a:srgbClr val="FFFFFF"/>
          </a:solidFill>
          <a:ln w="15875">
            <a:solidFill>
              <a:srgbClr val="111111"/>
            </a:solidFill>
          </a:ln>
        </p:spPr>
        <p:txBody>
          <a:bodyPr wrap="square" lIns="76200" tIns="76200" rIns="76200" bIns="76200" rtlCol="0" anchor="ctr"/>
          <a:lstStyle/>
          <a:p>
            <a:pPr indent="0" marL="0">
              <a:buNone/>
            </a:pPr>
            <a:r>
              <a:rPr lang="en-US" sz="1200" b="1" dirty="0">
                <a:solidFill>
                  <a:srgbClr val="111111"/>
                </a:solidFill>
                <a:latin typeface="Calibri" pitchFamily="34" charset="0"/>
                <a:ea typeface="Calibri" pitchFamily="34" charset="-122"/>
                <a:cs typeface="Calibri" pitchFamily="34" charset="-120"/>
              </a:rPr>
              <a:t>Everybody else: you must NOT see the screen – turn your chairs round or close your eyes!</a:t>
            </a:r>
            <a:endParaRPr lang="en-US" sz="1200" dirty="0"/>
          </a:p>
        </p:txBody>
      </p:sp>
      <p:sp>
        <p:nvSpPr>
          <p:cNvPr id="16" name="n_231"/>
          <p:cNvSpPr txBox="1"/>
          <p:nvPr/>
        </p:nvSpPr>
        <p:spPr>
          <a:xfrm>
            <a:off x="2834640" y="2606040"/>
            <a:ext cx="384048" cy="384048"/>
          </a:xfrm>
          <a:prstGeom prst="ellipse">
            <a:avLst/>
          </a:prstGeom>
          <a:solidFill>
            <a:srgbClr val="1FA463"/>
          </a:solidFill>
          <a:ln w="31750">
            <a:solidFill>
              <a:srgbClr val="111111"/>
            </a:solidFill>
          </a:ln>
        </p:spPr>
        <p:txBody>
          <a:bodyPr wrap="square" rtlCol="0" anchor="ctr"/>
          <a:lstStyle/>
          <a:p>
            <a:pPr algn="ctr" indent="0" marL="0">
              <a:buNone/>
            </a:pPr>
            <a:r>
              <a:rPr lang="en-US" sz="1300" dirty="0">
                <a:solidFill>
                  <a:srgbClr val="FFFFFF"/>
                </a:solidFill>
                <a:latin typeface="Arial Black" pitchFamily="34" charset="0"/>
                <a:ea typeface="Arial Black" pitchFamily="34" charset="-122"/>
                <a:cs typeface="Arial Black" pitchFamily="34" charset="-120"/>
              </a:rPr>
              <a:t>3</a:t>
            </a:r>
            <a:endParaRPr lang="en-US" sz="1300" dirty="0"/>
          </a:p>
        </p:txBody>
      </p:sp>
      <p:sp>
        <p:nvSpPr>
          <p:cNvPr id="17" name="st_232"/>
          <p:cNvSpPr txBox="1"/>
          <p:nvPr/>
        </p:nvSpPr>
        <p:spPr>
          <a:xfrm>
            <a:off x="3310128" y="2532888"/>
            <a:ext cx="5486400" cy="530352"/>
          </a:xfrm>
          <a:prstGeom prst="rect">
            <a:avLst/>
          </a:prstGeom>
          <a:solidFill>
            <a:srgbClr val="FFFFFF"/>
          </a:solidFill>
          <a:ln w="15875">
            <a:solidFill>
              <a:srgbClr val="111111"/>
            </a:solidFill>
          </a:ln>
        </p:spPr>
        <p:txBody>
          <a:bodyPr wrap="square" lIns="76200" tIns="76200" rIns="76200" bIns="76200" rtlCol="0" anchor="ctr"/>
          <a:lstStyle/>
          <a:p>
            <a:pPr indent="0" marL="0">
              <a:buNone/>
            </a:pPr>
            <a:r>
              <a:rPr lang="en-US" sz="1200" dirty="0">
                <a:solidFill>
                  <a:srgbClr val="111111"/>
                </a:solidFill>
                <a:latin typeface="Calibri" pitchFamily="34" charset="0"/>
                <a:ea typeface="Calibri" pitchFamily="34" charset="-122"/>
                <a:cs typeface="Calibri" pitchFamily="34" charset="-120"/>
              </a:rPr>
              <a:t>Teacher: click → ONE card appears. The describer explains it in 1 minute. No red words!</a:t>
            </a:r>
            <a:endParaRPr lang="en-US" sz="1200" dirty="0"/>
          </a:p>
        </p:txBody>
      </p:sp>
      <p:sp>
        <p:nvSpPr>
          <p:cNvPr id="18" name="n_233"/>
          <p:cNvSpPr txBox="1"/>
          <p:nvPr/>
        </p:nvSpPr>
        <p:spPr>
          <a:xfrm>
            <a:off x="2834640" y="3209544"/>
            <a:ext cx="384048" cy="384048"/>
          </a:xfrm>
          <a:prstGeom prst="ellipse">
            <a:avLst/>
          </a:prstGeom>
          <a:solidFill>
            <a:srgbClr val="F59E0B"/>
          </a:solidFill>
          <a:ln w="31750">
            <a:solidFill>
              <a:srgbClr val="111111"/>
            </a:solidFill>
          </a:ln>
        </p:spPr>
        <p:txBody>
          <a:bodyPr wrap="square" rtlCol="0" anchor="ctr"/>
          <a:lstStyle/>
          <a:p>
            <a:pPr algn="ctr" indent="0" marL="0">
              <a:buNone/>
            </a:pPr>
            <a:r>
              <a:rPr lang="en-US" sz="1300" dirty="0">
                <a:solidFill>
                  <a:srgbClr val="FFFFFF"/>
                </a:solidFill>
                <a:latin typeface="Arial Black" pitchFamily="34" charset="0"/>
                <a:ea typeface="Arial Black" pitchFamily="34" charset="-122"/>
                <a:cs typeface="Arial Black" pitchFamily="34" charset="-120"/>
              </a:rPr>
              <a:t>4</a:t>
            </a:r>
            <a:endParaRPr lang="en-US" sz="1300" dirty="0"/>
          </a:p>
        </p:txBody>
      </p:sp>
      <p:sp>
        <p:nvSpPr>
          <p:cNvPr id="19" name="st_234"/>
          <p:cNvSpPr txBox="1"/>
          <p:nvPr/>
        </p:nvSpPr>
        <p:spPr>
          <a:xfrm>
            <a:off x="3310128" y="3136392"/>
            <a:ext cx="5486400" cy="530352"/>
          </a:xfrm>
          <a:prstGeom prst="rect">
            <a:avLst/>
          </a:prstGeom>
          <a:solidFill>
            <a:srgbClr val="FFFFFF"/>
          </a:solidFill>
          <a:ln w="15875">
            <a:solidFill>
              <a:srgbClr val="111111"/>
            </a:solidFill>
          </a:ln>
        </p:spPr>
        <p:txBody>
          <a:bodyPr wrap="square" lIns="76200" tIns="76200" rIns="76200" bIns="76200" rtlCol="0" anchor="ctr"/>
          <a:lstStyle/>
          <a:p>
            <a:pPr indent="0" marL="0">
              <a:buNone/>
            </a:pPr>
            <a:r>
              <a:rPr lang="en-US" sz="1400" dirty="0">
                <a:solidFill>
                  <a:srgbClr val="111111"/>
                </a:solidFill>
                <a:latin typeface="Calibri" pitchFamily="34" charset="0"/>
                <a:ea typeface="Calibri" pitchFamily="34" charset="-122"/>
                <a:cs typeface="Calibri" pitchFamily="34" charset="-120"/>
              </a:rPr>
              <a:t>The describer's team guesses. Correct = 1 point. A red word = 0.</a:t>
            </a:r>
            <a:endParaRPr lang="en-US" sz="1400" dirty="0"/>
          </a:p>
        </p:txBody>
      </p:sp>
      <p:sp>
        <p:nvSpPr>
          <p:cNvPr id="20" name="n_235"/>
          <p:cNvSpPr txBox="1"/>
          <p:nvPr/>
        </p:nvSpPr>
        <p:spPr>
          <a:xfrm>
            <a:off x="2834640" y="3813048"/>
            <a:ext cx="384048" cy="384048"/>
          </a:xfrm>
          <a:prstGeom prst="ellipse">
            <a:avLst/>
          </a:prstGeom>
          <a:solidFill>
            <a:srgbClr val="062F67"/>
          </a:solidFill>
          <a:ln w="31750">
            <a:solidFill>
              <a:srgbClr val="111111"/>
            </a:solidFill>
          </a:ln>
        </p:spPr>
        <p:txBody>
          <a:bodyPr wrap="square" rtlCol="0" anchor="ctr"/>
          <a:lstStyle/>
          <a:p>
            <a:pPr algn="ctr" indent="0" marL="0">
              <a:buNone/>
            </a:pPr>
            <a:r>
              <a:rPr lang="en-US" sz="1300" dirty="0">
                <a:solidFill>
                  <a:srgbClr val="FFFFFF"/>
                </a:solidFill>
                <a:latin typeface="Arial Black" pitchFamily="34" charset="0"/>
                <a:ea typeface="Arial Black" pitchFamily="34" charset="-122"/>
                <a:cs typeface="Arial Black" pitchFamily="34" charset="-120"/>
              </a:rPr>
              <a:t>5</a:t>
            </a:r>
            <a:endParaRPr lang="en-US" sz="1300" dirty="0"/>
          </a:p>
        </p:txBody>
      </p:sp>
      <p:sp>
        <p:nvSpPr>
          <p:cNvPr id="21" name="st_236"/>
          <p:cNvSpPr txBox="1"/>
          <p:nvPr/>
        </p:nvSpPr>
        <p:spPr>
          <a:xfrm>
            <a:off x="3310128" y="3739896"/>
            <a:ext cx="5486400" cy="530352"/>
          </a:xfrm>
          <a:prstGeom prst="rect">
            <a:avLst/>
          </a:prstGeom>
          <a:solidFill>
            <a:srgbClr val="FFFFFF"/>
          </a:solidFill>
          <a:ln w="15875">
            <a:solidFill>
              <a:srgbClr val="111111"/>
            </a:solidFill>
          </a:ln>
        </p:spPr>
        <p:txBody>
          <a:bodyPr wrap="square" lIns="76200" tIns="76200" rIns="76200" bIns="76200" rtlCol="0" anchor="ctr"/>
          <a:lstStyle/>
          <a:p>
            <a:pPr indent="0" marL="0">
              <a:buNone/>
            </a:pPr>
            <a:r>
              <a:rPr lang="en-US" sz="1400" dirty="0">
                <a:solidFill>
                  <a:srgbClr val="111111"/>
                </a:solidFill>
                <a:latin typeface="Calibri" pitchFamily="34" charset="0"/>
                <a:ea typeface="Calibri" pitchFamily="34" charset="-122"/>
                <a:cs typeface="Calibri" pitchFamily="34" charset="-120"/>
              </a:rPr>
              <a:t>Click to the next card: a NEW describer from the other team.</a:t>
            </a:r>
            <a:endParaRPr lang="en-US" sz="1400" dirty="0"/>
          </a:p>
        </p:txBody>
      </p:sp>
    </p:spTree>
  </p:cSld>
  <p:clrMapOvr>
    <a:masterClrMapping/>
  </p:clrMapOvr>
  <p:transition spd="med">
    <p:push dir="l"/>
  </p:transition>
</p:sld>
</file>

<file path=ppt/slides/slide14.xml><?xml version="1.0" encoding="utf-8"?>
<p:sld xmlns:a="http://schemas.openxmlformats.org/drawingml/2006/main" xmlns:r="http://schemas.openxmlformats.org/officeDocument/2006/relationships" xmlns:p="http://schemas.openxmlformats.org/presentationml/2006/main">
  <p:cSld name="Slide 14">
    <p:bg>
      <p:bgPr>
        <a:blipFill dpi="0" rotWithShape="1">
          <a:blip r:embed="rId1">
            <a:lum/>
          </a:blip>
          <a:srcRect/>
          <a:stretch>
            <a:fillRect/>
          </a:stretch>
        </a:blipFill>
        <a:effectLst/>
      </p:bgPr>
    </p:bg>
    <p:spTree>
      <p:nvGrpSpPr>
        <p:cNvPr id="2" name=""/>
        <p:cNvGrpSpPr/>
        <p:nvPr/>
      </p:nvGrpSpPr>
      <p:grpSpPr>
        <a:xfrm>
          <a:off x="0" y="0"/>
          <a:ext cx="0" cy="0"/>
          <a:chOff x="0" y="0"/>
          <a:chExt cx="0" cy="0"/>
        </a:xfrm>
      </p:grpSpPr>
      <p:sp>
        <p:nvSpPr>
          <p:cNvPr id="3" name="levelFrame_237"/>
          <p:cNvSpPr/>
          <p:nvPr/>
        </p:nvSpPr>
        <p:spPr>
          <a:xfrm>
            <a:off x="54864" y="54864"/>
            <a:ext cx="9034272" cy="5033772"/>
          </a:xfrm>
          <a:prstGeom prst="rect">
            <a:avLst/>
          </a:prstGeom>
          <a:ln w="114300">
            <a:solidFill>
              <a:srgbClr val="A8E6B4"/>
            </a:solidFill>
            <a:prstDash val="solid"/>
          </a:ln>
        </p:spPr>
      </p:sp>
      <p:pic>
        <p:nvPicPr>
          <p:cNvPr id="4" name="logo_238" descr="London Language School logo">    </p:cNvPr>
          <p:cNvPicPr>
            <a:picLocks noChangeAspect="1"/>
          </p:cNvPicPr>
          <p:nvPr/>
        </p:nvPicPr>
        <p:blipFill>
          <a:blip r:embed="rId2"/>
          <a:stretch>
            <a:fillRect/>
          </a:stretch>
        </p:blipFill>
        <p:spPr>
          <a:xfrm>
            <a:off x="8275320" y="182880"/>
            <a:ext cx="585216" cy="585216"/>
          </a:xfrm>
          <a:prstGeom prst="rect">
            <a:avLst/>
          </a:prstGeom>
        </p:spPr>
      </p:pic>
      <p:sp>
        <p:nvSpPr>
          <p:cNvPr id="5" name="objective_239"/>
          <p:cNvSpPr txBox="1"/>
          <p:nvPr/>
        </p:nvSpPr>
        <p:spPr>
          <a:xfrm>
            <a:off x="320040" y="182880"/>
            <a:ext cx="4206240" cy="365760"/>
          </a:xfrm>
          <a:prstGeom prst="roundRect">
            <a:avLst>
              <a:gd name="adj" fmla="val 20000"/>
            </a:avLst>
          </a:prstGeom>
          <a:solidFill>
            <a:srgbClr val="062F67"/>
          </a:solidFill>
          <a:ln w="31750">
            <a:solidFill>
              <a:srgbClr val="111111"/>
            </a:solidFill>
          </a:ln>
        </p:spPr>
        <p:txBody>
          <a:bodyPr wrap="square" lIns="101600" tIns="101600" rIns="101600" bIns="101600" rtlCol="0" anchor="ctr"/>
          <a:lstStyle/>
          <a:p>
            <a:pPr indent="0" marL="0">
              <a:buNone/>
            </a:pPr>
            <a:r>
              <a:rPr lang="en-US" sz="900" dirty="0">
                <a:solidFill>
                  <a:srgbClr val="FFFFFF"/>
                </a:solidFill>
                <a:latin typeface="Arial Black" pitchFamily="34" charset="0"/>
                <a:ea typeface="Arial Black" pitchFamily="34" charset="-122"/>
                <a:cs typeface="Arial Black" pitchFamily="34" charset="-120"/>
              </a:rPr>
              <a:t>EXTENSION · Taboo card 1 of 6</a:t>
            </a:r>
            <a:endParaRPr lang="en-US" sz="900" dirty="0"/>
          </a:p>
        </p:txBody>
      </p:sp>
      <p:sp>
        <p:nvSpPr>
          <p:cNvPr id="6" name="footer_240"/>
          <p:cNvSpPr txBox="1"/>
          <p:nvPr/>
        </p:nvSpPr>
        <p:spPr>
          <a:xfrm>
            <a:off x="7315200" y="4818888"/>
            <a:ext cx="1554480" cy="219456"/>
          </a:xfrm>
          <a:prstGeom prst="rect">
            <a:avLst/>
          </a:prstGeom>
          <a:solidFill>
            <a:srgbClr val="FFFFFF"/>
          </a:solidFill>
          <a:ln/>
        </p:spPr>
        <p:txBody>
          <a:bodyPr wrap="square" lIns="0" tIns="0" rIns="0" bIns="0" rtlCol="0" anchor="ctr"/>
          <a:lstStyle/>
          <a:p>
            <a:pPr algn="ctr" indent="0" marL="0">
              <a:buNone/>
            </a:pPr>
            <a:r>
              <a:rPr lang="en-US" sz="1000" dirty="0">
                <a:solidFill>
                  <a:srgbClr val="334155"/>
                </a:solidFill>
                <a:latin typeface="Calibri" pitchFamily="34" charset="0"/>
                <a:ea typeface="Calibri" pitchFamily="34" charset="-122"/>
                <a:cs typeface="Calibri" pitchFamily="34" charset="-120"/>
              </a:rPr>
              <a:t>7A · Part 1</a:t>
            </a:r>
            <a:endParaRPr lang="en-US" sz="1000" dirty="0"/>
          </a:p>
        </p:txBody>
      </p:sp>
      <p:sp>
        <p:nvSpPr>
          <p:cNvPr id="7" name="extra_241"/>
          <p:cNvSpPr txBox="1"/>
          <p:nvPr/>
        </p:nvSpPr>
        <p:spPr>
          <a:xfrm rot="360000">
            <a:off x="6995160" y="228600"/>
            <a:ext cx="1097280" cy="347472"/>
          </a:xfrm>
          <a:prstGeom prst="roundRect">
            <a:avLst>
              <a:gd name="adj" fmla="val 21053"/>
            </a:avLst>
          </a:prstGeom>
          <a:solidFill>
            <a:srgbClr val="1FA463"/>
          </a:solidFill>
          <a:ln w="31750">
            <a:solidFill>
              <a:srgbClr val="111111"/>
            </a:solidFill>
          </a:ln>
        </p:spPr>
        <p:txBody>
          <a:bodyPr wrap="square" rtlCol="0" anchor="ctr"/>
          <a:lstStyle/>
          <a:p>
            <a:pPr algn="ctr" indent="0" marL="0">
              <a:buNone/>
            </a:pPr>
            <a:r>
              <a:rPr lang="en-US" sz="1300" dirty="0">
                <a:solidFill>
                  <a:srgbClr val="FFFFFF"/>
                </a:solidFill>
                <a:latin typeface="Arial Black" pitchFamily="34" charset="0"/>
                <a:ea typeface="Arial Black" pitchFamily="34" charset="-122"/>
                <a:cs typeface="Arial Black" pitchFamily="34" charset="-120"/>
              </a:rPr>
              <a:t>EXTRA</a:t>
            </a:r>
            <a:endParaRPr lang="en-US" sz="1300" dirty="0"/>
          </a:p>
        </p:txBody>
      </p:sp>
      <p:sp>
        <p:nvSpPr>
          <p:cNvPr id="8" name="warn_242"/>
          <p:cNvSpPr txBox="1"/>
          <p:nvPr/>
        </p:nvSpPr>
        <p:spPr>
          <a:xfrm>
            <a:off x="365760" y="731520"/>
            <a:ext cx="5486400" cy="457200"/>
          </a:xfrm>
          <a:prstGeom prst="rect">
            <a:avLst/>
          </a:prstGeom>
          <a:noFill/>
          <a:ln/>
        </p:spPr>
        <p:txBody>
          <a:bodyPr wrap="square" rtlCol="0" anchor="ctr"/>
          <a:lstStyle/>
          <a:p>
            <a:pPr indent="0" marL="0">
              <a:buNone/>
            </a:pPr>
            <a:r>
              <a:rPr lang="en-US" sz="1600" dirty="0">
                <a:solidFill>
                  <a:srgbClr val="EF2F2F"/>
                </a:solidFill>
                <a:latin typeface="Arial Black" pitchFamily="34" charset="0"/>
                <a:ea typeface="Arial Black" pitchFamily="34" charset="-122"/>
                <a:cs typeface="Arial Black" pitchFamily="34" charset="-120"/>
              </a:rPr>
              <a:t>👀 Guessers: don't look!  ·  Non guardate!</a:t>
            </a:r>
            <a:endParaRPr lang="en-US" sz="1600" dirty="0"/>
          </a:p>
        </p:txBody>
      </p:sp>
      <p:sp>
        <p:nvSpPr>
          <p:cNvPr id="9" name="R1_card"/>
          <p:cNvSpPr/>
          <p:nvPr/>
        </p:nvSpPr>
        <p:spPr>
          <a:xfrm rot="-90000">
            <a:off x="1828800" y="1325880"/>
            <a:ext cx="5486400" cy="3291840"/>
          </a:xfrm>
          <a:prstGeom prst="roundRect">
            <a:avLst>
              <a:gd name="adj" fmla="val 4167"/>
            </a:avLst>
          </a:prstGeom>
          <a:solidFill>
            <a:srgbClr val="FFFFFF"/>
          </a:solidFill>
          <a:ln w="31750">
            <a:solidFill>
              <a:srgbClr val="111111"/>
            </a:solidFill>
            <a:prstDash val="solid"/>
          </a:ln>
          <a:effectLst>
            <a:outerShdw sx="100000" sy="100000" kx="0" ky="0" algn="bl" rotWithShape="0" blurRad="101600" dist="38100" dir="2700000">
              <a:srgbClr val="000000">
                <a:alpha val="35000"/>
              </a:srgbClr>
            </a:outerShdw>
          </a:effectLst>
        </p:spPr>
      </p:sp>
      <p:sp>
        <p:nvSpPr>
          <p:cNvPr id="10" name="R1_word"/>
          <p:cNvSpPr txBox="1"/>
          <p:nvPr/>
        </p:nvSpPr>
        <p:spPr>
          <a:xfrm rot="-90000">
            <a:off x="1828800" y="1554480"/>
            <a:ext cx="5486400" cy="1097280"/>
          </a:xfrm>
          <a:prstGeom prst="rect">
            <a:avLst/>
          </a:prstGeom>
          <a:noFill/>
          <a:ln/>
        </p:spPr>
        <p:txBody>
          <a:bodyPr wrap="square" rtlCol="0" anchor="ctr"/>
          <a:lstStyle/>
          <a:p>
            <a:pPr algn="ctr" indent="0" marL="0">
              <a:buNone/>
            </a:pPr>
            <a:r>
              <a:rPr lang="en-US" sz="4000" dirty="0">
                <a:solidFill>
                  <a:srgbClr val="062F67"/>
                </a:solidFill>
                <a:latin typeface="Arial Black" pitchFamily="34" charset="0"/>
                <a:ea typeface="Arial Black" pitchFamily="34" charset="-122"/>
                <a:cs typeface="Arial Black" pitchFamily="34" charset="-120"/>
              </a:rPr>
              <a:t>CHEMISTRY</a:t>
            </a:r>
            <a:endParaRPr lang="en-US" sz="4000" dirty="0"/>
          </a:p>
        </p:txBody>
      </p:sp>
      <p:sp>
        <p:nvSpPr>
          <p:cNvPr id="11" name="R1_dont"/>
          <p:cNvSpPr txBox="1"/>
          <p:nvPr/>
        </p:nvSpPr>
        <p:spPr>
          <a:xfrm rot="-90000">
            <a:off x="1828800" y="2743200"/>
            <a:ext cx="5486400" cy="365760"/>
          </a:xfrm>
          <a:prstGeom prst="rect">
            <a:avLst/>
          </a:prstGeom>
          <a:noFill/>
          <a:ln/>
        </p:spPr>
        <p:txBody>
          <a:bodyPr wrap="square" rtlCol="0" anchor="ctr"/>
          <a:lstStyle/>
          <a:p>
            <a:pPr algn="ctr" indent="0" marL="0">
              <a:buNone/>
            </a:pPr>
            <a:r>
              <a:rPr lang="en-US" sz="1600" i="1" dirty="0">
                <a:solidFill>
                  <a:srgbClr val="475569"/>
                </a:solidFill>
                <a:latin typeface="Calibri" pitchFamily="34" charset="0"/>
                <a:ea typeface="Calibri" pitchFamily="34" charset="-122"/>
                <a:cs typeface="Calibri" pitchFamily="34" charset="-120"/>
              </a:rPr>
              <a:t>Don't say:</a:t>
            </a:r>
            <a:endParaRPr lang="en-US" sz="1600" dirty="0"/>
          </a:p>
        </p:txBody>
      </p:sp>
      <p:sp>
        <p:nvSpPr>
          <p:cNvPr id="12" name="R1_ban"/>
          <p:cNvSpPr txBox="1"/>
          <p:nvPr/>
        </p:nvSpPr>
        <p:spPr>
          <a:xfrm rot="-90000">
            <a:off x="2011680" y="3108960"/>
            <a:ext cx="5120640" cy="1097280"/>
          </a:xfrm>
          <a:prstGeom prst="rect">
            <a:avLst/>
          </a:prstGeom>
          <a:noFill/>
          <a:ln/>
        </p:spPr>
        <p:txBody>
          <a:bodyPr wrap="square" rtlCol="0" anchor="ctr"/>
          <a:lstStyle/>
          <a:p>
            <a:pPr algn="ctr" indent="0" marL="0">
              <a:buNone/>
            </a:pPr>
            <a:r>
              <a:rPr lang="en-US" sz="2800" b="1" dirty="0">
                <a:solidFill>
                  <a:srgbClr val="EF2F2F"/>
                </a:solidFill>
                <a:latin typeface="Calibri" pitchFamily="34" charset="0"/>
                <a:ea typeface="Calibri" pitchFamily="34" charset="-122"/>
                <a:cs typeface="Calibri" pitchFamily="34" charset="-120"/>
              </a:rPr>
              <a:t>science · lab · experiment</a:t>
            </a:r>
            <a:endParaRPr lang="en-US" sz="2800" dirty="0"/>
          </a:p>
        </p:txBody>
      </p:sp>
    </p:spTree>
  </p:cSld>
  <p:clrMapOvr>
    <a:masterClrMapping/>
  </p:clrMapOvr>
  <p:transition spd="med">
    <p:push dir="l"/>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400"/>
                                        <p:tgtEl>
                                          <p:spTgt spid="9"/>
                                        </p:tgtEl>
                                      </p:cBhvr>
                                    </p:animEffect>
                                  </p:childTnLst>
                                </p:cTn>
                              </p:par>
                              <p:par>
                                <p:cTn id="8" presetID="10" presetClass="entr" presetSubtype="0" fill="hold" nodeType="withEffect">
                                  <p:stCondLst>
                                    <p:cond delay="0"/>
                                  </p:stCondLst>
                                  <p:childTnLst>
                                    <p:set>
                                      <p:cBhvr>
                                        <p:cTn id="9" dur="1" fill="hold">
                                          <p:stCondLst>
                                            <p:cond delay="0"/>
                                          </p:stCondLst>
                                        </p:cTn>
                                        <p:tgtEl>
                                          <p:spTgt spid="10"/>
                                        </p:tgtEl>
                                        <p:attrNameLst>
                                          <p:attrName>style.visibility</p:attrName>
                                        </p:attrNameLst>
                                      </p:cBhvr>
                                      <p:to>
                                        <p:strVal val="visible"/>
                                      </p:to>
                                    </p:set>
                                    <p:animEffect transition="in" filter="fade">
                                      <p:cBhvr>
                                        <p:cTn id="10" dur="400"/>
                                        <p:tgtEl>
                                          <p:spTgt spid="10"/>
                                        </p:tgtEl>
                                      </p:cBhvr>
                                    </p:animEffect>
                                  </p:childTnLst>
                                </p:cTn>
                              </p:par>
                              <p:par>
                                <p:cTn id="11" presetID="10" presetClass="entr" presetSubtype="0" fill="hold" nodeType="withEffect">
                                  <p:stCondLst>
                                    <p:cond delay="0"/>
                                  </p:stCondLst>
                                  <p:childTnLst>
                                    <p:set>
                                      <p:cBhvr>
                                        <p:cTn id="12" dur="1" fill="hold">
                                          <p:stCondLst>
                                            <p:cond delay="0"/>
                                          </p:stCondLst>
                                        </p:cTn>
                                        <p:tgtEl>
                                          <p:spTgt spid="11"/>
                                        </p:tgtEl>
                                        <p:attrNameLst>
                                          <p:attrName>style.visibility</p:attrName>
                                        </p:attrNameLst>
                                      </p:cBhvr>
                                      <p:to>
                                        <p:strVal val="visible"/>
                                      </p:to>
                                    </p:set>
                                    <p:animEffect transition="in" filter="fade">
                                      <p:cBhvr>
                                        <p:cTn id="13" dur="400"/>
                                        <p:tgtEl>
                                          <p:spTgt spid="11"/>
                                        </p:tgtEl>
                                      </p:cBhvr>
                                    </p:animEffect>
                                  </p:childTnLst>
                                </p:cTn>
                              </p:par>
                              <p:par>
                                <p:cTn id="14" presetID="10" presetClass="entr" presetSubtype="0" fill="hold" nodeType="withEffect">
                                  <p:stCondLst>
                                    <p:cond delay="0"/>
                                  </p:stCondLst>
                                  <p:childTnLst>
                                    <p:set>
                                      <p:cBhvr>
                                        <p:cTn id="15" dur="1" fill="hold">
                                          <p:stCondLst>
                                            <p:cond delay="0"/>
                                          </p:stCondLst>
                                        </p:cTn>
                                        <p:tgtEl>
                                          <p:spTgt spid="12"/>
                                        </p:tgtEl>
                                        <p:attrNameLst>
                                          <p:attrName>style.visibility</p:attrName>
                                        </p:attrNameLst>
                                      </p:cBhvr>
                                      <p:to>
                                        <p:strVal val="visible"/>
                                      </p:to>
                                    </p:set>
                                    <p:animEffect transition="in" filter="fade">
                                      <p:cBhvr>
                                        <p:cTn id="16" dur="4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name="Slide 15">
    <p:bg>
      <p:bgPr>
        <a:blipFill dpi="0" rotWithShape="1">
          <a:blip r:embed="rId1">
            <a:lum/>
          </a:blip>
          <a:srcRect/>
          <a:stretch>
            <a:fillRect/>
          </a:stretch>
        </a:blipFill>
        <a:effectLst/>
      </p:bgPr>
    </p:bg>
    <p:spTree>
      <p:nvGrpSpPr>
        <p:cNvPr id="2" name=""/>
        <p:cNvGrpSpPr/>
        <p:nvPr/>
      </p:nvGrpSpPr>
      <p:grpSpPr>
        <a:xfrm>
          <a:off x="0" y="0"/>
          <a:ext cx="0" cy="0"/>
          <a:chOff x="0" y="0"/>
          <a:chExt cx="0" cy="0"/>
        </a:xfrm>
      </p:grpSpPr>
      <p:sp>
        <p:nvSpPr>
          <p:cNvPr id="3" name="levelFrame_243"/>
          <p:cNvSpPr/>
          <p:nvPr/>
        </p:nvSpPr>
        <p:spPr>
          <a:xfrm>
            <a:off x="54864" y="54864"/>
            <a:ext cx="9034272" cy="5033772"/>
          </a:xfrm>
          <a:prstGeom prst="rect">
            <a:avLst/>
          </a:prstGeom>
          <a:ln w="114300">
            <a:solidFill>
              <a:srgbClr val="A8E6B4"/>
            </a:solidFill>
            <a:prstDash val="solid"/>
          </a:ln>
        </p:spPr>
      </p:sp>
      <p:pic>
        <p:nvPicPr>
          <p:cNvPr id="4" name="logo_244" descr="London Language School logo">    </p:cNvPr>
          <p:cNvPicPr>
            <a:picLocks noChangeAspect="1"/>
          </p:cNvPicPr>
          <p:nvPr/>
        </p:nvPicPr>
        <p:blipFill>
          <a:blip r:embed="rId2"/>
          <a:stretch>
            <a:fillRect/>
          </a:stretch>
        </p:blipFill>
        <p:spPr>
          <a:xfrm>
            <a:off x="8275320" y="182880"/>
            <a:ext cx="585216" cy="585216"/>
          </a:xfrm>
          <a:prstGeom prst="rect">
            <a:avLst/>
          </a:prstGeom>
        </p:spPr>
      </p:pic>
      <p:sp>
        <p:nvSpPr>
          <p:cNvPr id="5" name="objective_245"/>
          <p:cNvSpPr txBox="1"/>
          <p:nvPr/>
        </p:nvSpPr>
        <p:spPr>
          <a:xfrm>
            <a:off x="320040" y="182880"/>
            <a:ext cx="4206240" cy="365760"/>
          </a:xfrm>
          <a:prstGeom prst="roundRect">
            <a:avLst>
              <a:gd name="adj" fmla="val 20000"/>
            </a:avLst>
          </a:prstGeom>
          <a:solidFill>
            <a:srgbClr val="062F67"/>
          </a:solidFill>
          <a:ln w="31750">
            <a:solidFill>
              <a:srgbClr val="111111"/>
            </a:solidFill>
          </a:ln>
        </p:spPr>
        <p:txBody>
          <a:bodyPr wrap="square" lIns="101600" tIns="101600" rIns="101600" bIns="101600" rtlCol="0" anchor="ctr"/>
          <a:lstStyle/>
          <a:p>
            <a:pPr indent="0" marL="0">
              <a:buNone/>
            </a:pPr>
            <a:r>
              <a:rPr lang="en-US" sz="900" dirty="0">
                <a:solidFill>
                  <a:srgbClr val="FFFFFF"/>
                </a:solidFill>
                <a:latin typeface="Arial Black" pitchFamily="34" charset="0"/>
                <a:ea typeface="Arial Black" pitchFamily="34" charset="-122"/>
                <a:cs typeface="Arial Black" pitchFamily="34" charset="-120"/>
              </a:rPr>
              <a:t>EXTENSION · Taboo card 2 of 6</a:t>
            </a:r>
            <a:endParaRPr lang="en-US" sz="900" dirty="0"/>
          </a:p>
        </p:txBody>
      </p:sp>
      <p:sp>
        <p:nvSpPr>
          <p:cNvPr id="6" name="footer_246"/>
          <p:cNvSpPr txBox="1"/>
          <p:nvPr/>
        </p:nvSpPr>
        <p:spPr>
          <a:xfrm>
            <a:off x="7315200" y="4818888"/>
            <a:ext cx="1554480" cy="219456"/>
          </a:xfrm>
          <a:prstGeom prst="rect">
            <a:avLst/>
          </a:prstGeom>
          <a:solidFill>
            <a:srgbClr val="FFFFFF"/>
          </a:solidFill>
          <a:ln/>
        </p:spPr>
        <p:txBody>
          <a:bodyPr wrap="square" lIns="0" tIns="0" rIns="0" bIns="0" rtlCol="0" anchor="ctr"/>
          <a:lstStyle/>
          <a:p>
            <a:pPr algn="ctr" indent="0" marL="0">
              <a:buNone/>
            </a:pPr>
            <a:r>
              <a:rPr lang="en-US" sz="1000" dirty="0">
                <a:solidFill>
                  <a:srgbClr val="334155"/>
                </a:solidFill>
                <a:latin typeface="Calibri" pitchFamily="34" charset="0"/>
                <a:ea typeface="Calibri" pitchFamily="34" charset="-122"/>
                <a:cs typeface="Calibri" pitchFamily="34" charset="-120"/>
              </a:rPr>
              <a:t>7A · Part 1</a:t>
            </a:r>
            <a:endParaRPr lang="en-US" sz="1000" dirty="0"/>
          </a:p>
        </p:txBody>
      </p:sp>
      <p:sp>
        <p:nvSpPr>
          <p:cNvPr id="7" name="extra_247"/>
          <p:cNvSpPr txBox="1"/>
          <p:nvPr/>
        </p:nvSpPr>
        <p:spPr>
          <a:xfrm rot="360000">
            <a:off x="6995160" y="228600"/>
            <a:ext cx="1097280" cy="347472"/>
          </a:xfrm>
          <a:prstGeom prst="roundRect">
            <a:avLst>
              <a:gd name="adj" fmla="val 21053"/>
            </a:avLst>
          </a:prstGeom>
          <a:solidFill>
            <a:srgbClr val="1FA463"/>
          </a:solidFill>
          <a:ln w="31750">
            <a:solidFill>
              <a:srgbClr val="111111"/>
            </a:solidFill>
          </a:ln>
        </p:spPr>
        <p:txBody>
          <a:bodyPr wrap="square" rtlCol="0" anchor="ctr"/>
          <a:lstStyle/>
          <a:p>
            <a:pPr algn="ctr" indent="0" marL="0">
              <a:buNone/>
            </a:pPr>
            <a:r>
              <a:rPr lang="en-US" sz="1300" dirty="0">
                <a:solidFill>
                  <a:srgbClr val="FFFFFF"/>
                </a:solidFill>
                <a:latin typeface="Arial Black" pitchFamily="34" charset="0"/>
                <a:ea typeface="Arial Black" pitchFamily="34" charset="-122"/>
                <a:cs typeface="Arial Black" pitchFamily="34" charset="-120"/>
              </a:rPr>
              <a:t>EXTRA</a:t>
            </a:r>
            <a:endParaRPr lang="en-US" sz="1300" dirty="0"/>
          </a:p>
        </p:txBody>
      </p:sp>
      <p:sp>
        <p:nvSpPr>
          <p:cNvPr id="8" name="warn_248"/>
          <p:cNvSpPr txBox="1"/>
          <p:nvPr/>
        </p:nvSpPr>
        <p:spPr>
          <a:xfrm>
            <a:off x="365760" y="731520"/>
            <a:ext cx="5486400" cy="457200"/>
          </a:xfrm>
          <a:prstGeom prst="rect">
            <a:avLst/>
          </a:prstGeom>
          <a:noFill/>
          <a:ln/>
        </p:spPr>
        <p:txBody>
          <a:bodyPr wrap="square" rtlCol="0" anchor="ctr"/>
          <a:lstStyle/>
          <a:p>
            <a:pPr indent="0" marL="0">
              <a:buNone/>
            </a:pPr>
            <a:r>
              <a:rPr lang="en-US" sz="1600" dirty="0">
                <a:solidFill>
                  <a:srgbClr val="EF2F2F"/>
                </a:solidFill>
                <a:latin typeface="Arial Black" pitchFamily="34" charset="0"/>
                <a:ea typeface="Arial Black" pitchFamily="34" charset="-122"/>
                <a:cs typeface="Arial Black" pitchFamily="34" charset="-120"/>
              </a:rPr>
              <a:t>👀 Guessers: don't look!  ·  Non guardate!</a:t>
            </a:r>
            <a:endParaRPr lang="en-US" sz="1600" dirty="0"/>
          </a:p>
        </p:txBody>
      </p:sp>
      <p:sp>
        <p:nvSpPr>
          <p:cNvPr id="9" name="R1_card"/>
          <p:cNvSpPr/>
          <p:nvPr/>
        </p:nvSpPr>
        <p:spPr>
          <a:xfrm rot="90000">
            <a:off x="1828800" y="1325880"/>
            <a:ext cx="5486400" cy="3291840"/>
          </a:xfrm>
          <a:prstGeom prst="roundRect">
            <a:avLst>
              <a:gd name="adj" fmla="val 4167"/>
            </a:avLst>
          </a:prstGeom>
          <a:solidFill>
            <a:srgbClr val="FFFFFF"/>
          </a:solidFill>
          <a:ln w="31750">
            <a:solidFill>
              <a:srgbClr val="111111"/>
            </a:solidFill>
            <a:prstDash val="solid"/>
          </a:ln>
          <a:effectLst>
            <a:outerShdw sx="100000" sy="100000" kx="0" ky="0" algn="bl" rotWithShape="0" blurRad="101600" dist="38100" dir="2700000">
              <a:srgbClr val="000000">
                <a:alpha val="35000"/>
              </a:srgbClr>
            </a:outerShdw>
          </a:effectLst>
        </p:spPr>
      </p:sp>
      <p:sp>
        <p:nvSpPr>
          <p:cNvPr id="10" name="R1_word"/>
          <p:cNvSpPr txBox="1"/>
          <p:nvPr/>
        </p:nvSpPr>
        <p:spPr>
          <a:xfrm rot="90000">
            <a:off x="1828800" y="1554480"/>
            <a:ext cx="5486400" cy="1097280"/>
          </a:xfrm>
          <a:prstGeom prst="rect">
            <a:avLst/>
          </a:prstGeom>
          <a:noFill/>
          <a:ln/>
        </p:spPr>
        <p:txBody>
          <a:bodyPr wrap="square" rtlCol="0" anchor="ctr"/>
          <a:lstStyle/>
          <a:p>
            <a:pPr algn="ctr" indent="0" marL="0">
              <a:buNone/>
            </a:pPr>
            <a:r>
              <a:rPr lang="en-US" sz="4000" dirty="0">
                <a:solidFill>
                  <a:srgbClr val="062F67"/>
                </a:solidFill>
                <a:latin typeface="Arial Black" pitchFamily="34" charset="0"/>
                <a:ea typeface="Arial Black" pitchFamily="34" charset="-122"/>
                <a:cs typeface="Arial Black" pitchFamily="34" charset="-120"/>
              </a:rPr>
              <a:t>GEOGRAPHY</a:t>
            </a:r>
            <a:endParaRPr lang="en-US" sz="4000" dirty="0"/>
          </a:p>
        </p:txBody>
      </p:sp>
      <p:sp>
        <p:nvSpPr>
          <p:cNvPr id="11" name="R1_dont"/>
          <p:cNvSpPr txBox="1"/>
          <p:nvPr/>
        </p:nvSpPr>
        <p:spPr>
          <a:xfrm rot="90000">
            <a:off x="1828800" y="2743200"/>
            <a:ext cx="5486400" cy="365760"/>
          </a:xfrm>
          <a:prstGeom prst="rect">
            <a:avLst/>
          </a:prstGeom>
          <a:noFill/>
          <a:ln/>
        </p:spPr>
        <p:txBody>
          <a:bodyPr wrap="square" rtlCol="0" anchor="ctr"/>
          <a:lstStyle/>
          <a:p>
            <a:pPr algn="ctr" indent="0" marL="0">
              <a:buNone/>
            </a:pPr>
            <a:r>
              <a:rPr lang="en-US" sz="1600" i="1" dirty="0">
                <a:solidFill>
                  <a:srgbClr val="475569"/>
                </a:solidFill>
                <a:latin typeface="Calibri" pitchFamily="34" charset="0"/>
                <a:ea typeface="Calibri" pitchFamily="34" charset="-122"/>
                <a:cs typeface="Calibri" pitchFamily="34" charset="-120"/>
              </a:rPr>
              <a:t>Don't say:</a:t>
            </a:r>
            <a:endParaRPr lang="en-US" sz="1600" dirty="0"/>
          </a:p>
        </p:txBody>
      </p:sp>
      <p:sp>
        <p:nvSpPr>
          <p:cNvPr id="12" name="R1_ban"/>
          <p:cNvSpPr txBox="1"/>
          <p:nvPr/>
        </p:nvSpPr>
        <p:spPr>
          <a:xfrm rot="90000">
            <a:off x="2011680" y="3108960"/>
            <a:ext cx="5120640" cy="1097280"/>
          </a:xfrm>
          <a:prstGeom prst="rect">
            <a:avLst/>
          </a:prstGeom>
          <a:noFill/>
          <a:ln/>
        </p:spPr>
        <p:txBody>
          <a:bodyPr wrap="square" rtlCol="0" anchor="ctr"/>
          <a:lstStyle/>
          <a:p>
            <a:pPr algn="ctr" indent="0" marL="0">
              <a:buNone/>
            </a:pPr>
            <a:r>
              <a:rPr lang="en-US" sz="2800" b="1" dirty="0">
                <a:solidFill>
                  <a:srgbClr val="EF2F2F"/>
                </a:solidFill>
                <a:latin typeface="Calibri" pitchFamily="34" charset="0"/>
                <a:ea typeface="Calibri" pitchFamily="34" charset="-122"/>
                <a:cs typeface="Calibri" pitchFamily="34" charset="-120"/>
              </a:rPr>
              <a:t>countries · maps · rivers</a:t>
            </a:r>
            <a:endParaRPr lang="en-US" sz="2800" dirty="0"/>
          </a:p>
        </p:txBody>
      </p:sp>
    </p:spTree>
  </p:cSld>
  <p:clrMapOvr>
    <a:masterClrMapping/>
  </p:clrMapOvr>
  <p:transition spd="med">
    <p:push dir="l"/>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400"/>
                                        <p:tgtEl>
                                          <p:spTgt spid="9"/>
                                        </p:tgtEl>
                                      </p:cBhvr>
                                    </p:animEffect>
                                  </p:childTnLst>
                                </p:cTn>
                              </p:par>
                              <p:par>
                                <p:cTn id="8" presetID="10" presetClass="entr" presetSubtype="0" fill="hold" nodeType="withEffect">
                                  <p:stCondLst>
                                    <p:cond delay="0"/>
                                  </p:stCondLst>
                                  <p:childTnLst>
                                    <p:set>
                                      <p:cBhvr>
                                        <p:cTn id="9" dur="1" fill="hold">
                                          <p:stCondLst>
                                            <p:cond delay="0"/>
                                          </p:stCondLst>
                                        </p:cTn>
                                        <p:tgtEl>
                                          <p:spTgt spid="10"/>
                                        </p:tgtEl>
                                        <p:attrNameLst>
                                          <p:attrName>style.visibility</p:attrName>
                                        </p:attrNameLst>
                                      </p:cBhvr>
                                      <p:to>
                                        <p:strVal val="visible"/>
                                      </p:to>
                                    </p:set>
                                    <p:animEffect transition="in" filter="fade">
                                      <p:cBhvr>
                                        <p:cTn id="10" dur="400"/>
                                        <p:tgtEl>
                                          <p:spTgt spid="10"/>
                                        </p:tgtEl>
                                      </p:cBhvr>
                                    </p:animEffect>
                                  </p:childTnLst>
                                </p:cTn>
                              </p:par>
                              <p:par>
                                <p:cTn id="11" presetID="10" presetClass="entr" presetSubtype="0" fill="hold" nodeType="withEffect">
                                  <p:stCondLst>
                                    <p:cond delay="0"/>
                                  </p:stCondLst>
                                  <p:childTnLst>
                                    <p:set>
                                      <p:cBhvr>
                                        <p:cTn id="12" dur="1" fill="hold">
                                          <p:stCondLst>
                                            <p:cond delay="0"/>
                                          </p:stCondLst>
                                        </p:cTn>
                                        <p:tgtEl>
                                          <p:spTgt spid="11"/>
                                        </p:tgtEl>
                                        <p:attrNameLst>
                                          <p:attrName>style.visibility</p:attrName>
                                        </p:attrNameLst>
                                      </p:cBhvr>
                                      <p:to>
                                        <p:strVal val="visible"/>
                                      </p:to>
                                    </p:set>
                                    <p:animEffect transition="in" filter="fade">
                                      <p:cBhvr>
                                        <p:cTn id="13" dur="400"/>
                                        <p:tgtEl>
                                          <p:spTgt spid="11"/>
                                        </p:tgtEl>
                                      </p:cBhvr>
                                    </p:animEffect>
                                  </p:childTnLst>
                                </p:cTn>
                              </p:par>
                              <p:par>
                                <p:cTn id="14" presetID="10" presetClass="entr" presetSubtype="0" fill="hold" nodeType="withEffect">
                                  <p:stCondLst>
                                    <p:cond delay="0"/>
                                  </p:stCondLst>
                                  <p:childTnLst>
                                    <p:set>
                                      <p:cBhvr>
                                        <p:cTn id="15" dur="1" fill="hold">
                                          <p:stCondLst>
                                            <p:cond delay="0"/>
                                          </p:stCondLst>
                                        </p:cTn>
                                        <p:tgtEl>
                                          <p:spTgt spid="12"/>
                                        </p:tgtEl>
                                        <p:attrNameLst>
                                          <p:attrName>style.visibility</p:attrName>
                                        </p:attrNameLst>
                                      </p:cBhvr>
                                      <p:to>
                                        <p:strVal val="visible"/>
                                      </p:to>
                                    </p:set>
                                    <p:animEffect transition="in" filter="fade">
                                      <p:cBhvr>
                                        <p:cTn id="16" dur="4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name="Slide 16">
    <p:bg>
      <p:bgPr>
        <a:blipFill dpi="0" rotWithShape="1">
          <a:blip r:embed="rId1">
            <a:lum/>
          </a:blip>
          <a:srcRect/>
          <a:stretch>
            <a:fillRect/>
          </a:stretch>
        </a:blipFill>
        <a:effectLst/>
      </p:bgPr>
    </p:bg>
    <p:spTree>
      <p:nvGrpSpPr>
        <p:cNvPr id="2" name=""/>
        <p:cNvGrpSpPr/>
        <p:nvPr/>
      </p:nvGrpSpPr>
      <p:grpSpPr>
        <a:xfrm>
          <a:off x="0" y="0"/>
          <a:ext cx="0" cy="0"/>
          <a:chOff x="0" y="0"/>
          <a:chExt cx="0" cy="0"/>
        </a:xfrm>
      </p:grpSpPr>
      <p:sp>
        <p:nvSpPr>
          <p:cNvPr id="3" name="levelFrame_249"/>
          <p:cNvSpPr/>
          <p:nvPr/>
        </p:nvSpPr>
        <p:spPr>
          <a:xfrm>
            <a:off x="54864" y="54864"/>
            <a:ext cx="9034272" cy="5033772"/>
          </a:xfrm>
          <a:prstGeom prst="rect">
            <a:avLst/>
          </a:prstGeom>
          <a:ln w="114300">
            <a:solidFill>
              <a:srgbClr val="A8E6B4"/>
            </a:solidFill>
            <a:prstDash val="solid"/>
          </a:ln>
        </p:spPr>
      </p:sp>
      <p:pic>
        <p:nvPicPr>
          <p:cNvPr id="4" name="logo_250" descr="London Language School logo">    </p:cNvPr>
          <p:cNvPicPr>
            <a:picLocks noChangeAspect="1"/>
          </p:cNvPicPr>
          <p:nvPr/>
        </p:nvPicPr>
        <p:blipFill>
          <a:blip r:embed="rId2"/>
          <a:stretch>
            <a:fillRect/>
          </a:stretch>
        </p:blipFill>
        <p:spPr>
          <a:xfrm>
            <a:off x="8275320" y="182880"/>
            <a:ext cx="585216" cy="585216"/>
          </a:xfrm>
          <a:prstGeom prst="rect">
            <a:avLst/>
          </a:prstGeom>
        </p:spPr>
      </p:pic>
      <p:sp>
        <p:nvSpPr>
          <p:cNvPr id="5" name="objective_251"/>
          <p:cNvSpPr txBox="1"/>
          <p:nvPr/>
        </p:nvSpPr>
        <p:spPr>
          <a:xfrm>
            <a:off x="320040" y="182880"/>
            <a:ext cx="4206240" cy="365760"/>
          </a:xfrm>
          <a:prstGeom prst="roundRect">
            <a:avLst>
              <a:gd name="adj" fmla="val 20000"/>
            </a:avLst>
          </a:prstGeom>
          <a:solidFill>
            <a:srgbClr val="062F67"/>
          </a:solidFill>
          <a:ln w="31750">
            <a:solidFill>
              <a:srgbClr val="111111"/>
            </a:solidFill>
          </a:ln>
        </p:spPr>
        <p:txBody>
          <a:bodyPr wrap="square" lIns="101600" tIns="101600" rIns="101600" bIns="101600" rtlCol="0" anchor="ctr"/>
          <a:lstStyle/>
          <a:p>
            <a:pPr indent="0" marL="0">
              <a:buNone/>
            </a:pPr>
            <a:r>
              <a:rPr lang="en-US" sz="900" dirty="0">
                <a:solidFill>
                  <a:srgbClr val="FFFFFF"/>
                </a:solidFill>
                <a:latin typeface="Arial Black" pitchFamily="34" charset="0"/>
                <a:ea typeface="Arial Black" pitchFamily="34" charset="-122"/>
                <a:cs typeface="Arial Black" pitchFamily="34" charset="-120"/>
              </a:rPr>
              <a:t>EXTENSION · Taboo card 3 of 6</a:t>
            </a:r>
            <a:endParaRPr lang="en-US" sz="900" dirty="0"/>
          </a:p>
        </p:txBody>
      </p:sp>
      <p:sp>
        <p:nvSpPr>
          <p:cNvPr id="6" name="footer_252"/>
          <p:cNvSpPr txBox="1"/>
          <p:nvPr/>
        </p:nvSpPr>
        <p:spPr>
          <a:xfrm>
            <a:off x="7315200" y="4818888"/>
            <a:ext cx="1554480" cy="219456"/>
          </a:xfrm>
          <a:prstGeom prst="rect">
            <a:avLst/>
          </a:prstGeom>
          <a:solidFill>
            <a:srgbClr val="FFFFFF"/>
          </a:solidFill>
          <a:ln/>
        </p:spPr>
        <p:txBody>
          <a:bodyPr wrap="square" lIns="0" tIns="0" rIns="0" bIns="0" rtlCol="0" anchor="ctr"/>
          <a:lstStyle/>
          <a:p>
            <a:pPr algn="ctr" indent="0" marL="0">
              <a:buNone/>
            </a:pPr>
            <a:r>
              <a:rPr lang="en-US" sz="1000" dirty="0">
                <a:solidFill>
                  <a:srgbClr val="334155"/>
                </a:solidFill>
                <a:latin typeface="Calibri" pitchFamily="34" charset="0"/>
                <a:ea typeface="Calibri" pitchFamily="34" charset="-122"/>
                <a:cs typeface="Calibri" pitchFamily="34" charset="-120"/>
              </a:rPr>
              <a:t>7A · Part 1</a:t>
            </a:r>
            <a:endParaRPr lang="en-US" sz="1000" dirty="0"/>
          </a:p>
        </p:txBody>
      </p:sp>
      <p:sp>
        <p:nvSpPr>
          <p:cNvPr id="7" name="extra_253"/>
          <p:cNvSpPr txBox="1"/>
          <p:nvPr/>
        </p:nvSpPr>
        <p:spPr>
          <a:xfrm rot="360000">
            <a:off x="6995160" y="228600"/>
            <a:ext cx="1097280" cy="347472"/>
          </a:xfrm>
          <a:prstGeom prst="roundRect">
            <a:avLst>
              <a:gd name="adj" fmla="val 21053"/>
            </a:avLst>
          </a:prstGeom>
          <a:solidFill>
            <a:srgbClr val="1FA463"/>
          </a:solidFill>
          <a:ln w="31750">
            <a:solidFill>
              <a:srgbClr val="111111"/>
            </a:solidFill>
          </a:ln>
        </p:spPr>
        <p:txBody>
          <a:bodyPr wrap="square" rtlCol="0" anchor="ctr"/>
          <a:lstStyle/>
          <a:p>
            <a:pPr algn="ctr" indent="0" marL="0">
              <a:buNone/>
            </a:pPr>
            <a:r>
              <a:rPr lang="en-US" sz="1300" dirty="0">
                <a:solidFill>
                  <a:srgbClr val="FFFFFF"/>
                </a:solidFill>
                <a:latin typeface="Arial Black" pitchFamily="34" charset="0"/>
                <a:ea typeface="Arial Black" pitchFamily="34" charset="-122"/>
                <a:cs typeface="Arial Black" pitchFamily="34" charset="-120"/>
              </a:rPr>
              <a:t>EXTRA</a:t>
            </a:r>
            <a:endParaRPr lang="en-US" sz="1300" dirty="0"/>
          </a:p>
        </p:txBody>
      </p:sp>
      <p:sp>
        <p:nvSpPr>
          <p:cNvPr id="8" name="warn_254"/>
          <p:cNvSpPr txBox="1"/>
          <p:nvPr/>
        </p:nvSpPr>
        <p:spPr>
          <a:xfrm>
            <a:off x="365760" y="731520"/>
            <a:ext cx="5486400" cy="457200"/>
          </a:xfrm>
          <a:prstGeom prst="rect">
            <a:avLst/>
          </a:prstGeom>
          <a:noFill/>
          <a:ln/>
        </p:spPr>
        <p:txBody>
          <a:bodyPr wrap="square" rtlCol="0" anchor="ctr"/>
          <a:lstStyle/>
          <a:p>
            <a:pPr indent="0" marL="0">
              <a:buNone/>
            </a:pPr>
            <a:r>
              <a:rPr lang="en-US" sz="1600" dirty="0">
                <a:solidFill>
                  <a:srgbClr val="EF2F2F"/>
                </a:solidFill>
                <a:latin typeface="Arial Black" pitchFamily="34" charset="0"/>
                <a:ea typeface="Arial Black" pitchFamily="34" charset="-122"/>
                <a:cs typeface="Arial Black" pitchFamily="34" charset="-120"/>
              </a:rPr>
              <a:t>👀 Guessers: don't look!  ·  Non guardate!</a:t>
            </a:r>
            <a:endParaRPr lang="en-US" sz="1600" dirty="0"/>
          </a:p>
        </p:txBody>
      </p:sp>
      <p:sp>
        <p:nvSpPr>
          <p:cNvPr id="9" name="R1_card"/>
          <p:cNvSpPr/>
          <p:nvPr/>
        </p:nvSpPr>
        <p:spPr>
          <a:xfrm rot="-90000">
            <a:off x="1828800" y="1325880"/>
            <a:ext cx="5486400" cy="3291840"/>
          </a:xfrm>
          <a:prstGeom prst="roundRect">
            <a:avLst>
              <a:gd name="adj" fmla="val 4167"/>
            </a:avLst>
          </a:prstGeom>
          <a:solidFill>
            <a:srgbClr val="FFFFFF"/>
          </a:solidFill>
          <a:ln w="31750">
            <a:solidFill>
              <a:srgbClr val="111111"/>
            </a:solidFill>
            <a:prstDash val="solid"/>
          </a:ln>
          <a:effectLst>
            <a:outerShdw sx="100000" sy="100000" kx="0" ky="0" algn="bl" rotWithShape="0" blurRad="101600" dist="38100" dir="2700000">
              <a:srgbClr val="000000">
                <a:alpha val="35000"/>
              </a:srgbClr>
            </a:outerShdw>
          </a:effectLst>
        </p:spPr>
      </p:sp>
      <p:sp>
        <p:nvSpPr>
          <p:cNvPr id="10" name="R1_word"/>
          <p:cNvSpPr txBox="1"/>
          <p:nvPr/>
        </p:nvSpPr>
        <p:spPr>
          <a:xfrm rot="-90000">
            <a:off x="1828800" y="1554480"/>
            <a:ext cx="5486400" cy="1097280"/>
          </a:xfrm>
          <a:prstGeom prst="rect">
            <a:avLst/>
          </a:prstGeom>
          <a:noFill/>
          <a:ln/>
        </p:spPr>
        <p:txBody>
          <a:bodyPr wrap="square" rtlCol="0" anchor="ctr"/>
          <a:lstStyle/>
          <a:p>
            <a:pPr algn="ctr" indent="0" marL="0">
              <a:buNone/>
            </a:pPr>
            <a:r>
              <a:rPr lang="en-US" sz="4000" dirty="0">
                <a:solidFill>
                  <a:srgbClr val="062F67"/>
                </a:solidFill>
                <a:latin typeface="Arial Black" pitchFamily="34" charset="0"/>
                <a:ea typeface="Arial Black" pitchFamily="34" charset="-122"/>
                <a:cs typeface="Arial Black" pitchFamily="34" charset="-120"/>
              </a:rPr>
              <a:t>HISTORY</a:t>
            </a:r>
            <a:endParaRPr lang="en-US" sz="4000" dirty="0"/>
          </a:p>
        </p:txBody>
      </p:sp>
      <p:sp>
        <p:nvSpPr>
          <p:cNvPr id="11" name="R1_dont"/>
          <p:cNvSpPr txBox="1"/>
          <p:nvPr/>
        </p:nvSpPr>
        <p:spPr>
          <a:xfrm rot="-90000">
            <a:off x="1828800" y="2743200"/>
            <a:ext cx="5486400" cy="365760"/>
          </a:xfrm>
          <a:prstGeom prst="rect">
            <a:avLst/>
          </a:prstGeom>
          <a:noFill/>
          <a:ln/>
        </p:spPr>
        <p:txBody>
          <a:bodyPr wrap="square" rtlCol="0" anchor="ctr"/>
          <a:lstStyle/>
          <a:p>
            <a:pPr algn="ctr" indent="0" marL="0">
              <a:buNone/>
            </a:pPr>
            <a:r>
              <a:rPr lang="en-US" sz="1600" i="1" dirty="0">
                <a:solidFill>
                  <a:srgbClr val="475569"/>
                </a:solidFill>
                <a:latin typeface="Calibri" pitchFamily="34" charset="0"/>
                <a:ea typeface="Calibri" pitchFamily="34" charset="-122"/>
                <a:cs typeface="Calibri" pitchFamily="34" charset="-120"/>
              </a:rPr>
              <a:t>Don't say:</a:t>
            </a:r>
            <a:endParaRPr lang="en-US" sz="1600" dirty="0"/>
          </a:p>
        </p:txBody>
      </p:sp>
      <p:sp>
        <p:nvSpPr>
          <p:cNvPr id="12" name="R1_ban"/>
          <p:cNvSpPr txBox="1"/>
          <p:nvPr/>
        </p:nvSpPr>
        <p:spPr>
          <a:xfrm rot="-90000">
            <a:off x="2011680" y="3108960"/>
            <a:ext cx="5120640" cy="1097280"/>
          </a:xfrm>
          <a:prstGeom prst="rect">
            <a:avLst/>
          </a:prstGeom>
          <a:noFill/>
          <a:ln/>
        </p:spPr>
        <p:txBody>
          <a:bodyPr wrap="square" rtlCol="0" anchor="ctr"/>
          <a:lstStyle/>
          <a:p>
            <a:pPr algn="ctr" indent="0" marL="0">
              <a:buNone/>
            </a:pPr>
            <a:r>
              <a:rPr lang="en-US" sz="2800" b="1" dirty="0">
                <a:solidFill>
                  <a:srgbClr val="EF2F2F"/>
                </a:solidFill>
                <a:latin typeface="Calibri" pitchFamily="34" charset="0"/>
                <a:ea typeface="Calibri" pitchFamily="34" charset="-122"/>
                <a:cs typeface="Calibri" pitchFamily="34" charset="-120"/>
              </a:rPr>
              <a:t>past · war · kings</a:t>
            </a:r>
            <a:endParaRPr lang="en-US" sz="2800" dirty="0"/>
          </a:p>
        </p:txBody>
      </p:sp>
    </p:spTree>
  </p:cSld>
  <p:clrMapOvr>
    <a:masterClrMapping/>
  </p:clrMapOvr>
  <p:transition spd="med">
    <p:push dir="l"/>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400"/>
                                        <p:tgtEl>
                                          <p:spTgt spid="9"/>
                                        </p:tgtEl>
                                      </p:cBhvr>
                                    </p:animEffect>
                                  </p:childTnLst>
                                </p:cTn>
                              </p:par>
                              <p:par>
                                <p:cTn id="8" presetID="10" presetClass="entr" presetSubtype="0" fill="hold" nodeType="withEffect">
                                  <p:stCondLst>
                                    <p:cond delay="0"/>
                                  </p:stCondLst>
                                  <p:childTnLst>
                                    <p:set>
                                      <p:cBhvr>
                                        <p:cTn id="9" dur="1" fill="hold">
                                          <p:stCondLst>
                                            <p:cond delay="0"/>
                                          </p:stCondLst>
                                        </p:cTn>
                                        <p:tgtEl>
                                          <p:spTgt spid="10"/>
                                        </p:tgtEl>
                                        <p:attrNameLst>
                                          <p:attrName>style.visibility</p:attrName>
                                        </p:attrNameLst>
                                      </p:cBhvr>
                                      <p:to>
                                        <p:strVal val="visible"/>
                                      </p:to>
                                    </p:set>
                                    <p:animEffect transition="in" filter="fade">
                                      <p:cBhvr>
                                        <p:cTn id="10" dur="400"/>
                                        <p:tgtEl>
                                          <p:spTgt spid="10"/>
                                        </p:tgtEl>
                                      </p:cBhvr>
                                    </p:animEffect>
                                  </p:childTnLst>
                                </p:cTn>
                              </p:par>
                              <p:par>
                                <p:cTn id="11" presetID="10" presetClass="entr" presetSubtype="0" fill="hold" nodeType="withEffect">
                                  <p:stCondLst>
                                    <p:cond delay="0"/>
                                  </p:stCondLst>
                                  <p:childTnLst>
                                    <p:set>
                                      <p:cBhvr>
                                        <p:cTn id="12" dur="1" fill="hold">
                                          <p:stCondLst>
                                            <p:cond delay="0"/>
                                          </p:stCondLst>
                                        </p:cTn>
                                        <p:tgtEl>
                                          <p:spTgt spid="11"/>
                                        </p:tgtEl>
                                        <p:attrNameLst>
                                          <p:attrName>style.visibility</p:attrName>
                                        </p:attrNameLst>
                                      </p:cBhvr>
                                      <p:to>
                                        <p:strVal val="visible"/>
                                      </p:to>
                                    </p:set>
                                    <p:animEffect transition="in" filter="fade">
                                      <p:cBhvr>
                                        <p:cTn id="13" dur="400"/>
                                        <p:tgtEl>
                                          <p:spTgt spid="11"/>
                                        </p:tgtEl>
                                      </p:cBhvr>
                                    </p:animEffect>
                                  </p:childTnLst>
                                </p:cTn>
                              </p:par>
                              <p:par>
                                <p:cTn id="14" presetID="10" presetClass="entr" presetSubtype="0" fill="hold" nodeType="withEffect">
                                  <p:stCondLst>
                                    <p:cond delay="0"/>
                                  </p:stCondLst>
                                  <p:childTnLst>
                                    <p:set>
                                      <p:cBhvr>
                                        <p:cTn id="15" dur="1" fill="hold">
                                          <p:stCondLst>
                                            <p:cond delay="0"/>
                                          </p:stCondLst>
                                        </p:cTn>
                                        <p:tgtEl>
                                          <p:spTgt spid="12"/>
                                        </p:tgtEl>
                                        <p:attrNameLst>
                                          <p:attrName>style.visibility</p:attrName>
                                        </p:attrNameLst>
                                      </p:cBhvr>
                                      <p:to>
                                        <p:strVal val="visible"/>
                                      </p:to>
                                    </p:set>
                                    <p:animEffect transition="in" filter="fade">
                                      <p:cBhvr>
                                        <p:cTn id="16" dur="4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name="Slide 17">
    <p:bg>
      <p:bgPr>
        <a:blipFill dpi="0" rotWithShape="1">
          <a:blip r:embed="rId1">
            <a:lum/>
          </a:blip>
          <a:srcRect/>
          <a:stretch>
            <a:fillRect/>
          </a:stretch>
        </a:blipFill>
        <a:effectLst/>
      </p:bgPr>
    </p:bg>
    <p:spTree>
      <p:nvGrpSpPr>
        <p:cNvPr id="2" name=""/>
        <p:cNvGrpSpPr/>
        <p:nvPr/>
      </p:nvGrpSpPr>
      <p:grpSpPr>
        <a:xfrm>
          <a:off x="0" y="0"/>
          <a:ext cx="0" cy="0"/>
          <a:chOff x="0" y="0"/>
          <a:chExt cx="0" cy="0"/>
        </a:xfrm>
      </p:grpSpPr>
      <p:sp>
        <p:nvSpPr>
          <p:cNvPr id="3" name="levelFrame_255"/>
          <p:cNvSpPr/>
          <p:nvPr/>
        </p:nvSpPr>
        <p:spPr>
          <a:xfrm>
            <a:off x="54864" y="54864"/>
            <a:ext cx="9034272" cy="5033772"/>
          </a:xfrm>
          <a:prstGeom prst="rect">
            <a:avLst/>
          </a:prstGeom>
          <a:ln w="114300">
            <a:solidFill>
              <a:srgbClr val="A8E6B4"/>
            </a:solidFill>
            <a:prstDash val="solid"/>
          </a:ln>
        </p:spPr>
      </p:sp>
      <p:pic>
        <p:nvPicPr>
          <p:cNvPr id="4" name="logo_256" descr="London Language School logo">    </p:cNvPr>
          <p:cNvPicPr>
            <a:picLocks noChangeAspect="1"/>
          </p:cNvPicPr>
          <p:nvPr/>
        </p:nvPicPr>
        <p:blipFill>
          <a:blip r:embed="rId2"/>
          <a:stretch>
            <a:fillRect/>
          </a:stretch>
        </p:blipFill>
        <p:spPr>
          <a:xfrm>
            <a:off x="8275320" y="182880"/>
            <a:ext cx="585216" cy="585216"/>
          </a:xfrm>
          <a:prstGeom prst="rect">
            <a:avLst/>
          </a:prstGeom>
        </p:spPr>
      </p:pic>
      <p:sp>
        <p:nvSpPr>
          <p:cNvPr id="5" name="objective_257"/>
          <p:cNvSpPr txBox="1"/>
          <p:nvPr/>
        </p:nvSpPr>
        <p:spPr>
          <a:xfrm>
            <a:off x="320040" y="182880"/>
            <a:ext cx="4206240" cy="365760"/>
          </a:xfrm>
          <a:prstGeom prst="roundRect">
            <a:avLst>
              <a:gd name="adj" fmla="val 20000"/>
            </a:avLst>
          </a:prstGeom>
          <a:solidFill>
            <a:srgbClr val="062F67"/>
          </a:solidFill>
          <a:ln w="31750">
            <a:solidFill>
              <a:srgbClr val="111111"/>
            </a:solidFill>
          </a:ln>
        </p:spPr>
        <p:txBody>
          <a:bodyPr wrap="square" lIns="101600" tIns="101600" rIns="101600" bIns="101600" rtlCol="0" anchor="ctr"/>
          <a:lstStyle/>
          <a:p>
            <a:pPr indent="0" marL="0">
              <a:buNone/>
            </a:pPr>
            <a:r>
              <a:rPr lang="en-US" sz="900" dirty="0">
                <a:solidFill>
                  <a:srgbClr val="FFFFFF"/>
                </a:solidFill>
                <a:latin typeface="Arial Black" pitchFamily="34" charset="0"/>
                <a:ea typeface="Arial Black" pitchFamily="34" charset="-122"/>
                <a:cs typeface="Arial Black" pitchFamily="34" charset="-120"/>
              </a:rPr>
              <a:t>EXTENSION · Taboo card 4 of 6</a:t>
            </a:r>
            <a:endParaRPr lang="en-US" sz="900" dirty="0"/>
          </a:p>
        </p:txBody>
      </p:sp>
      <p:sp>
        <p:nvSpPr>
          <p:cNvPr id="6" name="footer_258"/>
          <p:cNvSpPr txBox="1"/>
          <p:nvPr/>
        </p:nvSpPr>
        <p:spPr>
          <a:xfrm>
            <a:off x="7315200" y="4818888"/>
            <a:ext cx="1554480" cy="219456"/>
          </a:xfrm>
          <a:prstGeom prst="rect">
            <a:avLst/>
          </a:prstGeom>
          <a:solidFill>
            <a:srgbClr val="FFFFFF"/>
          </a:solidFill>
          <a:ln/>
        </p:spPr>
        <p:txBody>
          <a:bodyPr wrap="square" lIns="0" tIns="0" rIns="0" bIns="0" rtlCol="0" anchor="ctr"/>
          <a:lstStyle/>
          <a:p>
            <a:pPr algn="ctr" indent="0" marL="0">
              <a:buNone/>
            </a:pPr>
            <a:r>
              <a:rPr lang="en-US" sz="1000" dirty="0">
                <a:solidFill>
                  <a:srgbClr val="334155"/>
                </a:solidFill>
                <a:latin typeface="Calibri" pitchFamily="34" charset="0"/>
                <a:ea typeface="Calibri" pitchFamily="34" charset="-122"/>
                <a:cs typeface="Calibri" pitchFamily="34" charset="-120"/>
              </a:rPr>
              <a:t>7A · Part 1</a:t>
            </a:r>
            <a:endParaRPr lang="en-US" sz="1000" dirty="0"/>
          </a:p>
        </p:txBody>
      </p:sp>
      <p:sp>
        <p:nvSpPr>
          <p:cNvPr id="7" name="extra_259"/>
          <p:cNvSpPr txBox="1"/>
          <p:nvPr/>
        </p:nvSpPr>
        <p:spPr>
          <a:xfrm rot="360000">
            <a:off x="6995160" y="228600"/>
            <a:ext cx="1097280" cy="347472"/>
          </a:xfrm>
          <a:prstGeom prst="roundRect">
            <a:avLst>
              <a:gd name="adj" fmla="val 21053"/>
            </a:avLst>
          </a:prstGeom>
          <a:solidFill>
            <a:srgbClr val="1FA463"/>
          </a:solidFill>
          <a:ln w="31750">
            <a:solidFill>
              <a:srgbClr val="111111"/>
            </a:solidFill>
          </a:ln>
        </p:spPr>
        <p:txBody>
          <a:bodyPr wrap="square" rtlCol="0" anchor="ctr"/>
          <a:lstStyle/>
          <a:p>
            <a:pPr algn="ctr" indent="0" marL="0">
              <a:buNone/>
            </a:pPr>
            <a:r>
              <a:rPr lang="en-US" sz="1300" dirty="0">
                <a:solidFill>
                  <a:srgbClr val="FFFFFF"/>
                </a:solidFill>
                <a:latin typeface="Arial Black" pitchFamily="34" charset="0"/>
                <a:ea typeface="Arial Black" pitchFamily="34" charset="-122"/>
                <a:cs typeface="Arial Black" pitchFamily="34" charset="-120"/>
              </a:rPr>
              <a:t>EXTRA</a:t>
            </a:r>
            <a:endParaRPr lang="en-US" sz="1300" dirty="0"/>
          </a:p>
        </p:txBody>
      </p:sp>
      <p:sp>
        <p:nvSpPr>
          <p:cNvPr id="8" name="warn_260"/>
          <p:cNvSpPr txBox="1"/>
          <p:nvPr/>
        </p:nvSpPr>
        <p:spPr>
          <a:xfrm>
            <a:off x="365760" y="731520"/>
            <a:ext cx="5486400" cy="457200"/>
          </a:xfrm>
          <a:prstGeom prst="rect">
            <a:avLst/>
          </a:prstGeom>
          <a:noFill/>
          <a:ln/>
        </p:spPr>
        <p:txBody>
          <a:bodyPr wrap="square" rtlCol="0" anchor="ctr"/>
          <a:lstStyle/>
          <a:p>
            <a:pPr indent="0" marL="0">
              <a:buNone/>
            </a:pPr>
            <a:r>
              <a:rPr lang="en-US" sz="1600" dirty="0">
                <a:solidFill>
                  <a:srgbClr val="EF2F2F"/>
                </a:solidFill>
                <a:latin typeface="Arial Black" pitchFamily="34" charset="0"/>
                <a:ea typeface="Arial Black" pitchFamily="34" charset="-122"/>
                <a:cs typeface="Arial Black" pitchFamily="34" charset="-120"/>
              </a:rPr>
              <a:t>👀 Guessers: don't look!  ·  Non guardate!</a:t>
            </a:r>
            <a:endParaRPr lang="en-US" sz="1600" dirty="0"/>
          </a:p>
        </p:txBody>
      </p:sp>
      <p:sp>
        <p:nvSpPr>
          <p:cNvPr id="9" name="R1_card"/>
          <p:cNvSpPr/>
          <p:nvPr/>
        </p:nvSpPr>
        <p:spPr>
          <a:xfrm rot="90000">
            <a:off x="1828800" y="1325880"/>
            <a:ext cx="5486400" cy="3291840"/>
          </a:xfrm>
          <a:prstGeom prst="roundRect">
            <a:avLst>
              <a:gd name="adj" fmla="val 4167"/>
            </a:avLst>
          </a:prstGeom>
          <a:solidFill>
            <a:srgbClr val="FFFFFF"/>
          </a:solidFill>
          <a:ln w="31750">
            <a:solidFill>
              <a:srgbClr val="111111"/>
            </a:solidFill>
            <a:prstDash val="solid"/>
          </a:ln>
          <a:effectLst>
            <a:outerShdw sx="100000" sy="100000" kx="0" ky="0" algn="bl" rotWithShape="0" blurRad="101600" dist="38100" dir="2700000">
              <a:srgbClr val="000000">
                <a:alpha val="35000"/>
              </a:srgbClr>
            </a:outerShdw>
          </a:effectLst>
        </p:spPr>
      </p:sp>
      <p:sp>
        <p:nvSpPr>
          <p:cNvPr id="10" name="R1_word"/>
          <p:cNvSpPr txBox="1"/>
          <p:nvPr/>
        </p:nvSpPr>
        <p:spPr>
          <a:xfrm rot="90000">
            <a:off x="1828800" y="1554480"/>
            <a:ext cx="5486400" cy="1097280"/>
          </a:xfrm>
          <a:prstGeom prst="rect">
            <a:avLst/>
          </a:prstGeom>
          <a:noFill/>
          <a:ln/>
        </p:spPr>
        <p:txBody>
          <a:bodyPr wrap="square" rtlCol="0" anchor="ctr"/>
          <a:lstStyle/>
          <a:p>
            <a:pPr algn="ctr" indent="0" marL="0">
              <a:buNone/>
            </a:pPr>
            <a:r>
              <a:rPr lang="en-US" sz="4000" dirty="0">
                <a:solidFill>
                  <a:srgbClr val="062F67"/>
                </a:solidFill>
                <a:latin typeface="Arial Black" pitchFamily="34" charset="0"/>
                <a:ea typeface="Arial Black" pitchFamily="34" charset="-122"/>
                <a:cs typeface="Arial Black" pitchFamily="34" charset="-120"/>
              </a:rPr>
              <a:t>MATHS</a:t>
            </a:r>
            <a:endParaRPr lang="en-US" sz="4000" dirty="0"/>
          </a:p>
        </p:txBody>
      </p:sp>
      <p:sp>
        <p:nvSpPr>
          <p:cNvPr id="11" name="R1_dont"/>
          <p:cNvSpPr txBox="1"/>
          <p:nvPr/>
        </p:nvSpPr>
        <p:spPr>
          <a:xfrm rot="90000">
            <a:off x="1828800" y="2743200"/>
            <a:ext cx="5486400" cy="365760"/>
          </a:xfrm>
          <a:prstGeom prst="rect">
            <a:avLst/>
          </a:prstGeom>
          <a:noFill/>
          <a:ln/>
        </p:spPr>
        <p:txBody>
          <a:bodyPr wrap="square" rtlCol="0" anchor="ctr"/>
          <a:lstStyle/>
          <a:p>
            <a:pPr algn="ctr" indent="0" marL="0">
              <a:buNone/>
            </a:pPr>
            <a:r>
              <a:rPr lang="en-US" sz="1600" i="1" dirty="0">
                <a:solidFill>
                  <a:srgbClr val="475569"/>
                </a:solidFill>
                <a:latin typeface="Calibri" pitchFamily="34" charset="0"/>
                <a:ea typeface="Calibri" pitchFamily="34" charset="-122"/>
                <a:cs typeface="Calibri" pitchFamily="34" charset="-120"/>
              </a:rPr>
              <a:t>Don't say:</a:t>
            </a:r>
            <a:endParaRPr lang="en-US" sz="1600" dirty="0"/>
          </a:p>
        </p:txBody>
      </p:sp>
      <p:sp>
        <p:nvSpPr>
          <p:cNvPr id="12" name="R1_ban"/>
          <p:cNvSpPr txBox="1"/>
          <p:nvPr/>
        </p:nvSpPr>
        <p:spPr>
          <a:xfrm rot="90000">
            <a:off x="2011680" y="3108960"/>
            <a:ext cx="5120640" cy="1097280"/>
          </a:xfrm>
          <a:prstGeom prst="rect">
            <a:avLst/>
          </a:prstGeom>
          <a:noFill/>
          <a:ln/>
        </p:spPr>
        <p:txBody>
          <a:bodyPr wrap="square" rtlCol="0" anchor="ctr"/>
          <a:lstStyle/>
          <a:p>
            <a:pPr algn="ctr" indent="0" marL="0">
              <a:buNone/>
            </a:pPr>
            <a:r>
              <a:rPr lang="en-US" sz="2800" b="1" dirty="0">
                <a:solidFill>
                  <a:srgbClr val="EF2F2F"/>
                </a:solidFill>
                <a:latin typeface="Calibri" pitchFamily="34" charset="0"/>
                <a:ea typeface="Calibri" pitchFamily="34" charset="-122"/>
                <a:cs typeface="Calibri" pitchFamily="34" charset="-120"/>
              </a:rPr>
              <a:t>numbers · sums · calculator</a:t>
            </a:r>
            <a:endParaRPr lang="en-US" sz="2800" dirty="0"/>
          </a:p>
        </p:txBody>
      </p:sp>
    </p:spTree>
  </p:cSld>
  <p:clrMapOvr>
    <a:masterClrMapping/>
  </p:clrMapOvr>
  <p:transition spd="med">
    <p:push dir="l"/>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400"/>
                                        <p:tgtEl>
                                          <p:spTgt spid="9"/>
                                        </p:tgtEl>
                                      </p:cBhvr>
                                    </p:animEffect>
                                  </p:childTnLst>
                                </p:cTn>
                              </p:par>
                              <p:par>
                                <p:cTn id="8" presetID="10" presetClass="entr" presetSubtype="0" fill="hold" nodeType="withEffect">
                                  <p:stCondLst>
                                    <p:cond delay="0"/>
                                  </p:stCondLst>
                                  <p:childTnLst>
                                    <p:set>
                                      <p:cBhvr>
                                        <p:cTn id="9" dur="1" fill="hold">
                                          <p:stCondLst>
                                            <p:cond delay="0"/>
                                          </p:stCondLst>
                                        </p:cTn>
                                        <p:tgtEl>
                                          <p:spTgt spid="10"/>
                                        </p:tgtEl>
                                        <p:attrNameLst>
                                          <p:attrName>style.visibility</p:attrName>
                                        </p:attrNameLst>
                                      </p:cBhvr>
                                      <p:to>
                                        <p:strVal val="visible"/>
                                      </p:to>
                                    </p:set>
                                    <p:animEffect transition="in" filter="fade">
                                      <p:cBhvr>
                                        <p:cTn id="10" dur="400"/>
                                        <p:tgtEl>
                                          <p:spTgt spid="10"/>
                                        </p:tgtEl>
                                      </p:cBhvr>
                                    </p:animEffect>
                                  </p:childTnLst>
                                </p:cTn>
                              </p:par>
                              <p:par>
                                <p:cTn id="11" presetID="10" presetClass="entr" presetSubtype="0" fill="hold" nodeType="withEffect">
                                  <p:stCondLst>
                                    <p:cond delay="0"/>
                                  </p:stCondLst>
                                  <p:childTnLst>
                                    <p:set>
                                      <p:cBhvr>
                                        <p:cTn id="12" dur="1" fill="hold">
                                          <p:stCondLst>
                                            <p:cond delay="0"/>
                                          </p:stCondLst>
                                        </p:cTn>
                                        <p:tgtEl>
                                          <p:spTgt spid="11"/>
                                        </p:tgtEl>
                                        <p:attrNameLst>
                                          <p:attrName>style.visibility</p:attrName>
                                        </p:attrNameLst>
                                      </p:cBhvr>
                                      <p:to>
                                        <p:strVal val="visible"/>
                                      </p:to>
                                    </p:set>
                                    <p:animEffect transition="in" filter="fade">
                                      <p:cBhvr>
                                        <p:cTn id="13" dur="400"/>
                                        <p:tgtEl>
                                          <p:spTgt spid="11"/>
                                        </p:tgtEl>
                                      </p:cBhvr>
                                    </p:animEffect>
                                  </p:childTnLst>
                                </p:cTn>
                              </p:par>
                              <p:par>
                                <p:cTn id="14" presetID="10" presetClass="entr" presetSubtype="0" fill="hold" nodeType="withEffect">
                                  <p:stCondLst>
                                    <p:cond delay="0"/>
                                  </p:stCondLst>
                                  <p:childTnLst>
                                    <p:set>
                                      <p:cBhvr>
                                        <p:cTn id="15" dur="1" fill="hold">
                                          <p:stCondLst>
                                            <p:cond delay="0"/>
                                          </p:stCondLst>
                                        </p:cTn>
                                        <p:tgtEl>
                                          <p:spTgt spid="12"/>
                                        </p:tgtEl>
                                        <p:attrNameLst>
                                          <p:attrName>style.visibility</p:attrName>
                                        </p:attrNameLst>
                                      </p:cBhvr>
                                      <p:to>
                                        <p:strVal val="visible"/>
                                      </p:to>
                                    </p:set>
                                    <p:animEffect transition="in" filter="fade">
                                      <p:cBhvr>
                                        <p:cTn id="16" dur="4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name="Slide 18">
    <p:bg>
      <p:bgPr>
        <a:blipFill dpi="0" rotWithShape="1">
          <a:blip r:embed="rId1">
            <a:lum/>
          </a:blip>
          <a:srcRect/>
          <a:stretch>
            <a:fillRect/>
          </a:stretch>
        </a:blipFill>
        <a:effectLst/>
      </p:bgPr>
    </p:bg>
    <p:spTree>
      <p:nvGrpSpPr>
        <p:cNvPr id="2" name=""/>
        <p:cNvGrpSpPr/>
        <p:nvPr/>
      </p:nvGrpSpPr>
      <p:grpSpPr>
        <a:xfrm>
          <a:off x="0" y="0"/>
          <a:ext cx="0" cy="0"/>
          <a:chOff x="0" y="0"/>
          <a:chExt cx="0" cy="0"/>
        </a:xfrm>
      </p:grpSpPr>
      <p:sp>
        <p:nvSpPr>
          <p:cNvPr id="3" name="levelFrame_261"/>
          <p:cNvSpPr/>
          <p:nvPr/>
        </p:nvSpPr>
        <p:spPr>
          <a:xfrm>
            <a:off x="54864" y="54864"/>
            <a:ext cx="9034272" cy="5033772"/>
          </a:xfrm>
          <a:prstGeom prst="rect">
            <a:avLst/>
          </a:prstGeom>
          <a:ln w="114300">
            <a:solidFill>
              <a:srgbClr val="A8E6B4"/>
            </a:solidFill>
            <a:prstDash val="solid"/>
          </a:ln>
        </p:spPr>
      </p:sp>
      <p:pic>
        <p:nvPicPr>
          <p:cNvPr id="4" name="logo_262" descr="London Language School logo">    </p:cNvPr>
          <p:cNvPicPr>
            <a:picLocks noChangeAspect="1"/>
          </p:cNvPicPr>
          <p:nvPr/>
        </p:nvPicPr>
        <p:blipFill>
          <a:blip r:embed="rId2"/>
          <a:stretch>
            <a:fillRect/>
          </a:stretch>
        </p:blipFill>
        <p:spPr>
          <a:xfrm>
            <a:off x="8275320" y="182880"/>
            <a:ext cx="585216" cy="585216"/>
          </a:xfrm>
          <a:prstGeom prst="rect">
            <a:avLst/>
          </a:prstGeom>
        </p:spPr>
      </p:pic>
      <p:sp>
        <p:nvSpPr>
          <p:cNvPr id="5" name="objective_263"/>
          <p:cNvSpPr txBox="1"/>
          <p:nvPr/>
        </p:nvSpPr>
        <p:spPr>
          <a:xfrm>
            <a:off x="320040" y="182880"/>
            <a:ext cx="4206240" cy="365760"/>
          </a:xfrm>
          <a:prstGeom prst="roundRect">
            <a:avLst>
              <a:gd name="adj" fmla="val 20000"/>
            </a:avLst>
          </a:prstGeom>
          <a:solidFill>
            <a:srgbClr val="062F67"/>
          </a:solidFill>
          <a:ln w="31750">
            <a:solidFill>
              <a:srgbClr val="111111"/>
            </a:solidFill>
          </a:ln>
        </p:spPr>
        <p:txBody>
          <a:bodyPr wrap="square" lIns="101600" tIns="101600" rIns="101600" bIns="101600" rtlCol="0" anchor="ctr"/>
          <a:lstStyle/>
          <a:p>
            <a:pPr indent="0" marL="0">
              <a:buNone/>
            </a:pPr>
            <a:r>
              <a:rPr lang="en-US" sz="900" dirty="0">
                <a:solidFill>
                  <a:srgbClr val="FFFFFF"/>
                </a:solidFill>
                <a:latin typeface="Arial Black" pitchFamily="34" charset="0"/>
                <a:ea typeface="Arial Black" pitchFamily="34" charset="-122"/>
                <a:cs typeface="Arial Black" pitchFamily="34" charset="-120"/>
              </a:rPr>
              <a:t>EXTENSION · Taboo card 5 of 6</a:t>
            </a:r>
            <a:endParaRPr lang="en-US" sz="900" dirty="0"/>
          </a:p>
        </p:txBody>
      </p:sp>
      <p:sp>
        <p:nvSpPr>
          <p:cNvPr id="6" name="footer_264"/>
          <p:cNvSpPr txBox="1"/>
          <p:nvPr/>
        </p:nvSpPr>
        <p:spPr>
          <a:xfrm>
            <a:off x="7315200" y="4818888"/>
            <a:ext cx="1554480" cy="219456"/>
          </a:xfrm>
          <a:prstGeom prst="rect">
            <a:avLst/>
          </a:prstGeom>
          <a:solidFill>
            <a:srgbClr val="FFFFFF"/>
          </a:solidFill>
          <a:ln/>
        </p:spPr>
        <p:txBody>
          <a:bodyPr wrap="square" lIns="0" tIns="0" rIns="0" bIns="0" rtlCol="0" anchor="ctr"/>
          <a:lstStyle/>
          <a:p>
            <a:pPr algn="ctr" indent="0" marL="0">
              <a:buNone/>
            </a:pPr>
            <a:r>
              <a:rPr lang="en-US" sz="1000" dirty="0">
                <a:solidFill>
                  <a:srgbClr val="334155"/>
                </a:solidFill>
                <a:latin typeface="Calibri" pitchFamily="34" charset="0"/>
                <a:ea typeface="Calibri" pitchFamily="34" charset="-122"/>
                <a:cs typeface="Calibri" pitchFamily="34" charset="-120"/>
              </a:rPr>
              <a:t>7A · Part 1</a:t>
            </a:r>
            <a:endParaRPr lang="en-US" sz="1000" dirty="0"/>
          </a:p>
        </p:txBody>
      </p:sp>
      <p:sp>
        <p:nvSpPr>
          <p:cNvPr id="7" name="extra_265"/>
          <p:cNvSpPr txBox="1"/>
          <p:nvPr/>
        </p:nvSpPr>
        <p:spPr>
          <a:xfrm rot="360000">
            <a:off x="6995160" y="228600"/>
            <a:ext cx="1097280" cy="347472"/>
          </a:xfrm>
          <a:prstGeom prst="roundRect">
            <a:avLst>
              <a:gd name="adj" fmla="val 21053"/>
            </a:avLst>
          </a:prstGeom>
          <a:solidFill>
            <a:srgbClr val="1FA463"/>
          </a:solidFill>
          <a:ln w="31750">
            <a:solidFill>
              <a:srgbClr val="111111"/>
            </a:solidFill>
          </a:ln>
        </p:spPr>
        <p:txBody>
          <a:bodyPr wrap="square" rtlCol="0" anchor="ctr"/>
          <a:lstStyle/>
          <a:p>
            <a:pPr algn="ctr" indent="0" marL="0">
              <a:buNone/>
            </a:pPr>
            <a:r>
              <a:rPr lang="en-US" sz="1300" dirty="0">
                <a:solidFill>
                  <a:srgbClr val="FFFFFF"/>
                </a:solidFill>
                <a:latin typeface="Arial Black" pitchFamily="34" charset="0"/>
                <a:ea typeface="Arial Black" pitchFamily="34" charset="-122"/>
                <a:cs typeface="Arial Black" pitchFamily="34" charset="-120"/>
              </a:rPr>
              <a:t>EXTRA</a:t>
            </a:r>
            <a:endParaRPr lang="en-US" sz="1300" dirty="0"/>
          </a:p>
        </p:txBody>
      </p:sp>
      <p:sp>
        <p:nvSpPr>
          <p:cNvPr id="8" name="warn_266"/>
          <p:cNvSpPr txBox="1"/>
          <p:nvPr/>
        </p:nvSpPr>
        <p:spPr>
          <a:xfrm>
            <a:off x="365760" y="731520"/>
            <a:ext cx="5486400" cy="457200"/>
          </a:xfrm>
          <a:prstGeom prst="rect">
            <a:avLst/>
          </a:prstGeom>
          <a:noFill/>
          <a:ln/>
        </p:spPr>
        <p:txBody>
          <a:bodyPr wrap="square" rtlCol="0" anchor="ctr"/>
          <a:lstStyle/>
          <a:p>
            <a:pPr indent="0" marL="0">
              <a:buNone/>
            </a:pPr>
            <a:r>
              <a:rPr lang="en-US" sz="1600" dirty="0">
                <a:solidFill>
                  <a:srgbClr val="EF2F2F"/>
                </a:solidFill>
                <a:latin typeface="Arial Black" pitchFamily="34" charset="0"/>
                <a:ea typeface="Arial Black" pitchFamily="34" charset="-122"/>
                <a:cs typeface="Arial Black" pitchFamily="34" charset="-120"/>
              </a:rPr>
              <a:t>👀 Guessers: don't look!  ·  Non guardate!</a:t>
            </a:r>
            <a:endParaRPr lang="en-US" sz="1600" dirty="0"/>
          </a:p>
        </p:txBody>
      </p:sp>
      <p:sp>
        <p:nvSpPr>
          <p:cNvPr id="9" name="R1_card"/>
          <p:cNvSpPr/>
          <p:nvPr/>
        </p:nvSpPr>
        <p:spPr>
          <a:xfrm rot="-90000">
            <a:off x="1828800" y="1325880"/>
            <a:ext cx="5486400" cy="3291840"/>
          </a:xfrm>
          <a:prstGeom prst="roundRect">
            <a:avLst>
              <a:gd name="adj" fmla="val 4167"/>
            </a:avLst>
          </a:prstGeom>
          <a:solidFill>
            <a:srgbClr val="FFFFFF"/>
          </a:solidFill>
          <a:ln w="31750">
            <a:solidFill>
              <a:srgbClr val="111111"/>
            </a:solidFill>
            <a:prstDash val="solid"/>
          </a:ln>
          <a:effectLst>
            <a:outerShdw sx="100000" sy="100000" kx="0" ky="0" algn="bl" rotWithShape="0" blurRad="101600" dist="38100" dir="2700000">
              <a:srgbClr val="000000">
                <a:alpha val="35000"/>
              </a:srgbClr>
            </a:outerShdw>
          </a:effectLst>
        </p:spPr>
      </p:sp>
      <p:sp>
        <p:nvSpPr>
          <p:cNvPr id="10" name="R1_word"/>
          <p:cNvSpPr txBox="1"/>
          <p:nvPr/>
        </p:nvSpPr>
        <p:spPr>
          <a:xfrm rot="-90000">
            <a:off x="1828800" y="1554480"/>
            <a:ext cx="5486400" cy="1097280"/>
          </a:xfrm>
          <a:prstGeom prst="rect">
            <a:avLst/>
          </a:prstGeom>
          <a:noFill/>
          <a:ln/>
        </p:spPr>
        <p:txBody>
          <a:bodyPr wrap="square" rtlCol="0" anchor="ctr"/>
          <a:lstStyle/>
          <a:p>
            <a:pPr algn="ctr" indent="0" marL="0">
              <a:buNone/>
            </a:pPr>
            <a:r>
              <a:rPr lang="en-US" sz="3400" dirty="0">
                <a:solidFill>
                  <a:srgbClr val="062F67"/>
                </a:solidFill>
                <a:latin typeface="Arial Black" pitchFamily="34" charset="0"/>
                <a:ea typeface="Arial Black" pitchFamily="34" charset="-122"/>
                <a:cs typeface="Arial Black" pitchFamily="34" charset="-120"/>
              </a:rPr>
              <a:t>BOARDING SCHOOL</a:t>
            </a:r>
            <a:endParaRPr lang="en-US" sz="3400" dirty="0"/>
          </a:p>
        </p:txBody>
      </p:sp>
      <p:sp>
        <p:nvSpPr>
          <p:cNvPr id="11" name="R1_dont"/>
          <p:cNvSpPr txBox="1"/>
          <p:nvPr/>
        </p:nvSpPr>
        <p:spPr>
          <a:xfrm rot="-90000">
            <a:off x="1828800" y="2743200"/>
            <a:ext cx="5486400" cy="365760"/>
          </a:xfrm>
          <a:prstGeom prst="rect">
            <a:avLst/>
          </a:prstGeom>
          <a:noFill/>
          <a:ln/>
        </p:spPr>
        <p:txBody>
          <a:bodyPr wrap="square" rtlCol="0" anchor="ctr"/>
          <a:lstStyle/>
          <a:p>
            <a:pPr algn="ctr" indent="0" marL="0">
              <a:buNone/>
            </a:pPr>
            <a:r>
              <a:rPr lang="en-US" sz="1600" i="1" dirty="0">
                <a:solidFill>
                  <a:srgbClr val="475569"/>
                </a:solidFill>
                <a:latin typeface="Calibri" pitchFamily="34" charset="0"/>
                <a:ea typeface="Calibri" pitchFamily="34" charset="-122"/>
                <a:cs typeface="Calibri" pitchFamily="34" charset="-120"/>
              </a:rPr>
              <a:t>Don't say:</a:t>
            </a:r>
            <a:endParaRPr lang="en-US" sz="1600" dirty="0"/>
          </a:p>
        </p:txBody>
      </p:sp>
      <p:sp>
        <p:nvSpPr>
          <p:cNvPr id="12" name="R1_ban"/>
          <p:cNvSpPr txBox="1"/>
          <p:nvPr/>
        </p:nvSpPr>
        <p:spPr>
          <a:xfrm rot="-90000">
            <a:off x="2011680" y="3108960"/>
            <a:ext cx="5120640" cy="1097280"/>
          </a:xfrm>
          <a:prstGeom prst="rect">
            <a:avLst/>
          </a:prstGeom>
          <a:noFill/>
          <a:ln/>
        </p:spPr>
        <p:txBody>
          <a:bodyPr wrap="square" rtlCol="0" anchor="ctr"/>
          <a:lstStyle/>
          <a:p>
            <a:pPr algn="ctr" indent="0" marL="0">
              <a:buNone/>
            </a:pPr>
            <a:r>
              <a:rPr lang="en-US" sz="2800" b="1" dirty="0">
                <a:solidFill>
                  <a:srgbClr val="EF2F2F"/>
                </a:solidFill>
                <a:latin typeface="Calibri" pitchFamily="34" charset="0"/>
                <a:ea typeface="Calibri" pitchFamily="34" charset="-122"/>
                <a:cs typeface="Calibri" pitchFamily="34" charset="-120"/>
              </a:rPr>
              <a:t>live · sleep · Harry Potter</a:t>
            </a:r>
            <a:endParaRPr lang="en-US" sz="2800" dirty="0"/>
          </a:p>
        </p:txBody>
      </p:sp>
    </p:spTree>
  </p:cSld>
  <p:clrMapOvr>
    <a:masterClrMapping/>
  </p:clrMapOvr>
  <p:transition spd="med">
    <p:push dir="l"/>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400"/>
                                        <p:tgtEl>
                                          <p:spTgt spid="9"/>
                                        </p:tgtEl>
                                      </p:cBhvr>
                                    </p:animEffect>
                                  </p:childTnLst>
                                </p:cTn>
                              </p:par>
                              <p:par>
                                <p:cTn id="8" presetID="10" presetClass="entr" presetSubtype="0" fill="hold" nodeType="withEffect">
                                  <p:stCondLst>
                                    <p:cond delay="0"/>
                                  </p:stCondLst>
                                  <p:childTnLst>
                                    <p:set>
                                      <p:cBhvr>
                                        <p:cTn id="9" dur="1" fill="hold">
                                          <p:stCondLst>
                                            <p:cond delay="0"/>
                                          </p:stCondLst>
                                        </p:cTn>
                                        <p:tgtEl>
                                          <p:spTgt spid="10"/>
                                        </p:tgtEl>
                                        <p:attrNameLst>
                                          <p:attrName>style.visibility</p:attrName>
                                        </p:attrNameLst>
                                      </p:cBhvr>
                                      <p:to>
                                        <p:strVal val="visible"/>
                                      </p:to>
                                    </p:set>
                                    <p:animEffect transition="in" filter="fade">
                                      <p:cBhvr>
                                        <p:cTn id="10" dur="400"/>
                                        <p:tgtEl>
                                          <p:spTgt spid="10"/>
                                        </p:tgtEl>
                                      </p:cBhvr>
                                    </p:animEffect>
                                  </p:childTnLst>
                                </p:cTn>
                              </p:par>
                              <p:par>
                                <p:cTn id="11" presetID="10" presetClass="entr" presetSubtype="0" fill="hold" nodeType="withEffect">
                                  <p:stCondLst>
                                    <p:cond delay="0"/>
                                  </p:stCondLst>
                                  <p:childTnLst>
                                    <p:set>
                                      <p:cBhvr>
                                        <p:cTn id="12" dur="1" fill="hold">
                                          <p:stCondLst>
                                            <p:cond delay="0"/>
                                          </p:stCondLst>
                                        </p:cTn>
                                        <p:tgtEl>
                                          <p:spTgt spid="11"/>
                                        </p:tgtEl>
                                        <p:attrNameLst>
                                          <p:attrName>style.visibility</p:attrName>
                                        </p:attrNameLst>
                                      </p:cBhvr>
                                      <p:to>
                                        <p:strVal val="visible"/>
                                      </p:to>
                                    </p:set>
                                    <p:animEffect transition="in" filter="fade">
                                      <p:cBhvr>
                                        <p:cTn id="13" dur="400"/>
                                        <p:tgtEl>
                                          <p:spTgt spid="11"/>
                                        </p:tgtEl>
                                      </p:cBhvr>
                                    </p:animEffect>
                                  </p:childTnLst>
                                </p:cTn>
                              </p:par>
                              <p:par>
                                <p:cTn id="14" presetID="10" presetClass="entr" presetSubtype="0" fill="hold" nodeType="withEffect">
                                  <p:stCondLst>
                                    <p:cond delay="0"/>
                                  </p:stCondLst>
                                  <p:childTnLst>
                                    <p:set>
                                      <p:cBhvr>
                                        <p:cTn id="15" dur="1" fill="hold">
                                          <p:stCondLst>
                                            <p:cond delay="0"/>
                                          </p:stCondLst>
                                        </p:cTn>
                                        <p:tgtEl>
                                          <p:spTgt spid="12"/>
                                        </p:tgtEl>
                                        <p:attrNameLst>
                                          <p:attrName>style.visibility</p:attrName>
                                        </p:attrNameLst>
                                      </p:cBhvr>
                                      <p:to>
                                        <p:strVal val="visible"/>
                                      </p:to>
                                    </p:set>
                                    <p:animEffect transition="in" filter="fade">
                                      <p:cBhvr>
                                        <p:cTn id="16" dur="4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name="Slide 19">
    <p:bg>
      <p:bgPr>
        <a:blipFill dpi="0" rotWithShape="1">
          <a:blip r:embed="rId1">
            <a:lum/>
          </a:blip>
          <a:srcRect/>
          <a:stretch>
            <a:fillRect/>
          </a:stretch>
        </a:blipFill>
        <a:effectLst/>
      </p:bgPr>
    </p:bg>
    <p:spTree>
      <p:nvGrpSpPr>
        <p:cNvPr id="2" name=""/>
        <p:cNvGrpSpPr/>
        <p:nvPr/>
      </p:nvGrpSpPr>
      <p:grpSpPr>
        <a:xfrm>
          <a:off x="0" y="0"/>
          <a:ext cx="0" cy="0"/>
          <a:chOff x="0" y="0"/>
          <a:chExt cx="0" cy="0"/>
        </a:xfrm>
      </p:grpSpPr>
      <p:sp>
        <p:nvSpPr>
          <p:cNvPr id="3" name="levelFrame_267"/>
          <p:cNvSpPr/>
          <p:nvPr/>
        </p:nvSpPr>
        <p:spPr>
          <a:xfrm>
            <a:off x="54864" y="54864"/>
            <a:ext cx="9034272" cy="5033772"/>
          </a:xfrm>
          <a:prstGeom prst="rect">
            <a:avLst/>
          </a:prstGeom>
          <a:ln w="114300">
            <a:solidFill>
              <a:srgbClr val="A8E6B4"/>
            </a:solidFill>
            <a:prstDash val="solid"/>
          </a:ln>
        </p:spPr>
      </p:sp>
      <p:pic>
        <p:nvPicPr>
          <p:cNvPr id="4" name="logo_268" descr="London Language School logo">    </p:cNvPr>
          <p:cNvPicPr>
            <a:picLocks noChangeAspect="1"/>
          </p:cNvPicPr>
          <p:nvPr/>
        </p:nvPicPr>
        <p:blipFill>
          <a:blip r:embed="rId2"/>
          <a:stretch>
            <a:fillRect/>
          </a:stretch>
        </p:blipFill>
        <p:spPr>
          <a:xfrm>
            <a:off x="8275320" y="182880"/>
            <a:ext cx="585216" cy="585216"/>
          </a:xfrm>
          <a:prstGeom prst="rect">
            <a:avLst/>
          </a:prstGeom>
        </p:spPr>
      </p:pic>
      <p:sp>
        <p:nvSpPr>
          <p:cNvPr id="5" name="objective_269"/>
          <p:cNvSpPr txBox="1"/>
          <p:nvPr/>
        </p:nvSpPr>
        <p:spPr>
          <a:xfrm>
            <a:off x="320040" y="182880"/>
            <a:ext cx="4206240" cy="365760"/>
          </a:xfrm>
          <a:prstGeom prst="roundRect">
            <a:avLst>
              <a:gd name="adj" fmla="val 20000"/>
            </a:avLst>
          </a:prstGeom>
          <a:solidFill>
            <a:srgbClr val="062F67"/>
          </a:solidFill>
          <a:ln w="31750">
            <a:solidFill>
              <a:srgbClr val="111111"/>
            </a:solidFill>
          </a:ln>
        </p:spPr>
        <p:txBody>
          <a:bodyPr wrap="square" lIns="101600" tIns="101600" rIns="101600" bIns="101600" rtlCol="0" anchor="ctr"/>
          <a:lstStyle/>
          <a:p>
            <a:pPr indent="0" marL="0">
              <a:buNone/>
            </a:pPr>
            <a:r>
              <a:rPr lang="en-US" sz="900" dirty="0">
                <a:solidFill>
                  <a:srgbClr val="FFFFFF"/>
                </a:solidFill>
                <a:latin typeface="Arial Black" pitchFamily="34" charset="0"/>
                <a:ea typeface="Arial Black" pitchFamily="34" charset="-122"/>
                <a:cs typeface="Arial Black" pitchFamily="34" charset="-120"/>
              </a:rPr>
              <a:t>EXTENSION · Taboo card 6 of 6</a:t>
            </a:r>
            <a:endParaRPr lang="en-US" sz="900" dirty="0"/>
          </a:p>
        </p:txBody>
      </p:sp>
      <p:sp>
        <p:nvSpPr>
          <p:cNvPr id="6" name="footer_270"/>
          <p:cNvSpPr txBox="1"/>
          <p:nvPr/>
        </p:nvSpPr>
        <p:spPr>
          <a:xfrm>
            <a:off x="7315200" y="4818888"/>
            <a:ext cx="1554480" cy="219456"/>
          </a:xfrm>
          <a:prstGeom prst="rect">
            <a:avLst/>
          </a:prstGeom>
          <a:solidFill>
            <a:srgbClr val="FFFFFF"/>
          </a:solidFill>
          <a:ln/>
        </p:spPr>
        <p:txBody>
          <a:bodyPr wrap="square" lIns="0" tIns="0" rIns="0" bIns="0" rtlCol="0" anchor="ctr"/>
          <a:lstStyle/>
          <a:p>
            <a:pPr algn="ctr" indent="0" marL="0">
              <a:buNone/>
            </a:pPr>
            <a:r>
              <a:rPr lang="en-US" sz="1000" dirty="0">
                <a:solidFill>
                  <a:srgbClr val="334155"/>
                </a:solidFill>
                <a:latin typeface="Calibri" pitchFamily="34" charset="0"/>
                <a:ea typeface="Calibri" pitchFamily="34" charset="-122"/>
                <a:cs typeface="Calibri" pitchFamily="34" charset="-120"/>
              </a:rPr>
              <a:t>7A · Part 1</a:t>
            </a:r>
            <a:endParaRPr lang="en-US" sz="1000" dirty="0"/>
          </a:p>
        </p:txBody>
      </p:sp>
      <p:sp>
        <p:nvSpPr>
          <p:cNvPr id="7" name="extra_271"/>
          <p:cNvSpPr txBox="1"/>
          <p:nvPr/>
        </p:nvSpPr>
        <p:spPr>
          <a:xfrm rot="360000">
            <a:off x="6995160" y="228600"/>
            <a:ext cx="1097280" cy="347472"/>
          </a:xfrm>
          <a:prstGeom prst="roundRect">
            <a:avLst>
              <a:gd name="adj" fmla="val 21053"/>
            </a:avLst>
          </a:prstGeom>
          <a:solidFill>
            <a:srgbClr val="1FA463"/>
          </a:solidFill>
          <a:ln w="31750">
            <a:solidFill>
              <a:srgbClr val="111111"/>
            </a:solidFill>
          </a:ln>
        </p:spPr>
        <p:txBody>
          <a:bodyPr wrap="square" rtlCol="0" anchor="ctr"/>
          <a:lstStyle/>
          <a:p>
            <a:pPr algn="ctr" indent="0" marL="0">
              <a:buNone/>
            </a:pPr>
            <a:r>
              <a:rPr lang="en-US" sz="1300" dirty="0">
                <a:solidFill>
                  <a:srgbClr val="FFFFFF"/>
                </a:solidFill>
                <a:latin typeface="Arial Black" pitchFamily="34" charset="0"/>
                <a:ea typeface="Arial Black" pitchFamily="34" charset="-122"/>
                <a:cs typeface="Arial Black" pitchFamily="34" charset="-120"/>
              </a:rPr>
              <a:t>EXTRA</a:t>
            </a:r>
            <a:endParaRPr lang="en-US" sz="1300" dirty="0"/>
          </a:p>
        </p:txBody>
      </p:sp>
      <p:sp>
        <p:nvSpPr>
          <p:cNvPr id="8" name="warn_272"/>
          <p:cNvSpPr txBox="1"/>
          <p:nvPr/>
        </p:nvSpPr>
        <p:spPr>
          <a:xfrm>
            <a:off x="365760" y="731520"/>
            <a:ext cx="5486400" cy="457200"/>
          </a:xfrm>
          <a:prstGeom prst="rect">
            <a:avLst/>
          </a:prstGeom>
          <a:noFill/>
          <a:ln/>
        </p:spPr>
        <p:txBody>
          <a:bodyPr wrap="square" rtlCol="0" anchor="ctr"/>
          <a:lstStyle/>
          <a:p>
            <a:pPr indent="0" marL="0">
              <a:buNone/>
            </a:pPr>
            <a:r>
              <a:rPr lang="en-US" sz="1600" dirty="0">
                <a:solidFill>
                  <a:srgbClr val="EF2F2F"/>
                </a:solidFill>
                <a:latin typeface="Arial Black" pitchFamily="34" charset="0"/>
                <a:ea typeface="Arial Black" pitchFamily="34" charset="-122"/>
                <a:cs typeface="Arial Black" pitchFamily="34" charset="-120"/>
              </a:rPr>
              <a:t>👀 Guessers: don't look!  ·  Non guardate!</a:t>
            </a:r>
            <a:endParaRPr lang="en-US" sz="1600" dirty="0"/>
          </a:p>
        </p:txBody>
      </p:sp>
      <p:sp>
        <p:nvSpPr>
          <p:cNvPr id="9" name="R1_card"/>
          <p:cNvSpPr/>
          <p:nvPr/>
        </p:nvSpPr>
        <p:spPr>
          <a:xfrm rot="90000">
            <a:off x="1828800" y="1325880"/>
            <a:ext cx="5486400" cy="3291840"/>
          </a:xfrm>
          <a:prstGeom prst="roundRect">
            <a:avLst>
              <a:gd name="adj" fmla="val 4167"/>
            </a:avLst>
          </a:prstGeom>
          <a:solidFill>
            <a:srgbClr val="FFFFFF"/>
          </a:solidFill>
          <a:ln w="31750">
            <a:solidFill>
              <a:srgbClr val="111111"/>
            </a:solidFill>
            <a:prstDash val="solid"/>
          </a:ln>
          <a:effectLst>
            <a:outerShdw sx="100000" sy="100000" kx="0" ky="0" algn="bl" rotWithShape="0" blurRad="101600" dist="38100" dir="2700000">
              <a:srgbClr val="000000">
                <a:alpha val="35000"/>
              </a:srgbClr>
            </a:outerShdw>
          </a:effectLst>
        </p:spPr>
      </p:sp>
      <p:sp>
        <p:nvSpPr>
          <p:cNvPr id="10" name="R1_word"/>
          <p:cNvSpPr txBox="1"/>
          <p:nvPr/>
        </p:nvSpPr>
        <p:spPr>
          <a:xfrm rot="90000">
            <a:off x="1828800" y="1554480"/>
            <a:ext cx="5486400" cy="1097280"/>
          </a:xfrm>
          <a:prstGeom prst="rect">
            <a:avLst/>
          </a:prstGeom>
          <a:noFill/>
          <a:ln/>
        </p:spPr>
        <p:txBody>
          <a:bodyPr wrap="square" rtlCol="0" anchor="ctr"/>
          <a:lstStyle/>
          <a:p>
            <a:pPr algn="ctr" indent="0" marL="0">
              <a:buNone/>
            </a:pPr>
            <a:r>
              <a:rPr lang="en-US" sz="4000" dirty="0">
                <a:solidFill>
                  <a:srgbClr val="062F67"/>
                </a:solidFill>
                <a:latin typeface="Arial Black" pitchFamily="34" charset="0"/>
                <a:ea typeface="Arial Black" pitchFamily="34" charset="-122"/>
                <a:cs typeface="Arial Black" pitchFamily="34" charset="-120"/>
              </a:rPr>
              <a:t>THE HEAD</a:t>
            </a:r>
            <a:endParaRPr lang="en-US" sz="4000" dirty="0"/>
          </a:p>
        </p:txBody>
      </p:sp>
      <p:sp>
        <p:nvSpPr>
          <p:cNvPr id="11" name="R1_dont"/>
          <p:cNvSpPr txBox="1"/>
          <p:nvPr/>
        </p:nvSpPr>
        <p:spPr>
          <a:xfrm rot="90000">
            <a:off x="1828800" y="2743200"/>
            <a:ext cx="5486400" cy="365760"/>
          </a:xfrm>
          <a:prstGeom prst="rect">
            <a:avLst/>
          </a:prstGeom>
          <a:noFill/>
          <a:ln/>
        </p:spPr>
        <p:txBody>
          <a:bodyPr wrap="square" rtlCol="0" anchor="ctr"/>
          <a:lstStyle/>
          <a:p>
            <a:pPr algn="ctr" indent="0" marL="0">
              <a:buNone/>
            </a:pPr>
            <a:r>
              <a:rPr lang="en-US" sz="1600" i="1" dirty="0">
                <a:solidFill>
                  <a:srgbClr val="475569"/>
                </a:solidFill>
                <a:latin typeface="Calibri" pitchFamily="34" charset="0"/>
                <a:ea typeface="Calibri" pitchFamily="34" charset="-122"/>
                <a:cs typeface="Calibri" pitchFamily="34" charset="-120"/>
              </a:rPr>
              <a:t>Don't say:</a:t>
            </a:r>
            <a:endParaRPr lang="en-US" sz="1600" dirty="0"/>
          </a:p>
        </p:txBody>
      </p:sp>
      <p:sp>
        <p:nvSpPr>
          <p:cNvPr id="12" name="R1_ban"/>
          <p:cNvSpPr txBox="1"/>
          <p:nvPr/>
        </p:nvSpPr>
        <p:spPr>
          <a:xfrm rot="90000">
            <a:off x="2011680" y="3108960"/>
            <a:ext cx="5120640" cy="1097280"/>
          </a:xfrm>
          <a:prstGeom prst="rect">
            <a:avLst/>
          </a:prstGeom>
          <a:noFill/>
          <a:ln/>
        </p:spPr>
        <p:txBody>
          <a:bodyPr wrap="square" rtlCol="0" anchor="ctr"/>
          <a:lstStyle/>
          <a:p>
            <a:pPr algn="ctr" indent="0" marL="0">
              <a:buNone/>
            </a:pPr>
            <a:r>
              <a:rPr lang="en-US" sz="2800" b="1" dirty="0">
                <a:solidFill>
                  <a:srgbClr val="EF2F2F"/>
                </a:solidFill>
                <a:latin typeface="Calibri" pitchFamily="34" charset="0"/>
                <a:ea typeface="Calibri" pitchFamily="34" charset="-122"/>
                <a:cs typeface="Calibri" pitchFamily="34" charset="-120"/>
              </a:rPr>
              <a:t>boss · teacher · school</a:t>
            </a:r>
            <a:endParaRPr lang="en-US" sz="2800" dirty="0"/>
          </a:p>
        </p:txBody>
      </p:sp>
    </p:spTree>
  </p:cSld>
  <p:clrMapOvr>
    <a:masterClrMapping/>
  </p:clrMapOvr>
  <p:transition spd="med">
    <p:push dir="l"/>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400"/>
                                        <p:tgtEl>
                                          <p:spTgt spid="9"/>
                                        </p:tgtEl>
                                      </p:cBhvr>
                                    </p:animEffect>
                                  </p:childTnLst>
                                </p:cTn>
                              </p:par>
                              <p:par>
                                <p:cTn id="8" presetID="10" presetClass="entr" presetSubtype="0" fill="hold" nodeType="withEffect">
                                  <p:stCondLst>
                                    <p:cond delay="0"/>
                                  </p:stCondLst>
                                  <p:childTnLst>
                                    <p:set>
                                      <p:cBhvr>
                                        <p:cTn id="9" dur="1" fill="hold">
                                          <p:stCondLst>
                                            <p:cond delay="0"/>
                                          </p:stCondLst>
                                        </p:cTn>
                                        <p:tgtEl>
                                          <p:spTgt spid="10"/>
                                        </p:tgtEl>
                                        <p:attrNameLst>
                                          <p:attrName>style.visibility</p:attrName>
                                        </p:attrNameLst>
                                      </p:cBhvr>
                                      <p:to>
                                        <p:strVal val="visible"/>
                                      </p:to>
                                    </p:set>
                                    <p:animEffect transition="in" filter="fade">
                                      <p:cBhvr>
                                        <p:cTn id="10" dur="400"/>
                                        <p:tgtEl>
                                          <p:spTgt spid="10"/>
                                        </p:tgtEl>
                                      </p:cBhvr>
                                    </p:animEffect>
                                  </p:childTnLst>
                                </p:cTn>
                              </p:par>
                              <p:par>
                                <p:cTn id="11" presetID="10" presetClass="entr" presetSubtype="0" fill="hold" nodeType="withEffect">
                                  <p:stCondLst>
                                    <p:cond delay="0"/>
                                  </p:stCondLst>
                                  <p:childTnLst>
                                    <p:set>
                                      <p:cBhvr>
                                        <p:cTn id="12" dur="1" fill="hold">
                                          <p:stCondLst>
                                            <p:cond delay="0"/>
                                          </p:stCondLst>
                                        </p:cTn>
                                        <p:tgtEl>
                                          <p:spTgt spid="11"/>
                                        </p:tgtEl>
                                        <p:attrNameLst>
                                          <p:attrName>style.visibility</p:attrName>
                                        </p:attrNameLst>
                                      </p:cBhvr>
                                      <p:to>
                                        <p:strVal val="visible"/>
                                      </p:to>
                                    </p:set>
                                    <p:animEffect transition="in" filter="fade">
                                      <p:cBhvr>
                                        <p:cTn id="13" dur="400"/>
                                        <p:tgtEl>
                                          <p:spTgt spid="11"/>
                                        </p:tgtEl>
                                      </p:cBhvr>
                                    </p:animEffect>
                                  </p:childTnLst>
                                </p:cTn>
                              </p:par>
                              <p:par>
                                <p:cTn id="14" presetID="10" presetClass="entr" presetSubtype="0" fill="hold" nodeType="withEffect">
                                  <p:stCondLst>
                                    <p:cond delay="0"/>
                                  </p:stCondLst>
                                  <p:childTnLst>
                                    <p:set>
                                      <p:cBhvr>
                                        <p:cTn id="15" dur="1" fill="hold">
                                          <p:stCondLst>
                                            <p:cond delay="0"/>
                                          </p:stCondLst>
                                        </p:cTn>
                                        <p:tgtEl>
                                          <p:spTgt spid="12"/>
                                        </p:tgtEl>
                                        <p:attrNameLst>
                                          <p:attrName>style.visibility</p:attrName>
                                        </p:attrNameLst>
                                      </p:cBhvr>
                                      <p:to>
                                        <p:strVal val="visible"/>
                                      </p:to>
                                    </p:set>
                                    <p:animEffect transition="in" filter="fade">
                                      <p:cBhvr>
                                        <p:cTn id="16" dur="4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name="Slide 20">
    <p:bg>
      <p:bgPr>
        <a:blipFill dpi="0" rotWithShape="1">
          <a:blip r:embed="rId1">
            <a:lum/>
          </a:blip>
          <a:srcRect/>
          <a:stretch>
            <a:fillRect/>
          </a:stretch>
        </a:blipFill>
        <a:effectLst/>
      </p:bgPr>
    </p:bg>
    <p:spTree>
      <p:nvGrpSpPr>
        <p:cNvPr id="2" name=""/>
        <p:cNvGrpSpPr/>
        <p:nvPr/>
      </p:nvGrpSpPr>
      <p:grpSpPr>
        <a:xfrm>
          <a:off x="0" y="0"/>
          <a:ext cx="0" cy="0"/>
          <a:chOff x="0" y="0"/>
          <a:chExt cx="0" cy="0"/>
        </a:xfrm>
      </p:grpSpPr>
      <p:sp>
        <p:nvSpPr>
          <p:cNvPr id="3" name="levelFrame_273"/>
          <p:cNvSpPr/>
          <p:nvPr/>
        </p:nvSpPr>
        <p:spPr>
          <a:xfrm>
            <a:off x="54864" y="54864"/>
            <a:ext cx="9034272" cy="5033772"/>
          </a:xfrm>
          <a:prstGeom prst="rect">
            <a:avLst/>
          </a:prstGeom>
          <a:ln w="114300">
            <a:solidFill>
              <a:srgbClr val="A8E6B4"/>
            </a:solidFill>
            <a:prstDash val="solid"/>
          </a:ln>
        </p:spPr>
      </p:sp>
      <p:pic>
        <p:nvPicPr>
          <p:cNvPr id="4" name="logo_274" descr="London Language School logo">    </p:cNvPr>
          <p:cNvPicPr>
            <a:picLocks noChangeAspect="1"/>
          </p:cNvPicPr>
          <p:nvPr/>
        </p:nvPicPr>
        <p:blipFill>
          <a:blip r:embed="rId2"/>
          <a:stretch>
            <a:fillRect/>
          </a:stretch>
        </p:blipFill>
        <p:spPr>
          <a:xfrm>
            <a:off x="8275320" y="182880"/>
            <a:ext cx="585216" cy="585216"/>
          </a:xfrm>
          <a:prstGeom prst="rect">
            <a:avLst/>
          </a:prstGeom>
        </p:spPr>
      </p:pic>
      <p:sp>
        <p:nvSpPr>
          <p:cNvPr id="5" name="objective_275"/>
          <p:cNvSpPr txBox="1"/>
          <p:nvPr/>
        </p:nvSpPr>
        <p:spPr>
          <a:xfrm>
            <a:off x="320040" y="182880"/>
            <a:ext cx="4206240" cy="365760"/>
          </a:xfrm>
          <a:prstGeom prst="roundRect">
            <a:avLst>
              <a:gd name="adj" fmla="val 20000"/>
            </a:avLst>
          </a:prstGeom>
          <a:solidFill>
            <a:srgbClr val="062F67"/>
          </a:solidFill>
          <a:ln w="31750">
            <a:solidFill>
              <a:srgbClr val="111111"/>
            </a:solidFill>
          </a:ln>
        </p:spPr>
        <p:txBody>
          <a:bodyPr wrap="square" lIns="101600" tIns="101600" rIns="101600" bIns="101600" rtlCol="0" anchor="ctr"/>
          <a:lstStyle/>
          <a:p>
            <a:pPr indent="0" marL="0">
              <a:buNone/>
            </a:pPr>
            <a:r>
              <a:rPr lang="en-US" sz="900" dirty="0">
                <a:solidFill>
                  <a:srgbClr val="FFFFFF"/>
                </a:solidFill>
                <a:latin typeface="Arial Black" pitchFamily="34" charset="0"/>
                <a:ea typeface="Arial Black" pitchFamily="34" charset="-122"/>
                <a:cs typeface="Arial Black" pitchFamily="34" charset="-120"/>
              </a:rPr>
              <a:t>EXTENSION · Video</a:t>
            </a:r>
            <a:endParaRPr lang="en-US" sz="900" dirty="0"/>
          </a:p>
        </p:txBody>
      </p:sp>
      <p:sp>
        <p:nvSpPr>
          <p:cNvPr id="6" name="footer_276"/>
          <p:cNvSpPr txBox="1"/>
          <p:nvPr/>
        </p:nvSpPr>
        <p:spPr>
          <a:xfrm>
            <a:off x="7315200" y="4818888"/>
            <a:ext cx="1554480" cy="219456"/>
          </a:xfrm>
          <a:prstGeom prst="rect">
            <a:avLst/>
          </a:prstGeom>
          <a:solidFill>
            <a:srgbClr val="FFFFFF"/>
          </a:solidFill>
          <a:ln/>
        </p:spPr>
        <p:txBody>
          <a:bodyPr wrap="square" lIns="0" tIns="0" rIns="0" bIns="0" rtlCol="0" anchor="ctr"/>
          <a:lstStyle/>
          <a:p>
            <a:pPr algn="ctr" indent="0" marL="0">
              <a:buNone/>
            </a:pPr>
            <a:r>
              <a:rPr lang="en-US" sz="1000" dirty="0">
                <a:solidFill>
                  <a:srgbClr val="334155"/>
                </a:solidFill>
                <a:latin typeface="Calibri" pitchFamily="34" charset="0"/>
                <a:ea typeface="Calibri" pitchFamily="34" charset="-122"/>
                <a:cs typeface="Calibri" pitchFamily="34" charset="-120"/>
              </a:rPr>
              <a:t>7A · Part 1</a:t>
            </a:r>
            <a:endParaRPr lang="en-US" sz="1000" dirty="0"/>
          </a:p>
        </p:txBody>
      </p:sp>
      <p:sp>
        <p:nvSpPr>
          <p:cNvPr id="7" name="extra_277"/>
          <p:cNvSpPr txBox="1"/>
          <p:nvPr/>
        </p:nvSpPr>
        <p:spPr>
          <a:xfrm rot="360000">
            <a:off x="6995160" y="228600"/>
            <a:ext cx="1097280" cy="347472"/>
          </a:xfrm>
          <a:prstGeom prst="roundRect">
            <a:avLst>
              <a:gd name="adj" fmla="val 21053"/>
            </a:avLst>
          </a:prstGeom>
          <a:solidFill>
            <a:srgbClr val="1FA463"/>
          </a:solidFill>
          <a:ln w="31750">
            <a:solidFill>
              <a:srgbClr val="111111"/>
            </a:solidFill>
          </a:ln>
        </p:spPr>
        <p:txBody>
          <a:bodyPr wrap="square" rtlCol="0" anchor="ctr"/>
          <a:lstStyle/>
          <a:p>
            <a:pPr algn="ctr" indent="0" marL="0">
              <a:buNone/>
            </a:pPr>
            <a:r>
              <a:rPr lang="en-US" sz="1300" dirty="0">
                <a:solidFill>
                  <a:srgbClr val="FFFFFF"/>
                </a:solidFill>
                <a:latin typeface="Arial Black" pitchFamily="34" charset="0"/>
                <a:ea typeface="Arial Black" pitchFamily="34" charset="-122"/>
                <a:cs typeface="Arial Black" pitchFamily="34" charset="-120"/>
              </a:rPr>
              <a:t>EXTRA</a:t>
            </a:r>
            <a:endParaRPr lang="en-US" sz="1300" dirty="0"/>
          </a:p>
        </p:txBody>
      </p:sp>
      <p:sp>
        <p:nvSpPr>
          <p:cNvPr id="8" name="title_278"/>
          <p:cNvSpPr txBox="1"/>
          <p:nvPr/>
        </p:nvSpPr>
        <p:spPr>
          <a:xfrm rot="-120000">
            <a:off x="320040" y="658368"/>
            <a:ext cx="5193792" cy="548640"/>
          </a:xfrm>
          <a:prstGeom prst="rect">
            <a:avLst/>
          </a:prstGeom>
          <a:solidFill>
            <a:srgbClr val="FFD84D"/>
          </a:solidFill>
          <a:ln w="31750">
            <a:solidFill>
              <a:srgbClr val="111111"/>
            </a:solidFill>
          </a:ln>
          <a:effectLst>
            <a:outerShdw sx="100000" sy="100000" kx="0" ky="0" algn="bl" rotWithShape="0" blurRad="101600" dist="38100" dir="2700000">
              <a:srgbClr val="000000">
                <a:alpha val="35000"/>
              </a:srgbClr>
            </a:outerShdw>
          </a:effectLst>
        </p:spPr>
        <p:txBody>
          <a:bodyPr wrap="square" lIns="127000" tIns="127000" rIns="127000" bIns="127000" rtlCol="0" anchor="ctr"/>
          <a:lstStyle/>
          <a:p>
            <a:pPr indent="0" marL="0">
              <a:buNone/>
            </a:pPr>
            <a:r>
              <a:rPr lang="en-US" sz="1600" dirty="0">
                <a:solidFill>
                  <a:srgbClr val="111111"/>
                </a:solidFill>
                <a:latin typeface="Arial Black" pitchFamily="34" charset="0"/>
                <a:ea typeface="Arial Black" pitchFamily="34" charset="-122"/>
                <a:cs typeface="Arial Black" pitchFamily="34" charset="-120"/>
              </a:rPr>
              <a:t>The real experiment: watch!</a:t>
            </a:r>
            <a:endParaRPr lang="en-US" sz="1600" dirty="0"/>
          </a:p>
        </p:txBody>
      </p:sp>
      <p:sp>
        <p:nvSpPr>
          <p:cNvPr id="9" name="polaroid_279"/>
          <p:cNvSpPr/>
          <p:nvPr/>
        </p:nvSpPr>
        <p:spPr>
          <a:xfrm rot="-180000">
            <a:off x="457200" y="1371600"/>
            <a:ext cx="3017520" cy="1682496"/>
          </a:xfrm>
          <a:prstGeom prst="rect">
            <a:avLst/>
          </a:prstGeom>
          <a:solidFill>
            <a:srgbClr val="FFFFFF"/>
          </a:solidFill>
          <a:ln w="31750">
            <a:solidFill>
              <a:srgbClr val="111111"/>
            </a:solidFill>
            <a:prstDash val="solid"/>
          </a:ln>
          <a:effectLst>
            <a:outerShdw sx="100000" sy="100000" kx="0" ky="0" algn="bl" rotWithShape="0" blurRad="101600" dist="38100" dir="2700000">
              <a:srgbClr val="000000">
                <a:alpha val="35000"/>
              </a:srgbClr>
            </a:outerShdw>
          </a:effectLst>
        </p:spPr>
      </p:sp>
      <p:pic>
        <p:nvPicPr>
          <p:cNvPr id="10" name="photo_280" descr="British students in the experiment">    </p:cNvPr>
          <p:cNvPicPr>
            <a:picLocks noChangeAspect="1"/>
          </p:cNvPicPr>
          <p:nvPr/>
        </p:nvPicPr>
        <p:blipFill>
          <a:blip r:embed="rId3"/>
          <a:srcRect l="0" r="0" t="0" b="0"/>
          <a:stretch/>
        </p:blipFill>
        <p:spPr>
          <a:xfrm rot="-180000">
            <a:off x="548640" y="1463040"/>
            <a:ext cx="2834640" cy="1188720"/>
          </a:xfrm>
          <a:prstGeom prst="rect">
            <a:avLst/>
          </a:prstGeom>
        </p:spPr>
      </p:pic>
      <p:sp>
        <p:nvSpPr>
          <p:cNvPr id="11" name="caption_281"/>
          <p:cNvSpPr txBox="1"/>
          <p:nvPr/>
        </p:nvSpPr>
        <p:spPr>
          <a:xfrm rot="-180000">
            <a:off x="457200" y="2670048"/>
            <a:ext cx="3017520" cy="310896"/>
          </a:xfrm>
          <a:prstGeom prst="rect">
            <a:avLst/>
          </a:prstGeom>
          <a:noFill/>
          <a:ln/>
        </p:spPr>
        <p:txBody>
          <a:bodyPr wrap="square" rtlCol="0" anchor="ctr"/>
          <a:lstStyle/>
          <a:p>
            <a:pPr algn="ctr" indent="0" marL="0">
              <a:buNone/>
            </a:pPr>
            <a:r>
              <a:rPr lang="en-US" sz="1200" i="1" dirty="0">
                <a:solidFill>
                  <a:srgbClr val="111111"/>
                </a:solidFill>
                <a:latin typeface="Calibri" pitchFamily="34" charset="0"/>
                <a:ea typeface="Calibri" pitchFamily="34" charset="-122"/>
                <a:cs typeface="Calibri" pitchFamily="34" charset="-120"/>
              </a:rPr>
              <a:t>BBC Two, 2015</a:t>
            </a:r>
            <a:endParaRPr lang="en-US" sz="1200" dirty="0"/>
          </a:p>
        </p:txBody>
      </p:sp>
      <p:sp>
        <p:nvSpPr>
          <p:cNvPr id="12" name="video_282"/>
          <p:cNvSpPr txBox="1"/>
          <p:nvPr/>
        </p:nvSpPr>
        <p:spPr>
          <a:xfrm>
            <a:off x="3749040" y="1325880"/>
            <a:ext cx="5029200" cy="1417320"/>
          </a:xfrm>
          <a:prstGeom prst="rect">
            <a:avLst/>
          </a:prstGeom>
          <a:solidFill>
            <a:srgbClr val="FFFFFF"/>
          </a:solidFill>
          <a:ln w="31750">
            <a:solidFill>
              <a:srgbClr val="111111"/>
            </a:solidFill>
          </a:ln>
        </p:spPr>
        <p:txBody>
          <a:bodyPr wrap="square" lIns="127000" tIns="127000" rIns="127000" bIns="127000" rtlCol="0" anchor="ctr"/>
          <a:lstStyle/>
          <a:p>
            <a:pPr indent="0" marL="0">
              <a:buNone/>
            </a:pPr>
            <a:r>
              <a:rPr lang="en-US" sz="1500" b="1" dirty="0">
                <a:solidFill>
                  <a:srgbClr val="062F67"/>
                </a:solidFill>
                <a:latin typeface="Calibri" pitchFamily="34" charset="0"/>
                <a:ea typeface="Calibri" pitchFamily="34" charset="-122"/>
                <a:cs typeface="Calibri" pitchFamily="34" charset="-120"/>
              </a:rPr>
              <a:t>Are Our Kids Tough Enough? Chinese School</a:t>
            </a:r>
            <a:endParaRPr lang="en-US" sz="1500" dirty="0"/>
          </a:p>
          <a:p>
            <a:pPr indent="0" marL="0">
              <a:buNone/>
            </a:pPr>
            <a:r>
              <a:rPr lang="en-US" sz="1500" dirty="0">
                <a:solidFill>
                  <a:srgbClr val="111111"/>
                </a:solidFill>
                <a:latin typeface="Calibri" pitchFamily="34" charset="0"/>
                <a:ea typeface="Calibri" pitchFamily="34" charset="-122"/>
                <a:cs typeface="Calibri" pitchFamily="34" charset="-120"/>
              </a:rPr>
              <a:t>The BBC documentary this listening is about. A short news report about it:</a:t>
            </a:r>
            <a:endParaRPr lang="en-US" sz="1500" dirty="0"/>
          </a:p>
          <a:p>
            <a:pPr indent="0" marL="0">
              <a:buNone/>
            </a:pPr>
            <a:r>
              <a:rPr lang="en-US" sz="1500" b="1" u="sng" dirty="0">
                <a:solidFill>
                  <a:srgbClr val="EF2F2F"/>
                </a:solidFill>
                <a:latin typeface="Calibri" pitchFamily="34" charset="0"/>
                <a:ea typeface="Calibri" pitchFamily="34" charset="-122"/>
                <a:cs typeface="Calibri" pitchFamily="34" charset="-120"/>
                <a:hlinkClick r:id="rId4" invalidUrl="" action="" tgtFrame="" tooltip="Are our kids tough enough? BBC film continues to stir debate in China" history="1" highlightClick="0" endSnd="0">
                  <a:extLst>
                    <a:ext uri="{A12FA001-AC4F-418D-AE19-62706E023703}">
                      <ahyp:hlinkClr xmlns:ahyp="http://schemas.microsoft.com/office/drawing/2018/hyperlinkcolor" val="tx"/>
                    </a:ext>
                  </a:extLst>
                </a:hlinkClick>
              </a:rPr>
              <a:t>▶  Open the video (YouTube · New China TV)</a:t>
            </a:r>
            <a:endParaRPr lang="en-US" sz="1500" dirty="0"/>
          </a:p>
        </p:txBody>
      </p:sp>
      <p:sp>
        <p:nvSpPr>
          <p:cNvPr id="13" name="bubble_283"/>
          <p:cNvSpPr txBox="1"/>
          <p:nvPr/>
        </p:nvSpPr>
        <p:spPr>
          <a:xfrm>
            <a:off x="3749040" y="3017520"/>
            <a:ext cx="5029200" cy="1005840"/>
          </a:xfrm>
          <a:prstGeom prst="wedgeRectCallout">
            <a:avLst/>
          </a:prstGeom>
          <a:solidFill>
            <a:srgbClr val="FFD84D"/>
          </a:solidFill>
          <a:ln w="31750">
            <a:solidFill>
              <a:srgbClr val="111111"/>
            </a:solidFill>
          </a:ln>
          <a:effectLst>
            <a:outerShdw sx="100000" sy="100000" kx="0" ky="0" algn="bl" rotWithShape="0" blurRad="101600" dist="38100" dir="2700000">
              <a:srgbClr val="000000">
                <a:alpha val="35000"/>
              </a:srgbClr>
            </a:outerShdw>
          </a:effectLst>
        </p:spPr>
        <p:txBody>
          <a:bodyPr wrap="square" lIns="76200" tIns="76200" rIns="76200" bIns="76200" rtlCol="0" anchor="ctr"/>
          <a:lstStyle/>
          <a:p>
            <a:pPr algn="l" indent="0" marL="0">
              <a:buNone/>
            </a:pPr>
            <a:r>
              <a:rPr lang="en-US" sz="1400" dirty="0">
                <a:solidFill>
                  <a:srgbClr val="111111"/>
                </a:solidFill>
                <a:latin typeface="Calibri" pitchFamily="34" charset="0"/>
                <a:ea typeface="Calibri" pitchFamily="34" charset="-122"/>
                <a:cs typeface="Calibri" pitchFamily="34" charset="-120"/>
              </a:rPr>
              <a:t>While you watch: note 3 differences between the Chinese and British classrooms.</a:t>
            </a:r>
            <a:endParaRPr lang="en-US" sz="1400" dirty="0"/>
          </a:p>
          <a:p>
            <a:pPr algn="l" indent="0" marL="0">
              <a:buNone/>
            </a:pPr>
            <a:r>
              <a:rPr lang="en-US" sz="1400" dirty="0">
                <a:solidFill>
                  <a:srgbClr val="111111"/>
                </a:solidFill>
                <a:latin typeface="Calibri" pitchFamily="34" charset="0"/>
                <a:ea typeface="Calibri" pitchFamily="34" charset="-122"/>
                <a:cs typeface="Calibri" pitchFamily="34" charset="-120"/>
              </a:rPr>
              <a:t>Mentre guardi: scrivi 3 differenze tra le classi cinesi e inglesi.</a:t>
            </a:r>
            <a:endParaRPr lang="en-US" sz="1400" dirty="0"/>
          </a:p>
        </p:txBody>
      </p:sp>
    </p:spTree>
  </p:cSld>
  <p:clrMapOvr>
    <a:masterClrMapping/>
  </p:clrMapOvr>
  <p:transition spd="med">
    <p:push dir="l"/>
  </p:transition>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Black"/>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20</Slides>
  <Notes>20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20</vt:i4>
      </vt:variant>
    </vt:vector>
  </HeadingPairs>
  <TitlesOfParts>
    <vt:vector size="2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vector>
  </TitlesOfParts>
  <Company>London Language School</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B1 7A Live and learn</dc:title>
  <dc:subject>PptxGenJS Presentation</dc:subject>
  <dc:creator>London Language School</dc:creator>
  <cp:lastModifiedBy>London Language School</cp:lastModifiedBy>
  <cp:revision>1</cp:revision>
  <dcterms:created xsi:type="dcterms:W3CDTF">2026-10-05T07:47:22Z</dcterms:created>
  <dcterms:modified xsi:type="dcterms:W3CDTF">2026-10-05T07:47:22Z</dcterms:modified>
</cp:coreProperties>
</file>