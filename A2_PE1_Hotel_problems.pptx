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ENGLISH 1 + FILE 1 REVISION (60 min). ⚠ Built without the SB pages and the PE video (Episode 1 'Hotel problems' — Jenny arrives in London and has problems in her hotel room, then meets Rob). It teaches the same functions (calling reception about a problem; social English for meeting people) with our own model dialogue and role cards. If you have the video, play it after the 'Model call' slide as extra listening. The lesson starts with spaced RETRIEVAL of File 1 (1A–1C) and ends with a team quiz. Timing: cover 2 · retrieval 7 · worst hotel 4 · phone phrases 5 · model call 5 · polite intonation 4 · role play 10 · social English 5 · small talk 6 · team quiz 8 · exit 3 = 59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(7 min). Spaced retrieval of the whole of File 1 — don't show the old slides first! Students write alone (3 min), compare in pairs (1 min), then one click per answer (ask a student first). Ask: 'Which ones did you get wrong? Which do you need to review?' This also tells YOU what to recycle in File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 PRESENT (5 min). Picture first: pairs say what's wrong (1–2 min), then click one by one. These are the three patterns for the whole lesson: It DOESN'T WORK · There's NO… · There AREN'T ANY… – write them on the board. Last question: real stories ('Last year in…') – bad experiences give adults lots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PHRASES (5 min). One click per line; students guess first (in pairs, whispering). Italian traps: 'It doesn't work' (not 'function' / 'go'); 'There aren't any towels' (not 'There are not towels'); 'I'm sorry to bother you' (polite opener — English speakers soften complaints). Drill each guest phrase in chorus with a polite, rising-falling tone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(5 min). Each click reveals the next line — read it with a strong student (you = receptionist). Before revealing the rest, ask: 'What's the problem? What do you think the receptionist will do?' Then pairs read it twice, swapping roles. Second time: cover the dialogue and use only the phrases box. If you have the SB Practical English video (Episode 1), play the hotel scene now: what problems does Jenny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INTONATION (4 min). Say each sentence twice: once flat and bored (rude), once with a wide, friendly voice range. Students vote 1 or 2, then click. English uses intonation to sound polite: a flat voice sounds angry or rude, even with polite words. Italians often have good range — but in a foreign language they go flat. Students repeat the polite version. Fun: ask a student to say 'Thank you so much' as rudely as possible, then as nicely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(10 min). Back to back = real phone conditions (no gestures!). Print the role cards (A2_PE1_Role_cards.pdf) or show each card while the other student looks away. 4 min per call, then swap (B is the guest with new problems on the card). Challenge: the guest is NOT happy with the first solution ('30 minutes? I can't wait 30 minutes!') and the receptionist must offer another. Monitor: It doesn't work / There's no / There aren't any / I'll… Feedback: best polite phrases + 2 errors. ROLE CARDS: the next slides show each role on its own slide, hidden until you click. Show A's card while B students turn round, then B's while A turn round — or use the printable role cards (out/…_Role_cards.pdf) if they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 · Guest (room 208)'s card. Check the others have turned round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B · Receptionist's card. Check the others have turned round BEFORE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ENGLISH (5 min). These are the File 1 Social English phrases from the SB. Students guess in pairs first (meaning is clear from the situation); one click per answer. Notice: 'What's your room LIKE?' = com'è (NOT 'How is your room' — that's about health/feelings!). 'You must be tired' = sarai stanco — must for a logical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TALK (6 min). Personal + local: they are the experts on Bagheria. A tick on the board for each Social English phrase pairs use naturally. Push for follow-up questions (1A skill). Optional: a confident pair performs.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(8 min). Teams write each answer on paper / a mini whiteboard in 30 seconds; reveal one answer per click. Class vs teacher option: if a team is wrong, the TEACHER gets the point — the class wants to beat you! Mixes all of File 1 + today (interleaving).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Self-rating. Tell students next lesson starts File 2 (holidays, past simple). Ask them to think of a holiday that went WRONG — it's the topic of 2A.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FDBA7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FDBA7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171B50"/>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PE1 · Part 2</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PE1</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800" dirty="0">
                <a:solidFill>
                  <a:srgbClr val="E9E2FB"/>
                </a:solidFill>
                <a:latin typeface="Arial Black" pitchFamily="34" charset="0"/>
                <a:ea typeface="Arial Black" pitchFamily="34" charset="-122"/>
                <a:cs typeface="Arial Black" pitchFamily="34" charset="-120"/>
              </a:rPr>
              <a:t>ENGLISH FILE PRE-INT (A2) · PE1 · Part 2 · SB pp.12–13 functions</a:t>
            </a:r>
            <a:endParaRPr lang="en-US" sz="800" dirty="0"/>
          </a:p>
        </p:txBody>
      </p:sp>
      <p:sp>
        <p:nvSpPr>
          <p:cNvPr id="9" name="title_7"/>
          <p:cNvSpPr txBox="1"/>
          <p:nvPr/>
        </p:nvSpPr>
        <p:spPr>
          <a:xfrm rot="120000">
            <a:off x="411480" y="1325880"/>
            <a:ext cx="4096512"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500" dirty="0">
                <a:solidFill>
                  <a:srgbClr val="111111"/>
                </a:solidFill>
                <a:latin typeface="Arial Black" pitchFamily="34" charset="0"/>
                <a:ea typeface="Arial Black" pitchFamily="34" charset="-122"/>
                <a:cs typeface="Arial Black" pitchFamily="34" charset="-120"/>
              </a:rPr>
              <a:t>HOTEL PROBLEMS</a:t>
            </a:r>
            <a:endParaRPr lang="en-US" sz="2500" dirty="0"/>
          </a:p>
        </p:txBody>
      </p:sp>
      <p:sp>
        <p:nvSpPr>
          <p:cNvPr id="10" name="stamp_8"/>
          <p:cNvSpPr txBox="1"/>
          <p:nvPr/>
        </p:nvSpPr>
        <p:spPr>
          <a:xfrm>
            <a:off x="457200" y="2468880"/>
            <a:ext cx="4572000" cy="384048"/>
          </a:xfrm>
          <a:prstGeom prst="roundRect">
            <a:avLst>
              <a:gd name="adj" fmla="val 14286"/>
            </a:avLst>
          </a:prstGeom>
          <a:solidFill>
            <a:srgbClr val="171B50"/>
          </a:solidFill>
          <a:ln w="38100">
            <a:solidFill>
              <a:srgbClr val="48BDF2"/>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PRACTICAL ENGLISH · calling reception: problems</a:t>
            </a:r>
            <a:endParaRPr lang="en-US" sz="1150" dirty="0"/>
          </a:p>
        </p:txBody>
      </p:sp>
      <p:sp>
        <p:nvSpPr>
          <p:cNvPr id="11" name="stamp_9"/>
          <p:cNvSpPr txBox="1"/>
          <p:nvPr/>
        </p:nvSpPr>
        <p:spPr>
          <a:xfrm>
            <a:off x="457200" y="2944368"/>
            <a:ext cx="3140964" cy="384048"/>
          </a:xfrm>
          <a:prstGeom prst="roundRect">
            <a:avLst>
              <a:gd name="adj" fmla="val 14286"/>
            </a:avLst>
          </a:prstGeom>
          <a:solidFill>
            <a:srgbClr val="171B50"/>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SOCIAL ENGLISH · small talk</a:t>
            </a:r>
            <a:endParaRPr lang="en-US" sz="1200" dirty="0"/>
          </a:p>
        </p:txBody>
      </p:sp>
      <p:sp>
        <p:nvSpPr>
          <p:cNvPr id="12" name="stamp_10"/>
          <p:cNvSpPr txBox="1"/>
          <p:nvPr/>
        </p:nvSpPr>
        <p:spPr>
          <a:xfrm>
            <a:off x="457200" y="3419856"/>
            <a:ext cx="2180844" cy="384048"/>
          </a:xfrm>
          <a:prstGeom prst="roundRect">
            <a:avLst>
              <a:gd name="adj" fmla="val 14286"/>
            </a:avLst>
          </a:prstGeom>
          <a:solidFill>
            <a:srgbClr val="171B50"/>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REVISION · File 1</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Buildings">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PhoneCall">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FDBA7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Bed">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50" b="1" dirty="0">
                <a:solidFill>
                  <a:srgbClr val="111111"/>
                </a:solidFill>
                <a:latin typeface="Calibri" pitchFamily="34" charset="0"/>
                <a:ea typeface="Calibri" pitchFamily="34" charset="-122"/>
                <a:cs typeface="Calibri" pitchFamily="34" charset="-120"/>
              </a:rPr>
              <a:t>What's the worst hotel problem you've ever had?</a:t>
            </a:r>
            <a:endParaRPr lang="en-US" sz="135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No hot water… in January! 🥶</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FDBA7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RETRIEVAL · File 1</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23"/>
          <p:cNvSpPr txBox="1"/>
          <p:nvPr/>
        </p:nvSpPr>
        <p:spPr>
          <a:xfrm rot="90000">
            <a:off x="320040" y="676656"/>
            <a:ext cx="502005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Do you remember? No notes!</a:t>
            </a:r>
            <a:endParaRPr lang="en-US" sz="1500" dirty="0"/>
          </a:p>
        </p:txBody>
      </p:sp>
      <p:sp>
        <p:nvSpPr>
          <p:cNvPr id="9" name="tape_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
          <p:cNvSpPr/>
          <p:nvPr/>
        </p:nvSpPr>
        <p:spPr>
          <a:xfrm rot="-720000">
            <a:off x="4773168" y="1069848"/>
            <a:ext cx="685800" cy="219456"/>
          </a:xfrm>
          <a:prstGeom prst="rect">
            <a:avLst/>
          </a:prstGeom>
          <a:solidFill>
            <a:srgbClr val="FFD84D">
              <a:alpha val="75000"/>
            </a:srgbClr>
          </a:solidFill>
          <a:ln w="6350">
            <a:solidFill>
              <a:srgbClr val="FFD84D"/>
            </a:solidFill>
            <a:prstDash val="solid"/>
          </a:ln>
        </p:spPr>
      </p:sp>
      <p:sp>
        <p:nvSpPr>
          <p:cNvPr id="11"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Write your answers alone. NO notes, NO book. Then compare.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Rispondi da solo. NIENTE appunti né libro. Poi confronta.</a:t>
            </a:r>
            <a:endParaRPr lang="en-US" sz="1200" dirty="0"/>
          </a:p>
        </p:txBody>
      </p:sp>
      <p:sp>
        <p:nvSpPr>
          <p:cNvPr id="14" name="iconBack_2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30" descr="pi:PiBrain">    </p:cNvPr>
          <p:cNvPicPr>
            <a:picLocks noChangeAspect="1"/>
          </p:cNvPicPr>
          <p:nvPr/>
        </p:nvPicPr>
        <p:blipFill>
          <a:blip r:embed="rId3"/>
          <a:stretch>
            <a:fillRect/>
          </a:stretch>
        </p:blipFill>
        <p:spPr>
          <a:xfrm>
            <a:off x="914400" y="3474720"/>
            <a:ext cx="685800" cy="685800"/>
          </a:xfrm>
          <a:prstGeom prst="rect">
            <a:avLst/>
          </a:prstGeom>
        </p:spPr>
      </p:pic>
      <p:sp>
        <p:nvSpPr>
          <p:cNvPr id="16" name="example_31"/>
          <p:cNvSpPr txBox="1"/>
          <p:nvPr/>
        </p:nvSpPr>
        <p:spPr>
          <a:xfrm>
            <a:off x="2788920" y="1298448"/>
            <a:ext cx="6035040" cy="420624"/>
          </a:xfrm>
          <a:prstGeom prst="rect">
            <a:avLst/>
          </a:prstGeom>
          <a:solidFill>
            <a:srgbClr val="FFF7CC"/>
          </a:solidFill>
          <a:ln w="15875">
            <a:solidFill>
              <a:srgbClr val="B7950B"/>
            </a:solidFill>
            <a:prstDash val="dash"/>
          </a:ln>
        </p:spPr>
        <p:txBody>
          <a:bodyPr wrap="square" lIns="101600" tIns="101600" rIns="101600" bIns="101600" rtlCol="0" anchor="ctr"/>
          <a:lstStyle/>
          <a:p>
            <a:pPr indent="0" marL="0">
              <a:buNone/>
            </a:pPr>
            <a:r>
              <a:rPr lang="en-US" sz="1350" b="1" dirty="0">
                <a:solidFill>
                  <a:srgbClr val="6D3FC0"/>
                </a:solidFill>
                <a:latin typeface="Calibri" pitchFamily="34" charset="0"/>
                <a:ea typeface="Calibri" pitchFamily="34" charset="-122"/>
                <a:cs typeface="Calibri" pitchFamily="34" charset="-120"/>
              </a:rPr>
              <a:t>Example  </a:t>
            </a:r>
            <a:pPr indent="0" marL="0">
              <a:buNone/>
            </a:pPr>
            <a:r>
              <a:rPr lang="en-US" sz="1350" dirty="0">
                <a:solidFill>
                  <a:srgbClr val="111111"/>
                </a:solidFill>
                <a:latin typeface="Calibri" pitchFamily="34" charset="0"/>
                <a:ea typeface="Calibri" pitchFamily="34" charset="-122"/>
                <a:cs typeface="Calibri" pitchFamily="34" charset="-120"/>
              </a:rPr>
              <a:t>0  Correct it: She have a dog.  →  She has a dog.</a:t>
            </a:r>
            <a:endParaRPr lang="en-US" sz="1350" dirty="0"/>
          </a:p>
        </p:txBody>
      </p:sp>
      <p:sp>
        <p:nvSpPr>
          <p:cNvPr id="17" name="box_32"/>
          <p:cNvSpPr txBox="1"/>
          <p:nvPr/>
        </p:nvSpPr>
        <p:spPr>
          <a:xfrm>
            <a:off x="2788920" y="1810512"/>
            <a:ext cx="1653967" cy="61722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Correct it: Where you live?</a:t>
            </a:r>
            <a:endParaRPr lang="en-US" sz="1300" dirty="0"/>
          </a:p>
        </p:txBody>
      </p:sp>
      <p:sp>
        <p:nvSpPr>
          <p:cNvPr id="18" name="R1_a0"/>
          <p:cNvSpPr txBox="1"/>
          <p:nvPr/>
        </p:nvSpPr>
        <p:spPr>
          <a:xfrm>
            <a:off x="4497751" y="1847088"/>
            <a:ext cx="124468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Where do you live?</a:t>
            </a:r>
            <a:endParaRPr lang="en-US" sz="1200" dirty="0"/>
          </a:p>
        </p:txBody>
      </p:sp>
      <p:sp>
        <p:nvSpPr>
          <p:cNvPr id="19" name="box_33"/>
          <p:cNvSpPr txBox="1"/>
          <p:nvPr/>
        </p:nvSpPr>
        <p:spPr>
          <a:xfrm>
            <a:off x="5870448" y="1810512"/>
            <a:ext cx="1653967" cy="61722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Correct it: What means 'shy'?</a:t>
            </a:r>
            <a:endParaRPr lang="en-US" sz="1300" dirty="0"/>
          </a:p>
        </p:txBody>
      </p:sp>
      <p:sp>
        <p:nvSpPr>
          <p:cNvPr id="20" name="R2_a1"/>
          <p:cNvSpPr txBox="1"/>
          <p:nvPr/>
        </p:nvSpPr>
        <p:spPr>
          <a:xfrm>
            <a:off x="7579279" y="1847088"/>
            <a:ext cx="124468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What does 'shy' mean?</a:t>
            </a:r>
            <a:endParaRPr lang="en-US" sz="1200" dirty="0"/>
          </a:p>
        </p:txBody>
      </p:sp>
      <p:sp>
        <p:nvSpPr>
          <p:cNvPr id="21" name="box_34"/>
          <p:cNvSpPr txBox="1"/>
          <p:nvPr/>
        </p:nvSpPr>
        <p:spPr>
          <a:xfrm>
            <a:off x="2788920" y="2555748"/>
            <a:ext cx="1653967" cy="61722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She ___ (not like) football.</a:t>
            </a:r>
            <a:endParaRPr lang="en-US" sz="1300" dirty="0"/>
          </a:p>
        </p:txBody>
      </p:sp>
      <p:sp>
        <p:nvSpPr>
          <p:cNvPr id="22" name="R3_a2"/>
          <p:cNvSpPr txBox="1"/>
          <p:nvPr/>
        </p:nvSpPr>
        <p:spPr>
          <a:xfrm>
            <a:off x="4497751" y="2592324"/>
            <a:ext cx="124468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doesn't like</a:t>
            </a:r>
            <a:endParaRPr lang="en-US" sz="1200" dirty="0"/>
          </a:p>
        </p:txBody>
      </p:sp>
      <p:sp>
        <p:nvSpPr>
          <p:cNvPr id="23" name="box_35"/>
          <p:cNvSpPr txBox="1"/>
          <p:nvPr/>
        </p:nvSpPr>
        <p:spPr>
          <a:xfrm>
            <a:off x="5870448" y="2555748"/>
            <a:ext cx="1653967" cy="61722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Look! He ___ (wear) a new jacket.</a:t>
            </a:r>
            <a:endParaRPr lang="en-US" sz="1250" dirty="0"/>
          </a:p>
        </p:txBody>
      </p:sp>
      <p:sp>
        <p:nvSpPr>
          <p:cNvPr id="24" name="R4_a3"/>
          <p:cNvSpPr txBox="1"/>
          <p:nvPr/>
        </p:nvSpPr>
        <p:spPr>
          <a:xfrm>
            <a:off x="7579279" y="2592324"/>
            <a:ext cx="124468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 / is wearing</a:t>
            </a:r>
            <a:endParaRPr lang="en-US" sz="1200" dirty="0"/>
          </a:p>
        </p:txBody>
      </p:sp>
      <p:sp>
        <p:nvSpPr>
          <p:cNvPr id="25" name="box_36"/>
          <p:cNvSpPr txBox="1"/>
          <p:nvPr/>
        </p:nvSpPr>
        <p:spPr>
          <a:xfrm>
            <a:off x="2788920" y="3300984"/>
            <a:ext cx="1653967" cy="61722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riccio = ___ hair</a:t>
            </a:r>
            <a:endParaRPr lang="en-US" sz="1300" dirty="0"/>
          </a:p>
        </p:txBody>
      </p:sp>
      <p:sp>
        <p:nvSpPr>
          <p:cNvPr id="26" name="R5_a4"/>
          <p:cNvSpPr txBox="1"/>
          <p:nvPr/>
        </p:nvSpPr>
        <p:spPr>
          <a:xfrm>
            <a:off x="4497751" y="3337560"/>
            <a:ext cx="124468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curly</a:t>
            </a:r>
            <a:endParaRPr lang="en-US" sz="1200" dirty="0"/>
          </a:p>
        </p:txBody>
      </p:sp>
      <p:sp>
        <p:nvSpPr>
          <p:cNvPr id="27" name="box_37"/>
          <p:cNvSpPr txBox="1"/>
          <p:nvPr/>
        </p:nvSpPr>
        <p:spPr>
          <a:xfrm>
            <a:off x="5870448" y="3300984"/>
            <a:ext cx="1653967" cy="61722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pantaloni = ___</a:t>
            </a:r>
            <a:endParaRPr lang="en-US" sz="1300" dirty="0"/>
          </a:p>
        </p:txBody>
      </p:sp>
      <p:sp>
        <p:nvSpPr>
          <p:cNvPr id="28" name="R6_a5"/>
          <p:cNvSpPr txBox="1"/>
          <p:nvPr/>
        </p:nvSpPr>
        <p:spPr>
          <a:xfrm>
            <a:off x="7579279" y="3337560"/>
            <a:ext cx="124468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trousers</a:t>
            </a:r>
            <a:endParaRPr lang="en-US" sz="1200" dirty="0"/>
          </a:p>
        </p:txBody>
      </p:sp>
      <p:sp>
        <p:nvSpPr>
          <p:cNvPr id="29" name="box_38"/>
          <p:cNvSpPr txBox="1"/>
          <p:nvPr/>
        </p:nvSpPr>
        <p:spPr>
          <a:xfrm>
            <a:off x="2788920" y="4046220"/>
            <a:ext cx="1653967" cy="61722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7  A person who talks a lot is ___.</a:t>
            </a:r>
            <a:endParaRPr lang="en-US" sz="1300" dirty="0"/>
          </a:p>
        </p:txBody>
      </p:sp>
      <p:sp>
        <p:nvSpPr>
          <p:cNvPr id="30" name="R7_a6"/>
          <p:cNvSpPr txBox="1"/>
          <p:nvPr/>
        </p:nvSpPr>
        <p:spPr>
          <a:xfrm>
            <a:off x="4497751" y="4082796"/>
            <a:ext cx="124468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talkative</a:t>
            </a:r>
            <a:endParaRPr lang="en-US" sz="1200" dirty="0"/>
          </a:p>
        </p:txBody>
      </p:sp>
      <p:sp>
        <p:nvSpPr>
          <p:cNvPr id="31" name="box_39"/>
          <p:cNvSpPr txBox="1"/>
          <p:nvPr/>
        </p:nvSpPr>
        <p:spPr>
          <a:xfrm>
            <a:off x="5870448" y="4046220"/>
            <a:ext cx="1653967" cy="61722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8  accanto a = ___</a:t>
            </a:r>
            <a:endParaRPr lang="en-US" sz="1300" dirty="0"/>
          </a:p>
        </p:txBody>
      </p:sp>
      <p:sp>
        <p:nvSpPr>
          <p:cNvPr id="32" name="R8_a7"/>
          <p:cNvSpPr txBox="1"/>
          <p:nvPr/>
        </p:nvSpPr>
        <p:spPr>
          <a:xfrm>
            <a:off x="7579279" y="4082796"/>
            <a:ext cx="1244681" cy="544068"/>
          </a:xfrm>
          <a:prstGeom prst="roundRect">
            <a:avLst>
              <a:gd name="adj" fmla="val 1008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next to</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40"/>
          <p:cNvSpPr/>
          <p:nvPr/>
        </p:nvSpPr>
        <p:spPr>
          <a:xfrm>
            <a:off x="54864" y="54864"/>
            <a:ext cx="9034272" cy="5033772"/>
          </a:xfrm>
          <a:prstGeom prst="rect">
            <a:avLst/>
          </a:prstGeom>
          <a:ln w="114300">
            <a:solidFill>
              <a:srgbClr val="FDBA74"/>
            </a:solidFill>
            <a:prstDash val="solid"/>
          </a:ln>
        </p:spPr>
      </p:sp>
      <p:pic>
        <p:nvPicPr>
          <p:cNvPr id="4" name="logo_4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LEAD-IN · Hotel problems</a:t>
            </a:r>
            <a:endParaRPr lang="en-US" sz="900" dirty="0"/>
          </a:p>
        </p:txBody>
      </p:sp>
      <p:sp>
        <p:nvSpPr>
          <p:cNvPr id="6" name="timer_4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4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45"/>
          <p:cNvSpPr txBox="1"/>
          <p:nvPr/>
        </p:nvSpPr>
        <p:spPr>
          <a:xfrm rot="90000">
            <a:off x="320040" y="676656"/>
            <a:ext cx="536752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What's wrong with this room?</a:t>
            </a:r>
            <a:endParaRPr lang="en-US" sz="1500" dirty="0"/>
          </a:p>
        </p:txBody>
      </p:sp>
      <p:sp>
        <p:nvSpPr>
          <p:cNvPr id="9" name="tape_4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47"/>
          <p:cNvSpPr/>
          <p:nvPr/>
        </p:nvSpPr>
        <p:spPr>
          <a:xfrm rot="-720000">
            <a:off x="5120640" y="1069848"/>
            <a:ext cx="685800" cy="219456"/>
          </a:xfrm>
          <a:prstGeom prst="rect">
            <a:avLst/>
          </a:prstGeom>
          <a:solidFill>
            <a:srgbClr val="FFD84D">
              <a:alpha val="75000"/>
            </a:srgbClr>
          </a:solidFill>
          <a:ln w="6350">
            <a:solidFill>
              <a:srgbClr val="FFD84D"/>
            </a:solidFill>
            <a:prstDash val="solid"/>
          </a:ln>
        </p:spPr>
      </p:sp>
      <p:sp>
        <p:nvSpPr>
          <p:cNvPr id="11" name="rsign_48"/>
          <p:cNvSpPr txBox="1"/>
          <p:nvPr/>
        </p:nvSpPr>
        <p:spPr>
          <a:xfrm>
            <a:off x="320040" y="1298448"/>
            <a:ext cx="8503920" cy="384048"/>
          </a:xfrm>
          <a:prstGeom prst="rect">
            <a:avLst/>
          </a:prstGeom>
          <a:solidFill>
            <a:srgbClr val="0E7490"/>
          </a:solidFill>
          <a:ln w="19050">
            <a:solidFill>
              <a:srgbClr val="111111"/>
            </a:solidFill>
          </a:ln>
        </p:spPr>
        <p:txBody>
          <a:bodyPr wrap="square" lIns="101600" tIns="101600" rIns="101600" bIns="101600" rtlCol="0" anchor="ctr"/>
          <a:lstStyle/>
          <a:p>
            <a:pPr indent="0" marL="0">
              <a:buNone/>
            </a:pPr>
            <a:r>
              <a:rPr lang="en-US" sz="900" b="1" dirty="0">
                <a:solidFill>
                  <a:srgbClr val="FFFFFF"/>
                </a:solidFill>
                <a:latin typeface="Arial Black" pitchFamily="34" charset="0"/>
                <a:ea typeface="Arial Black" pitchFamily="34" charset="-122"/>
                <a:cs typeface="Arial Black" pitchFamily="34" charset="-120"/>
              </a:rPr>
              <a:t>LOOK! GUARDA!  </a:t>
            </a:r>
            <a:pPr indent="0" marL="0">
              <a:buNone/>
            </a:pPr>
            <a:r>
              <a:rPr lang="en-US" sz="900" dirty="0">
                <a:solidFill>
                  <a:srgbClr val="FFFFFF"/>
                </a:solidFill>
                <a:latin typeface="Calibri" pitchFamily="34" charset="0"/>
                <a:ea typeface="Calibri" pitchFamily="34" charset="-122"/>
                <a:cs typeface="Calibri" pitchFamily="34" charset="-120"/>
              </a:rPr>
              <a:t>Look at the hotel room. What's wrong? Tell your partner, then click.  </a:t>
            </a:r>
            <a:pPr indent="0" marL="0">
              <a:buNone/>
            </a:pPr>
            <a:r>
              <a:rPr lang="en-US" sz="800" i="1" dirty="0">
                <a:solidFill>
                  <a:srgbClr val="E2E8F0"/>
                </a:solidFill>
                <a:latin typeface="Calibri" pitchFamily="34" charset="0"/>
                <a:ea typeface="Calibri" pitchFamily="34" charset="-122"/>
                <a:cs typeface="Calibri" pitchFamily="34" charset="-120"/>
              </a:rPr>
              <a:t>Guarda la camera d'albergo. Cosa non va? Dillo al compagno, poi clicca.</a:t>
            </a:r>
            <a:endParaRPr lang="en-US" sz="900" dirty="0"/>
          </a:p>
        </p:txBody>
      </p:sp>
      <p:sp>
        <p:nvSpPr>
          <p:cNvPr id="12" name="pf_49"/>
          <p:cNvSpPr/>
          <p:nvPr/>
        </p:nvSpPr>
        <p:spPr>
          <a:xfrm>
            <a:off x="320040" y="1810512"/>
            <a:ext cx="4572000" cy="2857500"/>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13" name="pimg_50" descr="A hotel room: no Wi-Fi, the air conditioning is broken, the guest is hot, the shower is cold, noise behind the door, no towels">    </p:cNvPr>
          <p:cNvPicPr>
            <a:picLocks noChangeAspect="1"/>
          </p:cNvPicPr>
          <p:nvPr/>
        </p:nvPicPr>
        <p:blipFill>
          <a:blip r:embed="rId3"/>
          <a:stretch>
            <a:fillRect/>
          </a:stretch>
        </p:blipFill>
        <p:spPr>
          <a:xfrm>
            <a:off x="365760" y="1856232"/>
            <a:ext cx="4480560" cy="2766060"/>
          </a:xfrm>
          <a:prstGeom prst="rect">
            <a:avLst/>
          </a:prstGeom>
        </p:spPr>
      </p:pic>
      <p:sp>
        <p:nvSpPr>
          <p:cNvPr id="14" name="box_51"/>
          <p:cNvSpPr txBox="1"/>
          <p:nvPr/>
        </p:nvSpPr>
        <p:spPr>
          <a:xfrm>
            <a:off x="5056632" y="1810512"/>
            <a:ext cx="1695298" cy="42672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the Wi-Fi?</a:t>
            </a:r>
            <a:endParaRPr lang="en-US" sz="1150" dirty="0"/>
          </a:p>
        </p:txBody>
      </p:sp>
      <p:sp>
        <p:nvSpPr>
          <p:cNvPr id="15" name="R1_qa0"/>
          <p:cNvSpPr txBox="1"/>
          <p:nvPr/>
        </p:nvSpPr>
        <p:spPr>
          <a:xfrm>
            <a:off x="6797650" y="1837944"/>
            <a:ext cx="2026310" cy="371856"/>
          </a:xfrm>
          <a:prstGeom prst="roundRect">
            <a:avLst>
              <a:gd name="adj" fmla="val 147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 Wi-Fi doesn't work.</a:t>
            </a:r>
            <a:endParaRPr lang="en-US" sz="1050" dirty="0"/>
          </a:p>
        </p:txBody>
      </p:sp>
      <p:sp>
        <p:nvSpPr>
          <p:cNvPr id="16" name="box_52"/>
          <p:cNvSpPr txBox="1"/>
          <p:nvPr/>
        </p:nvSpPr>
        <p:spPr>
          <a:xfrm>
            <a:off x="5056632" y="2301240"/>
            <a:ext cx="1695298" cy="42672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the air conditioning?</a:t>
            </a:r>
            <a:endParaRPr lang="en-US" sz="1150" dirty="0"/>
          </a:p>
        </p:txBody>
      </p:sp>
      <p:sp>
        <p:nvSpPr>
          <p:cNvPr id="17" name="R2_qa1"/>
          <p:cNvSpPr txBox="1"/>
          <p:nvPr/>
        </p:nvSpPr>
        <p:spPr>
          <a:xfrm>
            <a:off x="6797650" y="2328672"/>
            <a:ext cx="2026310" cy="371856"/>
          </a:xfrm>
          <a:prstGeom prst="roundRect">
            <a:avLst>
              <a:gd name="adj" fmla="val 147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It doesn't work. It's really hot!</a:t>
            </a:r>
            <a:endParaRPr lang="en-US" sz="1050" dirty="0"/>
          </a:p>
        </p:txBody>
      </p:sp>
      <p:sp>
        <p:nvSpPr>
          <p:cNvPr id="18" name="box_53"/>
          <p:cNvSpPr txBox="1"/>
          <p:nvPr/>
        </p:nvSpPr>
        <p:spPr>
          <a:xfrm>
            <a:off x="5056632" y="2791968"/>
            <a:ext cx="1695298" cy="42672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the shower?</a:t>
            </a:r>
            <a:endParaRPr lang="en-US" sz="1150" dirty="0"/>
          </a:p>
        </p:txBody>
      </p:sp>
      <p:sp>
        <p:nvSpPr>
          <p:cNvPr id="19" name="R3_qa2"/>
          <p:cNvSpPr txBox="1"/>
          <p:nvPr/>
        </p:nvSpPr>
        <p:spPr>
          <a:xfrm>
            <a:off x="6797650" y="2819400"/>
            <a:ext cx="2026310" cy="371856"/>
          </a:xfrm>
          <a:prstGeom prst="roundRect">
            <a:avLst>
              <a:gd name="adj" fmla="val 147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There's no hot water.</a:t>
            </a:r>
            <a:endParaRPr lang="en-US" sz="1050" dirty="0"/>
          </a:p>
        </p:txBody>
      </p:sp>
      <p:sp>
        <p:nvSpPr>
          <p:cNvPr id="20" name="box_54"/>
          <p:cNvSpPr txBox="1"/>
          <p:nvPr/>
        </p:nvSpPr>
        <p:spPr>
          <a:xfrm>
            <a:off x="5056632" y="3282696"/>
            <a:ext cx="1695298" cy="42672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next door?</a:t>
            </a:r>
            <a:endParaRPr lang="en-US" sz="1150" dirty="0"/>
          </a:p>
        </p:txBody>
      </p:sp>
      <p:sp>
        <p:nvSpPr>
          <p:cNvPr id="21" name="R4_qa3"/>
          <p:cNvSpPr txBox="1"/>
          <p:nvPr/>
        </p:nvSpPr>
        <p:spPr>
          <a:xfrm>
            <a:off x="6797650" y="3310128"/>
            <a:ext cx="2026310" cy="371856"/>
          </a:xfrm>
          <a:prstGeom prst="roundRect">
            <a:avLst>
              <a:gd name="adj" fmla="val 147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 people next door are very noisy.</a:t>
            </a:r>
            <a:endParaRPr lang="en-US" sz="1050" dirty="0"/>
          </a:p>
        </p:txBody>
      </p:sp>
      <p:sp>
        <p:nvSpPr>
          <p:cNvPr id="22" name="box_55"/>
          <p:cNvSpPr txBox="1"/>
          <p:nvPr/>
        </p:nvSpPr>
        <p:spPr>
          <a:xfrm>
            <a:off x="5056632" y="3773424"/>
            <a:ext cx="1695298" cy="42672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towels?</a:t>
            </a:r>
            <a:endParaRPr lang="en-US" sz="1150" dirty="0"/>
          </a:p>
        </p:txBody>
      </p:sp>
      <p:sp>
        <p:nvSpPr>
          <p:cNvPr id="23" name="R5_qa4"/>
          <p:cNvSpPr txBox="1"/>
          <p:nvPr/>
        </p:nvSpPr>
        <p:spPr>
          <a:xfrm>
            <a:off x="6797650" y="3800856"/>
            <a:ext cx="2026310" cy="371856"/>
          </a:xfrm>
          <a:prstGeom prst="roundRect">
            <a:avLst>
              <a:gd name="adj" fmla="val 147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There aren't any towels.</a:t>
            </a:r>
            <a:endParaRPr lang="en-US" sz="1050" dirty="0"/>
          </a:p>
        </p:txBody>
      </p:sp>
      <p:sp>
        <p:nvSpPr>
          <p:cNvPr id="24" name="box_56"/>
          <p:cNvSpPr txBox="1"/>
          <p:nvPr/>
        </p:nvSpPr>
        <p:spPr>
          <a:xfrm>
            <a:off x="5056632" y="4264152"/>
            <a:ext cx="1695298" cy="42672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6  Has it happened to you?</a:t>
            </a:r>
            <a:endParaRPr lang="en-US" sz="950" dirty="0"/>
          </a:p>
        </p:txBody>
      </p:sp>
      <p:sp>
        <p:nvSpPr>
          <p:cNvPr id="25" name="R6_qa5"/>
          <p:cNvSpPr txBox="1"/>
          <p:nvPr/>
        </p:nvSpPr>
        <p:spPr>
          <a:xfrm>
            <a:off x="6797650" y="4291584"/>
            <a:ext cx="2026310" cy="371856"/>
          </a:xfrm>
          <a:prstGeom prst="roundRect">
            <a:avLst>
              <a:gd name="adj" fmla="val 147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open – Yes, in… / No, never.</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7"/>
          <p:cNvSpPr/>
          <p:nvPr/>
        </p:nvSpPr>
        <p:spPr>
          <a:xfrm>
            <a:off x="54864" y="54864"/>
            <a:ext cx="9034272" cy="5033772"/>
          </a:xfrm>
          <a:prstGeom prst="rect">
            <a:avLst/>
          </a:prstGeom>
          <a:ln w="114300">
            <a:solidFill>
              <a:srgbClr val="FDBA74"/>
            </a:solidFill>
            <a:prstDash val="solid"/>
          </a:ln>
        </p:spPr>
      </p:sp>
      <p:pic>
        <p:nvPicPr>
          <p:cNvPr id="4" name="logo_5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5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On the phone</a:t>
            </a:r>
            <a:endParaRPr lang="en-US" sz="900" dirty="0"/>
          </a:p>
        </p:txBody>
      </p:sp>
      <p:sp>
        <p:nvSpPr>
          <p:cNvPr id="6" name="timer_6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6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62"/>
          <p:cNvSpPr txBox="1"/>
          <p:nvPr/>
        </p:nvSpPr>
        <p:spPr>
          <a:xfrm rot="90000">
            <a:off x="320040" y="676656"/>
            <a:ext cx="675741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Calling reception: what do they say?</a:t>
            </a:r>
            <a:endParaRPr lang="en-US" sz="1500" dirty="0"/>
          </a:p>
        </p:txBody>
      </p:sp>
      <p:sp>
        <p:nvSpPr>
          <p:cNvPr id="9" name="tape_6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64"/>
          <p:cNvSpPr/>
          <p:nvPr/>
        </p:nvSpPr>
        <p:spPr>
          <a:xfrm rot="-720000">
            <a:off x="6510528" y="1069848"/>
            <a:ext cx="685800" cy="219456"/>
          </a:xfrm>
          <a:prstGeom prst="rect">
            <a:avLst/>
          </a:prstGeom>
          <a:solidFill>
            <a:srgbClr val="FFD84D">
              <a:alpha val="75000"/>
            </a:srgbClr>
          </a:solidFill>
          <a:ln w="6350">
            <a:solidFill>
              <a:srgbClr val="FFD84D"/>
            </a:solidFill>
            <a:prstDash val="solid"/>
          </a:ln>
        </p:spPr>
      </p:sp>
      <p:sp>
        <p:nvSpPr>
          <p:cNvPr id="11" name="post_6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6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6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R = receptionist, G = guest. Say it in English with your partner. Then click.</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R = receptionist, G = ospite. Ditelo in inglese in coppia. Poi cliccate.</a:t>
            </a:r>
            <a:endParaRPr lang="en-US" sz="1100" dirty="0"/>
          </a:p>
        </p:txBody>
      </p:sp>
      <p:sp>
        <p:nvSpPr>
          <p:cNvPr id="14" name="iconBack_6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69" descr="pi:PiPhoneCall">    </p:cNvPr>
          <p:cNvPicPr>
            <a:picLocks noChangeAspect="1"/>
          </p:cNvPicPr>
          <p:nvPr/>
        </p:nvPicPr>
        <p:blipFill>
          <a:blip r:embed="rId3"/>
          <a:stretch>
            <a:fillRect/>
          </a:stretch>
        </p:blipFill>
        <p:spPr>
          <a:xfrm>
            <a:off x="914400" y="3474720"/>
            <a:ext cx="685800" cy="685800"/>
          </a:xfrm>
          <a:prstGeom prst="rect">
            <a:avLst/>
          </a:prstGeom>
        </p:spPr>
      </p:pic>
      <p:sp>
        <p:nvSpPr>
          <p:cNvPr id="16" name="example_70"/>
          <p:cNvSpPr txBox="1"/>
          <p:nvPr/>
        </p:nvSpPr>
        <p:spPr>
          <a:xfrm>
            <a:off x="2788920" y="1298448"/>
            <a:ext cx="6035040" cy="420624"/>
          </a:xfrm>
          <a:prstGeom prst="rect">
            <a:avLst/>
          </a:prstGeom>
          <a:solidFill>
            <a:srgbClr val="FFF7CC"/>
          </a:solidFill>
          <a:ln w="15875">
            <a:solidFill>
              <a:srgbClr val="B7950B"/>
            </a:solidFill>
            <a:prstDash val="dash"/>
          </a:ln>
        </p:spPr>
        <p:txBody>
          <a:bodyPr wrap="square" lIns="101600" tIns="101600" rIns="101600" bIns="101600" rtlCol="0" anchor="ctr"/>
          <a:lstStyle/>
          <a:p>
            <a:pPr indent="0" marL="0">
              <a:buNone/>
            </a:pPr>
            <a:r>
              <a:rPr lang="en-US" sz="1250" b="1" dirty="0">
                <a:solidFill>
                  <a:srgbClr val="6D3FC0"/>
                </a:solidFill>
                <a:latin typeface="Calibri" pitchFamily="34" charset="0"/>
                <a:ea typeface="Calibri" pitchFamily="34" charset="-122"/>
                <a:cs typeface="Calibri" pitchFamily="34" charset="-120"/>
              </a:rPr>
              <a:t>Example  </a:t>
            </a:r>
            <a:pPr indent="0" marL="0">
              <a:buNone/>
            </a:pPr>
            <a:r>
              <a:rPr lang="en-US" sz="1250" dirty="0">
                <a:solidFill>
                  <a:srgbClr val="111111"/>
                </a:solidFill>
                <a:latin typeface="Calibri" pitchFamily="34" charset="0"/>
                <a:ea typeface="Calibri" pitchFamily="34" charset="-122"/>
                <a:cs typeface="Calibri" pitchFamily="34" charset="-120"/>
              </a:rPr>
              <a:t>0  G: Pronto, sono la camera 12.  →  Hello, this is room 12.</a:t>
            </a:r>
            <a:endParaRPr lang="en-US" sz="1250" dirty="0"/>
          </a:p>
        </p:txBody>
      </p:sp>
      <p:sp>
        <p:nvSpPr>
          <p:cNvPr id="17" name="box_71"/>
          <p:cNvSpPr txBox="1"/>
          <p:nvPr/>
        </p:nvSpPr>
        <p:spPr>
          <a:xfrm>
            <a:off x="2788920" y="1810512"/>
            <a:ext cx="3017520" cy="297833"/>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1  R: Buonasera, come posso aiutarla?</a:t>
            </a:r>
            <a:endParaRPr lang="en-US" sz="900" dirty="0"/>
          </a:p>
        </p:txBody>
      </p:sp>
      <p:sp>
        <p:nvSpPr>
          <p:cNvPr id="18" name="R1_a0"/>
          <p:cNvSpPr txBox="1"/>
          <p:nvPr/>
        </p:nvSpPr>
        <p:spPr>
          <a:xfrm>
            <a:off x="5861304" y="1847088"/>
            <a:ext cx="2962656" cy="224681"/>
          </a:xfrm>
          <a:prstGeom prst="roundRect">
            <a:avLst>
              <a:gd name="adj" fmla="val 2441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Good evening, reception. How can I help you?</a:t>
            </a:r>
            <a:endParaRPr lang="en-US" sz="1050" dirty="0"/>
          </a:p>
        </p:txBody>
      </p:sp>
      <p:sp>
        <p:nvSpPr>
          <p:cNvPr id="19" name="box_72"/>
          <p:cNvSpPr txBox="1"/>
          <p:nvPr/>
        </p:nvSpPr>
        <p:spPr>
          <a:xfrm>
            <a:off x="2788920" y="2236361"/>
            <a:ext cx="3017520" cy="297833"/>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2  G: Mi scusi se la disturbo, ma…</a:t>
            </a:r>
            <a:endParaRPr lang="en-US" sz="900" dirty="0"/>
          </a:p>
        </p:txBody>
      </p:sp>
      <p:sp>
        <p:nvSpPr>
          <p:cNvPr id="20" name="R2_a1"/>
          <p:cNvSpPr txBox="1"/>
          <p:nvPr/>
        </p:nvSpPr>
        <p:spPr>
          <a:xfrm>
            <a:off x="5861304" y="2272937"/>
            <a:ext cx="2962656" cy="224681"/>
          </a:xfrm>
          <a:prstGeom prst="roundRect">
            <a:avLst>
              <a:gd name="adj" fmla="val 2441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I'm sorry to bother you, but…</a:t>
            </a:r>
            <a:endParaRPr lang="en-US" sz="1100" dirty="0"/>
          </a:p>
        </p:txBody>
      </p:sp>
      <p:sp>
        <p:nvSpPr>
          <p:cNvPr id="21" name="box_73"/>
          <p:cNvSpPr txBox="1"/>
          <p:nvPr/>
        </p:nvSpPr>
        <p:spPr>
          <a:xfrm>
            <a:off x="2788920" y="2662210"/>
            <a:ext cx="3017520" cy="297833"/>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3  G: C'è un problema con l'aria condizionata.</a:t>
            </a:r>
            <a:endParaRPr lang="en-US" sz="900" dirty="0"/>
          </a:p>
        </p:txBody>
      </p:sp>
      <p:sp>
        <p:nvSpPr>
          <p:cNvPr id="22" name="R3_a2"/>
          <p:cNvSpPr txBox="1"/>
          <p:nvPr/>
        </p:nvSpPr>
        <p:spPr>
          <a:xfrm>
            <a:off x="5861304" y="2698786"/>
            <a:ext cx="2962656" cy="224681"/>
          </a:xfrm>
          <a:prstGeom prst="roundRect">
            <a:avLst>
              <a:gd name="adj" fmla="val 2441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There's a problem with the air conditioning.</a:t>
            </a:r>
            <a:endParaRPr lang="en-US" sz="1100" dirty="0"/>
          </a:p>
        </p:txBody>
      </p:sp>
      <p:sp>
        <p:nvSpPr>
          <p:cNvPr id="23" name="box_74"/>
          <p:cNvSpPr txBox="1"/>
          <p:nvPr/>
        </p:nvSpPr>
        <p:spPr>
          <a:xfrm>
            <a:off x="2788920" y="3088059"/>
            <a:ext cx="3017520" cy="297833"/>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4  G: Non funziona.</a:t>
            </a:r>
            <a:endParaRPr lang="en-US" sz="900" dirty="0"/>
          </a:p>
        </p:txBody>
      </p:sp>
      <p:sp>
        <p:nvSpPr>
          <p:cNvPr id="24" name="R4_a3"/>
          <p:cNvSpPr txBox="1"/>
          <p:nvPr/>
        </p:nvSpPr>
        <p:spPr>
          <a:xfrm>
            <a:off x="5861304" y="3124635"/>
            <a:ext cx="2962656" cy="224681"/>
          </a:xfrm>
          <a:prstGeom prst="roundRect">
            <a:avLst>
              <a:gd name="adj" fmla="val 2441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It doesn't work. (NOT It doesn't function)</a:t>
            </a:r>
            <a:endParaRPr lang="en-US" sz="1100" dirty="0"/>
          </a:p>
        </p:txBody>
      </p:sp>
      <p:sp>
        <p:nvSpPr>
          <p:cNvPr id="25" name="box_75"/>
          <p:cNvSpPr txBox="1"/>
          <p:nvPr/>
        </p:nvSpPr>
        <p:spPr>
          <a:xfrm>
            <a:off x="2788920" y="3513909"/>
            <a:ext cx="3017520" cy="297833"/>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5  G: Non ci sono asciugamani.</a:t>
            </a:r>
            <a:endParaRPr lang="en-US" sz="900" dirty="0"/>
          </a:p>
        </p:txBody>
      </p:sp>
      <p:sp>
        <p:nvSpPr>
          <p:cNvPr id="26" name="R5_a4"/>
          <p:cNvSpPr txBox="1"/>
          <p:nvPr/>
        </p:nvSpPr>
        <p:spPr>
          <a:xfrm>
            <a:off x="5861304" y="3550485"/>
            <a:ext cx="2962656" cy="224681"/>
          </a:xfrm>
          <a:prstGeom prst="roundRect">
            <a:avLst>
              <a:gd name="adj" fmla="val 2441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There aren't any towels.</a:t>
            </a:r>
            <a:endParaRPr lang="en-US" sz="1100" dirty="0"/>
          </a:p>
        </p:txBody>
      </p:sp>
      <p:sp>
        <p:nvSpPr>
          <p:cNvPr id="27" name="box_76"/>
          <p:cNvSpPr txBox="1"/>
          <p:nvPr/>
        </p:nvSpPr>
        <p:spPr>
          <a:xfrm>
            <a:off x="2788920" y="3939758"/>
            <a:ext cx="3017520" cy="297833"/>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6  R: Mando subito qualcuno.</a:t>
            </a:r>
            <a:endParaRPr lang="en-US" sz="900" dirty="0"/>
          </a:p>
        </p:txBody>
      </p:sp>
      <p:sp>
        <p:nvSpPr>
          <p:cNvPr id="28" name="R6_a5"/>
          <p:cNvSpPr txBox="1"/>
          <p:nvPr/>
        </p:nvSpPr>
        <p:spPr>
          <a:xfrm>
            <a:off x="5861304" y="3976334"/>
            <a:ext cx="2962656" cy="224681"/>
          </a:xfrm>
          <a:prstGeom prst="roundRect">
            <a:avLst>
              <a:gd name="adj" fmla="val 2441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I'll send someone up right away.</a:t>
            </a:r>
            <a:endParaRPr lang="en-US" sz="1100" dirty="0"/>
          </a:p>
        </p:txBody>
      </p:sp>
      <p:sp>
        <p:nvSpPr>
          <p:cNvPr id="29" name="box_77"/>
          <p:cNvSpPr txBox="1"/>
          <p:nvPr/>
        </p:nvSpPr>
        <p:spPr>
          <a:xfrm>
            <a:off x="2788920" y="4365607"/>
            <a:ext cx="3017520" cy="297833"/>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7  R: Le passo il reparto IT.</a:t>
            </a:r>
            <a:endParaRPr lang="en-US" sz="900" dirty="0"/>
          </a:p>
        </p:txBody>
      </p:sp>
      <p:sp>
        <p:nvSpPr>
          <p:cNvPr id="30" name="R7_a6"/>
          <p:cNvSpPr txBox="1"/>
          <p:nvPr/>
        </p:nvSpPr>
        <p:spPr>
          <a:xfrm>
            <a:off x="5861304" y="4402183"/>
            <a:ext cx="2962656" cy="224681"/>
          </a:xfrm>
          <a:prstGeom prst="roundRect">
            <a:avLst>
              <a:gd name="adj" fmla="val 2441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I'll put you through to IT.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8"/>
          <p:cNvSpPr/>
          <p:nvPr/>
        </p:nvSpPr>
        <p:spPr>
          <a:xfrm>
            <a:off x="54864" y="54864"/>
            <a:ext cx="9034272" cy="5033772"/>
          </a:xfrm>
          <a:prstGeom prst="rect">
            <a:avLst/>
          </a:prstGeom>
          <a:ln w="114300">
            <a:solidFill>
              <a:srgbClr val="FDBA74"/>
            </a:solidFill>
            <a:prstDash val="solid"/>
          </a:ln>
        </p:spPr>
      </p:sp>
      <p:pic>
        <p:nvPicPr>
          <p:cNvPr id="4" name="logo_7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PRACTICAL ENGLISH · Model call</a:t>
            </a:r>
            <a:endParaRPr lang="en-US" sz="900" dirty="0"/>
          </a:p>
        </p:txBody>
      </p:sp>
      <p:sp>
        <p:nvSpPr>
          <p:cNvPr id="6" name="timer_8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8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83"/>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Room 314 has a problem</a:t>
            </a:r>
            <a:endParaRPr lang="en-US" sz="1500" dirty="0"/>
          </a:p>
        </p:txBody>
      </p:sp>
      <p:sp>
        <p:nvSpPr>
          <p:cNvPr id="9" name="tape_8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85"/>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1" name="post_8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87"/>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8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Teacher and a student read it. Then: what's the problem? What will they do?</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L'insegnante e uno studente leggono. Qual è il problema? Cosa faranno?</a:t>
            </a:r>
            <a:endParaRPr lang="en-US" sz="1050" dirty="0"/>
          </a:p>
        </p:txBody>
      </p:sp>
      <p:sp>
        <p:nvSpPr>
          <p:cNvPr id="14" name="R1_l0"/>
          <p:cNvSpPr txBox="1"/>
          <p:nvPr/>
        </p:nvSpPr>
        <p:spPr>
          <a:xfrm>
            <a:off x="2788920" y="137160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950" b="1" dirty="0">
                <a:solidFill>
                  <a:srgbClr val="EF2F2F"/>
                </a:solidFill>
                <a:latin typeface="Calibri" pitchFamily="34" charset="0"/>
                <a:ea typeface="Calibri" pitchFamily="34" charset="-122"/>
                <a:cs typeface="Calibri" pitchFamily="34" charset="-120"/>
              </a:rPr>
              <a:t>Receptionist: </a:t>
            </a:r>
            <a:pPr indent="0" marL="0">
              <a:buNone/>
            </a:pPr>
            <a:r>
              <a:rPr lang="en-US" sz="950" dirty="0">
                <a:solidFill>
                  <a:srgbClr val="111111"/>
                </a:solidFill>
                <a:latin typeface="Calibri" pitchFamily="34" charset="0"/>
                <a:ea typeface="Calibri" pitchFamily="34" charset="-122"/>
                <a:cs typeface="Calibri" pitchFamily="34" charset="-120"/>
              </a:rPr>
              <a:t>Good evening, reception. How can I help you?</a:t>
            </a:r>
            <a:endParaRPr lang="en-US" sz="950" dirty="0"/>
          </a:p>
        </p:txBody>
      </p:sp>
      <p:sp>
        <p:nvSpPr>
          <p:cNvPr id="15" name="R2_l1"/>
          <p:cNvSpPr txBox="1"/>
          <p:nvPr/>
        </p:nvSpPr>
        <p:spPr>
          <a:xfrm>
            <a:off x="3108960" y="193548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950" b="1" dirty="0">
                <a:solidFill>
                  <a:srgbClr val="062F67"/>
                </a:solidFill>
                <a:latin typeface="Calibri" pitchFamily="34" charset="0"/>
                <a:ea typeface="Calibri" pitchFamily="34" charset="-122"/>
                <a:cs typeface="Calibri" pitchFamily="34" charset="-120"/>
              </a:rPr>
              <a:t>Guest: </a:t>
            </a:r>
            <a:pPr indent="0" marL="0">
              <a:buNone/>
            </a:pPr>
            <a:r>
              <a:rPr lang="en-US" sz="950" dirty="0">
                <a:solidFill>
                  <a:srgbClr val="111111"/>
                </a:solidFill>
                <a:latin typeface="Calibri" pitchFamily="34" charset="0"/>
                <a:ea typeface="Calibri" pitchFamily="34" charset="-122"/>
                <a:cs typeface="Calibri" pitchFamily="34" charset="-120"/>
              </a:rPr>
              <a:t>Hello, this is room 314. I'm sorry to bother you, but there's a problem with the air conditioning.</a:t>
            </a:r>
            <a:endParaRPr lang="en-US" sz="950" dirty="0"/>
          </a:p>
        </p:txBody>
      </p:sp>
      <p:sp>
        <p:nvSpPr>
          <p:cNvPr id="16" name="R3_l2"/>
          <p:cNvSpPr txBox="1"/>
          <p:nvPr/>
        </p:nvSpPr>
        <p:spPr>
          <a:xfrm>
            <a:off x="2788920" y="249936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000" b="1" dirty="0">
                <a:solidFill>
                  <a:srgbClr val="EF2F2F"/>
                </a:solidFill>
                <a:latin typeface="Calibri" pitchFamily="34" charset="0"/>
                <a:ea typeface="Calibri" pitchFamily="34" charset="-122"/>
                <a:cs typeface="Calibri" pitchFamily="34" charset="-120"/>
              </a:rPr>
              <a:t>Receptionist: </a:t>
            </a:r>
            <a:pPr indent="0" marL="0">
              <a:buNone/>
            </a:pPr>
            <a:r>
              <a:rPr lang="en-US" sz="1000" dirty="0">
                <a:solidFill>
                  <a:srgbClr val="111111"/>
                </a:solidFill>
                <a:latin typeface="Calibri" pitchFamily="34" charset="0"/>
                <a:ea typeface="Calibri" pitchFamily="34" charset="-122"/>
                <a:cs typeface="Calibri" pitchFamily="34" charset="-120"/>
              </a:rPr>
              <a:t>Oh, I'm sorry. What's the problem exactly?</a:t>
            </a:r>
            <a:endParaRPr lang="en-US" sz="1000" dirty="0"/>
          </a:p>
        </p:txBody>
      </p:sp>
      <p:sp>
        <p:nvSpPr>
          <p:cNvPr id="17" name="R4_l3"/>
          <p:cNvSpPr txBox="1"/>
          <p:nvPr/>
        </p:nvSpPr>
        <p:spPr>
          <a:xfrm>
            <a:off x="3108960" y="306324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950" b="1" dirty="0">
                <a:solidFill>
                  <a:srgbClr val="062F67"/>
                </a:solidFill>
                <a:latin typeface="Calibri" pitchFamily="34" charset="0"/>
                <a:ea typeface="Calibri" pitchFamily="34" charset="-122"/>
                <a:cs typeface="Calibri" pitchFamily="34" charset="-120"/>
              </a:rPr>
              <a:t>Guest: </a:t>
            </a:r>
            <a:pPr indent="0" marL="0">
              <a:buNone/>
            </a:pPr>
            <a:r>
              <a:rPr lang="en-US" sz="950" dirty="0">
                <a:solidFill>
                  <a:srgbClr val="111111"/>
                </a:solidFill>
                <a:latin typeface="Calibri" pitchFamily="34" charset="0"/>
                <a:ea typeface="Calibri" pitchFamily="34" charset="-122"/>
                <a:cs typeface="Calibri" pitchFamily="34" charset="-120"/>
              </a:rPr>
              <a:t>It doesn't work. It's really hot in here! And there aren't any towels in the bathroom.</a:t>
            </a:r>
            <a:endParaRPr lang="en-US" sz="950" dirty="0"/>
          </a:p>
        </p:txBody>
      </p:sp>
      <p:sp>
        <p:nvSpPr>
          <p:cNvPr id="18" name="R5_l4"/>
          <p:cNvSpPr txBox="1"/>
          <p:nvPr/>
        </p:nvSpPr>
        <p:spPr>
          <a:xfrm>
            <a:off x="2788920" y="362712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950" b="1" dirty="0">
                <a:solidFill>
                  <a:srgbClr val="EF2F2F"/>
                </a:solidFill>
                <a:latin typeface="Calibri" pitchFamily="34" charset="0"/>
                <a:ea typeface="Calibri" pitchFamily="34" charset="-122"/>
                <a:cs typeface="Calibri" pitchFamily="34" charset="-120"/>
              </a:rPr>
              <a:t>Receptionist: </a:t>
            </a:r>
            <a:pPr indent="0" marL="0">
              <a:buNone/>
            </a:pPr>
            <a:r>
              <a:rPr lang="en-US" sz="950" dirty="0">
                <a:solidFill>
                  <a:srgbClr val="111111"/>
                </a:solidFill>
                <a:latin typeface="Calibri" pitchFamily="34" charset="0"/>
                <a:ea typeface="Calibri" pitchFamily="34" charset="-122"/>
                <a:cs typeface="Calibri" pitchFamily="34" charset="-120"/>
              </a:rPr>
              <a:t>I'm very sorry. I'll send someone up right away, and I'll bring you some towels in five minutes.</a:t>
            </a:r>
            <a:endParaRPr lang="en-US" sz="950" dirty="0"/>
          </a:p>
        </p:txBody>
      </p:sp>
      <p:sp>
        <p:nvSpPr>
          <p:cNvPr id="19" name="R6_l5"/>
          <p:cNvSpPr txBox="1"/>
          <p:nvPr/>
        </p:nvSpPr>
        <p:spPr>
          <a:xfrm>
            <a:off x="3108960" y="419100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100" b="1" dirty="0">
                <a:solidFill>
                  <a:srgbClr val="062F67"/>
                </a:solidFill>
                <a:latin typeface="Calibri" pitchFamily="34" charset="0"/>
                <a:ea typeface="Calibri" pitchFamily="34" charset="-122"/>
                <a:cs typeface="Calibri" pitchFamily="34" charset="-120"/>
              </a:rPr>
              <a:t>Guest: </a:t>
            </a:r>
            <a:pPr indent="0" marL="0">
              <a:buNone/>
            </a:pPr>
            <a:r>
              <a:rPr lang="en-US" sz="1100" dirty="0">
                <a:solidFill>
                  <a:srgbClr val="111111"/>
                </a:solidFill>
                <a:latin typeface="Calibri" pitchFamily="34" charset="0"/>
                <a:ea typeface="Calibri" pitchFamily="34" charset="-122"/>
                <a:cs typeface="Calibri" pitchFamily="34" charset="-120"/>
              </a:rPr>
              <a:t>Thank you so much. That's very kind of you.</a:t>
            </a:r>
            <a:endParaRPr lang="en-US" sz="1100" dirty="0"/>
          </a:p>
        </p:txBody>
      </p:sp>
      <p:sp>
        <p:nvSpPr>
          <p:cNvPr id="20" name="phrases_89"/>
          <p:cNvSpPr txBox="1"/>
          <p:nvPr/>
        </p:nvSpPr>
        <p:spPr>
          <a:xfrm rot="90000">
            <a:off x="6858000" y="1371600"/>
            <a:ext cx="1965960" cy="3310128"/>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101600" tIns="101600" rIns="101600" bIns="101600" rtlCol="0" anchor="t"/>
          <a:lstStyle/>
          <a:p>
            <a:pPr indent="0" marL="0">
              <a:spcAft>
                <a:spcPts val="300"/>
              </a:spcAft>
              <a:buNone/>
            </a:pPr>
            <a:r>
              <a:rPr lang="en-US" sz="1200" b="1" dirty="0">
                <a:solidFill>
                  <a:srgbClr val="6D3FC0"/>
                </a:solidFill>
                <a:latin typeface="Calibri" pitchFamily="34" charset="0"/>
                <a:ea typeface="Calibri" pitchFamily="34" charset="-122"/>
                <a:cs typeface="Calibri" pitchFamily="34" charset="-120"/>
              </a:rPr>
              <a:t>Useful phrases</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How can I help you?</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I'm sorry to bother you, but…</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There's a problem with…</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It doesn't work.</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There aren't any…</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I'll send someone up.</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That's very kind of you.</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90"/>
          <p:cNvSpPr/>
          <p:nvPr/>
        </p:nvSpPr>
        <p:spPr>
          <a:xfrm>
            <a:off x="54864" y="54864"/>
            <a:ext cx="9034272" cy="5033772"/>
          </a:xfrm>
          <a:prstGeom prst="rect">
            <a:avLst/>
          </a:prstGeom>
          <a:ln w="114300">
            <a:solidFill>
              <a:srgbClr val="FDBA74"/>
            </a:solidFill>
            <a:prstDash val="solid"/>
          </a:ln>
        </p:spPr>
      </p:sp>
      <p:pic>
        <p:nvPicPr>
          <p:cNvPr id="4" name="logo_9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Sound polite</a:t>
            </a:r>
            <a:endParaRPr lang="en-US" sz="900" dirty="0"/>
          </a:p>
        </p:txBody>
      </p:sp>
      <p:sp>
        <p:nvSpPr>
          <p:cNvPr id="6" name="timer_9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9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95"/>
          <p:cNvSpPr txBox="1"/>
          <p:nvPr/>
        </p:nvSpPr>
        <p:spPr>
          <a:xfrm rot="90000">
            <a:off x="320040" y="676656"/>
            <a:ext cx="310896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Polite or rude?</a:t>
            </a:r>
            <a:endParaRPr lang="en-US" sz="1500" dirty="0"/>
          </a:p>
        </p:txBody>
      </p:sp>
      <p:sp>
        <p:nvSpPr>
          <p:cNvPr id="9" name="tape_9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97"/>
          <p:cNvSpPr/>
          <p:nvPr/>
        </p:nvSpPr>
        <p:spPr>
          <a:xfrm rot="-720000">
            <a:off x="2862072" y="1069848"/>
            <a:ext cx="685800" cy="219456"/>
          </a:xfrm>
          <a:prstGeom prst="rect">
            <a:avLst/>
          </a:prstGeom>
          <a:solidFill>
            <a:srgbClr val="FFD84D">
              <a:alpha val="75000"/>
            </a:srgbClr>
          </a:solidFill>
          <a:ln w="6350">
            <a:solidFill>
              <a:srgbClr val="FFD84D"/>
            </a:solidFill>
            <a:prstDash val="solid"/>
          </a:ln>
        </p:spPr>
      </p:sp>
      <p:sp>
        <p:nvSpPr>
          <p:cNvPr id="11" name="post_98"/>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99"/>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10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Your teacher says each sentence twice. Which one is polite: 1 or 2?</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L'insegnante dice ogni frase due volte. Quale è gentile: 1 o 2?</a:t>
            </a:r>
            <a:endParaRPr lang="en-US" sz="1200" dirty="0"/>
          </a:p>
        </p:txBody>
      </p:sp>
      <p:sp>
        <p:nvSpPr>
          <p:cNvPr id="14" name="iconBack_10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02" descr="pi:PiSmiley">    </p:cNvPr>
          <p:cNvPicPr>
            <a:picLocks noChangeAspect="1"/>
          </p:cNvPicPr>
          <p:nvPr/>
        </p:nvPicPr>
        <p:blipFill>
          <a:blip r:embed="rId3"/>
          <a:stretch>
            <a:fillRect/>
          </a:stretch>
        </p:blipFill>
        <p:spPr>
          <a:xfrm>
            <a:off x="914400" y="3474720"/>
            <a:ext cx="685800" cy="685800"/>
          </a:xfrm>
          <a:prstGeom prst="rect">
            <a:avLst/>
          </a:prstGeom>
        </p:spPr>
      </p:pic>
      <p:sp>
        <p:nvSpPr>
          <p:cNvPr id="16" name="box_103"/>
          <p:cNvSpPr txBox="1"/>
          <p:nvPr/>
        </p:nvSpPr>
        <p:spPr>
          <a:xfrm>
            <a:off x="2788920" y="1371600"/>
            <a:ext cx="3741725"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450" dirty="0">
                <a:solidFill>
                  <a:srgbClr val="111111"/>
                </a:solidFill>
                <a:latin typeface="Calibri" pitchFamily="34" charset="0"/>
                <a:ea typeface="Calibri" pitchFamily="34" charset="-122"/>
                <a:cs typeface="Calibri" pitchFamily="34" charset="-120"/>
              </a:rPr>
              <a:t>1  I'm sorry to bother you, but there's a problem.</a:t>
            </a:r>
            <a:endParaRPr lang="en-US" sz="1450" dirty="0"/>
          </a:p>
        </p:txBody>
      </p:sp>
      <p:sp>
        <p:nvSpPr>
          <p:cNvPr id="17" name="R1_a0"/>
          <p:cNvSpPr txBox="1"/>
          <p:nvPr/>
        </p:nvSpPr>
        <p:spPr>
          <a:xfrm>
            <a:off x="6585509" y="1408176"/>
            <a:ext cx="223845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polite = voice goes UP and DOWN, not flat</a:t>
            </a:r>
            <a:endParaRPr lang="en-US" sz="1300" dirty="0"/>
          </a:p>
        </p:txBody>
      </p:sp>
      <p:sp>
        <p:nvSpPr>
          <p:cNvPr id="18" name="box_104"/>
          <p:cNvSpPr txBox="1"/>
          <p:nvPr/>
        </p:nvSpPr>
        <p:spPr>
          <a:xfrm>
            <a:off x="2788920" y="2226564"/>
            <a:ext cx="3741725"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450" dirty="0">
                <a:solidFill>
                  <a:srgbClr val="111111"/>
                </a:solidFill>
                <a:latin typeface="Calibri" pitchFamily="34" charset="0"/>
                <a:ea typeface="Calibri" pitchFamily="34" charset="-122"/>
                <a:cs typeface="Calibri" pitchFamily="34" charset="-120"/>
              </a:rPr>
              <a:t>2  The shower doesn't work.</a:t>
            </a:r>
            <a:endParaRPr lang="en-US" sz="1450" dirty="0"/>
          </a:p>
        </p:txBody>
      </p:sp>
      <p:sp>
        <p:nvSpPr>
          <p:cNvPr id="19" name="R2_a1"/>
          <p:cNvSpPr txBox="1"/>
          <p:nvPr/>
        </p:nvSpPr>
        <p:spPr>
          <a:xfrm>
            <a:off x="6585509" y="2263140"/>
            <a:ext cx="223845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polite = stress SHOWer and WORK</a:t>
            </a:r>
            <a:endParaRPr lang="en-US" sz="1300" dirty="0"/>
          </a:p>
        </p:txBody>
      </p:sp>
      <p:sp>
        <p:nvSpPr>
          <p:cNvPr id="20" name="box_105"/>
          <p:cNvSpPr txBox="1"/>
          <p:nvPr/>
        </p:nvSpPr>
        <p:spPr>
          <a:xfrm>
            <a:off x="2788920" y="3081528"/>
            <a:ext cx="3741725"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450" dirty="0">
                <a:solidFill>
                  <a:srgbClr val="111111"/>
                </a:solidFill>
                <a:latin typeface="Calibri" pitchFamily="34" charset="0"/>
                <a:ea typeface="Calibri" pitchFamily="34" charset="-122"/>
                <a:cs typeface="Calibri" pitchFamily="34" charset="-120"/>
              </a:rPr>
              <a:t>3  Could you send someone up, please?</a:t>
            </a:r>
            <a:endParaRPr lang="en-US" sz="1450" dirty="0"/>
          </a:p>
        </p:txBody>
      </p:sp>
      <p:sp>
        <p:nvSpPr>
          <p:cNvPr id="21" name="R3_a2"/>
          <p:cNvSpPr txBox="1"/>
          <p:nvPr/>
        </p:nvSpPr>
        <p:spPr>
          <a:xfrm>
            <a:off x="6585509" y="3118104"/>
            <a:ext cx="223845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polite = 'please' + rising voice</a:t>
            </a:r>
            <a:endParaRPr lang="en-US" sz="1300" dirty="0"/>
          </a:p>
        </p:txBody>
      </p:sp>
      <p:sp>
        <p:nvSpPr>
          <p:cNvPr id="22" name="box_106"/>
          <p:cNvSpPr txBox="1"/>
          <p:nvPr/>
        </p:nvSpPr>
        <p:spPr>
          <a:xfrm>
            <a:off x="2788920" y="3936492"/>
            <a:ext cx="3741725"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450" dirty="0">
                <a:solidFill>
                  <a:srgbClr val="111111"/>
                </a:solidFill>
                <a:latin typeface="Calibri" pitchFamily="34" charset="0"/>
                <a:ea typeface="Calibri" pitchFamily="34" charset="-122"/>
                <a:cs typeface="Calibri" pitchFamily="34" charset="-120"/>
              </a:rPr>
              <a:t>4  Thank you so much.</a:t>
            </a:r>
            <a:endParaRPr lang="en-US" sz="1450" dirty="0"/>
          </a:p>
        </p:txBody>
      </p:sp>
      <p:sp>
        <p:nvSpPr>
          <p:cNvPr id="23" name="R4_a3"/>
          <p:cNvSpPr txBox="1"/>
          <p:nvPr/>
        </p:nvSpPr>
        <p:spPr>
          <a:xfrm>
            <a:off x="6585509" y="3973068"/>
            <a:ext cx="223845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polite = big stress on SO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7"/>
          <p:cNvSpPr/>
          <p:nvPr/>
        </p:nvSpPr>
        <p:spPr>
          <a:xfrm>
            <a:off x="54864" y="54864"/>
            <a:ext cx="9034272" cy="5033772"/>
          </a:xfrm>
          <a:prstGeom prst="rect">
            <a:avLst/>
          </a:prstGeom>
          <a:ln w="114300">
            <a:solidFill>
              <a:srgbClr val="FDBA74"/>
            </a:solidFill>
            <a:prstDash val="solid"/>
          </a:ln>
        </p:spPr>
      </p:sp>
      <p:pic>
        <p:nvPicPr>
          <p:cNvPr id="4" name="logo_10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0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Role play</a:t>
            </a:r>
            <a:endParaRPr lang="en-US" sz="900" dirty="0"/>
          </a:p>
        </p:txBody>
      </p:sp>
      <p:sp>
        <p:nvSpPr>
          <p:cNvPr id="6" name="timer_11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footer_11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112"/>
          <p:cNvSpPr txBox="1"/>
          <p:nvPr/>
        </p:nvSpPr>
        <p:spPr>
          <a:xfrm rot="90000">
            <a:off x="320040" y="676656"/>
            <a:ext cx="310896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Call reception!</a:t>
            </a:r>
            <a:endParaRPr lang="en-US" sz="1500" dirty="0"/>
          </a:p>
        </p:txBody>
      </p:sp>
      <p:sp>
        <p:nvSpPr>
          <p:cNvPr id="9" name="tape_11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14"/>
          <p:cNvSpPr/>
          <p:nvPr/>
        </p:nvSpPr>
        <p:spPr>
          <a:xfrm rot="-720000">
            <a:off x="2862072" y="1069848"/>
            <a:ext cx="685800" cy="219456"/>
          </a:xfrm>
          <a:prstGeom prst="rect">
            <a:avLst/>
          </a:prstGeom>
          <a:solidFill>
            <a:srgbClr val="FFD84D">
              <a:alpha val="75000"/>
            </a:srgbClr>
          </a:solidFill>
          <a:ln w="6350">
            <a:solidFill>
              <a:srgbClr val="FFD84D"/>
            </a:solidFill>
            <a:prstDash val="solid"/>
          </a:ln>
        </p:spPr>
      </p:sp>
      <p:sp>
        <p:nvSpPr>
          <p:cNvPr id="11" name="post_11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1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1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A = guest with problems. B = receptionist with solutions. Then swap!</a:t>
            </a:r>
            <a:endParaRPr lang="en-US" sz="1000" dirty="0"/>
          </a:p>
          <a:p>
            <a:pPr indent="0" marL="0">
              <a:buNone/>
            </a:pPr>
            <a:r>
              <a:rPr lang="en-US" sz="900" i="1" dirty="0">
                <a:solidFill>
                  <a:srgbClr val="334155"/>
                </a:solidFill>
                <a:latin typeface="Calibri" pitchFamily="34" charset="0"/>
                <a:ea typeface="Calibri" pitchFamily="34" charset="-122"/>
                <a:cs typeface="Calibri" pitchFamily="34" charset="-120"/>
              </a:rPr>
              <a:t>A = cliente con problemi. B = receptionist con soluzioni. Poi scambiatevi i ruoli!</a:t>
            </a:r>
            <a:endParaRPr lang="en-US" sz="1000" dirty="0"/>
          </a:p>
        </p:txBody>
      </p:sp>
      <p:sp>
        <p:nvSpPr>
          <p:cNvPr id="14" name="num_118"/>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19"/>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Sit back to back – it's a phone call, you can't see each other!</a:t>
            </a:r>
            <a:endParaRPr lang="en-US" sz="1300" dirty="0"/>
          </a:p>
        </p:txBody>
      </p:sp>
      <p:sp>
        <p:nvSpPr>
          <p:cNvPr id="16" name="num_120"/>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21"/>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Guest: call reception. Explain your problems politely.</a:t>
            </a:r>
            <a:endParaRPr lang="en-US" sz="1300" dirty="0"/>
          </a:p>
        </p:txBody>
      </p:sp>
      <p:sp>
        <p:nvSpPr>
          <p:cNvPr id="18" name="num_122"/>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23"/>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Receptionist: listen, say sorry, offer a solution from your card.</a:t>
            </a:r>
            <a:endParaRPr lang="en-US" sz="1300" dirty="0"/>
          </a:p>
        </p:txBody>
      </p:sp>
      <p:sp>
        <p:nvSpPr>
          <p:cNvPr id="20" name="num_124"/>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25"/>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Guest: are you happy with the solutions? If not, ask for something else!</a:t>
            </a:r>
            <a:endParaRPr lang="en-US" sz="1300" dirty="0"/>
          </a:p>
        </p:txBody>
      </p:sp>
      <p:sp>
        <p:nvSpPr>
          <p:cNvPr id="22" name="num_126"/>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27"/>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Swap roles with the second card.</a:t>
            </a:r>
            <a:endParaRPr lang="en-US" sz="1300" dirty="0"/>
          </a:p>
        </p:txBody>
      </p:sp>
      <p:sp>
        <p:nvSpPr>
          <p:cNvPr id="24" name="bubble_128"/>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A: Hello, this is room 208. I'm sorry to bother you, but the Wi-Fi doesn't work.</a:t>
            </a:r>
            <a:endParaRPr lang="en-US" sz="110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9"/>
          <p:cNvSpPr/>
          <p:nvPr/>
        </p:nvSpPr>
        <p:spPr>
          <a:xfrm>
            <a:off x="54864" y="54864"/>
            <a:ext cx="9034272" cy="5033772"/>
          </a:xfrm>
          <a:prstGeom prst="rect">
            <a:avLst/>
          </a:prstGeom>
          <a:ln w="114300">
            <a:solidFill>
              <a:srgbClr val="FDBA74"/>
            </a:solidFill>
            <a:prstDash val="solid"/>
          </a:ln>
        </p:spPr>
      </p:sp>
      <p:pic>
        <p:nvPicPr>
          <p:cNvPr id="4" name="logo_13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Role play · Student A · Guest (room 208)</a:t>
            </a:r>
            <a:endParaRPr lang="en-US" sz="900" dirty="0"/>
          </a:p>
        </p:txBody>
      </p:sp>
      <p:sp>
        <p:nvSpPr>
          <p:cNvPr id="6" name="footer_13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7" name="warn_133"/>
          <p:cNvSpPr txBox="1"/>
          <p:nvPr/>
        </p:nvSpPr>
        <p:spPr>
          <a:xfrm>
            <a:off x="365760" y="713232"/>
            <a:ext cx="8412480" cy="457200"/>
          </a:xfrm>
          <a:prstGeom prst="rect">
            <a:avLst/>
          </a:prstGeom>
          <a:noFill/>
          <a:ln/>
        </p:spPr>
        <p:txBody>
          <a:bodyPr wrap="square" rtlCol="0" anchor="ctr"/>
          <a:lstStyle/>
          <a:p>
            <a:pPr indent="0" marL="0">
              <a:buNone/>
            </a:pPr>
            <a:r>
              <a:rPr lang="en-US" sz="1250" dirty="0">
                <a:solidFill>
                  <a:srgbClr val="EF2F2F"/>
                </a:solidFill>
                <a:latin typeface="Arial Black" pitchFamily="34" charset="0"/>
                <a:ea typeface="Arial Black" pitchFamily="34" charset="-122"/>
                <a:cs typeface="Arial Black" pitchFamily="34" charset="-120"/>
              </a:rPr>
              <a:t>👀 STUDENT A · GUEST ONLY · B · Receptionist: look away!  ·  Gli altri non guardano!</a:t>
            </a:r>
            <a:endParaRPr lang="en-US" sz="1250" dirty="0"/>
          </a:p>
        </p:txBody>
      </p:sp>
      <p:sp>
        <p:nvSpPr>
          <p:cNvPr id="8" name="R1_card"/>
          <p:cNvSpPr/>
          <p:nvPr/>
        </p:nvSpPr>
        <p:spPr>
          <a:xfrm>
            <a:off x="822960" y="1280160"/>
            <a:ext cx="7498080" cy="3383280"/>
          </a:xfrm>
          <a:prstGeom prst="roundRect">
            <a:avLst>
              <a:gd name="adj" fmla="val 3243"/>
            </a:avLst>
          </a:prstGeom>
          <a:solidFill>
            <a:srgbClr val="FFFFFF"/>
          </a:solidFill>
          <a:ln w="50800">
            <a:solidFill>
              <a:srgbClr val="EF2F2F"/>
            </a:solidFill>
            <a:prstDash val="solid"/>
          </a:ln>
          <a:effectLst>
            <a:outerShdw sx="100000" sy="100000" kx="0" ky="0" algn="bl" rotWithShape="0" blurRad="101600" dist="38100" dir="2700000">
              <a:srgbClr val="000000">
                <a:alpha val="35000"/>
              </a:srgbClr>
            </a:outerShdw>
          </a:effectLst>
        </p:spPr>
      </p:sp>
      <p:sp>
        <p:nvSpPr>
          <p:cNvPr id="9" name="R1_head"/>
          <p:cNvSpPr txBox="1"/>
          <p:nvPr/>
        </p:nvSpPr>
        <p:spPr>
          <a:xfrm>
            <a:off x="1005840" y="1371600"/>
            <a:ext cx="7132320" cy="457200"/>
          </a:xfrm>
          <a:prstGeom prst="rect">
            <a:avLst/>
          </a:prstGeom>
          <a:noFill/>
          <a:ln/>
        </p:spPr>
        <p:txBody>
          <a:bodyPr wrap="square" rtlCol="0" anchor="ctr"/>
          <a:lstStyle/>
          <a:p>
            <a:pPr indent="0" marL="0">
              <a:buNone/>
            </a:pPr>
            <a:r>
              <a:rPr lang="en-US" sz="1700" dirty="0">
                <a:solidFill>
                  <a:srgbClr val="EF2F2F"/>
                </a:solidFill>
                <a:latin typeface="Arial Black" pitchFamily="34" charset="0"/>
                <a:ea typeface="Arial Black" pitchFamily="34" charset="-122"/>
                <a:cs typeface="Arial Black" pitchFamily="34" charset="-120"/>
              </a:rPr>
              <a:t>Student A · Guest (room 208) · Your problems</a:t>
            </a:r>
            <a:endParaRPr lang="en-US" sz="1700" dirty="0"/>
          </a:p>
        </p:txBody>
      </p:sp>
      <p:sp>
        <p:nvSpPr>
          <p:cNvPr id="10" name="R1_body"/>
          <p:cNvSpPr txBox="1"/>
          <p:nvPr/>
        </p:nvSpPr>
        <p:spPr>
          <a:xfrm>
            <a:off x="1005840" y="1874520"/>
            <a:ext cx="7132320" cy="2697480"/>
          </a:xfrm>
          <a:prstGeom prst="rect">
            <a:avLst/>
          </a:prstGeom>
          <a:noFill/>
          <a:ln/>
        </p:spPr>
        <p:txBody>
          <a:bodyPr wrap="square" lIns="76200" tIns="76200" rIns="76200" bIns="76200" rtlCol="0" anchor="t"/>
          <a:lstStyle/>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The Wi-Fi doesn't work – you need it for work tonight.</a:t>
            </a:r>
            <a:endParaRPr lang="en-US" sz="1500" dirty="0"/>
          </a:p>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The people in room 210 are having a party. It's midnight!</a:t>
            </a:r>
            <a:endParaRPr lang="en-US" sz="1500" dirty="0"/>
          </a:p>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There's no hot water in the shower.</a:t>
            </a:r>
            <a:endParaRPr lang="en-US" sz="1500" dirty="0"/>
          </a:p>
          <a:p>
            <a:pPr indent="0" marL="0">
              <a:spcAft>
                <a:spcPts val="500"/>
              </a:spcAft>
              <a:buNone/>
            </a:pPr>
            <a:r>
              <a:rPr lang="en-US" sz="1500" i="1" dirty="0">
                <a:solidFill>
                  <a:srgbClr val="6D3FC0"/>
                </a:solidFill>
                <a:latin typeface="Calibri" pitchFamily="34" charset="0"/>
                <a:ea typeface="Calibri" pitchFamily="34" charset="-122"/>
                <a:cs typeface="Calibri" pitchFamily="34" charset="-120"/>
              </a:rPr>
              <a:t>Be polite: I'm sorry to bother you, but… · There's a problem with… · It doesn't work.</a:t>
            </a:r>
            <a:endParaRPr lang="en-US" sz="1500" dirty="0"/>
          </a:p>
          <a:p>
            <a:pPr indent="0" marL="0">
              <a:spcAft>
                <a:spcPts val="500"/>
              </a:spcAft>
              <a:buNone/>
            </a:pPr>
            <a:r>
              <a:rPr lang="en-US" sz="1500" i="1" dirty="0">
                <a:solidFill>
                  <a:srgbClr val="6D3FC0"/>
                </a:solidFill>
                <a:latin typeface="Calibri" pitchFamily="34" charset="0"/>
                <a:ea typeface="Calibri" pitchFamily="34" charset="-122"/>
                <a:cs typeface="Calibri" pitchFamily="34" charset="-120"/>
              </a:rPr>
              <a:t>Second call (swap): you're the receptionist – use Student B's solutions.</a:t>
            </a:r>
            <a:endParaRPr lang="en-US" sz="15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4"/>
          <p:cNvSpPr/>
          <p:nvPr/>
        </p:nvSpPr>
        <p:spPr>
          <a:xfrm>
            <a:off x="54864" y="54864"/>
            <a:ext cx="9034272" cy="5033772"/>
          </a:xfrm>
          <a:prstGeom prst="rect">
            <a:avLst/>
          </a:prstGeom>
          <a:ln w="114300">
            <a:solidFill>
              <a:srgbClr val="FDBA74"/>
            </a:solidFill>
            <a:prstDash val="solid"/>
          </a:ln>
        </p:spPr>
      </p:sp>
      <p:pic>
        <p:nvPicPr>
          <p:cNvPr id="4" name="logo_13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Role play · Student B · Receptionist</a:t>
            </a:r>
            <a:endParaRPr lang="en-US" sz="900" dirty="0"/>
          </a:p>
        </p:txBody>
      </p:sp>
      <p:sp>
        <p:nvSpPr>
          <p:cNvPr id="6" name="footer_13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7" name="warn_138"/>
          <p:cNvSpPr txBox="1"/>
          <p:nvPr/>
        </p:nvSpPr>
        <p:spPr>
          <a:xfrm>
            <a:off x="365760" y="713232"/>
            <a:ext cx="8412480" cy="457200"/>
          </a:xfrm>
          <a:prstGeom prst="rect">
            <a:avLst/>
          </a:prstGeom>
          <a:noFill/>
          <a:ln/>
        </p:spPr>
        <p:txBody>
          <a:bodyPr wrap="square" rtlCol="0" anchor="ctr"/>
          <a:lstStyle/>
          <a:p>
            <a:pPr indent="0" marL="0">
              <a:buNone/>
            </a:pPr>
            <a:r>
              <a:rPr lang="en-US" sz="1200" dirty="0">
                <a:solidFill>
                  <a:srgbClr val="062F67"/>
                </a:solidFill>
                <a:latin typeface="Arial Black" pitchFamily="34" charset="0"/>
                <a:ea typeface="Arial Black" pitchFamily="34" charset="-122"/>
                <a:cs typeface="Arial Black" pitchFamily="34" charset="-120"/>
              </a:rPr>
              <a:t>👀 STUDENT B · RECEPTIONIST ONLY · A · Guest: look away!  ·  Gli altri non guardano!</a:t>
            </a:r>
            <a:endParaRPr lang="en-US" sz="1200" dirty="0"/>
          </a:p>
        </p:txBody>
      </p:sp>
      <p:sp>
        <p:nvSpPr>
          <p:cNvPr id="8" name="R1_card"/>
          <p:cNvSpPr/>
          <p:nvPr/>
        </p:nvSpPr>
        <p:spPr>
          <a:xfrm>
            <a:off x="822960" y="1280160"/>
            <a:ext cx="7498080" cy="3383280"/>
          </a:xfrm>
          <a:prstGeom prst="roundRect">
            <a:avLst>
              <a:gd name="adj" fmla="val 3243"/>
            </a:avLst>
          </a:prstGeom>
          <a:solidFill>
            <a:srgbClr val="FFFFFF"/>
          </a:solidFill>
          <a:ln w="50800">
            <a:solidFill>
              <a:srgbClr val="062F67"/>
            </a:solidFill>
            <a:prstDash val="solid"/>
          </a:ln>
          <a:effectLst>
            <a:outerShdw sx="100000" sy="100000" kx="0" ky="0" algn="bl" rotWithShape="0" blurRad="101600" dist="38100" dir="2700000">
              <a:srgbClr val="000000">
                <a:alpha val="35000"/>
              </a:srgbClr>
            </a:outerShdw>
          </a:effectLst>
        </p:spPr>
      </p:sp>
      <p:sp>
        <p:nvSpPr>
          <p:cNvPr id="9" name="R1_head"/>
          <p:cNvSpPr txBox="1"/>
          <p:nvPr/>
        </p:nvSpPr>
        <p:spPr>
          <a:xfrm>
            <a:off x="1005840" y="1371600"/>
            <a:ext cx="7132320" cy="457200"/>
          </a:xfrm>
          <a:prstGeom prst="rect">
            <a:avLst/>
          </a:prstGeom>
          <a:noFill/>
          <a:ln/>
        </p:spPr>
        <p:txBody>
          <a:bodyPr wrap="square" rtlCol="0" anchor="ctr"/>
          <a:lstStyle/>
          <a:p>
            <a:pPr indent="0" marL="0">
              <a:buNone/>
            </a:pPr>
            <a:r>
              <a:rPr lang="en-US" sz="1700" dirty="0">
                <a:solidFill>
                  <a:srgbClr val="062F67"/>
                </a:solidFill>
                <a:latin typeface="Arial Black" pitchFamily="34" charset="0"/>
                <a:ea typeface="Arial Black" pitchFamily="34" charset="-122"/>
                <a:cs typeface="Arial Black" pitchFamily="34" charset="-120"/>
              </a:rPr>
              <a:t>Student B · Receptionist · Your solutions</a:t>
            </a:r>
            <a:endParaRPr lang="en-US" sz="1700" dirty="0"/>
          </a:p>
        </p:txBody>
      </p:sp>
      <p:sp>
        <p:nvSpPr>
          <p:cNvPr id="10" name="R1_body"/>
          <p:cNvSpPr txBox="1"/>
          <p:nvPr/>
        </p:nvSpPr>
        <p:spPr>
          <a:xfrm>
            <a:off x="1005840" y="1874520"/>
            <a:ext cx="7132320" cy="2697480"/>
          </a:xfrm>
          <a:prstGeom prst="rect">
            <a:avLst/>
          </a:prstGeom>
          <a:noFill/>
          <a:ln/>
        </p:spPr>
        <p:txBody>
          <a:bodyPr wrap="square" lIns="76200" tIns="76200" rIns="76200" bIns="76200" rtlCol="0" anchor="t"/>
          <a:lstStyle/>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Wi-Fi: 'I'll put you through to IT.' (or: give the new password: SUN2026)</a:t>
            </a:r>
            <a:endParaRPr lang="en-US" sz="1500" dirty="0"/>
          </a:p>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Noise: 'I'll call room 210 now.' (or: offer a different room on the 5th floor)</a:t>
            </a:r>
            <a:endParaRPr lang="en-US" sz="1500" dirty="0"/>
          </a:p>
          <a:p>
            <a:pPr marL="342900" indent="-342900">
              <a:spcAft>
                <a:spcPts val="500"/>
              </a:spcAft>
              <a:buSzPct val="100000"/>
              <a:buChar char="•"/>
            </a:pPr>
            <a:r>
              <a:rPr lang="en-US" sz="1500" dirty="0">
                <a:solidFill>
                  <a:srgbClr val="111111"/>
                </a:solidFill>
                <a:latin typeface="Calibri" pitchFamily="34" charset="0"/>
                <a:ea typeface="Calibri" pitchFamily="34" charset="-122"/>
                <a:cs typeface="Calibri" pitchFamily="34" charset="-120"/>
              </a:rPr>
              <a:t>Hot water: 'I'll send someone up right away.' (it takes 30 minutes)</a:t>
            </a:r>
            <a:endParaRPr lang="en-US" sz="1500" dirty="0"/>
          </a:p>
          <a:p>
            <a:pPr indent="0" marL="0">
              <a:spcAft>
                <a:spcPts val="500"/>
              </a:spcAft>
              <a:buNone/>
            </a:pPr>
            <a:r>
              <a:rPr lang="en-US" sz="1500" i="1" dirty="0">
                <a:solidFill>
                  <a:srgbClr val="6D3FC0"/>
                </a:solidFill>
                <a:latin typeface="Calibri" pitchFamily="34" charset="0"/>
                <a:ea typeface="Calibri" pitchFamily="34" charset="-122"/>
                <a:cs typeface="Calibri" pitchFamily="34" charset="-120"/>
              </a:rPr>
              <a:t>Say sorry first: I'm very sorry… · How can I help you?</a:t>
            </a:r>
            <a:endParaRPr lang="en-US" sz="1500" dirty="0"/>
          </a:p>
          <a:p>
            <a:pPr indent="0" marL="0">
              <a:spcAft>
                <a:spcPts val="500"/>
              </a:spcAft>
              <a:buNone/>
            </a:pPr>
            <a:r>
              <a:rPr lang="en-US" sz="1500" i="1" dirty="0">
                <a:solidFill>
                  <a:srgbClr val="6D3FC0"/>
                </a:solidFill>
                <a:latin typeface="Calibri" pitchFamily="34" charset="0"/>
                <a:ea typeface="Calibri" pitchFamily="34" charset="-122"/>
                <a:cs typeface="Calibri" pitchFamily="34" charset="-120"/>
              </a:rPr>
              <a:t>Second call (swap): you're the guest in room 117 – your problems: no towels, the TV doesn't work, the key card doesn't open the door.</a:t>
            </a:r>
            <a:endParaRPr lang="en-US" sz="15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9"/>
          <p:cNvSpPr/>
          <p:nvPr/>
        </p:nvSpPr>
        <p:spPr>
          <a:xfrm>
            <a:off x="54864" y="54864"/>
            <a:ext cx="9034272" cy="5033772"/>
          </a:xfrm>
          <a:prstGeom prst="rect">
            <a:avLst/>
          </a:prstGeom>
          <a:ln w="114300">
            <a:solidFill>
              <a:srgbClr val="FDBA74"/>
            </a:solidFill>
            <a:prstDash val="solid"/>
          </a:ln>
        </p:spPr>
      </p:sp>
      <p:pic>
        <p:nvPicPr>
          <p:cNvPr id="4" name="logo_1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SOCIAL ENGLISH · Meeting people</a:t>
            </a:r>
            <a:endParaRPr lang="en-US" sz="900" dirty="0"/>
          </a:p>
        </p:txBody>
      </p:sp>
      <p:sp>
        <p:nvSpPr>
          <p:cNvPr id="6" name="timer_1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144"/>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 do you say?</a:t>
            </a:r>
            <a:endParaRPr lang="en-US" sz="1500" dirty="0"/>
          </a:p>
        </p:txBody>
      </p:sp>
      <p:sp>
        <p:nvSpPr>
          <p:cNvPr id="9" name="tape_14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46"/>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1" name="post_14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48"/>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4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What do you say in English? Guess, then click.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Cosa dici in inglese? Indovina, poi clicca.</a:t>
            </a:r>
            <a:endParaRPr lang="en-US" sz="1250" dirty="0"/>
          </a:p>
        </p:txBody>
      </p:sp>
      <p:sp>
        <p:nvSpPr>
          <p:cNvPr id="14" name="iconBack_15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51" descr="pi:PiChatsCircle">    </p:cNvPr>
          <p:cNvPicPr>
            <a:picLocks noChangeAspect="1"/>
          </p:cNvPicPr>
          <p:nvPr/>
        </p:nvPicPr>
        <p:blipFill>
          <a:blip r:embed="rId3"/>
          <a:stretch>
            <a:fillRect/>
          </a:stretch>
        </p:blipFill>
        <p:spPr>
          <a:xfrm>
            <a:off x="914400" y="3474720"/>
            <a:ext cx="685800" cy="685800"/>
          </a:xfrm>
          <a:prstGeom prst="rect">
            <a:avLst/>
          </a:prstGeom>
        </p:spPr>
      </p:pic>
      <p:sp>
        <p:nvSpPr>
          <p:cNvPr id="16" name="example_152"/>
          <p:cNvSpPr txBox="1"/>
          <p:nvPr/>
        </p:nvSpPr>
        <p:spPr>
          <a:xfrm>
            <a:off x="2788920" y="1298448"/>
            <a:ext cx="6035040" cy="420624"/>
          </a:xfrm>
          <a:prstGeom prst="rect">
            <a:avLst/>
          </a:prstGeom>
          <a:solidFill>
            <a:srgbClr val="FFF7CC"/>
          </a:solidFill>
          <a:ln w="15875">
            <a:solidFill>
              <a:srgbClr val="B7950B"/>
            </a:solidFill>
            <a:prstDash val="dash"/>
          </a:ln>
        </p:spPr>
        <p:txBody>
          <a:bodyPr wrap="square" lIns="101600" tIns="101600" rIns="101600" bIns="101600" rtlCol="0" anchor="ctr"/>
          <a:lstStyle/>
          <a:p>
            <a:pPr indent="0" marL="0">
              <a:buNone/>
            </a:pPr>
            <a:r>
              <a:rPr lang="en-US" sz="1350" b="1" dirty="0">
                <a:solidFill>
                  <a:srgbClr val="6D3FC0"/>
                </a:solidFill>
                <a:latin typeface="Calibri" pitchFamily="34" charset="0"/>
                <a:ea typeface="Calibri" pitchFamily="34" charset="-122"/>
                <a:cs typeface="Calibri" pitchFamily="34" charset="-120"/>
              </a:rPr>
              <a:t>Example  </a:t>
            </a:r>
            <a:pPr indent="0" marL="0">
              <a:buNone/>
            </a:pPr>
            <a:r>
              <a:rPr lang="en-US" sz="1350" dirty="0">
                <a:solidFill>
                  <a:srgbClr val="111111"/>
                </a:solidFill>
                <a:latin typeface="Calibri" pitchFamily="34" charset="0"/>
                <a:ea typeface="Calibri" pitchFamily="34" charset="-122"/>
                <a:cs typeface="Calibri" pitchFamily="34" charset="-120"/>
              </a:rPr>
              <a:t>0  You meet your friend.  →  It's so nice to see you!</a:t>
            </a:r>
            <a:endParaRPr lang="en-US" sz="1350" dirty="0"/>
          </a:p>
        </p:txBody>
      </p:sp>
      <p:sp>
        <p:nvSpPr>
          <p:cNvPr id="17" name="box_153"/>
          <p:cNvSpPr txBox="1"/>
          <p:nvPr/>
        </p:nvSpPr>
        <p:spPr>
          <a:xfrm>
            <a:off x="2788920" y="1810512"/>
            <a:ext cx="1476756" cy="865632"/>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You arrive in a new city. You're very happy.</a:t>
            </a:r>
            <a:endParaRPr lang="en-US" sz="1300" dirty="0"/>
          </a:p>
        </p:txBody>
      </p:sp>
      <p:sp>
        <p:nvSpPr>
          <p:cNvPr id="18" name="R1_a0"/>
          <p:cNvSpPr txBox="1"/>
          <p:nvPr/>
        </p:nvSpPr>
        <p:spPr>
          <a:xfrm>
            <a:off x="4320540" y="1847088"/>
            <a:ext cx="142189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It's great to be here!</a:t>
            </a:r>
            <a:endParaRPr lang="en-US" sz="1250" dirty="0"/>
          </a:p>
        </p:txBody>
      </p:sp>
      <p:sp>
        <p:nvSpPr>
          <p:cNvPr id="19" name="box_154"/>
          <p:cNvSpPr txBox="1"/>
          <p:nvPr/>
        </p:nvSpPr>
        <p:spPr>
          <a:xfrm>
            <a:off x="5870448" y="1810512"/>
            <a:ext cx="1476756" cy="865632"/>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Your friend had a 10-hour flight.</a:t>
            </a:r>
            <a:endParaRPr lang="en-US" sz="1300" dirty="0"/>
          </a:p>
        </p:txBody>
      </p:sp>
      <p:sp>
        <p:nvSpPr>
          <p:cNvPr id="20" name="R2_a1"/>
          <p:cNvSpPr txBox="1"/>
          <p:nvPr/>
        </p:nvSpPr>
        <p:spPr>
          <a:xfrm>
            <a:off x="7402068" y="1847088"/>
            <a:ext cx="142189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You must be really tired.</a:t>
            </a:r>
            <a:endParaRPr lang="en-US" sz="1250" dirty="0"/>
          </a:p>
        </p:txBody>
      </p:sp>
      <p:sp>
        <p:nvSpPr>
          <p:cNvPr id="21" name="box_155"/>
          <p:cNvSpPr txBox="1"/>
          <p:nvPr/>
        </p:nvSpPr>
        <p:spPr>
          <a:xfrm>
            <a:off x="2788920" y="2804160"/>
            <a:ext cx="1476756" cy="865632"/>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Ask about your friend's hotel room.</a:t>
            </a:r>
            <a:endParaRPr lang="en-US" sz="1300" dirty="0"/>
          </a:p>
        </p:txBody>
      </p:sp>
      <p:sp>
        <p:nvSpPr>
          <p:cNvPr id="22" name="R3_a2"/>
          <p:cNvSpPr txBox="1"/>
          <p:nvPr/>
        </p:nvSpPr>
        <p:spPr>
          <a:xfrm>
            <a:off x="4320540" y="2840736"/>
            <a:ext cx="142189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What's your room like?</a:t>
            </a:r>
            <a:endParaRPr lang="en-US" sz="1250" dirty="0"/>
          </a:p>
        </p:txBody>
      </p:sp>
      <p:sp>
        <p:nvSpPr>
          <p:cNvPr id="23" name="box_156"/>
          <p:cNvSpPr txBox="1"/>
          <p:nvPr/>
        </p:nvSpPr>
        <p:spPr>
          <a:xfrm>
            <a:off x="5870448" y="2804160"/>
            <a:ext cx="1476756" cy="865632"/>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Change the topic.</a:t>
            </a:r>
            <a:endParaRPr lang="en-US" sz="1300" dirty="0"/>
          </a:p>
        </p:txBody>
      </p:sp>
      <p:sp>
        <p:nvSpPr>
          <p:cNvPr id="24" name="R4_a3"/>
          <p:cNvSpPr txBox="1"/>
          <p:nvPr/>
        </p:nvSpPr>
        <p:spPr>
          <a:xfrm>
            <a:off x="7402068" y="2840736"/>
            <a:ext cx="142189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By the way, …</a:t>
            </a:r>
            <a:endParaRPr lang="en-US" sz="1250" dirty="0"/>
          </a:p>
        </p:txBody>
      </p:sp>
      <p:sp>
        <p:nvSpPr>
          <p:cNvPr id="25" name="box_157"/>
          <p:cNvSpPr txBox="1"/>
          <p:nvPr/>
        </p:nvSpPr>
        <p:spPr>
          <a:xfrm>
            <a:off x="2788920" y="3797808"/>
            <a:ext cx="1476756" cy="865632"/>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Your friend says something true. You agree (not 100%).</a:t>
            </a:r>
            <a:endParaRPr lang="en-US" sz="1100" dirty="0"/>
          </a:p>
        </p:txBody>
      </p:sp>
      <p:sp>
        <p:nvSpPr>
          <p:cNvPr id="26" name="R5_a4"/>
          <p:cNvSpPr txBox="1"/>
          <p:nvPr/>
        </p:nvSpPr>
        <p:spPr>
          <a:xfrm>
            <a:off x="4320540" y="3834384"/>
            <a:ext cx="142189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 guess you're right.</a:t>
            </a:r>
            <a:endParaRPr lang="en-US" sz="1250" dirty="0"/>
          </a:p>
        </p:txBody>
      </p:sp>
      <p:sp>
        <p:nvSpPr>
          <p:cNvPr id="27" name="box_158"/>
          <p:cNvSpPr txBox="1"/>
          <p:nvPr/>
        </p:nvSpPr>
        <p:spPr>
          <a:xfrm>
            <a:off x="5870448" y="3797808"/>
            <a:ext cx="1476756" cy="865632"/>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After dinner in a restaurant.</a:t>
            </a:r>
            <a:endParaRPr lang="en-US" sz="1300" dirty="0"/>
          </a:p>
        </p:txBody>
      </p:sp>
      <p:sp>
        <p:nvSpPr>
          <p:cNvPr id="28" name="R6_a5"/>
          <p:cNvSpPr txBox="1"/>
          <p:nvPr/>
        </p:nvSpPr>
        <p:spPr>
          <a:xfrm>
            <a:off x="7402068" y="3834384"/>
            <a:ext cx="1421892" cy="792480"/>
          </a:xfrm>
          <a:prstGeom prst="roundRect">
            <a:avLst>
              <a:gd name="adj" fmla="val 692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That was a great meal!</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9"/>
          <p:cNvSpPr/>
          <p:nvPr/>
        </p:nvSpPr>
        <p:spPr>
          <a:xfrm>
            <a:off x="54864" y="54864"/>
            <a:ext cx="9034272" cy="5033772"/>
          </a:xfrm>
          <a:prstGeom prst="rect">
            <a:avLst/>
          </a:prstGeom>
          <a:ln w="114300">
            <a:solidFill>
              <a:srgbClr val="FDBA74"/>
            </a:solidFill>
            <a:prstDash val="solid"/>
          </a:ln>
        </p:spPr>
      </p:sp>
      <p:pic>
        <p:nvPicPr>
          <p:cNvPr id="4" name="logo_16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Small talk</a:t>
            </a:r>
            <a:endParaRPr lang="en-US" sz="900" dirty="0"/>
          </a:p>
        </p:txBody>
      </p:sp>
      <p:sp>
        <p:nvSpPr>
          <p:cNvPr id="6" name="timer_16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6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164"/>
          <p:cNvSpPr txBox="1"/>
          <p:nvPr/>
        </p:nvSpPr>
        <p:spPr>
          <a:xfrm rot="90000">
            <a:off x="320040" y="676656"/>
            <a:ext cx="536752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 friend arrives in Bagheria</a:t>
            </a:r>
            <a:endParaRPr lang="en-US" sz="1500" dirty="0"/>
          </a:p>
        </p:txBody>
      </p:sp>
      <p:sp>
        <p:nvSpPr>
          <p:cNvPr id="9" name="tape_16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66"/>
          <p:cNvSpPr/>
          <p:nvPr/>
        </p:nvSpPr>
        <p:spPr>
          <a:xfrm rot="-720000">
            <a:off x="5120640" y="1069848"/>
            <a:ext cx="685800" cy="219456"/>
          </a:xfrm>
          <a:prstGeom prst="rect">
            <a:avLst/>
          </a:prstGeom>
          <a:solidFill>
            <a:srgbClr val="FFD84D">
              <a:alpha val="75000"/>
            </a:srgbClr>
          </a:solidFill>
          <a:ln w="6350">
            <a:solidFill>
              <a:srgbClr val="FFD84D"/>
            </a:solidFill>
            <a:prstDash val="solid"/>
          </a:ln>
        </p:spPr>
      </p:sp>
      <p:sp>
        <p:nvSpPr>
          <p:cNvPr id="11" name="post_16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68"/>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6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A = an English friend arriving. B = meets them. Use 4 phrases from the last slide!</a:t>
            </a:r>
            <a:endParaRPr lang="en-US" sz="1000" dirty="0"/>
          </a:p>
          <a:p>
            <a:pPr indent="0" marL="0">
              <a:buNone/>
            </a:pPr>
            <a:r>
              <a:rPr lang="en-US" sz="900" i="1" dirty="0">
                <a:solidFill>
                  <a:srgbClr val="334155"/>
                </a:solidFill>
                <a:latin typeface="Calibri" pitchFamily="34" charset="0"/>
                <a:ea typeface="Calibri" pitchFamily="34" charset="-122"/>
                <a:cs typeface="Calibri" pitchFamily="34" charset="-120"/>
              </a:rPr>
              <a:t>A = un amico inglese che arriva. B = lo accoglie. Usate 4 frasi della slide precedente!</a:t>
            </a:r>
            <a:endParaRPr lang="en-US" sz="1000" dirty="0"/>
          </a:p>
        </p:txBody>
      </p:sp>
      <p:sp>
        <p:nvSpPr>
          <p:cNvPr id="14" name="iconBack_17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71" descr="pi:PiAirplaneLanding">    </p:cNvPr>
          <p:cNvPicPr>
            <a:picLocks noChangeAspect="1"/>
          </p:cNvPicPr>
          <p:nvPr/>
        </p:nvPicPr>
        <p:blipFill>
          <a:blip r:embed="rId3"/>
          <a:stretch>
            <a:fillRect/>
          </a:stretch>
        </p:blipFill>
        <p:spPr>
          <a:xfrm>
            <a:off x="914400" y="3474720"/>
            <a:ext cx="685800" cy="685800"/>
          </a:xfrm>
          <a:prstGeom prst="rect">
            <a:avLst/>
          </a:prstGeom>
        </p:spPr>
      </p:pic>
      <p:sp>
        <p:nvSpPr>
          <p:cNvPr id="16" name="num_172"/>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7" name="box_173"/>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B meets A at Palermo airport: say hello, ask about the flight.</a:t>
            </a:r>
            <a:endParaRPr lang="en-US" sz="1300" dirty="0"/>
          </a:p>
        </p:txBody>
      </p:sp>
      <p:sp>
        <p:nvSpPr>
          <p:cNvPr id="18" name="num_174"/>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9" name="box_175"/>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In the car: ask about the hotel or the room.</a:t>
            </a:r>
            <a:endParaRPr lang="en-US" sz="1300" dirty="0"/>
          </a:p>
        </p:txBody>
      </p:sp>
      <p:sp>
        <p:nvSpPr>
          <p:cNvPr id="20" name="num_176"/>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box_177"/>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Change the topic (By the way…): recommend a restaurant or a place in Bagheria.</a:t>
            </a:r>
            <a:endParaRPr lang="en-US" sz="1100" dirty="0"/>
          </a:p>
        </p:txBody>
      </p:sp>
      <p:sp>
        <p:nvSpPr>
          <p:cNvPr id="22" name="num_178"/>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box_179"/>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After dinner: say something about the meal!</a:t>
            </a:r>
            <a:endParaRPr lang="en-US" sz="1300" dirty="0"/>
          </a:p>
        </p:txBody>
      </p:sp>
      <p:sp>
        <p:nvSpPr>
          <p:cNvPr id="24" name="num_180"/>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5" name="box_181"/>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Swap roles. Then: which pair used the most phrases?</a:t>
            </a:r>
            <a:endParaRPr lang="en-US" sz="1300" dirty="0"/>
          </a:p>
        </p:txBody>
      </p:sp>
      <p:sp>
        <p:nvSpPr>
          <p:cNvPr id="26" name="bubble_18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B: Welcome to Sicily! You must be really tired.  A: Yes, but it's great to be here!</a:t>
            </a:r>
            <a:endParaRPr lang="en-US" sz="11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3"/>
          <p:cNvSpPr/>
          <p:nvPr/>
        </p:nvSpPr>
        <p:spPr>
          <a:xfrm>
            <a:off x="54864" y="54864"/>
            <a:ext cx="9034272" cy="5033772"/>
          </a:xfrm>
          <a:prstGeom prst="rect">
            <a:avLst/>
          </a:prstGeom>
          <a:ln w="114300">
            <a:solidFill>
              <a:srgbClr val="FDBA74"/>
            </a:solidFill>
            <a:prstDash val="solid"/>
          </a:ln>
        </p:spPr>
      </p:sp>
      <p:pic>
        <p:nvPicPr>
          <p:cNvPr id="4" name="logo_18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File 1 team quiz</a:t>
            </a:r>
            <a:endParaRPr lang="en-US" sz="900" dirty="0"/>
          </a:p>
        </p:txBody>
      </p:sp>
      <p:sp>
        <p:nvSpPr>
          <p:cNvPr id="6" name="timer_18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8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8" name="title_188"/>
          <p:cNvSpPr txBox="1"/>
          <p:nvPr/>
        </p:nvSpPr>
        <p:spPr>
          <a:xfrm rot="90000">
            <a:off x="320040" y="676656"/>
            <a:ext cx="345643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Class vs teacher!</a:t>
            </a:r>
            <a:endParaRPr lang="en-US" sz="1500" dirty="0"/>
          </a:p>
        </p:txBody>
      </p:sp>
      <p:sp>
        <p:nvSpPr>
          <p:cNvPr id="9" name="tape_189"/>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90"/>
          <p:cNvSpPr/>
          <p:nvPr/>
        </p:nvSpPr>
        <p:spPr>
          <a:xfrm rot="-720000">
            <a:off x="3209544" y="1069848"/>
            <a:ext cx="685800" cy="219456"/>
          </a:xfrm>
          <a:prstGeom prst="rect">
            <a:avLst/>
          </a:prstGeom>
          <a:solidFill>
            <a:srgbClr val="FFD84D">
              <a:alpha val="75000"/>
            </a:srgbClr>
          </a:solidFill>
          <a:ln w="6350">
            <a:solidFill>
              <a:srgbClr val="FFD84D"/>
            </a:solidFill>
            <a:prstDash val="solid"/>
          </a:ln>
        </p:spPr>
      </p:sp>
      <p:sp>
        <p:nvSpPr>
          <p:cNvPr id="11" name="post_191"/>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92"/>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3" name="signB_19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Teams: 30 seconds per question. Write the answer. 1 point each!</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Squadre: 30 secondi per domanda. Scrivete la risposta. 1 punto!</a:t>
            </a:r>
            <a:endParaRPr lang="en-US" sz="1100" dirty="0"/>
          </a:p>
        </p:txBody>
      </p:sp>
      <p:sp>
        <p:nvSpPr>
          <p:cNvPr id="14" name="iconBack_19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95" descr="pi:PiTrophy">    </p:cNvPr>
          <p:cNvPicPr>
            <a:picLocks noChangeAspect="1"/>
          </p:cNvPicPr>
          <p:nvPr/>
        </p:nvPicPr>
        <p:blipFill>
          <a:blip r:embed="rId3"/>
          <a:stretch>
            <a:fillRect/>
          </a:stretch>
        </p:blipFill>
        <p:spPr>
          <a:xfrm>
            <a:off x="914400" y="3474720"/>
            <a:ext cx="685800" cy="685800"/>
          </a:xfrm>
          <a:prstGeom prst="rect">
            <a:avLst/>
          </a:prstGeom>
        </p:spPr>
      </p:pic>
      <p:sp>
        <p:nvSpPr>
          <p:cNvPr id="16" name="box_196"/>
          <p:cNvSpPr txBox="1"/>
          <p:nvPr/>
        </p:nvSpPr>
        <p:spPr>
          <a:xfrm>
            <a:off x="2788920" y="1371600"/>
            <a:ext cx="1831177"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Spell 'WEDNESDAY' – letters only!</a:t>
            </a:r>
            <a:endParaRPr lang="en-US" sz="1250" dirty="0"/>
          </a:p>
        </p:txBody>
      </p:sp>
      <p:sp>
        <p:nvSpPr>
          <p:cNvPr id="17" name="R1_a0"/>
          <p:cNvSpPr txBox="1"/>
          <p:nvPr/>
        </p:nvSpPr>
        <p:spPr>
          <a:xfrm>
            <a:off x="4674961" y="1408176"/>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W-E-D-N-E-S-D-A-Y</a:t>
            </a:r>
            <a:endParaRPr lang="en-US" sz="1150" dirty="0"/>
          </a:p>
        </p:txBody>
      </p:sp>
      <p:sp>
        <p:nvSpPr>
          <p:cNvPr id="18" name="box_197"/>
          <p:cNvSpPr txBox="1"/>
          <p:nvPr/>
        </p:nvSpPr>
        <p:spPr>
          <a:xfrm>
            <a:off x="5870448" y="1371600"/>
            <a:ext cx="1831177"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Make a question: you / born / where / were</a:t>
            </a:r>
            <a:endParaRPr lang="en-US" sz="1250" dirty="0"/>
          </a:p>
        </p:txBody>
      </p:sp>
      <p:sp>
        <p:nvSpPr>
          <p:cNvPr id="19" name="R2_a1"/>
          <p:cNvSpPr txBox="1"/>
          <p:nvPr/>
        </p:nvSpPr>
        <p:spPr>
          <a:xfrm>
            <a:off x="7756489" y="1408176"/>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Where were you born?</a:t>
            </a:r>
            <a:endParaRPr lang="en-US" sz="1150" dirty="0"/>
          </a:p>
        </p:txBody>
      </p:sp>
      <p:sp>
        <p:nvSpPr>
          <p:cNvPr id="20" name="box_198"/>
          <p:cNvSpPr txBox="1"/>
          <p:nvPr/>
        </p:nvSpPr>
        <p:spPr>
          <a:xfrm>
            <a:off x="2788920" y="2226564"/>
            <a:ext cx="1831177"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Opposite of 'hard-working'?</a:t>
            </a:r>
            <a:endParaRPr lang="en-US" sz="1250" dirty="0"/>
          </a:p>
        </p:txBody>
      </p:sp>
      <p:sp>
        <p:nvSpPr>
          <p:cNvPr id="21" name="R3_a2"/>
          <p:cNvSpPr txBox="1"/>
          <p:nvPr/>
        </p:nvSpPr>
        <p:spPr>
          <a:xfrm>
            <a:off x="4674961" y="2263140"/>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lazy</a:t>
            </a:r>
            <a:endParaRPr lang="en-US" sz="1150" dirty="0"/>
          </a:p>
        </p:txBody>
      </p:sp>
      <p:sp>
        <p:nvSpPr>
          <p:cNvPr id="22" name="box_199"/>
          <p:cNvSpPr txBox="1"/>
          <p:nvPr/>
        </p:nvSpPr>
        <p:spPr>
          <a:xfrm>
            <a:off x="5870448" y="2226564"/>
            <a:ext cx="1831177"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/s/ /z/ or /ɪz/? → watches</a:t>
            </a:r>
            <a:endParaRPr lang="en-US" sz="1250" dirty="0"/>
          </a:p>
        </p:txBody>
      </p:sp>
      <p:sp>
        <p:nvSpPr>
          <p:cNvPr id="23" name="R4_a3"/>
          <p:cNvSpPr txBox="1"/>
          <p:nvPr/>
        </p:nvSpPr>
        <p:spPr>
          <a:xfrm>
            <a:off x="7756489" y="2263140"/>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/ɪz/</a:t>
            </a:r>
            <a:endParaRPr lang="en-US" sz="1150" dirty="0"/>
          </a:p>
        </p:txBody>
      </p:sp>
      <p:sp>
        <p:nvSpPr>
          <p:cNvPr id="24" name="box_200"/>
          <p:cNvSpPr txBox="1"/>
          <p:nvPr/>
        </p:nvSpPr>
        <p:spPr>
          <a:xfrm>
            <a:off x="2788920" y="3081528"/>
            <a:ext cx="1831177"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Correct it: I'm wanting a coffee.</a:t>
            </a:r>
            <a:endParaRPr lang="en-US" sz="1250" dirty="0"/>
          </a:p>
        </p:txBody>
      </p:sp>
      <p:sp>
        <p:nvSpPr>
          <p:cNvPr id="25" name="R5_a4"/>
          <p:cNvSpPr txBox="1"/>
          <p:nvPr/>
        </p:nvSpPr>
        <p:spPr>
          <a:xfrm>
            <a:off x="4674961" y="3118104"/>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 want a coffee.</a:t>
            </a:r>
            <a:endParaRPr lang="en-US" sz="1150" dirty="0"/>
          </a:p>
        </p:txBody>
      </p:sp>
      <p:sp>
        <p:nvSpPr>
          <p:cNvPr id="26" name="box_201"/>
          <p:cNvSpPr txBox="1"/>
          <p:nvPr/>
        </p:nvSpPr>
        <p:spPr>
          <a:xfrm>
            <a:off x="5870448" y="3081528"/>
            <a:ext cx="1831177"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'Portare' an umbrella in your hand = ?</a:t>
            </a:r>
            <a:endParaRPr lang="en-US" sz="1250" dirty="0"/>
          </a:p>
        </p:txBody>
      </p:sp>
      <p:sp>
        <p:nvSpPr>
          <p:cNvPr id="27" name="R6_a5"/>
          <p:cNvSpPr txBox="1"/>
          <p:nvPr/>
        </p:nvSpPr>
        <p:spPr>
          <a:xfrm>
            <a:off x="7756489" y="3118104"/>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carry</a:t>
            </a:r>
            <a:endParaRPr lang="en-US" sz="1150" dirty="0"/>
          </a:p>
        </p:txBody>
      </p:sp>
      <p:sp>
        <p:nvSpPr>
          <p:cNvPr id="28" name="box_202"/>
          <p:cNvSpPr txBox="1"/>
          <p:nvPr/>
        </p:nvSpPr>
        <p:spPr>
          <a:xfrm>
            <a:off x="2788920" y="3936492"/>
            <a:ext cx="1831177"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7  Correct it: There are not towels.</a:t>
            </a:r>
            <a:endParaRPr lang="en-US" sz="1250" dirty="0"/>
          </a:p>
        </p:txBody>
      </p:sp>
      <p:sp>
        <p:nvSpPr>
          <p:cNvPr id="29" name="R7_a6"/>
          <p:cNvSpPr txBox="1"/>
          <p:nvPr/>
        </p:nvSpPr>
        <p:spPr>
          <a:xfrm>
            <a:off x="4674961" y="3973068"/>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There aren't any towels.</a:t>
            </a:r>
            <a:endParaRPr lang="en-US" sz="1150" dirty="0"/>
          </a:p>
        </p:txBody>
      </p:sp>
      <p:sp>
        <p:nvSpPr>
          <p:cNvPr id="30" name="box_203"/>
          <p:cNvSpPr txBox="1"/>
          <p:nvPr/>
        </p:nvSpPr>
        <p:spPr>
          <a:xfrm>
            <a:off x="5870448" y="3936492"/>
            <a:ext cx="1831177"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8  'Com'è la tua camera?' in English?</a:t>
            </a:r>
            <a:endParaRPr lang="en-US" sz="1250" dirty="0"/>
          </a:p>
        </p:txBody>
      </p:sp>
      <p:sp>
        <p:nvSpPr>
          <p:cNvPr id="31" name="R8_a7"/>
          <p:cNvSpPr txBox="1"/>
          <p:nvPr/>
        </p:nvSpPr>
        <p:spPr>
          <a:xfrm>
            <a:off x="7756489" y="3973068"/>
            <a:ext cx="1067471"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What's your room like?</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04"/>
          <p:cNvSpPr/>
          <p:nvPr/>
        </p:nvSpPr>
        <p:spPr>
          <a:xfrm>
            <a:off x="54864" y="54864"/>
            <a:ext cx="9034272" cy="5033772"/>
          </a:xfrm>
          <a:prstGeom prst="rect">
            <a:avLst/>
          </a:prstGeom>
          <a:ln w="114300">
            <a:solidFill>
              <a:srgbClr val="FDBA74"/>
            </a:solidFill>
            <a:prstDash val="solid"/>
          </a:ln>
        </p:spPr>
      </p:sp>
      <p:pic>
        <p:nvPicPr>
          <p:cNvPr id="4" name="logo_20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0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PE1 · Part 2</a:t>
            </a:r>
            <a:endParaRPr lang="en-US" sz="1000" dirty="0"/>
          </a:p>
        </p:txBody>
      </p:sp>
      <p:sp>
        <p:nvSpPr>
          <p:cNvPr id="6" name="title_207"/>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208"/>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8" name="tape_209"/>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9" name="sub_210"/>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211"/>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call reception and explain a problem politely.</a:t>
            </a:r>
            <a:endParaRPr lang="en-US" sz="1350" dirty="0"/>
          </a:p>
        </p:txBody>
      </p:sp>
      <p:sp>
        <p:nvSpPr>
          <p:cNvPr id="11" name="faces_212"/>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13"/>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use social English when I meet people.</a:t>
            </a:r>
            <a:endParaRPr lang="en-US" sz="1350" dirty="0"/>
          </a:p>
        </p:txBody>
      </p:sp>
      <p:sp>
        <p:nvSpPr>
          <p:cNvPr id="13" name="faces_214"/>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215"/>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remember the main language of File 1.</a:t>
            </a:r>
            <a:endParaRPr lang="en-US" sz="1350" dirty="0"/>
          </a:p>
        </p:txBody>
      </p:sp>
      <p:sp>
        <p:nvSpPr>
          <p:cNvPr id="15" name="faces_216"/>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217"/>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PE1 (normal / easier)</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Practical English 1 (teacher's choice)</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7" name="stamp_218"/>
          <p:cNvSpPr txBox="1"/>
          <p:nvPr/>
        </p:nvSpPr>
        <p:spPr>
          <a:xfrm>
            <a:off x="365760" y="3657600"/>
            <a:ext cx="585216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File 2 · 2A OMG! Where's my passport? (past simple – holidays)</a:t>
            </a:r>
            <a:endParaRPr lang="en-US" sz="12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 PE1 Hotel problems</dc:title>
  <dc:subject>PptxGenJS Presentation</dc:subject>
  <dc:creator>London Language School</dc:creator>
  <cp:lastModifiedBy>London Language School</cp:lastModifiedBy>
  <cp:revision>1</cp:revision>
  <dcterms:created xsi:type="dcterms:W3CDTF">2026-10-06T20:29:54Z</dcterms:created>
  <dcterms:modified xsi:type="dcterms:W3CDTF">2026-10-06T20:29:54Z</dcterms:modified>
</cp:coreProperties>
</file>