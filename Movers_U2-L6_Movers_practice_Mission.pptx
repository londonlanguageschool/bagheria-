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(1 min). Today: Cambridge Movers practice (Reading and Writing Part 1) and the Mission in action – learners give their timetables to their two friends.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RETRIEVAL OF LESSON 5 (3 min). GAME PLAN · SEE: 4 story pictures (no sentences) · TEACHER: Say the beginning of a sentence and stop: 1 'I turn off my…' (alarm) 2 'I jump out of bed and get…' (dressed) 3 'My big sister's…' (using the bathroom) 4 'Here's some chocolate milk and some…' (fruit) 5 'All the lights are…' (red) 6 'I go to the bathroom and look in the…' (mirror) 7 'It's eight…' (o'clock) · STUDENTS: put a hand up (one per team) and finish the sentence · GROUPING: 2–3 teams · SCORE/WIN: first correct ending = 1 point; a wrong answer passes to the next team · TIME: 3 min · LANGUAGE: story vocabulary + present simple · REVEAL: the teacher repeats the full sentence; the class repeats 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PRONUNCIATION – ALPHABET TRAPS (3 min). For Italian children, English E sounds like Italian 'i', English I sounds like 'ai' and A sounds like 'ei' – the #1 problem in spelling activities and in the Movers Listening test (spelling names!). Model the rule lines; learners repeat. Practice: say the letter sound, learners WRITE the letter (commit: show me!) → click. Then you spell slowly, learners write the word → click. Needed for the spelling bee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 BEE (5 min). GAME PLAN · SEE: only the 3 levels (no words on screen). Words – Easy: towel, lake, comic · Medium: Monday, helmet, skates, goggles · Boss: Wednesday, Thursday, breakfast, toothpaste · TEACHER: Say a word, use it in a sentence ('Towel. I dry my face with a towel. Towel.'). Choose the level per learner – weaker learners get Easy words. · STUDENTS: spell the word aloud letter by letter (English letter names!) · GROUPING: whole class standing · SCORE/WIN: learners choose the level (weaker learners can win points with Easy words); wrong letter = sit down (get back in by spelling the next missed word); most points / last 3 standing win · TIME: 5 min · LANGUAGE: English letter names; Unit 2 words (towel, lake, comic, Monday, helmet, skates, Wednesday, Thursday, breakfast, toothpaste, goggles) · REVEAL: after each attempt the teacher writes the word on the board letter by letter while the class spells it together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WHAT'S MISSING? Step 1 – LOOK (10 s). Say the words together first (choral). Count down aloud. Then: "Close your eyes!" and go to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– COMMIT. Students write the word on a mini-whiteboard / paper (or teams agree in 10 s). 'Show me!' Then go to the next slide. Points: 1 per team with the right word, +1 if spelt correctly.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 – REVEAL. The missing card comes back with a green frame. Everybody says the word 3 ways: whisper, normal, monster voice. UNIT 2 REVIEW (3 min). After the reveal, point at cards quickly: learners say a sentence with an adverb (I never listen to CDs!). Bonus point: 'see-dee', not 'ci-di'!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PB p.28 ex.1 (5 min). TB presentation: 'Part 1 of the exam has eight pictures. On the next page there are five sentences. You match each sentence with a picture and copy the word carefully. So there are three pictures you don't use.' Pairs write the words (commit), then click once to show all answers. KEY (TB): 1 leaves 2 a comic 3 an email 4 toothpaste 5 a lake 6 breakfast 7 a tractor 8 skates. Ask: How many words have articles? (Four). Note: candidates lose marks for unclear letters. Italian trap: 'an email' (an before a vowel sound).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PB p.28 ex.2 (4 min). (The slide shows the ex.1 pictures as clues; the sentences are on the right.) TB: point to each picture in Activity 1 and say This is a/an … or These are … Learners practise. Read the first sentence, exaggerating THESE and THEY'RE: plural answer (leaves). Learners do the rest alone (commit), then click. KEY (TB): 2 breakfast 3 skates 4 an email. Strategy: circle the words that help you (these, they're, this, a/an).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PB p.28 ex.3 (3 min). Learners complete the missing words (commit) → click. KEY (TB): 1 teeth 2 stories. Point out: toothpaste uses 'tooth' but we clean our TEETH (one tooth, two teeth); story → stories.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PB p.28 ex.4 (5 min). GAME PLAN · SEE: 4 example pictures + frames · TEACHER: Model one: 'You use this to dry your face.' (towel) 'This is the first school day of the week.' (Monday). Write the frames on the board: You use this to … / You can … / There is/are … on the … / This is … / These are … · STUDENTS: each learner writes 3 definitions (challenge: 5, from any Unit 1–2 words); pairs swap and write the words (with a/an or plural!) · GROUPING: pairs · SCORE/WIN: 1 point for each word your partner gets right AND 1 for each correct article/plural · TIME: 5 min · LANGUAGE: definitions with this/these, you use, you can · REVEAL: the writer checks the partner's answers; 2–3 best definitions are read to the class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 QUIZ (5 min). GAME PLAN · SEE: 5 questions (answers NOT on screen) · TEACHER: Read each question; count down 10 seconds · STUDENTS: teams discuss and write the answer on paper, then show it (commit) · GROUPING: 2–3 teams · SCORE/WIN: correct answer = 1 point; bonus point if the team spells the key word with English letter names (T-H-U-R-S-D-A-Y) · TIME: 5 min · LANGUAGE: Unit 2 review: days, adverbs, safety, story · REVEAL: answers: 1 Thursday 2 talk to cats 3 goggles 4 he turns off his alarm / gets up late 5 open (I always clean my teeth…). The teacher says each answer after all teams have shown theirs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MISSION IN ACTION (10 min). MODEL → PRACTISE → PRESENT. 1 Model (TB): hold up an example survey from Stage 1 and talk about the activities the two learners do every week now ('You play basketball twice a week. You never skate.'); then describe an example timetable day by day with safety advice ('You skate on Sunday. You must wear knee pads…'). 2 Practise: pairs rehearse with their own timetable (sentence frames on the board: You … every week. / On … you … / You must … / Do you like the activities?). 3 Present: each pair joins their Stage 1 pair and presents; then swap. Fast finishers: write a response ('We like the timetable. We want to try horse riding. Our favourite day is Friday.'). Display the timetables on the wall.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MISSION REFLECTION (4 min) – TB self-assessment. 'Did you like our Mission? A lot? (cheer) It's OK? (smile) Not much? (shrug)'. Then: Write one fun activity you want to try and a rule with must or mustn't – share. AB p.18: review My unit goals; smiley face for My mission diary (final stage); colour the sunflower leaves (green = confident, orange = more practice); 5+ new words in the word stack. SA: tick on the digital Mission poster, completion stickers: 'You have finished your Mission! Well done!' Next Mission (Unit 3): 'Plan and act out a scene'.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(3 min). Exit challenge: spell your name with English letters to your partner (Movers Listening often asks for names!). Thumbs for each 'I can'. Give out the homework sheet. AB p.28 ex.1: Reading and Writing Part 1 practice. AB p.29: board game for home. TIMING (core ≈ 59 min): cover 1 · finish my sentence 3 · letters 3 · spelling bee 5 · what's missing 3 · look &amp; read 5 · read &amp; think 4 · complete 3 · guess my word 5 · quiz 5 · mission 10 · reflection 4 · exit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BOARD GAME (8 min). GAME PLAN · SEE: the AB p.29 board (also in the Activity Book) · TEACHER: Model one turn: roll, move, make the sentence from the picture + the word on the coloured square (example on the page: 'I always read comics on Saturdays.'). Click to show model sentences one by one AFTER learners try · STUDENTS: roll the dice, move, say a sentence; the group checks · GROUPING: groups of 3–4 with a dice and counters (rubbers / coins); without ABs: project and play as 2 teams · SCORE/WIN: correct sentence = stay; wrong = go back one square; first to FINISH wins · TIME: 8 min · LANGUAGE: free time activities + days + adverbs (always/often/sometimes/never) · REVEAL: the group decides; teacher is the judge for disputes. ⚠ Clock squares: our suggestion – say the time + a daily routine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MEMORY PAIRS (6 min). GAME PLAN · SEE: 8 picture + word cards as an example set · TEACHER: Give each group 8 small picture cards + 8 word cards (or learners make them in 3 minutes) · STUDENTS: take turns to turn over 2 cards, say both aloud; a match = keep the pair + say a sentence ('I often read comics.') · GROUPING: groups of 3–4 · SCORE/WIN: most pairs wins; a pair only counts with a correct sentence · TIME: 6 min · LANGUAGE: Unit 2 vocabulary + adverbs · REVEAL: cards are turned face up; the group checks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jp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UNIT 2 · LESSON 6</a:t>
            </a:r>
            <a:endParaRPr lang="en-US" sz="1600" dirty="0"/>
          </a:p>
        </p:txBody>
      </p:sp>
      <p:sp>
        <p:nvSpPr>
          <p:cNvPr id="4" name="bm_2"/>
          <p:cNvSpPr/>
          <p:nvPr/>
        </p:nvSpPr>
        <p:spPr>
          <a:xfrm rot="-120000">
            <a:off x="228600" y="493776"/>
            <a:ext cx="48463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Mission in action!</a:t>
            </a:r>
            <a:endParaRPr lang="en-US" sz="2700" dirty="0"/>
          </a:p>
        </p:txBody>
      </p:sp>
      <p:sp>
        <p:nvSpPr>
          <p:cNvPr id="5" name="in_3"/>
          <p:cNvSpPr/>
          <p:nvPr/>
        </p:nvSpPr>
        <p:spPr>
          <a:xfrm>
            <a:off x="5212080" y="182880"/>
            <a:ext cx="37033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Today: Movers practice + our timetables! 📝🏆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Oggi: esercizi Movers + i nostri programmi!</a:t>
            </a:r>
            <a:endParaRPr lang="en-US" sz="1400" dirty="0"/>
          </a:p>
        </p:txBody>
      </p:sp>
      <p:sp>
        <p:nvSpPr>
          <p:cNvPr id="6" name="st_4"/>
          <p:cNvSpPr/>
          <p:nvPr/>
        </p:nvSpPr>
        <p:spPr>
          <a:xfrm>
            <a:off x="228600" y="137160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sn_5"/>
          <p:cNvSpPr/>
          <p:nvPr/>
        </p:nvSpPr>
        <p:spPr>
          <a:xfrm>
            <a:off x="118872" y="1261872"/>
            <a:ext cx="384048" cy="384048"/>
          </a:xfrm>
          <a:prstGeom prst="ellipse">
            <a:avLst/>
          </a:prstGeom>
          <a:solidFill>
            <a:srgbClr val="FFD23F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k_6"/>
          <p:cNvSpPr/>
          <p:nvPr/>
        </p:nvSpPr>
        <p:spPr>
          <a:xfrm>
            <a:off x="521208" y="14081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📖 READ</a:t>
            </a:r>
            <a:endParaRPr lang="en-US" sz="1300" dirty="0"/>
          </a:p>
        </p:txBody>
      </p:sp>
      <p:sp>
        <p:nvSpPr>
          <p:cNvPr id="9" name="se_7"/>
          <p:cNvSpPr/>
          <p:nvPr/>
        </p:nvSpPr>
        <p:spPr>
          <a:xfrm>
            <a:off x="338328" y="170078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and write: Movers practice.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Leggi e scrivi: esercizi Movers.</a:t>
            </a:r>
            <a:endParaRPr lang="en-US" sz="1050" dirty="0"/>
          </a:p>
        </p:txBody>
      </p:sp>
      <p:sp>
        <p:nvSpPr>
          <p:cNvPr id="10" name="st_8"/>
          <p:cNvSpPr/>
          <p:nvPr/>
        </p:nvSpPr>
        <p:spPr>
          <a:xfrm>
            <a:off x="228600" y="237744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FF5DA2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1" name="sn_9"/>
          <p:cNvSpPr/>
          <p:nvPr/>
        </p:nvSpPr>
        <p:spPr>
          <a:xfrm>
            <a:off x="118872" y="2267712"/>
            <a:ext cx="384048" cy="384048"/>
          </a:xfrm>
          <a:prstGeom prst="ellipse">
            <a:avLst/>
          </a:prstGeom>
          <a:solidFill>
            <a:srgbClr val="FF5DA2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k_10"/>
          <p:cNvSpPr/>
          <p:nvPr/>
        </p:nvSpPr>
        <p:spPr>
          <a:xfrm>
            <a:off x="521208" y="241401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💬 SPEAK</a:t>
            </a:r>
            <a:endParaRPr lang="en-US" sz="1300" dirty="0"/>
          </a:p>
        </p:txBody>
      </p:sp>
      <p:sp>
        <p:nvSpPr>
          <p:cNvPr id="13" name="se_11"/>
          <p:cNvSpPr/>
          <p:nvPr/>
        </p:nvSpPr>
        <p:spPr>
          <a:xfrm>
            <a:off x="338328" y="270662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 your timetable.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 il tuo programma.</a:t>
            </a:r>
            <a:endParaRPr lang="en-US" sz="1050" dirty="0"/>
          </a:p>
        </p:txBody>
      </p:sp>
      <p:sp>
        <p:nvSpPr>
          <p:cNvPr id="14" name="st_12"/>
          <p:cNvSpPr/>
          <p:nvPr/>
        </p:nvSpPr>
        <p:spPr>
          <a:xfrm>
            <a:off x="228600" y="338328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FF8A3D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5" name="sn_13"/>
          <p:cNvSpPr/>
          <p:nvPr/>
        </p:nvSpPr>
        <p:spPr>
          <a:xfrm>
            <a:off x="118872" y="3273552"/>
            <a:ext cx="384048" cy="384048"/>
          </a:xfrm>
          <a:prstGeom prst="ellipse">
            <a:avLst/>
          </a:prstGeom>
          <a:solidFill>
            <a:srgbClr val="FF8A3D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sk_14"/>
          <p:cNvSpPr/>
          <p:nvPr/>
        </p:nvSpPr>
        <p:spPr>
          <a:xfrm>
            <a:off x="521208" y="341985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🎲 PLAY</a:t>
            </a:r>
            <a:endParaRPr lang="en-US" sz="1300" dirty="0"/>
          </a:p>
        </p:txBody>
      </p:sp>
      <p:sp>
        <p:nvSpPr>
          <p:cNvPr id="17" name="se_15"/>
          <p:cNvSpPr/>
          <p:nvPr/>
        </p:nvSpPr>
        <p:spPr>
          <a:xfrm>
            <a:off x="338328" y="371246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2 team quiz!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a squadre dell'unità 2!</a:t>
            </a:r>
            <a:endParaRPr lang="en-US" sz="1050" dirty="0"/>
          </a:p>
        </p:txBody>
      </p:sp>
      <p:sp>
        <p:nvSpPr>
          <p:cNvPr id="18" name="pf_16"/>
          <p:cNvSpPr/>
          <p:nvPr/>
        </p:nvSpPr>
        <p:spPr>
          <a:xfrm>
            <a:off x="3191256" y="1271016"/>
            <a:ext cx="3355848" cy="3264408"/>
          </a:xfrm>
          <a:prstGeom prst="roundRect">
            <a:avLst>
              <a:gd name="adj" fmla="val 280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9" name="pic_17" descr="/home/claude/movers/img/crop/u2-p29-mission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680694"/>
            <a:ext cx="3246120" cy="2445052"/>
          </a:xfrm>
          <a:prstGeom prst="rect">
            <a:avLst/>
          </a:prstGeom>
        </p:spPr>
      </p:pic>
      <p:sp>
        <p:nvSpPr>
          <p:cNvPr id="20" name="cd_18"/>
          <p:cNvSpPr/>
          <p:nvPr/>
        </p:nvSpPr>
        <p:spPr>
          <a:xfrm>
            <a:off x="6720840" y="3017520"/>
            <a:ext cx="10515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1" name="ci_19" descr="/home/claude/movers/img/e-u2troph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2" y="3090672"/>
            <a:ext cx="905256" cy="905256"/>
          </a:xfrm>
          <a:prstGeom prst="rect">
            <a:avLst/>
          </a:prstGeom>
        </p:spPr>
      </p:pic>
      <p:sp>
        <p:nvSpPr>
          <p:cNvPr id="22" name="cd_20"/>
          <p:cNvSpPr/>
          <p:nvPr/>
        </p:nvSpPr>
        <p:spPr>
          <a:xfrm>
            <a:off x="7863840" y="3017520"/>
            <a:ext cx="10515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3" name="ci_21" descr="/home/claude/movers/img/fc/read-a-comi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6992" y="3090672"/>
            <a:ext cx="905256" cy="905256"/>
          </a:xfrm>
          <a:prstGeom prst="rect">
            <a:avLst/>
          </a:prstGeom>
        </p:spPr>
      </p:pic>
      <p:sp>
        <p:nvSpPr>
          <p:cNvPr id="24" name="bb_22"/>
          <p:cNvSpPr/>
          <p:nvPr/>
        </p:nvSpPr>
        <p:spPr>
          <a:xfrm>
            <a:off x="6675120" y="1874520"/>
            <a:ext cx="224028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A5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Do you like the activities?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Ti piacciono le attività?</a:t>
            </a:r>
            <a:endParaRPr lang="en-US" sz="1500" dirty="0"/>
          </a:p>
        </p:txBody>
      </p:sp>
      <p:sp>
        <p:nvSpPr>
          <p:cNvPr id="25" name="bk_23"/>
          <p:cNvSpPr/>
          <p:nvPr/>
        </p:nvSpPr>
        <p:spPr>
          <a:xfrm>
            <a:off x="228600" y="4681728"/>
            <a:ext cx="381304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pp.28–29 · Activity Book p.29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4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REMEMBER?</a:t>
            </a:r>
            <a:endParaRPr lang="en-US" sz="1600" dirty="0"/>
          </a:p>
        </p:txBody>
      </p:sp>
      <p:sp>
        <p:nvSpPr>
          <p:cNvPr id="4" name="bm_25"/>
          <p:cNvSpPr/>
          <p:nvPr/>
        </p:nvSpPr>
        <p:spPr>
          <a:xfrm rot="-120000">
            <a:off x="228600" y="493776"/>
            <a:ext cx="457200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ln w="31750">
                  <a:solidFill>
                    <a:srgbClr val="1E2A5A"/>
                  </a:solidFill>
                </a:ln>
                <a:solidFill>
                  <a:srgbClr val="6CCB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Finish my sentence!</a:t>
            </a:r>
            <a:endParaRPr lang="en-US" sz="2400" dirty="0"/>
          </a:p>
        </p:txBody>
      </p:sp>
      <p:sp>
        <p:nvSpPr>
          <p:cNvPr id="5" name="in_26"/>
          <p:cNvSpPr/>
          <p:nvPr/>
        </p:nvSpPr>
        <p:spPr>
          <a:xfrm>
            <a:off x="4937760" y="182880"/>
            <a:ext cx="3977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The teacher starts a sentence from Alex's story. Finish it!</a:t>
            </a:r>
            <a:endParaRPr lang="en-US" sz="110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L'insegnante inizia una frase della storia di Alex. Finiscila!</a:t>
            </a:r>
            <a:endParaRPr lang="en-US" sz="1100" dirty="0"/>
          </a:p>
        </p:txBody>
      </p:sp>
      <p:sp>
        <p:nvSpPr>
          <p:cNvPr id="6" name="mode_27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👥👥 TEAMS · ⏱ 3 MIN</a:t>
            </a:r>
            <a:endParaRPr lang="en-US" sz="1000" dirty="0"/>
          </a:p>
        </p:txBody>
      </p:sp>
      <p:sp>
        <p:nvSpPr>
          <p:cNvPr id="7" name="st_28"/>
          <p:cNvSpPr/>
          <p:nvPr/>
        </p:nvSpPr>
        <p:spPr>
          <a:xfrm>
            <a:off x="228600" y="13258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2F9BF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sn_29"/>
          <p:cNvSpPr/>
          <p:nvPr/>
        </p:nvSpPr>
        <p:spPr>
          <a:xfrm>
            <a:off x="118872" y="1216152"/>
            <a:ext cx="384048" cy="384048"/>
          </a:xfrm>
          <a:prstGeom prst="ellipse">
            <a:avLst/>
          </a:prstGeom>
          <a:solidFill>
            <a:srgbClr val="2F9BFF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k_30"/>
          <p:cNvSpPr/>
          <p:nvPr/>
        </p:nvSpPr>
        <p:spPr>
          <a:xfrm>
            <a:off x="521208" y="13624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👂 LISTEN</a:t>
            </a:r>
            <a:endParaRPr lang="en-US" sz="1300" dirty="0"/>
          </a:p>
        </p:txBody>
      </p:sp>
      <p:sp>
        <p:nvSpPr>
          <p:cNvPr id="10" name="se_31"/>
          <p:cNvSpPr/>
          <p:nvPr/>
        </p:nvSpPr>
        <p:spPr>
          <a:xfrm>
            <a:off x="338328" y="16550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Teacher: 'I turn off my…'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L'insegnante: 'I turn off my…'</a:t>
            </a:r>
            <a:endParaRPr lang="en-US" sz="1050" dirty="0"/>
          </a:p>
        </p:txBody>
      </p:sp>
      <p:sp>
        <p:nvSpPr>
          <p:cNvPr id="11" name="st_32"/>
          <p:cNvSpPr/>
          <p:nvPr/>
        </p:nvSpPr>
        <p:spPr>
          <a:xfrm>
            <a:off x="228600" y="23926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5DA2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n_33"/>
          <p:cNvSpPr/>
          <p:nvPr/>
        </p:nvSpPr>
        <p:spPr>
          <a:xfrm>
            <a:off x="118872" y="2282952"/>
            <a:ext cx="384048" cy="384048"/>
          </a:xfrm>
          <a:prstGeom prst="ellipse">
            <a:avLst/>
          </a:prstGeom>
          <a:solidFill>
            <a:srgbClr val="FF5DA2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k_34"/>
          <p:cNvSpPr/>
          <p:nvPr/>
        </p:nvSpPr>
        <p:spPr>
          <a:xfrm>
            <a:off x="521208" y="24292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💬 SPEAK</a:t>
            </a:r>
            <a:endParaRPr lang="en-US" sz="1300" dirty="0"/>
          </a:p>
        </p:txBody>
      </p:sp>
      <p:sp>
        <p:nvSpPr>
          <p:cNvPr id="14" name="se_35"/>
          <p:cNvSpPr/>
          <p:nvPr/>
        </p:nvSpPr>
        <p:spPr>
          <a:xfrm>
            <a:off x="338328" y="27218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 '…alarm!'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Squadra: '…alarm!'</a:t>
            </a:r>
            <a:endParaRPr lang="en-US" sz="1050" dirty="0"/>
          </a:p>
        </p:txBody>
      </p:sp>
      <p:sp>
        <p:nvSpPr>
          <p:cNvPr id="15" name="st_36"/>
          <p:cNvSpPr/>
          <p:nvPr/>
        </p:nvSpPr>
        <p:spPr>
          <a:xfrm>
            <a:off x="228600" y="34594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8A3D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n_37"/>
          <p:cNvSpPr/>
          <p:nvPr/>
        </p:nvSpPr>
        <p:spPr>
          <a:xfrm>
            <a:off x="118872" y="3349752"/>
            <a:ext cx="384048" cy="384048"/>
          </a:xfrm>
          <a:prstGeom prst="ellipse">
            <a:avLst/>
          </a:prstGeom>
          <a:solidFill>
            <a:srgbClr val="FF8A3D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sk_38"/>
          <p:cNvSpPr/>
          <p:nvPr/>
        </p:nvSpPr>
        <p:spPr>
          <a:xfrm>
            <a:off x="521208" y="34960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🎲 PLAY</a:t>
            </a:r>
            <a:endParaRPr lang="en-US" sz="1300" dirty="0"/>
          </a:p>
        </p:txBody>
      </p:sp>
      <p:sp>
        <p:nvSpPr>
          <p:cNvPr id="18" name="se_39"/>
          <p:cNvSpPr/>
          <p:nvPr/>
        </p:nvSpPr>
        <p:spPr>
          <a:xfrm>
            <a:off x="338328" y="37886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Fastest hand = 1 point!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Mano più veloce = 1 punto!</a:t>
            </a:r>
            <a:endParaRPr lang="en-US" sz="1050" dirty="0"/>
          </a:p>
        </p:txBody>
      </p:sp>
      <p:sp>
        <p:nvSpPr>
          <p:cNvPr id="19" name="cd_40"/>
          <p:cNvSpPr/>
          <p:nvPr/>
        </p:nvSpPr>
        <p:spPr>
          <a:xfrm>
            <a:off x="3108960" y="132588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0" name="ci_41" descr="/home/claude/movers/img/e-u2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112" y="1399032"/>
            <a:ext cx="1179576" cy="1179576"/>
          </a:xfrm>
          <a:prstGeom prst="rect">
            <a:avLst/>
          </a:prstGeom>
        </p:spPr>
      </p:pic>
      <p:sp>
        <p:nvSpPr>
          <p:cNvPr id="21" name="cd_42"/>
          <p:cNvSpPr/>
          <p:nvPr/>
        </p:nvSpPr>
        <p:spPr>
          <a:xfrm>
            <a:off x="4572000" y="132588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2" name="ci_43" descr="/home/claude/movers/img/fc/get-dress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152" y="1399032"/>
            <a:ext cx="1179576" cy="1179576"/>
          </a:xfrm>
          <a:prstGeom prst="rect">
            <a:avLst/>
          </a:prstGeom>
        </p:spPr>
      </p:pic>
      <p:sp>
        <p:nvSpPr>
          <p:cNvPr id="23" name="cd_44"/>
          <p:cNvSpPr/>
          <p:nvPr/>
        </p:nvSpPr>
        <p:spPr>
          <a:xfrm>
            <a:off x="6035040" y="132588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4" name="ci_45" descr="/home/claude/movers/img/fc/have-breakfas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192" y="1399032"/>
            <a:ext cx="1179576" cy="1179576"/>
          </a:xfrm>
          <a:prstGeom prst="rect">
            <a:avLst/>
          </a:prstGeom>
        </p:spPr>
      </p:pic>
      <p:sp>
        <p:nvSpPr>
          <p:cNvPr id="25" name="cd_46"/>
          <p:cNvSpPr/>
          <p:nvPr/>
        </p:nvSpPr>
        <p:spPr>
          <a:xfrm>
            <a:off x="7498080" y="132588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6" name="ci_47" descr="/home/claude/movers/img/e-u2mirro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1232" y="1399032"/>
            <a:ext cx="1179576" cy="1179576"/>
          </a:xfrm>
          <a:prstGeom prst="rect">
            <a:avLst/>
          </a:prstGeom>
        </p:spPr>
      </p:pic>
      <p:sp>
        <p:nvSpPr>
          <p:cNvPr id="27" name="bk_48"/>
          <p:cNvSpPr/>
          <p:nvPr/>
        </p:nvSpPr>
        <p:spPr>
          <a:xfrm>
            <a:off x="228600" y="4681728"/>
            <a:ext cx="2569464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Retrieval · Lesson 5 story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49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SOUNDS 🔤</a:t>
            </a:r>
            <a:endParaRPr lang="en-US" sz="1600" dirty="0"/>
          </a:p>
        </p:txBody>
      </p:sp>
      <p:sp>
        <p:nvSpPr>
          <p:cNvPr id="4" name="bm_50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8A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Letter traps!</a:t>
            </a:r>
            <a:endParaRPr lang="en-US" sz="2700" dirty="0"/>
          </a:p>
        </p:txBody>
      </p:sp>
      <p:sp>
        <p:nvSpPr>
          <p:cNvPr id="5" name="in_51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English letters sound different! Listen. Which letter?</a:t>
            </a:r>
            <a:endParaRPr lang="en-US" sz="1350" dirty="0"/>
          </a:p>
          <a:p>
            <a:pPr indent="0" marL="0">
              <a:buNone/>
            </a:pPr>
            <a:r>
              <a:rPr lang="en-US" sz="115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Le lettere inglesi suonano diverse! Ascolta. Quale lettera?</a:t>
            </a:r>
            <a:endParaRPr lang="en-US" sz="1350" dirty="0"/>
          </a:p>
        </p:txBody>
      </p:sp>
      <p:sp>
        <p:nvSpPr>
          <p:cNvPr id="6" name="mode_52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👤 ALONE · ✍ WRITE</a:t>
            </a:r>
            <a:endParaRPr lang="en-US" sz="1000" dirty="0"/>
          </a:p>
        </p:txBody>
      </p:sp>
      <p:sp>
        <p:nvSpPr>
          <p:cNvPr id="7" name="gb_53"/>
          <p:cNvSpPr/>
          <p:nvPr/>
        </p:nvSpPr>
        <p:spPr>
          <a:xfrm>
            <a:off x="320040" y="1280160"/>
            <a:ext cx="8503920" cy="1225296"/>
          </a:xfrm>
          <a:prstGeom prst="roundRect">
            <a:avLst>
              <a:gd name="adj" fmla="val 8955"/>
            </a:avLst>
          </a:prstGeom>
          <a:solidFill>
            <a:srgbClr val="FFF1E0"/>
          </a:solidFill>
          <a:ln w="38100">
            <a:solidFill>
              <a:srgbClr val="FF8A3D"/>
            </a:solidFill>
            <a:prstDash val="solid"/>
          </a:ln>
        </p:spPr>
      </p:sp>
      <p:sp>
        <p:nvSpPr>
          <p:cNvPr id="8" name="gl_54"/>
          <p:cNvSpPr/>
          <p:nvPr/>
        </p:nvSpPr>
        <p:spPr>
          <a:xfrm>
            <a:off x="548640" y="141732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= </a:t>
            </a:r>
            <a:pPr indent="0" marL="0">
              <a:buNone/>
            </a:pPr>
            <a:r>
              <a:rPr lang="en-US" sz="1500" b="1" dirty="0">
                <a:solidFill>
                  <a:srgbClr val="F2545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'ei'</a:t>
            </a:r>
            <a:pPr indent="0" marL="0">
              <a:buNone/>
            </a:pPr>
            <a:r>
              <a:rPr lang="en-US" sz="15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E = </a:t>
            </a:r>
            <a:pPr indent="0" marL="0">
              <a:buNone/>
            </a:pPr>
            <a:r>
              <a:rPr lang="en-US" sz="1500" b="1" dirty="0">
                <a:solidFill>
                  <a:srgbClr val="F2545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'ii'</a:t>
            </a:r>
            <a:pPr indent="0" marL="0">
              <a:buNone/>
            </a:pPr>
            <a:r>
              <a:rPr lang="en-US" sz="15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I = </a:t>
            </a:r>
            <a:pPr indent="0" marL="0">
              <a:buNone/>
            </a:pPr>
            <a:r>
              <a:rPr lang="en-US" sz="1500" b="1" dirty="0">
                <a:solidFill>
                  <a:srgbClr val="F2545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'ai'</a:t>
            </a:r>
            <a:endParaRPr lang="en-US" sz="1500" dirty="0"/>
          </a:p>
        </p:txBody>
      </p:sp>
      <p:sp>
        <p:nvSpPr>
          <p:cNvPr id="9" name="gl_55"/>
          <p:cNvSpPr/>
          <p:nvPr/>
        </p:nvSpPr>
        <p:spPr>
          <a:xfrm>
            <a:off x="548640" y="180136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 = </a:t>
            </a:r>
            <a:pPr indent="0" marL="0">
              <a:buNone/>
            </a:pPr>
            <a:r>
              <a:rPr lang="en-US" sz="1500" b="1" dirty="0">
                <a:solidFill>
                  <a:srgbClr val="F2545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'gii'</a:t>
            </a:r>
            <a:pPr indent="0" marL="0">
              <a:buNone/>
            </a:pPr>
            <a:r>
              <a:rPr lang="en-US" sz="15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J = </a:t>
            </a:r>
            <a:pPr indent="0" marL="0">
              <a:buNone/>
            </a:pPr>
            <a:r>
              <a:rPr lang="en-US" sz="1500" b="1" dirty="0">
                <a:solidFill>
                  <a:srgbClr val="F2545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'gei'</a:t>
            </a:r>
            <a:pPr indent="0" marL="0">
              <a:buNone/>
            </a:pPr>
            <a:r>
              <a:rPr lang="en-US" sz="15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Y = </a:t>
            </a:r>
            <a:pPr indent="0" marL="0">
              <a:buNone/>
            </a:pPr>
            <a:r>
              <a:rPr lang="en-US" sz="1500" b="1" dirty="0">
                <a:solidFill>
                  <a:srgbClr val="F2545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'uai'</a:t>
            </a:r>
            <a:endParaRPr lang="en-US" sz="1500" dirty="0"/>
          </a:p>
        </p:txBody>
      </p:sp>
      <p:sp>
        <p:nvSpPr>
          <p:cNvPr id="10" name="pq_56"/>
          <p:cNvSpPr/>
          <p:nvPr/>
        </p:nvSpPr>
        <p:spPr>
          <a:xfrm>
            <a:off x="365760" y="264261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Teacher says: 'ii'</a:t>
            </a:r>
            <a:endParaRPr lang="en-US" sz="1300" dirty="0"/>
          </a:p>
        </p:txBody>
      </p:sp>
      <p:sp>
        <p:nvSpPr>
          <p:cNvPr id="11" name="R1_pa57"/>
          <p:cNvSpPr/>
          <p:nvPr/>
        </p:nvSpPr>
        <p:spPr>
          <a:xfrm>
            <a:off x="6126480" y="264261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 (not I!)</a:t>
            </a:r>
            <a:endParaRPr lang="en-US" sz="1300" dirty="0"/>
          </a:p>
        </p:txBody>
      </p:sp>
      <p:sp>
        <p:nvSpPr>
          <p:cNvPr id="12" name="pq_58"/>
          <p:cNvSpPr/>
          <p:nvPr/>
        </p:nvSpPr>
        <p:spPr>
          <a:xfrm>
            <a:off x="365760" y="309981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Teacher says: 'ai'</a:t>
            </a:r>
            <a:endParaRPr lang="en-US" sz="1300" dirty="0"/>
          </a:p>
        </p:txBody>
      </p:sp>
      <p:sp>
        <p:nvSpPr>
          <p:cNvPr id="13" name="R2_pa59"/>
          <p:cNvSpPr/>
          <p:nvPr/>
        </p:nvSpPr>
        <p:spPr>
          <a:xfrm>
            <a:off x="6126480" y="309981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</a:t>
            </a:r>
            <a:endParaRPr lang="en-US" sz="1300" dirty="0"/>
          </a:p>
        </p:txBody>
      </p:sp>
      <p:sp>
        <p:nvSpPr>
          <p:cNvPr id="14" name="pq_60"/>
          <p:cNvSpPr/>
          <p:nvPr/>
        </p:nvSpPr>
        <p:spPr>
          <a:xfrm>
            <a:off x="365760" y="355701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Spell 'leaves'</a:t>
            </a:r>
            <a:endParaRPr lang="en-US" sz="1300" dirty="0"/>
          </a:p>
        </p:txBody>
      </p:sp>
      <p:sp>
        <p:nvSpPr>
          <p:cNvPr id="15" name="R3_pa61"/>
          <p:cNvSpPr/>
          <p:nvPr/>
        </p:nvSpPr>
        <p:spPr>
          <a:xfrm>
            <a:off x="6126480" y="355701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 – E – A – V – E – S</a:t>
            </a:r>
            <a:endParaRPr lang="en-US" sz="1300" dirty="0"/>
          </a:p>
        </p:txBody>
      </p:sp>
      <p:sp>
        <p:nvSpPr>
          <p:cNvPr id="16" name="pq_62"/>
          <p:cNvSpPr/>
          <p:nvPr/>
        </p:nvSpPr>
        <p:spPr>
          <a:xfrm>
            <a:off x="365760" y="401421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Spell 'email'</a:t>
            </a:r>
            <a:endParaRPr lang="en-US" sz="1300" dirty="0"/>
          </a:p>
        </p:txBody>
      </p:sp>
      <p:sp>
        <p:nvSpPr>
          <p:cNvPr id="17" name="R4_pa63"/>
          <p:cNvSpPr/>
          <p:nvPr/>
        </p:nvSpPr>
        <p:spPr>
          <a:xfrm>
            <a:off x="6126480" y="401421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 – M – A – I – L</a:t>
            </a:r>
            <a:endParaRPr lang="en-US" sz="1300" dirty="0"/>
          </a:p>
        </p:txBody>
      </p:sp>
      <p:sp>
        <p:nvSpPr>
          <p:cNvPr id="18" name="bk_64"/>
          <p:cNvSpPr/>
          <p:nvPr/>
        </p:nvSpPr>
        <p:spPr>
          <a:xfrm>
            <a:off x="228600" y="4681728"/>
            <a:ext cx="3346704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Pronunciation · English letter names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65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</a:t>
            </a:r>
            <a:endParaRPr lang="en-US" sz="1600" dirty="0"/>
          </a:p>
        </p:txBody>
      </p:sp>
      <p:sp>
        <p:nvSpPr>
          <p:cNvPr id="4" name="bm_66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6CCB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Spelling bee!</a:t>
            </a:r>
            <a:endParaRPr lang="en-US" sz="2700" dirty="0"/>
          </a:p>
        </p:txBody>
      </p:sp>
      <p:sp>
        <p:nvSpPr>
          <p:cNvPr id="5" name="in_67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Listen and spell the word. Right? Stay standing!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Ascolta e fai lo spelling. Giusto? Resta in piedi!</a:t>
            </a:r>
            <a:endParaRPr lang="en-US" sz="1400" dirty="0"/>
          </a:p>
        </p:txBody>
      </p:sp>
      <p:sp>
        <p:nvSpPr>
          <p:cNvPr id="6" name="mode_68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🗣 WHOLE CLASS · ⏱ 5 MIN</a:t>
            </a:r>
            <a:endParaRPr lang="en-US" sz="1000" dirty="0"/>
          </a:p>
        </p:txBody>
      </p:sp>
      <p:sp>
        <p:nvSpPr>
          <p:cNvPr id="7" name="st_69"/>
          <p:cNvSpPr/>
          <p:nvPr/>
        </p:nvSpPr>
        <p:spPr>
          <a:xfrm>
            <a:off x="228600" y="13258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2F9BF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sn_70"/>
          <p:cNvSpPr/>
          <p:nvPr/>
        </p:nvSpPr>
        <p:spPr>
          <a:xfrm>
            <a:off x="118872" y="1216152"/>
            <a:ext cx="384048" cy="384048"/>
          </a:xfrm>
          <a:prstGeom prst="ellipse">
            <a:avLst/>
          </a:prstGeom>
          <a:solidFill>
            <a:srgbClr val="2F9BFF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k_71"/>
          <p:cNvSpPr/>
          <p:nvPr/>
        </p:nvSpPr>
        <p:spPr>
          <a:xfrm>
            <a:off x="521208" y="13624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👂 LISTEN</a:t>
            </a:r>
            <a:endParaRPr lang="en-US" sz="1300" dirty="0"/>
          </a:p>
        </p:txBody>
      </p:sp>
      <p:sp>
        <p:nvSpPr>
          <p:cNvPr id="10" name="se_72"/>
          <p:cNvSpPr/>
          <p:nvPr/>
        </p:nvSpPr>
        <p:spPr>
          <a:xfrm>
            <a:off x="338328" y="16550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says a word from Unit 2.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L'insegnante dice una parola dell'unità 2.</a:t>
            </a:r>
            <a:endParaRPr lang="en-US" sz="1050" dirty="0"/>
          </a:p>
        </p:txBody>
      </p:sp>
      <p:sp>
        <p:nvSpPr>
          <p:cNvPr id="11" name="st_73"/>
          <p:cNvSpPr/>
          <p:nvPr/>
        </p:nvSpPr>
        <p:spPr>
          <a:xfrm>
            <a:off x="228600" y="23926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5DA2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n_74"/>
          <p:cNvSpPr/>
          <p:nvPr/>
        </p:nvSpPr>
        <p:spPr>
          <a:xfrm>
            <a:off x="118872" y="2282952"/>
            <a:ext cx="384048" cy="384048"/>
          </a:xfrm>
          <a:prstGeom prst="ellipse">
            <a:avLst/>
          </a:prstGeom>
          <a:solidFill>
            <a:srgbClr val="FF5DA2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k_75"/>
          <p:cNvSpPr/>
          <p:nvPr/>
        </p:nvSpPr>
        <p:spPr>
          <a:xfrm>
            <a:off x="521208" y="24292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💬 SPEAK</a:t>
            </a:r>
            <a:endParaRPr lang="en-US" sz="1300" dirty="0"/>
          </a:p>
        </p:txBody>
      </p:sp>
      <p:sp>
        <p:nvSpPr>
          <p:cNvPr id="14" name="se_76"/>
          <p:cNvSpPr/>
          <p:nvPr/>
        </p:nvSpPr>
        <p:spPr>
          <a:xfrm>
            <a:off x="338328" y="27218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Spell it: T-O-W-E-L!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 lo spelling: T-O-W-E-L!</a:t>
            </a:r>
            <a:endParaRPr lang="en-US" sz="1050" dirty="0"/>
          </a:p>
        </p:txBody>
      </p:sp>
      <p:sp>
        <p:nvSpPr>
          <p:cNvPr id="15" name="st_77"/>
          <p:cNvSpPr/>
          <p:nvPr/>
        </p:nvSpPr>
        <p:spPr>
          <a:xfrm>
            <a:off x="228600" y="34594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8A3D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n_78"/>
          <p:cNvSpPr/>
          <p:nvPr/>
        </p:nvSpPr>
        <p:spPr>
          <a:xfrm>
            <a:off x="118872" y="3349752"/>
            <a:ext cx="384048" cy="384048"/>
          </a:xfrm>
          <a:prstGeom prst="ellipse">
            <a:avLst/>
          </a:prstGeom>
          <a:solidFill>
            <a:srgbClr val="FF8A3D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sk_79"/>
          <p:cNvSpPr/>
          <p:nvPr/>
        </p:nvSpPr>
        <p:spPr>
          <a:xfrm>
            <a:off x="521208" y="34960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🏃 MOVE</a:t>
            </a:r>
            <a:endParaRPr lang="en-US" sz="1300" dirty="0"/>
          </a:p>
        </p:txBody>
      </p:sp>
      <p:sp>
        <p:nvSpPr>
          <p:cNvPr id="18" name="se_80"/>
          <p:cNvSpPr/>
          <p:nvPr/>
        </p:nvSpPr>
        <p:spPr>
          <a:xfrm>
            <a:off x="338328" y="37886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Wrong? Sit down. Last one standing wins!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Sbagliato? Siediti. L'ultimo in piedi vince!</a:t>
            </a:r>
            <a:endParaRPr lang="en-US" sz="1050" dirty="0"/>
          </a:p>
        </p:txBody>
      </p:sp>
      <p:sp>
        <p:nvSpPr>
          <p:cNvPr id="19" name="gl_81"/>
          <p:cNvSpPr/>
          <p:nvPr/>
        </p:nvSpPr>
        <p:spPr>
          <a:xfrm>
            <a:off x="3108960" y="1325880"/>
            <a:ext cx="5715000" cy="3200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🐝 Easy word = 1 point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🐝🐝 Medium word = 2 points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🐝🐝🐝 Boss word = 3 points!</a:t>
            </a:r>
            <a:endParaRPr lang="en-US" sz="1400" dirty="0"/>
          </a:p>
        </p:txBody>
      </p:sp>
      <p:sp>
        <p:nvSpPr>
          <p:cNvPr id="20" name="bk_82"/>
          <p:cNvSpPr/>
          <p:nvPr/>
        </p:nvSpPr>
        <p:spPr>
          <a:xfrm>
            <a:off x="228600" y="4681728"/>
            <a:ext cx="186994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Unit 2 vocabulary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83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</a:t>
            </a:r>
            <a:endParaRPr lang="en-US" sz="1600" dirty="0"/>
          </a:p>
        </p:txBody>
      </p:sp>
      <p:sp>
        <p:nvSpPr>
          <p:cNvPr id="4" name="bm_84"/>
          <p:cNvSpPr/>
          <p:nvPr/>
        </p:nvSpPr>
        <p:spPr>
          <a:xfrm rot="-120000">
            <a:off x="228600" y="493776"/>
            <a:ext cx="457200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Look and remember!</a:t>
            </a:r>
            <a:endParaRPr lang="en-US" sz="2700" dirty="0"/>
          </a:p>
        </p:txBody>
      </p:sp>
      <p:sp>
        <p:nvSpPr>
          <p:cNvPr id="5" name="in_85"/>
          <p:cNvSpPr/>
          <p:nvPr/>
        </p:nvSpPr>
        <p:spPr>
          <a:xfrm>
            <a:off x="4937760" y="182880"/>
            <a:ext cx="3977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👀 Look for 10 seconds. Remember ALL the pictures!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 e ricorda tutte le immagini!</a:t>
            </a:r>
            <a:endParaRPr lang="en-US" sz="1400" dirty="0"/>
          </a:p>
        </p:txBody>
      </p:sp>
      <p:sp>
        <p:nvSpPr>
          <p:cNvPr id="6" name="cd_86"/>
          <p:cNvSpPr/>
          <p:nvPr/>
        </p:nvSpPr>
        <p:spPr>
          <a:xfrm>
            <a:off x="32004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ci_87" descr="/home/claude/movers/img/fc/wake-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1353312"/>
            <a:ext cx="1024128" cy="1024128"/>
          </a:xfrm>
          <a:prstGeom prst="rect">
            <a:avLst/>
          </a:prstGeom>
        </p:spPr>
      </p:pic>
      <p:sp>
        <p:nvSpPr>
          <p:cNvPr id="8" name="lb_88"/>
          <p:cNvSpPr/>
          <p:nvPr/>
        </p:nvSpPr>
        <p:spPr>
          <a:xfrm>
            <a:off x="356616" y="239572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wake up</a:t>
            </a:r>
            <a:endParaRPr lang="en-US" sz="1200" dirty="0"/>
          </a:p>
        </p:txBody>
      </p:sp>
      <p:sp>
        <p:nvSpPr>
          <p:cNvPr id="9" name="cd_89"/>
          <p:cNvSpPr/>
          <p:nvPr/>
        </p:nvSpPr>
        <p:spPr>
          <a:xfrm>
            <a:off x="205740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0" name="ci_90" descr="/home/claude/movers/img/fc/have-a-show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2576" y="1353312"/>
            <a:ext cx="1024128" cy="1024128"/>
          </a:xfrm>
          <a:prstGeom prst="rect">
            <a:avLst/>
          </a:prstGeom>
        </p:spPr>
      </p:pic>
      <p:sp>
        <p:nvSpPr>
          <p:cNvPr id="11" name="lb_91"/>
          <p:cNvSpPr/>
          <p:nvPr/>
        </p:nvSpPr>
        <p:spPr>
          <a:xfrm>
            <a:off x="2093976" y="239572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have a shower</a:t>
            </a:r>
            <a:endParaRPr lang="en-US" sz="1200" dirty="0"/>
          </a:p>
        </p:txBody>
      </p:sp>
      <p:sp>
        <p:nvSpPr>
          <p:cNvPr id="12" name="cd_92"/>
          <p:cNvSpPr/>
          <p:nvPr/>
        </p:nvSpPr>
        <p:spPr>
          <a:xfrm>
            <a:off x="379476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3" name="ci_93" descr="/home/claude/movers/img/fc/toothpas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9936" y="1353312"/>
            <a:ext cx="1024128" cy="1024128"/>
          </a:xfrm>
          <a:prstGeom prst="rect">
            <a:avLst/>
          </a:prstGeom>
        </p:spPr>
      </p:pic>
      <p:sp>
        <p:nvSpPr>
          <p:cNvPr id="14" name="lb_94"/>
          <p:cNvSpPr/>
          <p:nvPr/>
        </p:nvSpPr>
        <p:spPr>
          <a:xfrm>
            <a:off x="3831336" y="239572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toothpaste</a:t>
            </a:r>
            <a:endParaRPr lang="en-US" sz="1200" dirty="0"/>
          </a:p>
        </p:txBody>
      </p:sp>
      <p:sp>
        <p:nvSpPr>
          <p:cNvPr id="15" name="cd_95"/>
          <p:cNvSpPr/>
          <p:nvPr/>
        </p:nvSpPr>
        <p:spPr>
          <a:xfrm>
            <a:off x="553212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6" name="ci_96" descr="/home/claude/movers/img/fc/towe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7296" y="1353312"/>
            <a:ext cx="1024128" cy="1024128"/>
          </a:xfrm>
          <a:prstGeom prst="rect">
            <a:avLst/>
          </a:prstGeom>
        </p:spPr>
      </p:pic>
      <p:sp>
        <p:nvSpPr>
          <p:cNvPr id="17" name="lb_97"/>
          <p:cNvSpPr/>
          <p:nvPr/>
        </p:nvSpPr>
        <p:spPr>
          <a:xfrm>
            <a:off x="5568696" y="239572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towel</a:t>
            </a:r>
            <a:endParaRPr lang="en-US" sz="1200" dirty="0"/>
          </a:p>
        </p:txBody>
      </p:sp>
      <p:sp>
        <p:nvSpPr>
          <p:cNvPr id="18" name="cd_98"/>
          <p:cNvSpPr/>
          <p:nvPr/>
        </p:nvSpPr>
        <p:spPr>
          <a:xfrm>
            <a:off x="726948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9" name="ci_99" descr="/home/claude/movers/img/fc/monda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4656" y="1353312"/>
            <a:ext cx="1024128" cy="1024128"/>
          </a:xfrm>
          <a:prstGeom prst="rect">
            <a:avLst/>
          </a:prstGeom>
        </p:spPr>
      </p:pic>
      <p:sp>
        <p:nvSpPr>
          <p:cNvPr id="20" name="lb_100"/>
          <p:cNvSpPr/>
          <p:nvPr/>
        </p:nvSpPr>
        <p:spPr>
          <a:xfrm>
            <a:off x="7306056" y="239572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monday</a:t>
            </a:r>
            <a:endParaRPr lang="en-US" sz="1200" dirty="0"/>
          </a:p>
        </p:txBody>
      </p:sp>
      <p:sp>
        <p:nvSpPr>
          <p:cNvPr id="21" name="cd_101"/>
          <p:cNvSpPr/>
          <p:nvPr/>
        </p:nvSpPr>
        <p:spPr>
          <a:xfrm>
            <a:off x="32004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2" name="ci_102" descr="/home/claude/movers/img/fc/saturda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216" y="3017520"/>
            <a:ext cx="1024128" cy="1024128"/>
          </a:xfrm>
          <a:prstGeom prst="rect">
            <a:avLst/>
          </a:prstGeom>
        </p:spPr>
      </p:pic>
      <p:sp>
        <p:nvSpPr>
          <p:cNvPr id="23" name="lb_103"/>
          <p:cNvSpPr/>
          <p:nvPr/>
        </p:nvSpPr>
        <p:spPr>
          <a:xfrm>
            <a:off x="356616" y="405993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saturday</a:t>
            </a:r>
            <a:endParaRPr lang="en-US" sz="1200" dirty="0"/>
          </a:p>
        </p:txBody>
      </p:sp>
      <p:sp>
        <p:nvSpPr>
          <p:cNvPr id="24" name="cd_104"/>
          <p:cNvSpPr/>
          <p:nvPr/>
        </p:nvSpPr>
        <p:spPr>
          <a:xfrm>
            <a:off x="205740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5" name="ci_105" descr="/home/claude/movers/img/fc/go-skating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22576" y="3017520"/>
            <a:ext cx="1024128" cy="1024128"/>
          </a:xfrm>
          <a:prstGeom prst="rect">
            <a:avLst/>
          </a:prstGeom>
        </p:spPr>
      </p:pic>
      <p:sp>
        <p:nvSpPr>
          <p:cNvPr id="26" name="lb_106"/>
          <p:cNvSpPr/>
          <p:nvPr/>
        </p:nvSpPr>
        <p:spPr>
          <a:xfrm>
            <a:off x="2093976" y="405993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 skating</a:t>
            </a:r>
            <a:endParaRPr lang="en-US" sz="1200" dirty="0"/>
          </a:p>
        </p:txBody>
      </p:sp>
      <p:sp>
        <p:nvSpPr>
          <p:cNvPr id="27" name="cd_107"/>
          <p:cNvSpPr/>
          <p:nvPr/>
        </p:nvSpPr>
        <p:spPr>
          <a:xfrm>
            <a:off x="379476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8" name="ci_108" descr="/home/claude/movers/img/fc/listen-to-a-c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59936" y="3017520"/>
            <a:ext cx="1024128" cy="1024128"/>
          </a:xfrm>
          <a:prstGeom prst="rect">
            <a:avLst/>
          </a:prstGeom>
        </p:spPr>
      </p:pic>
      <p:sp>
        <p:nvSpPr>
          <p:cNvPr id="29" name="lb_109"/>
          <p:cNvSpPr/>
          <p:nvPr/>
        </p:nvSpPr>
        <p:spPr>
          <a:xfrm>
            <a:off x="3831336" y="405993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listen to a cd</a:t>
            </a:r>
            <a:endParaRPr lang="en-US" sz="1200" dirty="0"/>
          </a:p>
        </p:txBody>
      </p:sp>
      <p:sp>
        <p:nvSpPr>
          <p:cNvPr id="30" name="cd_110"/>
          <p:cNvSpPr/>
          <p:nvPr/>
        </p:nvSpPr>
        <p:spPr>
          <a:xfrm>
            <a:off x="553212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31" name="ci_111" descr="/home/claude/movers/img/fc/watch-a-dv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97296" y="3017520"/>
            <a:ext cx="1024128" cy="1024128"/>
          </a:xfrm>
          <a:prstGeom prst="rect">
            <a:avLst/>
          </a:prstGeom>
        </p:spPr>
      </p:pic>
      <p:sp>
        <p:nvSpPr>
          <p:cNvPr id="32" name="lb_112"/>
          <p:cNvSpPr/>
          <p:nvPr/>
        </p:nvSpPr>
        <p:spPr>
          <a:xfrm>
            <a:off x="5568696" y="405993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watch a dvd</a:t>
            </a:r>
            <a:endParaRPr lang="en-US" sz="1200" dirty="0"/>
          </a:p>
        </p:txBody>
      </p:sp>
      <p:sp>
        <p:nvSpPr>
          <p:cNvPr id="33" name="cd_113"/>
          <p:cNvSpPr/>
          <p:nvPr/>
        </p:nvSpPr>
        <p:spPr>
          <a:xfrm>
            <a:off x="726948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34" name="ci_114" descr="/home/claude/movers/img/fc/write-an-email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34656" y="3017520"/>
            <a:ext cx="1024128" cy="1024128"/>
          </a:xfrm>
          <a:prstGeom prst="rect">
            <a:avLst/>
          </a:prstGeom>
        </p:spPr>
      </p:pic>
      <p:sp>
        <p:nvSpPr>
          <p:cNvPr id="35" name="lb_115"/>
          <p:cNvSpPr/>
          <p:nvPr/>
        </p:nvSpPr>
        <p:spPr>
          <a:xfrm>
            <a:off x="7306056" y="405993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write an email</a:t>
            </a:r>
            <a:endParaRPr lang="en-US" sz="1200" dirty="0"/>
          </a:p>
        </p:txBody>
      </p:sp>
      <p:sp>
        <p:nvSpPr>
          <p:cNvPr id="36" name="bk_116"/>
          <p:cNvSpPr/>
          <p:nvPr/>
        </p:nvSpPr>
        <p:spPr>
          <a:xfrm>
            <a:off x="228600" y="4681728"/>
            <a:ext cx="186994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Unit 2 flashcards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17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</a:t>
            </a:r>
            <a:endParaRPr lang="en-US" sz="1600" dirty="0"/>
          </a:p>
        </p:txBody>
      </p:sp>
      <p:sp>
        <p:nvSpPr>
          <p:cNvPr id="4" name="bm_118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missing?</a:t>
            </a:r>
            <a:endParaRPr lang="en-US" sz="2700" dirty="0"/>
          </a:p>
        </p:txBody>
      </p:sp>
      <p:sp>
        <p:nvSpPr>
          <p:cNvPr id="5" name="in_119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Open your eyes! What's missing? Write it or whisper it to your partner.</a:t>
            </a:r>
            <a:endParaRPr lang="en-US" sz="1350" dirty="0"/>
          </a:p>
          <a:p>
            <a:pPr indent="0" marL="0">
              <a:buNone/>
            </a:pPr>
            <a:r>
              <a:rPr lang="en-US" sz="115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Apri gli occhi! Cosa manca? Scrivilo o dillo al compagno.</a:t>
            </a:r>
            <a:endParaRPr lang="en-US" sz="1350" dirty="0"/>
          </a:p>
        </p:txBody>
      </p:sp>
      <p:sp>
        <p:nvSpPr>
          <p:cNvPr id="6" name="cd_120"/>
          <p:cNvSpPr/>
          <p:nvPr/>
        </p:nvSpPr>
        <p:spPr>
          <a:xfrm>
            <a:off x="32004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ci_121" descr="/home/claude/movers/img/fc/wake-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1353312"/>
            <a:ext cx="1024128" cy="1024128"/>
          </a:xfrm>
          <a:prstGeom prst="rect">
            <a:avLst/>
          </a:prstGeom>
        </p:spPr>
      </p:pic>
      <p:sp>
        <p:nvSpPr>
          <p:cNvPr id="8" name="lb_122"/>
          <p:cNvSpPr/>
          <p:nvPr/>
        </p:nvSpPr>
        <p:spPr>
          <a:xfrm>
            <a:off x="356616" y="239572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wake up</a:t>
            </a:r>
            <a:endParaRPr lang="en-US" sz="1200" dirty="0"/>
          </a:p>
        </p:txBody>
      </p:sp>
      <p:sp>
        <p:nvSpPr>
          <p:cNvPr id="9" name="cd_123"/>
          <p:cNvSpPr/>
          <p:nvPr/>
        </p:nvSpPr>
        <p:spPr>
          <a:xfrm>
            <a:off x="205740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0" name="ci_124" descr="/home/claude/movers/img/fc/have-a-show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2576" y="1353312"/>
            <a:ext cx="1024128" cy="1024128"/>
          </a:xfrm>
          <a:prstGeom prst="rect">
            <a:avLst/>
          </a:prstGeom>
        </p:spPr>
      </p:pic>
      <p:sp>
        <p:nvSpPr>
          <p:cNvPr id="11" name="lb_125"/>
          <p:cNvSpPr/>
          <p:nvPr/>
        </p:nvSpPr>
        <p:spPr>
          <a:xfrm>
            <a:off x="2093976" y="239572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have a shower</a:t>
            </a:r>
            <a:endParaRPr lang="en-US" sz="1200" dirty="0"/>
          </a:p>
        </p:txBody>
      </p:sp>
      <p:sp>
        <p:nvSpPr>
          <p:cNvPr id="12" name="cd_126"/>
          <p:cNvSpPr/>
          <p:nvPr/>
        </p:nvSpPr>
        <p:spPr>
          <a:xfrm>
            <a:off x="379476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3" name="ci_127" descr="/home/claude/movers/img/fc/toothpas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9936" y="1353312"/>
            <a:ext cx="1024128" cy="1024128"/>
          </a:xfrm>
          <a:prstGeom prst="rect">
            <a:avLst/>
          </a:prstGeom>
        </p:spPr>
      </p:pic>
      <p:sp>
        <p:nvSpPr>
          <p:cNvPr id="14" name="lb_128"/>
          <p:cNvSpPr/>
          <p:nvPr/>
        </p:nvSpPr>
        <p:spPr>
          <a:xfrm>
            <a:off x="3831336" y="239572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toothpaste</a:t>
            </a:r>
            <a:endParaRPr lang="en-US" sz="1200" dirty="0"/>
          </a:p>
        </p:txBody>
      </p:sp>
      <p:sp>
        <p:nvSpPr>
          <p:cNvPr id="15" name="cd_129"/>
          <p:cNvSpPr/>
          <p:nvPr/>
        </p:nvSpPr>
        <p:spPr>
          <a:xfrm>
            <a:off x="553212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6" name="ci_130" descr="/home/claude/movers/img/fc/towe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7296" y="1353312"/>
            <a:ext cx="1024128" cy="1024128"/>
          </a:xfrm>
          <a:prstGeom prst="rect">
            <a:avLst/>
          </a:prstGeom>
        </p:spPr>
      </p:pic>
      <p:sp>
        <p:nvSpPr>
          <p:cNvPr id="17" name="lb_131"/>
          <p:cNvSpPr/>
          <p:nvPr/>
        </p:nvSpPr>
        <p:spPr>
          <a:xfrm>
            <a:off x="5568696" y="239572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towel</a:t>
            </a:r>
            <a:endParaRPr lang="en-US" sz="1200" dirty="0"/>
          </a:p>
        </p:txBody>
      </p:sp>
      <p:sp>
        <p:nvSpPr>
          <p:cNvPr id="18" name="cd_132"/>
          <p:cNvSpPr/>
          <p:nvPr/>
        </p:nvSpPr>
        <p:spPr>
          <a:xfrm>
            <a:off x="726948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9" name="ci_133" descr="/home/claude/movers/img/fc/monda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4656" y="1353312"/>
            <a:ext cx="1024128" cy="1024128"/>
          </a:xfrm>
          <a:prstGeom prst="rect">
            <a:avLst/>
          </a:prstGeom>
        </p:spPr>
      </p:pic>
      <p:sp>
        <p:nvSpPr>
          <p:cNvPr id="20" name="lb_134"/>
          <p:cNvSpPr/>
          <p:nvPr/>
        </p:nvSpPr>
        <p:spPr>
          <a:xfrm>
            <a:off x="7306056" y="239572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monday</a:t>
            </a:r>
            <a:endParaRPr lang="en-US" sz="1200" dirty="0"/>
          </a:p>
        </p:txBody>
      </p:sp>
      <p:sp>
        <p:nvSpPr>
          <p:cNvPr id="21" name="cd_135"/>
          <p:cNvSpPr/>
          <p:nvPr/>
        </p:nvSpPr>
        <p:spPr>
          <a:xfrm>
            <a:off x="32004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2" name="ci_136" descr="/home/claude/movers/img/fc/saturda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216" y="3017520"/>
            <a:ext cx="1024128" cy="1024128"/>
          </a:xfrm>
          <a:prstGeom prst="rect">
            <a:avLst/>
          </a:prstGeom>
        </p:spPr>
      </p:pic>
      <p:sp>
        <p:nvSpPr>
          <p:cNvPr id="23" name="lb_137"/>
          <p:cNvSpPr/>
          <p:nvPr/>
        </p:nvSpPr>
        <p:spPr>
          <a:xfrm>
            <a:off x="356616" y="405993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saturday</a:t>
            </a:r>
            <a:endParaRPr lang="en-US" sz="1200" dirty="0"/>
          </a:p>
        </p:txBody>
      </p:sp>
      <p:sp>
        <p:nvSpPr>
          <p:cNvPr id="24" name="cd_138"/>
          <p:cNvSpPr/>
          <p:nvPr/>
        </p:nvSpPr>
        <p:spPr>
          <a:xfrm>
            <a:off x="205740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5" name="ci_139" descr="/home/claude/movers/img/fc/go-skating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22576" y="3017520"/>
            <a:ext cx="1024128" cy="1024128"/>
          </a:xfrm>
          <a:prstGeom prst="rect">
            <a:avLst/>
          </a:prstGeom>
        </p:spPr>
      </p:pic>
      <p:sp>
        <p:nvSpPr>
          <p:cNvPr id="26" name="lb_140"/>
          <p:cNvSpPr/>
          <p:nvPr/>
        </p:nvSpPr>
        <p:spPr>
          <a:xfrm>
            <a:off x="2093976" y="405993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 skating</a:t>
            </a:r>
            <a:endParaRPr lang="en-US" sz="1200" dirty="0"/>
          </a:p>
        </p:txBody>
      </p:sp>
      <p:sp>
        <p:nvSpPr>
          <p:cNvPr id="27" name="q_141"/>
          <p:cNvSpPr/>
          <p:nvPr/>
        </p:nvSpPr>
        <p:spPr>
          <a:xfrm>
            <a:off x="379476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D23F"/>
          </a:solidFill>
          <a:ln w="38100">
            <a:solidFill>
              <a:srgbClr val="1E2A5A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6000" dirty="0"/>
          </a:p>
        </p:txBody>
      </p:sp>
      <p:sp>
        <p:nvSpPr>
          <p:cNvPr id="28" name="cd_142"/>
          <p:cNvSpPr/>
          <p:nvPr/>
        </p:nvSpPr>
        <p:spPr>
          <a:xfrm>
            <a:off x="553212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9" name="ci_143" descr="/home/claude/movers/img/fc/watch-a-dv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97296" y="3017520"/>
            <a:ext cx="1024128" cy="1024128"/>
          </a:xfrm>
          <a:prstGeom prst="rect">
            <a:avLst/>
          </a:prstGeom>
        </p:spPr>
      </p:pic>
      <p:sp>
        <p:nvSpPr>
          <p:cNvPr id="30" name="lb_144"/>
          <p:cNvSpPr/>
          <p:nvPr/>
        </p:nvSpPr>
        <p:spPr>
          <a:xfrm>
            <a:off x="5568696" y="405993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watch a dvd</a:t>
            </a:r>
            <a:endParaRPr lang="en-US" sz="1200" dirty="0"/>
          </a:p>
        </p:txBody>
      </p:sp>
      <p:sp>
        <p:nvSpPr>
          <p:cNvPr id="31" name="cd_145"/>
          <p:cNvSpPr/>
          <p:nvPr/>
        </p:nvSpPr>
        <p:spPr>
          <a:xfrm>
            <a:off x="726948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32" name="ci_146" descr="/home/claude/movers/img/fc/write-an-email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34656" y="3017520"/>
            <a:ext cx="1024128" cy="1024128"/>
          </a:xfrm>
          <a:prstGeom prst="rect">
            <a:avLst/>
          </a:prstGeom>
        </p:spPr>
      </p:pic>
      <p:sp>
        <p:nvSpPr>
          <p:cNvPr id="33" name="lb_147"/>
          <p:cNvSpPr/>
          <p:nvPr/>
        </p:nvSpPr>
        <p:spPr>
          <a:xfrm>
            <a:off x="7306056" y="405993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write an email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48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ANSWER</a:t>
            </a:r>
            <a:endParaRPr lang="en-US" sz="1600" dirty="0"/>
          </a:p>
        </p:txBody>
      </p:sp>
      <p:sp>
        <p:nvSpPr>
          <p:cNvPr id="4" name="bm_149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Were you right?</a:t>
            </a:r>
            <a:endParaRPr lang="en-US" sz="2700" dirty="0"/>
          </a:p>
        </p:txBody>
      </p:sp>
      <p:sp>
        <p:nvSpPr>
          <p:cNvPr id="5" name="in_150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listen to a CD!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ascoltare un CD!</a:t>
            </a:r>
            <a:endParaRPr lang="en-US" sz="1400" dirty="0"/>
          </a:p>
        </p:txBody>
      </p:sp>
      <p:sp>
        <p:nvSpPr>
          <p:cNvPr id="6" name="cd_151"/>
          <p:cNvSpPr/>
          <p:nvPr/>
        </p:nvSpPr>
        <p:spPr>
          <a:xfrm>
            <a:off x="32004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ci_152" descr="/home/claude/movers/img/fc/wake-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1353312"/>
            <a:ext cx="1024128" cy="1024128"/>
          </a:xfrm>
          <a:prstGeom prst="rect">
            <a:avLst/>
          </a:prstGeom>
        </p:spPr>
      </p:pic>
      <p:sp>
        <p:nvSpPr>
          <p:cNvPr id="8" name="lb_153"/>
          <p:cNvSpPr/>
          <p:nvPr/>
        </p:nvSpPr>
        <p:spPr>
          <a:xfrm>
            <a:off x="356616" y="239572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wake up</a:t>
            </a:r>
            <a:endParaRPr lang="en-US" sz="1200" dirty="0"/>
          </a:p>
        </p:txBody>
      </p:sp>
      <p:sp>
        <p:nvSpPr>
          <p:cNvPr id="9" name="cd_154"/>
          <p:cNvSpPr/>
          <p:nvPr/>
        </p:nvSpPr>
        <p:spPr>
          <a:xfrm>
            <a:off x="205740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0" name="ci_155" descr="/home/claude/movers/img/fc/have-a-show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2576" y="1353312"/>
            <a:ext cx="1024128" cy="1024128"/>
          </a:xfrm>
          <a:prstGeom prst="rect">
            <a:avLst/>
          </a:prstGeom>
        </p:spPr>
      </p:pic>
      <p:sp>
        <p:nvSpPr>
          <p:cNvPr id="11" name="lb_156"/>
          <p:cNvSpPr/>
          <p:nvPr/>
        </p:nvSpPr>
        <p:spPr>
          <a:xfrm>
            <a:off x="2093976" y="239572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have a shower</a:t>
            </a:r>
            <a:endParaRPr lang="en-US" sz="1200" dirty="0"/>
          </a:p>
        </p:txBody>
      </p:sp>
      <p:sp>
        <p:nvSpPr>
          <p:cNvPr id="12" name="cd_157"/>
          <p:cNvSpPr/>
          <p:nvPr/>
        </p:nvSpPr>
        <p:spPr>
          <a:xfrm>
            <a:off x="379476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3" name="ci_158" descr="/home/claude/movers/img/fc/toothpas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9936" y="1353312"/>
            <a:ext cx="1024128" cy="1024128"/>
          </a:xfrm>
          <a:prstGeom prst="rect">
            <a:avLst/>
          </a:prstGeom>
        </p:spPr>
      </p:pic>
      <p:sp>
        <p:nvSpPr>
          <p:cNvPr id="14" name="lb_159"/>
          <p:cNvSpPr/>
          <p:nvPr/>
        </p:nvSpPr>
        <p:spPr>
          <a:xfrm>
            <a:off x="3831336" y="239572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toothpaste</a:t>
            </a:r>
            <a:endParaRPr lang="en-US" sz="1200" dirty="0"/>
          </a:p>
        </p:txBody>
      </p:sp>
      <p:sp>
        <p:nvSpPr>
          <p:cNvPr id="15" name="cd_160"/>
          <p:cNvSpPr/>
          <p:nvPr/>
        </p:nvSpPr>
        <p:spPr>
          <a:xfrm>
            <a:off x="553212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6" name="ci_161" descr="/home/claude/movers/img/fc/towe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7296" y="1353312"/>
            <a:ext cx="1024128" cy="1024128"/>
          </a:xfrm>
          <a:prstGeom prst="rect">
            <a:avLst/>
          </a:prstGeom>
        </p:spPr>
      </p:pic>
      <p:sp>
        <p:nvSpPr>
          <p:cNvPr id="17" name="lb_162"/>
          <p:cNvSpPr/>
          <p:nvPr/>
        </p:nvSpPr>
        <p:spPr>
          <a:xfrm>
            <a:off x="5568696" y="239572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towel</a:t>
            </a:r>
            <a:endParaRPr lang="en-US" sz="1200" dirty="0"/>
          </a:p>
        </p:txBody>
      </p:sp>
      <p:sp>
        <p:nvSpPr>
          <p:cNvPr id="18" name="cd_163"/>
          <p:cNvSpPr/>
          <p:nvPr/>
        </p:nvSpPr>
        <p:spPr>
          <a:xfrm>
            <a:off x="726948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9" name="ci_164" descr="/home/claude/movers/img/fc/monda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4656" y="1353312"/>
            <a:ext cx="1024128" cy="1024128"/>
          </a:xfrm>
          <a:prstGeom prst="rect">
            <a:avLst/>
          </a:prstGeom>
        </p:spPr>
      </p:pic>
      <p:sp>
        <p:nvSpPr>
          <p:cNvPr id="20" name="lb_165"/>
          <p:cNvSpPr/>
          <p:nvPr/>
        </p:nvSpPr>
        <p:spPr>
          <a:xfrm>
            <a:off x="7306056" y="239572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monday</a:t>
            </a:r>
            <a:endParaRPr lang="en-US" sz="1200" dirty="0"/>
          </a:p>
        </p:txBody>
      </p:sp>
      <p:sp>
        <p:nvSpPr>
          <p:cNvPr id="21" name="cd_166"/>
          <p:cNvSpPr/>
          <p:nvPr/>
        </p:nvSpPr>
        <p:spPr>
          <a:xfrm>
            <a:off x="32004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2" name="ci_167" descr="/home/claude/movers/img/fc/saturda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216" y="3017520"/>
            <a:ext cx="1024128" cy="1024128"/>
          </a:xfrm>
          <a:prstGeom prst="rect">
            <a:avLst/>
          </a:prstGeom>
        </p:spPr>
      </p:pic>
      <p:sp>
        <p:nvSpPr>
          <p:cNvPr id="23" name="lb_168"/>
          <p:cNvSpPr/>
          <p:nvPr/>
        </p:nvSpPr>
        <p:spPr>
          <a:xfrm>
            <a:off x="356616" y="405993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saturday</a:t>
            </a:r>
            <a:endParaRPr lang="en-US" sz="1200" dirty="0"/>
          </a:p>
        </p:txBody>
      </p:sp>
      <p:sp>
        <p:nvSpPr>
          <p:cNvPr id="24" name="cd_169"/>
          <p:cNvSpPr/>
          <p:nvPr/>
        </p:nvSpPr>
        <p:spPr>
          <a:xfrm>
            <a:off x="205740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5" name="ci_170" descr="/home/claude/movers/img/fc/go-skating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22576" y="3017520"/>
            <a:ext cx="1024128" cy="1024128"/>
          </a:xfrm>
          <a:prstGeom prst="rect">
            <a:avLst/>
          </a:prstGeom>
        </p:spPr>
      </p:pic>
      <p:sp>
        <p:nvSpPr>
          <p:cNvPr id="26" name="lb_171"/>
          <p:cNvSpPr/>
          <p:nvPr/>
        </p:nvSpPr>
        <p:spPr>
          <a:xfrm>
            <a:off x="2093976" y="405993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 skating</a:t>
            </a:r>
            <a:endParaRPr lang="en-US" sz="1200" dirty="0"/>
          </a:p>
        </p:txBody>
      </p:sp>
      <p:sp>
        <p:nvSpPr>
          <p:cNvPr id="27" name="cd_172"/>
          <p:cNvSpPr/>
          <p:nvPr/>
        </p:nvSpPr>
        <p:spPr>
          <a:xfrm>
            <a:off x="379476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6CCB3B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8" name="ci_173" descr="/home/claude/movers/img/fc/listen-to-a-c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59936" y="3017520"/>
            <a:ext cx="1024128" cy="1024128"/>
          </a:xfrm>
          <a:prstGeom prst="rect">
            <a:avLst/>
          </a:prstGeom>
        </p:spPr>
      </p:pic>
      <p:sp>
        <p:nvSpPr>
          <p:cNvPr id="29" name="lb_174"/>
          <p:cNvSpPr/>
          <p:nvPr/>
        </p:nvSpPr>
        <p:spPr>
          <a:xfrm>
            <a:off x="3831336" y="405993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listen to a cd</a:t>
            </a:r>
            <a:endParaRPr lang="en-US" sz="1200" dirty="0"/>
          </a:p>
        </p:txBody>
      </p:sp>
      <p:sp>
        <p:nvSpPr>
          <p:cNvPr id="30" name="hl_175"/>
          <p:cNvSpPr/>
          <p:nvPr/>
        </p:nvSpPr>
        <p:spPr>
          <a:xfrm>
            <a:off x="3739896" y="2889504"/>
            <a:ext cx="1664208" cy="1664208"/>
          </a:xfrm>
          <a:prstGeom prst="roundRect">
            <a:avLst>
              <a:gd name="adj" fmla="val 6593"/>
            </a:avLst>
          </a:prstGeom>
          <a:ln w="76200">
            <a:solidFill>
              <a:srgbClr val="6CCB3B"/>
            </a:solidFill>
            <a:prstDash val="solid"/>
          </a:ln>
        </p:spPr>
      </p:sp>
      <p:sp>
        <p:nvSpPr>
          <p:cNvPr id="31" name="cd_176"/>
          <p:cNvSpPr/>
          <p:nvPr/>
        </p:nvSpPr>
        <p:spPr>
          <a:xfrm>
            <a:off x="553212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32" name="ci_177" descr="/home/claude/movers/img/fc/watch-a-dv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97296" y="3017520"/>
            <a:ext cx="1024128" cy="1024128"/>
          </a:xfrm>
          <a:prstGeom prst="rect">
            <a:avLst/>
          </a:prstGeom>
        </p:spPr>
      </p:pic>
      <p:sp>
        <p:nvSpPr>
          <p:cNvPr id="33" name="lb_178"/>
          <p:cNvSpPr/>
          <p:nvPr/>
        </p:nvSpPr>
        <p:spPr>
          <a:xfrm>
            <a:off x="5568696" y="405993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watch a dvd</a:t>
            </a:r>
            <a:endParaRPr lang="en-US" sz="1200" dirty="0"/>
          </a:p>
        </p:txBody>
      </p:sp>
      <p:sp>
        <p:nvSpPr>
          <p:cNvPr id="34" name="cd_179"/>
          <p:cNvSpPr/>
          <p:nvPr/>
        </p:nvSpPr>
        <p:spPr>
          <a:xfrm>
            <a:off x="726948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35" name="ci_180" descr="/home/claude/movers/img/fc/write-an-email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34656" y="3017520"/>
            <a:ext cx="1024128" cy="1024128"/>
          </a:xfrm>
          <a:prstGeom prst="rect">
            <a:avLst/>
          </a:prstGeom>
        </p:spPr>
      </p:pic>
      <p:sp>
        <p:nvSpPr>
          <p:cNvPr id="36" name="lb_181"/>
          <p:cNvSpPr/>
          <p:nvPr/>
        </p:nvSpPr>
        <p:spPr>
          <a:xfrm>
            <a:off x="7306056" y="405993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write an email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82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MOVERS</a:t>
            </a:r>
            <a:endParaRPr lang="en-US" sz="1600" dirty="0"/>
          </a:p>
        </p:txBody>
      </p:sp>
      <p:sp>
        <p:nvSpPr>
          <p:cNvPr id="4" name="bm_183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Look and read</a:t>
            </a:r>
            <a:endParaRPr lang="en-US" sz="2700" dirty="0"/>
          </a:p>
        </p:txBody>
      </p:sp>
      <p:sp>
        <p:nvSpPr>
          <p:cNvPr id="5" name="in_184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 at the pictures. Copy a word from the box.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 le immagini. Copia una parola dal riquadro.</a:t>
            </a:r>
            <a:endParaRPr lang="en-US" sz="1400" dirty="0"/>
          </a:p>
        </p:txBody>
      </p:sp>
      <p:sp>
        <p:nvSpPr>
          <p:cNvPr id="6" name="mode_185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👥 PAIRS · ✍ WRITE</a:t>
            </a:r>
            <a:endParaRPr lang="en-US" sz="1000" dirty="0"/>
          </a:p>
        </p:txBody>
      </p:sp>
      <p:sp>
        <p:nvSpPr>
          <p:cNvPr id="7" name="pf_186"/>
          <p:cNvSpPr/>
          <p:nvPr/>
        </p:nvSpPr>
        <p:spPr>
          <a:xfrm>
            <a:off x="310896" y="1271016"/>
            <a:ext cx="523036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8" name="pic_187" descr="/home/claude/movers/img/crop/u2-p28-ex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36855"/>
            <a:ext cx="5120640" cy="2824170"/>
          </a:xfrm>
          <a:prstGeom prst="rect">
            <a:avLst/>
          </a:prstGeom>
        </p:spPr>
      </p:pic>
      <p:sp>
        <p:nvSpPr>
          <p:cNvPr id="9" name="q_188"/>
          <p:cNvSpPr/>
          <p:nvPr/>
        </p:nvSpPr>
        <p:spPr>
          <a:xfrm>
            <a:off x="5760720" y="1325880"/>
            <a:ext cx="30175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Pictures 1–4</a:t>
            </a:r>
            <a:endParaRPr lang="en-US" sz="1250" dirty="0"/>
          </a:p>
        </p:txBody>
      </p:sp>
      <p:sp>
        <p:nvSpPr>
          <p:cNvPr id="10" name="R1_a189"/>
          <p:cNvSpPr/>
          <p:nvPr/>
        </p:nvSpPr>
        <p:spPr>
          <a:xfrm>
            <a:off x="5989320" y="1777594"/>
            <a:ext cx="278892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leaves (example) · 2 a comic · 3 an email · 4 toothpaste</a:t>
            </a:r>
            <a:endParaRPr lang="en-US" sz="1250" dirty="0"/>
          </a:p>
        </p:txBody>
      </p:sp>
      <p:sp>
        <p:nvSpPr>
          <p:cNvPr id="11" name="q_190"/>
          <p:cNvSpPr/>
          <p:nvPr/>
        </p:nvSpPr>
        <p:spPr>
          <a:xfrm>
            <a:off x="5760720" y="2194560"/>
            <a:ext cx="30175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Pictures 5–8</a:t>
            </a:r>
            <a:endParaRPr lang="en-US" sz="1250" dirty="0"/>
          </a:p>
        </p:txBody>
      </p:sp>
      <p:sp>
        <p:nvSpPr>
          <p:cNvPr id="12" name="R1_a191"/>
          <p:cNvSpPr/>
          <p:nvPr/>
        </p:nvSpPr>
        <p:spPr>
          <a:xfrm>
            <a:off x="5989320" y="2646274"/>
            <a:ext cx="278892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 a lake · 6 breakfast · 7 a tractor · 8 skates</a:t>
            </a:r>
            <a:endParaRPr lang="en-US" sz="1250" dirty="0"/>
          </a:p>
        </p:txBody>
      </p:sp>
      <p:sp>
        <p:nvSpPr>
          <p:cNvPr id="13" name="bk_192"/>
          <p:cNvSpPr/>
          <p:nvPr/>
        </p:nvSpPr>
        <p:spPr>
          <a:xfrm>
            <a:off x="228600" y="4681728"/>
            <a:ext cx="2414016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p.28 · ex.1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93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MOVERS</a:t>
            </a:r>
            <a:endParaRPr lang="en-US" sz="1600" dirty="0"/>
          </a:p>
        </p:txBody>
      </p:sp>
      <p:sp>
        <p:nvSpPr>
          <p:cNvPr id="4" name="bm_194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 and think</a:t>
            </a:r>
            <a:endParaRPr lang="en-US" sz="2700" dirty="0"/>
          </a:p>
        </p:txBody>
      </p:sp>
      <p:sp>
        <p:nvSpPr>
          <p:cNvPr id="5" name="in_195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Read and think. Circle the correct answer.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Leggi e pensa. Cerchia la risposta giusta.</a:t>
            </a:r>
            <a:endParaRPr lang="en-US" sz="1400" dirty="0"/>
          </a:p>
        </p:txBody>
      </p:sp>
      <p:sp>
        <p:nvSpPr>
          <p:cNvPr id="6" name="mode_196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👤 ALONE · ✍ CIRCLE</a:t>
            </a:r>
            <a:endParaRPr lang="en-US" sz="1000" dirty="0"/>
          </a:p>
        </p:txBody>
      </p:sp>
      <p:sp>
        <p:nvSpPr>
          <p:cNvPr id="7" name="pf_197"/>
          <p:cNvSpPr/>
          <p:nvPr/>
        </p:nvSpPr>
        <p:spPr>
          <a:xfrm>
            <a:off x="310896" y="1271016"/>
            <a:ext cx="523036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8" name="pic_198" descr="/home/claude/movers/img/crop/u2-p28-ex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36855"/>
            <a:ext cx="5120640" cy="2824170"/>
          </a:xfrm>
          <a:prstGeom prst="rect">
            <a:avLst/>
          </a:prstGeom>
        </p:spPr>
      </p:pic>
      <p:sp>
        <p:nvSpPr>
          <p:cNvPr id="9" name="q_199"/>
          <p:cNvSpPr/>
          <p:nvPr/>
        </p:nvSpPr>
        <p:spPr>
          <a:xfrm>
            <a:off x="5760720" y="132588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You find these on trees and they're green.</a:t>
            </a:r>
            <a:endParaRPr lang="en-US" sz="1250" dirty="0"/>
          </a:p>
        </p:txBody>
      </p:sp>
      <p:sp>
        <p:nvSpPr>
          <p:cNvPr id="10" name="R1_a200"/>
          <p:cNvSpPr/>
          <p:nvPr/>
        </p:nvSpPr>
        <p:spPr>
          <a:xfrm>
            <a:off x="5989320" y="175381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leaves (example)</a:t>
            </a:r>
            <a:endParaRPr lang="en-US" sz="1250" dirty="0"/>
          </a:p>
        </p:txBody>
      </p:sp>
      <p:sp>
        <p:nvSpPr>
          <p:cNvPr id="11" name="q_201"/>
          <p:cNvSpPr/>
          <p:nvPr/>
        </p:nvSpPr>
        <p:spPr>
          <a:xfrm>
            <a:off x="5760720" y="214884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Most people eat this in the morning.</a:t>
            </a:r>
            <a:endParaRPr lang="en-US" sz="1250" dirty="0"/>
          </a:p>
        </p:txBody>
      </p:sp>
      <p:sp>
        <p:nvSpPr>
          <p:cNvPr id="12" name="R2_a202"/>
          <p:cNvSpPr/>
          <p:nvPr/>
        </p:nvSpPr>
        <p:spPr>
          <a:xfrm>
            <a:off x="5989320" y="257677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breakfast</a:t>
            </a:r>
            <a:endParaRPr lang="en-US" sz="1250" dirty="0"/>
          </a:p>
        </p:txBody>
      </p:sp>
      <p:sp>
        <p:nvSpPr>
          <p:cNvPr id="13" name="q_203"/>
          <p:cNvSpPr/>
          <p:nvPr/>
        </p:nvSpPr>
        <p:spPr>
          <a:xfrm>
            <a:off x="5760720" y="297180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You can use these in the park. It's fun!</a:t>
            </a:r>
            <a:endParaRPr lang="en-US" sz="1250" dirty="0"/>
          </a:p>
        </p:txBody>
      </p:sp>
      <p:sp>
        <p:nvSpPr>
          <p:cNvPr id="14" name="R3_a204"/>
          <p:cNvSpPr/>
          <p:nvPr/>
        </p:nvSpPr>
        <p:spPr>
          <a:xfrm>
            <a:off x="5989320" y="339973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skates</a:t>
            </a:r>
            <a:endParaRPr lang="en-US" sz="1250" dirty="0"/>
          </a:p>
        </p:txBody>
      </p:sp>
      <p:sp>
        <p:nvSpPr>
          <p:cNvPr id="15" name="q_205"/>
          <p:cNvSpPr/>
          <p:nvPr/>
        </p:nvSpPr>
        <p:spPr>
          <a:xfrm>
            <a:off x="5760720" y="379476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You write this on a computer or phone.</a:t>
            </a:r>
            <a:endParaRPr lang="en-US" sz="1250" dirty="0"/>
          </a:p>
        </p:txBody>
      </p:sp>
      <p:sp>
        <p:nvSpPr>
          <p:cNvPr id="16" name="R4_a206"/>
          <p:cNvSpPr/>
          <p:nvPr/>
        </p:nvSpPr>
        <p:spPr>
          <a:xfrm>
            <a:off x="5989320" y="422269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an email</a:t>
            </a:r>
            <a:endParaRPr lang="en-US" sz="1250" dirty="0"/>
          </a:p>
        </p:txBody>
      </p:sp>
      <p:sp>
        <p:nvSpPr>
          <p:cNvPr id="17" name="bk_207"/>
          <p:cNvSpPr/>
          <p:nvPr/>
        </p:nvSpPr>
        <p:spPr>
          <a:xfrm>
            <a:off x="228600" y="4681728"/>
            <a:ext cx="2414016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p.28 · ex.2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08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MOVERS</a:t>
            </a:r>
            <a:endParaRPr lang="en-US" sz="1600" dirty="0"/>
          </a:p>
        </p:txBody>
      </p:sp>
      <p:sp>
        <p:nvSpPr>
          <p:cNvPr id="4" name="bm_209"/>
          <p:cNvSpPr/>
          <p:nvPr/>
        </p:nvSpPr>
        <p:spPr>
          <a:xfrm rot="-120000">
            <a:off x="228600" y="493776"/>
            <a:ext cx="457200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 and complete</a:t>
            </a:r>
            <a:endParaRPr lang="en-US" sz="2700" dirty="0"/>
          </a:p>
        </p:txBody>
      </p:sp>
      <p:sp>
        <p:nvSpPr>
          <p:cNvPr id="5" name="in_210"/>
          <p:cNvSpPr/>
          <p:nvPr/>
        </p:nvSpPr>
        <p:spPr>
          <a:xfrm>
            <a:off x="4937760" y="182880"/>
            <a:ext cx="3977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 at the answers. Read and complete.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 le risposte. Leggi e completa.</a:t>
            </a:r>
            <a:endParaRPr lang="en-US" sz="1400" dirty="0"/>
          </a:p>
        </p:txBody>
      </p:sp>
      <p:sp>
        <p:nvSpPr>
          <p:cNvPr id="6" name="mode_211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👤 ALONE · ✍ WRITE</a:t>
            </a:r>
            <a:endParaRPr lang="en-US" sz="1000" dirty="0"/>
          </a:p>
        </p:txBody>
      </p:sp>
      <p:sp>
        <p:nvSpPr>
          <p:cNvPr id="7" name="pf_212"/>
          <p:cNvSpPr/>
          <p:nvPr/>
        </p:nvSpPr>
        <p:spPr>
          <a:xfrm>
            <a:off x="310896" y="1271016"/>
            <a:ext cx="523036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8" name="pic_213" descr="/home/claude/movers/img/crop/u2-p28-ex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36855"/>
            <a:ext cx="5120640" cy="2824170"/>
          </a:xfrm>
          <a:prstGeom prst="rect">
            <a:avLst/>
          </a:prstGeom>
        </p:spPr>
      </p:pic>
      <p:sp>
        <p:nvSpPr>
          <p:cNvPr id="9" name="q_214"/>
          <p:cNvSpPr/>
          <p:nvPr/>
        </p:nvSpPr>
        <p:spPr>
          <a:xfrm>
            <a:off x="5760720" y="1325880"/>
            <a:ext cx="30175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You use this to clean your t_ _ _ _.</a:t>
            </a:r>
            <a:endParaRPr lang="en-US" sz="1250" dirty="0"/>
          </a:p>
        </p:txBody>
      </p:sp>
      <p:sp>
        <p:nvSpPr>
          <p:cNvPr id="10" name="R1_a215"/>
          <p:cNvSpPr/>
          <p:nvPr/>
        </p:nvSpPr>
        <p:spPr>
          <a:xfrm>
            <a:off x="5989320" y="1777594"/>
            <a:ext cx="278892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teeth (→ toothpaste)</a:t>
            </a:r>
            <a:endParaRPr lang="en-US" sz="1250" dirty="0"/>
          </a:p>
        </p:txBody>
      </p:sp>
      <p:sp>
        <p:nvSpPr>
          <p:cNvPr id="11" name="q_216"/>
          <p:cNvSpPr/>
          <p:nvPr/>
        </p:nvSpPr>
        <p:spPr>
          <a:xfrm>
            <a:off x="5760720" y="2194560"/>
            <a:ext cx="30175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There are lots of different st_ _ _ _ _ in this.</a:t>
            </a:r>
            <a:endParaRPr lang="en-US" sz="1250" dirty="0"/>
          </a:p>
        </p:txBody>
      </p:sp>
      <p:sp>
        <p:nvSpPr>
          <p:cNvPr id="12" name="R2_a217"/>
          <p:cNvSpPr/>
          <p:nvPr/>
        </p:nvSpPr>
        <p:spPr>
          <a:xfrm>
            <a:off x="5989320" y="2646274"/>
            <a:ext cx="278892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stories (→ a comic)</a:t>
            </a:r>
            <a:endParaRPr lang="en-US" sz="1250" dirty="0"/>
          </a:p>
        </p:txBody>
      </p:sp>
      <p:sp>
        <p:nvSpPr>
          <p:cNvPr id="13" name="bk_218"/>
          <p:cNvSpPr/>
          <p:nvPr/>
        </p:nvSpPr>
        <p:spPr>
          <a:xfrm>
            <a:off x="228600" y="4681728"/>
            <a:ext cx="2414016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p.28 · ex.3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19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</a:t>
            </a:r>
            <a:endParaRPr lang="en-US" sz="1600" dirty="0"/>
          </a:p>
        </p:txBody>
      </p:sp>
      <p:sp>
        <p:nvSpPr>
          <p:cNvPr id="4" name="bm_220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6CCB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Guess my word!</a:t>
            </a:r>
            <a:endParaRPr lang="en-US" sz="2700" dirty="0"/>
          </a:p>
        </p:txBody>
      </p:sp>
      <p:sp>
        <p:nvSpPr>
          <p:cNvPr id="5" name="in_221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Write sentences like Activity 3. Can your friend say the words?</a:t>
            </a:r>
            <a:endParaRPr lang="en-US" sz="1200" dirty="0"/>
          </a:p>
          <a:p>
            <a:pPr indent="0" marL="0">
              <a:buNone/>
            </a:pPr>
            <a:r>
              <a:rPr lang="en-US" sz="10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Scrivi frasi come nell'attività 3. Il tuo amico indovina le parole?</a:t>
            </a:r>
            <a:endParaRPr lang="en-US" sz="1200" dirty="0"/>
          </a:p>
        </p:txBody>
      </p:sp>
      <p:sp>
        <p:nvSpPr>
          <p:cNvPr id="6" name="mode_222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👥 PAIRS · ⏱ 5 MIN</a:t>
            </a:r>
            <a:endParaRPr lang="en-US" sz="1000" dirty="0"/>
          </a:p>
        </p:txBody>
      </p:sp>
      <p:sp>
        <p:nvSpPr>
          <p:cNvPr id="7" name="diff_223"/>
          <p:cNvSpPr/>
          <p:nvPr/>
        </p:nvSpPr>
        <p:spPr>
          <a:xfrm>
            <a:off x="4343400" y="4681728"/>
            <a:ext cx="2240280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25400">
            <a:solidFill>
              <a:srgbClr val="FFD23F"/>
            </a:solidFill>
          </a:ln>
        </p:spPr>
        <p:txBody>
          <a:bodyPr wrap="square" lIns="50800" tIns="50800" rIns="50800" bIns="508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You use this to … / This is …</a:t>
            </a:r>
            <a:endParaRPr lang="en-US" sz="950" dirty="0"/>
          </a:p>
        </p:txBody>
      </p:sp>
      <p:sp>
        <p:nvSpPr>
          <p:cNvPr id="8" name="diff_224"/>
          <p:cNvSpPr/>
          <p:nvPr/>
        </p:nvSpPr>
        <p:spPr>
          <a:xfrm>
            <a:off x="6675120" y="4681728"/>
            <a:ext cx="2240280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25400">
            <a:solidFill>
              <a:srgbClr val="F2545B"/>
            </a:solidFill>
          </a:ln>
        </p:spPr>
        <p:txBody>
          <a:bodyPr wrap="square" lIns="50800" tIns="50800" rIns="50800" bIns="508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🔥 Write 5 – no pictures!</a:t>
            </a:r>
            <a:endParaRPr lang="en-US" sz="950" dirty="0"/>
          </a:p>
        </p:txBody>
      </p:sp>
      <p:sp>
        <p:nvSpPr>
          <p:cNvPr id="9" name="st_225"/>
          <p:cNvSpPr/>
          <p:nvPr/>
        </p:nvSpPr>
        <p:spPr>
          <a:xfrm>
            <a:off x="228600" y="13258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6CCB3B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sn_226"/>
          <p:cNvSpPr/>
          <p:nvPr/>
        </p:nvSpPr>
        <p:spPr>
          <a:xfrm>
            <a:off x="118872" y="1216152"/>
            <a:ext cx="384048" cy="384048"/>
          </a:xfrm>
          <a:prstGeom prst="ellipse">
            <a:avLst/>
          </a:prstGeom>
          <a:solidFill>
            <a:srgbClr val="6CCB3B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sk_227"/>
          <p:cNvSpPr/>
          <p:nvPr/>
        </p:nvSpPr>
        <p:spPr>
          <a:xfrm>
            <a:off x="521208" y="13624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✏️ WRITE</a:t>
            </a:r>
            <a:endParaRPr lang="en-US" sz="1300" dirty="0"/>
          </a:p>
        </p:txBody>
      </p:sp>
      <p:sp>
        <p:nvSpPr>
          <p:cNvPr id="12" name="se_228"/>
          <p:cNvSpPr/>
          <p:nvPr/>
        </p:nvSpPr>
        <p:spPr>
          <a:xfrm>
            <a:off x="338328" y="16550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Write: You use this to…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Scrivi: You use this to…</a:t>
            </a:r>
            <a:endParaRPr lang="en-US" sz="1050" dirty="0"/>
          </a:p>
        </p:txBody>
      </p:sp>
      <p:sp>
        <p:nvSpPr>
          <p:cNvPr id="13" name="st_229"/>
          <p:cNvSpPr/>
          <p:nvPr/>
        </p:nvSpPr>
        <p:spPr>
          <a:xfrm>
            <a:off x="228600" y="23926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5DA2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sn_230"/>
          <p:cNvSpPr/>
          <p:nvPr/>
        </p:nvSpPr>
        <p:spPr>
          <a:xfrm>
            <a:off x="118872" y="2282952"/>
            <a:ext cx="384048" cy="384048"/>
          </a:xfrm>
          <a:prstGeom prst="ellipse">
            <a:avLst/>
          </a:prstGeom>
          <a:solidFill>
            <a:srgbClr val="FF5DA2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sk_231"/>
          <p:cNvSpPr/>
          <p:nvPr/>
        </p:nvSpPr>
        <p:spPr>
          <a:xfrm>
            <a:off x="521208" y="24292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💬 SPEAK</a:t>
            </a:r>
            <a:endParaRPr lang="en-US" sz="1300" dirty="0"/>
          </a:p>
        </p:txBody>
      </p:sp>
      <p:sp>
        <p:nvSpPr>
          <p:cNvPr id="16" name="se_232"/>
          <p:cNvSpPr/>
          <p:nvPr/>
        </p:nvSpPr>
        <p:spPr>
          <a:xfrm>
            <a:off x="338328" y="27218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it to your partner.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Leggila al compagno.</a:t>
            </a:r>
            <a:endParaRPr lang="en-US" sz="1050" dirty="0"/>
          </a:p>
        </p:txBody>
      </p:sp>
      <p:sp>
        <p:nvSpPr>
          <p:cNvPr id="17" name="st_233"/>
          <p:cNvSpPr/>
          <p:nvPr/>
        </p:nvSpPr>
        <p:spPr>
          <a:xfrm>
            <a:off x="228600" y="34594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8A3D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8" name="sn_234"/>
          <p:cNvSpPr/>
          <p:nvPr/>
        </p:nvSpPr>
        <p:spPr>
          <a:xfrm>
            <a:off x="118872" y="3349752"/>
            <a:ext cx="384048" cy="384048"/>
          </a:xfrm>
          <a:prstGeom prst="ellipse">
            <a:avLst/>
          </a:prstGeom>
          <a:solidFill>
            <a:srgbClr val="FF8A3D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sk_235"/>
          <p:cNvSpPr/>
          <p:nvPr/>
        </p:nvSpPr>
        <p:spPr>
          <a:xfrm>
            <a:off x="521208" y="34960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🎲 PLAY</a:t>
            </a:r>
            <a:endParaRPr lang="en-US" sz="1300" dirty="0"/>
          </a:p>
        </p:txBody>
      </p:sp>
      <p:sp>
        <p:nvSpPr>
          <p:cNvPr id="20" name="se_236"/>
          <p:cNvSpPr/>
          <p:nvPr/>
        </p:nvSpPr>
        <p:spPr>
          <a:xfrm>
            <a:off x="338328" y="37886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writes the word!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compagno scrive la parola!</a:t>
            </a:r>
            <a:endParaRPr lang="en-US" sz="1050" dirty="0"/>
          </a:p>
        </p:txBody>
      </p:sp>
      <p:sp>
        <p:nvSpPr>
          <p:cNvPr id="21" name="cd_237"/>
          <p:cNvSpPr/>
          <p:nvPr/>
        </p:nvSpPr>
        <p:spPr>
          <a:xfrm>
            <a:off x="3108960" y="132588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2" name="ci_238" descr="/home/claude/movers/img/fc/towe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112" y="1399032"/>
            <a:ext cx="1179576" cy="1179576"/>
          </a:xfrm>
          <a:prstGeom prst="rect">
            <a:avLst/>
          </a:prstGeom>
        </p:spPr>
      </p:pic>
      <p:sp>
        <p:nvSpPr>
          <p:cNvPr id="23" name="cd_239"/>
          <p:cNvSpPr/>
          <p:nvPr/>
        </p:nvSpPr>
        <p:spPr>
          <a:xfrm>
            <a:off x="4572000" y="132588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4" name="ci_240" descr="/home/claude/movers/img/fc/toothbrus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152" y="1399032"/>
            <a:ext cx="1179576" cy="1179576"/>
          </a:xfrm>
          <a:prstGeom prst="rect">
            <a:avLst/>
          </a:prstGeom>
        </p:spPr>
      </p:pic>
      <p:sp>
        <p:nvSpPr>
          <p:cNvPr id="25" name="cd_241"/>
          <p:cNvSpPr/>
          <p:nvPr/>
        </p:nvSpPr>
        <p:spPr>
          <a:xfrm>
            <a:off x="6035040" y="132588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6" name="ci_242" descr="/home/claude/movers/img/fc/tracto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192" y="1399032"/>
            <a:ext cx="1179576" cy="1179576"/>
          </a:xfrm>
          <a:prstGeom prst="rect">
            <a:avLst/>
          </a:prstGeom>
        </p:spPr>
      </p:pic>
      <p:sp>
        <p:nvSpPr>
          <p:cNvPr id="27" name="cd_243"/>
          <p:cNvSpPr/>
          <p:nvPr/>
        </p:nvSpPr>
        <p:spPr>
          <a:xfrm>
            <a:off x="7498080" y="132588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8" name="ci_244" descr="/home/claude/movers/img/fc/monda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1232" y="1399032"/>
            <a:ext cx="1179576" cy="1179576"/>
          </a:xfrm>
          <a:prstGeom prst="rect">
            <a:avLst/>
          </a:prstGeom>
        </p:spPr>
      </p:pic>
      <p:sp>
        <p:nvSpPr>
          <p:cNvPr id="29" name="bk_245"/>
          <p:cNvSpPr/>
          <p:nvPr/>
        </p:nvSpPr>
        <p:spPr>
          <a:xfrm>
            <a:off x="228600" y="4681728"/>
            <a:ext cx="2414016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p.28 · ex.4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46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</a:t>
            </a:r>
            <a:endParaRPr lang="en-US" sz="1600" dirty="0"/>
          </a:p>
        </p:txBody>
      </p:sp>
      <p:sp>
        <p:nvSpPr>
          <p:cNvPr id="4" name="bm_247"/>
          <p:cNvSpPr/>
          <p:nvPr/>
        </p:nvSpPr>
        <p:spPr>
          <a:xfrm rot="-120000">
            <a:off x="228600" y="493776"/>
            <a:ext cx="457200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6CCB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 quiz: Unit 2!</a:t>
            </a:r>
            <a:endParaRPr lang="en-US" sz="2700" dirty="0"/>
          </a:p>
        </p:txBody>
      </p:sp>
      <p:sp>
        <p:nvSpPr>
          <p:cNvPr id="5" name="in_248"/>
          <p:cNvSpPr/>
          <p:nvPr/>
        </p:nvSpPr>
        <p:spPr>
          <a:xfrm>
            <a:off x="4937760" y="182880"/>
            <a:ext cx="3977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Two teams. Answer – then spell one word!</a:t>
            </a:r>
            <a:endParaRPr lang="en-US" sz="1350" dirty="0"/>
          </a:p>
          <a:p>
            <a:pPr indent="0" marL="0">
              <a:buNone/>
            </a:pPr>
            <a:r>
              <a:rPr lang="en-US" sz="115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Due squadre. Rispondi – poi fai lo spelling di una parola!</a:t>
            </a:r>
            <a:endParaRPr lang="en-US" sz="1350" dirty="0"/>
          </a:p>
        </p:txBody>
      </p:sp>
      <p:sp>
        <p:nvSpPr>
          <p:cNvPr id="6" name="mode_249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👥👥 TEAMS · ⏱ 5 MIN</a:t>
            </a:r>
            <a:endParaRPr lang="en-US" sz="1000" dirty="0"/>
          </a:p>
        </p:txBody>
      </p:sp>
      <p:sp>
        <p:nvSpPr>
          <p:cNvPr id="7" name="st_250"/>
          <p:cNvSpPr/>
          <p:nvPr/>
        </p:nvSpPr>
        <p:spPr>
          <a:xfrm>
            <a:off x="228600" y="13258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2F9BF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sn_251"/>
          <p:cNvSpPr/>
          <p:nvPr/>
        </p:nvSpPr>
        <p:spPr>
          <a:xfrm>
            <a:off x="118872" y="1216152"/>
            <a:ext cx="384048" cy="384048"/>
          </a:xfrm>
          <a:prstGeom prst="ellipse">
            <a:avLst/>
          </a:prstGeom>
          <a:solidFill>
            <a:srgbClr val="2F9BFF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k_252"/>
          <p:cNvSpPr/>
          <p:nvPr/>
        </p:nvSpPr>
        <p:spPr>
          <a:xfrm>
            <a:off x="521208" y="13624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👂 LISTEN</a:t>
            </a:r>
            <a:endParaRPr lang="en-US" sz="1300" dirty="0"/>
          </a:p>
        </p:txBody>
      </p:sp>
      <p:sp>
        <p:nvSpPr>
          <p:cNvPr id="10" name="se_253"/>
          <p:cNvSpPr/>
          <p:nvPr/>
        </p:nvSpPr>
        <p:spPr>
          <a:xfrm>
            <a:off x="338328" y="16550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reads a question.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L'insegnante legge una domanda.</a:t>
            </a:r>
            <a:endParaRPr lang="en-US" sz="1050" dirty="0"/>
          </a:p>
        </p:txBody>
      </p:sp>
      <p:sp>
        <p:nvSpPr>
          <p:cNvPr id="11" name="st_254"/>
          <p:cNvSpPr/>
          <p:nvPr/>
        </p:nvSpPr>
        <p:spPr>
          <a:xfrm>
            <a:off x="228600" y="23926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5DA2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n_255"/>
          <p:cNvSpPr/>
          <p:nvPr/>
        </p:nvSpPr>
        <p:spPr>
          <a:xfrm>
            <a:off x="118872" y="2282952"/>
            <a:ext cx="384048" cy="384048"/>
          </a:xfrm>
          <a:prstGeom prst="ellipse">
            <a:avLst/>
          </a:prstGeom>
          <a:solidFill>
            <a:srgbClr val="FF5DA2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k_256"/>
          <p:cNvSpPr/>
          <p:nvPr/>
        </p:nvSpPr>
        <p:spPr>
          <a:xfrm>
            <a:off x="521208" y="24292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💬 SPEAK</a:t>
            </a:r>
            <a:endParaRPr lang="en-US" sz="1300" dirty="0"/>
          </a:p>
        </p:txBody>
      </p:sp>
      <p:sp>
        <p:nvSpPr>
          <p:cNvPr id="14" name="se_257"/>
          <p:cNvSpPr/>
          <p:nvPr/>
        </p:nvSpPr>
        <p:spPr>
          <a:xfrm>
            <a:off x="338328" y="27218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answers in 10 seconds.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squadra risponde in 10 secondi.</a:t>
            </a:r>
            <a:endParaRPr lang="en-US" sz="1050" dirty="0"/>
          </a:p>
        </p:txBody>
      </p:sp>
      <p:sp>
        <p:nvSpPr>
          <p:cNvPr id="15" name="st_258"/>
          <p:cNvSpPr/>
          <p:nvPr/>
        </p:nvSpPr>
        <p:spPr>
          <a:xfrm>
            <a:off x="228600" y="34594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8A3D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n_259"/>
          <p:cNvSpPr/>
          <p:nvPr/>
        </p:nvSpPr>
        <p:spPr>
          <a:xfrm>
            <a:off x="118872" y="3349752"/>
            <a:ext cx="384048" cy="384048"/>
          </a:xfrm>
          <a:prstGeom prst="ellipse">
            <a:avLst/>
          </a:prstGeom>
          <a:solidFill>
            <a:srgbClr val="FF8A3D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sk_260"/>
          <p:cNvSpPr/>
          <p:nvPr/>
        </p:nvSpPr>
        <p:spPr>
          <a:xfrm>
            <a:off x="521208" y="34960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🎲 PLAY</a:t>
            </a:r>
            <a:endParaRPr lang="en-US" sz="1300" dirty="0"/>
          </a:p>
        </p:txBody>
      </p:sp>
      <p:sp>
        <p:nvSpPr>
          <p:cNvPr id="18" name="se_261"/>
          <p:cNvSpPr/>
          <p:nvPr/>
        </p:nvSpPr>
        <p:spPr>
          <a:xfrm>
            <a:off x="338328" y="37886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= 1 point. Spelling = bonus!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Giusto = 1 punto. Spelling = bonus!</a:t>
            </a:r>
            <a:endParaRPr lang="en-US" sz="1050" dirty="0"/>
          </a:p>
        </p:txBody>
      </p:sp>
      <p:sp>
        <p:nvSpPr>
          <p:cNvPr id="19" name="gl_262"/>
          <p:cNvSpPr/>
          <p:nvPr/>
        </p:nvSpPr>
        <p:spPr>
          <a:xfrm>
            <a:off x="3108960" y="1325880"/>
            <a:ext cx="5715000" cy="3200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Which day comes after Wednesday?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What does Fred the fish never do?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What protects your eyes when you swim?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 Why is Alex's Monday morning bad?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 How often do you clean your teeth?</a:t>
            </a:r>
            <a:endParaRPr lang="en-US" sz="1400" dirty="0"/>
          </a:p>
        </p:txBody>
      </p:sp>
      <p:sp>
        <p:nvSpPr>
          <p:cNvPr id="20" name="bk_263"/>
          <p:cNvSpPr/>
          <p:nvPr/>
        </p:nvSpPr>
        <p:spPr>
          <a:xfrm>
            <a:off x="228600" y="4681728"/>
            <a:ext cx="1559052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Unit 2 review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64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MISSION</a:t>
            </a:r>
            <a:endParaRPr lang="en-US" sz="1600" dirty="0"/>
          </a:p>
        </p:txBody>
      </p:sp>
      <p:sp>
        <p:nvSpPr>
          <p:cNvPr id="4" name="bm_265"/>
          <p:cNvSpPr/>
          <p:nvPr/>
        </p:nvSpPr>
        <p:spPr>
          <a:xfrm rot="-120000">
            <a:off x="228600" y="493776"/>
            <a:ext cx="457200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Mission in action!</a:t>
            </a:r>
            <a:endParaRPr lang="en-US" sz="2700" dirty="0"/>
          </a:p>
        </p:txBody>
      </p:sp>
      <p:sp>
        <p:nvSpPr>
          <p:cNvPr id="5" name="in_266"/>
          <p:cNvSpPr/>
          <p:nvPr/>
        </p:nvSpPr>
        <p:spPr>
          <a:xfrm>
            <a:off x="4937760" y="182880"/>
            <a:ext cx="3977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Give your timetable to your two friends.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Dai il tuo programma ai tuoi due amici.</a:t>
            </a:r>
            <a:endParaRPr lang="en-US" sz="1400" dirty="0"/>
          </a:p>
        </p:txBody>
      </p:sp>
      <p:sp>
        <p:nvSpPr>
          <p:cNvPr id="6" name="mode_267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👥👥 GROUPS OF 4 · ⏱ 10 MIN</a:t>
            </a:r>
            <a:endParaRPr lang="en-US" sz="1000" dirty="0"/>
          </a:p>
        </p:txBody>
      </p:sp>
      <p:sp>
        <p:nvSpPr>
          <p:cNvPr id="7" name="pf_268"/>
          <p:cNvSpPr/>
          <p:nvPr/>
        </p:nvSpPr>
        <p:spPr>
          <a:xfrm>
            <a:off x="310896" y="1271016"/>
            <a:ext cx="852220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8" name="pic_269" descr="/home/claude/movers/img/crop/u2-p29-mission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7180" y="1325880"/>
            <a:ext cx="4309641" cy="3246120"/>
          </a:xfrm>
          <a:prstGeom prst="rect">
            <a:avLst/>
          </a:prstGeom>
        </p:spPr>
      </p:pic>
      <p:sp>
        <p:nvSpPr>
          <p:cNvPr id="9" name="bk_270"/>
          <p:cNvSpPr/>
          <p:nvPr/>
        </p:nvSpPr>
        <p:spPr>
          <a:xfrm>
            <a:off x="228600" y="4681728"/>
            <a:ext cx="342442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p.29 · Mission in action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71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MISSION</a:t>
            </a:r>
            <a:endParaRPr lang="en-US" sz="1600" dirty="0"/>
          </a:p>
        </p:txBody>
      </p:sp>
      <p:sp>
        <p:nvSpPr>
          <p:cNvPr id="4" name="bm_272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Did you like it?</a:t>
            </a:r>
            <a:endParaRPr lang="en-US" sz="2700" dirty="0"/>
          </a:p>
        </p:txBody>
      </p:sp>
      <p:sp>
        <p:nvSpPr>
          <p:cNvPr id="5" name="in_273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Ask your friends. Then think about your mission.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Chiedi ai tuoi amici. Poi pensa alla tua missione.</a:t>
            </a:r>
            <a:endParaRPr lang="en-US" sz="1400" dirty="0"/>
          </a:p>
        </p:txBody>
      </p:sp>
      <p:sp>
        <p:nvSpPr>
          <p:cNvPr id="6" name="mode_274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👤 ALONE · ✍ WRITE</a:t>
            </a:r>
            <a:endParaRPr lang="en-US" sz="1000" dirty="0"/>
          </a:p>
        </p:txBody>
      </p:sp>
      <p:sp>
        <p:nvSpPr>
          <p:cNvPr id="7" name="pf_275"/>
          <p:cNvSpPr/>
          <p:nvPr/>
        </p:nvSpPr>
        <p:spPr>
          <a:xfrm>
            <a:off x="310896" y="1271016"/>
            <a:ext cx="523036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8" name="pic_276" descr="/home/claude/movers/img/crop/u2-p29-phot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44896"/>
            <a:ext cx="5120640" cy="2608087"/>
          </a:xfrm>
          <a:prstGeom prst="rect">
            <a:avLst/>
          </a:prstGeom>
        </p:spPr>
      </p:pic>
      <p:sp>
        <p:nvSpPr>
          <p:cNvPr id="9" name="q_277"/>
          <p:cNvSpPr/>
          <p:nvPr/>
        </p:nvSpPr>
        <p:spPr>
          <a:xfrm>
            <a:off x="5760720" y="1325880"/>
            <a:ext cx="30175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Do you like the activities?</a:t>
            </a:r>
            <a:endParaRPr lang="en-US" sz="1250" dirty="0"/>
          </a:p>
        </p:txBody>
      </p:sp>
      <p:sp>
        <p:nvSpPr>
          <p:cNvPr id="10" name="R1_a278"/>
          <p:cNvSpPr/>
          <p:nvPr/>
        </p:nvSpPr>
        <p:spPr>
          <a:xfrm>
            <a:off x="5989320" y="1777594"/>
            <a:ext cx="278892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Yes, thank you. It's a fun week!</a:t>
            </a:r>
            <a:endParaRPr lang="en-US" sz="1250" dirty="0"/>
          </a:p>
        </p:txBody>
      </p:sp>
      <p:sp>
        <p:nvSpPr>
          <p:cNvPr id="11" name="q_279"/>
          <p:cNvSpPr/>
          <p:nvPr/>
        </p:nvSpPr>
        <p:spPr>
          <a:xfrm>
            <a:off x="5760720" y="2194560"/>
            <a:ext cx="30175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Did you like our Mission?</a:t>
            </a:r>
            <a:endParaRPr lang="en-US" sz="1250" dirty="0"/>
          </a:p>
        </p:txBody>
      </p:sp>
      <p:sp>
        <p:nvSpPr>
          <p:cNvPr id="12" name="R2_a280"/>
          <p:cNvSpPr/>
          <p:nvPr/>
        </p:nvSpPr>
        <p:spPr>
          <a:xfrm>
            <a:off x="5989320" y="2646274"/>
            <a:ext cx="278892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lot! 🎉 / It's OK 🙂 / Not much 🤷</a:t>
            </a:r>
            <a:endParaRPr lang="en-US" sz="1250" dirty="0"/>
          </a:p>
        </p:txBody>
      </p:sp>
      <p:sp>
        <p:nvSpPr>
          <p:cNvPr id="13" name="q_281"/>
          <p:cNvSpPr/>
          <p:nvPr/>
        </p:nvSpPr>
        <p:spPr>
          <a:xfrm>
            <a:off x="5760720" y="3063240"/>
            <a:ext cx="30175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Write one activity you want to try + a rule.</a:t>
            </a:r>
            <a:endParaRPr lang="en-US" sz="1250" dirty="0"/>
          </a:p>
        </p:txBody>
      </p:sp>
      <p:sp>
        <p:nvSpPr>
          <p:cNvPr id="14" name="R3_a282"/>
          <p:cNvSpPr/>
          <p:nvPr/>
        </p:nvSpPr>
        <p:spPr>
          <a:xfrm>
            <a:off x="5989320" y="3514954"/>
            <a:ext cx="278892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e.g. I want to try skating. You must wear a helmet.</a:t>
            </a:r>
            <a:endParaRPr lang="en-US" sz="1250" dirty="0"/>
          </a:p>
        </p:txBody>
      </p:sp>
      <p:sp>
        <p:nvSpPr>
          <p:cNvPr id="15" name="bk_283"/>
          <p:cNvSpPr/>
          <p:nvPr/>
        </p:nvSpPr>
        <p:spPr>
          <a:xfrm>
            <a:off x="228600" y="4681728"/>
            <a:ext cx="3502152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p.29 · Activity Book p.18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84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WELL DONE!</a:t>
            </a:r>
            <a:endParaRPr lang="en-US" sz="1600" dirty="0"/>
          </a:p>
        </p:txBody>
      </p:sp>
      <p:sp>
        <p:nvSpPr>
          <p:cNvPr id="4" name="bm_285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Bye bye! 👋</a:t>
            </a:r>
            <a:endParaRPr lang="en-US" sz="3200" dirty="0"/>
          </a:p>
        </p:txBody>
      </p:sp>
      <p:sp>
        <p:nvSpPr>
          <p:cNvPr id="5" name="in_286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Today I can… · Oggi so…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Show me with your thumbs! 👍 👌 👎</a:t>
            </a:r>
            <a:endParaRPr lang="en-US" sz="1400" dirty="0"/>
          </a:p>
        </p:txBody>
      </p:sp>
      <p:sp>
        <p:nvSpPr>
          <p:cNvPr id="6" name="can_287"/>
          <p:cNvSpPr/>
          <p:nvPr/>
        </p:nvSpPr>
        <p:spPr>
          <a:xfrm>
            <a:off x="320040" y="1325880"/>
            <a:ext cx="47548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1750">
            <a:solidFill>
              <a:srgbClr val="6CCB3B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</a:t>
            </a:r>
            <a:pPr indent="0" marL="0">
              <a:buNone/>
            </a:pPr>
            <a:r>
              <a:rPr lang="en-US" sz="13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can do Movers Reading and Writing Part 1.</a:t>
            </a: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So fare la Parte 1 di Reading and Writing Movers.</a:t>
            </a:r>
            <a:endParaRPr lang="en-US" sz="1300" dirty="0"/>
          </a:p>
        </p:txBody>
      </p:sp>
      <p:sp>
        <p:nvSpPr>
          <p:cNvPr id="7" name="can_288"/>
          <p:cNvSpPr/>
          <p:nvPr/>
        </p:nvSpPr>
        <p:spPr>
          <a:xfrm>
            <a:off x="320040" y="2057400"/>
            <a:ext cx="47548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1750">
            <a:solidFill>
              <a:srgbClr val="6CCB3B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</a:t>
            </a:r>
            <a:pPr indent="0" marL="0">
              <a:buNone/>
            </a:pPr>
            <a:r>
              <a:rPr lang="en-US" sz="13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can spell words with English letters.</a:t>
            </a: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So fare lo spelling con le lettere inglesi.</a:t>
            </a:r>
            <a:endParaRPr lang="en-US" sz="1300" dirty="0"/>
          </a:p>
        </p:txBody>
      </p:sp>
      <p:sp>
        <p:nvSpPr>
          <p:cNvPr id="8" name="can_289"/>
          <p:cNvSpPr/>
          <p:nvPr/>
        </p:nvSpPr>
        <p:spPr>
          <a:xfrm>
            <a:off x="320040" y="2788920"/>
            <a:ext cx="47548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1750">
            <a:solidFill>
              <a:srgbClr val="6CCB3B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</a:t>
            </a:r>
            <a:pPr indent="0" marL="0">
              <a:buNone/>
            </a:pPr>
            <a:r>
              <a:rPr lang="en-US" sz="13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can present a fun activities timetable.</a:t>
            </a: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So presentare un programma di attività.</a:t>
            </a:r>
            <a:endParaRPr lang="en-US" sz="1300" dirty="0"/>
          </a:p>
        </p:txBody>
      </p:sp>
      <p:sp>
        <p:nvSpPr>
          <p:cNvPr id="9" name="hw_290"/>
          <p:cNvSpPr/>
          <p:nvPr/>
        </p:nvSpPr>
        <p:spPr>
          <a:xfrm>
            <a:off x="5303520" y="1325880"/>
            <a:ext cx="35661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🏠 HOMEWORK · COMPITI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• Homework sheet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• Activity Book p.28: ex.1 (Movers practice)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• Activity Book p.29: board game (play at home!)</a:t>
            </a:r>
            <a:endParaRPr lang="en-US" sz="1250" dirty="0"/>
          </a:p>
        </p:txBody>
      </p:sp>
      <p:sp>
        <p:nvSpPr>
          <p:cNvPr id="10" name="nx_291"/>
          <p:cNvSpPr/>
          <p:nvPr/>
        </p:nvSpPr>
        <p:spPr>
          <a:xfrm>
            <a:off x="5303520" y="38404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➡ Next: Unit 3!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92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</a:t>
            </a:r>
            <a:endParaRPr lang="en-US" sz="1600" dirty="0"/>
          </a:p>
        </p:txBody>
      </p:sp>
      <p:sp>
        <p:nvSpPr>
          <p:cNvPr id="4" name="bm_293"/>
          <p:cNvSpPr/>
          <p:nvPr/>
        </p:nvSpPr>
        <p:spPr>
          <a:xfrm rot="-120000">
            <a:off x="228600" y="493776"/>
            <a:ext cx="457200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6CCB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EXTRA: Board game!</a:t>
            </a:r>
            <a:endParaRPr lang="en-US" sz="2700" dirty="0"/>
          </a:p>
        </p:txBody>
      </p:sp>
      <p:sp>
        <p:nvSpPr>
          <p:cNvPr id="5" name="in_294"/>
          <p:cNvSpPr/>
          <p:nvPr/>
        </p:nvSpPr>
        <p:spPr>
          <a:xfrm>
            <a:off x="4937760" y="182880"/>
            <a:ext cx="3977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Roll the dice. Make a sentence with the picture and the word!</a:t>
            </a:r>
            <a:endParaRPr lang="en-US" sz="1200" dirty="0"/>
          </a:p>
          <a:p>
            <a:pPr indent="0" marL="0">
              <a:buNone/>
            </a:pPr>
            <a:r>
              <a:rPr lang="en-US" sz="105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Tira il dado. Fai una frase con l'immagine e la parola!</a:t>
            </a:r>
            <a:endParaRPr lang="en-US" sz="1200" dirty="0"/>
          </a:p>
        </p:txBody>
      </p:sp>
      <p:sp>
        <p:nvSpPr>
          <p:cNvPr id="6" name="mode_295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👥👥 GROUPS · ⏱ 8 MIN</a:t>
            </a:r>
            <a:endParaRPr lang="en-US" sz="1000" dirty="0"/>
          </a:p>
        </p:txBody>
      </p:sp>
      <p:sp>
        <p:nvSpPr>
          <p:cNvPr id="7" name="pf_296"/>
          <p:cNvSpPr/>
          <p:nvPr/>
        </p:nvSpPr>
        <p:spPr>
          <a:xfrm>
            <a:off x="310896" y="1271016"/>
            <a:ext cx="523036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8" name="pic_297" descr="/home/claude/movers/img/crop/u2-ab29-boardgam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6579" y="1325880"/>
            <a:ext cx="3019002" cy="3246120"/>
          </a:xfrm>
          <a:prstGeom prst="rect">
            <a:avLst/>
          </a:prstGeom>
        </p:spPr>
      </p:pic>
      <p:sp>
        <p:nvSpPr>
          <p:cNvPr id="9" name="q_298"/>
          <p:cNvSpPr/>
          <p:nvPr/>
        </p:nvSpPr>
        <p:spPr>
          <a:xfrm>
            <a:off x="5760720" y="132588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Picture + always</a:t>
            </a:r>
            <a:endParaRPr lang="en-US" sz="1250" dirty="0"/>
          </a:p>
        </p:txBody>
      </p:sp>
      <p:sp>
        <p:nvSpPr>
          <p:cNvPr id="10" name="R1_a299"/>
          <p:cNvSpPr/>
          <p:nvPr/>
        </p:nvSpPr>
        <p:spPr>
          <a:xfrm>
            <a:off x="5989320" y="175381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always read comics on Saturdays.</a:t>
            </a:r>
            <a:endParaRPr lang="en-US" sz="1200" dirty="0"/>
          </a:p>
        </p:txBody>
      </p:sp>
      <p:sp>
        <p:nvSpPr>
          <p:cNvPr id="11" name="q_300"/>
          <p:cNvSpPr/>
          <p:nvPr/>
        </p:nvSpPr>
        <p:spPr>
          <a:xfrm>
            <a:off x="5760720" y="214884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Picture + Monday</a:t>
            </a:r>
            <a:endParaRPr lang="en-US" sz="1250" dirty="0"/>
          </a:p>
        </p:txBody>
      </p:sp>
      <p:sp>
        <p:nvSpPr>
          <p:cNvPr id="12" name="R2_a301"/>
          <p:cNvSpPr/>
          <p:nvPr/>
        </p:nvSpPr>
        <p:spPr>
          <a:xfrm>
            <a:off x="5989320" y="257677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play football on Mondays.</a:t>
            </a:r>
            <a:endParaRPr lang="en-US" sz="1250" dirty="0"/>
          </a:p>
        </p:txBody>
      </p:sp>
      <p:sp>
        <p:nvSpPr>
          <p:cNvPr id="13" name="q_302"/>
          <p:cNvSpPr/>
          <p:nvPr/>
        </p:nvSpPr>
        <p:spPr>
          <a:xfrm>
            <a:off x="5760720" y="297180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Picture + never</a:t>
            </a:r>
            <a:endParaRPr lang="en-US" sz="1250" dirty="0"/>
          </a:p>
        </p:txBody>
      </p:sp>
      <p:sp>
        <p:nvSpPr>
          <p:cNvPr id="14" name="R3_a303"/>
          <p:cNvSpPr/>
          <p:nvPr/>
        </p:nvSpPr>
        <p:spPr>
          <a:xfrm>
            <a:off x="5989320" y="339973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never have a shower in the morning.</a:t>
            </a:r>
            <a:endParaRPr lang="en-US" sz="1200" dirty="0"/>
          </a:p>
        </p:txBody>
      </p:sp>
      <p:sp>
        <p:nvSpPr>
          <p:cNvPr id="15" name="q_304"/>
          <p:cNvSpPr/>
          <p:nvPr/>
        </p:nvSpPr>
        <p:spPr>
          <a:xfrm>
            <a:off x="5760720" y="379476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Clock square?</a:t>
            </a:r>
            <a:endParaRPr lang="en-US" sz="1250" dirty="0"/>
          </a:p>
        </p:txBody>
      </p:sp>
      <p:sp>
        <p:nvSpPr>
          <p:cNvPr id="16" name="R4_a305"/>
          <p:cNvSpPr/>
          <p:nvPr/>
        </p:nvSpPr>
        <p:spPr>
          <a:xfrm>
            <a:off x="5989320" y="422269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Say the time + a routine: It's 8 o'clock. I have breakfast.</a:t>
            </a:r>
            <a:endParaRPr lang="en-US" sz="1200" dirty="0"/>
          </a:p>
        </p:txBody>
      </p:sp>
      <p:sp>
        <p:nvSpPr>
          <p:cNvPr id="17" name="bk_306"/>
          <p:cNvSpPr/>
          <p:nvPr/>
        </p:nvSpPr>
        <p:spPr>
          <a:xfrm>
            <a:off x="228600" y="4681728"/>
            <a:ext cx="3968496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Activity Book p.29 · ex.1 (Units 1–2 review)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307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</a:t>
            </a:r>
            <a:endParaRPr lang="en-US" sz="1600" dirty="0"/>
          </a:p>
        </p:txBody>
      </p:sp>
      <p:sp>
        <p:nvSpPr>
          <p:cNvPr id="4" name="bm_308"/>
          <p:cNvSpPr/>
          <p:nvPr/>
        </p:nvSpPr>
        <p:spPr>
          <a:xfrm rot="-120000">
            <a:off x="228600" y="493776"/>
            <a:ext cx="457200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ln w="31750">
                  <a:solidFill>
                    <a:srgbClr val="1E2A5A"/>
                  </a:solidFill>
                </a:ln>
                <a:solidFill>
                  <a:srgbClr val="6CCB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EXTRA: Find the pair</a:t>
            </a:r>
            <a:endParaRPr lang="en-US" sz="2400" dirty="0"/>
          </a:p>
        </p:txBody>
      </p:sp>
      <p:sp>
        <p:nvSpPr>
          <p:cNvPr id="5" name="in_309"/>
          <p:cNvSpPr/>
          <p:nvPr/>
        </p:nvSpPr>
        <p:spPr>
          <a:xfrm>
            <a:off x="4937760" y="182880"/>
            <a:ext cx="3977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Turn over two cards. Picture + word = a pair!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Gira due carte. Immagine + parola = una coppia!</a:t>
            </a:r>
            <a:endParaRPr lang="en-US" sz="1400" dirty="0"/>
          </a:p>
        </p:txBody>
      </p:sp>
      <p:sp>
        <p:nvSpPr>
          <p:cNvPr id="6" name="mode_310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👥👥 GROUPS · ⏱ 6 MIN</a:t>
            </a:r>
            <a:endParaRPr lang="en-US" sz="1000" dirty="0"/>
          </a:p>
        </p:txBody>
      </p:sp>
      <p:sp>
        <p:nvSpPr>
          <p:cNvPr id="7" name="st_311"/>
          <p:cNvSpPr/>
          <p:nvPr/>
        </p:nvSpPr>
        <p:spPr>
          <a:xfrm>
            <a:off x="228600" y="13258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6CCB3B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sn_312"/>
          <p:cNvSpPr/>
          <p:nvPr/>
        </p:nvSpPr>
        <p:spPr>
          <a:xfrm>
            <a:off x="118872" y="1216152"/>
            <a:ext cx="384048" cy="384048"/>
          </a:xfrm>
          <a:prstGeom prst="ellipse">
            <a:avLst/>
          </a:prstGeom>
          <a:solidFill>
            <a:srgbClr val="6CCB3B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k_313"/>
          <p:cNvSpPr/>
          <p:nvPr/>
        </p:nvSpPr>
        <p:spPr>
          <a:xfrm>
            <a:off x="521208" y="13624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⚙️ DO</a:t>
            </a:r>
            <a:endParaRPr lang="en-US" sz="1300" dirty="0"/>
          </a:p>
        </p:txBody>
      </p:sp>
      <p:sp>
        <p:nvSpPr>
          <p:cNvPr id="10" name="se_314"/>
          <p:cNvSpPr/>
          <p:nvPr/>
        </p:nvSpPr>
        <p:spPr>
          <a:xfrm>
            <a:off x="338328" y="16550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Cards face down on the table.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 coperte sul tavolo.</a:t>
            </a:r>
            <a:endParaRPr lang="en-US" sz="1050" dirty="0"/>
          </a:p>
        </p:txBody>
      </p:sp>
      <p:sp>
        <p:nvSpPr>
          <p:cNvPr id="11" name="st_315"/>
          <p:cNvSpPr/>
          <p:nvPr/>
        </p:nvSpPr>
        <p:spPr>
          <a:xfrm>
            <a:off x="228600" y="23926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5DA2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n_316"/>
          <p:cNvSpPr/>
          <p:nvPr/>
        </p:nvSpPr>
        <p:spPr>
          <a:xfrm>
            <a:off x="118872" y="2282952"/>
            <a:ext cx="384048" cy="384048"/>
          </a:xfrm>
          <a:prstGeom prst="ellipse">
            <a:avLst/>
          </a:prstGeom>
          <a:solidFill>
            <a:srgbClr val="FF5DA2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k_317"/>
          <p:cNvSpPr/>
          <p:nvPr/>
        </p:nvSpPr>
        <p:spPr>
          <a:xfrm>
            <a:off x="521208" y="24292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💬 SPEAK</a:t>
            </a:r>
            <a:endParaRPr lang="en-US" sz="1300" dirty="0"/>
          </a:p>
        </p:txBody>
      </p:sp>
      <p:sp>
        <p:nvSpPr>
          <p:cNvPr id="14" name="se_318"/>
          <p:cNvSpPr/>
          <p:nvPr/>
        </p:nvSpPr>
        <p:spPr>
          <a:xfrm>
            <a:off x="338328" y="27218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two cards. Say the words!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Gira due carte. Di' le parole!</a:t>
            </a:r>
            <a:endParaRPr lang="en-US" sz="1050" dirty="0"/>
          </a:p>
        </p:txBody>
      </p:sp>
      <p:sp>
        <p:nvSpPr>
          <p:cNvPr id="15" name="st_319"/>
          <p:cNvSpPr/>
          <p:nvPr/>
        </p:nvSpPr>
        <p:spPr>
          <a:xfrm>
            <a:off x="228600" y="34594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8A3D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n_320"/>
          <p:cNvSpPr/>
          <p:nvPr/>
        </p:nvSpPr>
        <p:spPr>
          <a:xfrm>
            <a:off x="118872" y="3349752"/>
            <a:ext cx="384048" cy="384048"/>
          </a:xfrm>
          <a:prstGeom prst="ellipse">
            <a:avLst/>
          </a:prstGeom>
          <a:solidFill>
            <a:srgbClr val="FF8A3D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sk_321"/>
          <p:cNvSpPr/>
          <p:nvPr/>
        </p:nvSpPr>
        <p:spPr>
          <a:xfrm>
            <a:off x="521208" y="34960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🎲 PLAY</a:t>
            </a:r>
            <a:endParaRPr lang="en-US" sz="1300" dirty="0"/>
          </a:p>
        </p:txBody>
      </p:sp>
      <p:sp>
        <p:nvSpPr>
          <p:cNvPr id="18" name="se_322"/>
          <p:cNvSpPr/>
          <p:nvPr/>
        </p:nvSpPr>
        <p:spPr>
          <a:xfrm>
            <a:off x="338328" y="37886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pair? Keep it! Most pairs wins.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coppia? Tienila! Vince chi ne ha di più.</a:t>
            </a:r>
            <a:endParaRPr lang="en-US" sz="1050" dirty="0"/>
          </a:p>
        </p:txBody>
      </p:sp>
      <p:sp>
        <p:nvSpPr>
          <p:cNvPr id="19" name="cd_323"/>
          <p:cNvSpPr/>
          <p:nvPr/>
        </p:nvSpPr>
        <p:spPr>
          <a:xfrm>
            <a:off x="3108960" y="132588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0" name="ci_324" descr="/home/claude/movers/img/fc/wake-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4476" y="1399032"/>
            <a:ext cx="834847" cy="834847"/>
          </a:xfrm>
          <a:prstGeom prst="rect">
            <a:avLst/>
          </a:prstGeom>
        </p:spPr>
      </p:pic>
      <p:sp>
        <p:nvSpPr>
          <p:cNvPr id="21" name="lb_325"/>
          <p:cNvSpPr/>
          <p:nvPr/>
        </p:nvSpPr>
        <p:spPr>
          <a:xfrm>
            <a:off x="3145536" y="2252167"/>
            <a:ext cx="125272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wake up</a:t>
            </a:r>
            <a:endParaRPr lang="en-US" sz="1100" dirty="0"/>
          </a:p>
        </p:txBody>
      </p:sp>
      <p:sp>
        <p:nvSpPr>
          <p:cNvPr id="22" name="cd_326"/>
          <p:cNvSpPr/>
          <p:nvPr/>
        </p:nvSpPr>
        <p:spPr>
          <a:xfrm>
            <a:off x="4572000" y="132588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3" name="ci_327" descr="/home/claude/movers/img/fc/have-breakfa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7516" y="1399032"/>
            <a:ext cx="834847" cy="834847"/>
          </a:xfrm>
          <a:prstGeom prst="rect">
            <a:avLst/>
          </a:prstGeom>
        </p:spPr>
      </p:pic>
      <p:sp>
        <p:nvSpPr>
          <p:cNvPr id="24" name="lb_328"/>
          <p:cNvSpPr/>
          <p:nvPr/>
        </p:nvSpPr>
        <p:spPr>
          <a:xfrm>
            <a:off x="4608576" y="2252167"/>
            <a:ext cx="125272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have breakfast</a:t>
            </a:r>
            <a:endParaRPr lang="en-US" sz="1100" dirty="0"/>
          </a:p>
        </p:txBody>
      </p:sp>
      <p:sp>
        <p:nvSpPr>
          <p:cNvPr id="25" name="cd_329"/>
          <p:cNvSpPr/>
          <p:nvPr/>
        </p:nvSpPr>
        <p:spPr>
          <a:xfrm>
            <a:off x="6035040" y="132588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6" name="ci_330" descr="/home/claude/movers/img/fc/go-skat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556" y="1399032"/>
            <a:ext cx="834847" cy="834847"/>
          </a:xfrm>
          <a:prstGeom prst="rect">
            <a:avLst/>
          </a:prstGeom>
        </p:spPr>
      </p:pic>
      <p:sp>
        <p:nvSpPr>
          <p:cNvPr id="27" name="lb_331"/>
          <p:cNvSpPr/>
          <p:nvPr/>
        </p:nvSpPr>
        <p:spPr>
          <a:xfrm>
            <a:off x="6071616" y="2252167"/>
            <a:ext cx="125272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 skating</a:t>
            </a:r>
            <a:endParaRPr lang="en-US" sz="1100" dirty="0"/>
          </a:p>
        </p:txBody>
      </p:sp>
      <p:sp>
        <p:nvSpPr>
          <p:cNvPr id="28" name="cd_332"/>
          <p:cNvSpPr/>
          <p:nvPr/>
        </p:nvSpPr>
        <p:spPr>
          <a:xfrm>
            <a:off x="7498080" y="132588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9" name="ci_333" descr="/home/claude/movers/img/fc/read-a-comi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3596" y="1399032"/>
            <a:ext cx="834847" cy="834847"/>
          </a:xfrm>
          <a:prstGeom prst="rect">
            <a:avLst/>
          </a:prstGeom>
        </p:spPr>
      </p:pic>
      <p:sp>
        <p:nvSpPr>
          <p:cNvPr id="30" name="lb_334"/>
          <p:cNvSpPr/>
          <p:nvPr/>
        </p:nvSpPr>
        <p:spPr>
          <a:xfrm>
            <a:off x="7534656" y="2252167"/>
            <a:ext cx="125272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 a comic</a:t>
            </a:r>
            <a:endParaRPr lang="en-US" sz="1100" dirty="0"/>
          </a:p>
        </p:txBody>
      </p:sp>
      <p:sp>
        <p:nvSpPr>
          <p:cNvPr id="31" name="cd_335"/>
          <p:cNvSpPr/>
          <p:nvPr/>
        </p:nvSpPr>
        <p:spPr>
          <a:xfrm>
            <a:off x="3108960" y="2761488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32" name="ci_336" descr="/home/claude/movers/img/fc/write-an-emai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4476" y="2834640"/>
            <a:ext cx="834847" cy="834847"/>
          </a:xfrm>
          <a:prstGeom prst="rect">
            <a:avLst/>
          </a:prstGeom>
        </p:spPr>
      </p:pic>
      <p:sp>
        <p:nvSpPr>
          <p:cNvPr id="33" name="lb_337"/>
          <p:cNvSpPr/>
          <p:nvPr/>
        </p:nvSpPr>
        <p:spPr>
          <a:xfrm>
            <a:off x="3145536" y="3687775"/>
            <a:ext cx="125272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write an email</a:t>
            </a:r>
            <a:endParaRPr lang="en-US" sz="1100" dirty="0"/>
          </a:p>
        </p:txBody>
      </p:sp>
      <p:sp>
        <p:nvSpPr>
          <p:cNvPr id="34" name="cd_338"/>
          <p:cNvSpPr/>
          <p:nvPr/>
        </p:nvSpPr>
        <p:spPr>
          <a:xfrm>
            <a:off x="4572000" y="2761488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35" name="ci_339" descr="/home/claude/movers/img/fc/towe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7516" y="2834640"/>
            <a:ext cx="834847" cy="834847"/>
          </a:xfrm>
          <a:prstGeom prst="rect">
            <a:avLst/>
          </a:prstGeom>
        </p:spPr>
      </p:pic>
      <p:sp>
        <p:nvSpPr>
          <p:cNvPr id="36" name="lb_340"/>
          <p:cNvSpPr/>
          <p:nvPr/>
        </p:nvSpPr>
        <p:spPr>
          <a:xfrm>
            <a:off x="4608576" y="3687775"/>
            <a:ext cx="125272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towel</a:t>
            </a:r>
            <a:endParaRPr lang="en-US" sz="1100" dirty="0"/>
          </a:p>
        </p:txBody>
      </p:sp>
      <p:sp>
        <p:nvSpPr>
          <p:cNvPr id="37" name="cd_341"/>
          <p:cNvSpPr/>
          <p:nvPr/>
        </p:nvSpPr>
        <p:spPr>
          <a:xfrm>
            <a:off x="6035040" y="2761488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38" name="ci_342" descr="/home/claude/movers/img/fc/frida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0556" y="2834640"/>
            <a:ext cx="834847" cy="834847"/>
          </a:xfrm>
          <a:prstGeom prst="rect">
            <a:avLst/>
          </a:prstGeom>
        </p:spPr>
      </p:pic>
      <p:sp>
        <p:nvSpPr>
          <p:cNvPr id="39" name="lb_343"/>
          <p:cNvSpPr/>
          <p:nvPr/>
        </p:nvSpPr>
        <p:spPr>
          <a:xfrm>
            <a:off x="6071616" y="3687775"/>
            <a:ext cx="125272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friday</a:t>
            </a:r>
            <a:endParaRPr lang="en-US" sz="1100" dirty="0"/>
          </a:p>
        </p:txBody>
      </p:sp>
      <p:sp>
        <p:nvSpPr>
          <p:cNvPr id="40" name="cd_344"/>
          <p:cNvSpPr/>
          <p:nvPr/>
        </p:nvSpPr>
        <p:spPr>
          <a:xfrm>
            <a:off x="7498080" y="2761488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41" name="ci_345" descr="/home/claude/movers/img/fc/sunda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43596" y="2834640"/>
            <a:ext cx="834847" cy="834847"/>
          </a:xfrm>
          <a:prstGeom prst="rect">
            <a:avLst/>
          </a:prstGeom>
        </p:spPr>
      </p:pic>
      <p:sp>
        <p:nvSpPr>
          <p:cNvPr id="42" name="lb_346"/>
          <p:cNvSpPr/>
          <p:nvPr/>
        </p:nvSpPr>
        <p:spPr>
          <a:xfrm>
            <a:off x="7534656" y="3687775"/>
            <a:ext cx="125272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sunday</a:t>
            </a:r>
            <a:endParaRPr lang="en-US" sz="1100" dirty="0"/>
          </a:p>
        </p:txBody>
      </p:sp>
      <p:sp>
        <p:nvSpPr>
          <p:cNvPr id="43" name="bk_347"/>
          <p:cNvSpPr/>
          <p:nvPr/>
        </p:nvSpPr>
        <p:spPr>
          <a:xfrm>
            <a:off x="228600" y="4681728"/>
            <a:ext cx="186994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Unit 2 flashcards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Movers · UNIT 2 · LESSON 6 · Mission in action!</dc:title>
  <dc:subject>PptxGenJS Presentation</dc:subject>
  <dc:creator>PptxGenJS</dc:creator>
  <cp:lastModifiedBy>PptxGenJS</cp:lastModifiedBy>
  <cp:revision>1</cp:revision>
  <dcterms:created xsi:type="dcterms:W3CDTF">2026-10-06T10:51:29Z</dcterms:created>
  <dcterms:modified xsi:type="dcterms:W3CDTF">2026-10-06T10:51:29Z</dcterms:modified>
</cp:coreProperties>
</file>