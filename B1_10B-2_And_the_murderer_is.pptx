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10B PART 2 (60 min) · SB pp.102–103 — the last lesson of the Student's Book. Aims: read and listen to the short story 'May and June' by Ruth Rendell (Parts 1–2 in the book, Part 3 audio only); understand referencing; words from the story; video 'Queens of crime' (Ruth Rendell and Agatha Christie). Timing: cover 2 · revision 5 · lead-in 3 · Part 1 8 · Part 2 8 · vocabulary 3 · Part 3 10 · debate 4 · video 12 (embedded) · exit 3 = 58 min. Click 1: the question — predict from the title and the picture; click 2. The story ends with a murder: it's a classic literary crime story (no graphic detail), but check it suits your group.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10B part 1 (5 min). VARIATION: change the energy — 'tag tennis'. Team A reads ('serves') a sentence; Team B must 'return' the tag in 3 seconds with FALLING intonation ↘; then the teams swap. Click once per item to show the tag (one per click). A wrong tag or no answer = point to the serving team. After the 8 slide items, teams serve their own sentences about Jack the Ripper (Bondeson thought he was a sailor, didn't he?). Content from the Jack the Ripper listening (10.7–10.9).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LEAD-IN (3 min). 5a: pairs or whole class (lines 1–2 = the book's questions). If you have a favourite crime author, tell them (TG). Italian detectives work well here (Montalbano!). Click 1: Ruth Rendell (1930–2015) was a very famous English author of thrillers and psychological murder mysteries; many of her novels have been made into TV series and films (TG). VARIATION: prediction — 'May and June' are two sisters named after the months they were born in. Walter is engaged to May… what happens?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&amp; LISTENING (8 min). 5b: play 10.14 while students read Part 1 on p.102 (about 3 minutes). Then pairs look at the highlighted phrases 1–5 and explain what they refer to (they must find each phrase in the story). Click 1 for answers (TG): 1 was both = pretty and clever · 2 During that time = the time when May was engaged to Walter · 3 It was all very unfortunate = the fact that Walter fell in love with June and left May · 4 'She's ruined my life.' = 'I will never be happy again.' · 5 This thought = that perhaps Walter was sorry he had married June and not her. Deal with new vocabulary: changeable, admirers, lawyer, wealthy, engaged, intensity. VARIATION: perspective change — 'Whose side are you on now: May's or June's?' (quick hands up, keep the answers for the end of the story).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&amp; LISTENING (8 min). 5c: give students time to read questions 1–5 in the book; play 10.15 while they read Part 2; pairs answer. Click 1 for answers (TG): 1 a she refused to speak to her · b she was reconciled with her · 2 because they were both alone and May didn't have very much money; June wanted to recompense May for marrying Walter · 3 possible answers: because she hadn't been very happy with Walter and it was painful for her OR she had been very happy with Walter and she didn't want to hurt May · 4 she was looking for proof that Walter hadn't really loved June · 5 possibly because she now believed that Walter had really loved her. The slide questions are the book's. Teach: funeral, reconciled, retired, engagement ring vs wedding 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min). 5d: students find the words in both parts of the story; click 1 for answers (TG): 1 changeable, wealthy · 2 unfortunate, unknown · 3 extremely, passionately · 4 death, marriage · 5 wedding ring, engagement ring. The prompts on the slide are the book's. Drill: wealthy /ˈwelθi/, passionately /ˈpæʃənətli/, marriage /ˈmærɪdʒ/. VARIATION: vocabulary branching — what are the opposites / related words? (wealthy – poor; marriage – to marry – married).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(10 min). 5e (whole class, 2 min): Do you think May and June are going to live happily together? How do you think the story is going to end? VARIATION: prediction — write 3–4 predictions on the board. 5f: play 10.16 once: were you right? (TG: May sees a letter from Walter to June saying how much he loved her; May picks up a gun and kills June.) 5g: students read questions 1–7 (the book's, on the slide); play again. Click 1 for all answers. TG answers: 1 because she thought Walter hadn't really loved June, and she thought June had been punished for what she did · 2 she thought they had been burgled · 3 it was messy, with broken glass on the floor · 4 she had thrown a bottle at the burglar · 5 it made her angry · 6 she picked up the burglar's gun and killed June · 7 she said she hadn't been thinking because of the shock. Note (TG): the script of Part 3 is not in the Student's Book so that students don't read ahead; photocopy script 10.16 if you want them to read it afterwards. Point out the irony: May touched the gun 'because of the shock' — her fingerprints are explained. 5h is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(4 min). 5h = the book's question 'Do you feel sorry for May or June?' (TG: whole class — who do you feel sorry for and why? You could tell the class your own opinion). VARIATION: mild controversy + perspective change — pairs vote AGREE / NO WAY for each and give a reason; then compare with their prediction on the 'whose side are you on?' question from Part 1. Push for third conditionals: If Walter hadn't left May, she wouldn't have…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(12 min). The video is embedded (5 min 26 s). Timing: 6a + first viewing 6½ min · notes from memory and compare 2 min · second viewing of the parts students need (usually the second half, Agatha Christie – or the whole video if time allows) 2½ min · check 1 min. 6a: look at the photos — who is who, and roughly when did they live? Play once: who had the more interesting life? the happier life? Possible answers (TG): Rendell may have had a more interesting life (she was a journalist) — but Christie's mysterious disappearance was interesting too; Rendell's life may have been happier, as Christie had an unhappy first marriage. 6b–c: students make notes in the chart from memory, compare, then watch again. Chart answers (TG / video script): Rendell — born in London in 1930; father English, mother Danish; journalist; married Don Rendell, divorced in 1975 and remarried him in 1977; died 2015; first novel 1964 From Doon with Death; Inspector Wexford; pseudonym Barbara Vine; films La Cérémonie, Carne Trémula (Almodóvar); interested in characters and WHY a murder is committed. Christie — born in Torquay in 1890; father American, mother British; married Archie Christie 1914, later Max Mallowan (an archaeologist); disappeared for 11 days in 1926 and was found in Harrogate; first novel 1920 The Mysterious Affair at Styles; Hercule Poirot and Miss Marple; pseudonym Mary Westmacott; Murder on the Orient Express, The Mousetrap; interested in plots and WHO committed the murder. (⚠ The TG chart says Rendell married 'in 1950 and 1977' — the 1950 date is not in the video script.) 6d: have they read / seen anything by Rendell or Christie? Other crime writers? (Camilleri!) VARIATION: compare and contrast + personalisation.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Homework: Workbook 10B 2b, 2c (question tags) and 3 (intonation – audio, optional) + revise the Grammar Banks 9A, 9B, 10A, 10B for the Revise and Check games + the 10B-2 homework sheet (easier version available). TG: if you want to end the course without the book, there is a Communicative revision photocopiable p.198 (no B1_ handout – print it from b1-official/pcm-all/EnglishFile4e_Intermediate_TG_PCM_Comm_Revision.pdf: 8 topic cards; pairs take turns to pick a card and talk about the topic using the prompts, the partner asks follow-up questions; non-cut alternative: one copy per pair, A chooses a number for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(10 min) = Communicative photocopiable 10B 'Four little mysteries' (TG p.197, notes p.175). 📄 Print: B1_10B_Photocopiables.pdf, page 2 – one copy per pair. Language: crime vocabulary. Official procedure (TG): put Sts in pairs and give out the worksheets; explain that they're going to solve some mysteries; give them time to read the four stories and answer the questions; monitor and help; elicit ideas from various pairs and then give the correct answers (one per click). Official answers (TG): 1 They knew Sean was lying because he said he saw 'a guy come up behind him', but the victim was shot in the stomach. · 2 It was the maid. She said she was getting the post, but there is no delivery on Sunday. · 3 The waitress had told him she served him on their only plain plate. When she brought his 'new plate of food', it was on the same plate. · 4 The assistant reminded the businesswoman that her key was safely locked inside the letterbox that it unlocks. After all, she posted it there. EXTRA CHALLENGE (TG): Sts write their own mysteries. Teach before reading if needed: baggy (= large and loose), suspect, staff, maid, run out of, forward (post), fire (= dismiss). VARIATION: curiosity gap + give reasons (pairs must justify their solution before the click).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perspective change + recycling the File 9 grammar (third conditional). Keep it literary; no graphic detail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Tags: don't you · didn't you · did you · didn't you · were you. VARIATION: role play — the inspector gets suspicious; May must stay calm. Then swap. Links the story to the 10B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10B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10B · Part 2 · SB pp.102–103</a:t>
            </a:r>
            <a:endParaRPr lang="en-US" sz="1000" dirty="0"/>
          </a:p>
        </p:txBody>
      </p:sp>
      <p:sp>
        <p:nvSpPr>
          <p:cNvPr id="9" name="title_7"/>
          <p:cNvSpPr txBox="1"/>
          <p:nvPr/>
        </p:nvSpPr>
        <p:spPr>
          <a:xfrm rot="120000">
            <a:off x="411480" y="1325880"/>
            <a:ext cx="512064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THE MURDERER IS…</a:t>
            </a:r>
            <a:endParaRPr lang="en-US" sz="22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&amp; LISTENING · May and June (Ruth Rendell)</a:t>
            </a:r>
            <a:endParaRPr lang="en-US" sz="11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71703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words from the story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275691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· Queens of crime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gi:GiDiamond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Envel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BookOpenTex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sisters. One man. Forty years.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possibly go wrong?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10B part 1 · Question tags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90000">
            <a:off x="320040" y="676656"/>
            <a:ext cx="241401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Tag tennis!</a:t>
            </a:r>
            <a:endParaRPr lang="en-US" sz="1500" dirty="0"/>
          </a:p>
        </p:txBody>
      </p:sp>
      <p:sp>
        <p:nvSpPr>
          <p:cNvPr id="9" name="tape_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25"/>
          <p:cNvSpPr/>
          <p:nvPr/>
        </p:nvSpPr>
        <p:spPr>
          <a:xfrm rot="-720000">
            <a:off x="216712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serves, B returns the tag: 3 seconds!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serve, B risponde con la tag: 3 secondi!</a:t>
            </a:r>
            <a:endParaRPr lang="en-US" sz="1250" dirty="0"/>
          </a:p>
        </p:txBody>
      </p:sp>
      <p:sp>
        <p:nvSpPr>
          <p:cNvPr id="14" name="iconBack_29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30" descr="pi:PiPingPo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31"/>
          <p:cNvSpPr txBox="1"/>
          <p:nvPr/>
        </p:nvSpPr>
        <p:spPr>
          <a:xfrm>
            <a:off x="2788920" y="1371600"/>
            <a:ext cx="1831177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were a detective, …</a:t>
            </a:r>
            <a:endParaRPr lang="en-US" sz="1200" dirty="0"/>
          </a:p>
        </p:txBody>
      </p:sp>
      <p:sp>
        <p:nvSpPr>
          <p:cNvPr id="17" name="R1_a0"/>
          <p:cNvSpPr txBox="1"/>
          <p:nvPr/>
        </p:nvSpPr>
        <p:spPr>
          <a:xfrm>
            <a:off x="4674961" y="1408176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weren't you?</a:t>
            </a:r>
            <a:endParaRPr lang="en-US" sz="1250" dirty="0"/>
          </a:p>
        </p:txBody>
      </p:sp>
      <p:sp>
        <p:nvSpPr>
          <p:cNvPr id="18" name="box_32"/>
          <p:cNvSpPr txBox="1"/>
          <p:nvPr/>
        </p:nvSpPr>
        <p:spPr>
          <a:xfrm>
            <a:off x="5870448" y="1371600"/>
            <a:ext cx="1831177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He was never arrested, …</a:t>
            </a:r>
            <a:endParaRPr lang="en-US" sz="1200" dirty="0"/>
          </a:p>
        </p:txBody>
      </p:sp>
      <p:sp>
        <p:nvSpPr>
          <p:cNvPr id="19" name="R2_a1"/>
          <p:cNvSpPr txBox="1"/>
          <p:nvPr/>
        </p:nvSpPr>
        <p:spPr>
          <a:xfrm>
            <a:off x="7756489" y="1408176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he?</a:t>
            </a:r>
            <a:endParaRPr lang="en-US" sz="1250" dirty="0"/>
          </a:p>
        </p:txBody>
      </p:sp>
      <p:sp>
        <p:nvSpPr>
          <p:cNvPr id="20" name="box_33"/>
          <p:cNvSpPr txBox="1"/>
          <p:nvPr/>
        </p:nvSpPr>
        <p:spPr>
          <a:xfrm>
            <a:off x="2788920" y="2226564"/>
            <a:ext cx="1831177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police have found the evidence, …</a:t>
            </a:r>
            <a:endParaRPr lang="en-US" sz="1200" dirty="0"/>
          </a:p>
        </p:txBody>
      </p:sp>
      <p:sp>
        <p:nvSpPr>
          <p:cNvPr id="21" name="R3_a2"/>
          <p:cNvSpPr txBox="1"/>
          <p:nvPr/>
        </p:nvSpPr>
        <p:spPr>
          <a:xfrm>
            <a:off x="4674961" y="2263140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haven't they?</a:t>
            </a:r>
            <a:endParaRPr lang="en-US" sz="1250" dirty="0"/>
          </a:p>
        </p:txBody>
      </p:sp>
      <p:sp>
        <p:nvSpPr>
          <p:cNvPr id="22" name="box_34"/>
          <p:cNvSpPr txBox="1"/>
          <p:nvPr/>
        </p:nvSpPr>
        <p:spPr>
          <a:xfrm>
            <a:off x="5870448" y="2226564"/>
            <a:ext cx="1831177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don't think she's right, …</a:t>
            </a:r>
            <a:endParaRPr lang="en-US" sz="1200" dirty="0"/>
          </a:p>
        </p:txBody>
      </p:sp>
      <p:sp>
        <p:nvSpPr>
          <p:cNvPr id="23" name="R4_a3"/>
          <p:cNvSpPr txBox="1"/>
          <p:nvPr/>
        </p:nvSpPr>
        <p:spPr>
          <a:xfrm>
            <a:off x="7756489" y="2263140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you?</a:t>
            </a:r>
            <a:endParaRPr lang="en-US" sz="1250" dirty="0"/>
          </a:p>
        </p:txBody>
      </p:sp>
      <p:sp>
        <p:nvSpPr>
          <p:cNvPr id="24" name="box_35"/>
          <p:cNvSpPr txBox="1"/>
          <p:nvPr/>
        </p:nvSpPr>
        <p:spPr>
          <a:xfrm>
            <a:off x="2788920" y="3081528"/>
            <a:ext cx="1831177" cy="72694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Sickert was a painter, …</a:t>
            </a:r>
            <a:endParaRPr lang="en-US" sz="1200" dirty="0"/>
          </a:p>
        </p:txBody>
      </p:sp>
      <p:sp>
        <p:nvSpPr>
          <p:cNvPr id="25" name="R5_a4"/>
          <p:cNvSpPr txBox="1"/>
          <p:nvPr/>
        </p:nvSpPr>
        <p:spPr>
          <a:xfrm>
            <a:off x="4674961" y="3118104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wasn't he?</a:t>
            </a:r>
            <a:endParaRPr lang="en-US" sz="1250" dirty="0"/>
          </a:p>
        </p:txBody>
      </p:sp>
      <p:sp>
        <p:nvSpPr>
          <p:cNvPr id="26" name="box_36"/>
          <p:cNvSpPr txBox="1"/>
          <p:nvPr/>
        </p:nvSpPr>
        <p:spPr>
          <a:xfrm>
            <a:off x="5870448" y="3081528"/>
            <a:ext cx="1831177" cy="72694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They'll solve the mystery one day, …</a:t>
            </a:r>
            <a:endParaRPr lang="en-US" sz="1200" dirty="0"/>
          </a:p>
        </p:txBody>
      </p:sp>
      <p:sp>
        <p:nvSpPr>
          <p:cNvPr id="27" name="R6_a5"/>
          <p:cNvSpPr txBox="1"/>
          <p:nvPr/>
        </p:nvSpPr>
        <p:spPr>
          <a:xfrm>
            <a:off x="7756489" y="3118104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they?</a:t>
            </a:r>
            <a:endParaRPr lang="en-US" sz="1250" dirty="0"/>
          </a:p>
        </p:txBody>
      </p:sp>
      <p:sp>
        <p:nvSpPr>
          <p:cNvPr id="28" name="box_37"/>
          <p:cNvSpPr txBox="1"/>
          <p:nvPr/>
        </p:nvSpPr>
        <p:spPr>
          <a:xfrm>
            <a:off x="2788920" y="3936492"/>
            <a:ext cx="1831177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The witness can't remember, …</a:t>
            </a:r>
            <a:endParaRPr lang="en-US" sz="1200" dirty="0"/>
          </a:p>
        </p:txBody>
      </p:sp>
      <p:sp>
        <p:nvSpPr>
          <p:cNvPr id="29" name="R7_a6"/>
          <p:cNvSpPr txBox="1"/>
          <p:nvPr/>
        </p:nvSpPr>
        <p:spPr>
          <a:xfrm>
            <a:off x="4674961" y="3973068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she?</a:t>
            </a:r>
            <a:endParaRPr lang="en-US" sz="1250" dirty="0"/>
          </a:p>
        </p:txBody>
      </p:sp>
      <p:sp>
        <p:nvSpPr>
          <p:cNvPr id="30" name="box_38"/>
          <p:cNvSpPr txBox="1"/>
          <p:nvPr/>
        </p:nvSpPr>
        <p:spPr>
          <a:xfrm>
            <a:off x="5870448" y="3936492"/>
            <a:ext cx="1831177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Maybrick lived on the Isle of Wight, …</a:t>
            </a:r>
            <a:endParaRPr lang="en-US" sz="1200" dirty="0"/>
          </a:p>
        </p:txBody>
      </p:sp>
      <p:sp>
        <p:nvSpPr>
          <p:cNvPr id="31" name="R8_a7"/>
          <p:cNvSpPr txBox="1"/>
          <p:nvPr/>
        </p:nvSpPr>
        <p:spPr>
          <a:xfrm>
            <a:off x="7756489" y="3973068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he?</a:t>
            </a:r>
            <a:endParaRPr lang="en-US" sz="1250" dirty="0"/>
          </a:p>
        </p:txBody>
      </p:sp>
      <p:sp>
        <p:nvSpPr>
          <p:cNvPr id="32" name="pageTag_3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10B pp.100–101 · Grammar Bank 10B · audio 10.7–10.13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4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4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4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Lead-in · Prediction</a:t>
            </a:r>
            <a:endParaRPr lang="en-US" sz="900" dirty="0"/>
          </a:p>
        </p:txBody>
      </p:sp>
      <p:sp>
        <p:nvSpPr>
          <p:cNvPr id="6" name="timer_4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4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8" name="title_45"/>
          <p:cNvSpPr txBox="1"/>
          <p:nvPr/>
        </p:nvSpPr>
        <p:spPr>
          <a:xfrm rot="90000">
            <a:off x="320040" y="676656"/>
            <a:ext cx="276148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Crime fiction</a:t>
            </a:r>
            <a:endParaRPr lang="en-US" sz="1500" dirty="0"/>
          </a:p>
        </p:txBody>
      </p:sp>
      <p:sp>
        <p:nvSpPr>
          <p:cNvPr id="9" name="tape_4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47"/>
          <p:cNvSpPr/>
          <p:nvPr/>
        </p:nvSpPr>
        <p:spPr>
          <a:xfrm rot="-720000">
            <a:off x="251460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4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4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5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a partner. Then predict the story!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 con un compagno. Poi prevedi la storia!</a:t>
            </a:r>
            <a:endParaRPr lang="en-US" sz="1250" dirty="0"/>
          </a:p>
        </p:txBody>
      </p:sp>
      <p:sp>
        <p:nvSpPr>
          <p:cNvPr id="14" name="box_51"/>
          <p:cNvSpPr txBox="1"/>
          <p:nvPr/>
        </p:nvSpPr>
        <p:spPr>
          <a:xfrm>
            <a:off x="2788920" y="1371600"/>
            <a:ext cx="603504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 you enjoy reading crime novels?</a:t>
            </a:r>
            <a:endParaRPr lang="en-US" sz="1300" dirty="0"/>
          </a:p>
        </p:txBody>
      </p:sp>
      <p:sp>
        <p:nvSpPr>
          <p:cNvPr id="15" name="box_52"/>
          <p:cNvSpPr txBox="1"/>
          <p:nvPr/>
        </p:nvSpPr>
        <p:spPr>
          <a:xfrm>
            <a:off x="2788920" y="2226564"/>
            <a:ext cx="6035040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If yes, do you have a favourite author?</a:t>
            </a:r>
            <a:endParaRPr lang="en-US" sz="1300" dirty="0"/>
          </a:p>
        </p:txBody>
      </p:sp>
      <p:sp>
        <p:nvSpPr>
          <p:cNvPr id="16" name="box_53"/>
          <p:cNvSpPr txBox="1"/>
          <p:nvPr/>
        </p:nvSpPr>
        <p:spPr>
          <a:xfrm>
            <a:off x="2788920" y="3081528"/>
            <a:ext cx="3500323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Ruth Rendell (1930–2015): who was she?</a:t>
            </a:r>
            <a:endParaRPr lang="en-US" sz="1300" dirty="0"/>
          </a:p>
        </p:txBody>
      </p:sp>
      <p:sp>
        <p:nvSpPr>
          <p:cNvPr id="17" name="R1_a2"/>
          <p:cNvSpPr txBox="1"/>
          <p:nvPr/>
        </p:nvSpPr>
        <p:spPr>
          <a:xfrm>
            <a:off x="6344107" y="3118104"/>
            <a:ext cx="2479853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 English writer of thrillers and psychological murder mysteries</a:t>
            </a:r>
            <a:endParaRPr lang="en-US" sz="1200" dirty="0"/>
          </a:p>
        </p:txBody>
      </p:sp>
      <p:sp>
        <p:nvSpPr>
          <p:cNvPr id="18" name="box_54"/>
          <p:cNvSpPr txBox="1"/>
          <p:nvPr/>
        </p:nvSpPr>
        <p:spPr>
          <a:xfrm>
            <a:off x="2788920" y="3936492"/>
            <a:ext cx="3500323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PREDICT: May and June are sisters. Walter is engaged to May…</a:t>
            </a:r>
            <a:endParaRPr lang="en-US" sz="1300" dirty="0"/>
          </a:p>
        </p:txBody>
      </p:sp>
      <p:sp>
        <p:nvSpPr>
          <p:cNvPr id="19" name="R1_a3"/>
          <p:cNvSpPr txBox="1"/>
          <p:nvPr/>
        </p:nvSpPr>
        <p:spPr>
          <a:xfrm>
            <a:off x="6344107" y="3973068"/>
            <a:ext cx="2479853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find out!</a:t>
            </a:r>
            <a:endParaRPr lang="en-US" sz="1200" dirty="0"/>
          </a:p>
        </p:txBody>
      </p:sp>
      <p:sp>
        <p:nvSpPr>
          <p:cNvPr id="20" name="pageTag_5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p.102 · 5a</a:t>
            </a:r>
            <a:endParaRPr lang="en-US" sz="1050" dirty="0"/>
          </a:p>
        </p:txBody>
      </p:sp>
      <p:sp>
        <p:nvSpPr>
          <p:cNvPr id="21" name="pframe_56"/>
          <p:cNvSpPr/>
          <p:nvPr/>
        </p:nvSpPr>
        <p:spPr>
          <a:xfrm rot="180000">
            <a:off x="685800" y="3108960"/>
            <a:ext cx="1371600" cy="151790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2" name="pimg_57" descr="pictur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180000">
            <a:off x="758952" y="3182112"/>
            <a:ext cx="1225296" cy="129844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5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&amp; LISTENING · Part 1 · audio 10.14</a:t>
            </a:r>
            <a:endParaRPr lang="en-US" sz="900" dirty="0"/>
          </a:p>
        </p:txBody>
      </p:sp>
      <p:sp>
        <p:nvSpPr>
          <p:cNvPr id="6" name="timer_6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6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8" name="title_63"/>
          <p:cNvSpPr txBox="1"/>
          <p:nvPr/>
        </p:nvSpPr>
        <p:spPr>
          <a:xfrm rot="90000">
            <a:off x="320040" y="676656"/>
            <a:ext cx="4325112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they refer to?</a:t>
            </a:r>
            <a:endParaRPr lang="en-US" sz="1500" dirty="0"/>
          </a:p>
        </p:txBody>
      </p:sp>
      <p:sp>
        <p:nvSpPr>
          <p:cNvPr id="9" name="tape_6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65"/>
          <p:cNvSpPr/>
          <p:nvPr/>
        </p:nvSpPr>
        <p:spPr>
          <a:xfrm rot="-720000">
            <a:off x="4078224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6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6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3" name="signB_6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listen to Part 1. What do the phrases refer to?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e ascolta la Parte 1. A cosa si riferiscono le frasi?</a:t>
            </a:r>
            <a:endParaRPr lang="en-US" sz="1200" dirty="0"/>
          </a:p>
        </p:txBody>
      </p:sp>
      <p:sp>
        <p:nvSpPr>
          <p:cNvPr id="14" name="box_69"/>
          <p:cNvSpPr txBox="1"/>
          <p:nvPr/>
        </p:nvSpPr>
        <p:spPr>
          <a:xfrm>
            <a:off x="2788920" y="1371600"/>
            <a:ext cx="301752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June, however, was both, and her sunny personality brought her many admirers. (l.05)</a:t>
            </a:r>
            <a:endParaRPr lang="en-US" sz="1050" dirty="0"/>
          </a:p>
        </p:txBody>
      </p:sp>
      <p:sp>
        <p:nvSpPr>
          <p:cNvPr id="15" name="R1_a0"/>
          <p:cNvSpPr txBox="1"/>
          <p:nvPr/>
        </p:nvSpPr>
        <p:spPr>
          <a:xfrm>
            <a:off x="5861304" y="1408176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 and clever</a:t>
            </a:r>
            <a:endParaRPr lang="en-US" sz="1200" dirty="0"/>
          </a:p>
        </p:txBody>
      </p:sp>
      <p:sp>
        <p:nvSpPr>
          <p:cNvPr id="16" name="box_70"/>
          <p:cNvSpPr txBox="1"/>
          <p:nvPr/>
        </p:nvSpPr>
        <p:spPr>
          <a:xfrm>
            <a:off x="2788920" y="2055571"/>
            <a:ext cx="301752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During that time, May almost became beautiful… (l.09)</a:t>
            </a:r>
            <a:endParaRPr lang="en-US" sz="1300" dirty="0"/>
          </a:p>
        </p:txBody>
      </p:sp>
      <p:sp>
        <p:nvSpPr>
          <p:cNvPr id="17" name="R1_a1"/>
          <p:cNvSpPr txBox="1"/>
          <p:nvPr/>
        </p:nvSpPr>
        <p:spPr>
          <a:xfrm>
            <a:off x="5861304" y="2092147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May was engaged to Walter</a:t>
            </a:r>
            <a:endParaRPr lang="en-US" sz="1200" dirty="0"/>
          </a:p>
        </p:txBody>
      </p:sp>
      <p:sp>
        <p:nvSpPr>
          <p:cNvPr id="18" name="box_71"/>
          <p:cNvSpPr txBox="1"/>
          <p:nvPr/>
        </p:nvSpPr>
        <p:spPr>
          <a:xfrm>
            <a:off x="2788920" y="2739542"/>
            <a:ext cx="301752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It was all very unfortunate, Mrs Thrace said over and over again. (l.15)</a:t>
            </a:r>
            <a:endParaRPr lang="en-US" sz="1250" dirty="0"/>
          </a:p>
        </p:txBody>
      </p:sp>
      <p:sp>
        <p:nvSpPr>
          <p:cNvPr id="19" name="R1_a2"/>
          <p:cNvSpPr txBox="1"/>
          <p:nvPr/>
        </p:nvSpPr>
        <p:spPr>
          <a:xfrm>
            <a:off x="5861304" y="2776118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fell in love with June and left May</a:t>
            </a:r>
            <a:endParaRPr lang="en-US" sz="1200" dirty="0"/>
          </a:p>
        </p:txBody>
      </p:sp>
      <p:sp>
        <p:nvSpPr>
          <p:cNvPr id="20" name="box_72"/>
          <p:cNvSpPr txBox="1"/>
          <p:nvPr/>
        </p:nvSpPr>
        <p:spPr>
          <a:xfrm>
            <a:off x="2788920" y="3423514"/>
            <a:ext cx="301752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'She's ruined my life.' (l.21)</a:t>
            </a:r>
            <a:endParaRPr lang="en-US" sz="1300" dirty="0"/>
          </a:p>
        </p:txBody>
      </p:sp>
      <p:sp>
        <p:nvSpPr>
          <p:cNvPr id="21" name="R1_a3"/>
          <p:cNvSpPr txBox="1"/>
          <p:nvPr/>
        </p:nvSpPr>
        <p:spPr>
          <a:xfrm>
            <a:off x="5861304" y="3460090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will never be happy again.'</a:t>
            </a:r>
            <a:endParaRPr lang="en-US" sz="1200" dirty="0"/>
          </a:p>
        </p:txBody>
      </p:sp>
      <p:sp>
        <p:nvSpPr>
          <p:cNvPr id="22" name="box_73"/>
          <p:cNvSpPr txBox="1"/>
          <p:nvPr/>
        </p:nvSpPr>
        <p:spPr>
          <a:xfrm>
            <a:off x="2788920" y="4107485"/>
            <a:ext cx="301752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This thought was the only thing that comforted her. (l.31)</a:t>
            </a:r>
            <a:endParaRPr lang="en-US" sz="1300" dirty="0"/>
          </a:p>
        </p:txBody>
      </p:sp>
      <p:sp>
        <p:nvSpPr>
          <p:cNvPr id="23" name="R1_a4"/>
          <p:cNvSpPr txBox="1"/>
          <p:nvPr/>
        </p:nvSpPr>
        <p:spPr>
          <a:xfrm>
            <a:off x="5861304" y="4144061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Walter was sorry he'd married June, not her</a:t>
            </a:r>
            <a:endParaRPr lang="en-US" sz="1200" dirty="0"/>
          </a:p>
        </p:txBody>
      </p:sp>
      <p:sp>
        <p:nvSpPr>
          <p:cNvPr id="24" name="pageTag_7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p.102 · 5b · audio 10.14 · Understanding referencing</a:t>
            </a:r>
            <a:endParaRPr lang="en-US" sz="1050" dirty="0"/>
          </a:p>
        </p:txBody>
      </p:sp>
      <p:sp>
        <p:nvSpPr>
          <p:cNvPr id="25" name="pframe_75"/>
          <p:cNvSpPr/>
          <p:nvPr/>
        </p:nvSpPr>
        <p:spPr>
          <a:xfrm rot="-120000">
            <a:off x="411480" y="3108960"/>
            <a:ext cx="2011680" cy="151790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6" name="pimg_76" descr="pictur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484632" y="3182112"/>
            <a:ext cx="1865376" cy="129844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7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&amp; LISTENING · Part 2 · audio 10.15</a:t>
            </a:r>
            <a:endParaRPr lang="en-US" sz="900" dirty="0"/>
          </a:p>
        </p:txBody>
      </p:sp>
      <p:sp>
        <p:nvSpPr>
          <p:cNvPr id="6" name="timer_8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8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8" name="title_82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Forty years later…</a:t>
            </a:r>
            <a:endParaRPr lang="en-US" sz="1500" dirty="0"/>
          </a:p>
        </p:txBody>
      </p:sp>
      <p:sp>
        <p:nvSpPr>
          <p:cNvPr id="9" name="tape_8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84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8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8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3" name="signB_8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listen to Part 2. Answer with a partner.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e ascolta la Parte 2. Rispondi con un compagno.</a:t>
            </a:r>
            <a:endParaRPr lang="en-US" sz="1250" dirty="0"/>
          </a:p>
        </p:txBody>
      </p:sp>
      <p:sp>
        <p:nvSpPr>
          <p:cNvPr id="14" name="box_88"/>
          <p:cNvSpPr txBox="1"/>
          <p:nvPr/>
        </p:nvSpPr>
        <p:spPr>
          <a:xfrm>
            <a:off x="2788920" y="1371600"/>
            <a:ext cx="3138221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How did May react to her sister at a) her father's funeral, b) her brother-in-law's funeral?</a:t>
            </a:r>
            <a:endParaRPr lang="en-US" sz="1100" dirty="0"/>
          </a:p>
        </p:txBody>
      </p:sp>
      <p:sp>
        <p:nvSpPr>
          <p:cNvPr id="15" name="R1_a0"/>
          <p:cNvSpPr txBox="1"/>
          <p:nvPr/>
        </p:nvSpPr>
        <p:spPr>
          <a:xfrm>
            <a:off x="5982005" y="1408176"/>
            <a:ext cx="2841955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refused to speak to her · b) was reconciled with her</a:t>
            </a:r>
            <a:endParaRPr lang="en-US" sz="1050" dirty="0"/>
          </a:p>
        </p:txBody>
      </p:sp>
      <p:sp>
        <p:nvSpPr>
          <p:cNvPr id="16" name="box_89"/>
          <p:cNvSpPr txBox="1"/>
          <p:nvPr/>
        </p:nvSpPr>
        <p:spPr>
          <a:xfrm>
            <a:off x="2788920" y="2055571"/>
            <a:ext cx="3138221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Why did June invite May to live with her?</a:t>
            </a:r>
            <a:endParaRPr lang="en-US" sz="1200" dirty="0"/>
          </a:p>
        </p:txBody>
      </p:sp>
      <p:sp>
        <p:nvSpPr>
          <p:cNvPr id="17" name="R1_a1"/>
          <p:cNvSpPr txBox="1"/>
          <p:nvPr/>
        </p:nvSpPr>
        <p:spPr>
          <a:xfrm>
            <a:off x="5982005" y="2092147"/>
            <a:ext cx="2841955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alone; May had little money; to give her something back</a:t>
            </a:r>
            <a:endParaRPr lang="en-US" sz="1050" dirty="0"/>
          </a:p>
        </p:txBody>
      </p:sp>
      <p:sp>
        <p:nvSpPr>
          <p:cNvPr id="18" name="box_90"/>
          <p:cNvSpPr txBox="1"/>
          <p:nvPr/>
        </p:nvSpPr>
        <p:spPr>
          <a:xfrm>
            <a:off x="2788920" y="2739542"/>
            <a:ext cx="3138221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Why do you think June didn't want to talk about her life with Walter?</a:t>
            </a:r>
            <a:endParaRPr lang="en-US" sz="1200" dirty="0"/>
          </a:p>
        </p:txBody>
      </p:sp>
      <p:sp>
        <p:nvSpPr>
          <p:cNvPr id="19" name="R1_a2"/>
          <p:cNvSpPr txBox="1"/>
          <p:nvPr/>
        </p:nvSpPr>
        <p:spPr>
          <a:xfrm>
            <a:off x="5982005" y="2776118"/>
            <a:ext cx="2841955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 for her? OR didn't want to hurt May (opinion)</a:t>
            </a:r>
            <a:endParaRPr lang="en-US" sz="1050" dirty="0"/>
          </a:p>
        </p:txBody>
      </p:sp>
      <p:sp>
        <p:nvSpPr>
          <p:cNvPr id="20" name="box_91"/>
          <p:cNvSpPr txBox="1"/>
          <p:nvPr/>
        </p:nvSpPr>
        <p:spPr>
          <a:xfrm>
            <a:off x="2788920" y="3423514"/>
            <a:ext cx="3138221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Why did May search the house for letters or presents from Walter?</a:t>
            </a:r>
            <a:endParaRPr lang="en-US" sz="1200" dirty="0"/>
          </a:p>
        </p:txBody>
      </p:sp>
      <p:sp>
        <p:nvSpPr>
          <p:cNvPr id="21" name="R1_a3"/>
          <p:cNvSpPr txBox="1"/>
          <p:nvPr/>
        </p:nvSpPr>
        <p:spPr>
          <a:xfrm>
            <a:off x="5982005" y="3460090"/>
            <a:ext cx="2841955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Walter hadn't really loved June</a:t>
            </a:r>
            <a:endParaRPr lang="en-US" sz="1050" dirty="0"/>
          </a:p>
        </p:txBody>
      </p:sp>
      <p:sp>
        <p:nvSpPr>
          <p:cNvPr id="22" name="box_92"/>
          <p:cNvSpPr txBox="1"/>
          <p:nvPr/>
        </p:nvSpPr>
        <p:spPr>
          <a:xfrm>
            <a:off x="2788920" y="4107485"/>
            <a:ext cx="3138221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Why do you think May started wearing her engagement ring again?</a:t>
            </a:r>
            <a:endParaRPr lang="en-US" sz="1200" dirty="0"/>
          </a:p>
        </p:txBody>
      </p:sp>
      <p:sp>
        <p:nvSpPr>
          <p:cNvPr id="23" name="R1_a4"/>
          <p:cNvSpPr txBox="1"/>
          <p:nvPr/>
        </p:nvSpPr>
        <p:spPr>
          <a:xfrm>
            <a:off x="5982005" y="4144061"/>
            <a:ext cx="2841955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now believed Walter had really loved HER</a:t>
            </a:r>
            <a:endParaRPr lang="en-US" sz="1050" dirty="0"/>
          </a:p>
        </p:txBody>
      </p:sp>
      <p:sp>
        <p:nvSpPr>
          <p:cNvPr id="24" name="pageTag_9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p.103 · 5c · audio 10.15</a:t>
            </a:r>
            <a:endParaRPr lang="en-US" sz="1050" dirty="0"/>
          </a:p>
        </p:txBody>
      </p:sp>
      <p:sp>
        <p:nvSpPr>
          <p:cNvPr id="25" name="pframe_94"/>
          <p:cNvSpPr/>
          <p:nvPr/>
        </p:nvSpPr>
        <p:spPr>
          <a:xfrm rot="-120000">
            <a:off x="384048" y="3154680"/>
            <a:ext cx="2103120" cy="13350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6" name="pimg_95" descr="pictur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457200" y="3227832"/>
            <a:ext cx="1956816" cy="111556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9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Words from the story</a:t>
            </a:r>
            <a:endParaRPr lang="en-US" sz="900" dirty="0"/>
          </a:p>
        </p:txBody>
      </p:sp>
      <p:sp>
        <p:nvSpPr>
          <p:cNvPr id="6" name="timer_9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10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8" name="title_101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two words</a:t>
            </a:r>
            <a:endParaRPr lang="en-US" sz="1500" dirty="0"/>
          </a:p>
        </p:txBody>
      </p:sp>
      <p:sp>
        <p:nvSpPr>
          <p:cNvPr id="9" name="tape_10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03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0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0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10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two words in Parts 1 and 2 for each group.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due parole nelle Parti 1 e 2 per ogni gruppo.</a:t>
            </a:r>
            <a:endParaRPr lang="en-US" sz="1250" dirty="0"/>
          </a:p>
        </p:txBody>
      </p:sp>
      <p:sp>
        <p:nvSpPr>
          <p:cNvPr id="14" name="box_107"/>
          <p:cNvSpPr txBox="1"/>
          <p:nvPr/>
        </p:nvSpPr>
        <p:spPr>
          <a:xfrm>
            <a:off x="2788920" y="1371600"/>
            <a:ext cx="3621024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Part 1: two adjectives: from change (v), wealth (n)</a:t>
            </a:r>
            <a:endParaRPr lang="en-US" sz="1250" dirty="0"/>
          </a:p>
        </p:txBody>
      </p:sp>
      <p:sp>
        <p:nvSpPr>
          <p:cNvPr id="15" name="R1_a0"/>
          <p:cNvSpPr txBox="1"/>
          <p:nvPr/>
        </p:nvSpPr>
        <p:spPr>
          <a:xfrm>
            <a:off x="6464808" y="1408176"/>
            <a:ext cx="235915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changeable, wealthy</a:t>
            </a:r>
            <a:endParaRPr lang="en-US" sz="1250" dirty="0"/>
          </a:p>
        </p:txBody>
      </p:sp>
      <p:sp>
        <p:nvSpPr>
          <p:cNvPr id="16" name="box_108"/>
          <p:cNvSpPr txBox="1"/>
          <p:nvPr/>
        </p:nvSpPr>
        <p:spPr>
          <a:xfrm>
            <a:off x="2788920" y="2055571"/>
            <a:ext cx="3621024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Part 1: two negative adjectives: from fortunate (adj), known (adj)</a:t>
            </a:r>
            <a:endParaRPr lang="en-US" sz="1250" dirty="0"/>
          </a:p>
        </p:txBody>
      </p:sp>
      <p:sp>
        <p:nvSpPr>
          <p:cNvPr id="17" name="R1_a1"/>
          <p:cNvSpPr txBox="1"/>
          <p:nvPr/>
        </p:nvSpPr>
        <p:spPr>
          <a:xfrm>
            <a:off x="6464808" y="2092147"/>
            <a:ext cx="235915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unfortunate, unknown</a:t>
            </a:r>
            <a:endParaRPr lang="en-US" sz="1250" dirty="0"/>
          </a:p>
        </p:txBody>
      </p:sp>
      <p:sp>
        <p:nvSpPr>
          <p:cNvPr id="18" name="box_109"/>
          <p:cNvSpPr txBox="1"/>
          <p:nvPr/>
        </p:nvSpPr>
        <p:spPr>
          <a:xfrm>
            <a:off x="2788920" y="2739542"/>
            <a:ext cx="3621024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Part 1: two adverbs: from extreme (adj), passion (n)</a:t>
            </a:r>
            <a:endParaRPr lang="en-US" sz="1250" dirty="0"/>
          </a:p>
        </p:txBody>
      </p:sp>
      <p:sp>
        <p:nvSpPr>
          <p:cNvPr id="19" name="R1_a2"/>
          <p:cNvSpPr txBox="1"/>
          <p:nvPr/>
        </p:nvSpPr>
        <p:spPr>
          <a:xfrm>
            <a:off x="6464808" y="2776118"/>
            <a:ext cx="235915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extremely, passionately</a:t>
            </a:r>
            <a:endParaRPr lang="en-US" sz="1250" dirty="0"/>
          </a:p>
        </p:txBody>
      </p:sp>
      <p:sp>
        <p:nvSpPr>
          <p:cNvPr id="20" name="box_110"/>
          <p:cNvSpPr txBox="1"/>
          <p:nvPr/>
        </p:nvSpPr>
        <p:spPr>
          <a:xfrm>
            <a:off x="2788920" y="3423514"/>
            <a:ext cx="3621024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Part 2: two nouns: from die (v), marry (v)</a:t>
            </a:r>
            <a:endParaRPr lang="en-US" sz="1250" dirty="0"/>
          </a:p>
        </p:txBody>
      </p:sp>
      <p:sp>
        <p:nvSpPr>
          <p:cNvPr id="21" name="R1_a3"/>
          <p:cNvSpPr txBox="1"/>
          <p:nvPr/>
        </p:nvSpPr>
        <p:spPr>
          <a:xfrm>
            <a:off x="6464808" y="3460090"/>
            <a:ext cx="235915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death, marriage</a:t>
            </a:r>
            <a:endParaRPr lang="en-US" sz="1250" dirty="0"/>
          </a:p>
        </p:txBody>
      </p:sp>
      <p:sp>
        <p:nvSpPr>
          <p:cNvPr id="22" name="box_111"/>
          <p:cNvSpPr txBox="1"/>
          <p:nvPr/>
        </p:nvSpPr>
        <p:spPr>
          <a:xfrm>
            <a:off x="2788920" y="4107485"/>
            <a:ext cx="3621024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Part 2: two compound nouns with ring (n)</a:t>
            </a:r>
            <a:endParaRPr lang="en-US" sz="1250" dirty="0"/>
          </a:p>
        </p:txBody>
      </p:sp>
      <p:sp>
        <p:nvSpPr>
          <p:cNvPr id="23" name="R1_a4"/>
          <p:cNvSpPr txBox="1"/>
          <p:nvPr/>
        </p:nvSpPr>
        <p:spPr>
          <a:xfrm>
            <a:off x="6464808" y="4144061"/>
            <a:ext cx="235915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ring, engagement ring</a:t>
            </a:r>
            <a:endParaRPr lang="en-US" sz="1250" dirty="0"/>
          </a:p>
        </p:txBody>
      </p:sp>
      <p:sp>
        <p:nvSpPr>
          <p:cNvPr id="24" name="pageTag_11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p.103 · 5d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1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Part 3 · audio 10.16</a:t>
            </a:r>
            <a:endParaRPr lang="en-US" sz="900" dirty="0"/>
          </a:p>
        </p:txBody>
      </p:sp>
      <p:sp>
        <p:nvSpPr>
          <p:cNvPr id="6" name="timer_11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7" name="footer_11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8" name="title_118"/>
          <p:cNvSpPr txBox="1"/>
          <p:nvPr/>
        </p:nvSpPr>
        <p:spPr>
          <a:xfrm rot="90000">
            <a:off x="320040" y="676656"/>
            <a:ext cx="224028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ending</a:t>
            </a:r>
            <a:endParaRPr lang="en-US" sz="1500" dirty="0"/>
          </a:p>
        </p:txBody>
      </p:sp>
      <p:sp>
        <p:nvSpPr>
          <p:cNvPr id="9" name="tape_11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20"/>
          <p:cNvSpPr/>
          <p:nvPr/>
        </p:nvSpPr>
        <p:spPr>
          <a:xfrm rot="-720000">
            <a:off x="199339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2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2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3" name="signB_12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ending first! Then listen to Part 3.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PREVEDI il finale! Poi ascolta la Parte 3.</a:t>
            </a:r>
            <a:endParaRPr lang="en-US" sz="1250" dirty="0"/>
          </a:p>
        </p:txBody>
      </p:sp>
      <p:sp>
        <p:nvSpPr>
          <p:cNvPr id="14" name="iconBack_12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25" descr="pi:PiEnvel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tr_126"/>
          <p:cNvSpPr txBox="1"/>
          <p:nvPr/>
        </p:nvSpPr>
        <p:spPr>
          <a:xfrm>
            <a:off x="2788920" y="137160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10.16</a:t>
            </a:r>
            <a:endParaRPr lang="en-US" sz="1400" dirty="0"/>
          </a:p>
        </p:txBody>
      </p:sp>
      <p:sp>
        <p:nvSpPr>
          <p:cNvPr id="17" name="box_127"/>
          <p:cNvSpPr txBox="1"/>
          <p:nvPr/>
        </p:nvSpPr>
        <p:spPr>
          <a:xfrm>
            <a:off x="2788920" y="2103120"/>
            <a:ext cx="3319272" cy="3030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Why did May forgive June?</a:t>
            </a:r>
            <a:endParaRPr lang="en-US" sz="950" dirty="0"/>
          </a:p>
        </p:txBody>
      </p:sp>
      <p:sp>
        <p:nvSpPr>
          <p:cNvPr id="18" name="R1_la0"/>
          <p:cNvSpPr txBox="1"/>
          <p:nvPr/>
        </p:nvSpPr>
        <p:spPr>
          <a:xfrm>
            <a:off x="6163056" y="2130552"/>
            <a:ext cx="2660904" cy="248194"/>
          </a:xfrm>
          <a:prstGeom prst="roundRect">
            <a:avLst>
              <a:gd name="adj" fmla="val 2210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hadn't loved June; June was punished</a:t>
            </a:r>
            <a:endParaRPr lang="en-US" sz="950" dirty="0"/>
          </a:p>
        </p:txBody>
      </p:sp>
      <p:sp>
        <p:nvSpPr>
          <p:cNvPr id="19" name="box_128"/>
          <p:cNvSpPr txBox="1"/>
          <p:nvPr/>
        </p:nvSpPr>
        <p:spPr>
          <a:xfrm>
            <a:off x="2788920" y="2479330"/>
            <a:ext cx="3319272" cy="3030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did May think had happened when she heard the noise?</a:t>
            </a:r>
            <a:endParaRPr lang="en-US" sz="800" dirty="0"/>
          </a:p>
        </p:txBody>
      </p:sp>
      <p:sp>
        <p:nvSpPr>
          <p:cNvPr id="20" name="R1_la1"/>
          <p:cNvSpPr txBox="1"/>
          <p:nvPr/>
        </p:nvSpPr>
        <p:spPr>
          <a:xfrm>
            <a:off x="6163056" y="2506762"/>
            <a:ext cx="2660904" cy="248194"/>
          </a:xfrm>
          <a:prstGeom prst="roundRect">
            <a:avLst>
              <a:gd name="adj" fmla="val 2210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had been burgled</a:t>
            </a:r>
            <a:endParaRPr lang="en-US" sz="1000" dirty="0"/>
          </a:p>
        </p:txBody>
      </p:sp>
      <p:sp>
        <p:nvSpPr>
          <p:cNvPr id="21" name="box_129"/>
          <p:cNvSpPr txBox="1"/>
          <p:nvPr/>
        </p:nvSpPr>
        <p:spPr>
          <a:xfrm>
            <a:off x="2788920" y="2855541"/>
            <a:ext cx="3319272" cy="3030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 was the living room like when she went in?</a:t>
            </a:r>
            <a:endParaRPr lang="en-US" sz="950" dirty="0"/>
          </a:p>
        </p:txBody>
      </p:sp>
      <p:sp>
        <p:nvSpPr>
          <p:cNvPr id="22" name="R1_la2"/>
          <p:cNvSpPr txBox="1"/>
          <p:nvPr/>
        </p:nvSpPr>
        <p:spPr>
          <a:xfrm>
            <a:off x="6163056" y="2882973"/>
            <a:ext cx="2660904" cy="248194"/>
          </a:xfrm>
          <a:prstGeom prst="roundRect">
            <a:avLst>
              <a:gd name="adj" fmla="val 2210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– broken glass on the floor</a:t>
            </a:r>
            <a:endParaRPr lang="en-US" sz="1000" dirty="0"/>
          </a:p>
        </p:txBody>
      </p:sp>
      <p:sp>
        <p:nvSpPr>
          <p:cNvPr id="23" name="box_130"/>
          <p:cNvSpPr txBox="1"/>
          <p:nvPr/>
        </p:nvSpPr>
        <p:spPr>
          <a:xfrm>
            <a:off x="2788920" y="3231751"/>
            <a:ext cx="3319272" cy="3030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had June done?</a:t>
            </a:r>
            <a:endParaRPr lang="en-US" sz="950" dirty="0"/>
          </a:p>
        </p:txBody>
      </p:sp>
      <p:sp>
        <p:nvSpPr>
          <p:cNvPr id="24" name="R1_la3"/>
          <p:cNvSpPr txBox="1"/>
          <p:nvPr/>
        </p:nvSpPr>
        <p:spPr>
          <a:xfrm>
            <a:off x="6163056" y="3259183"/>
            <a:ext cx="2660904" cy="248194"/>
          </a:xfrm>
          <a:prstGeom prst="roundRect">
            <a:avLst>
              <a:gd name="adj" fmla="val 2210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a bottle at the burglar</a:t>
            </a:r>
            <a:endParaRPr lang="en-US" sz="1000" dirty="0"/>
          </a:p>
        </p:txBody>
      </p:sp>
      <p:sp>
        <p:nvSpPr>
          <p:cNvPr id="25" name="box_131"/>
          <p:cNvSpPr txBox="1"/>
          <p:nvPr/>
        </p:nvSpPr>
        <p:spPr>
          <a:xfrm>
            <a:off x="2788920" y="3607961"/>
            <a:ext cx="3319272" cy="3030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effect did the letter have on May?</a:t>
            </a:r>
            <a:endParaRPr lang="en-US" sz="950" dirty="0"/>
          </a:p>
        </p:txBody>
      </p:sp>
      <p:sp>
        <p:nvSpPr>
          <p:cNvPr id="26" name="R1_la4"/>
          <p:cNvSpPr txBox="1"/>
          <p:nvPr/>
        </p:nvSpPr>
        <p:spPr>
          <a:xfrm>
            <a:off x="6163056" y="3635393"/>
            <a:ext cx="2660904" cy="248194"/>
          </a:xfrm>
          <a:prstGeom prst="roundRect">
            <a:avLst>
              <a:gd name="adj" fmla="val 2210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made her angry</a:t>
            </a:r>
            <a:endParaRPr lang="en-US" sz="1000" dirty="0"/>
          </a:p>
        </p:txBody>
      </p:sp>
      <p:sp>
        <p:nvSpPr>
          <p:cNvPr id="27" name="box_132"/>
          <p:cNvSpPr txBox="1"/>
          <p:nvPr/>
        </p:nvSpPr>
        <p:spPr>
          <a:xfrm>
            <a:off x="2788920" y="3984171"/>
            <a:ext cx="3319272" cy="3030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What did she do?</a:t>
            </a:r>
            <a:endParaRPr lang="en-US" sz="950" dirty="0"/>
          </a:p>
        </p:txBody>
      </p:sp>
      <p:sp>
        <p:nvSpPr>
          <p:cNvPr id="28" name="R1_la5"/>
          <p:cNvSpPr txBox="1"/>
          <p:nvPr/>
        </p:nvSpPr>
        <p:spPr>
          <a:xfrm>
            <a:off x="6163056" y="4011603"/>
            <a:ext cx="2660904" cy="248194"/>
          </a:xfrm>
          <a:prstGeom prst="roundRect">
            <a:avLst>
              <a:gd name="adj" fmla="val 2210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 the burglar's gun and killed June</a:t>
            </a:r>
            <a:endParaRPr lang="en-US" sz="1000" dirty="0"/>
          </a:p>
        </p:txBody>
      </p:sp>
      <p:sp>
        <p:nvSpPr>
          <p:cNvPr id="29" name="box_133"/>
          <p:cNvSpPr txBox="1"/>
          <p:nvPr/>
        </p:nvSpPr>
        <p:spPr>
          <a:xfrm>
            <a:off x="2788920" y="4360382"/>
            <a:ext cx="3319272" cy="3030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What excuse did May give for touching the gun?</a:t>
            </a:r>
            <a:endParaRPr lang="en-US" sz="950" dirty="0"/>
          </a:p>
        </p:txBody>
      </p:sp>
      <p:sp>
        <p:nvSpPr>
          <p:cNvPr id="30" name="R1_la6"/>
          <p:cNvSpPr txBox="1"/>
          <p:nvPr/>
        </p:nvSpPr>
        <p:spPr>
          <a:xfrm>
            <a:off x="6163056" y="4387814"/>
            <a:ext cx="2660904" cy="248194"/>
          </a:xfrm>
          <a:prstGeom prst="roundRect">
            <a:avLst>
              <a:gd name="adj" fmla="val 2210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wasn't thinking – the shock</a:t>
            </a:r>
            <a:endParaRPr lang="en-US" sz="1000" dirty="0"/>
          </a:p>
        </p:txBody>
      </p:sp>
      <p:sp>
        <p:nvSpPr>
          <p:cNvPr id="31" name="pageTag_13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p.103 · 5e, 5f, 5g, 5h · audio 10.16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3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3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Mini debate</a:t>
            </a:r>
            <a:endParaRPr lang="en-US" sz="900" dirty="0"/>
          </a:p>
        </p:txBody>
      </p:sp>
      <p:sp>
        <p:nvSpPr>
          <p:cNvPr id="6" name="timer_13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3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8" name="title_140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to blame?</a:t>
            </a:r>
            <a:endParaRPr lang="en-US" sz="1500" dirty="0"/>
          </a:p>
        </p:txBody>
      </p:sp>
      <p:sp>
        <p:nvSpPr>
          <p:cNvPr id="9" name="tape_14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42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or no way? Give a reason!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D'accordo o per niente? Dai un motivo!</a:t>
            </a:r>
            <a:endParaRPr lang="en-US" sz="1250" dirty="0"/>
          </a:p>
        </p:txBody>
      </p:sp>
      <p:sp>
        <p:nvSpPr>
          <p:cNvPr id="14" name="iconBack_14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47" descr="pi:PiSca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148"/>
          <p:cNvSpPr txBox="1"/>
          <p:nvPr/>
        </p:nvSpPr>
        <p:spPr>
          <a:xfrm>
            <a:off x="2788920" y="1371600"/>
            <a:ext cx="4572000" cy="56692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feel sorry for May."</a:t>
            </a:r>
            <a:endParaRPr lang="en-US" sz="1250" dirty="0"/>
          </a:p>
        </p:txBody>
      </p:sp>
      <p:sp>
        <p:nvSpPr>
          <p:cNvPr id="17" name="stamp_149"/>
          <p:cNvSpPr txBox="1"/>
          <p:nvPr/>
        </p:nvSpPr>
        <p:spPr>
          <a:xfrm>
            <a:off x="7434072" y="1417320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18" name="stamp_150"/>
          <p:cNvSpPr txBox="1"/>
          <p:nvPr/>
        </p:nvSpPr>
        <p:spPr>
          <a:xfrm>
            <a:off x="8129016" y="1417320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19" name="box_151"/>
          <p:cNvSpPr txBox="1"/>
          <p:nvPr/>
        </p:nvSpPr>
        <p:spPr>
          <a:xfrm>
            <a:off x="2788920" y="2029968"/>
            <a:ext cx="4572000" cy="56692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"June was the real victim – of her sister AND of Walter."</a:t>
            </a:r>
            <a:endParaRPr lang="en-US" sz="1250" dirty="0"/>
          </a:p>
        </p:txBody>
      </p:sp>
      <p:sp>
        <p:nvSpPr>
          <p:cNvPr id="20" name="stamp_152"/>
          <p:cNvSpPr txBox="1"/>
          <p:nvPr/>
        </p:nvSpPr>
        <p:spPr>
          <a:xfrm>
            <a:off x="7434072" y="2075688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21" name="stamp_153"/>
          <p:cNvSpPr txBox="1"/>
          <p:nvPr/>
        </p:nvSpPr>
        <p:spPr>
          <a:xfrm>
            <a:off x="8129016" y="2075688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2" name="box_154"/>
          <p:cNvSpPr txBox="1"/>
          <p:nvPr/>
        </p:nvSpPr>
        <p:spPr>
          <a:xfrm>
            <a:off x="2788920" y="2688336"/>
            <a:ext cx="4572000" cy="56692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"Walter is the real 'villain' of the story."</a:t>
            </a:r>
            <a:endParaRPr lang="en-US" sz="1250" dirty="0"/>
          </a:p>
        </p:txBody>
      </p:sp>
      <p:sp>
        <p:nvSpPr>
          <p:cNvPr id="23" name="stamp_155"/>
          <p:cNvSpPr txBox="1"/>
          <p:nvPr/>
        </p:nvSpPr>
        <p:spPr>
          <a:xfrm>
            <a:off x="7434072" y="2734056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24" name="stamp_156"/>
          <p:cNvSpPr txBox="1"/>
          <p:nvPr/>
        </p:nvSpPr>
        <p:spPr>
          <a:xfrm>
            <a:off x="8129016" y="2734056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5" name="box_157"/>
          <p:cNvSpPr txBox="1"/>
          <p:nvPr/>
        </p:nvSpPr>
        <p:spPr>
          <a:xfrm>
            <a:off x="2788920" y="3346704"/>
            <a:ext cx="4572000" cy="56692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police will never find out the truth."</a:t>
            </a:r>
            <a:endParaRPr lang="en-US" sz="1250" dirty="0"/>
          </a:p>
        </p:txBody>
      </p:sp>
      <p:sp>
        <p:nvSpPr>
          <p:cNvPr id="26" name="stamp_158"/>
          <p:cNvSpPr txBox="1"/>
          <p:nvPr/>
        </p:nvSpPr>
        <p:spPr>
          <a:xfrm>
            <a:off x="7434072" y="3392424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27" name="stamp_159"/>
          <p:cNvSpPr txBox="1"/>
          <p:nvPr/>
        </p:nvSpPr>
        <p:spPr>
          <a:xfrm>
            <a:off x="8129016" y="3392424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8" name="bubble_160"/>
          <p:cNvSpPr txBox="1"/>
          <p:nvPr/>
        </p:nvSpPr>
        <p:spPr>
          <a:xfrm>
            <a:off x="2788920" y="4160520"/>
            <a:ext cx="60350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agree, because… · I'm not so sure… · No way! In my opinion…</a:t>
            </a:r>
            <a:endParaRPr lang="en-US" sz="1250" dirty="0"/>
          </a:p>
        </p:txBody>
      </p:sp>
      <p:sp>
        <p:nvSpPr>
          <p:cNvPr id="29" name="pageTag_16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p.103 · 5h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6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6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LISTENING · Queens of crime</a:t>
            </a:r>
            <a:endParaRPr lang="en-US" sz="900" dirty="0"/>
          </a:p>
        </p:txBody>
      </p:sp>
      <p:sp>
        <p:nvSpPr>
          <p:cNvPr id="6" name="timer_16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12 min</a:t>
            </a:r>
            <a:endParaRPr lang="en-US" sz="1200" dirty="0"/>
          </a:p>
        </p:txBody>
      </p:sp>
      <p:sp>
        <p:nvSpPr>
          <p:cNvPr id="7" name="footer_16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8" name="title_167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Queens of crime</a:t>
            </a:r>
            <a:endParaRPr lang="en-US" sz="1500" dirty="0"/>
          </a:p>
        </p:txBody>
      </p:sp>
      <p:sp>
        <p:nvSpPr>
          <p:cNvPr id="9" name="tape_16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69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7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7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3" name="signB_17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Who had the more interesting life? The happier life?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Guarda. Chi ha avuto la vita più interessante? Più felice?</a:t>
            </a:r>
            <a:endParaRPr lang="en-US" sz="12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5" name="vt_173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 of crime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Listening 10B · SB p.103 · video (5'26")</a:t>
            </a:r>
            <a:endParaRPr lang="en-US" sz="1250" dirty="0"/>
          </a:p>
        </p:txBody>
      </p:sp>
      <p:sp>
        <p:nvSpPr>
          <p:cNvPr id="16" name="wyw_174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7" name="box_175"/>
          <p:cNvSpPr txBox="1"/>
          <p:nvPr/>
        </p:nvSpPr>
        <p:spPr>
          <a:xfrm>
            <a:off x="5852160" y="1810512"/>
            <a:ext cx="1783080" cy="51206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Ruth Rendell: born where and when?</a:t>
            </a:r>
            <a:endParaRPr lang="en-US" sz="1100" dirty="0"/>
          </a:p>
        </p:txBody>
      </p:sp>
      <p:sp>
        <p:nvSpPr>
          <p:cNvPr id="18" name="R1_va0"/>
          <p:cNvSpPr txBox="1"/>
          <p:nvPr/>
        </p:nvSpPr>
        <p:spPr>
          <a:xfrm>
            <a:off x="7680960" y="1837944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London, 1930</a:t>
            </a:r>
            <a:endParaRPr lang="en-US" sz="1050" dirty="0"/>
          </a:p>
        </p:txBody>
      </p:sp>
      <p:sp>
        <p:nvSpPr>
          <p:cNvPr id="19" name="box_176"/>
          <p:cNvSpPr txBox="1"/>
          <p:nvPr/>
        </p:nvSpPr>
        <p:spPr>
          <a:xfrm>
            <a:off x="5852160" y="2395728"/>
            <a:ext cx="1783080" cy="51206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Rendell's famous detective?</a:t>
            </a:r>
            <a:endParaRPr lang="en-US" sz="1100" dirty="0"/>
          </a:p>
        </p:txBody>
      </p:sp>
      <p:sp>
        <p:nvSpPr>
          <p:cNvPr id="20" name="R1_va1"/>
          <p:cNvSpPr txBox="1"/>
          <p:nvPr/>
        </p:nvSpPr>
        <p:spPr>
          <a:xfrm>
            <a:off x="7680960" y="24231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Wexford</a:t>
            </a:r>
            <a:endParaRPr lang="en-US" sz="1050" dirty="0"/>
          </a:p>
        </p:txBody>
      </p:sp>
      <p:sp>
        <p:nvSpPr>
          <p:cNvPr id="21" name="box_177"/>
          <p:cNvSpPr txBox="1"/>
          <p:nvPr/>
        </p:nvSpPr>
        <p:spPr>
          <a:xfrm>
            <a:off x="5852160" y="2980944"/>
            <a:ext cx="1783080" cy="51206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Agatha Christie's two detectives?</a:t>
            </a:r>
            <a:endParaRPr lang="en-US" sz="1100" dirty="0"/>
          </a:p>
        </p:txBody>
      </p:sp>
      <p:sp>
        <p:nvSpPr>
          <p:cNvPr id="22" name="R1_va2"/>
          <p:cNvSpPr txBox="1"/>
          <p:nvPr/>
        </p:nvSpPr>
        <p:spPr>
          <a:xfrm>
            <a:off x="7680960" y="3008376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 Poirot · Miss Marple</a:t>
            </a:r>
            <a:endParaRPr lang="en-US" sz="1050" dirty="0"/>
          </a:p>
        </p:txBody>
      </p:sp>
      <p:sp>
        <p:nvSpPr>
          <p:cNvPr id="23" name="box_178"/>
          <p:cNvSpPr txBox="1"/>
          <p:nvPr/>
        </p:nvSpPr>
        <p:spPr>
          <a:xfrm>
            <a:off x="5852160" y="3566160"/>
            <a:ext cx="1783080" cy="51206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Christie, December 1926?</a:t>
            </a:r>
            <a:endParaRPr lang="en-US" sz="1100" dirty="0"/>
          </a:p>
        </p:txBody>
      </p:sp>
      <p:sp>
        <p:nvSpPr>
          <p:cNvPr id="24" name="R1_va3"/>
          <p:cNvSpPr txBox="1"/>
          <p:nvPr/>
        </p:nvSpPr>
        <p:spPr>
          <a:xfrm>
            <a:off x="7680960" y="359359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disappeared for 11 days</a:t>
            </a:r>
            <a:endParaRPr lang="en-US" sz="1050" dirty="0"/>
          </a:p>
        </p:txBody>
      </p:sp>
      <p:sp>
        <p:nvSpPr>
          <p:cNvPr id="25" name="box_179"/>
          <p:cNvSpPr txBox="1"/>
          <p:nvPr/>
        </p:nvSpPr>
        <p:spPr>
          <a:xfrm>
            <a:off x="5852160" y="4151376"/>
            <a:ext cx="1783080" cy="51206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Their pseudonyms?</a:t>
            </a:r>
            <a:endParaRPr lang="en-US" sz="1250" dirty="0"/>
          </a:p>
        </p:txBody>
      </p:sp>
      <p:sp>
        <p:nvSpPr>
          <p:cNvPr id="26" name="R1_va4"/>
          <p:cNvSpPr txBox="1"/>
          <p:nvPr/>
        </p:nvSpPr>
        <p:spPr>
          <a:xfrm>
            <a:off x="7680960" y="4178808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Barbara Vine · Mary Westmacott</a:t>
            </a:r>
            <a:endParaRPr lang="en-US" sz="1050" dirty="0"/>
          </a:p>
        </p:txBody>
      </p:sp>
      <p:sp>
        <p:nvSpPr>
          <p:cNvPr id="27" name="bubble_180"/>
          <p:cNvSpPr txBox="1"/>
          <p:nvPr/>
        </p:nvSpPr>
        <p:spPr>
          <a:xfrm>
            <a:off x="2788920" y="3931920"/>
            <a:ext cx="2926080" cy="7315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Rendell: WHY? · Christie: WHO? Which do you prefer?</a:t>
            </a:r>
            <a:endParaRPr lang="en-US" sz="1200" dirty="0"/>
          </a:p>
        </p:txBody>
      </p:sp>
      <p:sp>
        <p:nvSpPr>
          <p:cNvPr id="28" name="pageTag_18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p.103 · 6a, 6b, 6c, 6d · video 10B</a:t>
            </a:r>
            <a:endParaRPr lang="en-US" sz="1050" dirty="0"/>
          </a:p>
        </p:txBody>
      </p:sp>
      <p:sp>
        <p:nvSpPr>
          <p:cNvPr id="29" name="pframe_182"/>
          <p:cNvSpPr/>
          <p:nvPr/>
        </p:nvSpPr>
        <p:spPr>
          <a:xfrm rot="-120000">
            <a:off x="411480" y="3108960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0" name="pimg_183" descr="Rendell &amp; Christi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120000">
            <a:off x="484632" y="3182112"/>
            <a:ext cx="1865376" cy="1133856"/>
          </a:xfrm>
          <a:prstGeom prst="rect">
            <a:avLst/>
          </a:prstGeom>
        </p:spPr>
      </p:pic>
      <p:sp>
        <p:nvSpPr>
          <p:cNvPr id="31" name="pcap_184"/>
          <p:cNvSpPr txBox="1"/>
          <p:nvPr/>
        </p:nvSpPr>
        <p:spPr>
          <a:xfrm rot="-120000">
            <a:off x="411480" y="4325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Rendell &amp; Christie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8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6" name="title_188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tape_18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8" name="tape_190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sub_191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10" name="box_192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follow a short story and understand what words refer to.</a:t>
            </a:r>
            <a:endParaRPr lang="en-US" sz="1200" dirty="0"/>
          </a:p>
        </p:txBody>
      </p:sp>
      <p:sp>
        <p:nvSpPr>
          <p:cNvPr id="11" name="faces_193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194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talk about who I feel sorry for and why.</a:t>
            </a:r>
            <a:endParaRPr lang="en-US" sz="1350" dirty="0"/>
          </a:p>
        </p:txBody>
      </p:sp>
      <p:sp>
        <p:nvSpPr>
          <p:cNvPr id="13" name="faces_195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box_196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a video about two crime writers.</a:t>
            </a:r>
            <a:endParaRPr lang="en-US" sz="1350" dirty="0"/>
          </a:p>
        </p:txBody>
      </p:sp>
      <p:sp>
        <p:nvSpPr>
          <p:cNvPr id="15" name="faces_197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6" name="hw_198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10B: 2b, 2c, 3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Revise Grammar Banks 9A–10B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10B-2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7" name="stamp_199"/>
          <p:cNvSpPr txBox="1"/>
          <p:nvPr/>
        </p:nvSpPr>
        <p:spPr>
          <a:xfrm>
            <a:off x="365760" y="365760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Revise and Check 9&amp;10 · Games!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Communicative photocopiable 10B</a:t>
            </a:r>
            <a:endParaRPr lang="en-US" sz="900" dirty="0"/>
          </a:p>
        </p:txBody>
      </p:sp>
      <p:sp>
        <p:nvSpPr>
          <p:cNvPr id="6" name="timer_20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7" name="extra_204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0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9" name="title_206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little mysteries</a:t>
            </a:r>
            <a:endParaRPr lang="en-US" sz="1500" dirty="0"/>
          </a:p>
        </p:txBody>
      </p:sp>
      <p:sp>
        <p:nvSpPr>
          <p:cNvPr id="10" name="tape_207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08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0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1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4" name="signB_21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read the four mysteries on the handout. Solve them – give reasons!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coppia: leggete i quattro misteri. Risolveteli – spiegate perché!</a:t>
            </a:r>
            <a:endParaRPr lang="en-US" sz="1100" dirty="0"/>
          </a:p>
        </p:txBody>
      </p:sp>
      <p:sp>
        <p:nvSpPr>
          <p:cNvPr id="15" name="iconBack_21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13" descr="pi:PiDetect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box_214"/>
          <p:cNvSpPr txBox="1"/>
          <p:nvPr/>
        </p:nvSpPr>
        <p:spPr>
          <a:xfrm>
            <a:off x="2788920" y="1371600"/>
            <a:ext cx="3379622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Baggy suit: the policeman thinks Sean is lying. How did he know?</a:t>
            </a:r>
            <a:endParaRPr lang="en-US" sz="1150" dirty="0"/>
          </a:p>
        </p:txBody>
      </p:sp>
      <p:sp>
        <p:nvSpPr>
          <p:cNvPr id="18" name="R1_a0"/>
          <p:cNvSpPr txBox="1"/>
          <p:nvPr/>
        </p:nvSpPr>
        <p:spPr>
          <a:xfrm>
            <a:off x="6223406" y="1408176"/>
            <a:ext cx="260055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said a guy came up BEHIND him – but the victim was shot in the stomach.</a:t>
            </a:r>
            <a:endParaRPr lang="en-US" sz="1050" dirty="0"/>
          </a:p>
        </p:txBody>
      </p:sp>
      <p:sp>
        <p:nvSpPr>
          <p:cNvPr id="19" name="box_215"/>
          <p:cNvSpPr txBox="1"/>
          <p:nvPr/>
        </p:nvSpPr>
        <p:spPr>
          <a:xfrm>
            <a:off x="2788920" y="2226564"/>
            <a:ext cx="3379622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Sunday murder: who did it, and how did the police know?</a:t>
            </a:r>
            <a:endParaRPr lang="en-US" sz="1150" dirty="0"/>
          </a:p>
        </p:txBody>
      </p:sp>
      <p:sp>
        <p:nvSpPr>
          <p:cNvPr id="20" name="R2_a1"/>
          <p:cNvSpPr txBox="1"/>
          <p:nvPr/>
        </p:nvSpPr>
        <p:spPr>
          <a:xfrm>
            <a:off x="6223406" y="2263140"/>
            <a:ext cx="260055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maid – she said she was getting the post, but there's no delivery on Sunday.</a:t>
            </a:r>
            <a:endParaRPr lang="en-US" sz="1050" dirty="0"/>
          </a:p>
        </p:txBody>
      </p:sp>
      <p:sp>
        <p:nvSpPr>
          <p:cNvPr id="21" name="box_216"/>
          <p:cNvSpPr txBox="1"/>
          <p:nvPr/>
        </p:nvSpPr>
        <p:spPr>
          <a:xfrm>
            <a:off x="2788920" y="3081528"/>
            <a:ext cx="3379622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There's an insect on my plate! How did the man know?</a:t>
            </a:r>
            <a:endParaRPr lang="en-US" sz="1150" dirty="0"/>
          </a:p>
        </p:txBody>
      </p:sp>
      <p:sp>
        <p:nvSpPr>
          <p:cNvPr id="22" name="R3_a2"/>
          <p:cNvSpPr txBox="1"/>
          <p:nvPr/>
        </p:nvSpPr>
        <p:spPr>
          <a:xfrm>
            <a:off x="6223406" y="3118104"/>
            <a:ext cx="260055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food came back on the same plate – the restaurant's only plain plate.</a:t>
            </a:r>
            <a:endParaRPr lang="en-US" sz="1050" dirty="0"/>
          </a:p>
        </p:txBody>
      </p:sp>
      <p:sp>
        <p:nvSpPr>
          <p:cNvPr id="23" name="box_217"/>
          <p:cNvSpPr txBox="1"/>
          <p:nvPr/>
        </p:nvSpPr>
        <p:spPr>
          <a:xfrm>
            <a:off x="2788920" y="3936492"/>
            <a:ext cx="3379622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have mail: what did the assistant say?</a:t>
            </a:r>
            <a:endParaRPr lang="en-US" sz="1150" dirty="0"/>
          </a:p>
        </p:txBody>
      </p:sp>
      <p:sp>
        <p:nvSpPr>
          <p:cNvPr id="24" name="R4_a3"/>
          <p:cNvSpPr txBox="1"/>
          <p:nvPr/>
        </p:nvSpPr>
        <p:spPr>
          <a:xfrm>
            <a:off x="6223406" y="3973068"/>
            <a:ext cx="260055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was locked inside the letterbox it opens – the businesswoman posted it there!</a:t>
            </a:r>
            <a:endParaRPr lang="en-US" sz="1050" dirty="0"/>
          </a:p>
        </p:txBody>
      </p:sp>
      <p:sp>
        <p:nvSpPr>
          <p:cNvPr id="25" name="pageTag_21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📄 Print: B1_10B_Photocopiables.pdf, page 2 · Teacher: Communicative photocopiable 10B 'Four little mysteries' p.197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2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Writing · Perspective</a:t>
            </a:r>
            <a:endParaRPr lang="en-US" sz="900" dirty="0"/>
          </a:p>
        </p:txBody>
      </p:sp>
      <p:sp>
        <p:nvSpPr>
          <p:cNvPr id="6" name="timer_22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2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2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9" name="title_225"/>
          <p:cNvSpPr txBox="1"/>
          <p:nvPr/>
        </p:nvSpPr>
        <p:spPr>
          <a:xfrm rot="90000">
            <a:off x="320040" y="676656"/>
            <a:ext cx="241401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May's diary</a:t>
            </a:r>
            <a:endParaRPr lang="en-US" sz="1500" dirty="0"/>
          </a:p>
        </p:txBody>
      </p:sp>
      <p:sp>
        <p:nvSpPr>
          <p:cNvPr id="10" name="tape_22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27"/>
          <p:cNvSpPr/>
          <p:nvPr/>
        </p:nvSpPr>
        <p:spPr>
          <a:xfrm rot="-720000">
            <a:off x="216712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4" name="signB_2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May. Write your diary the night of the 'burglary'.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May. Scrivi il diario la notte del 'furto'.</a:t>
            </a:r>
            <a:endParaRPr lang="en-US" sz="1200" dirty="0"/>
          </a:p>
        </p:txBody>
      </p:sp>
      <p:sp>
        <p:nvSpPr>
          <p:cNvPr id="15" name="iconBack_23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32" descr="pi:PiNote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num_233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ox_234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6–8 sentences in the first person: Tonight…</a:t>
            </a:r>
            <a:endParaRPr lang="en-US" sz="1300" dirty="0"/>
          </a:p>
        </p:txBody>
      </p:sp>
      <p:sp>
        <p:nvSpPr>
          <p:cNvPr id="19" name="num_235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box_236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you saw, what you found in the desk, how you felt.</a:t>
            </a:r>
            <a:endParaRPr lang="en-US" sz="1300" dirty="0"/>
          </a:p>
        </p:txBody>
      </p:sp>
      <p:sp>
        <p:nvSpPr>
          <p:cNvPr id="21" name="num_237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238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third conditional: If I hadn't read that letter, I wouldn't have…</a:t>
            </a:r>
            <a:endParaRPr lang="en-US" sz="1300" dirty="0"/>
          </a:p>
        </p:txBody>
      </p:sp>
      <p:sp>
        <p:nvSpPr>
          <p:cNvPr id="23" name="num_239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box_240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to a partner. Is May sorry – or not?</a:t>
            </a:r>
            <a:endParaRPr lang="en-US" sz="1300" dirty="0"/>
          </a:p>
        </p:txBody>
      </p:sp>
      <p:sp>
        <p:nvSpPr>
          <p:cNvPr id="25" name="bubble_241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I found Walter's letter. If I hadn't seen it, June would still be alive…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The detective</a:t>
            </a:r>
            <a:endParaRPr lang="en-US" sz="900" dirty="0"/>
          </a:p>
        </p:txBody>
      </p:sp>
      <p:sp>
        <p:nvSpPr>
          <p:cNvPr id="6" name="timer_24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46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4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· Part 2</a:t>
            </a:r>
            <a:endParaRPr lang="en-US" sz="1000" dirty="0"/>
          </a:p>
        </p:txBody>
      </p:sp>
      <p:sp>
        <p:nvSpPr>
          <p:cNvPr id="9" name="title_248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 May!</a:t>
            </a:r>
            <a:endParaRPr lang="en-US" sz="1500" dirty="0"/>
          </a:p>
        </p:txBody>
      </p:sp>
      <p:sp>
        <p:nvSpPr>
          <p:cNvPr id="10" name="tape_24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50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5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5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4" name="signB_25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the inspector, B = May. Check the facts with question tags!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l'ispettore, B = May. Controlla i fatti con le question tag!</a:t>
            </a:r>
            <a:endParaRPr lang="en-US" sz="1200" dirty="0"/>
          </a:p>
        </p:txBody>
      </p:sp>
      <p:sp>
        <p:nvSpPr>
          <p:cNvPr id="15" name="iconBack_25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55" descr="pi:PiDetect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box_256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live with your sister, ___?</a:t>
            </a:r>
            <a:endParaRPr lang="en-US" sz="1300" dirty="0"/>
          </a:p>
        </p:txBody>
      </p:sp>
      <p:sp>
        <p:nvSpPr>
          <p:cNvPr id="18" name="box_257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You heard a noise, ___?</a:t>
            </a:r>
            <a:endParaRPr lang="en-US" sz="1300" dirty="0"/>
          </a:p>
        </p:txBody>
      </p:sp>
      <p:sp>
        <p:nvSpPr>
          <p:cNvPr id="19" name="box_258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 didn't see the man's face, ___?</a:t>
            </a:r>
            <a:endParaRPr lang="en-US" sz="1300" dirty="0"/>
          </a:p>
        </p:txBody>
      </p:sp>
      <p:sp>
        <p:nvSpPr>
          <p:cNvPr id="20" name="box_259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touched the gun, ___?</a:t>
            </a:r>
            <a:endParaRPr lang="en-US" sz="1300" dirty="0"/>
          </a:p>
        </p:txBody>
      </p:sp>
      <p:sp>
        <p:nvSpPr>
          <p:cNvPr id="21" name="box_260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You weren't angry with your sister, ___?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10B-2 And the murderer is…</dc:title>
  <dc:subject>PptxGenJS Presentation</dc:subject>
  <dc:creator>London Language School</dc:creator>
  <cp:lastModifiedBy>London Language School</cp:lastModifiedBy>
  <cp:revision>1</cp:revision>
  <dcterms:created xsi:type="dcterms:W3CDTF">2026-10-05T09:39:24Z</dcterms:created>
  <dcterms:modified xsi:type="dcterms:W3CDTF">2026-10-05T09:39:24Z</dcterms:modified>
</cp:coreProperties>
</file>