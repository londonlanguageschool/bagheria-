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 AND CHECK 5&amp;6 (60 min) · SB pp.64–65. A game-based review of Files 5 and 6: narrative tenses (5A), usually / used to (5B), the passive (6A), modals of deduction (6B); sport, relationships, cinema, the body; /ɔː/ /ɜː/, -ed endings, diphthongs, word stress. The book's Grammar, Vocabulary and Pronunciation exercises (p.64) are done in class as team games; 'Can you understand these people?' (embedded video / audio 6.21) in class; 'Can you understand this text?' (p.65) = homework (or EXTRA if there's time). Timing: cover 2 · revision 5 · grammar 6 · story chain 6 · used to 6 · passive quiz 7 · vocabulary race 7 · pronunciation 4 · video 6 · draw it! 6 · exit 3 = 58 min. Put students in TWO TEAMS at the start and keep a score on the board for the whole lesson — the winning team chooses the warmer next lesson. Click 1: question; click 2: answer.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6B part 2 (5 min). VARIATION: reverse the obvious ('answers first' / Jeopardy) — students see the answer and must produce a correct QUESTION. Teams take turns; 1 point for any logical, grammatically correct question (the green chips are only possible questions — accept others, e.g. 'What do you eat with?' for teeth). Click once per item to show a model question. Items 3 and 5 recycle the charisma coach's advice (audio 6.19: eye contact, but not for too long – maximum four seconds; chin up and shoulders back). Item 6 = diphthongs (6.18). Insist on correct question form: What do you…? / How long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 3 slides × 2 min). Pairs do the 15 multiple-choice items on p.64 in 3 minutes (no help!) – or go straight to the slides. Then the 'Show me!' check: read each item aloud; on 3–2–1 every pair holds up 1, 2 or 3 fingers (a, b, c) at the same time — no copying. Click once per item for the answer (TG key): 1 a · 2 b · 3 c · 4 b · 5 b · 6 c · 7 a · 8 b · 9 c · 10 a · 11 a · 12 b · 13 a · 14 c · 15 b. The slides have the book's sentences and options. 1 point per pair for each correct answer → add to the team total. For any item where many pairs were wrong, ask a pair who got it right to explain (student as teacher). VARIATION: change the interaction — simultaneous whole-class response, so everyone answers every item. Items 1–4 narrative tenses (5A) · 5–7 usually / used to (5B).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'Show me!' continued (2 min). Items 6–7 used to (5B: didn't use to – no -d!) · 8–10 the passive (6A). Click once per item. TG key: 6 c · 7 a · 8 b · 9 c · 10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'Show me!' continued (2 min). Item 11 active vs passive (6A) · 12–15 modals of deduction (6B: can't, not mustn't, for something impossible). Click once per item. TG key: 11 a · 12 b · 13 a · 14 c · 15 b. Add up the team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TENSES (6 min). VARIATION: constraint challenge + memory disruption (the retelling at the end). Rules from Grammar Bank 5A (TG notes): past simple for the main events in order; past continuous for the background / an action in progress when something else happened; past perfect for an action that happened BEFORE the main past event (I got home late and my wife had already finished her dinner and was watching the news). Draw the TG timeline on the board if needed. Keep the pace fast: 15 seconds per sentence. Correct form errors immediately ('had forget' → had forgotten; 'was have' → was having). Sport vocabulary bonus: +1 for each correct sport word (court, referee, score, beat, warm up, injured…). If the class enjoys it, round 2 starts with: 'I was cycling home in the rain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TO / USUALLY (6 min). VARIATION: spot the lie + follow-up questions. Model first with three sentences about yourself; let the class ask questions and guess. Grammar Bank 5B reminders (TG): used to + infinitive for past habits and states that are no longer true; question Did you use to…?; negative didn't use to (no -d!); for present habits use usually + present simple (✗ I use to go → ✓ I usually go). Typical errors to listen for: 'I used to going', 'Did you used to', 'I use to get up early'. Topics if they're stuck: food, hobbies, school, music, clothes, friends. Keep it light — no sensitive personal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PASSIVE (7 min). VARIATION: student-generated content + student as teacher (they write and check the questions). 3 min writing, 4 min quiz. Monitor and correct the questions before they ask them — Grammar Bank 6A typical mistakes (TG): using the active instead of the passive (✗ The tickets sell at the newsagent's); leaving out be or using the wrong participle; thinking they always need 'by…'. Ideas if teams are stuck: Which planet was discovered in 1930? / Where are Ferraris made? / Which film was the song 'My Heart Will Go On' written for? (teams must check their own facts — accept only questions where the teacher is sure of the answer). The example is from the 6A listening (audio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(7 min). VARIATION: change the energy (relay race). Divide the board into two halves. Students keep their books open at p.64, Vocabulary a–e. Exercises on p.64: a Write the parts of the body that you use to do these actions: 1 smile 2 stare 3 smell 4 clap 5 bite · b Circle the correct word or phrase: 1 Arsenal won / beat Chelsea 2–0. 2 Can you book a tennis course / court on Friday? 3 Sports players are very careful not to get injured / get fit. 4 Real Madrid scored / kicked a goal just before half-time. 5 I do / go swimming every morning during the week. · c Complete the words: 1 Luke is a very c___ friend. I've known him all my life. 2 My wife and I have a lot in c___. 3 Gina and I lost t___ after we both changed jobs. 4 We g___ to know each other very quickly. 5 Linda is getting married next month. Her f___ is Italian. · d Write words beginning with s for the definitions: 1 the music of a film 2 the translation of the dialogue of a film on screen 3 (two words) images often created by a computer 4 the most important actor in a film 5 a part of a film which happens in one place · e Complete the sentences with one word: 1 I love working ___ at the gym. I go every evening. 2 The player was sent ___ for insulting the referee. 3 My sister and her boyfriend have split ___. 4 Did you know Jane is going ___ with Jessie's brother? 5 Is there anything good ___ TV tonight? Teacher reads out exercise a item 1; one runner from each team runs to the board and writes the answer; the team can help by whispering (not shouting!). Next item = next runner. First correct and correctly SPELT answer = 1 point. Click once per exercise to show the answers (TG key): a 1 lips / mouth · 2 eyes · 3 nose · 4 hands · 5 teeth · b 1 beat · 2 court · 3 get injured · 4 scored · 5 go · c 1 close · 2 common · 3 touch · 4 got · 5 fiancé · d 1 soundtrack · 2 subtitles · 3 special effects · 4 star · 5 scene · e 1 out · 2 off · 3 up · 4 out · 5 on. Spelling traps: fiancé (with é), subtitles, injured. If the room is small, do it with mini whiteboards / paper instead of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(4 min). Pairs do c and d on p.64, saying the words aloud. a: practise the sound pictures bird /ɜː/ · phone /əʊ/ · egg /e/ · owl /aʊ/ · television /ʒ/ · zebra /z/ · dog /d/ · tie /t/. c: 'What sound in a do the pink letters have in these words?' (booked: -ed · crowd: ow · eyes: s · shoulders: ou · world: or). Click once per item (c1, d1, c2…) for the answers (TG key): c 1 booked /t/ · 2 crowd /aʊ/ · 3 eyes /z/ · 4 shoulders /əʊ/ · 5 world /ɜː/ · d 1 referee · 2 review · 3 spectators · 4 director · 5 colleague (stressed syllable in capitals on the slide). VARIATION: change the energy — for d, the whole class says each word and CLAPS on the stressed syllable. Quick reminders: -ed = /t/ after unvoiced sounds (booked), /d/ after voiced, /ɪd/ after t / d (6A); /ɜː/ = bird (world, work, worse) vs /ɔː/ = horse (court, score) (5A); diphthongs (6B).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(6 min). The video is embedded (3 min 4 s). VARIATION: prediction — before listening, each team guesses one answer per speaker (e.g. 'Why did Miranda choose her photo?') — 1 point for any guess that's right. Then students do the multiple-choice task in the book p.65 while watching (the slide shows the question stems; the full options are below); play the video once, pausing after each speaker; play again if needed. Book sentences and options: 1 Philomena enjoys ___ (a watching tennis · b doing gymnastics · c watching diving) · 2 Rachel says that most people she knows who have been out with someone they met online ___ (a are still with the other person · b married the person they met · c broke up with the person they met) · 3 Aileen kept a tissue with answers to the exam in ___ (a her pocket · b the bathroom · c her backpack) · 4 Coleen ___ (a prefers the Lord of the Rings films to the books · b loves the books and the films · c prefers the books to the films) · 5 Miranda chose a picture for her profile photo because ___ (a she liked how she looked in it · b it was taken in Las Vegas · c it was taken on her wedding anniversary). Book answers (TG key): 1 c · 2 c · 3 a · 4 b · 5 a. Click 1 for all the answers. Details from the video script: 1 Philomena prefers doing sport; she likes watching rhythmic gymnastics or diving because they're like a dance / a routine, very graceful · 2 Rachel knows lots of people who've gone out with people they met online: a couple are married, some are still together, for a lot it didn't work out · 3 Aileen wrote the answers on a tissue, put it in her pocket and read it in the bathroom; she wasn't caught · 4 Coleen's favourite film = The Lord of the Rings trilogy; she's seen it 'probably getting on for ten times' · 5 Miranda's photo is of her and her husband in Las Vegas on their anniversary; she chose it because her make-up looked good. If the embedded video doesn't play, use audio 6.21 (same interviews). After: pairs ask each other the interview questions (Do you prefer doing sport or watching it? · Do you know anyone who has gone out with someone they met online? · What's your favourite film of all time? · Do you have a profile photo? Why did you choose it?) – personalisation with boundaries: skip the cheating question or keep it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change the energy + curiosity gap (pictionary). Words from all four Vocabulary Banks of Files 5–6. Two teams, a new artist each card. The guessers must say the exact word / phrase (propose, not 'marry'; get injured, not 'hurt'). Stop after 6 minutes — the team with the most points over the whole lesson wins.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7.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8.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Announce the winning team! Students choose a face for each can-do — the can-dos they mark 😐 tell you what to recycle in File 7 warmers. Homework: Student's Book p.65 'Can you understand this text?' a and b (answers: a The best exercise is the exercise that you will do · b 1 B · 2 E · 3 C · 4 A · 5 F · 6 G · 7 D) + the R5-6 homework sheet (easier version available). Optional for stronger students: File 6 Online Practice 'Check your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READING (10 min) — only if there's time; otherwise it's homework. VARIATION: prediction — before reading, teams predict the answer to a (What's the best exercise? Running? Swimming? Walking?). a: The best exercise is the exercise that you will do. Article: 'What is the best sport for your body type?' (ectomorph, mesomorph, endomorph). b: 'Read the article again. Complete the gaps with A–G.' – sentences A–G on the slide (book wording). TG key: 1 B · 2 E · 3 C · 4 A · 5 F · 6 G · 7 D. Click once per line. Follow-up: Which exercise will YOU really do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constraint challenge + follow-up questions. Groups of 3–4; everybody speaks once. The listeners tick the three structures when they hear them. Topics recycle 5A (anecdotes), 5B (relationships), 6A (cinema), 6B (body). Keep topics positive / neutral; nobody has to talk about a personal relationship — 'a close friend'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audio" Target="../media/media-2-10.mp3"/><Relationship Id="rId11" Type="http://schemas.microsoft.com/office/2007/relationships/media" Target="../media/media-2-10.mp3"/><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video" Target="../media/media-11-3.mp4"/><Relationship Id="rId4" Type="http://schemas.microsoft.com/office/2007/relationships/media" Target="../media/media-11-3.mp4"/><Relationship Id="rId5" Type="http://schemas.openxmlformats.org/officeDocument/2006/relationships/image" Target="../media/image-11-5.png"/><Relationship Id="rId6" Type="http://schemas.openxmlformats.org/officeDocument/2006/relationships/image" Target="../media/image-11-6.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jp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R5-6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3600" dirty="0">
                <a:solidFill>
                  <a:srgbClr val="FFD84D"/>
                </a:solidFill>
                <a:latin typeface="Arial Black" pitchFamily="34" charset="0"/>
                <a:ea typeface="Arial Black" pitchFamily="34" charset="-122"/>
                <a:cs typeface="Arial Black" pitchFamily="34" charset="-120"/>
              </a:rPr>
              <a:t>R5-6</a:t>
            </a:r>
            <a:endParaRPr lang="en-US" sz="3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50" dirty="0">
                <a:solidFill>
                  <a:srgbClr val="E9E2FB"/>
                </a:solidFill>
                <a:latin typeface="Arial Black" pitchFamily="34" charset="0"/>
                <a:ea typeface="Arial Black" pitchFamily="34" charset="-122"/>
                <a:cs typeface="Arial Black" pitchFamily="34" charset="-120"/>
              </a:rPr>
              <a:t>ENGLISH FILE B1 · R5-6 · Part 1 · SB pp.64–65</a:t>
            </a:r>
            <a:endParaRPr lang="en-US" sz="105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REVISE AND CHECK 5&amp;6</a:t>
            </a:r>
            <a:endParaRPr lang="en-US" sz="2200" dirty="0"/>
          </a:p>
        </p:txBody>
      </p:sp>
      <p:sp>
        <p:nvSpPr>
          <p:cNvPr id="10" name="stamp_8"/>
          <p:cNvSpPr txBox="1"/>
          <p:nvPr/>
        </p:nvSpPr>
        <p:spPr>
          <a:xfrm>
            <a:off x="457200" y="2468880"/>
            <a:ext cx="3429000"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GAMES · Grammar of Files 5 &amp; 6</a:t>
            </a:r>
            <a:endParaRPr lang="en-US" sz="1200" dirty="0"/>
          </a:p>
        </p:txBody>
      </p:sp>
      <p:sp>
        <p:nvSpPr>
          <p:cNvPr id="11" name="stamp_9"/>
          <p:cNvSpPr txBox="1"/>
          <p:nvPr/>
        </p:nvSpPr>
        <p:spPr>
          <a:xfrm>
            <a:off x="457200" y="2944368"/>
            <a:ext cx="457200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sport, relationships, cinema, body</a:t>
            </a:r>
            <a:endParaRPr lang="en-US" sz="1200" dirty="0"/>
          </a:p>
        </p:txBody>
      </p:sp>
      <p:sp>
        <p:nvSpPr>
          <p:cNvPr id="12" name="stamp_10"/>
          <p:cNvSpPr txBox="1"/>
          <p:nvPr/>
        </p:nvSpPr>
        <p:spPr>
          <a:xfrm>
            <a:off x="457200" y="3419856"/>
            <a:ext cx="4572000"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Can you understand these people?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Trophy">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SoccerBall">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FilmSlat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Sport, love, films, the body…</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How much do you remember?</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6B part 2 · The body</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23"/>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Answers first!</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Here's the ANSWER. What's the question?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Ecco la RISPOSTA. Qual è la domanda?</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Question">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1240475"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your teeth</a:t>
            </a:r>
            <a:endParaRPr lang="en-US" sz="1300" dirty="0"/>
          </a:p>
        </p:txBody>
      </p:sp>
      <p:sp>
        <p:nvSpPr>
          <p:cNvPr id="15" name="R1_a0"/>
          <p:cNvSpPr txBox="1"/>
          <p:nvPr/>
        </p:nvSpPr>
        <p:spPr>
          <a:xfrm>
            <a:off x="4084259" y="1408176"/>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What do you brush / bite with?</a:t>
            </a:r>
            <a:endParaRPr lang="en-US" sz="1050" dirty="0"/>
          </a:p>
        </p:txBody>
      </p:sp>
      <p:sp>
        <p:nvSpPr>
          <p:cNvPr id="16" name="box_30"/>
          <p:cNvSpPr txBox="1"/>
          <p:nvPr/>
        </p:nvSpPr>
        <p:spPr>
          <a:xfrm>
            <a:off x="5870448" y="1371600"/>
            <a:ext cx="1240475"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nod</a:t>
            </a:r>
            <a:endParaRPr lang="en-US" sz="1300" dirty="0"/>
          </a:p>
        </p:txBody>
      </p:sp>
      <p:sp>
        <p:nvSpPr>
          <p:cNvPr id="17" name="R2_a1"/>
          <p:cNvSpPr txBox="1"/>
          <p:nvPr/>
        </p:nvSpPr>
        <p:spPr>
          <a:xfrm>
            <a:off x="7165787" y="1408176"/>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What do you do with your head to say yes?</a:t>
            </a:r>
            <a:endParaRPr lang="en-US" sz="1050" dirty="0"/>
          </a:p>
        </p:txBody>
      </p:sp>
      <p:sp>
        <p:nvSpPr>
          <p:cNvPr id="18" name="box_31"/>
          <p:cNvSpPr txBox="1"/>
          <p:nvPr/>
        </p:nvSpPr>
        <p:spPr>
          <a:xfrm>
            <a:off x="2788920" y="2368296"/>
            <a:ext cx="1240475"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four seconds</a:t>
            </a:r>
            <a:endParaRPr lang="en-US" sz="1300" dirty="0"/>
          </a:p>
        </p:txBody>
      </p:sp>
      <p:sp>
        <p:nvSpPr>
          <p:cNvPr id="19" name="R3_a2"/>
          <p:cNvSpPr txBox="1"/>
          <p:nvPr/>
        </p:nvSpPr>
        <p:spPr>
          <a:xfrm>
            <a:off x="4084259" y="2404872"/>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How long should eye contact be (max)?</a:t>
            </a:r>
            <a:endParaRPr lang="en-US" sz="1050" dirty="0"/>
          </a:p>
        </p:txBody>
      </p:sp>
      <p:sp>
        <p:nvSpPr>
          <p:cNvPr id="20" name="box_32"/>
          <p:cNvSpPr txBox="1"/>
          <p:nvPr/>
        </p:nvSpPr>
        <p:spPr>
          <a:xfrm>
            <a:off x="5870448" y="2368296"/>
            <a:ext cx="1240475"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the audience</a:t>
            </a:r>
            <a:endParaRPr lang="en-US" sz="1300" dirty="0"/>
          </a:p>
        </p:txBody>
      </p:sp>
      <p:sp>
        <p:nvSpPr>
          <p:cNvPr id="21" name="R4_a3"/>
          <p:cNvSpPr txBox="1"/>
          <p:nvPr/>
        </p:nvSpPr>
        <p:spPr>
          <a:xfrm>
            <a:off x="7165787" y="2404872"/>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Who claps at the end of a show?</a:t>
            </a:r>
            <a:endParaRPr lang="en-US" sz="1050" dirty="0"/>
          </a:p>
        </p:txBody>
      </p:sp>
      <p:sp>
        <p:nvSpPr>
          <p:cNvPr id="22" name="box_33"/>
          <p:cNvSpPr txBox="1"/>
          <p:nvPr/>
        </p:nvSpPr>
        <p:spPr>
          <a:xfrm>
            <a:off x="2788920" y="3364992"/>
            <a:ext cx="1240475"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chin up, shoulders back</a:t>
            </a:r>
            <a:endParaRPr lang="en-US" sz="1300" dirty="0"/>
          </a:p>
        </p:txBody>
      </p:sp>
      <p:sp>
        <p:nvSpPr>
          <p:cNvPr id="23" name="R5_a4"/>
          <p:cNvSpPr txBox="1"/>
          <p:nvPr/>
        </p:nvSpPr>
        <p:spPr>
          <a:xfrm>
            <a:off x="4084259" y="3401568"/>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How do charismatic people enter a room?</a:t>
            </a:r>
            <a:endParaRPr lang="en-US" sz="1050" dirty="0"/>
          </a:p>
        </p:txBody>
      </p:sp>
      <p:sp>
        <p:nvSpPr>
          <p:cNvPr id="24" name="box_34"/>
          <p:cNvSpPr txBox="1"/>
          <p:nvPr/>
        </p:nvSpPr>
        <p:spPr>
          <a:xfrm>
            <a:off x="5870448" y="3364992"/>
            <a:ext cx="1240475"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/aɪ/ – like bike</a:t>
            </a:r>
            <a:endParaRPr lang="en-US" sz="1300" dirty="0"/>
          </a:p>
        </p:txBody>
      </p:sp>
      <p:sp>
        <p:nvSpPr>
          <p:cNvPr id="25" name="R6_a5"/>
          <p:cNvSpPr txBox="1"/>
          <p:nvPr/>
        </p:nvSpPr>
        <p:spPr>
          <a:xfrm>
            <a:off x="7165787" y="3401568"/>
            <a:ext cx="1658173"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What sound is in bite / eyes / smile?</a:t>
            </a:r>
            <a:endParaRPr lang="en-US" sz="105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6B part 2 · Vocabulary Bank The body p.160 · audio 6.18–6.20</a:t>
            </a:r>
            <a:endParaRPr lang="en-US" sz="1050" dirty="0"/>
          </a:p>
        </p:txBody>
      </p:sp>
      <p:pic>
        <p:nvPicPr>
          <p:cNvPr id="27"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8"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6.18</a:t>
            </a:r>
            <a:endParaRPr lang="en-US" sz="800" dirty="0"/>
          </a:p>
        </p:txBody>
      </p:sp>
      <p:pic>
        <p:nvPicPr>
          <p:cNvPr id="29" name="Media 1">
            <a:hlinkClick r:id="" action="ppaction://media"/>
          </p:cNvPr>
          <p:cNvPicPr>
            <a:picLocks noChangeAspect="1"/>
          </p:cNvPicPr>
          <p:nvPr>
            <a:audi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30" name="atr_37"/>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6.19</a:t>
            </a:r>
            <a:endParaRPr lang="en-US" sz="800" dirty="0"/>
          </a:p>
        </p:txBody>
      </p:sp>
      <p:pic>
        <p:nvPicPr>
          <p:cNvPr id="31" name="Media 2">
            <a:hlinkClick r:id="" action="ppaction://media"/>
          </p:cNvPr>
          <p:cNvPicPr>
            <a:picLocks noChangeAspect="1"/>
          </p:cNvPicPr>
          <p:nvPr>
            <a:audioFile r:link="rId10"/>
            <p:extLst>
              <p:ext uri="{DAA4B4D4-6D71-4841-9C94-3DE7FCFB9230}">
                <p14:media xmlns:p14="http://schemas.microsoft.com/office/powerpoint/2010/main" r:embed="rId11"/>
              </p:ext>
            </p:extLst>
          </p:nvPr>
        </p:nvPicPr>
        <p:blipFill>
          <a:blip r:embed="rId12"/>
          <a:stretch>
            <a:fillRect/>
          </a:stretch>
        </p:blipFill>
        <p:spPr>
          <a:xfrm>
            <a:off x="6117336" y="155448"/>
            <a:ext cx="384048" cy="384048"/>
          </a:xfrm>
          <a:prstGeom prst="rect">
            <a:avLst/>
          </a:prstGeom>
        </p:spPr>
      </p:pic>
      <p:sp>
        <p:nvSpPr>
          <p:cNvPr id="32" name="atr_38"/>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6.20</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7"/>
                                        </p:tgtEl>
                                      </p:cBhvr>
                                    </p:cmd>
                                  </p:childTnLst>
                                </p:cTn>
                              </p:par>
                            </p:childTnLst>
                          </p:cTn>
                        </p:par>
                      </p:childTnLst>
                    </p:cTn>
                  </p:par>
                </p:childTnLst>
              </p:cTn>
              <p:nextCondLst>
                <p:cond evt="onClick" delay="0">
                  <p:tgtEl>
                    <p:spTgt spid="27"/>
                  </p:tgtEl>
                </p:cond>
              </p:nextCondLst>
            </p:seq>
            <p:seq concurrent="1" nextAc="seek">
              <p:cTn id="38" restart="whenNotActive" fill="hold" evtFilter="cancelBubble" nodeType="interactiveSeq">
                <p:stCondLst>
                  <p:cond evt="onClick" delay="0">
                    <p:tgtEl>
                      <p:spTgt spid="29"/>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9"/>
                                        </p:tgtEl>
                                      </p:cBhvr>
                                    </p:cmd>
                                  </p:childTnLst>
                                </p:cTn>
                              </p:par>
                            </p:childTnLst>
                          </p:cTn>
                        </p:par>
                      </p:childTnLst>
                    </p:cTn>
                  </p:par>
                </p:childTnLst>
              </p:cTn>
              <p:nextCondLst>
                <p:cond evt="onClick" delay="0">
                  <p:tgtEl>
                    <p:spTgt spid="29"/>
                  </p:tgtEl>
                </p:cond>
              </p:nextCondLst>
            </p:seq>
            <p:seq concurrent="1" nextAc="seek">
              <p:cTn id="43" restart="whenNotActive" fill="hold" evtFilter="cancelBubble" nodeType="interactiveSeq">
                <p:stCondLst>
                  <p:cond evt="onClick" delay="0">
                    <p:tgtEl>
                      <p:spTgt spid="31"/>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31"/>
                                        </p:tgtEl>
                                      </p:cBhvr>
                                    </p:cmd>
                                  </p:childTnLst>
                                </p:cTn>
                              </p:par>
                            </p:childTnLst>
                          </p:cTn>
                        </p:par>
                      </p:childTnLst>
                    </p:cTn>
                  </p:par>
                </p:childTnLst>
              </p:cTn>
              <p:nextCondLst>
                <p:cond evt="onClick" delay="0">
                  <p:tgtEl>
                    <p:spTgt spid="31"/>
                  </p:tgtEl>
                </p:cond>
              </p:nextCondLst>
            </p:seq>
            <p:audio>
              <p:cMediaNode vol="80000">
                <p:cTn id="48" fill="hold" display="0">
                  <p:stCondLst>
                    <p:cond delay="indefinite"/>
                  </p:stCondLst>
                  <p:endCondLst>
                    <p:cond evt="onStopAudio" delay="0">
                      <p:tgtEl>
                        <p:sldTgt/>
                      </p:tgtEl>
                    </p:cond>
                  </p:endCondLst>
                </p:cTn>
                <p:tgtEl>
                  <p:spTgt spid="27"/>
                </p:tgtEl>
              </p:cMediaNode>
            </p:audio>
            <p:audio>
              <p:cMediaNode vol="80000">
                <p:cTn id="49" fill="hold" display="0">
                  <p:stCondLst>
                    <p:cond delay="indefinite"/>
                  </p:stCondLst>
                  <p:endCondLst>
                    <p:cond evt="onStopAudio" delay="0">
                      <p:tgtEl>
                        <p:sldTgt/>
                      </p:tgtEl>
                    </p:cond>
                  </p:endCondLst>
                </p:cTn>
                <p:tgtEl>
                  <p:spTgt spid="29"/>
                </p:tgtEl>
              </p:cMediaNode>
            </p:audio>
            <p:audio>
              <p:cMediaNode vol="80000">
                <p:cTn id="50" fill="hold" display="0">
                  <p:stCondLst>
                    <p:cond delay="indefinite"/>
                  </p:stCondLst>
                  <p:endCondLst>
                    <p:cond evt="onStopAudio" delay="0">
                      <p:tgtEl>
                        <p:sldTgt/>
                      </p:tgtEl>
                    </p:cond>
                  </p:endCondLst>
                </p:cTn>
                <p:tgtEl>
                  <p:spTgt spid="3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9"/>
          <p:cNvSpPr/>
          <p:nvPr/>
        </p:nvSpPr>
        <p:spPr>
          <a:xfrm>
            <a:off x="54864" y="54864"/>
            <a:ext cx="9034272" cy="5033772"/>
          </a:xfrm>
          <a:prstGeom prst="rect">
            <a:avLst/>
          </a:prstGeom>
          <a:ln w="114300">
            <a:solidFill>
              <a:srgbClr val="A8E6B4"/>
            </a:solidFill>
            <a:prstDash val="solid"/>
          </a:ln>
        </p:spPr>
      </p:sp>
      <p:pic>
        <p:nvPicPr>
          <p:cNvPr id="4"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Revise and Check p.64 · 1–5</a:t>
            </a:r>
            <a:endParaRPr lang="en-US" sz="900" dirty="0"/>
          </a:p>
        </p:txBody>
      </p:sp>
      <p:sp>
        <p:nvSpPr>
          <p:cNvPr id="6"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44"/>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Show me! a, b or c?</a:t>
            </a:r>
            <a:endParaRPr lang="en-US" sz="1500" dirty="0"/>
          </a:p>
        </p:txBody>
      </p:sp>
      <p:sp>
        <p:nvSpPr>
          <p:cNvPr id="9"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b or c? 3–2–1… show me with your fingers!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b o c? 3–2–1… mostratelo con le dita!</a:t>
            </a:r>
            <a:endParaRPr lang="en-US" sz="1250" dirty="0"/>
          </a:p>
        </p:txBody>
      </p:sp>
      <p:sp>
        <p:nvSpPr>
          <p:cNvPr id="12" name="box_48"/>
          <p:cNvSpPr txBox="1"/>
          <p:nvPr/>
        </p:nvSpPr>
        <p:spPr>
          <a:xfrm>
            <a:off x="2788920" y="1371600"/>
            <a:ext cx="482803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Elliot served, but the ball ___ into the net.  a went  b was going  c had gone</a:t>
            </a:r>
            <a:endParaRPr lang="en-US" sz="1100" dirty="0"/>
          </a:p>
        </p:txBody>
      </p:sp>
      <p:sp>
        <p:nvSpPr>
          <p:cNvPr id="13" name="R1_a0"/>
          <p:cNvSpPr txBox="1"/>
          <p:nvPr/>
        </p:nvSpPr>
        <p:spPr>
          <a:xfrm>
            <a:off x="7671816" y="1408176"/>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went</a:t>
            </a:r>
            <a:endParaRPr lang="en-US" sz="1100" dirty="0"/>
          </a:p>
        </p:txBody>
      </p:sp>
      <p:sp>
        <p:nvSpPr>
          <p:cNvPr id="14" name="box_49"/>
          <p:cNvSpPr txBox="1"/>
          <p:nvPr/>
        </p:nvSpPr>
        <p:spPr>
          <a:xfrm>
            <a:off x="2788920" y="2055571"/>
            <a:ext cx="482803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The athlete fell when she ___ towards the finishing line.  a run  b was running  c had run</a:t>
            </a:r>
            <a:endParaRPr lang="en-US" sz="1100" dirty="0"/>
          </a:p>
        </p:txBody>
      </p:sp>
      <p:sp>
        <p:nvSpPr>
          <p:cNvPr id="15" name="R2_a1"/>
          <p:cNvSpPr txBox="1"/>
          <p:nvPr/>
        </p:nvSpPr>
        <p:spPr>
          <a:xfrm>
            <a:off x="7671816" y="2092147"/>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was running</a:t>
            </a:r>
            <a:endParaRPr lang="en-US" sz="1100" dirty="0"/>
          </a:p>
        </p:txBody>
      </p:sp>
      <p:sp>
        <p:nvSpPr>
          <p:cNvPr id="16" name="box_50"/>
          <p:cNvSpPr txBox="1"/>
          <p:nvPr/>
        </p:nvSpPr>
        <p:spPr>
          <a:xfrm>
            <a:off x="2788920" y="2739542"/>
            <a:ext cx="482803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I didn't realise that you two ___ before.  a didn't meet  b weren't meeting  c hadn't met</a:t>
            </a:r>
            <a:endParaRPr lang="en-US" sz="1100" dirty="0"/>
          </a:p>
        </p:txBody>
      </p:sp>
      <p:sp>
        <p:nvSpPr>
          <p:cNvPr id="17" name="R3_a2"/>
          <p:cNvSpPr txBox="1"/>
          <p:nvPr/>
        </p:nvSpPr>
        <p:spPr>
          <a:xfrm>
            <a:off x="7671816" y="2776118"/>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 hadn't met</a:t>
            </a:r>
            <a:endParaRPr lang="en-US" sz="1100" dirty="0"/>
          </a:p>
        </p:txBody>
      </p:sp>
      <p:sp>
        <p:nvSpPr>
          <p:cNvPr id="18" name="box_51"/>
          <p:cNvSpPr txBox="1"/>
          <p:nvPr/>
        </p:nvSpPr>
        <p:spPr>
          <a:xfrm>
            <a:off x="2788920" y="3423514"/>
            <a:ext cx="4828032"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A I can't find my glasses anywhere.  B ___ them when you left home this morning?  a Did you wear  b Were you wearing  c Had you worn</a:t>
            </a:r>
            <a:endParaRPr lang="en-US" sz="1100" dirty="0"/>
          </a:p>
        </p:txBody>
      </p:sp>
      <p:sp>
        <p:nvSpPr>
          <p:cNvPr id="19" name="R4_a3"/>
          <p:cNvSpPr txBox="1"/>
          <p:nvPr/>
        </p:nvSpPr>
        <p:spPr>
          <a:xfrm>
            <a:off x="7671816" y="3460090"/>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Were you wearing</a:t>
            </a:r>
            <a:endParaRPr lang="en-US" sz="1100" dirty="0"/>
          </a:p>
        </p:txBody>
      </p:sp>
      <p:sp>
        <p:nvSpPr>
          <p:cNvPr id="20" name="box_52"/>
          <p:cNvSpPr txBox="1"/>
          <p:nvPr/>
        </p:nvSpPr>
        <p:spPr>
          <a:xfrm>
            <a:off x="2788920" y="4107485"/>
            <a:ext cx="4828032"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___ walk to work, or do you drive?  a Do you use to  b Do you usually  c Use you to</a:t>
            </a:r>
            <a:endParaRPr lang="en-US" sz="1100" dirty="0"/>
          </a:p>
        </p:txBody>
      </p:sp>
      <p:sp>
        <p:nvSpPr>
          <p:cNvPr id="21" name="R5_a4"/>
          <p:cNvSpPr txBox="1"/>
          <p:nvPr/>
        </p:nvSpPr>
        <p:spPr>
          <a:xfrm>
            <a:off x="7671816" y="4144061"/>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Do you usually</a:t>
            </a:r>
            <a:endParaRPr lang="en-US" sz="1100" dirty="0"/>
          </a:p>
        </p:txBody>
      </p:sp>
      <p:sp>
        <p:nvSpPr>
          <p:cNvPr id="22" name="sticky_53"/>
          <p:cNvSpPr txBox="1"/>
          <p:nvPr/>
        </p:nvSpPr>
        <p:spPr>
          <a:xfrm rot="-120000">
            <a:off x="411480" y="3931920"/>
            <a:ext cx="224028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1 finger = a · 2 fingers = b · 3 fingers = c</a:t>
            </a:r>
            <a:endParaRPr lang="en-US" sz="1150" dirty="0"/>
          </a:p>
        </p:txBody>
      </p:sp>
      <p:sp>
        <p:nvSpPr>
          <p:cNvPr id="23" name="pageTag_5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p.64 · Grammar 1–5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5"/>
          <p:cNvSpPr/>
          <p:nvPr/>
        </p:nvSpPr>
        <p:spPr>
          <a:xfrm>
            <a:off x="54864" y="54864"/>
            <a:ext cx="9034272" cy="5033772"/>
          </a:xfrm>
          <a:prstGeom prst="rect">
            <a:avLst/>
          </a:prstGeom>
          <a:ln w="114300">
            <a:solidFill>
              <a:srgbClr val="A8E6B4"/>
            </a:solidFill>
            <a:prstDash val="solid"/>
          </a:ln>
        </p:spPr>
      </p:sp>
      <p:pic>
        <p:nvPicPr>
          <p:cNvPr id="4" name="logo_5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Revise and Check p.64 · 6–10</a:t>
            </a:r>
            <a:endParaRPr lang="en-US" sz="900" dirty="0"/>
          </a:p>
        </p:txBody>
      </p:sp>
      <p:sp>
        <p:nvSpPr>
          <p:cNvPr id="6" name="timer_5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5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60"/>
          <p:cNvSpPr txBox="1"/>
          <p:nvPr/>
        </p:nvSpPr>
        <p:spPr>
          <a:xfrm rot="-120000">
            <a:off x="320040" y="676656"/>
            <a:ext cx="449884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Show me! a, b or c? (2)</a:t>
            </a:r>
            <a:endParaRPr lang="en-US" sz="1500" dirty="0"/>
          </a:p>
        </p:txBody>
      </p:sp>
      <p:sp>
        <p:nvSpPr>
          <p:cNvPr id="9" name="post_6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2"/>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6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b or c? 3–2–1… show me with your fingers!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b o c? 3–2–1… mostratelo con le dita!</a:t>
            </a:r>
            <a:endParaRPr lang="en-US" sz="1250" dirty="0"/>
          </a:p>
        </p:txBody>
      </p:sp>
      <p:sp>
        <p:nvSpPr>
          <p:cNvPr id="12" name="box_64"/>
          <p:cNvSpPr txBox="1"/>
          <p:nvPr/>
        </p:nvSpPr>
        <p:spPr>
          <a:xfrm>
            <a:off x="2788920" y="1371600"/>
            <a:ext cx="482803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When I was a child, I ___ like vegetables.  a don't used to  b didn't used to  c didn't use to</a:t>
            </a:r>
            <a:endParaRPr lang="en-US" sz="1100" dirty="0"/>
          </a:p>
        </p:txBody>
      </p:sp>
      <p:sp>
        <p:nvSpPr>
          <p:cNvPr id="13" name="R1_a0"/>
          <p:cNvSpPr txBox="1"/>
          <p:nvPr/>
        </p:nvSpPr>
        <p:spPr>
          <a:xfrm>
            <a:off x="7671816" y="1408176"/>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 didn't use to</a:t>
            </a:r>
            <a:endParaRPr lang="en-US" sz="1100" dirty="0"/>
          </a:p>
        </p:txBody>
      </p:sp>
      <p:sp>
        <p:nvSpPr>
          <p:cNvPr id="14" name="box_65"/>
          <p:cNvSpPr txBox="1"/>
          <p:nvPr/>
        </p:nvSpPr>
        <p:spPr>
          <a:xfrm>
            <a:off x="2788920" y="2055571"/>
            <a:ext cx="482803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___ do any sport at university?  a Did you use to  b Use you to  c Did you used to</a:t>
            </a:r>
            <a:endParaRPr lang="en-US" sz="1100" dirty="0"/>
          </a:p>
        </p:txBody>
      </p:sp>
      <p:sp>
        <p:nvSpPr>
          <p:cNvPr id="15" name="R2_a1"/>
          <p:cNvSpPr txBox="1"/>
          <p:nvPr/>
        </p:nvSpPr>
        <p:spPr>
          <a:xfrm>
            <a:off x="7671816" y="2092147"/>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Did you use to</a:t>
            </a:r>
            <a:endParaRPr lang="en-US" sz="1100" dirty="0"/>
          </a:p>
        </p:txBody>
      </p:sp>
      <p:sp>
        <p:nvSpPr>
          <p:cNvPr id="16" name="box_66"/>
          <p:cNvSpPr txBox="1"/>
          <p:nvPr/>
        </p:nvSpPr>
        <p:spPr>
          <a:xfrm>
            <a:off x="2788920" y="2739542"/>
            <a:ext cx="482803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8  Lots of famous films ___ in San Francisco.  a have shot  b have been shot  c has been shot</a:t>
            </a:r>
            <a:endParaRPr lang="en-US" sz="1100" dirty="0"/>
          </a:p>
        </p:txBody>
      </p:sp>
      <p:sp>
        <p:nvSpPr>
          <p:cNvPr id="17" name="R3_a2"/>
          <p:cNvSpPr txBox="1"/>
          <p:nvPr/>
        </p:nvSpPr>
        <p:spPr>
          <a:xfrm>
            <a:off x="7671816" y="2776118"/>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have been shot</a:t>
            </a:r>
            <a:endParaRPr lang="en-US" sz="1100" dirty="0"/>
          </a:p>
        </p:txBody>
      </p:sp>
      <p:sp>
        <p:nvSpPr>
          <p:cNvPr id="18" name="box_67"/>
          <p:cNvSpPr txBox="1"/>
          <p:nvPr/>
        </p:nvSpPr>
        <p:spPr>
          <a:xfrm>
            <a:off x="2788920" y="3423514"/>
            <a:ext cx="4828032"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9  He hates ___ about his private life.  a asking  b being asking  c being asked</a:t>
            </a:r>
            <a:endParaRPr lang="en-US" sz="1100" dirty="0"/>
          </a:p>
        </p:txBody>
      </p:sp>
      <p:sp>
        <p:nvSpPr>
          <p:cNvPr id="19" name="R4_a3"/>
          <p:cNvSpPr txBox="1"/>
          <p:nvPr/>
        </p:nvSpPr>
        <p:spPr>
          <a:xfrm>
            <a:off x="7671816" y="3460090"/>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 being asked</a:t>
            </a:r>
            <a:endParaRPr lang="en-US" sz="1100" dirty="0"/>
          </a:p>
        </p:txBody>
      </p:sp>
      <p:sp>
        <p:nvSpPr>
          <p:cNvPr id="20" name="box_68"/>
          <p:cNvSpPr txBox="1"/>
          <p:nvPr/>
        </p:nvSpPr>
        <p:spPr>
          <a:xfrm>
            <a:off x="2788920" y="4107485"/>
            <a:ext cx="4828032"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10  Why ___ in New Zealand?  a is the film being made  b is the film making  c is making the film</a:t>
            </a:r>
            <a:endParaRPr lang="en-US" sz="1100" dirty="0"/>
          </a:p>
        </p:txBody>
      </p:sp>
      <p:sp>
        <p:nvSpPr>
          <p:cNvPr id="21" name="R5_a4"/>
          <p:cNvSpPr txBox="1"/>
          <p:nvPr/>
        </p:nvSpPr>
        <p:spPr>
          <a:xfrm>
            <a:off x="7671816" y="4144061"/>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is the film being made</a:t>
            </a:r>
            <a:endParaRPr lang="en-US" sz="1100" dirty="0"/>
          </a:p>
        </p:txBody>
      </p:sp>
      <p:sp>
        <p:nvSpPr>
          <p:cNvPr id="22" name="sticky_69"/>
          <p:cNvSpPr txBox="1"/>
          <p:nvPr/>
        </p:nvSpPr>
        <p:spPr>
          <a:xfrm rot="-120000">
            <a:off x="411480" y="3931920"/>
            <a:ext cx="224028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1 finger = a · 2 fingers = b · 3 fingers = c</a:t>
            </a:r>
            <a:endParaRPr lang="en-US" sz="1150" dirty="0"/>
          </a:p>
        </p:txBody>
      </p:sp>
      <p:sp>
        <p:nvSpPr>
          <p:cNvPr id="23" name="pageTag_7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p.64 · Grammar 6–10</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1"/>
          <p:cNvSpPr/>
          <p:nvPr/>
        </p:nvSpPr>
        <p:spPr>
          <a:xfrm>
            <a:off x="54864" y="54864"/>
            <a:ext cx="9034272" cy="5033772"/>
          </a:xfrm>
          <a:prstGeom prst="rect">
            <a:avLst/>
          </a:prstGeom>
          <a:ln w="114300">
            <a:solidFill>
              <a:srgbClr val="A8E6B4"/>
            </a:solidFill>
            <a:prstDash val="solid"/>
          </a:ln>
        </p:spPr>
      </p:sp>
      <p:pic>
        <p:nvPicPr>
          <p:cNvPr id="4" name="logo_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Revise and Check p.64 · 11–15</a:t>
            </a:r>
            <a:endParaRPr lang="en-US" sz="900" dirty="0"/>
          </a:p>
        </p:txBody>
      </p:sp>
      <p:sp>
        <p:nvSpPr>
          <p:cNvPr id="6" name="timer_7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76"/>
          <p:cNvSpPr txBox="1"/>
          <p:nvPr/>
        </p:nvSpPr>
        <p:spPr>
          <a:xfrm rot="-120000">
            <a:off x="320040" y="676656"/>
            <a:ext cx="449884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Show me! a, b or c? (3)</a:t>
            </a:r>
            <a:endParaRPr lang="en-US" sz="1500" dirty="0"/>
          </a:p>
        </p:txBody>
      </p:sp>
      <p:sp>
        <p:nvSpPr>
          <p:cNvPr id="9" name="post_7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7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7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b or c? 3–2–1… show me with your fingers!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b o c? 3–2–1… mostratelo con le dita!</a:t>
            </a:r>
            <a:endParaRPr lang="en-US" sz="1250" dirty="0"/>
          </a:p>
        </p:txBody>
      </p:sp>
      <p:sp>
        <p:nvSpPr>
          <p:cNvPr id="12" name="box_80"/>
          <p:cNvSpPr txBox="1"/>
          <p:nvPr/>
        </p:nvSpPr>
        <p:spPr>
          <a:xfrm>
            <a:off x="2788920" y="1371600"/>
            <a:ext cx="482803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11  Many people believe that Columbus ___ America.  a didn't really discover  b wasn't really discovered  c weren't really discovered</a:t>
            </a:r>
            <a:endParaRPr lang="en-US" sz="1100" dirty="0"/>
          </a:p>
        </p:txBody>
      </p:sp>
      <p:sp>
        <p:nvSpPr>
          <p:cNvPr id="13" name="R1_a0"/>
          <p:cNvSpPr txBox="1"/>
          <p:nvPr/>
        </p:nvSpPr>
        <p:spPr>
          <a:xfrm>
            <a:off x="7671816" y="1408176"/>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didn't really discover</a:t>
            </a:r>
            <a:endParaRPr lang="en-US" sz="1100" dirty="0"/>
          </a:p>
        </p:txBody>
      </p:sp>
      <p:sp>
        <p:nvSpPr>
          <p:cNvPr id="14" name="box_81"/>
          <p:cNvSpPr txBox="1"/>
          <p:nvPr/>
        </p:nvSpPr>
        <p:spPr>
          <a:xfrm>
            <a:off x="2788920" y="2055571"/>
            <a:ext cx="482803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12  A I've just rung the doorbell, but there's no answer.  B They ___ in the garden. Have a look.  a can't be  b might be  c can be</a:t>
            </a:r>
            <a:endParaRPr lang="en-US" sz="1100" dirty="0"/>
          </a:p>
        </p:txBody>
      </p:sp>
      <p:sp>
        <p:nvSpPr>
          <p:cNvPr id="15" name="R2_a1"/>
          <p:cNvSpPr txBox="1"/>
          <p:nvPr/>
        </p:nvSpPr>
        <p:spPr>
          <a:xfrm>
            <a:off x="7671816" y="2092147"/>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might be</a:t>
            </a:r>
            <a:endParaRPr lang="en-US" sz="1100" dirty="0"/>
          </a:p>
        </p:txBody>
      </p:sp>
      <p:sp>
        <p:nvSpPr>
          <p:cNvPr id="16" name="box_82"/>
          <p:cNvSpPr txBox="1"/>
          <p:nvPr/>
        </p:nvSpPr>
        <p:spPr>
          <a:xfrm>
            <a:off x="2788920" y="2739542"/>
            <a:ext cx="482803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13  I'm 29 and he's a bit older than me, so he ___ in his thirties now.  a must be  b may be  c can't be</a:t>
            </a:r>
            <a:endParaRPr lang="en-US" sz="1100" dirty="0"/>
          </a:p>
        </p:txBody>
      </p:sp>
      <p:sp>
        <p:nvSpPr>
          <p:cNvPr id="17" name="R3_a2"/>
          <p:cNvSpPr txBox="1"/>
          <p:nvPr/>
        </p:nvSpPr>
        <p:spPr>
          <a:xfrm>
            <a:off x="7671816" y="2776118"/>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must be</a:t>
            </a:r>
            <a:endParaRPr lang="en-US" sz="1100" dirty="0"/>
          </a:p>
        </p:txBody>
      </p:sp>
      <p:sp>
        <p:nvSpPr>
          <p:cNvPr id="18" name="box_83"/>
          <p:cNvSpPr txBox="1"/>
          <p:nvPr/>
        </p:nvSpPr>
        <p:spPr>
          <a:xfrm>
            <a:off x="2788920" y="3423514"/>
            <a:ext cx="4828032"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14  A Ann and Simon have broken up!  B That ___ true! I saw them together just now.  a mustn't be  b might be  c can't be</a:t>
            </a:r>
            <a:endParaRPr lang="en-US" sz="1100" dirty="0"/>
          </a:p>
        </p:txBody>
      </p:sp>
      <p:sp>
        <p:nvSpPr>
          <p:cNvPr id="19" name="R4_a3"/>
          <p:cNvSpPr txBox="1"/>
          <p:nvPr/>
        </p:nvSpPr>
        <p:spPr>
          <a:xfrm>
            <a:off x="7671816" y="3460090"/>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 can't be</a:t>
            </a:r>
            <a:endParaRPr lang="en-US" sz="1100" dirty="0"/>
          </a:p>
        </p:txBody>
      </p:sp>
      <p:sp>
        <p:nvSpPr>
          <p:cNvPr id="20" name="box_84"/>
          <p:cNvSpPr txBox="1"/>
          <p:nvPr/>
        </p:nvSpPr>
        <p:spPr>
          <a:xfrm>
            <a:off x="2788920" y="4107485"/>
            <a:ext cx="4828032"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15  A Does your sister know Liam?  B She ___ him. I'm not sure.  a can't know  b may know  c can know</a:t>
            </a:r>
            <a:endParaRPr lang="en-US" sz="1100" dirty="0"/>
          </a:p>
        </p:txBody>
      </p:sp>
      <p:sp>
        <p:nvSpPr>
          <p:cNvPr id="21" name="R5_a4"/>
          <p:cNvSpPr txBox="1"/>
          <p:nvPr/>
        </p:nvSpPr>
        <p:spPr>
          <a:xfrm>
            <a:off x="7671816" y="4144061"/>
            <a:ext cx="115214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 may know</a:t>
            </a:r>
            <a:endParaRPr lang="en-US" sz="1100" dirty="0"/>
          </a:p>
        </p:txBody>
      </p:sp>
      <p:sp>
        <p:nvSpPr>
          <p:cNvPr id="22" name="sticky_85"/>
          <p:cNvSpPr txBox="1"/>
          <p:nvPr/>
        </p:nvSpPr>
        <p:spPr>
          <a:xfrm rot="-120000">
            <a:off x="411480" y="3931920"/>
            <a:ext cx="224028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1 finger = a · 2 fingers = b · 3 fingers = c</a:t>
            </a:r>
            <a:endParaRPr lang="en-US" sz="1150" dirty="0"/>
          </a:p>
        </p:txBody>
      </p:sp>
      <p:sp>
        <p:nvSpPr>
          <p:cNvPr id="23" name="pageTag_8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p.64 · Grammar 11–15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7"/>
          <p:cNvSpPr/>
          <p:nvPr/>
        </p:nvSpPr>
        <p:spPr>
          <a:xfrm>
            <a:off x="54864" y="54864"/>
            <a:ext cx="9034272" cy="5033772"/>
          </a:xfrm>
          <a:prstGeom prst="rect">
            <a:avLst/>
          </a:prstGeom>
          <a:ln w="114300">
            <a:solidFill>
              <a:srgbClr val="A8E6B4"/>
            </a:solidFill>
            <a:prstDash val="solid"/>
          </a:ln>
        </p:spPr>
      </p:sp>
      <p:pic>
        <p:nvPicPr>
          <p:cNvPr id="4" name="logo_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5A narrative tenses</a:t>
            </a:r>
            <a:endParaRPr lang="en-US" sz="900" dirty="0"/>
          </a:p>
        </p:txBody>
      </p:sp>
      <p:sp>
        <p:nvSpPr>
          <p:cNvPr id="6" name="timer_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9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92"/>
          <p:cNvSpPr txBox="1"/>
          <p:nvPr/>
        </p:nvSpPr>
        <p:spPr>
          <a:xfrm rot="-120000">
            <a:off x="320040" y="676656"/>
            <a:ext cx="519379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Fortunately… unfortunately…</a:t>
            </a:r>
            <a:endParaRPr lang="en-US" sz="1500" dirty="0"/>
          </a:p>
        </p:txBody>
      </p:sp>
      <p:sp>
        <p:nvSpPr>
          <p:cNvPr id="9" name="post_9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4"/>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9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Build a story together. Fortunately… / Unfortunately…</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Costruite una storia insieme. Per fortuna… / Purtroppo…</a:t>
            </a:r>
            <a:endParaRPr lang="en-US" sz="1200" dirty="0"/>
          </a:p>
        </p:txBody>
      </p:sp>
      <p:sp>
        <p:nvSpPr>
          <p:cNvPr id="12" name="iconBack_9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97" descr="pi:PiShuffle">    </p:cNvPr>
          <p:cNvPicPr>
            <a:picLocks noChangeAspect="1"/>
          </p:cNvPicPr>
          <p:nvPr/>
        </p:nvPicPr>
        <p:blipFill>
          <a:blip r:embed="rId3"/>
          <a:stretch>
            <a:fillRect/>
          </a:stretch>
        </p:blipFill>
        <p:spPr>
          <a:xfrm>
            <a:off x="914400" y="3474720"/>
            <a:ext cx="685800" cy="685800"/>
          </a:xfrm>
          <a:prstGeom prst="rect">
            <a:avLst/>
          </a:prstGeom>
        </p:spPr>
      </p:pic>
      <p:sp>
        <p:nvSpPr>
          <p:cNvPr id="14" name="num_98"/>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99"/>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Teacher starts: Last Saturday I was playing in an important tennis final…</a:t>
            </a:r>
            <a:endParaRPr lang="en-US" sz="1250" dirty="0"/>
          </a:p>
        </p:txBody>
      </p:sp>
      <p:sp>
        <p:nvSpPr>
          <p:cNvPr id="16" name="num_100"/>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01"/>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Team A adds a sentence beginning Fortunately… Team B adds one beginning Unfortunately…</a:t>
            </a:r>
            <a:endParaRPr lang="en-US" sz="950" dirty="0"/>
          </a:p>
        </p:txBody>
      </p:sp>
      <p:sp>
        <p:nvSpPr>
          <p:cNvPr id="18" name="num_102"/>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03"/>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Every sentence must use a DIFFERENT tense from the one before: past simple, past continuous or past perfect.</a:t>
            </a:r>
            <a:endParaRPr lang="en-US" sz="950" dirty="0"/>
          </a:p>
        </p:txBody>
      </p:sp>
      <p:sp>
        <p:nvSpPr>
          <p:cNvPr id="20" name="num_104"/>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05"/>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Wrong tense or no sentence in 15 seconds = the other team gets a point.</a:t>
            </a:r>
            <a:endParaRPr lang="en-US" sz="1250" dirty="0"/>
          </a:p>
        </p:txBody>
      </p:sp>
      <p:sp>
        <p:nvSpPr>
          <p:cNvPr id="22" name="num_106"/>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07"/>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After 8–10 sentences, a volunteer retells the whole story from memory.</a:t>
            </a:r>
            <a:endParaRPr lang="en-US" sz="1250" dirty="0"/>
          </a:p>
        </p:txBody>
      </p:sp>
      <p:sp>
        <p:nvSpPr>
          <p:cNvPr id="24" name="bubble_108"/>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Unfortunately, I had forgotten my racket. Fortunately, the referee was carrying a spare one…</a:t>
            </a:r>
            <a:endParaRPr lang="en-US" sz="1100" dirty="0"/>
          </a:p>
        </p:txBody>
      </p:sp>
      <p:sp>
        <p:nvSpPr>
          <p:cNvPr id="25" name="pageTag_10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5A · Grammar Bank 5A p.140 · past simple, past continuous, past perfect</a:t>
            </a:r>
            <a:endParaRPr lang="en-US" sz="105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0"/>
          <p:cNvSpPr/>
          <p:nvPr/>
        </p:nvSpPr>
        <p:spPr>
          <a:xfrm>
            <a:off x="54864" y="54864"/>
            <a:ext cx="9034272" cy="5033772"/>
          </a:xfrm>
          <a:prstGeom prst="rect">
            <a:avLst/>
          </a:prstGeom>
          <a:ln w="114300">
            <a:solidFill>
              <a:srgbClr val="A8E6B4"/>
            </a:solidFill>
            <a:prstDash val="solid"/>
          </a:ln>
        </p:spPr>
      </p:sp>
      <p:pic>
        <p:nvPicPr>
          <p:cNvPr id="4" name="logo_11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5B usually and used to</a:t>
            </a:r>
            <a:endParaRPr lang="en-US" sz="900" dirty="0"/>
          </a:p>
        </p:txBody>
      </p:sp>
      <p:sp>
        <p:nvSpPr>
          <p:cNvPr id="6" name="timer_11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115"/>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Then and now: spot the lie</a:t>
            </a:r>
            <a:endParaRPr lang="en-US" sz="1500" dirty="0"/>
          </a:p>
        </p:txBody>
      </p:sp>
      <p:sp>
        <p:nvSpPr>
          <p:cNvPr id="9" name="post_11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1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Write 3 sentences: 2 true, 1 false. Your partner finds the lie!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Scrivi 3 frasi: 2 vere, 1 falsa. Il tuo compagno trova la bugia!</a:t>
            </a:r>
            <a:endParaRPr lang="en-US" sz="1200" dirty="0"/>
          </a:p>
        </p:txBody>
      </p:sp>
      <p:sp>
        <p:nvSpPr>
          <p:cNvPr id="12" name="iconBack_11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20"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4" name="num_121"/>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22"/>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Write 3 sentences about your life: one with used to, one with didn't use to, one with usually + present.</a:t>
            </a:r>
            <a:endParaRPr lang="en-US" sz="950" dirty="0"/>
          </a:p>
        </p:txBody>
      </p:sp>
      <p:sp>
        <p:nvSpPr>
          <p:cNvPr id="16" name="num_123"/>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24"/>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Make TWO sentences true and ONE false. Make the lie believable!</a:t>
            </a:r>
            <a:endParaRPr lang="en-US" sz="1250" dirty="0"/>
          </a:p>
        </p:txBody>
      </p:sp>
      <p:sp>
        <p:nvSpPr>
          <p:cNvPr id="18" name="num_125"/>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26"/>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Read them to your partner. He / She asks 2 questions: Did you really use to…? Why…?</a:t>
            </a:r>
            <a:endParaRPr lang="en-US" sz="1050" dirty="0"/>
          </a:p>
        </p:txBody>
      </p:sp>
      <p:sp>
        <p:nvSpPr>
          <p:cNvPr id="20" name="num_127"/>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28"/>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Partner guesses the lie. Correct guess = 1 point. Swap.</a:t>
            </a:r>
            <a:endParaRPr lang="en-US" sz="1250" dirty="0"/>
          </a:p>
        </p:txBody>
      </p:sp>
      <p:sp>
        <p:nvSpPr>
          <p:cNvPr id="22" name="num_129"/>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30"/>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Best liars: read your sentences to the class!</a:t>
            </a:r>
            <a:endParaRPr lang="en-US" sz="1250" dirty="0"/>
          </a:p>
        </p:txBody>
      </p:sp>
      <p:sp>
        <p:nvSpPr>
          <p:cNvPr id="24" name="bubble_131"/>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i="1" dirty="0">
                <a:solidFill>
                  <a:srgbClr val="111111"/>
                </a:solidFill>
                <a:latin typeface="Calibri" pitchFamily="34" charset="0"/>
                <a:ea typeface="Calibri" pitchFamily="34" charset="-122"/>
                <a:cs typeface="Calibri" pitchFamily="34" charset="-120"/>
              </a:rPr>
              <a:t>I used to have long hair. · I didn't use to like pizza. · I usually get up at 6.</a:t>
            </a:r>
            <a:endParaRPr lang="en-US" sz="1150" dirty="0"/>
          </a:p>
        </p:txBody>
      </p:sp>
      <p:sp>
        <p:nvSpPr>
          <p:cNvPr id="25" name="pageTag_13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5B · Grammar Bank 5B p.141 · past and present habits and states</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3"/>
          <p:cNvSpPr/>
          <p:nvPr/>
        </p:nvSpPr>
        <p:spPr>
          <a:xfrm>
            <a:off x="54864" y="54864"/>
            <a:ext cx="9034272" cy="5033772"/>
          </a:xfrm>
          <a:prstGeom prst="rect">
            <a:avLst/>
          </a:prstGeom>
          <a:ln w="114300">
            <a:solidFill>
              <a:srgbClr val="A8E6B4"/>
            </a:solidFill>
            <a:prstDash val="solid"/>
          </a:ln>
        </p:spPr>
      </p:sp>
      <p:pic>
        <p:nvPicPr>
          <p:cNvPr id="4" name="logo_1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6A the passive</a:t>
            </a:r>
            <a:endParaRPr lang="en-US" sz="900" dirty="0"/>
          </a:p>
        </p:txBody>
      </p:sp>
      <p:sp>
        <p:nvSpPr>
          <p:cNvPr id="6" name="timer_13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3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138"/>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Quiz masters!</a:t>
            </a:r>
            <a:endParaRPr lang="en-US" sz="1500" dirty="0"/>
          </a:p>
        </p:txBody>
      </p:sp>
      <p:sp>
        <p:nvSpPr>
          <p:cNvPr id="9" name="post_13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40"/>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4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Write 4 quiz questions in the PASSIVE. Test the other team!</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Scrivete 4 domande al PASSIVO. Mettete alla prova l'altra squadra!</a:t>
            </a:r>
            <a:endParaRPr lang="en-US" sz="1200" dirty="0"/>
          </a:p>
        </p:txBody>
      </p:sp>
      <p:sp>
        <p:nvSpPr>
          <p:cNvPr id="12" name="iconBack_14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43" descr="pi:PiExam">    </p:cNvPr>
          <p:cNvPicPr>
            <a:picLocks noChangeAspect="1"/>
          </p:cNvPicPr>
          <p:nvPr/>
        </p:nvPicPr>
        <p:blipFill>
          <a:blip r:embed="rId3"/>
          <a:stretch>
            <a:fillRect/>
          </a:stretch>
        </p:blipFill>
        <p:spPr>
          <a:xfrm>
            <a:off x="914400" y="3474720"/>
            <a:ext cx="685800" cy="685800"/>
          </a:xfrm>
          <a:prstGeom prst="rect">
            <a:avLst/>
          </a:prstGeom>
        </p:spPr>
      </p:pic>
      <p:sp>
        <p:nvSpPr>
          <p:cNvPr id="14" name="num_144"/>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45"/>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In teams, write 4 quiz questions with a passive verb: films, books, songs, inventions, buildings, sport.</a:t>
            </a:r>
            <a:endParaRPr lang="en-US" sz="950" dirty="0"/>
          </a:p>
        </p:txBody>
      </p:sp>
      <p:sp>
        <p:nvSpPr>
          <p:cNvPr id="16" name="num_146"/>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47"/>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Use different tenses: was / were + participle, is / are + participle, has been…</a:t>
            </a:r>
            <a:endParaRPr lang="en-US" sz="1200" dirty="0"/>
          </a:p>
        </p:txBody>
      </p:sp>
      <p:sp>
        <p:nvSpPr>
          <p:cNvPr id="18" name="num_148"/>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49"/>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You must KNOW the answer! Teacher checks your questions (2 min).</a:t>
            </a:r>
            <a:endParaRPr lang="en-US" sz="1250" dirty="0"/>
          </a:p>
        </p:txBody>
      </p:sp>
      <p:sp>
        <p:nvSpPr>
          <p:cNvPr id="20" name="num_150"/>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51"/>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Teams take turns to ask. Correct answer = 1 point. Correct passive question = 1 extra point.</a:t>
            </a:r>
            <a:endParaRPr lang="en-US" sz="1000" dirty="0"/>
          </a:p>
        </p:txBody>
      </p:sp>
      <p:sp>
        <p:nvSpPr>
          <p:cNvPr id="22" name="num_152"/>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53"/>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Can the other team answer with a full passive sentence? +1 bonus!</a:t>
            </a:r>
            <a:endParaRPr lang="en-US" sz="1250" dirty="0"/>
          </a:p>
        </p:txBody>
      </p:sp>
      <p:sp>
        <p:nvSpPr>
          <p:cNvPr id="24" name="bubble_154"/>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Who was Schindler's List directed by? – It was directed by Steven Spielberg.</a:t>
            </a:r>
            <a:endParaRPr lang="en-US" sz="1100" dirty="0"/>
          </a:p>
        </p:txBody>
      </p:sp>
      <p:sp>
        <p:nvSpPr>
          <p:cNvPr id="25" name="pageTag_15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6A · Grammar Bank 6A p.142 · the passive (all tenses)</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6"/>
          <p:cNvSpPr/>
          <p:nvPr/>
        </p:nvSpPr>
        <p:spPr>
          <a:xfrm>
            <a:off x="54864" y="54864"/>
            <a:ext cx="9034272" cy="5033772"/>
          </a:xfrm>
          <a:prstGeom prst="rect">
            <a:avLst/>
          </a:prstGeom>
          <a:ln w="114300">
            <a:solidFill>
              <a:srgbClr val="A8E6B4"/>
            </a:solidFill>
            <a:prstDash val="solid"/>
          </a:ln>
        </p:spPr>
      </p:sp>
      <p:pic>
        <p:nvPicPr>
          <p:cNvPr id="4" name="logo_1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Revise and Check p.64</a:t>
            </a:r>
            <a:endParaRPr lang="en-US" sz="900" dirty="0"/>
          </a:p>
        </p:txBody>
      </p:sp>
      <p:sp>
        <p:nvSpPr>
          <p:cNvPr id="6" name="timer_15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161"/>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Vocabulary relay race</a:t>
            </a:r>
            <a:endParaRPr lang="en-US" sz="1500" dirty="0"/>
          </a:p>
        </p:txBody>
      </p:sp>
      <p:sp>
        <p:nvSpPr>
          <p:cNvPr id="9" name="post_16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6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One runner per team. Write the answer on the board – fast!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Un corridore per squadra. Scrivi la risposta alla lavagna – veloce!</a:t>
            </a:r>
            <a:endParaRPr lang="en-US" sz="1200" dirty="0"/>
          </a:p>
        </p:txBody>
      </p:sp>
      <p:sp>
        <p:nvSpPr>
          <p:cNvPr id="12" name="iconBack_16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66" descr="pi:PiPersonSimpleRun">    </p:cNvPr>
          <p:cNvPicPr>
            <a:picLocks noChangeAspect="1"/>
          </p:cNvPicPr>
          <p:nvPr/>
        </p:nvPicPr>
        <p:blipFill>
          <a:blip r:embed="rId3"/>
          <a:stretch>
            <a:fillRect/>
          </a:stretch>
        </p:blipFill>
        <p:spPr>
          <a:xfrm>
            <a:off x="914400" y="3474720"/>
            <a:ext cx="685800" cy="685800"/>
          </a:xfrm>
          <a:prstGeom prst="rect">
            <a:avLst/>
          </a:prstGeom>
        </p:spPr>
      </p:pic>
      <p:sp>
        <p:nvSpPr>
          <p:cNvPr id="14" name="box_167"/>
          <p:cNvSpPr txBox="1"/>
          <p:nvPr/>
        </p:nvSpPr>
        <p:spPr>
          <a:xfrm>
            <a:off x="2788920" y="1371600"/>
            <a:ext cx="2172614"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The body</a:t>
            </a:r>
            <a:endParaRPr lang="en-US" sz="1300" dirty="0"/>
          </a:p>
        </p:txBody>
      </p:sp>
      <p:sp>
        <p:nvSpPr>
          <p:cNvPr id="15" name="R1_a0"/>
          <p:cNvSpPr txBox="1"/>
          <p:nvPr/>
        </p:nvSpPr>
        <p:spPr>
          <a:xfrm>
            <a:off x="5016398" y="1408176"/>
            <a:ext cx="380756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lips / mouth · 2 eyes · 3 nose · 4 hands · 5 teeth</a:t>
            </a:r>
            <a:endParaRPr lang="en-US" sz="1200" dirty="0"/>
          </a:p>
        </p:txBody>
      </p:sp>
      <p:sp>
        <p:nvSpPr>
          <p:cNvPr id="16" name="box_168"/>
          <p:cNvSpPr txBox="1"/>
          <p:nvPr/>
        </p:nvSpPr>
        <p:spPr>
          <a:xfrm>
            <a:off x="2788920" y="2055571"/>
            <a:ext cx="2172614"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Sport</a:t>
            </a:r>
            <a:endParaRPr lang="en-US" sz="1300" dirty="0"/>
          </a:p>
        </p:txBody>
      </p:sp>
      <p:sp>
        <p:nvSpPr>
          <p:cNvPr id="17" name="R2_a1"/>
          <p:cNvSpPr txBox="1"/>
          <p:nvPr/>
        </p:nvSpPr>
        <p:spPr>
          <a:xfrm>
            <a:off x="5016398" y="2092147"/>
            <a:ext cx="380756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beat · 2 court · 3 get injured · 4 scored · 5 go</a:t>
            </a:r>
            <a:endParaRPr lang="en-US" sz="1200" dirty="0"/>
          </a:p>
        </p:txBody>
      </p:sp>
      <p:sp>
        <p:nvSpPr>
          <p:cNvPr id="18" name="box_169"/>
          <p:cNvSpPr txBox="1"/>
          <p:nvPr/>
        </p:nvSpPr>
        <p:spPr>
          <a:xfrm>
            <a:off x="2788920" y="2739542"/>
            <a:ext cx="2172614"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  Relationships</a:t>
            </a:r>
            <a:endParaRPr lang="en-US" sz="1300" dirty="0"/>
          </a:p>
        </p:txBody>
      </p:sp>
      <p:sp>
        <p:nvSpPr>
          <p:cNvPr id="19" name="R3_a2"/>
          <p:cNvSpPr txBox="1"/>
          <p:nvPr/>
        </p:nvSpPr>
        <p:spPr>
          <a:xfrm>
            <a:off x="5016398" y="2776118"/>
            <a:ext cx="380756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close · 2 common · 3 touch · 4 got · 5 fiancé</a:t>
            </a:r>
            <a:endParaRPr lang="en-US" sz="1200" dirty="0"/>
          </a:p>
        </p:txBody>
      </p:sp>
      <p:sp>
        <p:nvSpPr>
          <p:cNvPr id="20" name="box_170"/>
          <p:cNvSpPr txBox="1"/>
          <p:nvPr/>
        </p:nvSpPr>
        <p:spPr>
          <a:xfrm>
            <a:off x="2788920" y="3423514"/>
            <a:ext cx="2172614"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d  Cinema</a:t>
            </a:r>
            <a:endParaRPr lang="en-US" sz="1300" dirty="0"/>
          </a:p>
        </p:txBody>
      </p:sp>
      <p:sp>
        <p:nvSpPr>
          <p:cNvPr id="21" name="R4_a3"/>
          <p:cNvSpPr txBox="1"/>
          <p:nvPr/>
        </p:nvSpPr>
        <p:spPr>
          <a:xfrm>
            <a:off x="5016398" y="3460090"/>
            <a:ext cx="380756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soundtrack · 2 subtitles · 3 special effects · 4 star · 5 scene</a:t>
            </a:r>
            <a:endParaRPr lang="en-US" sz="1200" dirty="0"/>
          </a:p>
        </p:txBody>
      </p:sp>
      <p:sp>
        <p:nvSpPr>
          <p:cNvPr id="22" name="box_171"/>
          <p:cNvSpPr txBox="1"/>
          <p:nvPr/>
        </p:nvSpPr>
        <p:spPr>
          <a:xfrm>
            <a:off x="2788920" y="4107485"/>
            <a:ext cx="2172614"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e  Phrasal verbs</a:t>
            </a:r>
            <a:endParaRPr lang="en-US" sz="1300" dirty="0"/>
          </a:p>
        </p:txBody>
      </p:sp>
      <p:sp>
        <p:nvSpPr>
          <p:cNvPr id="23" name="R5_a4"/>
          <p:cNvSpPr txBox="1"/>
          <p:nvPr/>
        </p:nvSpPr>
        <p:spPr>
          <a:xfrm>
            <a:off x="5016398" y="4144061"/>
            <a:ext cx="380756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out · 2 off · 3 up · 4 out · 5 on</a:t>
            </a:r>
            <a:endParaRPr lang="en-US" sz="1200" dirty="0"/>
          </a:p>
        </p:txBody>
      </p:sp>
      <p:sp>
        <p:nvSpPr>
          <p:cNvPr id="24" name="pageTag_17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p.64 · Vocabulary a–e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3"/>
          <p:cNvSpPr/>
          <p:nvPr/>
        </p:nvSpPr>
        <p:spPr>
          <a:xfrm>
            <a:off x="54864" y="54864"/>
            <a:ext cx="9034272" cy="5033772"/>
          </a:xfrm>
          <a:prstGeom prst="rect">
            <a:avLst/>
          </a:prstGeom>
          <a:ln w="114300">
            <a:solidFill>
              <a:srgbClr val="A8E6B4"/>
            </a:solidFill>
            <a:prstDash val="solid"/>
          </a:ln>
        </p:spPr>
      </p:sp>
      <p:pic>
        <p:nvPicPr>
          <p:cNvPr id="4" name="logo_17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Revise and Check p.64</a:t>
            </a:r>
            <a:endParaRPr lang="en-US" sz="900" dirty="0"/>
          </a:p>
        </p:txBody>
      </p:sp>
      <p:sp>
        <p:nvSpPr>
          <p:cNvPr id="6" name="timer_17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7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178"/>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Say it right!</a:t>
            </a:r>
            <a:endParaRPr lang="en-US" sz="1500" dirty="0"/>
          </a:p>
        </p:txBody>
      </p:sp>
      <p:sp>
        <p:nvSpPr>
          <p:cNvPr id="9" name="post_17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8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 which sound? d: which syllable is stressed? Say them aloud!</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 quale suono? d: quale sillaba è accentata? Ditele ad alta voce!</a:t>
            </a:r>
            <a:endParaRPr lang="en-US" sz="1200" dirty="0"/>
          </a:p>
        </p:txBody>
      </p:sp>
      <p:sp>
        <p:nvSpPr>
          <p:cNvPr id="12" name="iconBack_18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83" descr="pi:PiSpeakerHigh">    </p:cNvPr>
          <p:cNvPicPr>
            <a:picLocks noChangeAspect="1"/>
          </p:cNvPicPr>
          <p:nvPr/>
        </p:nvPicPr>
        <p:blipFill>
          <a:blip r:embed="rId3"/>
          <a:stretch>
            <a:fillRect/>
          </a:stretch>
        </p:blipFill>
        <p:spPr>
          <a:xfrm>
            <a:off x="914400" y="3474720"/>
            <a:ext cx="685800" cy="685800"/>
          </a:xfrm>
          <a:prstGeom prst="rect">
            <a:avLst/>
          </a:prstGeom>
        </p:spPr>
      </p:pic>
      <p:sp>
        <p:nvSpPr>
          <p:cNvPr id="14" name="box_184"/>
          <p:cNvSpPr txBox="1"/>
          <p:nvPr/>
        </p:nvSpPr>
        <p:spPr>
          <a:xfrm>
            <a:off x="2788920" y="1371600"/>
            <a:ext cx="132908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c  booked</a:t>
            </a:r>
            <a:endParaRPr lang="en-US" sz="1300" dirty="0"/>
          </a:p>
        </p:txBody>
      </p:sp>
      <p:sp>
        <p:nvSpPr>
          <p:cNvPr id="15" name="R1_a0"/>
          <p:cNvSpPr txBox="1"/>
          <p:nvPr/>
        </p:nvSpPr>
        <p:spPr>
          <a:xfrm>
            <a:off x="4172864" y="1408176"/>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 tie</a:t>
            </a:r>
            <a:endParaRPr lang="en-US" sz="1200" dirty="0"/>
          </a:p>
        </p:txBody>
      </p:sp>
      <p:sp>
        <p:nvSpPr>
          <p:cNvPr id="16" name="box_185"/>
          <p:cNvSpPr txBox="1"/>
          <p:nvPr/>
        </p:nvSpPr>
        <p:spPr>
          <a:xfrm>
            <a:off x="5870448" y="1371600"/>
            <a:ext cx="132908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d  re|fe|ree</a:t>
            </a:r>
            <a:endParaRPr lang="en-US" sz="1300" dirty="0"/>
          </a:p>
        </p:txBody>
      </p:sp>
      <p:sp>
        <p:nvSpPr>
          <p:cNvPr id="17" name="R2_a1"/>
          <p:cNvSpPr txBox="1"/>
          <p:nvPr/>
        </p:nvSpPr>
        <p:spPr>
          <a:xfrm>
            <a:off x="7254392" y="1408176"/>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refeREE</a:t>
            </a:r>
            <a:endParaRPr lang="en-US" sz="1200" dirty="0"/>
          </a:p>
        </p:txBody>
      </p:sp>
      <p:sp>
        <p:nvSpPr>
          <p:cNvPr id="18" name="box_186"/>
          <p:cNvSpPr txBox="1"/>
          <p:nvPr/>
        </p:nvSpPr>
        <p:spPr>
          <a:xfrm>
            <a:off x="2788920" y="2055571"/>
            <a:ext cx="132908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c  crowd</a:t>
            </a:r>
            <a:endParaRPr lang="en-US" sz="1300" dirty="0"/>
          </a:p>
        </p:txBody>
      </p:sp>
      <p:sp>
        <p:nvSpPr>
          <p:cNvPr id="19" name="R3_a2"/>
          <p:cNvSpPr txBox="1"/>
          <p:nvPr/>
        </p:nvSpPr>
        <p:spPr>
          <a:xfrm>
            <a:off x="4172864" y="2092147"/>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/aʊ/ owl</a:t>
            </a:r>
            <a:endParaRPr lang="en-US" sz="1200" dirty="0"/>
          </a:p>
        </p:txBody>
      </p:sp>
      <p:sp>
        <p:nvSpPr>
          <p:cNvPr id="20" name="box_187"/>
          <p:cNvSpPr txBox="1"/>
          <p:nvPr/>
        </p:nvSpPr>
        <p:spPr>
          <a:xfrm>
            <a:off x="5870448" y="2055571"/>
            <a:ext cx="132908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d  re|view</a:t>
            </a:r>
            <a:endParaRPr lang="en-US" sz="1300" dirty="0"/>
          </a:p>
        </p:txBody>
      </p:sp>
      <p:sp>
        <p:nvSpPr>
          <p:cNvPr id="21" name="R4_a3"/>
          <p:cNvSpPr txBox="1"/>
          <p:nvPr/>
        </p:nvSpPr>
        <p:spPr>
          <a:xfrm>
            <a:off x="7254392" y="2092147"/>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reVIEW</a:t>
            </a:r>
            <a:endParaRPr lang="en-US" sz="1200" dirty="0"/>
          </a:p>
        </p:txBody>
      </p:sp>
      <p:sp>
        <p:nvSpPr>
          <p:cNvPr id="22" name="box_188"/>
          <p:cNvSpPr txBox="1"/>
          <p:nvPr/>
        </p:nvSpPr>
        <p:spPr>
          <a:xfrm>
            <a:off x="2788920" y="2739542"/>
            <a:ext cx="132908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c  eyes</a:t>
            </a:r>
            <a:endParaRPr lang="en-US" sz="1300" dirty="0"/>
          </a:p>
        </p:txBody>
      </p:sp>
      <p:sp>
        <p:nvSpPr>
          <p:cNvPr id="23" name="R5_a4"/>
          <p:cNvSpPr txBox="1"/>
          <p:nvPr/>
        </p:nvSpPr>
        <p:spPr>
          <a:xfrm>
            <a:off x="4172864" y="2776118"/>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/z/ zebra</a:t>
            </a:r>
            <a:endParaRPr lang="en-US" sz="1200" dirty="0"/>
          </a:p>
        </p:txBody>
      </p:sp>
      <p:sp>
        <p:nvSpPr>
          <p:cNvPr id="24" name="box_189"/>
          <p:cNvSpPr txBox="1"/>
          <p:nvPr/>
        </p:nvSpPr>
        <p:spPr>
          <a:xfrm>
            <a:off x="5870448" y="2739542"/>
            <a:ext cx="1329080"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d  spec|ta|tors</a:t>
            </a:r>
            <a:endParaRPr lang="en-US" sz="1300" dirty="0"/>
          </a:p>
        </p:txBody>
      </p:sp>
      <p:sp>
        <p:nvSpPr>
          <p:cNvPr id="25" name="R6_a5"/>
          <p:cNvSpPr txBox="1"/>
          <p:nvPr/>
        </p:nvSpPr>
        <p:spPr>
          <a:xfrm>
            <a:off x="7254392" y="2776118"/>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specTAtors</a:t>
            </a:r>
            <a:endParaRPr lang="en-US" sz="1200" dirty="0"/>
          </a:p>
        </p:txBody>
      </p:sp>
      <p:sp>
        <p:nvSpPr>
          <p:cNvPr id="26" name="box_190"/>
          <p:cNvSpPr txBox="1"/>
          <p:nvPr/>
        </p:nvSpPr>
        <p:spPr>
          <a:xfrm>
            <a:off x="2788920" y="3423514"/>
            <a:ext cx="132908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7  c  shoulders</a:t>
            </a:r>
            <a:endParaRPr lang="en-US" sz="1300" dirty="0"/>
          </a:p>
        </p:txBody>
      </p:sp>
      <p:sp>
        <p:nvSpPr>
          <p:cNvPr id="27" name="R7_a6"/>
          <p:cNvSpPr txBox="1"/>
          <p:nvPr/>
        </p:nvSpPr>
        <p:spPr>
          <a:xfrm>
            <a:off x="4172864" y="3460090"/>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/əʊ/ phone</a:t>
            </a:r>
            <a:endParaRPr lang="en-US" sz="1200" dirty="0"/>
          </a:p>
        </p:txBody>
      </p:sp>
      <p:sp>
        <p:nvSpPr>
          <p:cNvPr id="28" name="box_191"/>
          <p:cNvSpPr txBox="1"/>
          <p:nvPr/>
        </p:nvSpPr>
        <p:spPr>
          <a:xfrm>
            <a:off x="5870448" y="3423514"/>
            <a:ext cx="132908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8  d  di|rec|tor</a:t>
            </a:r>
            <a:endParaRPr lang="en-US" sz="1300" dirty="0"/>
          </a:p>
        </p:txBody>
      </p:sp>
      <p:sp>
        <p:nvSpPr>
          <p:cNvPr id="29" name="R8_a7"/>
          <p:cNvSpPr txBox="1"/>
          <p:nvPr/>
        </p:nvSpPr>
        <p:spPr>
          <a:xfrm>
            <a:off x="7254392" y="3460090"/>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diRECtor</a:t>
            </a:r>
            <a:endParaRPr lang="en-US" sz="1200" dirty="0"/>
          </a:p>
        </p:txBody>
      </p:sp>
      <p:sp>
        <p:nvSpPr>
          <p:cNvPr id="30" name="box_192"/>
          <p:cNvSpPr txBox="1"/>
          <p:nvPr/>
        </p:nvSpPr>
        <p:spPr>
          <a:xfrm>
            <a:off x="2788920" y="4107485"/>
            <a:ext cx="132908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9  c  world</a:t>
            </a:r>
            <a:endParaRPr lang="en-US" sz="1300" dirty="0"/>
          </a:p>
        </p:txBody>
      </p:sp>
      <p:sp>
        <p:nvSpPr>
          <p:cNvPr id="31" name="R9_a8"/>
          <p:cNvSpPr txBox="1"/>
          <p:nvPr/>
        </p:nvSpPr>
        <p:spPr>
          <a:xfrm>
            <a:off x="4172864" y="4144061"/>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/ɜː/ bird</a:t>
            </a:r>
            <a:endParaRPr lang="en-US" sz="1200" dirty="0"/>
          </a:p>
        </p:txBody>
      </p:sp>
      <p:sp>
        <p:nvSpPr>
          <p:cNvPr id="32" name="box_193"/>
          <p:cNvSpPr txBox="1"/>
          <p:nvPr/>
        </p:nvSpPr>
        <p:spPr>
          <a:xfrm>
            <a:off x="5870448" y="4107485"/>
            <a:ext cx="132908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10  d  co|lleague</a:t>
            </a:r>
            <a:endParaRPr lang="en-US" sz="1300" dirty="0"/>
          </a:p>
        </p:txBody>
      </p:sp>
      <p:sp>
        <p:nvSpPr>
          <p:cNvPr id="33" name="R10_a9"/>
          <p:cNvSpPr txBox="1"/>
          <p:nvPr/>
        </p:nvSpPr>
        <p:spPr>
          <a:xfrm>
            <a:off x="7254392" y="4144061"/>
            <a:ext cx="1569568"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COLleague</a:t>
            </a:r>
            <a:endParaRPr lang="en-US" sz="1200" dirty="0"/>
          </a:p>
        </p:txBody>
      </p:sp>
      <p:sp>
        <p:nvSpPr>
          <p:cNvPr id="34" name="pageTag_1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p.64 · Pronunciation c, 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5"/>
          <p:cNvSpPr/>
          <p:nvPr/>
        </p:nvSpPr>
        <p:spPr>
          <a:xfrm>
            <a:off x="54864" y="54864"/>
            <a:ext cx="9034272" cy="5033772"/>
          </a:xfrm>
          <a:prstGeom prst="rect">
            <a:avLst/>
          </a:prstGeom>
          <a:ln w="114300">
            <a:solidFill>
              <a:srgbClr val="A8E6B4"/>
            </a:solidFill>
            <a:prstDash val="solid"/>
          </a:ln>
        </p:spPr>
      </p:sp>
      <p:pic>
        <p:nvPicPr>
          <p:cNvPr id="4" name="logo_1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Can you understand these people? 5&amp;6</a:t>
            </a:r>
            <a:endParaRPr lang="en-US" sz="900" dirty="0"/>
          </a:p>
        </p:txBody>
      </p:sp>
      <p:sp>
        <p:nvSpPr>
          <p:cNvPr id="6" name="timer_1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200"/>
          <p:cNvSpPr txBox="1"/>
          <p:nvPr/>
        </p:nvSpPr>
        <p:spPr>
          <a:xfrm rot="-120000">
            <a:off x="320040" y="676656"/>
            <a:ext cx="467258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Can you understand them?</a:t>
            </a:r>
            <a:endParaRPr lang="en-US" sz="1500" dirty="0"/>
          </a:p>
        </p:txBody>
      </p:sp>
      <p:sp>
        <p:nvSpPr>
          <p:cNvPr id="9" name="post_20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2"/>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2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the five interviews. Choose a, b or c.</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le cinque interviste. Scegli a, b o c.</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204"/>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Can you understand these people? 5&amp;6</a:t>
            </a:r>
            <a:endParaRPr lang="en-US" sz="1100" dirty="0"/>
          </a:p>
          <a:p>
            <a:pPr indent="0" marL="0">
              <a:buNone/>
            </a:pPr>
            <a:r>
              <a:rPr lang="en-US" sz="950" dirty="0">
                <a:solidFill>
                  <a:srgbClr val="475569"/>
                </a:solidFill>
                <a:latin typeface="Calibri" pitchFamily="34" charset="0"/>
                <a:ea typeface="Calibri" pitchFamily="34" charset="-122"/>
                <a:cs typeface="Calibri" pitchFamily="34" charset="-120"/>
              </a:rPr>
              <a:t>Revise and Check 5&amp;6 · SB p.65 · video / audio 6.21 (3'04")</a:t>
            </a:r>
            <a:endParaRPr lang="en-US" sz="1100" dirty="0"/>
          </a:p>
        </p:txBody>
      </p:sp>
      <p:sp>
        <p:nvSpPr>
          <p:cNvPr id="14" name="wyw_205"/>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206"/>
          <p:cNvSpPr txBox="1"/>
          <p:nvPr/>
        </p:nvSpPr>
        <p:spPr>
          <a:xfrm>
            <a:off x="5852160" y="1810512"/>
            <a:ext cx="178308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Philomena enjoys…</a:t>
            </a:r>
            <a:endParaRPr lang="en-US" sz="1200" dirty="0"/>
          </a:p>
        </p:txBody>
      </p:sp>
      <p:sp>
        <p:nvSpPr>
          <p:cNvPr id="16" name="R1_va0"/>
          <p:cNvSpPr txBox="1"/>
          <p:nvPr/>
        </p:nvSpPr>
        <p:spPr>
          <a:xfrm>
            <a:off x="7680960" y="1837944"/>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watching diving</a:t>
            </a:r>
            <a:endParaRPr lang="en-US" sz="1050" dirty="0"/>
          </a:p>
        </p:txBody>
      </p:sp>
      <p:sp>
        <p:nvSpPr>
          <p:cNvPr id="17" name="box_207"/>
          <p:cNvSpPr txBox="1"/>
          <p:nvPr/>
        </p:nvSpPr>
        <p:spPr>
          <a:xfrm>
            <a:off x="5852160" y="2395728"/>
            <a:ext cx="178308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Rachel's friends who met online…</a:t>
            </a:r>
            <a:endParaRPr lang="en-US" sz="1100" dirty="0"/>
          </a:p>
        </p:txBody>
      </p:sp>
      <p:sp>
        <p:nvSpPr>
          <p:cNvPr id="18" name="R1_va1"/>
          <p:cNvSpPr txBox="1"/>
          <p:nvPr/>
        </p:nvSpPr>
        <p:spPr>
          <a:xfrm>
            <a:off x="7680960" y="2423160"/>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broke up</a:t>
            </a:r>
            <a:endParaRPr lang="en-US" sz="1050" dirty="0"/>
          </a:p>
        </p:txBody>
      </p:sp>
      <p:sp>
        <p:nvSpPr>
          <p:cNvPr id="19" name="box_208"/>
          <p:cNvSpPr txBox="1"/>
          <p:nvPr/>
        </p:nvSpPr>
        <p:spPr>
          <a:xfrm>
            <a:off x="5852160" y="2980944"/>
            <a:ext cx="178308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Aileen kept the tissue in…</a:t>
            </a:r>
            <a:endParaRPr lang="en-US" sz="1100" dirty="0"/>
          </a:p>
        </p:txBody>
      </p:sp>
      <p:sp>
        <p:nvSpPr>
          <p:cNvPr id="20" name="R1_va2"/>
          <p:cNvSpPr txBox="1"/>
          <p:nvPr/>
        </p:nvSpPr>
        <p:spPr>
          <a:xfrm>
            <a:off x="7680960" y="3008376"/>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her pocket</a:t>
            </a:r>
            <a:endParaRPr lang="en-US" sz="1050" dirty="0"/>
          </a:p>
        </p:txBody>
      </p:sp>
      <p:sp>
        <p:nvSpPr>
          <p:cNvPr id="21" name="box_209"/>
          <p:cNvSpPr txBox="1"/>
          <p:nvPr/>
        </p:nvSpPr>
        <p:spPr>
          <a:xfrm>
            <a:off x="5852160" y="3566160"/>
            <a:ext cx="178308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Coleen…</a:t>
            </a:r>
            <a:endParaRPr lang="en-US" sz="1250" dirty="0"/>
          </a:p>
        </p:txBody>
      </p:sp>
      <p:sp>
        <p:nvSpPr>
          <p:cNvPr id="22" name="R1_va3"/>
          <p:cNvSpPr txBox="1"/>
          <p:nvPr/>
        </p:nvSpPr>
        <p:spPr>
          <a:xfrm>
            <a:off x="7680960" y="3593592"/>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 loves the books and the films</a:t>
            </a:r>
            <a:endParaRPr lang="en-US" sz="1050" dirty="0"/>
          </a:p>
        </p:txBody>
      </p:sp>
      <p:sp>
        <p:nvSpPr>
          <p:cNvPr id="23" name="box_210"/>
          <p:cNvSpPr txBox="1"/>
          <p:nvPr/>
        </p:nvSpPr>
        <p:spPr>
          <a:xfrm>
            <a:off x="5852160" y="4151376"/>
            <a:ext cx="178308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Miranda chose her profile photo because…</a:t>
            </a:r>
            <a:endParaRPr lang="en-US" sz="1100" dirty="0"/>
          </a:p>
        </p:txBody>
      </p:sp>
      <p:sp>
        <p:nvSpPr>
          <p:cNvPr id="24" name="R1_va4"/>
          <p:cNvSpPr txBox="1"/>
          <p:nvPr/>
        </p:nvSpPr>
        <p:spPr>
          <a:xfrm>
            <a:off x="7680960" y="4178808"/>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she liked how she looked</a:t>
            </a:r>
            <a:endParaRPr lang="en-US" sz="1050" dirty="0"/>
          </a:p>
        </p:txBody>
      </p:sp>
      <p:sp>
        <p:nvSpPr>
          <p:cNvPr id="25" name="bubble_211"/>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Your answers? Ask a partner the five questions!</a:t>
            </a:r>
            <a:endParaRPr lang="en-US" sz="1200" dirty="0"/>
          </a:p>
        </p:txBody>
      </p:sp>
      <p:sp>
        <p:nvSpPr>
          <p:cNvPr id="26" name="pageTag_21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p.65 · Can you understand these people? 1–5 · video / audio 6.21</a:t>
            </a:r>
            <a:endParaRPr lang="en-US" sz="1050" dirty="0"/>
          </a:p>
        </p:txBody>
      </p:sp>
      <p:sp>
        <p:nvSpPr>
          <p:cNvPr id="27" name="pframe_213"/>
          <p:cNvSpPr/>
          <p:nvPr/>
        </p:nvSpPr>
        <p:spPr>
          <a:xfrm rot="-120000">
            <a:off x="365760" y="3611880"/>
            <a:ext cx="2103120" cy="749808"/>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214" descr="picture">    </p:cNvPr>
          <p:cNvPicPr>
            <a:picLocks noChangeAspect="1"/>
          </p:cNvPicPr>
          <p:nvPr/>
        </p:nvPicPr>
        <p:blipFill>
          <a:blip r:embed="rId6"/>
          <a:srcRect l="0" r="0" t="0" b="0"/>
          <a:stretch/>
        </p:blipFill>
        <p:spPr>
          <a:xfrm rot="-120000">
            <a:off x="438912" y="3685032"/>
            <a:ext cx="1956816" cy="530352"/>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2"/>
                                        </p:tgtEl>
                                      </p:cBhvr>
                                    </p:cmd>
                                  </p:childTnLst>
                                </p:cTn>
                              </p:par>
                            </p:childTnLst>
                          </p:cTn>
                        </p:par>
                      </p:childTnLst>
                    </p:cTn>
                  </p:par>
                </p:childTnLst>
              </p:cTn>
              <p:nextCondLst>
                <p:cond evt="onClick" delay="0">
                  <p:tgtEl>
                    <p:spTgt spid="12"/>
                  </p:tgtEl>
                </p:cond>
              </p:nextCondLst>
            </p:seq>
            <p:video>
              <p:cMediaNode vol="80000">
                <p:cTn id="25" fill="hold" display="0">
                  <p:stCondLst>
                    <p:cond delay="indefinite"/>
                  </p:stCondLst>
                </p:cTn>
                <p:tgtEl>
                  <p:spTgt spid="1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5"/>
          <p:cNvSpPr/>
          <p:nvPr/>
        </p:nvSpPr>
        <p:spPr>
          <a:xfrm>
            <a:off x="54864" y="54864"/>
            <a:ext cx="9034272" cy="5033772"/>
          </a:xfrm>
          <a:prstGeom prst="rect">
            <a:avLst/>
          </a:prstGeom>
          <a:ln w="114300">
            <a:solidFill>
              <a:srgbClr val="A8E6B4"/>
            </a:solidFill>
            <a:prstDash val="solid"/>
          </a:ln>
        </p:spPr>
      </p:sp>
      <p:pic>
        <p:nvPicPr>
          <p:cNvPr id="4" name="logo_21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a:t>
            </a:r>
            <a:endParaRPr lang="en-US" sz="900" dirty="0"/>
          </a:p>
        </p:txBody>
      </p:sp>
      <p:sp>
        <p:nvSpPr>
          <p:cNvPr id="6" name="timer_21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21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8" name="title_220"/>
          <p:cNvSpPr txBox="1"/>
          <p:nvPr/>
        </p:nvSpPr>
        <p:spPr>
          <a:xfrm rot="-120000">
            <a:off x="320040" y="676656"/>
            <a:ext cx="189280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Draw it!</a:t>
            </a:r>
            <a:endParaRPr lang="en-US" sz="1500" dirty="0"/>
          </a:p>
        </p:txBody>
      </p:sp>
      <p:sp>
        <p:nvSpPr>
          <p:cNvPr id="9" name="post_22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2"/>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2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Draw the word for your team. No letters, no numbers!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Disegna la parola per la tua squadra. Niente lettere, niente numeri!</a:t>
            </a:r>
            <a:endParaRPr lang="en-US" sz="1200" dirty="0"/>
          </a:p>
        </p:txBody>
      </p:sp>
      <p:sp>
        <p:nvSpPr>
          <p:cNvPr id="12" name="n_224"/>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225"/>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ARTIST stands at the board, looking at the screen.</a:t>
            </a:r>
            <a:endParaRPr lang="en-US" sz="1400" dirty="0"/>
          </a:p>
        </p:txBody>
      </p:sp>
      <p:sp>
        <p:nvSpPr>
          <p:cNvPr id="14" name="n_226"/>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227"/>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228"/>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229"/>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clicks → a word appears. The artist draws it on the board: no letters, no numbers, no speaking!</a:t>
            </a:r>
            <a:endParaRPr lang="en-US" sz="1250" dirty="0"/>
          </a:p>
        </p:txBody>
      </p:sp>
      <p:sp>
        <p:nvSpPr>
          <p:cNvPr id="18" name="n_230"/>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231"/>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artist's team has 60 seconds to guess. Full correct word or phrase = 1 point.</a:t>
            </a:r>
            <a:endParaRPr lang="en-US" sz="1250" dirty="0"/>
          </a:p>
        </p:txBody>
      </p:sp>
      <p:sp>
        <p:nvSpPr>
          <p:cNvPr id="20" name="n_232"/>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233"/>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Next card = the other team. The other team can 'steal' with one guess if time runs out.</a:t>
            </a:r>
            <a:endParaRPr lang="en-US" sz="1250" dirty="0"/>
          </a:p>
        </p:txBody>
      </p:sp>
      <p:sp>
        <p:nvSpPr>
          <p:cNvPr id="22" name="pageTag_23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Banks Sport p.157 · Relationships p.158 · Cinema p.159 · The body p.160</a:t>
            </a:r>
            <a:endParaRPr lang="en-US" sz="10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5"/>
          <p:cNvSpPr/>
          <p:nvPr/>
        </p:nvSpPr>
        <p:spPr>
          <a:xfrm>
            <a:off x="54864" y="54864"/>
            <a:ext cx="9034272" cy="5033772"/>
          </a:xfrm>
          <a:prstGeom prst="rect">
            <a:avLst/>
          </a:prstGeom>
          <a:ln w="114300">
            <a:solidFill>
              <a:srgbClr val="A8E6B4"/>
            </a:solidFill>
            <a:prstDash val="solid"/>
          </a:ln>
        </p:spPr>
      </p:sp>
      <p:pic>
        <p:nvPicPr>
          <p:cNvPr id="4" name="logo_23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1 of 8</a:t>
            </a:r>
            <a:endParaRPr lang="en-US" sz="900" dirty="0"/>
          </a:p>
        </p:txBody>
      </p:sp>
      <p:sp>
        <p:nvSpPr>
          <p:cNvPr id="6" name="footer_23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3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REFEREE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0"/>
          <p:cNvSpPr/>
          <p:nvPr/>
        </p:nvSpPr>
        <p:spPr>
          <a:xfrm>
            <a:off x="54864" y="54864"/>
            <a:ext cx="9034272" cy="5033772"/>
          </a:xfrm>
          <a:prstGeom prst="rect">
            <a:avLst/>
          </a:prstGeom>
          <a:ln w="114300">
            <a:solidFill>
              <a:srgbClr val="A8E6B4"/>
            </a:solidFill>
            <a:prstDash val="solid"/>
          </a:ln>
        </p:spPr>
      </p:sp>
      <p:pic>
        <p:nvPicPr>
          <p:cNvPr id="4" name="logo_24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2 of 8</a:t>
            </a:r>
            <a:endParaRPr lang="en-US" sz="900" dirty="0"/>
          </a:p>
        </p:txBody>
      </p:sp>
      <p:sp>
        <p:nvSpPr>
          <p:cNvPr id="6" name="footer_2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44"/>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SKI SLOPE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5"/>
          <p:cNvSpPr/>
          <p:nvPr/>
        </p:nvSpPr>
        <p:spPr>
          <a:xfrm>
            <a:off x="54864" y="54864"/>
            <a:ext cx="9034272" cy="5033772"/>
          </a:xfrm>
          <a:prstGeom prst="rect">
            <a:avLst/>
          </a:prstGeom>
          <a:ln w="114300">
            <a:solidFill>
              <a:srgbClr val="A8E6B4"/>
            </a:solidFill>
            <a:prstDash val="solid"/>
          </a:ln>
        </p:spPr>
      </p:sp>
      <p:pic>
        <p:nvPicPr>
          <p:cNvPr id="4" name="logo_24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3 of 8</a:t>
            </a:r>
            <a:endParaRPr lang="en-US" sz="900" dirty="0"/>
          </a:p>
        </p:txBody>
      </p:sp>
      <p:sp>
        <p:nvSpPr>
          <p:cNvPr id="6" name="footer_24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4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SUBTITLES</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0"/>
          <p:cNvSpPr/>
          <p:nvPr/>
        </p:nvSpPr>
        <p:spPr>
          <a:xfrm>
            <a:off x="54864" y="54864"/>
            <a:ext cx="9034272" cy="5033772"/>
          </a:xfrm>
          <a:prstGeom prst="rect">
            <a:avLst/>
          </a:prstGeom>
          <a:ln w="114300">
            <a:solidFill>
              <a:srgbClr val="A8E6B4"/>
            </a:solidFill>
            <a:prstDash val="solid"/>
          </a:ln>
        </p:spPr>
      </p:sp>
      <p:pic>
        <p:nvPicPr>
          <p:cNvPr id="4" name="logo_25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4 of 8</a:t>
            </a:r>
            <a:endParaRPr lang="en-US" sz="900" dirty="0"/>
          </a:p>
        </p:txBody>
      </p:sp>
      <p:sp>
        <p:nvSpPr>
          <p:cNvPr id="6" name="footer_25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54"/>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PROPOSE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5"/>
          <p:cNvSpPr/>
          <p:nvPr/>
        </p:nvSpPr>
        <p:spPr>
          <a:xfrm>
            <a:off x="54864" y="54864"/>
            <a:ext cx="9034272" cy="5033772"/>
          </a:xfrm>
          <a:prstGeom prst="rect">
            <a:avLst/>
          </a:prstGeom>
          <a:ln w="114300">
            <a:solidFill>
              <a:srgbClr val="A8E6B4"/>
            </a:solidFill>
            <a:prstDash val="solid"/>
          </a:ln>
        </p:spPr>
      </p:sp>
      <p:pic>
        <p:nvPicPr>
          <p:cNvPr id="4" name="logo_25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5 of 8</a:t>
            </a:r>
            <a:endParaRPr lang="en-US" sz="900" dirty="0"/>
          </a:p>
        </p:txBody>
      </p:sp>
      <p:sp>
        <p:nvSpPr>
          <p:cNvPr id="6" name="footer_25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5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3600" dirty="0">
                <a:solidFill>
                  <a:srgbClr val="062F67"/>
                </a:solidFill>
                <a:latin typeface="Arial Black" pitchFamily="34" charset="0"/>
                <a:ea typeface="Arial Black" pitchFamily="34" charset="-122"/>
                <a:cs typeface="Arial Black" pitchFamily="34" charset="-120"/>
              </a:rPr>
              <a:t>SPECIAL EFFECTS</a:t>
            </a:r>
            <a:endParaRPr lang="en-US" sz="36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0"/>
          <p:cNvSpPr/>
          <p:nvPr/>
        </p:nvSpPr>
        <p:spPr>
          <a:xfrm>
            <a:off x="54864" y="54864"/>
            <a:ext cx="9034272" cy="5033772"/>
          </a:xfrm>
          <a:prstGeom prst="rect">
            <a:avLst/>
          </a:prstGeom>
          <a:ln w="114300">
            <a:solidFill>
              <a:srgbClr val="A8E6B4"/>
            </a:solidFill>
            <a:prstDash val="solid"/>
          </a:ln>
        </p:spPr>
      </p:sp>
      <p:pic>
        <p:nvPicPr>
          <p:cNvPr id="4" name="logo_2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6 of 8</a:t>
            </a:r>
            <a:endParaRPr lang="en-US" sz="900" dirty="0"/>
          </a:p>
        </p:txBody>
      </p:sp>
      <p:sp>
        <p:nvSpPr>
          <p:cNvPr id="6" name="footer_2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64"/>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GET INJURED</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5"/>
          <p:cNvSpPr/>
          <p:nvPr/>
        </p:nvSpPr>
        <p:spPr>
          <a:xfrm>
            <a:off x="54864" y="54864"/>
            <a:ext cx="9034272" cy="5033772"/>
          </a:xfrm>
          <a:prstGeom prst="rect">
            <a:avLst/>
          </a:prstGeom>
          <a:ln w="114300">
            <a:solidFill>
              <a:srgbClr val="A8E6B4"/>
            </a:solidFill>
            <a:prstDash val="solid"/>
          </a:ln>
        </p:spPr>
      </p:sp>
      <p:pic>
        <p:nvPicPr>
          <p:cNvPr id="4" name="logo_26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7 of 8</a:t>
            </a:r>
            <a:endParaRPr lang="en-US" sz="900" dirty="0"/>
          </a:p>
        </p:txBody>
      </p:sp>
      <p:sp>
        <p:nvSpPr>
          <p:cNvPr id="6" name="footer_26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69"/>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THE CROWD</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0"/>
          <p:cNvSpPr/>
          <p:nvPr/>
        </p:nvSpPr>
        <p:spPr>
          <a:xfrm>
            <a:off x="54864" y="54864"/>
            <a:ext cx="9034272" cy="5033772"/>
          </a:xfrm>
          <a:prstGeom prst="rect">
            <a:avLst/>
          </a:prstGeom>
          <a:ln w="114300">
            <a:solidFill>
              <a:srgbClr val="A8E6B4"/>
            </a:solidFill>
            <a:prstDash val="solid"/>
          </a:ln>
        </p:spPr>
      </p:sp>
      <p:pic>
        <p:nvPicPr>
          <p:cNvPr id="4" name="logo_27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Draw it! · card 8 of 8</a:t>
            </a:r>
            <a:endParaRPr lang="en-US" sz="900" dirty="0"/>
          </a:p>
        </p:txBody>
      </p:sp>
      <p:sp>
        <p:nvSpPr>
          <p:cNvPr id="6" name="footer_27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7" name="warn_274"/>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WHISTLE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Artist:</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no letters · no numbers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5"/>
          <p:cNvSpPr/>
          <p:nvPr/>
        </p:nvSpPr>
        <p:spPr>
          <a:xfrm>
            <a:off x="54864" y="54864"/>
            <a:ext cx="9034272" cy="5033772"/>
          </a:xfrm>
          <a:prstGeom prst="rect">
            <a:avLst/>
          </a:prstGeom>
          <a:ln w="114300">
            <a:solidFill>
              <a:srgbClr val="A8E6B4"/>
            </a:solidFill>
            <a:prstDash val="solid"/>
          </a:ln>
        </p:spPr>
      </p:sp>
      <p:pic>
        <p:nvPicPr>
          <p:cNvPr id="4" name="logo_27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7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6" name="title_278"/>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79"/>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80"/>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use past tenses, used to and the passive correctly.</a:t>
            </a:r>
            <a:endParaRPr lang="en-US" sz="1200" dirty="0"/>
          </a:p>
        </p:txBody>
      </p:sp>
      <p:sp>
        <p:nvSpPr>
          <p:cNvPr id="9" name="faces_281"/>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82"/>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remember and use the vocabulary of Files 5 and 6.</a:t>
            </a:r>
            <a:endParaRPr lang="en-US" sz="1200" dirty="0"/>
          </a:p>
        </p:txBody>
      </p:sp>
      <p:sp>
        <p:nvSpPr>
          <p:cNvPr id="11" name="faces_283"/>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84"/>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understand short interviews about sport, films and relationships.</a:t>
            </a:r>
            <a:endParaRPr lang="en-US" sz="1200" dirty="0"/>
          </a:p>
        </p:txBody>
      </p:sp>
      <p:sp>
        <p:nvSpPr>
          <p:cNvPr id="13" name="faces_285"/>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86"/>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SB p.65: Can you understand this text? a, b</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R5-6</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87"/>
          <p:cNvSpPr txBox="1"/>
          <p:nvPr/>
        </p:nvSpPr>
        <p:spPr>
          <a:xfrm>
            <a:off x="365760" y="3657600"/>
            <a:ext cx="33832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7A · Live and learn</a:t>
            </a:r>
            <a:endParaRPr lang="en-US" sz="12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8"/>
          <p:cNvSpPr/>
          <p:nvPr/>
        </p:nvSpPr>
        <p:spPr>
          <a:xfrm>
            <a:off x="54864" y="54864"/>
            <a:ext cx="9034272" cy="5033772"/>
          </a:xfrm>
          <a:prstGeom prst="rect">
            <a:avLst/>
          </a:prstGeom>
          <a:ln w="114300">
            <a:solidFill>
              <a:srgbClr val="A8E6B4"/>
            </a:solidFill>
            <a:prstDash val="solid"/>
          </a:ln>
        </p:spPr>
      </p:sp>
      <p:pic>
        <p:nvPicPr>
          <p:cNvPr id="4" name="logo_28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Reading · p.65</a:t>
            </a:r>
            <a:endParaRPr lang="en-US" sz="900" dirty="0"/>
          </a:p>
        </p:txBody>
      </p:sp>
      <p:sp>
        <p:nvSpPr>
          <p:cNvPr id="6" name="timer_29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29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9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9" name="title_294"/>
          <p:cNvSpPr txBox="1"/>
          <p:nvPr/>
        </p:nvSpPr>
        <p:spPr>
          <a:xfrm rot="-120000">
            <a:off x="320040" y="676656"/>
            <a:ext cx="554126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Can you understand this text?</a:t>
            </a:r>
            <a:endParaRPr lang="en-US" sz="1500" dirty="0"/>
          </a:p>
        </p:txBody>
      </p:sp>
      <p:sp>
        <p:nvSpPr>
          <p:cNvPr id="10" name="post_295"/>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9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2" name="signB_29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article on p.65. Which gap (1–7) for A–G?</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l'articolo a p.65. Quale spazio (1–7) per A–G?</a:t>
            </a:r>
            <a:endParaRPr lang="en-US" sz="1250" dirty="0"/>
          </a:p>
        </p:txBody>
      </p:sp>
      <p:sp>
        <p:nvSpPr>
          <p:cNvPr id="13" name="box_298"/>
          <p:cNvSpPr txBox="1"/>
          <p:nvPr/>
        </p:nvSpPr>
        <p:spPr>
          <a:xfrm>
            <a:off x="2788920" y="1371600"/>
            <a:ext cx="4828032" cy="299466"/>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a  What does the article say is the best exercise for all body types?</a:t>
            </a:r>
            <a:endParaRPr lang="en-US" sz="900" dirty="0"/>
          </a:p>
        </p:txBody>
      </p:sp>
      <p:sp>
        <p:nvSpPr>
          <p:cNvPr id="14" name="R1_a0"/>
          <p:cNvSpPr txBox="1"/>
          <p:nvPr/>
        </p:nvSpPr>
        <p:spPr>
          <a:xfrm>
            <a:off x="7671816" y="1408176"/>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the one you will do</a:t>
            </a:r>
            <a:endParaRPr lang="en-US" sz="1000" dirty="0"/>
          </a:p>
        </p:txBody>
      </p:sp>
      <p:sp>
        <p:nvSpPr>
          <p:cNvPr id="15" name="box_299"/>
          <p:cNvSpPr txBox="1"/>
          <p:nvPr/>
        </p:nvSpPr>
        <p:spPr>
          <a:xfrm>
            <a:off x="2788920" y="1799082"/>
            <a:ext cx="4828032" cy="299466"/>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A  A person with this body type has more choice of sports.</a:t>
            </a:r>
            <a:endParaRPr lang="en-US" sz="900" dirty="0"/>
          </a:p>
        </p:txBody>
      </p:sp>
      <p:sp>
        <p:nvSpPr>
          <p:cNvPr id="16" name="R2_a1"/>
          <p:cNvSpPr txBox="1"/>
          <p:nvPr/>
        </p:nvSpPr>
        <p:spPr>
          <a:xfrm>
            <a:off x="7671816" y="1835658"/>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4</a:t>
            </a:r>
            <a:endParaRPr lang="en-US" sz="1100" dirty="0"/>
          </a:p>
        </p:txBody>
      </p:sp>
      <p:sp>
        <p:nvSpPr>
          <p:cNvPr id="17" name="box_300"/>
          <p:cNvSpPr txBox="1"/>
          <p:nvPr/>
        </p:nvSpPr>
        <p:spPr>
          <a:xfrm>
            <a:off x="2788920" y="2226564"/>
            <a:ext cx="4828032" cy="299466"/>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B  For the same reason, it takes them longer to build muscle.</a:t>
            </a:r>
            <a:endParaRPr lang="en-US" sz="900" dirty="0"/>
          </a:p>
        </p:txBody>
      </p:sp>
      <p:sp>
        <p:nvSpPr>
          <p:cNvPr id="18" name="R3_a2"/>
          <p:cNvSpPr txBox="1"/>
          <p:nvPr/>
        </p:nvSpPr>
        <p:spPr>
          <a:xfrm>
            <a:off x="7671816" y="2263140"/>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1</a:t>
            </a:r>
            <a:endParaRPr lang="en-US" sz="1100" dirty="0"/>
          </a:p>
        </p:txBody>
      </p:sp>
      <p:sp>
        <p:nvSpPr>
          <p:cNvPr id="19" name="box_301"/>
          <p:cNvSpPr txBox="1"/>
          <p:nvPr/>
        </p:nvSpPr>
        <p:spPr>
          <a:xfrm>
            <a:off x="2788920" y="2654046"/>
            <a:ext cx="4828032" cy="299466"/>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C  Their arms and legs are muscular and they have broad shoulders and narrow hips.</a:t>
            </a:r>
            <a:endParaRPr lang="en-US" sz="900" dirty="0"/>
          </a:p>
        </p:txBody>
      </p:sp>
      <p:sp>
        <p:nvSpPr>
          <p:cNvPr id="20" name="R4_a3"/>
          <p:cNvSpPr txBox="1"/>
          <p:nvPr/>
        </p:nvSpPr>
        <p:spPr>
          <a:xfrm>
            <a:off x="7671816" y="2690622"/>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3</a:t>
            </a:r>
            <a:endParaRPr lang="en-US" sz="1100" dirty="0"/>
          </a:p>
        </p:txBody>
      </p:sp>
      <p:sp>
        <p:nvSpPr>
          <p:cNvPr id="21" name="box_302"/>
          <p:cNvSpPr txBox="1"/>
          <p:nvPr/>
        </p:nvSpPr>
        <p:spPr>
          <a:xfrm>
            <a:off x="2788920" y="3081528"/>
            <a:ext cx="4828032" cy="299466"/>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D  Everyone is a bit of a mix.</a:t>
            </a:r>
            <a:endParaRPr lang="en-US" sz="900" dirty="0"/>
          </a:p>
        </p:txBody>
      </p:sp>
      <p:sp>
        <p:nvSpPr>
          <p:cNvPr id="22" name="R5_a4"/>
          <p:cNvSpPr txBox="1"/>
          <p:nvPr/>
        </p:nvSpPr>
        <p:spPr>
          <a:xfrm>
            <a:off x="7671816" y="3118104"/>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7</a:t>
            </a:r>
            <a:endParaRPr lang="en-US" sz="1100" dirty="0"/>
          </a:p>
        </p:txBody>
      </p:sp>
      <p:sp>
        <p:nvSpPr>
          <p:cNvPr id="23" name="box_303"/>
          <p:cNvSpPr txBox="1"/>
          <p:nvPr/>
        </p:nvSpPr>
        <p:spPr>
          <a:xfrm>
            <a:off x="2788920" y="3509010"/>
            <a:ext cx="4828032" cy="299466"/>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E  If a person with this body type is very tall,</a:t>
            </a:r>
            <a:endParaRPr lang="en-US" sz="900" dirty="0"/>
          </a:p>
        </p:txBody>
      </p:sp>
      <p:sp>
        <p:nvSpPr>
          <p:cNvPr id="24" name="R6_a5"/>
          <p:cNvSpPr txBox="1"/>
          <p:nvPr/>
        </p:nvSpPr>
        <p:spPr>
          <a:xfrm>
            <a:off x="7671816" y="3545586"/>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2</a:t>
            </a:r>
            <a:endParaRPr lang="en-US" sz="1100" dirty="0"/>
          </a:p>
        </p:txBody>
      </p:sp>
      <p:sp>
        <p:nvSpPr>
          <p:cNvPr id="25" name="box_304"/>
          <p:cNvSpPr txBox="1"/>
          <p:nvPr/>
        </p:nvSpPr>
        <p:spPr>
          <a:xfrm>
            <a:off x="2788920" y="3936492"/>
            <a:ext cx="4828032" cy="299466"/>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F  It is difficult for them to lose weight, but they gain muscle rapidly.</a:t>
            </a:r>
            <a:endParaRPr lang="en-US" sz="900" dirty="0"/>
          </a:p>
        </p:txBody>
      </p:sp>
      <p:sp>
        <p:nvSpPr>
          <p:cNvPr id="26" name="R7_a6"/>
          <p:cNvSpPr txBox="1"/>
          <p:nvPr/>
        </p:nvSpPr>
        <p:spPr>
          <a:xfrm>
            <a:off x="7671816" y="3973068"/>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5</a:t>
            </a:r>
            <a:endParaRPr lang="en-US" sz="1100" dirty="0"/>
          </a:p>
        </p:txBody>
      </p:sp>
      <p:sp>
        <p:nvSpPr>
          <p:cNvPr id="27" name="box_305"/>
          <p:cNvSpPr txBox="1"/>
          <p:nvPr/>
        </p:nvSpPr>
        <p:spPr>
          <a:xfrm>
            <a:off x="2788920" y="4363974"/>
            <a:ext cx="4828032" cy="299466"/>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G  This body type is not suited for agility and speed.</a:t>
            </a:r>
            <a:endParaRPr lang="en-US" sz="900" dirty="0"/>
          </a:p>
        </p:txBody>
      </p:sp>
      <p:sp>
        <p:nvSpPr>
          <p:cNvPr id="28" name="R8_a7"/>
          <p:cNvSpPr txBox="1"/>
          <p:nvPr/>
        </p:nvSpPr>
        <p:spPr>
          <a:xfrm>
            <a:off x="7671816" y="4400550"/>
            <a:ext cx="1152144" cy="226314"/>
          </a:xfrm>
          <a:prstGeom prst="roundRect">
            <a:avLst>
              <a:gd name="adj" fmla="val 2424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gap 6</a:t>
            </a:r>
            <a:endParaRPr lang="en-US" sz="1100" dirty="0"/>
          </a:p>
        </p:txBody>
      </p:sp>
      <p:sp>
        <p:nvSpPr>
          <p:cNvPr id="29" name="pageTag_30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p.65 · Can you understand this text? a, b</a:t>
            </a:r>
            <a:endParaRPr lang="en-US" sz="1050" dirty="0"/>
          </a:p>
        </p:txBody>
      </p:sp>
      <p:sp>
        <p:nvSpPr>
          <p:cNvPr id="30" name="pframe_307"/>
          <p:cNvSpPr/>
          <p:nvPr/>
        </p:nvSpPr>
        <p:spPr>
          <a:xfrm rot="-120000">
            <a:off x="457200" y="3566160"/>
            <a:ext cx="1920240" cy="932688"/>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31" name="pimg_308" descr="picture">    </p:cNvPr>
          <p:cNvPicPr>
            <a:picLocks noChangeAspect="1"/>
          </p:cNvPicPr>
          <p:nvPr/>
        </p:nvPicPr>
        <p:blipFill>
          <a:blip r:embed="rId3"/>
          <a:srcRect l="0" r="0" t="0" b="0"/>
          <a:stretch/>
        </p:blipFill>
        <p:spPr>
          <a:xfrm rot="-120000">
            <a:off x="530352" y="3639312"/>
            <a:ext cx="1773936" cy="713232"/>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9"/>
          <p:cNvSpPr/>
          <p:nvPr/>
        </p:nvSpPr>
        <p:spPr>
          <a:xfrm>
            <a:off x="54864" y="54864"/>
            <a:ext cx="9034272" cy="5033772"/>
          </a:xfrm>
          <a:prstGeom prst="rect">
            <a:avLst/>
          </a:prstGeom>
          <a:ln w="114300">
            <a:solidFill>
              <a:srgbClr val="A8E6B4"/>
            </a:solidFill>
            <a:prstDash val="solid"/>
          </a:ln>
        </p:spPr>
      </p:sp>
      <p:pic>
        <p:nvPicPr>
          <p:cNvPr id="4" name="logo_31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Fluency</a:t>
            </a:r>
            <a:endParaRPr lang="en-US" sz="900" dirty="0"/>
          </a:p>
        </p:txBody>
      </p:sp>
      <p:sp>
        <p:nvSpPr>
          <p:cNvPr id="6" name="timer_31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31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R5-6 · Part 1</a:t>
            </a:r>
            <a:endParaRPr lang="en-US" sz="1000" dirty="0"/>
          </a:p>
        </p:txBody>
      </p:sp>
      <p:sp>
        <p:nvSpPr>
          <p:cNvPr id="9" name="title_315"/>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Just a minute!</a:t>
            </a:r>
            <a:endParaRPr lang="en-US" sz="1500" dirty="0"/>
          </a:p>
        </p:txBody>
      </p:sp>
      <p:sp>
        <p:nvSpPr>
          <p:cNvPr id="10" name="post_31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1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31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Talk for ONE minute. No stopping, no 'ehm'!</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Parla per UN minuto. Senza fermarti, senza 'ehm'!</a:t>
            </a:r>
            <a:endParaRPr lang="en-US" sz="1250" dirty="0"/>
          </a:p>
        </p:txBody>
      </p:sp>
      <p:sp>
        <p:nvSpPr>
          <p:cNvPr id="13" name="iconBack_31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20"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5" name="num_32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32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Choose a topic: a film you'll never forget · a sporting moment · how you met a close friend · a time you got injured.</a:t>
            </a:r>
            <a:endParaRPr lang="en-US" sz="1300" dirty="0"/>
          </a:p>
        </p:txBody>
      </p:sp>
      <p:sp>
        <p:nvSpPr>
          <p:cNvPr id="17" name="num_32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32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Think for 30 seconds. Then talk for one minute to your group.</a:t>
            </a:r>
            <a:endParaRPr lang="en-US" sz="1300" dirty="0"/>
          </a:p>
        </p:txBody>
      </p:sp>
      <p:sp>
        <p:nvSpPr>
          <p:cNvPr id="19" name="num_32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32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group listens and asks ONE follow-up question at the end.</a:t>
            </a:r>
            <a:endParaRPr lang="en-US" sz="1300" dirty="0"/>
          </a:p>
        </p:txBody>
      </p:sp>
      <p:sp>
        <p:nvSpPr>
          <p:cNvPr id="21" name="num_32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32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Challenge: use one past perfect, one used to and one passive in your minute!</a:t>
            </a:r>
            <a:endParaRPr lang="en-US" sz="1300" dirty="0"/>
          </a:p>
        </p:txBody>
      </p:sp>
      <p:sp>
        <p:nvSpPr>
          <p:cNvPr id="23" name="bubble_32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i="1" dirty="0">
                <a:solidFill>
                  <a:srgbClr val="111111"/>
                </a:solidFill>
                <a:latin typeface="Calibri" pitchFamily="34" charset="0"/>
                <a:ea typeface="Calibri" pitchFamily="34" charset="-122"/>
                <a:cs typeface="Calibri" pitchFamily="34" charset="-120"/>
              </a:rPr>
              <a:t>I'll never forget the first time I saw… It was directed by… I had never…</a:t>
            </a:r>
            <a:endParaRPr lang="en-US" sz="12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R5-6 Revise and Check 5&amp;6</dc:title>
  <dc:subject>PptxGenJS Presentation</dc:subject>
  <dc:creator>London Language School</dc:creator>
  <cp:lastModifiedBy>London Language School</cp:lastModifiedBy>
  <cp:revision>1</cp:revision>
  <dcterms:created xsi:type="dcterms:W3CDTF">2026-10-05T09:39:38Z</dcterms:created>
  <dcterms:modified xsi:type="dcterms:W3CDTF">2026-10-05T09:39:38Z</dcterms:modified>
</cp:coreProperties>
</file>