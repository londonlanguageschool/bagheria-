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mp3" ContentType="audio/mpeg"/>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PRACTICAL ENGLISH EPISODE 3 'Old friends' (60 min) · SB pp.54–55. Aims: asking for permission (Do you mind if I…? / Is it OK if I…?) and making requests (Could you…? / Would you mind + -ing? / Do you think you could…?) and how to answer them; Social English for meeting an old friend. Story: Jenny meets her old friend Monica, who is getting married; Rob joins them and asks Jenny a big favour; Jenny picks up Rob's old friend Paul at the airport. The six Episode 3 videos are embedded (scenes 1–3, listen and check, listen and repeat, Social English phrases); audio 5.23–5.28 is the back-up. Timing: cover 2 · revision 5 · scene 1 7 · scene 2 5 · T/F check 2 · guess 2 · listen and check 2 · listen and repeat 2 · rule 3 · Communication 7 · scene 3 6 · Social English 5 · polite game 5 · exit 3 = 56 min. Optional TG lead-in: what do they remember about Episode 2 (Kerri and Don, the argument about New York and London waiters)? Click 1: the question – ask 'What's the answer if you're happy to do it?' before click 2 (trap: Not at all = YES!). (2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REVISION of 5B part 2 (5 min). VARIATION: race + memory (the order follows Mark's story, audio 5.21). Pairs write the letters in order: C met · E became friends · H went out together · A broke up · G lost touch · D got in touch again · F proposed · B got married (click 1 shows the numbers). The first pair with the correct order stands up and tells the story in the past, adding one detail to each step ('They met at York University…'). Then one quick question from the friendship programme: 'Which fact surprised you?' (Animals / social media / productive / love / health).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WATCH (7 min). The scene 'Jenny has coffee with a friend' is embedded (1 min 58 s). 1a: look at the photos – what's happening? Books closed (or cover the page); play the video once: What's Monica's news? (TG: she has got engaged / she and Scott are getting married). 1b: students read questions 1–7 in the book (the slide has short versions: row 1 = 1a, row 2 = 1b 1–3, then 4–7); play again, pausing if necessary. Click 1 for the answers. TG ANSWERS 1b: 1 Monica's fiancé / future husband · 2 a few days ago · 3 only family · 4 she used to go clubbing; now she stays in and reads wedding magazines · 5 the two mothers want to organize the wedding · 6 that they haven't been together long · 7 she thinks it will be hard for Jenny to persuade him to stay in New York. Notice used to (5B!) – 'And to think you used to go clubbing every night!' EXTRA SUPPORT: watch again with subtitles. VARIATION: prediction ('Monica says Five minutes! – what's the news?'). If the embedded video doesn't play, use audio 5.23.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WATCH (5 min). The scene is embedded (2 min 17 s). 2a: photos – where is Rob? who's he talking to? Play the video once: what favour does Rob ask? (TG: he asks Jenny to meet his friend Paul at the airport and to take him back to his flat). Paul (video script): an old friend of Rob's – they haven't seen each other since university; he's travelling around the States and Rob has invited him to stay for the week. 2b: students read sentences 1–8 in the book; play again; they mark T / F and correct the false ones. Check on the next slide. If the embedded video doesn't play, use audio 5.24. VARIATION: prediction – 'Rob says I want to ask you a favour – what is it?' (pause the video there).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 2b (2 min) – after the second viewing on the previous slide. The slide has the book's sentences 1–8; students compare with a partner, then click 1 for all answers. TG ANSWERS: 1 F (He orders a large latte.) · 2 F (He says she hasn't changed.) · 3 T · 4 F (She needs to meet someone.) · 5 F (She says most of their friends are getting married.) · 6 F (He is going to stay for a week.) · 7 F (He used to be a bit wild.) · 8 T. Also teach: settle down, You're a real star, What's up? VARIATION: student as teacher – a student corrects each false sentence for the class.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LANGUAGE (2 min). 2c: 'Look at some extracts from the conversation. Can you remember any of the missing words?' (the slide = book wording: 1–2 Asking permission, 3–5 Requests: asking someone to do something). Pairs guess and write their answers; DON'T confirm yet – the next slide (video 'listen and check') checks them. ANSWERS (TG / script): 1 mind, course · 2 OK · 3 Can, Sure · 4 favour, meeting, Not · 5 could, problem. VARIATION: prediction.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 (2 min). The clip is embedded (54 s): the five extracts from the scene. Play once; students check their guesses from the previous slide; click 1 for all answers. ANSWERS (TG / script): 1 mind, course · 2 OK · 3 Can, Sure · 4 favour, meeting, Not · 5 could, problem. If the embedded video doesn't play, use audio 5.25.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REPEAT (2 min). The clip is embedded (1 min 32 s) with pauses for repetition. 2e: students repeat the highlighted phrases, copying the rhythm and polite intonation (a big rise-fall on 'Would you MIND…'). 2f: pairs practise the five mini-conversations from 2c, swapping roles. If the embedded video doesn't play, use audio 5.26. VARIATION: change the energy (act them out standing up, with a coffee cup!).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RULE (3 min). SB 2d: 'Look at the highlighted phrases in c and answer the questions. 1 How do you respond to Do you mind if…? and Would you mind…? when you mean OK, no problem? 2 Which two forms of request should you use if you want to be very polite or are asking a very big favour?' – TG ANSWERS: 1 we say Of course not / Not at all to say yes after Do you mind…? / Would you mind…? · 2 the more polite requests are Could you…? / Would you mind…? (and Do you think you could…?). Italian learners answer 'Yes!' to 'Do you mind…?' meaning 'yes, go ahead' – which actually means 'it's a problem'. Drill with a quick test: 'Do you mind if I open the window?' – class answers with gestures + 'Not at all!'. Also: would you mind + -ing (NOT ✗ would you mind to meet).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COMMUNICATION / MINGLE (7 min). SB 2g: students go to Communication 'Could you do me a favour?' p.107. Go through the instructions carefully (⚠ the page is not in our files – check the task before the lesson). Monitor and help; insist on the polite forms and correct answers to 'mind'. Feedback: who got the most people to help them? VARIATION: change the interaction (mingle) + negative experiences – practise saying NO politely too.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WATCH (6 min). The scene 'Paul arrives' is embedded (1 min 31 s). 3a: photos – what's happening? Play the video once: how do Rob and Jenny feel? (TG: Rob is delighted to see Paul; Jenny seems tired and not very enthusiastic). 3b: play again; students circle the right answer in sentences 1–6 in the book. Click 1 for all answers (TG): 1 hasn't changed much · 2 late · 3 talked a lot about himself · 4 eating in · 5 full of energy · 6 doesn't feel like. (The slide has short versions of the book's sentences; the book has the options to circle.) Why was Paul late? His flight from LA was delayed and the traffic was awful. VARIATION: prediction – 'Paul used to be a bit wild. Has he changed?' (before watching). Ask: Do you think Jenny likes Paul? Why not? (Episode 4 continues the story). If the embedded video doesn't play, use audio 5.27.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SOCIAL ENGLISH (5 min). 3c: in pairs, students try to remember the missing words (EXTRA CHALLENGE). 3d: play the embedded clip 'Social English phrases' (1 min 9 s; or audio 5.28); click 1 for all answers (TG): 1 mate · 2 come · 3 way · 4 mind · 5 days · 6 about. Play again for repetition. 3e: 'Complete conversations A–F with Social English phrases 1–6. Then practise them with a partner.' A Are there any good films on tonight? – Actually, I might go to bed early ___ . I'm exhausted. · B I've rung you at least five times. ___ you never called me back? – I'm really sorry. I left my phone at home and I've only just got back. · C I can't believe it's so long since we last met! – Yes, at least two years. ___ . To start with, I've got a new job! · D Hey Josh! ___ . – Yeah, good to see you too! · E Shall we have dinner at that Indian restaurant we used to go to? – Good idea! It'll be ___ . · F OK, so you can clean the bathrooms and I'll tidy the living room. – ___ ! I hate cleaning bathrooms. TG ANSWERS: A 4 · B 2 · C 6 · D 1 · E 5 · F 3. Meaning check: mate = friend (informal, British); How come…? = Why…?; No way! = Absolutely not! Then pairs act out the scene (5.27). VARIATION: change the energy – act it three times: excited, tired (like Jenny), bored. Finally the CAN YOU…? box at the end of p.55: use different expressions to ask permission to do something and respond · use different expressions to ask another person to do something and respond · greet someone you haven't seen for a long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GAME (5 min). VARIATION: upgrade the language. Two teams. Read the rude sentence (in a funny rude voice!); teams have 15 seconds to write a polite version. Points: Can I / Can you = 1 · Could you / Is it OK if = 2 · Would you mind + -ing / Do you mind if / Do you think you could = 3. Wrong form (✗ Would you mind to carry) = 0. Click once per item for one model answer – accept any correct polite form. The other team must then answer correctly (Sure / Not at all / I'm sorry, but…) for a bonus point.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EXIT (3 min). Students choose a face for each can-do. Homework: Workbook Practical English 3 – 1 Permission and requests (1a–1d) and 2 Social English (2a, 2b) + the PE3 homework sheet (easier version available). The TG also lists 'Can you remember? 1–5' in the Workbook (good revision before File 6) and Quick Test 5 / File 5 Test / Progress Test Files 1–5 in the Teacher's Resource Centre. Answers are in the teacher key PDF.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EXTRA (8 min). VARIATION: student-generated content + prediction (Episode 4 shows what really happens – Paul stays longer and Jenny isn't happy; don't tell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EXTRA (6 min). VARIATION: constraint challenge – every 'yes' must come with a favour in return ('Not at all – but would you mind feeding my dog next week?'). Pairs keep the chain going as long as possible with a different request form each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Slide-1-image-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slideLayout" Target="../slideLayouts/slideLayout1.xml"/><Relationship Id="rId7"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Slide-2-image-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1.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Slide-3-image-1.png"/><Relationship Id="rId2" Type="http://schemas.openxmlformats.org/officeDocument/2006/relationships/image" Target="../media/image-3-2.png"/><Relationship Id="rId3" Type="http://schemas.openxmlformats.org/officeDocument/2006/relationships/video" Target="../media/media-3-3.mp4"/><Relationship Id="rId4" Type="http://schemas.microsoft.com/office/2007/relationships/media" Target="../media/media-3-3.mp4"/><Relationship Id="rId5" Type="http://schemas.openxmlformats.org/officeDocument/2006/relationships/image" Target="../media/image-3-5.png"/><Relationship Id="rId6" Type="http://schemas.openxmlformats.org/officeDocument/2006/relationships/image" Target="../media/image-3-6.jpg"/><Relationship Id="rId7" Type="http://schemas.openxmlformats.org/officeDocument/2006/relationships/slideLayout" Target="../slideLayouts/slideLayout1.xml"/><Relationship Id="rId8"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Slide-4-image-1.png"/><Relationship Id="rId2" Type="http://schemas.openxmlformats.org/officeDocument/2006/relationships/image" Target="../media/image-4-2.png"/><Relationship Id="rId3" Type="http://schemas.openxmlformats.org/officeDocument/2006/relationships/video" Target="../media/media-4-3.mp4"/><Relationship Id="rId4" Type="http://schemas.microsoft.com/office/2007/relationships/media" Target="../media/media-4-3.mp4"/><Relationship Id="rId5" Type="http://schemas.openxmlformats.org/officeDocument/2006/relationships/image" Target="../media/image-4-5.png"/><Relationship Id="rId6" Type="http://schemas.openxmlformats.org/officeDocument/2006/relationships/image" Target="../media/image-4-6.jpg"/><Relationship Id="rId7" Type="http://schemas.openxmlformats.org/officeDocument/2006/relationships/slideLayout" Target="../slideLayouts/slideLayout1.xml"/><Relationship Id="rId8"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Slide-5-image-1.png"/><Relationship Id="rId2" Type="http://schemas.openxmlformats.org/officeDocument/2006/relationships/image" Target="../media/image-5-2.png"/><Relationship Id="rId3" Type="http://schemas.openxmlformats.org/officeDocument/2006/relationships/audio" Target="../media/media-5-3.mp3"/><Relationship Id="rId4" Type="http://schemas.microsoft.com/office/2007/relationships/media" Target="../media/media-5-3.mp3"/><Relationship Id="rId5" Type="http://schemas.openxmlformats.org/officeDocument/2006/relationships/image" Target="../media/image-5-5.png"/><Relationship Id="rId6" Type="http://schemas.openxmlformats.org/officeDocument/2006/relationships/slideLayout" Target="../slideLayouts/slideLayout1.xml"/><Relationship Id="rId7"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Slide-6-image-1.png"/><Relationship Id="rId2" Type="http://schemas.openxmlformats.org/officeDocument/2006/relationships/image" Target="../media/image-6-2.png"/><Relationship Id="rId3" Type="http://schemas.openxmlformats.org/officeDocument/2006/relationships/slideLayout" Target="../slideLayouts/slideLayout1.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Slide-7-image-1.png"/><Relationship Id="rId2" Type="http://schemas.openxmlformats.org/officeDocument/2006/relationships/image" Target="../media/image-7-2.png"/><Relationship Id="rId3" Type="http://schemas.openxmlformats.org/officeDocument/2006/relationships/video" Target="../media/media-7-3.mp4"/><Relationship Id="rId4" Type="http://schemas.microsoft.com/office/2007/relationships/media" Target="../media/media-7-3.mp4"/><Relationship Id="rId5" Type="http://schemas.openxmlformats.org/officeDocument/2006/relationships/image" Target="../media/image-7-5.png"/><Relationship Id="rId6" Type="http://schemas.openxmlformats.org/officeDocument/2006/relationships/slideLayout" Target="../slideLayouts/slideLayout1.xml"/><Relationship Id="rId7"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Slide-8-image-1.png"/><Relationship Id="rId2" Type="http://schemas.openxmlformats.org/officeDocument/2006/relationships/image" Target="../media/image-8-2.png"/><Relationship Id="rId3" Type="http://schemas.openxmlformats.org/officeDocument/2006/relationships/video" Target="../media/media-8-3.mp4"/><Relationship Id="rId4" Type="http://schemas.microsoft.com/office/2007/relationships/media" Target="../media/media-8-3.mp4"/><Relationship Id="rId5" Type="http://schemas.openxmlformats.org/officeDocument/2006/relationships/image" Target="../media/image-8-5.png"/><Relationship Id="rId6" Type="http://schemas.openxmlformats.org/officeDocument/2006/relationships/slideLayout" Target="../slideLayouts/slideLayout1.xml"/><Relationship Id="rId7"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Slide-9-image-1.png"/><Relationship Id="rId2" Type="http://schemas.openxmlformats.org/officeDocument/2006/relationships/image" Target="../media/image-9-2.png"/><Relationship Id="rId3" Type="http://schemas.openxmlformats.org/officeDocument/2006/relationships/slideLayout" Target="../slideLayouts/slideLayout1.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Slide-10-image-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slideLayout" Target="../slideLayouts/slideLayout1.xml"/><Relationship Id="rId5"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Slide-11-image-1.png"/><Relationship Id="rId2" Type="http://schemas.openxmlformats.org/officeDocument/2006/relationships/image" Target="../media/image-11-2.png"/><Relationship Id="rId3" Type="http://schemas.openxmlformats.org/officeDocument/2006/relationships/video" Target="../media/media-11-3.mp4"/><Relationship Id="rId4" Type="http://schemas.microsoft.com/office/2007/relationships/media" Target="../media/media-11-3.mp4"/><Relationship Id="rId5" Type="http://schemas.openxmlformats.org/officeDocument/2006/relationships/image" Target="../media/image-11-5.png"/><Relationship Id="rId6" Type="http://schemas.openxmlformats.org/officeDocument/2006/relationships/image" Target="../media/image-11-6.jpg"/><Relationship Id="rId7" Type="http://schemas.openxmlformats.org/officeDocument/2006/relationships/slideLayout" Target="../slideLayouts/slideLayout1.xml"/><Relationship Id="rId8"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Slide-12-image-1.png"/><Relationship Id="rId2" Type="http://schemas.openxmlformats.org/officeDocument/2006/relationships/image" Target="../media/image-12-2.png"/><Relationship Id="rId3" Type="http://schemas.openxmlformats.org/officeDocument/2006/relationships/video" Target="../media/media-12-3.mp4"/><Relationship Id="rId4" Type="http://schemas.microsoft.com/office/2007/relationships/media" Target="../media/media-12-3.mp4"/><Relationship Id="rId5" Type="http://schemas.openxmlformats.org/officeDocument/2006/relationships/image" Target="../media/image-12-5.png"/><Relationship Id="rId6" Type="http://schemas.openxmlformats.org/officeDocument/2006/relationships/slideLayout" Target="../slideLayouts/slideLayout1.xml"/><Relationship Id="rId7"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Slide-13-image-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slideLayout" Target="../slideLayouts/slideLayout1.xml"/><Relationship Id="rId5"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Slide-14-image-1.png"/><Relationship Id="rId2" Type="http://schemas.openxmlformats.org/officeDocument/2006/relationships/image" Target="../media/image-14-2.png"/><Relationship Id="rId3" Type="http://schemas.openxmlformats.org/officeDocument/2006/relationships/slideLayout" Target="../slideLayouts/slideLayout1.xm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Slide-15-image-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slideLayout" Target="../slideLayouts/slideLayout1.xml"/><Relationship Id="rId5"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Slide-16-image-1.png"/><Relationship Id="rId2" Type="http://schemas.openxmlformats.org/officeDocument/2006/relationships/image" Target="../media/image-16-2.png"/><Relationship Id="rId3" Type="http://schemas.openxmlformats.org/officeDocument/2006/relationships/slideLayout" Target="../slideLayouts/slideLayout1.xml"/><Relationship Id="rId4"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levelFrame_1"/>
          <p:cNvSpPr/>
          <p:nvPr/>
        </p:nvSpPr>
        <p:spPr>
          <a:xfrm>
            <a:off x="54864" y="54864"/>
            <a:ext cx="9034272" cy="5033772"/>
          </a:xfrm>
          <a:prstGeom prst="rect">
            <a:avLst/>
          </a:prstGeom>
          <a:ln w="114300">
            <a:solidFill>
              <a:srgbClr val="A8E6B4"/>
            </a:solidFill>
            <a:prstDash val="solid"/>
          </a:ln>
        </p:spPr>
      </p:sp>
      <p:sp>
        <p:nvSpPr>
          <p:cNvPr id="4" name="logoBack_2"/>
          <p:cNvSpPr/>
          <p:nvPr/>
        </p:nvSpPr>
        <p:spPr>
          <a:xfrm>
            <a:off x="8229600" y="155448"/>
            <a:ext cx="676656" cy="676656"/>
          </a:xfrm>
          <a:prstGeom prst="ellipse">
            <a:avLst/>
          </a:prstGeom>
          <a:solidFill>
            <a:srgbClr val="FFFFFF"/>
          </a:solidFill>
          <a:ln w="25400">
            <a:solidFill>
              <a:srgbClr val="A8E6B4"/>
            </a:solidFill>
            <a:prstDash val="solid"/>
          </a:ln>
        </p:spPr>
      </p:sp>
      <p:pic>
        <p:nvPicPr>
          <p:cNvPr id="5" name="logo_3" descr="London Language School logo">    </p:cNvPr>
          <p:cNvPicPr>
            <a:picLocks noChangeAspect="1"/>
          </p:cNvPicPr>
          <p:nvPr/>
        </p:nvPicPr>
        <p:blipFill>
          <a:blip r:embed="rId2"/>
          <a:stretch>
            <a:fillRect/>
          </a:stretch>
        </p:blipFill>
        <p:spPr>
          <a:xfrm>
            <a:off x="8275320" y="182880"/>
            <a:ext cx="585216" cy="585216"/>
          </a:xfrm>
          <a:prstGeom prst="rect">
            <a:avLst/>
          </a:prstGeom>
        </p:spPr>
      </p:pic>
      <p:sp>
        <p:nvSpPr>
          <p:cNvPr id="6" name="footer_4"/>
          <p:cNvSpPr txBox="1"/>
          <p:nvPr/>
        </p:nvSpPr>
        <p:spPr>
          <a:xfrm>
            <a:off x="7132320" y="4818888"/>
            <a:ext cx="1737360" cy="219456"/>
          </a:xfrm>
          <a:prstGeom prst="rect">
            <a:avLst/>
          </a:prstGeom>
          <a:solidFill>
            <a:srgbClr val="062F67"/>
          </a:solidFill>
          <a:ln/>
        </p:spPr>
        <p:txBody>
          <a:bodyPr wrap="square" lIns="0" tIns="0" rIns="0" bIns="0" rtlCol="0" anchor="ctr"/>
          <a:lstStyle/>
          <a:p>
            <a:pPr algn="ctr" indent="0" marL="0">
              <a:buNone/>
            </a:pPr>
            <a:r>
              <a:rPr lang="en-US" sz="1000" dirty="0">
                <a:solidFill>
                  <a:srgbClr val="E9E2FB"/>
                </a:solidFill>
                <a:latin typeface="Calibri" pitchFamily="34" charset="0"/>
                <a:ea typeface="Calibri" pitchFamily="34" charset="-122"/>
                <a:cs typeface="Calibri" pitchFamily="34" charset="-120"/>
              </a:rPr>
              <a:t>PE3 · Part 1</a:t>
            </a:r>
            <a:endParaRPr lang="en-US" sz="1000" dirty="0"/>
          </a:p>
        </p:txBody>
      </p:sp>
      <p:sp>
        <p:nvSpPr>
          <p:cNvPr id="7" name="unit_5"/>
          <p:cNvSpPr txBox="1"/>
          <p:nvPr/>
        </p:nvSpPr>
        <p:spPr>
          <a:xfrm>
            <a:off x="411480" y="320040"/>
            <a:ext cx="1737360" cy="914400"/>
          </a:xfrm>
          <a:prstGeom prst="rect">
            <a:avLst/>
          </a:prstGeom>
          <a:noFill/>
          <a:ln/>
        </p:spPr>
        <p:txBody>
          <a:bodyPr wrap="square" rtlCol="0" anchor="ctr">
            <a:normAutofit/>
          </a:bodyPr>
          <a:lstStyle/>
          <a:p>
            <a:pPr indent="0" marL="0">
              <a:buNone/>
            </a:pPr>
            <a:r>
              <a:rPr lang="en-US" sz="4600" dirty="0">
                <a:solidFill>
                  <a:srgbClr val="FFD84D"/>
                </a:solidFill>
                <a:latin typeface="Arial Black" pitchFamily="34" charset="0"/>
                <a:ea typeface="Arial Black" pitchFamily="34" charset="-122"/>
                <a:cs typeface="Arial Black" pitchFamily="34" charset="-120"/>
              </a:rPr>
              <a:t>PE3</a:t>
            </a:r>
            <a:endParaRPr lang="en-US" sz="4600" dirty="0"/>
          </a:p>
        </p:txBody>
      </p:sp>
      <p:sp>
        <p:nvSpPr>
          <p:cNvPr id="8" name="course_6"/>
          <p:cNvSpPr txBox="1"/>
          <p:nvPr/>
        </p:nvSpPr>
        <p:spPr>
          <a:xfrm>
            <a:off x="2103120" y="566928"/>
            <a:ext cx="3840480" cy="365760"/>
          </a:xfrm>
          <a:prstGeom prst="rect">
            <a:avLst/>
          </a:prstGeom>
          <a:noFill/>
          <a:ln/>
        </p:spPr>
        <p:txBody>
          <a:bodyPr wrap="square" rtlCol="0" anchor="ctr"/>
          <a:lstStyle/>
          <a:p>
            <a:pPr indent="0" marL="0">
              <a:buNone/>
            </a:pPr>
            <a:r>
              <a:rPr lang="en-US" sz="1050" dirty="0">
                <a:solidFill>
                  <a:srgbClr val="E9E2FB"/>
                </a:solidFill>
                <a:latin typeface="Arial Black" pitchFamily="34" charset="0"/>
                <a:ea typeface="Arial Black" pitchFamily="34" charset="-122"/>
                <a:cs typeface="Arial Black" pitchFamily="34" charset="-120"/>
              </a:rPr>
              <a:t>ENGLISH FILE B1 · PE3 · Part 1 · SB pp.54–55</a:t>
            </a:r>
            <a:endParaRPr lang="en-US" sz="1050" dirty="0"/>
          </a:p>
        </p:txBody>
      </p:sp>
      <p:sp>
        <p:nvSpPr>
          <p:cNvPr id="9" name="title_7"/>
          <p:cNvSpPr txBox="1"/>
          <p:nvPr/>
        </p:nvSpPr>
        <p:spPr>
          <a:xfrm rot="-180000">
            <a:off x="411480" y="1325880"/>
            <a:ext cx="3355848" cy="777240"/>
          </a:xfrm>
          <a:prstGeom prst="rect">
            <a:avLst/>
          </a:prstGeom>
          <a:solidFill>
            <a:srgbClr val="FFD84D"/>
          </a:solidFill>
          <a:ln w="31750">
            <a:solidFill>
              <a:srgbClr val="111111"/>
            </a:solidFill>
          </a:ln>
          <a:effectLst>
            <a:outerShdw sx="100000" sy="100000" kx="0" ky="0" algn="bl" rotWithShape="0" blurRad="101600" dist="38100" dir="2700000">
              <a:srgbClr val="000000">
                <a:alpha val="35000"/>
              </a:srgbClr>
            </a:outerShdw>
          </a:effectLst>
        </p:spPr>
        <p:txBody>
          <a:bodyPr wrap="square" lIns="152400" tIns="152400" rIns="152400" bIns="152400" rtlCol="0" anchor="ctr"/>
          <a:lstStyle/>
          <a:p>
            <a:pPr indent="0" marL="0">
              <a:buNone/>
            </a:pPr>
            <a:r>
              <a:rPr lang="en-US" sz="2650" dirty="0">
                <a:solidFill>
                  <a:srgbClr val="111111"/>
                </a:solidFill>
                <a:latin typeface="Arial Black" pitchFamily="34" charset="0"/>
                <a:ea typeface="Arial Black" pitchFamily="34" charset="-122"/>
                <a:cs typeface="Arial Black" pitchFamily="34" charset="-120"/>
              </a:rPr>
              <a:t>OLD FRIENDS</a:t>
            </a:r>
            <a:endParaRPr lang="en-US" sz="2650" dirty="0"/>
          </a:p>
        </p:txBody>
      </p:sp>
      <p:sp>
        <p:nvSpPr>
          <p:cNvPr id="10" name="stamp_8"/>
          <p:cNvSpPr txBox="1"/>
          <p:nvPr/>
        </p:nvSpPr>
        <p:spPr>
          <a:xfrm>
            <a:off x="457200" y="2468880"/>
            <a:ext cx="3332988" cy="384048"/>
          </a:xfrm>
          <a:prstGeom prst="roundRect">
            <a:avLst>
              <a:gd name="adj" fmla="val 14286"/>
            </a:avLst>
          </a:prstGeom>
          <a:solidFill>
            <a:srgbClr val="062F67"/>
          </a:solidFill>
          <a:ln w="38100">
            <a:solidFill>
              <a:srgbClr val="48BDF2"/>
            </a:solidFill>
          </a:ln>
        </p:spPr>
        <p:txBody>
          <a:bodyPr wrap="square" lIns="25400" tIns="25400" rIns="25400" bIns="25400" rtlCol="0" anchor="ctr"/>
          <a:lstStyle/>
          <a:p>
            <a:pPr algn="ctr" indent="0" marL="0">
              <a:buNone/>
            </a:pPr>
            <a:r>
              <a:rPr lang="en-US" sz="1200" dirty="0">
                <a:solidFill>
                  <a:srgbClr val="FFFFFF"/>
                </a:solidFill>
                <a:latin typeface="Arial Black" pitchFamily="34" charset="0"/>
                <a:ea typeface="Arial Black" pitchFamily="34" charset="-122"/>
                <a:cs typeface="Arial Black" pitchFamily="34" charset="-120"/>
              </a:rPr>
              <a:t>PRACTICAL ENGLISH · Episode 3</a:t>
            </a:r>
            <a:endParaRPr lang="en-US" sz="1200" dirty="0"/>
          </a:p>
        </p:txBody>
      </p:sp>
      <p:sp>
        <p:nvSpPr>
          <p:cNvPr id="11" name="stamp_9"/>
          <p:cNvSpPr txBox="1"/>
          <p:nvPr/>
        </p:nvSpPr>
        <p:spPr>
          <a:xfrm>
            <a:off x="457200" y="2944368"/>
            <a:ext cx="4293108" cy="384048"/>
          </a:xfrm>
          <a:prstGeom prst="roundRect">
            <a:avLst>
              <a:gd name="adj" fmla="val 14286"/>
            </a:avLst>
          </a:prstGeom>
          <a:solidFill>
            <a:srgbClr val="062F67"/>
          </a:solidFill>
          <a:ln w="38100">
            <a:solidFill>
              <a:srgbClr val="1FA463"/>
            </a:solidFill>
          </a:ln>
        </p:spPr>
        <p:txBody>
          <a:bodyPr wrap="square" lIns="25400" tIns="25400" rIns="25400" bIns="25400" rtlCol="0" anchor="ctr"/>
          <a:lstStyle/>
          <a:p>
            <a:pPr algn="ctr" indent="0" marL="0">
              <a:buNone/>
            </a:pPr>
            <a:r>
              <a:rPr lang="en-US" sz="1200" dirty="0">
                <a:solidFill>
                  <a:srgbClr val="FFFFFF"/>
                </a:solidFill>
                <a:latin typeface="Arial Black" pitchFamily="34" charset="0"/>
                <a:ea typeface="Arial Black" pitchFamily="34" charset="-122"/>
                <a:cs typeface="Arial Black" pitchFamily="34" charset="-120"/>
              </a:rPr>
              <a:t>Asking for permission · making requests</a:t>
            </a:r>
            <a:endParaRPr lang="en-US" sz="1200" dirty="0"/>
          </a:p>
        </p:txBody>
      </p:sp>
      <p:sp>
        <p:nvSpPr>
          <p:cNvPr id="12" name="stamp_10"/>
          <p:cNvSpPr txBox="1"/>
          <p:nvPr/>
        </p:nvSpPr>
        <p:spPr>
          <a:xfrm>
            <a:off x="457200" y="3419856"/>
            <a:ext cx="4197096" cy="384048"/>
          </a:xfrm>
          <a:prstGeom prst="roundRect">
            <a:avLst>
              <a:gd name="adj" fmla="val 14286"/>
            </a:avLst>
          </a:prstGeom>
          <a:solidFill>
            <a:srgbClr val="062F67"/>
          </a:solidFill>
          <a:ln w="38100">
            <a:solidFill>
              <a:srgbClr val="EF2F2F"/>
            </a:solidFill>
          </a:ln>
        </p:spPr>
        <p:txBody>
          <a:bodyPr wrap="square" lIns="25400" tIns="25400" rIns="25400" bIns="25400" rtlCol="0" anchor="ctr"/>
          <a:lstStyle/>
          <a:p>
            <a:pPr algn="ctr" indent="0" marL="0">
              <a:buNone/>
            </a:pPr>
            <a:r>
              <a:rPr lang="en-US" sz="1200" dirty="0">
                <a:solidFill>
                  <a:srgbClr val="FFFFFF"/>
                </a:solidFill>
                <a:latin typeface="Arial Black" pitchFamily="34" charset="0"/>
                <a:ea typeface="Arial Black" pitchFamily="34" charset="-122"/>
                <a:cs typeface="Arial Black" pitchFamily="34" charset="-120"/>
              </a:rPr>
              <a:t>SOCIAL ENGLISH · meeting an old friend</a:t>
            </a:r>
            <a:endParaRPr lang="en-US" sz="1200" dirty="0"/>
          </a:p>
        </p:txBody>
      </p:sp>
      <p:sp>
        <p:nvSpPr>
          <p:cNvPr id="13" name="iconBack_11"/>
          <p:cNvSpPr/>
          <p:nvPr/>
        </p:nvSpPr>
        <p:spPr>
          <a:xfrm>
            <a:off x="5669280" y="685800"/>
            <a:ext cx="1737360" cy="1737360"/>
          </a:xfrm>
          <a:prstGeom prst="ellipse">
            <a:avLst/>
          </a:prstGeom>
          <a:solidFill>
            <a:srgbClr val="FFD84D"/>
          </a:solidFill>
          <a:ln w="31750">
            <a:solidFill>
              <a:srgbClr val="111111"/>
            </a:solidFill>
            <a:prstDash val="solid"/>
          </a:ln>
          <a:effectLst>
            <a:outerShdw sx="100000" sy="100000" kx="0" ky="0" algn="bl" rotWithShape="0" blurRad="101600" dist="38100" dir="2700000">
              <a:srgbClr val="000000">
                <a:alpha val="35000"/>
              </a:srgbClr>
            </a:outerShdw>
          </a:effectLst>
        </p:spPr>
      </p:sp>
      <p:pic>
        <p:nvPicPr>
          <p:cNvPr id="14" name="icon_12" descr="pi:PiCoffee">    </p:cNvPr>
          <p:cNvPicPr>
            <a:picLocks noChangeAspect="1"/>
          </p:cNvPicPr>
          <p:nvPr/>
        </p:nvPicPr>
        <p:blipFill>
          <a:blip r:embed="rId3"/>
          <a:stretch>
            <a:fillRect/>
          </a:stretch>
        </p:blipFill>
        <p:spPr>
          <a:xfrm>
            <a:off x="6016752" y="1033272"/>
            <a:ext cx="1042416" cy="1042416"/>
          </a:xfrm>
          <a:prstGeom prst="rect">
            <a:avLst/>
          </a:prstGeom>
        </p:spPr>
      </p:pic>
      <p:sp>
        <p:nvSpPr>
          <p:cNvPr id="15" name="iconBack_13"/>
          <p:cNvSpPr/>
          <p:nvPr/>
        </p:nvSpPr>
        <p:spPr>
          <a:xfrm>
            <a:off x="7315200" y="1508760"/>
            <a:ext cx="1097280" cy="1097280"/>
          </a:xfrm>
          <a:prstGeom prst="ellipse">
            <a:avLst/>
          </a:prstGeom>
          <a:solidFill>
            <a:srgbClr val="FFFFFF"/>
          </a:solidFill>
          <a:ln w="31750">
            <a:solidFill>
              <a:srgbClr val="111111"/>
            </a:solidFill>
            <a:prstDash val="solid"/>
          </a:ln>
          <a:effectLst>
            <a:outerShdw sx="100000" sy="100000" kx="0" ky="0" algn="bl" rotWithShape="0" blurRad="101600" dist="38100" dir="2700000">
              <a:srgbClr val="000000">
                <a:alpha val="35000"/>
              </a:srgbClr>
            </a:outerShdw>
          </a:effectLst>
        </p:spPr>
      </p:sp>
      <p:pic>
        <p:nvPicPr>
          <p:cNvPr id="16" name="icon_14" descr="pi:PiAirplaneTilt">    </p:cNvPr>
          <p:cNvPicPr>
            <a:picLocks noChangeAspect="1"/>
          </p:cNvPicPr>
          <p:nvPr/>
        </p:nvPicPr>
        <p:blipFill>
          <a:blip r:embed="rId4"/>
          <a:stretch>
            <a:fillRect/>
          </a:stretch>
        </p:blipFill>
        <p:spPr>
          <a:xfrm>
            <a:off x="7534656" y="1728216"/>
            <a:ext cx="658368" cy="658368"/>
          </a:xfrm>
          <a:prstGeom prst="rect">
            <a:avLst/>
          </a:prstGeom>
        </p:spPr>
      </p:pic>
      <p:sp>
        <p:nvSpPr>
          <p:cNvPr id="17" name="iconBack_15"/>
          <p:cNvSpPr/>
          <p:nvPr/>
        </p:nvSpPr>
        <p:spPr>
          <a:xfrm>
            <a:off x="5486400" y="2514600"/>
            <a:ext cx="960120" cy="960120"/>
          </a:xfrm>
          <a:prstGeom prst="ellipse">
            <a:avLst/>
          </a:prstGeom>
          <a:solidFill>
            <a:srgbClr val="A8E6B4"/>
          </a:solidFill>
          <a:ln w="31750">
            <a:solidFill>
              <a:srgbClr val="111111"/>
            </a:solidFill>
            <a:prstDash val="solid"/>
          </a:ln>
          <a:effectLst>
            <a:outerShdw sx="100000" sy="100000" kx="0" ky="0" algn="bl" rotWithShape="0" blurRad="101600" dist="38100" dir="2700000">
              <a:srgbClr val="000000">
                <a:alpha val="35000"/>
              </a:srgbClr>
            </a:outerShdw>
          </a:effectLst>
        </p:spPr>
      </p:sp>
      <p:pic>
        <p:nvPicPr>
          <p:cNvPr id="18" name="icon_16" descr="pi:PiKey">    </p:cNvPr>
          <p:cNvPicPr>
            <a:picLocks noChangeAspect="1"/>
          </p:cNvPicPr>
          <p:nvPr/>
        </p:nvPicPr>
        <p:blipFill>
          <a:blip r:embed="rId5"/>
          <a:stretch>
            <a:fillRect/>
          </a:stretch>
        </p:blipFill>
        <p:spPr>
          <a:xfrm>
            <a:off x="5678424" y="2706624"/>
            <a:ext cx="576072" cy="576072"/>
          </a:xfrm>
          <a:prstGeom prst="rect">
            <a:avLst/>
          </a:prstGeom>
        </p:spPr>
      </p:pic>
      <p:sp>
        <p:nvSpPr>
          <p:cNvPr id="19" name="R1_q"/>
          <p:cNvSpPr txBox="1"/>
          <p:nvPr/>
        </p:nvSpPr>
        <p:spPr>
          <a:xfrm>
            <a:off x="5120640" y="3337560"/>
            <a:ext cx="2377440" cy="777240"/>
          </a:xfrm>
          <a:prstGeom prst="wedgeRoundRectCallout">
            <a:avLst/>
          </a:prstGeom>
          <a:solidFill>
            <a:srgbClr val="48BDF2"/>
          </a:solidFill>
          <a:ln w="31750">
            <a:solidFill>
              <a:srgbClr val="111111"/>
            </a:solidFill>
          </a:ln>
          <a:effectLst>
            <a:outerShdw sx="100000" sy="100000" kx="0" ky="0" algn="bl" rotWithShape="0" blurRad="101600" dist="38100" dir="2700000">
              <a:srgbClr val="000000">
                <a:alpha val="35000"/>
              </a:srgbClr>
            </a:outerShdw>
          </a:effectLst>
        </p:spPr>
        <p:txBody>
          <a:bodyPr wrap="square" lIns="76200" tIns="76200" rIns="76200" bIns="76200" rtlCol="0" anchor="ctr"/>
          <a:lstStyle/>
          <a:p>
            <a:pPr algn="ctr" indent="0" marL="0">
              <a:buNone/>
            </a:pPr>
            <a:r>
              <a:rPr lang="en-US" sz="1400" b="1" dirty="0">
                <a:solidFill>
                  <a:srgbClr val="111111"/>
                </a:solidFill>
                <a:latin typeface="Calibri" pitchFamily="34" charset="0"/>
                <a:ea typeface="Calibri" pitchFamily="34" charset="-122"/>
                <a:cs typeface="Calibri" pitchFamily="34" charset="-120"/>
              </a:rPr>
              <a:t>Would you mind meeting my friend at the airport?</a:t>
            </a:r>
            <a:endParaRPr lang="en-US" sz="1400" dirty="0"/>
          </a:p>
        </p:txBody>
      </p:sp>
      <p:sp>
        <p:nvSpPr>
          <p:cNvPr id="20" name="R2_a"/>
          <p:cNvSpPr txBox="1"/>
          <p:nvPr/>
        </p:nvSpPr>
        <p:spPr>
          <a:xfrm>
            <a:off x="6629400" y="4069080"/>
            <a:ext cx="2148840" cy="594360"/>
          </a:xfrm>
          <a:prstGeom prst="wedgeRoundRectCallout">
            <a:avLst/>
          </a:prstGeom>
          <a:solidFill>
            <a:srgbClr val="FFD84D"/>
          </a:solidFill>
          <a:ln w="31750">
            <a:solidFill>
              <a:srgbClr val="111111"/>
            </a:solidFill>
          </a:ln>
          <a:effectLst>
            <a:outerShdw sx="100000" sy="100000" kx="0" ky="0" algn="bl" rotWithShape="0" blurRad="101600" dist="38100" dir="2700000">
              <a:srgbClr val="000000">
                <a:alpha val="35000"/>
              </a:srgbClr>
            </a:outerShdw>
          </a:effectLst>
        </p:spPr>
        <p:txBody>
          <a:bodyPr wrap="square" lIns="76200" tIns="76200" rIns="76200" bIns="76200" rtlCol="0" anchor="ctr"/>
          <a:lstStyle/>
          <a:p>
            <a:pPr algn="ctr" indent="0" marL="0">
              <a:buNone/>
            </a:pPr>
            <a:r>
              <a:rPr lang="en-US" sz="1300" b="1" dirty="0">
                <a:solidFill>
                  <a:srgbClr val="111111"/>
                </a:solidFill>
                <a:latin typeface="Calibri" pitchFamily="34" charset="0"/>
                <a:ea typeface="Calibri" pitchFamily="34" charset="-122"/>
                <a:cs typeface="Calibri" pitchFamily="34" charset="-120"/>
              </a:rPr>
              <a:t>Not at all!</a:t>
            </a:r>
            <a:endParaRPr lang="en-US" sz="1300" dirty="0"/>
          </a:p>
        </p:txBody>
      </p:sp>
      <p:sp>
        <p:nvSpPr>
          <p:cNvPr id="21" name="tnote_17"/>
          <p:cNvSpPr txBox="1"/>
          <p:nvPr/>
        </p:nvSpPr>
        <p:spPr>
          <a:xfrm>
            <a:off x="411480" y="4773168"/>
            <a:ext cx="5029200" cy="237744"/>
          </a:xfrm>
          <a:prstGeom prst="rect">
            <a:avLst/>
          </a:prstGeom>
          <a:noFill/>
          <a:ln/>
        </p:spPr>
        <p:txBody>
          <a:bodyPr wrap="square" rtlCol="0" anchor="ctr"/>
          <a:lstStyle/>
          <a:p>
            <a:pPr indent="0" marL="0">
              <a:buNone/>
            </a:pPr>
            <a:r>
              <a:rPr lang="en-US" sz="900" dirty="0">
                <a:solidFill>
                  <a:srgbClr val="E9E2FB"/>
                </a:solidFill>
                <a:latin typeface="Calibri" pitchFamily="34" charset="0"/>
                <a:ea typeface="Calibri" pitchFamily="34" charset="-122"/>
                <a:cs typeface="Calibri" pitchFamily="34" charset="-120"/>
              </a:rPr>
              <a:t>Teacher: timings, answers and tips are in the slide notes.</a:t>
            </a:r>
            <a:endParaRPr lang="en-US" sz="90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9"/>
                                        </p:tgtEl>
                                        <p:attrNameLst>
                                          <p:attrName>style.visibility</p:attrName>
                                        </p:attrNameLst>
                                      </p:cBhvr>
                                      <p:to>
                                        <p:strVal val="visible"/>
                                      </p:to>
                                    </p:set>
                                    <p:animEffect transition="in" filter="fade">
                                      <p:cBhvr>
                                        <p:cTn id="7" dur="400"/>
                                        <p:tgtEl>
                                          <p:spTgt spid="19"/>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0"/>
                                        </p:tgtEl>
                                        <p:attrNameLst>
                                          <p:attrName>style.visibility</p:attrName>
                                        </p:attrNameLst>
                                      </p:cBhvr>
                                      <p:to>
                                        <p:strVal val="visible"/>
                                      </p:to>
                                    </p:set>
                                    <p:animEffect transition="in" filter="fade">
                                      <p:cBhvr>
                                        <p:cTn id="12" dur="4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name="Slide 2">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levelFrame_18"/>
          <p:cNvSpPr/>
          <p:nvPr/>
        </p:nvSpPr>
        <p:spPr>
          <a:xfrm>
            <a:off x="54864" y="54864"/>
            <a:ext cx="9034272" cy="5033772"/>
          </a:xfrm>
          <a:prstGeom prst="rect">
            <a:avLst/>
          </a:prstGeom>
          <a:ln w="114300">
            <a:solidFill>
              <a:srgbClr val="A8E6B4"/>
            </a:solidFill>
            <a:prstDash val="solid"/>
          </a:ln>
        </p:spPr>
      </p:sp>
      <p:pic>
        <p:nvPicPr>
          <p:cNvPr id="4" name="logo_19" descr="London Language School logo">    </p:cNvPr>
          <p:cNvPicPr>
            <a:picLocks noChangeAspect="1"/>
          </p:cNvPicPr>
          <p:nvPr/>
        </p:nvPicPr>
        <p:blipFill>
          <a:blip r:embed="rId2"/>
          <a:stretch>
            <a:fillRect/>
          </a:stretch>
        </p:blipFill>
        <p:spPr>
          <a:xfrm>
            <a:off x="8275320" y="182880"/>
            <a:ext cx="585216" cy="585216"/>
          </a:xfrm>
          <a:prstGeom prst="rect">
            <a:avLst/>
          </a:prstGeom>
        </p:spPr>
      </p:pic>
      <p:sp>
        <p:nvSpPr>
          <p:cNvPr id="5" name="objective_20"/>
          <p:cNvSpPr txBox="1"/>
          <p:nvPr/>
        </p:nvSpPr>
        <p:spPr>
          <a:xfrm>
            <a:off x="320040" y="182880"/>
            <a:ext cx="4754880" cy="365760"/>
          </a:xfrm>
          <a:prstGeom prst="roundRect">
            <a:avLst>
              <a:gd name="adj" fmla="val 20000"/>
            </a:avLst>
          </a:prstGeom>
          <a:solidFill>
            <a:srgbClr val="062F67"/>
          </a:solidFill>
          <a:ln w="31750">
            <a:solidFill>
              <a:srgbClr val="111111"/>
            </a:solidFill>
          </a:ln>
        </p:spPr>
        <p:txBody>
          <a:bodyPr wrap="square" lIns="101600" tIns="101600" rIns="101600" bIns="101600" rtlCol="0" anchor="ctr"/>
          <a:lstStyle/>
          <a:p>
            <a:pPr indent="0" marL="0">
              <a:buNone/>
            </a:pPr>
            <a:r>
              <a:rPr lang="en-US" sz="900" dirty="0">
                <a:solidFill>
                  <a:srgbClr val="FFFFFF"/>
                </a:solidFill>
                <a:latin typeface="Arial Black" pitchFamily="34" charset="0"/>
                <a:ea typeface="Arial Black" pitchFamily="34" charset="-122"/>
                <a:cs typeface="Arial Black" pitchFamily="34" charset="-120"/>
              </a:rPr>
              <a:t>REVISION · 5B part 2 · Relationships</a:t>
            </a:r>
            <a:endParaRPr lang="en-US" sz="900" dirty="0"/>
          </a:p>
        </p:txBody>
      </p:sp>
      <p:sp>
        <p:nvSpPr>
          <p:cNvPr id="6" name="timer_21"/>
          <p:cNvSpPr txBox="1"/>
          <p:nvPr/>
        </p:nvSpPr>
        <p:spPr>
          <a:xfrm>
            <a:off x="7086600" y="219456"/>
            <a:ext cx="1005840" cy="310896"/>
          </a:xfrm>
          <a:prstGeom prst="roundRect">
            <a:avLst>
              <a:gd name="adj" fmla="val 23529"/>
            </a:avLst>
          </a:prstGeom>
          <a:solidFill>
            <a:srgbClr val="FFFFFF"/>
          </a:solidFill>
          <a:ln w="25400">
            <a:solidFill>
              <a:srgbClr val="6D3FC0"/>
            </a:solidFill>
          </a:ln>
        </p:spPr>
        <p:txBody>
          <a:bodyPr wrap="square" lIns="0" tIns="0" rIns="0" bIns="0" rtlCol="0" anchor="ctr"/>
          <a:lstStyle/>
          <a:p>
            <a:pPr algn="ctr" indent="0" marL="0">
              <a:buNone/>
            </a:pPr>
            <a:r>
              <a:rPr lang="en-US" sz="1200" b="1" dirty="0">
                <a:solidFill>
                  <a:srgbClr val="6D3FC0"/>
                </a:solidFill>
                <a:latin typeface="Calibri" pitchFamily="34" charset="0"/>
                <a:ea typeface="Calibri" pitchFamily="34" charset="-122"/>
                <a:cs typeface="Calibri" pitchFamily="34" charset="-120"/>
              </a:rPr>
              <a:t>⏱ 5 min</a:t>
            </a:r>
            <a:endParaRPr lang="en-US" sz="1200" dirty="0"/>
          </a:p>
        </p:txBody>
      </p:sp>
      <p:sp>
        <p:nvSpPr>
          <p:cNvPr id="7" name="footer_22"/>
          <p:cNvSpPr txBox="1"/>
          <p:nvPr/>
        </p:nvSpPr>
        <p:spPr>
          <a:xfrm>
            <a:off x="7132320" y="4818888"/>
            <a:ext cx="1737360" cy="219456"/>
          </a:xfrm>
          <a:prstGeom prst="rect">
            <a:avLst/>
          </a:prstGeom>
          <a:solidFill>
            <a:srgbClr val="FFFFFF"/>
          </a:solidFill>
          <a:ln/>
        </p:spPr>
        <p:txBody>
          <a:bodyPr wrap="square" lIns="0" tIns="0" rIns="0" bIns="0" rtlCol="0" anchor="ctr"/>
          <a:lstStyle/>
          <a:p>
            <a:pPr algn="ctr" indent="0" marL="0">
              <a:buNone/>
            </a:pPr>
            <a:r>
              <a:rPr lang="en-US" sz="1000" dirty="0">
                <a:solidFill>
                  <a:srgbClr val="334155"/>
                </a:solidFill>
                <a:latin typeface="Calibri" pitchFamily="34" charset="0"/>
                <a:ea typeface="Calibri" pitchFamily="34" charset="-122"/>
                <a:cs typeface="Calibri" pitchFamily="34" charset="-120"/>
              </a:rPr>
              <a:t>PE3 · Part 1</a:t>
            </a:r>
            <a:endParaRPr lang="en-US" sz="1000" dirty="0"/>
          </a:p>
        </p:txBody>
      </p:sp>
      <p:sp>
        <p:nvSpPr>
          <p:cNvPr id="8" name="title_23"/>
          <p:cNvSpPr txBox="1"/>
          <p:nvPr/>
        </p:nvSpPr>
        <p:spPr>
          <a:xfrm rot="-120000">
            <a:off x="320040" y="676656"/>
            <a:ext cx="2761488" cy="530352"/>
          </a:xfrm>
          <a:prstGeom prst="rect">
            <a:avLst/>
          </a:prstGeom>
          <a:solidFill>
            <a:srgbClr val="FFD84D"/>
          </a:solidFill>
          <a:ln w="31750">
            <a:solidFill>
              <a:srgbClr val="111111"/>
            </a:solidFill>
          </a:ln>
          <a:effectLst>
            <a:outerShdw sx="100000" sy="100000" kx="0" ky="0" algn="bl" rotWithShape="0" blurRad="101600" dist="38100" dir="2700000">
              <a:srgbClr val="000000">
                <a:alpha val="35000"/>
              </a:srgbClr>
            </a:outerShdw>
          </a:effectLst>
        </p:spPr>
        <p:txBody>
          <a:bodyPr wrap="square" lIns="127000" tIns="127000" rIns="127000" bIns="127000" rtlCol="0" anchor="ctr"/>
          <a:lstStyle/>
          <a:p>
            <a:pPr indent="0" marL="0">
              <a:buNone/>
            </a:pPr>
            <a:r>
              <a:rPr lang="en-US" sz="1500" dirty="0">
                <a:solidFill>
                  <a:srgbClr val="111111"/>
                </a:solidFill>
                <a:latin typeface="Arial Black" pitchFamily="34" charset="0"/>
                <a:ea typeface="Arial Black" pitchFamily="34" charset="-122"/>
                <a:cs typeface="Arial Black" pitchFamily="34" charset="-120"/>
              </a:rPr>
              <a:t>Timeline race</a:t>
            </a:r>
            <a:endParaRPr lang="en-US" sz="1500" dirty="0"/>
          </a:p>
        </p:txBody>
      </p:sp>
      <p:sp>
        <p:nvSpPr>
          <p:cNvPr id="9" name="post_24"/>
          <p:cNvSpPr/>
          <p:nvPr/>
        </p:nvSpPr>
        <p:spPr>
          <a:xfrm>
            <a:off x="429768" y="1554480"/>
            <a:ext cx="128016" cy="2194560"/>
          </a:xfrm>
          <a:prstGeom prst="rect">
            <a:avLst/>
          </a:prstGeom>
          <a:solidFill>
            <a:srgbClr val="8B5A2B"/>
          </a:solidFill>
          <a:ln w="31750">
            <a:solidFill>
              <a:srgbClr val="111111"/>
            </a:solidFill>
            <a:prstDash val="solid"/>
          </a:ln>
        </p:spPr>
      </p:sp>
      <p:sp>
        <p:nvSpPr>
          <p:cNvPr id="10" name="signA_25"/>
          <p:cNvSpPr txBox="1"/>
          <p:nvPr/>
        </p:nvSpPr>
        <p:spPr>
          <a:xfrm rot="-180000">
            <a:off x="320040" y="1371600"/>
            <a:ext cx="2240280" cy="457200"/>
          </a:xfrm>
          <a:prstGeom prst="homePlate">
            <a:avLst/>
          </a:prstGeom>
          <a:solidFill>
            <a:srgbClr val="1FA463"/>
          </a:solidFill>
          <a:ln w="31750">
            <a:solidFill>
              <a:srgbClr val="111111"/>
            </a:solidFill>
          </a:ln>
          <a:effectLst>
            <a:outerShdw sx="100000" sy="100000" kx="0" ky="0" algn="bl" rotWithShape="0" blurRad="101600" dist="38100" dir="2700000">
              <a:srgbClr val="000000">
                <a:alpha val="35000"/>
              </a:srgbClr>
            </a:outerShdw>
          </a:effectLst>
        </p:spPr>
        <p:txBody>
          <a:bodyPr wrap="square" lIns="76200" tIns="76200" rIns="76200" bIns="76200" rtlCol="0" anchor="ctr"/>
          <a:lstStyle/>
          <a:p>
            <a:pPr indent="0" marL="0">
              <a:buNone/>
            </a:pPr>
            <a:r>
              <a:rPr lang="en-US" sz="1500" b="1" dirty="0">
                <a:solidFill>
                  <a:srgbClr val="FFFFFF"/>
                </a:solidFill>
                <a:latin typeface="Arial Black" pitchFamily="34" charset="0"/>
                <a:ea typeface="Arial Black" pitchFamily="34" charset="-122"/>
                <a:cs typeface="Arial Black" pitchFamily="34" charset="-120"/>
              </a:rPr>
              <a:t>PLAY!</a:t>
            </a:r>
            <a:pPr indent="0" marL="0">
              <a:buNone/>
            </a:pPr>
            <a:r>
              <a:rPr lang="en-US" sz="1000" dirty="0">
                <a:solidFill>
                  <a:srgbClr val="FFF3B0"/>
                </a:solidFill>
                <a:latin typeface="Arial Black" pitchFamily="34" charset="0"/>
                <a:ea typeface="Arial Black" pitchFamily="34" charset="-122"/>
                <a:cs typeface="Arial Black" pitchFamily="34" charset="-120"/>
              </a:rPr>
              <a:t>  GIOCA!</a:t>
            </a:r>
            <a:endParaRPr lang="en-US" sz="1500" dirty="0"/>
          </a:p>
        </p:txBody>
      </p:sp>
      <p:sp>
        <p:nvSpPr>
          <p:cNvPr id="11" name="signB_26"/>
          <p:cNvSpPr txBox="1"/>
          <p:nvPr/>
        </p:nvSpPr>
        <p:spPr>
          <a:xfrm rot="120000">
            <a:off x="365760" y="1938528"/>
            <a:ext cx="2240280" cy="1051560"/>
          </a:xfrm>
          <a:prstGeom prst="rect">
            <a:avLst/>
          </a:prstGeom>
          <a:solidFill>
            <a:srgbClr val="FFFFFF"/>
          </a:solidFill>
          <a:ln w="31750">
            <a:solidFill>
              <a:srgbClr val="111111"/>
            </a:solidFill>
          </a:ln>
        </p:spPr>
        <p:txBody>
          <a:bodyPr wrap="square" lIns="76200" tIns="76200" rIns="76200" bIns="76200" rtlCol="0" anchor="ctr"/>
          <a:lstStyle/>
          <a:p>
            <a:pPr indent="0" marL="0">
              <a:buNone/>
            </a:pPr>
            <a:r>
              <a:rPr lang="en-US" sz="1250" dirty="0">
                <a:solidFill>
                  <a:srgbClr val="111111"/>
                </a:solidFill>
                <a:latin typeface="Calibri" pitchFamily="34" charset="0"/>
                <a:ea typeface="Calibri" pitchFamily="34" charset="-122"/>
                <a:cs typeface="Calibri" pitchFamily="34" charset="-120"/>
              </a:rPr>
              <a:t>Pairs: put the story in order. Fastest correct pair wins!</a:t>
            </a:r>
            <a:endParaRPr lang="en-US" sz="1250" dirty="0"/>
          </a:p>
          <a:p>
            <a:pPr indent="0" marL="0">
              <a:buNone/>
            </a:pPr>
            <a:r>
              <a:rPr lang="en-US" sz="1100" i="1" dirty="0">
                <a:solidFill>
                  <a:srgbClr val="334155"/>
                </a:solidFill>
                <a:latin typeface="Calibri" pitchFamily="34" charset="0"/>
                <a:ea typeface="Calibri" pitchFamily="34" charset="-122"/>
                <a:cs typeface="Calibri" pitchFamily="34" charset="-120"/>
              </a:rPr>
              <a:t>In coppia: mettete la storia in ordine. Vince la coppia più veloce!</a:t>
            </a:r>
            <a:endParaRPr lang="en-US" sz="1250" dirty="0"/>
          </a:p>
        </p:txBody>
      </p:sp>
      <p:sp>
        <p:nvSpPr>
          <p:cNvPr id="12" name="iconBack_27"/>
          <p:cNvSpPr/>
          <p:nvPr/>
        </p:nvSpPr>
        <p:spPr>
          <a:xfrm>
            <a:off x="685800" y="3246120"/>
            <a:ext cx="1143000" cy="1143000"/>
          </a:xfrm>
          <a:prstGeom prst="ellipse">
            <a:avLst/>
          </a:prstGeom>
          <a:solidFill>
            <a:srgbClr val="FFFFFF"/>
          </a:solidFill>
          <a:ln w="31750">
            <a:solidFill>
              <a:srgbClr val="111111"/>
            </a:solidFill>
            <a:prstDash val="solid"/>
          </a:ln>
          <a:effectLst>
            <a:outerShdw sx="100000" sy="100000" kx="0" ky="0" algn="bl" rotWithShape="0" blurRad="101600" dist="38100" dir="2700000">
              <a:srgbClr val="000000">
                <a:alpha val="35000"/>
              </a:srgbClr>
            </a:outerShdw>
          </a:effectLst>
        </p:spPr>
      </p:sp>
      <p:pic>
        <p:nvPicPr>
          <p:cNvPr id="13" name="icon_28" descr="pi:PiHourglass">    </p:cNvPr>
          <p:cNvPicPr>
            <a:picLocks noChangeAspect="1"/>
          </p:cNvPicPr>
          <p:nvPr/>
        </p:nvPicPr>
        <p:blipFill>
          <a:blip r:embed="rId3"/>
          <a:stretch>
            <a:fillRect/>
          </a:stretch>
        </p:blipFill>
        <p:spPr>
          <a:xfrm>
            <a:off x="914400" y="3474720"/>
            <a:ext cx="685800" cy="685800"/>
          </a:xfrm>
          <a:prstGeom prst="rect">
            <a:avLst/>
          </a:prstGeom>
        </p:spPr>
      </p:pic>
      <p:sp>
        <p:nvSpPr>
          <p:cNvPr id="14" name="box_29"/>
          <p:cNvSpPr txBox="1"/>
          <p:nvPr/>
        </p:nvSpPr>
        <p:spPr>
          <a:xfrm>
            <a:off x="2788920" y="1371600"/>
            <a:ext cx="2126529" cy="726948"/>
          </a:xfrm>
          <a:prstGeom prst="rect">
            <a:avLst/>
          </a:prstGeom>
          <a:solidFill>
            <a:srgbClr val="E0F2FE"/>
          </a:solidFill>
          <a:ln w="15875">
            <a:solidFill>
              <a:srgbClr val="111111"/>
            </a:solidFill>
          </a:ln>
        </p:spPr>
        <p:txBody>
          <a:bodyPr wrap="square" lIns="76200" tIns="76200" rIns="76200" bIns="76200" rtlCol="0" anchor="ctr"/>
          <a:lstStyle/>
          <a:p>
            <a:pPr algn="l" indent="0" marL="0">
              <a:buNone/>
            </a:pPr>
            <a:r>
              <a:rPr lang="en-US" sz="1300" dirty="0">
                <a:solidFill>
                  <a:srgbClr val="111111"/>
                </a:solidFill>
                <a:latin typeface="Calibri" pitchFamily="34" charset="0"/>
                <a:ea typeface="Calibri" pitchFamily="34" charset="-122"/>
                <a:cs typeface="Calibri" pitchFamily="34" charset="-120"/>
              </a:rPr>
              <a:t>A  they broke up</a:t>
            </a:r>
            <a:endParaRPr lang="en-US" sz="1300" dirty="0"/>
          </a:p>
        </p:txBody>
      </p:sp>
      <p:sp>
        <p:nvSpPr>
          <p:cNvPr id="15" name="R1_a0"/>
          <p:cNvSpPr txBox="1"/>
          <p:nvPr/>
        </p:nvSpPr>
        <p:spPr>
          <a:xfrm>
            <a:off x="4970313" y="1408176"/>
            <a:ext cx="772119" cy="653796"/>
          </a:xfrm>
          <a:prstGeom prst="roundRect">
            <a:avLst>
              <a:gd name="adj" fmla="val 8392"/>
            </a:avLst>
          </a:prstGeom>
          <a:solidFill>
            <a:srgbClr val="FFFFFF"/>
          </a:solidFill>
          <a:ln w="38100">
            <a:solidFill>
              <a:srgbClr val="1FA463"/>
            </a:solidFill>
          </a:ln>
        </p:spPr>
        <p:txBody>
          <a:bodyPr wrap="square" lIns="25400" tIns="25400" rIns="25400" bIns="25400" rtlCol="0" anchor="ctr"/>
          <a:lstStyle/>
          <a:p>
            <a:pPr algn="ctr" indent="0" marL="0">
              <a:buNone/>
            </a:pPr>
            <a:r>
              <a:rPr lang="en-US" sz="1300" dirty="0">
                <a:solidFill>
                  <a:srgbClr val="111111"/>
                </a:solidFill>
                <a:latin typeface="Calibri" pitchFamily="34" charset="0"/>
                <a:ea typeface="Calibri" pitchFamily="34" charset="-122"/>
                <a:cs typeface="Calibri" pitchFamily="34" charset="-120"/>
              </a:rPr>
              <a:t>4</a:t>
            </a:r>
            <a:endParaRPr lang="en-US" sz="1300" dirty="0"/>
          </a:p>
        </p:txBody>
      </p:sp>
      <p:sp>
        <p:nvSpPr>
          <p:cNvPr id="16" name="box_30"/>
          <p:cNvSpPr txBox="1"/>
          <p:nvPr/>
        </p:nvSpPr>
        <p:spPr>
          <a:xfrm>
            <a:off x="5870448" y="1371600"/>
            <a:ext cx="2126529" cy="726948"/>
          </a:xfrm>
          <a:prstGeom prst="rect">
            <a:avLst/>
          </a:prstGeom>
          <a:solidFill>
            <a:srgbClr val="FCE7F3"/>
          </a:solidFill>
          <a:ln w="15875">
            <a:solidFill>
              <a:srgbClr val="111111"/>
            </a:solidFill>
          </a:ln>
        </p:spPr>
        <p:txBody>
          <a:bodyPr wrap="square" lIns="76200" tIns="76200" rIns="76200" bIns="76200" rtlCol="0" anchor="ctr"/>
          <a:lstStyle/>
          <a:p>
            <a:pPr algn="l" indent="0" marL="0">
              <a:buNone/>
            </a:pPr>
            <a:r>
              <a:rPr lang="en-US" sz="1300" dirty="0">
                <a:solidFill>
                  <a:srgbClr val="111111"/>
                </a:solidFill>
                <a:latin typeface="Calibri" pitchFamily="34" charset="0"/>
                <a:ea typeface="Calibri" pitchFamily="34" charset="-122"/>
                <a:cs typeface="Calibri" pitchFamily="34" charset="-120"/>
              </a:rPr>
              <a:t>B  they got married</a:t>
            </a:r>
            <a:endParaRPr lang="en-US" sz="1300" dirty="0"/>
          </a:p>
        </p:txBody>
      </p:sp>
      <p:sp>
        <p:nvSpPr>
          <p:cNvPr id="17" name="R1_a1"/>
          <p:cNvSpPr txBox="1"/>
          <p:nvPr/>
        </p:nvSpPr>
        <p:spPr>
          <a:xfrm>
            <a:off x="8051841" y="1408176"/>
            <a:ext cx="772119" cy="653796"/>
          </a:xfrm>
          <a:prstGeom prst="roundRect">
            <a:avLst>
              <a:gd name="adj" fmla="val 8392"/>
            </a:avLst>
          </a:prstGeom>
          <a:solidFill>
            <a:srgbClr val="FFFFFF"/>
          </a:solidFill>
          <a:ln w="38100">
            <a:solidFill>
              <a:srgbClr val="1FA463"/>
            </a:solidFill>
          </a:ln>
        </p:spPr>
        <p:txBody>
          <a:bodyPr wrap="square" lIns="25400" tIns="25400" rIns="25400" bIns="25400" rtlCol="0" anchor="ctr"/>
          <a:lstStyle/>
          <a:p>
            <a:pPr algn="ctr" indent="0" marL="0">
              <a:buNone/>
            </a:pPr>
            <a:r>
              <a:rPr lang="en-US" sz="1300" dirty="0">
                <a:solidFill>
                  <a:srgbClr val="111111"/>
                </a:solidFill>
                <a:latin typeface="Calibri" pitchFamily="34" charset="0"/>
                <a:ea typeface="Calibri" pitchFamily="34" charset="-122"/>
                <a:cs typeface="Calibri" pitchFamily="34" charset="-120"/>
              </a:rPr>
              <a:t>8</a:t>
            </a:r>
            <a:endParaRPr lang="en-US" sz="1300" dirty="0"/>
          </a:p>
        </p:txBody>
      </p:sp>
      <p:sp>
        <p:nvSpPr>
          <p:cNvPr id="18" name="box_31"/>
          <p:cNvSpPr txBox="1"/>
          <p:nvPr/>
        </p:nvSpPr>
        <p:spPr>
          <a:xfrm>
            <a:off x="2788920" y="2226564"/>
            <a:ext cx="2126529" cy="726948"/>
          </a:xfrm>
          <a:prstGeom prst="rect">
            <a:avLst/>
          </a:prstGeom>
          <a:solidFill>
            <a:srgbClr val="FEF9C3"/>
          </a:solidFill>
          <a:ln w="15875">
            <a:solidFill>
              <a:srgbClr val="111111"/>
            </a:solidFill>
          </a:ln>
        </p:spPr>
        <p:txBody>
          <a:bodyPr wrap="square" lIns="76200" tIns="76200" rIns="76200" bIns="76200" rtlCol="0" anchor="ctr"/>
          <a:lstStyle/>
          <a:p>
            <a:pPr algn="l" indent="0" marL="0">
              <a:buNone/>
            </a:pPr>
            <a:r>
              <a:rPr lang="en-US" sz="1300" dirty="0">
                <a:solidFill>
                  <a:srgbClr val="111111"/>
                </a:solidFill>
                <a:latin typeface="Calibri" pitchFamily="34" charset="0"/>
                <a:ea typeface="Calibri" pitchFamily="34" charset="-122"/>
                <a:cs typeface="Calibri" pitchFamily="34" charset="-120"/>
              </a:rPr>
              <a:t>C  they met at university</a:t>
            </a:r>
            <a:endParaRPr lang="en-US" sz="1300" dirty="0"/>
          </a:p>
        </p:txBody>
      </p:sp>
      <p:sp>
        <p:nvSpPr>
          <p:cNvPr id="19" name="R1_a2"/>
          <p:cNvSpPr txBox="1"/>
          <p:nvPr/>
        </p:nvSpPr>
        <p:spPr>
          <a:xfrm>
            <a:off x="4970313" y="2263140"/>
            <a:ext cx="772119" cy="653796"/>
          </a:xfrm>
          <a:prstGeom prst="roundRect">
            <a:avLst>
              <a:gd name="adj" fmla="val 8392"/>
            </a:avLst>
          </a:prstGeom>
          <a:solidFill>
            <a:srgbClr val="FFFFFF"/>
          </a:solidFill>
          <a:ln w="38100">
            <a:solidFill>
              <a:srgbClr val="1FA463"/>
            </a:solidFill>
          </a:ln>
        </p:spPr>
        <p:txBody>
          <a:bodyPr wrap="square" lIns="25400" tIns="25400" rIns="25400" bIns="25400" rtlCol="0" anchor="ctr"/>
          <a:lstStyle/>
          <a:p>
            <a:pPr algn="ctr" indent="0" marL="0">
              <a:buNone/>
            </a:pPr>
            <a:r>
              <a:rPr lang="en-US" sz="1300" dirty="0">
                <a:solidFill>
                  <a:srgbClr val="111111"/>
                </a:solidFill>
                <a:latin typeface="Calibri" pitchFamily="34" charset="0"/>
                <a:ea typeface="Calibri" pitchFamily="34" charset="-122"/>
                <a:cs typeface="Calibri" pitchFamily="34" charset="-120"/>
              </a:rPr>
              <a:t>1</a:t>
            </a:r>
            <a:endParaRPr lang="en-US" sz="1300" dirty="0"/>
          </a:p>
        </p:txBody>
      </p:sp>
      <p:sp>
        <p:nvSpPr>
          <p:cNvPr id="20" name="box_32"/>
          <p:cNvSpPr txBox="1"/>
          <p:nvPr/>
        </p:nvSpPr>
        <p:spPr>
          <a:xfrm>
            <a:off x="5870448" y="2226564"/>
            <a:ext cx="2126529" cy="726948"/>
          </a:xfrm>
          <a:prstGeom prst="rect">
            <a:avLst/>
          </a:prstGeom>
          <a:solidFill>
            <a:srgbClr val="DCFCE7"/>
          </a:solidFill>
          <a:ln w="15875">
            <a:solidFill>
              <a:srgbClr val="111111"/>
            </a:solidFill>
          </a:ln>
        </p:spPr>
        <p:txBody>
          <a:bodyPr wrap="square" lIns="76200" tIns="76200" rIns="76200" bIns="76200" rtlCol="0" anchor="ctr"/>
          <a:lstStyle/>
          <a:p>
            <a:pPr algn="l" indent="0" marL="0">
              <a:buNone/>
            </a:pPr>
            <a:r>
              <a:rPr lang="en-US" sz="1300" dirty="0">
                <a:solidFill>
                  <a:srgbClr val="111111"/>
                </a:solidFill>
                <a:latin typeface="Calibri" pitchFamily="34" charset="0"/>
                <a:ea typeface="Calibri" pitchFamily="34" charset="-122"/>
                <a:cs typeface="Calibri" pitchFamily="34" charset="-120"/>
              </a:rPr>
              <a:t>D  they got in touch again</a:t>
            </a:r>
            <a:endParaRPr lang="en-US" sz="1300" dirty="0"/>
          </a:p>
        </p:txBody>
      </p:sp>
      <p:sp>
        <p:nvSpPr>
          <p:cNvPr id="21" name="R1_a3"/>
          <p:cNvSpPr txBox="1"/>
          <p:nvPr/>
        </p:nvSpPr>
        <p:spPr>
          <a:xfrm>
            <a:off x="8051841" y="2263140"/>
            <a:ext cx="772119" cy="653796"/>
          </a:xfrm>
          <a:prstGeom prst="roundRect">
            <a:avLst>
              <a:gd name="adj" fmla="val 8392"/>
            </a:avLst>
          </a:prstGeom>
          <a:solidFill>
            <a:srgbClr val="FFFFFF"/>
          </a:solidFill>
          <a:ln w="38100">
            <a:solidFill>
              <a:srgbClr val="1FA463"/>
            </a:solidFill>
          </a:ln>
        </p:spPr>
        <p:txBody>
          <a:bodyPr wrap="square" lIns="25400" tIns="25400" rIns="25400" bIns="25400" rtlCol="0" anchor="ctr"/>
          <a:lstStyle/>
          <a:p>
            <a:pPr algn="ctr" indent="0" marL="0">
              <a:buNone/>
            </a:pPr>
            <a:r>
              <a:rPr lang="en-US" sz="1300" dirty="0">
                <a:solidFill>
                  <a:srgbClr val="111111"/>
                </a:solidFill>
                <a:latin typeface="Calibri" pitchFamily="34" charset="0"/>
                <a:ea typeface="Calibri" pitchFamily="34" charset="-122"/>
                <a:cs typeface="Calibri" pitchFamily="34" charset="-120"/>
              </a:rPr>
              <a:t>6</a:t>
            </a:r>
            <a:endParaRPr lang="en-US" sz="1300" dirty="0"/>
          </a:p>
        </p:txBody>
      </p:sp>
      <p:sp>
        <p:nvSpPr>
          <p:cNvPr id="22" name="box_33"/>
          <p:cNvSpPr txBox="1"/>
          <p:nvPr/>
        </p:nvSpPr>
        <p:spPr>
          <a:xfrm>
            <a:off x="2788920" y="3081528"/>
            <a:ext cx="2126529" cy="726948"/>
          </a:xfrm>
          <a:prstGeom prst="rect">
            <a:avLst/>
          </a:prstGeom>
          <a:solidFill>
            <a:srgbClr val="EDE9FE"/>
          </a:solidFill>
          <a:ln w="15875">
            <a:solidFill>
              <a:srgbClr val="111111"/>
            </a:solidFill>
          </a:ln>
        </p:spPr>
        <p:txBody>
          <a:bodyPr wrap="square" lIns="76200" tIns="76200" rIns="76200" bIns="76200" rtlCol="0" anchor="ctr"/>
          <a:lstStyle/>
          <a:p>
            <a:pPr algn="l" indent="0" marL="0">
              <a:buNone/>
            </a:pPr>
            <a:r>
              <a:rPr lang="en-US" sz="1300" dirty="0">
                <a:solidFill>
                  <a:srgbClr val="111111"/>
                </a:solidFill>
                <a:latin typeface="Calibri" pitchFamily="34" charset="0"/>
                <a:ea typeface="Calibri" pitchFamily="34" charset="-122"/>
                <a:cs typeface="Calibri" pitchFamily="34" charset="-120"/>
              </a:rPr>
              <a:t>E  they became friends</a:t>
            </a:r>
            <a:endParaRPr lang="en-US" sz="1300" dirty="0"/>
          </a:p>
        </p:txBody>
      </p:sp>
      <p:sp>
        <p:nvSpPr>
          <p:cNvPr id="23" name="R1_a4"/>
          <p:cNvSpPr txBox="1"/>
          <p:nvPr/>
        </p:nvSpPr>
        <p:spPr>
          <a:xfrm>
            <a:off x="4970313" y="3118104"/>
            <a:ext cx="772119" cy="653796"/>
          </a:xfrm>
          <a:prstGeom prst="roundRect">
            <a:avLst>
              <a:gd name="adj" fmla="val 8392"/>
            </a:avLst>
          </a:prstGeom>
          <a:solidFill>
            <a:srgbClr val="FFFFFF"/>
          </a:solidFill>
          <a:ln w="38100">
            <a:solidFill>
              <a:srgbClr val="1FA463"/>
            </a:solidFill>
          </a:ln>
        </p:spPr>
        <p:txBody>
          <a:bodyPr wrap="square" lIns="25400" tIns="25400" rIns="25400" bIns="25400" rtlCol="0" anchor="ctr"/>
          <a:lstStyle/>
          <a:p>
            <a:pPr algn="ctr" indent="0" marL="0">
              <a:buNone/>
            </a:pPr>
            <a:r>
              <a:rPr lang="en-US" sz="1300" dirty="0">
                <a:solidFill>
                  <a:srgbClr val="111111"/>
                </a:solidFill>
                <a:latin typeface="Calibri" pitchFamily="34" charset="0"/>
                <a:ea typeface="Calibri" pitchFamily="34" charset="-122"/>
                <a:cs typeface="Calibri" pitchFamily="34" charset="-120"/>
              </a:rPr>
              <a:t>2</a:t>
            </a:r>
            <a:endParaRPr lang="en-US" sz="1300" dirty="0"/>
          </a:p>
        </p:txBody>
      </p:sp>
      <p:sp>
        <p:nvSpPr>
          <p:cNvPr id="24" name="box_34"/>
          <p:cNvSpPr txBox="1"/>
          <p:nvPr/>
        </p:nvSpPr>
        <p:spPr>
          <a:xfrm>
            <a:off x="5870448" y="3081528"/>
            <a:ext cx="2126529" cy="726948"/>
          </a:xfrm>
          <a:prstGeom prst="rect">
            <a:avLst/>
          </a:prstGeom>
          <a:solidFill>
            <a:srgbClr val="FFEDD5"/>
          </a:solidFill>
          <a:ln w="15875">
            <a:solidFill>
              <a:srgbClr val="111111"/>
            </a:solidFill>
          </a:ln>
        </p:spPr>
        <p:txBody>
          <a:bodyPr wrap="square" lIns="76200" tIns="76200" rIns="76200" bIns="76200" rtlCol="0" anchor="ctr"/>
          <a:lstStyle/>
          <a:p>
            <a:pPr algn="l" indent="0" marL="0">
              <a:buNone/>
            </a:pPr>
            <a:r>
              <a:rPr lang="en-US" sz="1300" dirty="0">
                <a:solidFill>
                  <a:srgbClr val="111111"/>
                </a:solidFill>
                <a:latin typeface="Calibri" pitchFamily="34" charset="0"/>
                <a:ea typeface="Calibri" pitchFamily="34" charset="-122"/>
                <a:cs typeface="Calibri" pitchFamily="34" charset="-120"/>
              </a:rPr>
              <a:t>F  he proposed</a:t>
            </a:r>
            <a:endParaRPr lang="en-US" sz="1300" dirty="0"/>
          </a:p>
        </p:txBody>
      </p:sp>
      <p:sp>
        <p:nvSpPr>
          <p:cNvPr id="25" name="R1_a5"/>
          <p:cNvSpPr txBox="1"/>
          <p:nvPr/>
        </p:nvSpPr>
        <p:spPr>
          <a:xfrm>
            <a:off x="8051841" y="3118104"/>
            <a:ext cx="772119" cy="653796"/>
          </a:xfrm>
          <a:prstGeom prst="roundRect">
            <a:avLst>
              <a:gd name="adj" fmla="val 8392"/>
            </a:avLst>
          </a:prstGeom>
          <a:solidFill>
            <a:srgbClr val="FFFFFF"/>
          </a:solidFill>
          <a:ln w="38100">
            <a:solidFill>
              <a:srgbClr val="1FA463"/>
            </a:solidFill>
          </a:ln>
        </p:spPr>
        <p:txBody>
          <a:bodyPr wrap="square" lIns="25400" tIns="25400" rIns="25400" bIns="25400" rtlCol="0" anchor="ctr"/>
          <a:lstStyle/>
          <a:p>
            <a:pPr algn="ctr" indent="0" marL="0">
              <a:buNone/>
            </a:pPr>
            <a:r>
              <a:rPr lang="en-US" sz="1300" dirty="0">
                <a:solidFill>
                  <a:srgbClr val="111111"/>
                </a:solidFill>
                <a:latin typeface="Calibri" pitchFamily="34" charset="0"/>
                <a:ea typeface="Calibri" pitchFamily="34" charset="-122"/>
                <a:cs typeface="Calibri" pitchFamily="34" charset="-120"/>
              </a:rPr>
              <a:t>7</a:t>
            </a:r>
            <a:endParaRPr lang="en-US" sz="1300" dirty="0"/>
          </a:p>
        </p:txBody>
      </p:sp>
      <p:sp>
        <p:nvSpPr>
          <p:cNvPr id="26" name="box_35"/>
          <p:cNvSpPr txBox="1"/>
          <p:nvPr/>
        </p:nvSpPr>
        <p:spPr>
          <a:xfrm>
            <a:off x="2788920" y="3936492"/>
            <a:ext cx="2126529" cy="726948"/>
          </a:xfrm>
          <a:prstGeom prst="rect">
            <a:avLst/>
          </a:prstGeom>
          <a:solidFill>
            <a:srgbClr val="E0F2FE"/>
          </a:solidFill>
          <a:ln w="15875">
            <a:solidFill>
              <a:srgbClr val="111111"/>
            </a:solidFill>
          </a:ln>
        </p:spPr>
        <p:txBody>
          <a:bodyPr wrap="square" lIns="76200" tIns="76200" rIns="76200" bIns="76200" rtlCol="0" anchor="ctr"/>
          <a:lstStyle/>
          <a:p>
            <a:pPr algn="l" indent="0" marL="0">
              <a:buNone/>
            </a:pPr>
            <a:r>
              <a:rPr lang="en-US" sz="1300" dirty="0">
                <a:solidFill>
                  <a:srgbClr val="111111"/>
                </a:solidFill>
                <a:latin typeface="Calibri" pitchFamily="34" charset="0"/>
                <a:ea typeface="Calibri" pitchFamily="34" charset="-122"/>
                <a:cs typeface="Calibri" pitchFamily="34" charset="-120"/>
              </a:rPr>
              <a:t>G  they lost touch</a:t>
            </a:r>
            <a:endParaRPr lang="en-US" sz="1300" dirty="0"/>
          </a:p>
        </p:txBody>
      </p:sp>
      <p:sp>
        <p:nvSpPr>
          <p:cNvPr id="27" name="R1_a6"/>
          <p:cNvSpPr txBox="1"/>
          <p:nvPr/>
        </p:nvSpPr>
        <p:spPr>
          <a:xfrm>
            <a:off x="4970313" y="3973068"/>
            <a:ext cx="772119" cy="653796"/>
          </a:xfrm>
          <a:prstGeom prst="roundRect">
            <a:avLst>
              <a:gd name="adj" fmla="val 8392"/>
            </a:avLst>
          </a:prstGeom>
          <a:solidFill>
            <a:srgbClr val="FFFFFF"/>
          </a:solidFill>
          <a:ln w="38100">
            <a:solidFill>
              <a:srgbClr val="1FA463"/>
            </a:solidFill>
          </a:ln>
        </p:spPr>
        <p:txBody>
          <a:bodyPr wrap="square" lIns="25400" tIns="25400" rIns="25400" bIns="25400" rtlCol="0" anchor="ctr"/>
          <a:lstStyle/>
          <a:p>
            <a:pPr algn="ctr" indent="0" marL="0">
              <a:buNone/>
            </a:pPr>
            <a:r>
              <a:rPr lang="en-US" sz="1300" dirty="0">
                <a:solidFill>
                  <a:srgbClr val="111111"/>
                </a:solidFill>
                <a:latin typeface="Calibri" pitchFamily="34" charset="0"/>
                <a:ea typeface="Calibri" pitchFamily="34" charset="-122"/>
                <a:cs typeface="Calibri" pitchFamily="34" charset="-120"/>
              </a:rPr>
              <a:t>5</a:t>
            </a:r>
            <a:endParaRPr lang="en-US" sz="1300" dirty="0"/>
          </a:p>
        </p:txBody>
      </p:sp>
      <p:sp>
        <p:nvSpPr>
          <p:cNvPr id="28" name="box_36"/>
          <p:cNvSpPr txBox="1"/>
          <p:nvPr/>
        </p:nvSpPr>
        <p:spPr>
          <a:xfrm>
            <a:off x="5870448" y="3936492"/>
            <a:ext cx="2126529" cy="726948"/>
          </a:xfrm>
          <a:prstGeom prst="rect">
            <a:avLst/>
          </a:prstGeom>
          <a:solidFill>
            <a:srgbClr val="FCE7F3"/>
          </a:solidFill>
          <a:ln w="15875">
            <a:solidFill>
              <a:srgbClr val="111111"/>
            </a:solidFill>
          </a:ln>
        </p:spPr>
        <p:txBody>
          <a:bodyPr wrap="square" lIns="76200" tIns="76200" rIns="76200" bIns="76200" rtlCol="0" anchor="ctr"/>
          <a:lstStyle/>
          <a:p>
            <a:pPr algn="l" indent="0" marL="0">
              <a:buNone/>
            </a:pPr>
            <a:r>
              <a:rPr lang="en-US" sz="1300" dirty="0">
                <a:solidFill>
                  <a:srgbClr val="111111"/>
                </a:solidFill>
                <a:latin typeface="Calibri" pitchFamily="34" charset="0"/>
                <a:ea typeface="Calibri" pitchFamily="34" charset="-122"/>
                <a:cs typeface="Calibri" pitchFamily="34" charset="-120"/>
              </a:rPr>
              <a:t>H  they went out together</a:t>
            </a:r>
            <a:endParaRPr lang="en-US" sz="1300" dirty="0"/>
          </a:p>
        </p:txBody>
      </p:sp>
      <p:sp>
        <p:nvSpPr>
          <p:cNvPr id="29" name="R1_a7"/>
          <p:cNvSpPr txBox="1"/>
          <p:nvPr/>
        </p:nvSpPr>
        <p:spPr>
          <a:xfrm>
            <a:off x="8051841" y="3973068"/>
            <a:ext cx="772119" cy="653796"/>
          </a:xfrm>
          <a:prstGeom prst="roundRect">
            <a:avLst>
              <a:gd name="adj" fmla="val 8392"/>
            </a:avLst>
          </a:prstGeom>
          <a:solidFill>
            <a:srgbClr val="FFFFFF"/>
          </a:solidFill>
          <a:ln w="38100">
            <a:solidFill>
              <a:srgbClr val="1FA463"/>
            </a:solidFill>
          </a:ln>
        </p:spPr>
        <p:txBody>
          <a:bodyPr wrap="square" lIns="25400" tIns="25400" rIns="25400" bIns="25400" rtlCol="0" anchor="ctr"/>
          <a:lstStyle/>
          <a:p>
            <a:pPr algn="ctr" indent="0" marL="0">
              <a:buNone/>
            </a:pPr>
            <a:r>
              <a:rPr lang="en-US" sz="1300" dirty="0">
                <a:solidFill>
                  <a:srgbClr val="111111"/>
                </a:solidFill>
                <a:latin typeface="Calibri" pitchFamily="34" charset="0"/>
                <a:ea typeface="Calibri" pitchFamily="34" charset="-122"/>
                <a:cs typeface="Calibri" pitchFamily="34" charset="-120"/>
              </a:rPr>
              <a:t>3</a:t>
            </a:r>
            <a:endParaRPr lang="en-US" sz="1300" dirty="0"/>
          </a:p>
        </p:txBody>
      </p:sp>
      <p:sp>
        <p:nvSpPr>
          <p:cNvPr id="30" name="pageTag_37"/>
          <p:cNvSpPr txBox="1"/>
          <p:nvPr/>
        </p:nvSpPr>
        <p:spPr>
          <a:xfrm>
            <a:off x="320040" y="4773168"/>
            <a:ext cx="6720840" cy="246888"/>
          </a:xfrm>
          <a:prstGeom prst="rect">
            <a:avLst/>
          </a:prstGeom>
          <a:solidFill>
            <a:srgbClr val="FFFFFF"/>
          </a:solidFill>
          <a:ln/>
        </p:spPr>
        <p:txBody>
          <a:bodyPr wrap="square" lIns="25400" tIns="25400" rIns="25400" bIns="25400" rtlCol="0" anchor="ctr"/>
          <a:lstStyle/>
          <a:p>
            <a:pPr indent="0" marL="0">
              <a:buNone/>
            </a:pPr>
            <a:r>
              <a:rPr lang="en-US" sz="1050" dirty="0">
                <a:solidFill>
                  <a:srgbClr val="334155"/>
                </a:solidFill>
                <a:latin typeface="Calibri" pitchFamily="34" charset="0"/>
                <a:ea typeface="Calibri" pitchFamily="34" charset="-122"/>
                <a:cs typeface="Calibri" pitchFamily="34" charset="-120"/>
              </a:rPr>
              <a:t>📖 Teacher: revision of 5B pp.52–53 · Vocabulary Bank Relationships p.158 · audio 5.21</a:t>
            </a:r>
            <a:endParaRPr lang="en-US" sz="105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fade">
                                      <p:cBhvr>
                                        <p:cTn id="7" dur="400"/>
                                        <p:tgtEl>
                                          <p:spTgt spid="15"/>
                                        </p:tgtEl>
                                      </p:cBhvr>
                                    </p:animEffect>
                                  </p:childTnLst>
                                </p:cTn>
                              </p:par>
                              <p:par>
                                <p:cTn id="8" presetID="10" presetClass="entr" presetSubtype="0" fill="hold" nodeType="withEffect">
                                  <p:stCondLst>
                                    <p:cond delay="0"/>
                                  </p:stCondLst>
                                  <p:childTnLst>
                                    <p:set>
                                      <p:cBhvr>
                                        <p:cTn id="9" dur="1" fill="hold">
                                          <p:stCondLst>
                                            <p:cond delay="0"/>
                                          </p:stCondLst>
                                        </p:cTn>
                                        <p:tgtEl>
                                          <p:spTgt spid="17"/>
                                        </p:tgtEl>
                                        <p:attrNameLst>
                                          <p:attrName>style.visibility</p:attrName>
                                        </p:attrNameLst>
                                      </p:cBhvr>
                                      <p:to>
                                        <p:strVal val="visible"/>
                                      </p:to>
                                    </p:set>
                                    <p:animEffect transition="in" filter="fade">
                                      <p:cBhvr>
                                        <p:cTn id="10" dur="400"/>
                                        <p:tgtEl>
                                          <p:spTgt spid="17"/>
                                        </p:tgtEl>
                                      </p:cBhvr>
                                    </p:animEffect>
                                  </p:childTnLst>
                                </p:cTn>
                              </p:par>
                              <p:par>
                                <p:cTn id="11" presetID="10" presetClass="entr" presetSubtype="0" fill="hold" nodeType="withEffect">
                                  <p:stCondLst>
                                    <p:cond delay="0"/>
                                  </p:stCondLst>
                                  <p:childTnLst>
                                    <p:set>
                                      <p:cBhvr>
                                        <p:cTn id="12" dur="1" fill="hold">
                                          <p:stCondLst>
                                            <p:cond delay="0"/>
                                          </p:stCondLst>
                                        </p:cTn>
                                        <p:tgtEl>
                                          <p:spTgt spid="19"/>
                                        </p:tgtEl>
                                        <p:attrNameLst>
                                          <p:attrName>style.visibility</p:attrName>
                                        </p:attrNameLst>
                                      </p:cBhvr>
                                      <p:to>
                                        <p:strVal val="visible"/>
                                      </p:to>
                                    </p:set>
                                    <p:animEffect transition="in" filter="fade">
                                      <p:cBhvr>
                                        <p:cTn id="13" dur="400"/>
                                        <p:tgtEl>
                                          <p:spTgt spid="19"/>
                                        </p:tgtEl>
                                      </p:cBhvr>
                                    </p:animEffect>
                                  </p:childTnLst>
                                </p:cTn>
                              </p:par>
                              <p:par>
                                <p:cTn id="14" presetID="10" presetClass="entr" presetSubtype="0" fill="hold" nodeType="withEffect">
                                  <p:stCondLst>
                                    <p:cond delay="0"/>
                                  </p:stCondLst>
                                  <p:childTnLst>
                                    <p:set>
                                      <p:cBhvr>
                                        <p:cTn id="15" dur="1" fill="hold">
                                          <p:stCondLst>
                                            <p:cond delay="0"/>
                                          </p:stCondLst>
                                        </p:cTn>
                                        <p:tgtEl>
                                          <p:spTgt spid="21"/>
                                        </p:tgtEl>
                                        <p:attrNameLst>
                                          <p:attrName>style.visibility</p:attrName>
                                        </p:attrNameLst>
                                      </p:cBhvr>
                                      <p:to>
                                        <p:strVal val="visible"/>
                                      </p:to>
                                    </p:set>
                                    <p:animEffect transition="in" filter="fade">
                                      <p:cBhvr>
                                        <p:cTn id="16" dur="400"/>
                                        <p:tgtEl>
                                          <p:spTgt spid="21"/>
                                        </p:tgtEl>
                                      </p:cBhvr>
                                    </p:animEffect>
                                  </p:childTnLst>
                                </p:cTn>
                              </p:par>
                              <p:par>
                                <p:cTn id="17" presetID="10" presetClass="entr" presetSubtype="0" fill="hold" nodeType="withEffect">
                                  <p:stCondLst>
                                    <p:cond delay="0"/>
                                  </p:stCondLst>
                                  <p:childTnLst>
                                    <p:set>
                                      <p:cBhvr>
                                        <p:cTn id="18" dur="1" fill="hold">
                                          <p:stCondLst>
                                            <p:cond delay="0"/>
                                          </p:stCondLst>
                                        </p:cTn>
                                        <p:tgtEl>
                                          <p:spTgt spid="23"/>
                                        </p:tgtEl>
                                        <p:attrNameLst>
                                          <p:attrName>style.visibility</p:attrName>
                                        </p:attrNameLst>
                                      </p:cBhvr>
                                      <p:to>
                                        <p:strVal val="visible"/>
                                      </p:to>
                                    </p:set>
                                    <p:animEffect transition="in" filter="fade">
                                      <p:cBhvr>
                                        <p:cTn id="19" dur="400"/>
                                        <p:tgtEl>
                                          <p:spTgt spid="23"/>
                                        </p:tgtEl>
                                      </p:cBhvr>
                                    </p:animEffect>
                                  </p:childTnLst>
                                </p:cTn>
                              </p:par>
                              <p:par>
                                <p:cTn id="20" presetID="10" presetClass="entr" presetSubtype="0" fill="hold" nodeType="withEffect">
                                  <p:stCondLst>
                                    <p:cond delay="0"/>
                                  </p:stCondLst>
                                  <p:childTnLst>
                                    <p:set>
                                      <p:cBhvr>
                                        <p:cTn id="21" dur="1" fill="hold">
                                          <p:stCondLst>
                                            <p:cond delay="0"/>
                                          </p:stCondLst>
                                        </p:cTn>
                                        <p:tgtEl>
                                          <p:spTgt spid="25"/>
                                        </p:tgtEl>
                                        <p:attrNameLst>
                                          <p:attrName>style.visibility</p:attrName>
                                        </p:attrNameLst>
                                      </p:cBhvr>
                                      <p:to>
                                        <p:strVal val="visible"/>
                                      </p:to>
                                    </p:set>
                                    <p:animEffect transition="in" filter="fade">
                                      <p:cBhvr>
                                        <p:cTn id="22" dur="400"/>
                                        <p:tgtEl>
                                          <p:spTgt spid="25"/>
                                        </p:tgtEl>
                                      </p:cBhvr>
                                    </p:animEffect>
                                  </p:childTnLst>
                                </p:cTn>
                              </p:par>
                              <p:par>
                                <p:cTn id="23" presetID="10" presetClass="entr" presetSubtype="0" fill="hold" nodeType="withEffect">
                                  <p:stCondLst>
                                    <p:cond delay="0"/>
                                  </p:stCondLst>
                                  <p:childTnLst>
                                    <p:set>
                                      <p:cBhvr>
                                        <p:cTn id="24" dur="1" fill="hold">
                                          <p:stCondLst>
                                            <p:cond delay="0"/>
                                          </p:stCondLst>
                                        </p:cTn>
                                        <p:tgtEl>
                                          <p:spTgt spid="27"/>
                                        </p:tgtEl>
                                        <p:attrNameLst>
                                          <p:attrName>style.visibility</p:attrName>
                                        </p:attrNameLst>
                                      </p:cBhvr>
                                      <p:to>
                                        <p:strVal val="visible"/>
                                      </p:to>
                                    </p:set>
                                    <p:animEffect transition="in" filter="fade">
                                      <p:cBhvr>
                                        <p:cTn id="25" dur="400"/>
                                        <p:tgtEl>
                                          <p:spTgt spid="27"/>
                                        </p:tgtEl>
                                      </p:cBhvr>
                                    </p:animEffect>
                                  </p:childTnLst>
                                </p:cTn>
                              </p:par>
                              <p:par>
                                <p:cTn id="26" presetID="10" presetClass="entr" presetSubtype="0" fill="hold" nodeType="withEffect">
                                  <p:stCondLst>
                                    <p:cond delay="0"/>
                                  </p:stCondLst>
                                  <p:childTnLst>
                                    <p:set>
                                      <p:cBhvr>
                                        <p:cTn id="27" dur="1" fill="hold">
                                          <p:stCondLst>
                                            <p:cond delay="0"/>
                                          </p:stCondLst>
                                        </p:cTn>
                                        <p:tgtEl>
                                          <p:spTgt spid="29"/>
                                        </p:tgtEl>
                                        <p:attrNameLst>
                                          <p:attrName>style.visibility</p:attrName>
                                        </p:attrNameLst>
                                      </p:cBhvr>
                                      <p:to>
                                        <p:strVal val="visible"/>
                                      </p:to>
                                    </p:set>
                                    <p:animEffect transition="in" filter="fade">
                                      <p:cBhvr>
                                        <p:cTn id="28" dur="400"/>
                                        <p:tgtEl>
                                          <p:spTgt spid="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name="Slide 3">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levelFrame_38"/>
          <p:cNvSpPr/>
          <p:nvPr/>
        </p:nvSpPr>
        <p:spPr>
          <a:xfrm>
            <a:off x="54864" y="54864"/>
            <a:ext cx="9034272" cy="5033772"/>
          </a:xfrm>
          <a:prstGeom prst="rect">
            <a:avLst/>
          </a:prstGeom>
          <a:ln w="114300">
            <a:solidFill>
              <a:srgbClr val="A8E6B4"/>
            </a:solidFill>
            <a:prstDash val="solid"/>
          </a:ln>
        </p:spPr>
      </p:sp>
      <p:pic>
        <p:nvPicPr>
          <p:cNvPr id="4" name="logo_39" descr="London Language School logo">    </p:cNvPr>
          <p:cNvPicPr>
            <a:picLocks noChangeAspect="1"/>
          </p:cNvPicPr>
          <p:nvPr/>
        </p:nvPicPr>
        <p:blipFill>
          <a:blip r:embed="rId2"/>
          <a:stretch>
            <a:fillRect/>
          </a:stretch>
        </p:blipFill>
        <p:spPr>
          <a:xfrm>
            <a:off x="8275320" y="182880"/>
            <a:ext cx="585216" cy="585216"/>
          </a:xfrm>
          <a:prstGeom prst="rect">
            <a:avLst/>
          </a:prstGeom>
        </p:spPr>
      </p:pic>
      <p:sp>
        <p:nvSpPr>
          <p:cNvPr id="5" name="objective_40"/>
          <p:cNvSpPr txBox="1"/>
          <p:nvPr/>
        </p:nvSpPr>
        <p:spPr>
          <a:xfrm>
            <a:off x="320040" y="182880"/>
            <a:ext cx="4754880" cy="365760"/>
          </a:xfrm>
          <a:prstGeom prst="roundRect">
            <a:avLst>
              <a:gd name="adj" fmla="val 20000"/>
            </a:avLst>
          </a:prstGeom>
          <a:solidFill>
            <a:srgbClr val="062F67"/>
          </a:solidFill>
          <a:ln w="31750">
            <a:solidFill>
              <a:srgbClr val="111111"/>
            </a:solidFill>
          </a:ln>
        </p:spPr>
        <p:txBody>
          <a:bodyPr wrap="square" lIns="101600" tIns="101600" rIns="101600" bIns="101600" rtlCol="0" anchor="ctr"/>
          <a:lstStyle/>
          <a:p>
            <a:pPr indent="0" marL="0">
              <a:buNone/>
            </a:pPr>
            <a:r>
              <a:rPr lang="en-US" sz="900" dirty="0">
                <a:solidFill>
                  <a:srgbClr val="FFFFFF"/>
                </a:solidFill>
                <a:latin typeface="Arial Black" pitchFamily="34" charset="0"/>
                <a:ea typeface="Arial Black" pitchFamily="34" charset="-122"/>
                <a:cs typeface="Arial Black" pitchFamily="34" charset="-120"/>
              </a:rPr>
              <a:t>PRACTICAL ENGLISH · Scene 1 · video 5.23</a:t>
            </a:r>
            <a:endParaRPr lang="en-US" sz="900" dirty="0"/>
          </a:p>
        </p:txBody>
      </p:sp>
      <p:sp>
        <p:nvSpPr>
          <p:cNvPr id="6" name="timer_41"/>
          <p:cNvSpPr txBox="1"/>
          <p:nvPr/>
        </p:nvSpPr>
        <p:spPr>
          <a:xfrm>
            <a:off x="7086600" y="219456"/>
            <a:ext cx="1005840" cy="310896"/>
          </a:xfrm>
          <a:prstGeom prst="roundRect">
            <a:avLst>
              <a:gd name="adj" fmla="val 23529"/>
            </a:avLst>
          </a:prstGeom>
          <a:solidFill>
            <a:srgbClr val="FFFFFF"/>
          </a:solidFill>
          <a:ln w="25400">
            <a:solidFill>
              <a:srgbClr val="6D3FC0"/>
            </a:solidFill>
          </a:ln>
        </p:spPr>
        <p:txBody>
          <a:bodyPr wrap="square" lIns="0" tIns="0" rIns="0" bIns="0" rtlCol="0" anchor="ctr"/>
          <a:lstStyle/>
          <a:p>
            <a:pPr algn="ctr" indent="0" marL="0">
              <a:buNone/>
            </a:pPr>
            <a:r>
              <a:rPr lang="en-US" sz="1200" b="1" dirty="0">
                <a:solidFill>
                  <a:srgbClr val="6D3FC0"/>
                </a:solidFill>
                <a:latin typeface="Calibri" pitchFamily="34" charset="0"/>
                <a:ea typeface="Calibri" pitchFamily="34" charset="-122"/>
                <a:cs typeface="Calibri" pitchFamily="34" charset="-120"/>
              </a:rPr>
              <a:t>⏱ 7 min</a:t>
            </a:r>
            <a:endParaRPr lang="en-US" sz="1200" dirty="0"/>
          </a:p>
        </p:txBody>
      </p:sp>
      <p:sp>
        <p:nvSpPr>
          <p:cNvPr id="7" name="footer_42"/>
          <p:cNvSpPr txBox="1"/>
          <p:nvPr/>
        </p:nvSpPr>
        <p:spPr>
          <a:xfrm>
            <a:off x="7132320" y="4818888"/>
            <a:ext cx="1737360" cy="219456"/>
          </a:xfrm>
          <a:prstGeom prst="rect">
            <a:avLst/>
          </a:prstGeom>
          <a:solidFill>
            <a:srgbClr val="FFFFFF"/>
          </a:solidFill>
          <a:ln/>
        </p:spPr>
        <p:txBody>
          <a:bodyPr wrap="square" lIns="0" tIns="0" rIns="0" bIns="0" rtlCol="0" anchor="ctr"/>
          <a:lstStyle/>
          <a:p>
            <a:pPr algn="ctr" indent="0" marL="0">
              <a:buNone/>
            </a:pPr>
            <a:r>
              <a:rPr lang="en-US" sz="1000" dirty="0">
                <a:solidFill>
                  <a:srgbClr val="334155"/>
                </a:solidFill>
                <a:latin typeface="Calibri" pitchFamily="34" charset="0"/>
                <a:ea typeface="Calibri" pitchFamily="34" charset="-122"/>
                <a:cs typeface="Calibri" pitchFamily="34" charset="-120"/>
              </a:rPr>
              <a:t>PE3 · Part 1</a:t>
            </a:r>
            <a:endParaRPr lang="en-US" sz="1000" dirty="0"/>
          </a:p>
        </p:txBody>
      </p:sp>
      <p:sp>
        <p:nvSpPr>
          <p:cNvPr id="8" name="title_43"/>
          <p:cNvSpPr txBox="1"/>
          <p:nvPr/>
        </p:nvSpPr>
        <p:spPr>
          <a:xfrm rot="-120000">
            <a:off x="320040" y="676656"/>
            <a:ext cx="3630168" cy="530352"/>
          </a:xfrm>
          <a:prstGeom prst="rect">
            <a:avLst/>
          </a:prstGeom>
          <a:solidFill>
            <a:srgbClr val="FFD84D"/>
          </a:solidFill>
          <a:ln w="31750">
            <a:solidFill>
              <a:srgbClr val="111111"/>
            </a:solidFill>
          </a:ln>
          <a:effectLst>
            <a:outerShdw sx="100000" sy="100000" kx="0" ky="0" algn="bl" rotWithShape="0" blurRad="101600" dist="38100" dir="2700000">
              <a:srgbClr val="000000">
                <a:alpha val="35000"/>
              </a:srgbClr>
            </a:outerShdw>
          </a:effectLst>
        </p:spPr>
        <p:txBody>
          <a:bodyPr wrap="square" lIns="127000" tIns="127000" rIns="127000" bIns="127000" rtlCol="0" anchor="ctr"/>
          <a:lstStyle/>
          <a:p>
            <a:pPr indent="0" marL="0">
              <a:buNone/>
            </a:pPr>
            <a:r>
              <a:rPr lang="en-US" sz="1500" dirty="0">
                <a:solidFill>
                  <a:srgbClr val="111111"/>
                </a:solidFill>
                <a:latin typeface="Arial Black" pitchFamily="34" charset="0"/>
                <a:ea typeface="Arial Black" pitchFamily="34" charset="-122"/>
                <a:cs typeface="Arial Black" pitchFamily="34" charset="-120"/>
              </a:rPr>
              <a:t>Jenny meets Monica</a:t>
            </a:r>
            <a:endParaRPr lang="en-US" sz="1500" dirty="0"/>
          </a:p>
        </p:txBody>
      </p:sp>
      <p:sp>
        <p:nvSpPr>
          <p:cNvPr id="9" name="post_44"/>
          <p:cNvSpPr/>
          <p:nvPr/>
        </p:nvSpPr>
        <p:spPr>
          <a:xfrm>
            <a:off x="429768" y="1554480"/>
            <a:ext cx="128016" cy="2194560"/>
          </a:xfrm>
          <a:prstGeom prst="rect">
            <a:avLst/>
          </a:prstGeom>
          <a:solidFill>
            <a:srgbClr val="8B5A2B"/>
          </a:solidFill>
          <a:ln w="31750">
            <a:solidFill>
              <a:srgbClr val="111111"/>
            </a:solidFill>
            <a:prstDash val="solid"/>
          </a:ln>
        </p:spPr>
      </p:sp>
      <p:sp>
        <p:nvSpPr>
          <p:cNvPr id="10" name="signA_45"/>
          <p:cNvSpPr txBox="1"/>
          <p:nvPr/>
        </p:nvSpPr>
        <p:spPr>
          <a:xfrm rot="-180000">
            <a:off x="320040" y="1371600"/>
            <a:ext cx="2240280" cy="457200"/>
          </a:xfrm>
          <a:prstGeom prst="homePlate">
            <a:avLst/>
          </a:prstGeom>
          <a:solidFill>
            <a:srgbClr val="F59E0B"/>
          </a:solidFill>
          <a:ln w="31750">
            <a:solidFill>
              <a:srgbClr val="111111"/>
            </a:solidFill>
          </a:ln>
          <a:effectLst>
            <a:outerShdw sx="100000" sy="100000" kx="0" ky="0" algn="bl" rotWithShape="0" blurRad="101600" dist="38100" dir="2700000">
              <a:srgbClr val="000000">
                <a:alpha val="35000"/>
              </a:srgbClr>
            </a:outerShdw>
          </a:effectLst>
        </p:spPr>
        <p:txBody>
          <a:bodyPr wrap="square" lIns="76200" tIns="76200" rIns="76200" bIns="76200" rtlCol="0" anchor="ctr"/>
          <a:lstStyle/>
          <a:p>
            <a:pPr indent="0" marL="0">
              <a:buNone/>
            </a:pPr>
            <a:r>
              <a:rPr lang="en-US" sz="1500" b="1" dirty="0">
                <a:solidFill>
                  <a:srgbClr val="FFFFFF"/>
                </a:solidFill>
                <a:latin typeface="Arial Black" pitchFamily="34" charset="0"/>
                <a:ea typeface="Arial Black" pitchFamily="34" charset="-122"/>
                <a:cs typeface="Arial Black" pitchFamily="34" charset="-120"/>
              </a:rPr>
              <a:t>WATCH!</a:t>
            </a:r>
            <a:pPr indent="0" marL="0">
              <a:buNone/>
            </a:pPr>
            <a:r>
              <a:rPr lang="en-US" sz="1000" dirty="0">
                <a:solidFill>
                  <a:srgbClr val="FFF3B0"/>
                </a:solidFill>
                <a:latin typeface="Arial Black" pitchFamily="34" charset="0"/>
                <a:ea typeface="Arial Black" pitchFamily="34" charset="-122"/>
                <a:cs typeface="Arial Black" pitchFamily="34" charset="-120"/>
              </a:rPr>
              <a:t>  GUARDA!</a:t>
            </a:r>
            <a:endParaRPr lang="en-US" sz="1500" dirty="0"/>
          </a:p>
        </p:txBody>
      </p:sp>
      <p:sp>
        <p:nvSpPr>
          <p:cNvPr id="11" name="signB_46"/>
          <p:cNvSpPr txBox="1"/>
          <p:nvPr/>
        </p:nvSpPr>
        <p:spPr>
          <a:xfrm rot="120000">
            <a:off x="365760" y="1938528"/>
            <a:ext cx="2240280" cy="1051560"/>
          </a:xfrm>
          <a:prstGeom prst="rect">
            <a:avLst/>
          </a:prstGeom>
          <a:solidFill>
            <a:srgbClr val="FFFFFF"/>
          </a:solidFill>
          <a:ln w="31750">
            <a:solidFill>
              <a:srgbClr val="111111"/>
            </a:solidFill>
          </a:ln>
        </p:spPr>
        <p:txBody>
          <a:bodyPr wrap="square" lIns="76200" tIns="76200" rIns="76200" bIns="76200" rtlCol="0" anchor="ctr"/>
          <a:lstStyle/>
          <a:p>
            <a:pPr indent="0" marL="0">
              <a:buNone/>
            </a:pPr>
            <a:r>
              <a:rPr lang="en-US" sz="1200" dirty="0">
                <a:solidFill>
                  <a:srgbClr val="111111"/>
                </a:solidFill>
                <a:latin typeface="Calibri" pitchFamily="34" charset="0"/>
                <a:ea typeface="Calibri" pitchFamily="34" charset="-122"/>
                <a:cs typeface="Calibri" pitchFamily="34" charset="-120"/>
              </a:rPr>
              <a:t>What's Monica's news? Then watch again and answer.</a:t>
            </a:r>
            <a:endParaRPr lang="en-US" sz="1200" dirty="0"/>
          </a:p>
          <a:p>
            <a:pPr indent="0" marL="0">
              <a:buNone/>
            </a:pPr>
            <a:r>
              <a:rPr lang="en-US" sz="1050" i="1" dirty="0">
                <a:solidFill>
                  <a:srgbClr val="334155"/>
                </a:solidFill>
                <a:latin typeface="Calibri" pitchFamily="34" charset="0"/>
                <a:ea typeface="Calibri" pitchFamily="34" charset="-122"/>
                <a:cs typeface="Calibri" pitchFamily="34" charset="-120"/>
              </a:rPr>
              <a:t>Qual è la notizia di Monica? Poi riguarda e rispondi.</a:t>
            </a:r>
            <a:endParaRPr lang="en-US" sz="1200" dirty="0"/>
          </a:p>
        </p:txBody>
      </p:sp>
      <p:pic>
        <p:nvPicPr>
          <p:cNvPr id="12" name="Media 0">
            <a:hlinkClick r:id="" action="ppaction://media"/>
          </p:cNvPr>
          <p:cNvPicPr>
            <a:picLocks noChangeAspect="1"/>
          </p:cNvPicPr>
          <p:nvPr>
            <a:videoFile r:link="rId3"/>
            <p:extLst>
              <p:ext uri="{DAA4B4D4-6D71-4841-9C94-3DE7FCFB9230}">
                <p14:media xmlns:p14="http://schemas.microsoft.com/office/powerpoint/2010/main" r:embed="rId4"/>
              </p:ext>
            </p:extLst>
          </p:nvPr>
        </p:nvPicPr>
        <p:blipFill>
          <a:blip r:embed="rId5"/>
          <a:stretch>
            <a:fillRect/>
          </a:stretch>
        </p:blipFill>
        <p:spPr>
          <a:xfrm>
            <a:off x="2788920" y="1371600"/>
            <a:ext cx="2926080" cy="1645920"/>
          </a:xfrm>
          <a:prstGeom prst="rect">
            <a:avLst/>
          </a:prstGeom>
        </p:spPr>
      </p:pic>
      <p:sp>
        <p:nvSpPr>
          <p:cNvPr id="13" name="vt_47"/>
          <p:cNvSpPr txBox="1"/>
          <p:nvPr/>
        </p:nvSpPr>
        <p:spPr>
          <a:xfrm>
            <a:off x="2788920" y="3090672"/>
            <a:ext cx="2926080" cy="685800"/>
          </a:xfrm>
          <a:prstGeom prst="rect">
            <a:avLst/>
          </a:prstGeom>
          <a:solidFill>
            <a:srgbClr val="FFFFFF"/>
          </a:solidFill>
          <a:ln w="15875">
            <a:solidFill>
              <a:srgbClr val="111111"/>
            </a:solidFill>
          </a:ln>
        </p:spPr>
        <p:txBody>
          <a:bodyPr wrap="square" lIns="76200" tIns="76200" rIns="76200" bIns="76200" rtlCol="0" anchor="ctr"/>
          <a:lstStyle/>
          <a:p>
            <a:pPr indent="0" marL="0">
              <a:buNone/>
            </a:pPr>
            <a:r>
              <a:rPr lang="en-US" sz="1250" b="1" dirty="0">
                <a:solidFill>
                  <a:srgbClr val="111111"/>
                </a:solidFill>
                <a:latin typeface="Calibri" pitchFamily="34" charset="0"/>
                <a:ea typeface="Calibri" pitchFamily="34" charset="-122"/>
                <a:cs typeface="Calibri" pitchFamily="34" charset="-120"/>
              </a:rPr>
              <a:t>Jenny has coffee with a friend</a:t>
            </a:r>
            <a:endParaRPr lang="en-US" sz="1250" dirty="0"/>
          </a:p>
          <a:p>
            <a:pPr indent="0" marL="0">
              <a:buNone/>
            </a:pPr>
            <a:r>
              <a:rPr lang="en-US" sz="1050" dirty="0">
                <a:solidFill>
                  <a:srgbClr val="475569"/>
                </a:solidFill>
                <a:latin typeface="Calibri" pitchFamily="34" charset="0"/>
                <a:ea typeface="Calibri" pitchFamily="34" charset="-122"/>
                <a:cs typeface="Calibri" pitchFamily="34" charset="-120"/>
              </a:rPr>
              <a:t>Practical English Episode 3 · SB p.54 · 1a, 1b (1'58")</a:t>
            </a:r>
            <a:endParaRPr lang="en-US" sz="1250" dirty="0"/>
          </a:p>
        </p:txBody>
      </p:sp>
      <p:sp>
        <p:nvSpPr>
          <p:cNvPr id="14" name="wyw_48"/>
          <p:cNvSpPr txBox="1"/>
          <p:nvPr/>
        </p:nvSpPr>
        <p:spPr>
          <a:xfrm>
            <a:off x="5852160" y="1371600"/>
            <a:ext cx="2971800" cy="347472"/>
          </a:xfrm>
          <a:prstGeom prst="rect">
            <a:avLst/>
          </a:prstGeom>
          <a:solidFill>
            <a:srgbClr val="F59E0B"/>
          </a:solidFill>
          <a:ln w="19050">
            <a:solidFill>
              <a:srgbClr val="111111"/>
            </a:solidFill>
          </a:ln>
        </p:spPr>
        <p:txBody>
          <a:bodyPr wrap="square" lIns="25400" tIns="25400" rIns="25400" bIns="25400" rtlCol="0" anchor="ctr"/>
          <a:lstStyle/>
          <a:p>
            <a:pPr algn="ctr" indent="0" marL="0">
              <a:buNone/>
            </a:pPr>
            <a:r>
              <a:rPr lang="en-US" sz="1150" dirty="0">
                <a:solidFill>
                  <a:srgbClr val="FFFFFF"/>
                </a:solidFill>
                <a:latin typeface="Arial Black" pitchFamily="34" charset="0"/>
                <a:ea typeface="Arial Black" pitchFamily="34" charset="-122"/>
                <a:cs typeface="Arial Black" pitchFamily="34" charset="-120"/>
              </a:rPr>
              <a:t>While you watch · Mentre guardi</a:t>
            </a:r>
            <a:endParaRPr lang="en-US" sz="1150" dirty="0"/>
          </a:p>
        </p:txBody>
      </p:sp>
      <p:sp>
        <p:nvSpPr>
          <p:cNvPr id="15" name="box_49"/>
          <p:cNvSpPr txBox="1"/>
          <p:nvPr/>
        </p:nvSpPr>
        <p:spPr>
          <a:xfrm>
            <a:off x="5852160" y="1810512"/>
            <a:ext cx="1783080" cy="414528"/>
          </a:xfrm>
          <a:prstGeom prst="rect">
            <a:avLst/>
          </a:prstGeom>
          <a:solidFill>
            <a:srgbClr val="E0F2FE"/>
          </a:solidFill>
          <a:ln w="15875">
            <a:solidFill>
              <a:srgbClr val="111111"/>
            </a:solidFill>
          </a:ln>
        </p:spPr>
        <p:txBody>
          <a:bodyPr wrap="square" lIns="76200" tIns="76200" rIns="76200" bIns="76200" rtlCol="0" anchor="ctr"/>
          <a:lstStyle/>
          <a:p>
            <a:pPr algn="l" indent="0" marL="0">
              <a:buNone/>
            </a:pPr>
            <a:r>
              <a:rPr lang="en-US" sz="1050" dirty="0">
                <a:solidFill>
                  <a:srgbClr val="111111"/>
                </a:solidFill>
                <a:latin typeface="Calibri" pitchFamily="34" charset="0"/>
                <a:ea typeface="Calibri" pitchFamily="34" charset="-122"/>
                <a:cs typeface="Calibri" pitchFamily="34" charset="-120"/>
              </a:rPr>
              <a:t>1  What's Monica's news?</a:t>
            </a:r>
            <a:endParaRPr lang="en-US" sz="1050" dirty="0"/>
          </a:p>
        </p:txBody>
      </p:sp>
      <p:sp>
        <p:nvSpPr>
          <p:cNvPr id="16" name="R1_va0"/>
          <p:cNvSpPr txBox="1"/>
          <p:nvPr/>
        </p:nvSpPr>
        <p:spPr>
          <a:xfrm>
            <a:off x="7680960" y="1837944"/>
            <a:ext cx="1143000" cy="359664"/>
          </a:xfrm>
          <a:prstGeom prst="roundRect">
            <a:avLst>
              <a:gd name="adj" fmla="val 15254"/>
            </a:avLst>
          </a:prstGeom>
          <a:solidFill>
            <a:srgbClr val="FFFFFF"/>
          </a:solidFill>
          <a:ln w="38100">
            <a:solidFill>
              <a:srgbClr val="1FA463"/>
            </a:solidFill>
          </a:ln>
        </p:spPr>
        <p:txBody>
          <a:bodyPr wrap="square" lIns="25400" tIns="25400" rIns="25400" bIns="25400" rtlCol="0" anchor="ctr"/>
          <a:lstStyle/>
          <a:p>
            <a:pPr algn="ctr" indent="0" marL="0">
              <a:buNone/>
            </a:pPr>
            <a:r>
              <a:rPr lang="en-US" sz="950" dirty="0">
                <a:solidFill>
                  <a:srgbClr val="111111"/>
                </a:solidFill>
                <a:latin typeface="Calibri" pitchFamily="34" charset="0"/>
                <a:ea typeface="Calibri" pitchFamily="34" charset="-122"/>
                <a:cs typeface="Calibri" pitchFamily="34" charset="-120"/>
              </a:rPr>
              <a:t>she's getting married</a:t>
            </a:r>
            <a:endParaRPr lang="en-US" sz="950" dirty="0"/>
          </a:p>
        </p:txBody>
      </p:sp>
      <p:sp>
        <p:nvSpPr>
          <p:cNvPr id="17" name="box_50"/>
          <p:cNvSpPr txBox="1"/>
          <p:nvPr/>
        </p:nvSpPr>
        <p:spPr>
          <a:xfrm>
            <a:off x="5852160" y="2298192"/>
            <a:ext cx="1783080" cy="414528"/>
          </a:xfrm>
          <a:prstGeom prst="rect">
            <a:avLst/>
          </a:prstGeom>
          <a:solidFill>
            <a:srgbClr val="FCE7F3"/>
          </a:solidFill>
          <a:ln w="15875">
            <a:solidFill>
              <a:srgbClr val="111111"/>
            </a:solidFill>
          </a:ln>
        </p:spPr>
        <p:txBody>
          <a:bodyPr wrap="square" lIns="76200" tIns="76200" rIns="76200" bIns="76200" rtlCol="0" anchor="ctr"/>
          <a:lstStyle/>
          <a:p>
            <a:pPr algn="l" indent="0" marL="0">
              <a:buNone/>
            </a:pPr>
            <a:r>
              <a:rPr lang="en-US" sz="800" dirty="0">
                <a:solidFill>
                  <a:srgbClr val="111111"/>
                </a:solidFill>
                <a:latin typeface="Calibri" pitchFamily="34" charset="0"/>
                <a:ea typeface="Calibri" pitchFamily="34" charset="-122"/>
                <a:cs typeface="Calibri" pitchFamily="34" charset="-120"/>
              </a:rPr>
              <a:t>2  Scott? Engaged when? Who knows?</a:t>
            </a:r>
            <a:endParaRPr lang="en-US" sz="800" dirty="0"/>
          </a:p>
        </p:txBody>
      </p:sp>
      <p:sp>
        <p:nvSpPr>
          <p:cNvPr id="18" name="R1_va1"/>
          <p:cNvSpPr txBox="1"/>
          <p:nvPr/>
        </p:nvSpPr>
        <p:spPr>
          <a:xfrm>
            <a:off x="7680960" y="2325624"/>
            <a:ext cx="1143000" cy="359664"/>
          </a:xfrm>
          <a:prstGeom prst="roundRect">
            <a:avLst>
              <a:gd name="adj" fmla="val 15254"/>
            </a:avLst>
          </a:prstGeom>
          <a:solidFill>
            <a:srgbClr val="FFFFFF"/>
          </a:solidFill>
          <a:ln w="38100">
            <a:solidFill>
              <a:srgbClr val="1FA463"/>
            </a:solidFill>
          </a:ln>
        </p:spPr>
        <p:txBody>
          <a:bodyPr wrap="square" lIns="25400" tIns="25400" rIns="25400" bIns="25400" rtlCol="0" anchor="ctr"/>
          <a:lstStyle/>
          <a:p>
            <a:pPr algn="ctr" indent="0" marL="0">
              <a:buNone/>
            </a:pPr>
            <a:r>
              <a:rPr lang="en-US" sz="950" dirty="0">
                <a:solidFill>
                  <a:srgbClr val="111111"/>
                </a:solidFill>
                <a:latin typeface="Calibri" pitchFamily="34" charset="0"/>
                <a:ea typeface="Calibri" pitchFamily="34" charset="-122"/>
                <a:cs typeface="Calibri" pitchFamily="34" charset="-120"/>
              </a:rPr>
              <a:t>fiancé · days ago · only family</a:t>
            </a:r>
            <a:endParaRPr lang="en-US" sz="950" dirty="0"/>
          </a:p>
        </p:txBody>
      </p:sp>
      <p:sp>
        <p:nvSpPr>
          <p:cNvPr id="19" name="box_51"/>
          <p:cNvSpPr txBox="1"/>
          <p:nvPr/>
        </p:nvSpPr>
        <p:spPr>
          <a:xfrm>
            <a:off x="5852160" y="2785872"/>
            <a:ext cx="1783080" cy="414528"/>
          </a:xfrm>
          <a:prstGeom prst="rect">
            <a:avLst/>
          </a:prstGeom>
          <a:solidFill>
            <a:srgbClr val="FEF9C3"/>
          </a:solidFill>
          <a:ln w="15875">
            <a:solidFill>
              <a:srgbClr val="111111"/>
            </a:solidFill>
          </a:ln>
        </p:spPr>
        <p:txBody>
          <a:bodyPr wrap="square" lIns="76200" tIns="76200" rIns="76200" bIns="76200" rtlCol="0" anchor="ctr"/>
          <a:lstStyle/>
          <a:p>
            <a:pPr algn="l" indent="0" marL="0">
              <a:buNone/>
            </a:pPr>
            <a:r>
              <a:rPr lang="en-US" sz="850" dirty="0">
                <a:solidFill>
                  <a:srgbClr val="111111"/>
                </a:solidFill>
                <a:latin typeface="Calibri" pitchFamily="34" charset="0"/>
                <a:ea typeface="Calibri" pitchFamily="34" charset="-122"/>
                <a:cs typeface="Calibri" pitchFamily="34" charset="-120"/>
              </a:rPr>
              <a:t>3  Monica at night: then / now?</a:t>
            </a:r>
            <a:endParaRPr lang="en-US" sz="850" dirty="0"/>
          </a:p>
        </p:txBody>
      </p:sp>
      <p:sp>
        <p:nvSpPr>
          <p:cNvPr id="20" name="R1_va2"/>
          <p:cNvSpPr txBox="1"/>
          <p:nvPr/>
        </p:nvSpPr>
        <p:spPr>
          <a:xfrm>
            <a:off x="7680960" y="2813304"/>
            <a:ext cx="1143000" cy="359664"/>
          </a:xfrm>
          <a:prstGeom prst="roundRect">
            <a:avLst>
              <a:gd name="adj" fmla="val 15254"/>
            </a:avLst>
          </a:prstGeom>
          <a:solidFill>
            <a:srgbClr val="FFFFFF"/>
          </a:solidFill>
          <a:ln w="38100">
            <a:solidFill>
              <a:srgbClr val="1FA463"/>
            </a:solidFill>
          </a:ln>
        </p:spPr>
        <p:txBody>
          <a:bodyPr wrap="square" lIns="25400" tIns="25400" rIns="25400" bIns="25400" rtlCol="0" anchor="ctr"/>
          <a:lstStyle/>
          <a:p>
            <a:pPr algn="ctr" indent="0" marL="0">
              <a:buNone/>
            </a:pPr>
            <a:r>
              <a:rPr lang="en-US" sz="900" dirty="0">
                <a:solidFill>
                  <a:srgbClr val="111111"/>
                </a:solidFill>
                <a:latin typeface="Calibri" pitchFamily="34" charset="0"/>
                <a:ea typeface="Calibri" pitchFamily="34" charset="-122"/>
                <a:cs typeface="Calibri" pitchFamily="34" charset="-120"/>
              </a:rPr>
              <a:t>clubbing → wedding magazines</a:t>
            </a:r>
            <a:endParaRPr lang="en-US" sz="900" dirty="0"/>
          </a:p>
        </p:txBody>
      </p:sp>
      <p:sp>
        <p:nvSpPr>
          <p:cNvPr id="21" name="box_52"/>
          <p:cNvSpPr txBox="1"/>
          <p:nvPr/>
        </p:nvSpPr>
        <p:spPr>
          <a:xfrm>
            <a:off x="5852160" y="3273552"/>
            <a:ext cx="1783080" cy="414528"/>
          </a:xfrm>
          <a:prstGeom prst="rect">
            <a:avLst/>
          </a:prstGeom>
          <a:solidFill>
            <a:srgbClr val="DCFCE7"/>
          </a:solidFill>
          <a:ln w="15875">
            <a:solidFill>
              <a:srgbClr val="111111"/>
            </a:solidFill>
          </a:ln>
        </p:spPr>
        <p:txBody>
          <a:bodyPr wrap="square" lIns="76200" tIns="76200" rIns="76200" bIns="76200" rtlCol="0" anchor="ctr"/>
          <a:lstStyle/>
          <a:p>
            <a:pPr algn="l" indent="0" marL="0">
              <a:buNone/>
            </a:pPr>
            <a:r>
              <a:rPr lang="en-US" sz="800" dirty="0">
                <a:solidFill>
                  <a:srgbClr val="111111"/>
                </a:solidFill>
                <a:latin typeface="Calibri" pitchFamily="34" charset="0"/>
                <a:ea typeface="Calibri" pitchFamily="34" charset="-122"/>
                <a:cs typeface="Calibri" pitchFamily="34" charset="-120"/>
              </a:rPr>
              <a:t>4  Who wants to organise the wedding?</a:t>
            </a:r>
            <a:endParaRPr lang="en-US" sz="800" dirty="0"/>
          </a:p>
        </p:txBody>
      </p:sp>
      <p:sp>
        <p:nvSpPr>
          <p:cNvPr id="22" name="R1_va3"/>
          <p:cNvSpPr txBox="1"/>
          <p:nvPr/>
        </p:nvSpPr>
        <p:spPr>
          <a:xfrm>
            <a:off x="7680960" y="3300984"/>
            <a:ext cx="1143000" cy="359664"/>
          </a:xfrm>
          <a:prstGeom prst="roundRect">
            <a:avLst>
              <a:gd name="adj" fmla="val 15254"/>
            </a:avLst>
          </a:prstGeom>
          <a:solidFill>
            <a:srgbClr val="FFFFFF"/>
          </a:solidFill>
          <a:ln w="38100">
            <a:solidFill>
              <a:srgbClr val="1FA463"/>
            </a:solidFill>
          </a:ln>
        </p:spPr>
        <p:txBody>
          <a:bodyPr wrap="square" lIns="25400" tIns="25400" rIns="25400" bIns="25400" rtlCol="0" anchor="ctr"/>
          <a:lstStyle/>
          <a:p>
            <a:pPr algn="ctr" indent="0" marL="0">
              <a:buNone/>
            </a:pPr>
            <a:r>
              <a:rPr lang="en-US" sz="1050" dirty="0">
                <a:solidFill>
                  <a:srgbClr val="111111"/>
                </a:solidFill>
                <a:latin typeface="Calibri" pitchFamily="34" charset="0"/>
                <a:ea typeface="Calibri" pitchFamily="34" charset="-122"/>
                <a:cs typeface="Calibri" pitchFamily="34" charset="-120"/>
              </a:rPr>
              <a:t>the two mothers</a:t>
            </a:r>
            <a:endParaRPr lang="en-US" sz="1050" dirty="0"/>
          </a:p>
        </p:txBody>
      </p:sp>
      <p:sp>
        <p:nvSpPr>
          <p:cNvPr id="23" name="box_53"/>
          <p:cNvSpPr txBox="1"/>
          <p:nvPr/>
        </p:nvSpPr>
        <p:spPr>
          <a:xfrm>
            <a:off x="5852160" y="3761232"/>
            <a:ext cx="1783080" cy="414528"/>
          </a:xfrm>
          <a:prstGeom prst="rect">
            <a:avLst/>
          </a:prstGeom>
          <a:solidFill>
            <a:srgbClr val="EDE9FE"/>
          </a:solidFill>
          <a:ln w="15875">
            <a:solidFill>
              <a:srgbClr val="111111"/>
            </a:solidFill>
          </a:ln>
        </p:spPr>
        <p:txBody>
          <a:bodyPr wrap="square" lIns="76200" tIns="76200" rIns="76200" bIns="76200" rtlCol="0" anchor="ctr"/>
          <a:lstStyle/>
          <a:p>
            <a:pPr algn="l" indent="0" marL="0">
              <a:buNone/>
            </a:pPr>
            <a:r>
              <a:rPr lang="en-US" sz="800" dirty="0">
                <a:solidFill>
                  <a:srgbClr val="111111"/>
                </a:solidFill>
                <a:latin typeface="Calibri" pitchFamily="34" charset="0"/>
                <a:ea typeface="Calibri" pitchFamily="34" charset="-122"/>
                <a:cs typeface="Calibri" pitchFamily="34" charset="-120"/>
              </a:rPr>
              <a:t>5  Jenny and Rob: together long?</a:t>
            </a:r>
            <a:endParaRPr lang="en-US" sz="800" dirty="0"/>
          </a:p>
        </p:txBody>
      </p:sp>
      <p:sp>
        <p:nvSpPr>
          <p:cNvPr id="24" name="R1_va4"/>
          <p:cNvSpPr txBox="1"/>
          <p:nvPr/>
        </p:nvSpPr>
        <p:spPr>
          <a:xfrm>
            <a:off x="7680960" y="3788664"/>
            <a:ext cx="1143000" cy="359664"/>
          </a:xfrm>
          <a:prstGeom prst="roundRect">
            <a:avLst>
              <a:gd name="adj" fmla="val 15254"/>
            </a:avLst>
          </a:prstGeom>
          <a:solidFill>
            <a:srgbClr val="FFFFFF"/>
          </a:solidFill>
          <a:ln w="38100">
            <a:solidFill>
              <a:srgbClr val="1FA463"/>
            </a:solidFill>
          </a:ln>
        </p:spPr>
        <p:txBody>
          <a:bodyPr wrap="square" lIns="25400" tIns="25400" rIns="25400" bIns="25400" rtlCol="0" anchor="ctr"/>
          <a:lstStyle/>
          <a:p>
            <a:pPr algn="ctr" indent="0" marL="0">
              <a:buNone/>
            </a:pPr>
            <a:r>
              <a:rPr lang="en-US" sz="1050" dirty="0">
                <a:solidFill>
                  <a:srgbClr val="111111"/>
                </a:solidFill>
                <a:latin typeface="Calibri" pitchFamily="34" charset="0"/>
                <a:ea typeface="Calibri" pitchFamily="34" charset="-122"/>
                <a:cs typeface="Calibri" pitchFamily="34" charset="-120"/>
              </a:rPr>
              <a:t>no, not long</a:t>
            </a:r>
            <a:endParaRPr lang="en-US" sz="1050" dirty="0"/>
          </a:p>
        </p:txBody>
      </p:sp>
      <p:sp>
        <p:nvSpPr>
          <p:cNvPr id="25" name="box_54"/>
          <p:cNvSpPr txBox="1"/>
          <p:nvPr/>
        </p:nvSpPr>
        <p:spPr>
          <a:xfrm>
            <a:off x="5852160" y="4248912"/>
            <a:ext cx="1783080" cy="414528"/>
          </a:xfrm>
          <a:prstGeom prst="rect">
            <a:avLst/>
          </a:prstGeom>
          <a:solidFill>
            <a:srgbClr val="FFEDD5"/>
          </a:solidFill>
          <a:ln w="15875">
            <a:solidFill>
              <a:srgbClr val="111111"/>
            </a:solidFill>
          </a:ln>
        </p:spPr>
        <p:txBody>
          <a:bodyPr wrap="square" lIns="76200" tIns="76200" rIns="76200" bIns="76200" rtlCol="0" anchor="ctr"/>
          <a:lstStyle/>
          <a:p>
            <a:pPr algn="l" indent="0" marL="0">
              <a:buNone/>
            </a:pPr>
            <a:r>
              <a:rPr lang="en-US" sz="800" dirty="0">
                <a:solidFill>
                  <a:srgbClr val="111111"/>
                </a:solidFill>
                <a:latin typeface="Calibri" pitchFamily="34" charset="0"/>
                <a:ea typeface="Calibri" pitchFamily="34" charset="-122"/>
                <a:cs typeface="Calibri" pitchFamily="34" charset="-120"/>
              </a:rPr>
              <a:t>6  Rob is British. Monica thinks…?</a:t>
            </a:r>
            <a:endParaRPr lang="en-US" sz="800" dirty="0"/>
          </a:p>
        </p:txBody>
      </p:sp>
      <p:sp>
        <p:nvSpPr>
          <p:cNvPr id="26" name="R1_va5"/>
          <p:cNvSpPr txBox="1"/>
          <p:nvPr/>
        </p:nvSpPr>
        <p:spPr>
          <a:xfrm>
            <a:off x="7680960" y="4276344"/>
            <a:ext cx="1143000" cy="359664"/>
          </a:xfrm>
          <a:prstGeom prst="roundRect">
            <a:avLst>
              <a:gd name="adj" fmla="val 15254"/>
            </a:avLst>
          </a:prstGeom>
          <a:solidFill>
            <a:srgbClr val="FFFFFF"/>
          </a:solidFill>
          <a:ln w="38100">
            <a:solidFill>
              <a:srgbClr val="1FA463"/>
            </a:solidFill>
          </a:ln>
        </p:spPr>
        <p:txBody>
          <a:bodyPr wrap="square" lIns="25400" tIns="25400" rIns="25400" bIns="25400" rtlCol="0" anchor="ctr"/>
          <a:lstStyle/>
          <a:p>
            <a:pPr algn="ctr" indent="0" marL="0">
              <a:buNone/>
            </a:pPr>
            <a:r>
              <a:rPr lang="en-US" sz="950" dirty="0">
                <a:solidFill>
                  <a:srgbClr val="111111"/>
                </a:solidFill>
                <a:latin typeface="Calibri" pitchFamily="34" charset="0"/>
                <a:ea typeface="Calibri" pitchFamily="34" charset="-122"/>
                <a:cs typeface="Calibri" pitchFamily="34" charset="-120"/>
              </a:rPr>
              <a:t>hard to persuade him to stay in NY</a:t>
            </a:r>
            <a:endParaRPr lang="en-US" sz="950" dirty="0"/>
          </a:p>
        </p:txBody>
      </p:sp>
      <p:sp>
        <p:nvSpPr>
          <p:cNvPr id="27" name="pageTag_55"/>
          <p:cNvSpPr txBox="1"/>
          <p:nvPr/>
        </p:nvSpPr>
        <p:spPr>
          <a:xfrm>
            <a:off x="320040" y="4773168"/>
            <a:ext cx="6720840" cy="246888"/>
          </a:xfrm>
          <a:prstGeom prst="rect">
            <a:avLst/>
          </a:prstGeom>
          <a:solidFill>
            <a:srgbClr val="FFFFFF"/>
          </a:solidFill>
          <a:ln/>
        </p:spPr>
        <p:txBody>
          <a:bodyPr wrap="square" lIns="25400" tIns="25400" rIns="25400" bIns="25400" rtlCol="0" anchor="ctr"/>
          <a:lstStyle/>
          <a:p>
            <a:pPr indent="0" marL="0">
              <a:buNone/>
            </a:pPr>
            <a:r>
              <a:rPr lang="en-US" sz="1050" dirty="0">
                <a:solidFill>
                  <a:srgbClr val="334155"/>
                </a:solidFill>
                <a:latin typeface="Calibri" pitchFamily="34" charset="0"/>
                <a:ea typeface="Calibri" pitchFamily="34" charset="-122"/>
                <a:cs typeface="Calibri" pitchFamily="34" charset="-120"/>
              </a:rPr>
              <a:t>📖 Teacher: Student's Book p.54 · 1a, 1b · Practical English Episode 3 · video / audio 5.23</a:t>
            </a:r>
            <a:endParaRPr lang="en-US" sz="1050" dirty="0"/>
          </a:p>
        </p:txBody>
      </p:sp>
      <p:sp>
        <p:nvSpPr>
          <p:cNvPr id="28" name="pframe_56"/>
          <p:cNvSpPr/>
          <p:nvPr/>
        </p:nvSpPr>
        <p:spPr>
          <a:xfrm rot="-120000">
            <a:off x="548640" y="3200400"/>
            <a:ext cx="1645920" cy="1536192"/>
          </a:xfrm>
          <a:prstGeom prst="rect">
            <a:avLst/>
          </a:prstGeom>
          <a:solidFill>
            <a:srgbClr val="FFFFFF"/>
          </a:solidFill>
          <a:ln w="19050">
            <a:solidFill>
              <a:srgbClr val="111111"/>
            </a:solidFill>
            <a:prstDash val="solid"/>
          </a:ln>
          <a:effectLst>
            <a:outerShdw sx="100000" sy="100000" kx="0" ky="0" algn="bl" rotWithShape="0" blurRad="101600" dist="38100" dir="2700000">
              <a:srgbClr val="000000">
                <a:alpha val="35000"/>
              </a:srgbClr>
            </a:outerShdw>
          </a:effectLst>
        </p:spPr>
      </p:sp>
      <p:pic>
        <p:nvPicPr>
          <p:cNvPr id="29" name="pimg_57" descr="Jenny and Monica">    </p:cNvPr>
          <p:cNvPicPr>
            <a:picLocks noChangeAspect="1"/>
          </p:cNvPicPr>
          <p:nvPr/>
        </p:nvPicPr>
        <p:blipFill>
          <a:blip r:embed="rId6"/>
          <a:srcRect l="0" r="0" t="0" b="0"/>
          <a:stretch/>
        </p:blipFill>
        <p:spPr>
          <a:xfrm rot="-120000">
            <a:off x="621792" y="3273552"/>
            <a:ext cx="1499616" cy="1115568"/>
          </a:xfrm>
          <a:prstGeom prst="rect">
            <a:avLst/>
          </a:prstGeom>
        </p:spPr>
      </p:pic>
      <p:sp>
        <p:nvSpPr>
          <p:cNvPr id="30" name="pcap_58"/>
          <p:cNvSpPr txBox="1"/>
          <p:nvPr/>
        </p:nvSpPr>
        <p:spPr>
          <a:xfrm rot="-120000">
            <a:off x="548640" y="4398264"/>
            <a:ext cx="1645920" cy="274320"/>
          </a:xfrm>
          <a:prstGeom prst="rect">
            <a:avLst/>
          </a:prstGeom>
          <a:noFill/>
          <a:ln/>
        </p:spPr>
        <p:txBody>
          <a:bodyPr wrap="square" rtlCol="0" anchor="ctr"/>
          <a:lstStyle/>
          <a:p>
            <a:pPr algn="ctr" indent="0" marL="0">
              <a:buNone/>
            </a:pPr>
            <a:r>
              <a:rPr lang="en-US" sz="1100" i="1" dirty="0">
                <a:solidFill>
                  <a:srgbClr val="111111"/>
                </a:solidFill>
                <a:latin typeface="Calibri" pitchFamily="34" charset="0"/>
                <a:ea typeface="Calibri" pitchFamily="34" charset="-122"/>
                <a:cs typeface="Calibri" pitchFamily="34" charset="-120"/>
              </a:rPr>
              <a:t>Jenny and Monica</a:t>
            </a:r>
            <a:endParaRPr lang="en-US" sz="110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fade">
                                      <p:cBhvr>
                                        <p:cTn id="7" dur="400"/>
                                        <p:tgtEl>
                                          <p:spTgt spid="16"/>
                                        </p:tgtEl>
                                      </p:cBhvr>
                                    </p:animEffect>
                                  </p:childTnLst>
                                </p:cTn>
                              </p:par>
                              <p:par>
                                <p:cTn id="8" presetID="10" presetClass="entr" presetSubtype="0" fill="hold" nodeType="withEffect">
                                  <p:stCondLst>
                                    <p:cond delay="0"/>
                                  </p:stCondLst>
                                  <p:childTnLst>
                                    <p:set>
                                      <p:cBhvr>
                                        <p:cTn id="9" dur="1" fill="hold">
                                          <p:stCondLst>
                                            <p:cond delay="0"/>
                                          </p:stCondLst>
                                        </p:cTn>
                                        <p:tgtEl>
                                          <p:spTgt spid="18"/>
                                        </p:tgtEl>
                                        <p:attrNameLst>
                                          <p:attrName>style.visibility</p:attrName>
                                        </p:attrNameLst>
                                      </p:cBhvr>
                                      <p:to>
                                        <p:strVal val="visible"/>
                                      </p:to>
                                    </p:set>
                                    <p:animEffect transition="in" filter="fade">
                                      <p:cBhvr>
                                        <p:cTn id="10" dur="400"/>
                                        <p:tgtEl>
                                          <p:spTgt spid="18"/>
                                        </p:tgtEl>
                                      </p:cBhvr>
                                    </p:animEffect>
                                  </p:childTnLst>
                                </p:cTn>
                              </p:par>
                              <p:par>
                                <p:cTn id="11" presetID="10" presetClass="entr" presetSubtype="0" fill="hold" nodeType="withEffect">
                                  <p:stCondLst>
                                    <p:cond delay="0"/>
                                  </p:stCondLst>
                                  <p:childTnLst>
                                    <p:set>
                                      <p:cBhvr>
                                        <p:cTn id="12" dur="1" fill="hold">
                                          <p:stCondLst>
                                            <p:cond delay="0"/>
                                          </p:stCondLst>
                                        </p:cTn>
                                        <p:tgtEl>
                                          <p:spTgt spid="20"/>
                                        </p:tgtEl>
                                        <p:attrNameLst>
                                          <p:attrName>style.visibility</p:attrName>
                                        </p:attrNameLst>
                                      </p:cBhvr>
                                      <p:to>
                                        <p:strVal val="visible"/>
                                      </p:to>
                                    </p:set>
                                    <p:animEffect transition="in" filter="fade">
                                      <p:cBhvr>
                                        <p:cTn id="13" dur="400"/>
                                        <p:tgtEl>
                                          <p:spTgt spid="20"/>
                                        </p:tgtEl>
                                      </p:cBhvr>
                                    </p:animEffect>
                                  </p:childTnLst>
                                </p:cTn>
                              </p:par>
                              <p:par>
                                <p:cTn id="14" presetID="10" presetClass="entr" presetSubtype="0" fill="hold" nodeType="withEffect">
                                  <p:stCondLst>
                                    <p:cond delay="0"/>
                                  </p:stCondLst>
                                  <p:childTnLst>
                                    <p:set>
                                      <p:cBhvr>
                                        <p:cTn id="15" dur="1" fill="hold">
                                          <p:stCondLst>
                                            <p:cond delay="0"/>
                                          </p:stCondLst>
                                        </p:cTn>
                                        <p:tgtEl>
                                          <p:spTgt spid="22"/>
                                        </p:tgtEl>
                                        <p:attrNameLst>
                                          <p:attrName>style.visibility</p:attrName>
                                        </p:attrNameLst>
                                      </p:cBhvr>
                                      <p:to>
                                        <p:strVal val="visible"/>
                                      </p:to>
                                    </p:set>
                                    <p:animEffect transition="in" filter="fade">
                                      <p:cBhvr>
                                        <p:cTn id="16" dur="400"/>
                                        <p:tgtEl>
                                          <p:spTgt spid="22"/>
                                        </p:tgtEl>
                                      </p:cBhvr>
                                    </p:animEffect>
                                  </p:childTnLst>
                                </p:cTn>
                              </p:par>
                              <p:par>
                                <p:cTn id="17" presetID="10" presetClass="entr" presetSubtype="0" fill="hold" nodeType="withEffect">
                                  <p:stCondLst>
                                    <p:cond delay="0"/>
                                  </p:stCondLst>
                                  <p:childTnLst>
                                    <p:set>
                                      <p:cBhvr>
                                        <p:cTn id="18" dur="1" fill="hold">
                                          <p:stCondLst>
                                            <p:cond delay="0"/>
                                          </p:stCondLst>
                                        </p:cTn>
                                        <p:tgtEl>
                                          <p:spTgt spid="24"/>
                                        </p:tgtEl>
                                        <p:attrNameLst>
                                          <p:attrName>style.visibility</p:attrName>
                                        </p:attrNameLst>
                                      </p:cBhvr>
                                      <p:to>
                                        <p:strVal val="visible"/>
                                      </p:to>
                                    </p:set>
                                    <p:animEffect transition="in" filter="fade">
                                      <p:cBhvr>
                                        <p:cTn id="19" dur="400"/>
                                        <p:tgtEl>
                                          <p:spTgt spid="24"/>
                                        </p:tgtEl>
                                      </p:cBhvr>
                                    </p:animEffect>
                                  </p:childTnLst>
                                </p:cTn>
                              </p:par>
                              <p:par>
                                <p:cTn id="20" presetID="10" presetClass="entr" presetSubtype="0" fill="hold" nodeType="withEffect">
                                  <p:stCondLst>
                                    <p:cond delay="0"/>
                                  </p:stCondLst>
                                  <p:childTnLst>
                                    <p:set>
                                      <p:cBhvr>
                                        <p:cTn id="21" dur="1" fill="hold">
                                          <p:stCondLst>
                                            <p:cond delay="0"/>
                                          </p:stCondLst>
                                        </p:cTn>
                                        <p:tgtEl>
                                          <p:spTgt spid="26"/>
                                        </p:tgtEl>
                                        <p:attrNameLst>
                                          <p:attrName>style.visibility</p:attrName>
                                        </p:attrNameLst>
                                      </p:cBhvr>
                                      <p:to>
                                        <p:strVal val="visible"/>
                                      </p:to>
                                    </p:set>
                                    <p:animEffect transition="in" filter="fade">
                                      <p:cBhvr>
                                        <p:cTn id="22" dur="40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seq concurrent="1" nextAc="seek">
              <p:cTn id="23" restart="whenNotActive" fill="hold" evtFilter="cancelBubble" nodeType="interactiveSeq">
                <p:stCondLst>
                  <p:cond evt="onClick" delay="0">
                    <p:tgtEl>
                      <p:spTgt spid="12"/>
                    </p:tgtEl>
                  </p:cond>
                </p:stCondLst>
                <p:endSync evt="end" delay="0">
                  <p:rtn val="all"/>
                </p:endSync>
                <p:childTnLst>
                  <p:par>
                    <p:cTn id="24" fill="hold">
                      <p:stCondLst>
                        <p:cond delay="0"/>
                      </p:stCondLst>
                      <p:childTnLst>
                        <p:par>
                          <p:cTn id="25" fill="hold">
                            <p:stCondLst>
                              <p:cond delay="0"/>
                            </p:stCondLst>
                            <p:childTnLst>
                              <p:par>
                                <p:cTn id="26" presetID="2" presetClass="mediacall" presetSubtype="0" fill="hold" nodeType="clickEffect">
                                  <p:stCondLst>
                                    <p:cond delay="0"/>
                                  </p:stCondLst>
                                  <p:childTnLst>
                                    <p:cmd type="call" cmd="togglePause">
                                      <p:cBhvr>
                                        <p:cTn id="27" dur="1" fill="hold"/>
                                        <p:tgtEl>
                                          <p:spTgt spid="12"/>
                                        </p:tgtEl>
                                      </p:cBhvr>
                                    </p:cmd>
                                  </p:childTnLst>
                                </p:cTn>
                              </p:par>
                            </p:childTnLst>
                          </p:cTn>
                        </p:par>
                      </p:childTnLst>
                    </p:cTn>
                  </p:par>
                </p:childTnLst>
              </p:cTn>
              <p:nextCondLst>
                <p:cond evt="onClick" delay="0">
                  <p:tgtEl>
                    <p:spTgt spid="12"/>
                  </p:tgtEl>
                </p:cond>
              </p:nextCondLst>
            </p:seq>
            <p:video>
              <p:cMediaNode vol="80000">
                <p:cTn id="28" fill="hold" display="0">
                  <p:stCondLst>
                    <p:cond delay="indefinite"/>
                  </p:stCondLst>
                </p:cTn>
                <p:tgtEl>
                  <p:spTgt spid="12"/>
                </p:tgtEl>
              </p:cMediaNode>
            </p:video>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name="Slide 4">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levelFrame_59"/>
          <p:cNvSpPr/>
          <p:nvPr/>
        </p:nvSpPr>
        <p:spPr>
          <a:xfrm>
            <a:off x="54864" y="54864"/>
            <a:ext cx="9034272" cy="5033772"/>
          </a:xfrm>
          <a:prstGeom prst="rect">
            <a:avLst/>
          </a:prstGeom>
          <a:ln w="114300">
            <a:solidFill>
              <a:srgbClr val="A8E6B4"/>
            </a:solidFill>
            <a:prstDash val="solid"/>
          </a:ln>
        </p:spPr>
      </p:sp>
      <p:pic>
        <p:nvPicPr>
          <p:cNvPr id="4" name="logo_60" descr="London Language School logo">    </p:cNvPr>
          <p:cNvPicPr>
            <a:picLocks noChangeAspect="1"/>
          </p:cNvPicPr>
          <p:nvPr/>
        </p:nvPicPr>
        <p:blipFill>
          <a:blip r:embed="rId2"/>
          <a:stretch>
            <a:fillRect/>
          </a:stretch>
        </p:blipFill>
        <p:spPr>
          <a:xfrm>
            <a:off x="8275320" y="182880"/>
            <a:ext cx="585216" cy="585216"/>
          </a:xfrm>
          <a:prstGeom prst="rect">
            <a:avLst/>
          </a:prstGeom>
        </p:spPr>
      </p:pic>
      <p:sp>
        <p:nvSpPr>
          <p:cNvPr id="5" name="objective_61"/>
          <p:cNvSpPr txBox="1"/>
          <p:nvPr/>
        </p:nvSpPr>
        <p:spPr>
          <a:xfrm>
            <a:off x="320040" y="182880"/>
            <a:ext cx="4754880" cy="365760"/>
          </a:xfrm>
          <a:prstGeom prst="roundRect">
            <a:avLst>
              <a:gd name="adj" fmla="val 20000"/>
            </a:avLst>
          </a:prstGeom>
          <a:solidFill>
            <a:srgbClr val="062F67"/>
          </a:solidFill>
          <a:ln w="31750">
            <a:solidFill>
              <a:srgbClr val="111111"/>
            </a:solidFill>
          </a:ln>
        </p:spPr>
        <p:txBody>
          <a:bodyPr wrap="square" lIns="101600" tIns="101600" rIns="101600" bIns="101600" rtlCol="0" anchor="ctr"/>
          <a:lstStyle/>
          <a:p>
            <a:pPr indent="0" marL="0">
              <a:buNone/>
            </a:pPr>
            <a:r>
              <a:rPr lang="en-US" sz="900" dirty="0">
                <a:solidFill>
                  <a:srgbClr val="FFFFFF"/>
                </a:solidFill>
                <a:latin typeface="Arial Black" pitchFamily="34" charset="0"/>
                <a:ea typeface="Arial Black" pitchFamily="34" charset="-122"/>
                <a:cs typeface="Arial Black" pitchFamily="34" charset="-120"/>
              </a:rPr>
              <a:t>PRACTICAL ENGLISH · Scene 2 · video 5.24</a:t>
            </a:r>
            <a:endParaRPr lang="en-US" sz="900" dirty="0"/>
          </a:p>
        </p:txBody>
      </p:sp>
      <p:sp>
        <p:nvSpPr>
          <p:cNvPr id="6" name="timer_62"/>
          <p:cNvSpPr txBox="1"/>
          <p:nvPr/>
        </p:nvSpPr>
        <p:spPr>
          <a:xfrm>
            <a:off x="7086600" y="219456"/>
            <a:ext cx="1005840" cy="310896"/>
          </a:xfrm>
          <a:prstGeom prst="roundRect">
            <a:avLst>
              <a:gd name="adj" fmla="val 23529"/>
            </a:avLst>
          </a:prstGeom>
          <a:solidFill>
            <a:srgbClr val="FFFFFF"/>
          </a:solidFill>
          <a:ln w="25400">
            <a:solidFill>
              <a:srgbClr val="6D3FC0"/>
            </a:solidFill>
          </a:ln>
        </p:spPr>
        <p:txBody>
          <a:bodyPr wrap="square" lIns="0" tIns="0" rIns="0" bIns="0" rtlCol="0" anchor="ctr"/>
          <a:lstStyle/>
          <a:p>
            <a:pPr algn="ctr" indent="0" marL="0">
              <a:buNone/>
            </a:pPr>
            <a:r>
              <a:rPr lang="en-US" sz="1200" b="1" dirty="0">
                <a:solidFill>
                  <a:srgbClr val="6D3FC0"/>
                </a:solidFill>
                <a:latin typeface="Calibri" pitchFamily="34" charset="0"/>
                <a:ea typeface="Calibri" pitchFamily="34" charset="-122"/>
                <a:cs typeface="Calibri" pitchFamily="34" charset="-120"/>
              </a:rPr>
              <a:t>⏱ 5 min</a:t>
            </a:r>
            <a:endParaRPr lang="en-US" sz="1200" dirty="0"/>
          </a:p>
        </p:txBody>
      </p:sp>
      <p:sp>
        <p:nvSpPr>
          <p:cNvPr id="7" name="footer_63"/>
          <p:cNvSpPr txBox="1"/>
          <p:nvPr/>
        </p:nvSpPr>
        <p:spPr>
          <a:xfrm>
            <a:off x="7132320" y="4818888"/>
            <a:ext cx="1737360" cy="219456"/>
          </a:xfrm>
          <a:prstGeom prst="rect">
            <a:avLst/>
          </a:prstGeom>
          <a:solidFill>
            <a:srgbClr val="FFFFFF"/>
          </a:solidFill>
          <a:ln/>
        </p:spPr>
        <p:txBody>
          <a:bodyPr wrap="square" lIns="0" tIns="0" rIns="0" bIns="0" rtlCol="0" anchor="ctr"/>
          <a:lstStyle/>
          <a:p>
            <a:pPr algn="ctr" indent="0" marL="0">
              <a:buNone/>
            </a:pPr>
            <a:r>
              <a:rPr lang="en-US" sz="1000" dirty="0">
                <a:solidFill>
                  <a:srgbClr val="334155"/>
                </a:solidFill>
                <a:latin typeface="Calibri" pitchFamily="34" charset="0"/>
                <a:ea typeface="Calibri" pitchFamily="34" charset="-122"/>
                <a:cs typeface="Calibri" pitchFamily="34" charset="-120"/>
              </a:rPr>
              <a:t>PE3 · Part 1</a:t>
            </a:r>
            <a:endParaRPr lang="en-US" sz="1000" dirty="0"/>
          </a:p>
        </p:txBody>
      </p:sp>
      <p:sp>
        <p:nvSpPr>
          <p:cNvPr id="8" name="title_64"/>
          <p:cNvSpPr txBox="1"/>
          <p:nvPr/>
        </p:nvSpPr>
        <p:spPr>
          <a:xfrm rot="-120000">
            <a:off x="320040" y="676656"/>
            <a:ext cx="3456432" cy="530352"/>
          </a:xfrm>
          <a:prstGeom prst="rect">
            <a:avLst/>
          </a:prstGeom>
          <a:solidFill>
            <a:srgbClr val="FFD84D"/>
          </a:solidFill>
          <a:ln w="31750">
            <a:solidFill>
              <a:srgbClr val="111111"/>
            </a:solidFill>
          </a:ln>
          <a:effectLst>
            <a:outerShdw sx="100000" sy="100000" kx="0" ky="0" algn="bl" rotWithShape="0" blurRad="101600" dist="38100" dir="2700000">
              <a:srgbClr val="000000">
                <a:alpha val="35000"/>
              </a:srgbClr>
            </a:outerShdw>
          </a:effectLst>
        </p:spPr>
        <p:txBody>
          <a:bodyPr wrap="square" lIns="127000" tIns="127000" rIns="127000" bIns="127000" rtlCol="0" anchor="ctr"/>
          <a:lstStyle/>
          <a:p>
            <a:pPr indent="0" marL="0">
              <a:buNone/>
            </a:pPr>
            <a:r>
              <a:rPr lang="en-US" sz="1500" dirty="0">
                <a:solidFill>
                  <a:srgbClr val="111111"/>
                </a:solidFill>
                <a:latin typeface="Arial Black" pitchFamily="34" charset="0"/>
                <a:ea typeface="Arial Black" pitchFamily="34" charset="-122"/>
                <a:cs typeface="Arial Black" pitchFamily="34" charset="-120"/>
              </a:rPr>
              <a:t>Rob asks a favour</a:t>
            </a:r>
            <a:endParaRPr lang="en-US" sz="1500" dirty="0"/>
          </a:p>
        </p:txBody>
      </p:sp>
      <p:sp>
        <p:nvSpPr>
          <p:cNvPr id="9" name="post_65"/>
          <p:cNvSpPr/>
          <p:nvPr/>
        </p:nvSpPr>
        <p:spPr>
          <a:xfrm>
            <a:off x="429768" y="1554480"/>
            <a:ext cx="128016" cy="2194560"/>
          </a:xfrm>
          <a:prstGeom prst="rect">
            <a:avLst/>
          </a:prstGeom>
          <a:solidFill>
            <a:srgbClr val="8B5A2B"/>
          </a:solidFill>
          <a:ln w="31750">
            <a:solidFill>
              <a:srgbClr val="111111"/>
            </a:solidFill>
            <a:prstDash val="solid"/>
          </a:ln>
        </p:spPr>
      </p:sp>
      <p:sp>
        <p:nvSpPr>
          <p:cNvPr id="10" name="signA_66"/>
          <p:cNvSpPr txBox="1"/>
          <p:nvPr/>
        </p:nvSpPr>
        <p:spPr>
          <a:xfrm rot="-180000">
            <a:off x="320040" y="1371600"/>
            <a:ext cx="2240280" cy="457200"/>
          </a:xfrm>
          <a:prstGeom prst="homePlate">
            <a:avLst/>
          </a:prstGeom>
          <a:solidFill>
            <a:srgbClr val="F59E0B"/>
          </a:solidFill>
          <a:ln w="31750">
            <a:solidFill>
              <a:srgbClr val="111111"/>
            </a:solidFill>
          </a:ln>
          <a:effectLst>
            <a:outerShdw sx="100000" sy="100000" kx="0" ky="0" algn="bl" rotWithShape="0" blurRad="101600" dist="38100" dir="2700000">
              <a:srgbClr val="000000">
                <a:alpha val="35000"/>
              </a:srgbClr>
            </a:outerShdw>
          </a:effectLst>
        </p:spPr>
        <p:txBody>
          <a:bodyPr wrap="square" lIns="76200" tIns="76200" rIns="76200" bIns="76200" rtlCol="0" anchor="ctr"/>
          <a:lstStyle/>
          <a:p>
            <a:pPr indent="0" marL="0">
              <a:buNone/>
            </a:pPr>
            <a:r>
              <a:rPr lang="en-US" sz="1500" b="1" dirty="0">
                <a:solidFill>
                  <a:srgbClr val="FFFFFF"/>
                </a:solidFill>
                <a:latin typeface="Arial Black" pitchFamily="34" charset="0"/>
                <a:ea typeface="Arial Black" pitchFamily="34" charset="-122"/>
                <a:cs typeface="Arial Black" pitchFamily="34" charset="-120"/>
              </a:rPr>
              <a:t>WATCH!</a:t>
            </a:r>
            <a:pPr indent="0" marL="0">
              <a:buNone/>
            </a:pPr>
            <a:r>
              <a:rPr lang="en-US" sz="1000" dirty="0">
                <a:solidFill>
                  <a:srgbClr val="FFF3B0"/>
                </a:solidFill>
                <a:latin typeface="Arial Black" pitchFamily="34" charset="0"/>
                <a:ea typeface="Arial Black" pitchFamily="34" charset="-122"/>
                <a:cs typeface="Arial Black" pitchFamily="34" charset="-120"/>
              </a:rPr>
              <a:t>  GUARDA!</a:t>
            </a:r>
            <a:endParaRPr lang="en-US" sz="1500" dirty="0"/>
          </a:p>
        </p:txBody>
      </p:sp>
      <p:sp>
        <p:nvSpPr>
          <p:cNvPr id="11" name="signB_67"/>
          <p:cNvSpPr txBox="1"/>
          <p:nvPr/>
        </p:nvSpPr>
        <p:spPr>
          <a:xfrm rot="120000">
            <a:off x="365760" y="1938528"/>
            <a:ext cx="2240280" cy="1051560"/>
          </a:xfrm>
          <a:prstGeom prst="rect">
            <a:avLst/>
          </a:prstGeom>
          <a:solidFill>
            <a:srgbClr val="FFFFFF"/>
          </a:solidFill>
          <a:ln w="31750">
            <a:solidFill>
              <a:srgbClr val="111111"/>
            </a:solidFill>
          </a:ln>
        </p:spPr>
        <p:txBody>
          <a:bodyPr wrap="square" lIns="76200" tIns="76200" rIns="76200" bIns="76200" rtlCol="0" anchor="ctr"/>
          <a:lstStyle/>
          <a:p>
            <a:pPr indent="0" marL="0">
              <a:buNone/>
            </a:pPr>
            <a:r>
              <a:rPr lang="en-US" sz="1200" dirty="0">
                <a:solidFill>
                  <a:srgbClr val="111111"/>
                </a:solidFill>
                <a:latin typeface="Calibri" pitchFamily="34" charset="0"/>
                <a:ea typeface="Calibri" pitchFamily="34" charset="-122"/>
                <a:cs typeface="Calibri" pitchFamily="34" charset="-120"/>
              </a:rPr>
              <a:t>What favour does Rob ask? Then watch again: true or false?</a:t>
            </a:r>
            <a:endParaRPr lang="en-US" sz="1200" dirty="0"/>
          </a:p>
          <a:p>
            <a:pPr indent="0" marL="0">
              <a:buNone/>
            </a:pPr>
            <a:r>
              <a:rPr lang="en-US" sz="1050" i="1" dirty="0">
                <a:solidFill>
                  <a:srgbClr val="334155"/>
                </a:solidFill>
                <a:latin typeface="Calibri" pitchFamily="34" charset="0"/>
                <a:ea typeface="Calibri" pitchFamily="34" charset="-122"/>
                <a:cs typeface="Calibri" pitchFamily="34" charset="-120"/>
              </a:rPr>
              <a:t>Che favore chiede Rob? Poi riguarda: vero o falso?</a:t>
            </a:r>
            <a:endParaRPr lang="en-US" sz="1200" dirty="0"/>
          </a:p>
        </p:txBody>
      </p:sp>
      <p:pic>
        <p:nvPicPr>
          <p:cNvPr id="12" name="Media 0">
            <a:hlinkClick r:id="" action="ppaction://media"/>
          </p:cNvPr>
          <p:cNvPicPr>
            <a:picLocks noChangeAspect="1"/>
          </p:cNvPicPr>
          <p:nvPr>
            <a:videoFile r:link="rId3"/>
            <p:extLst>
              <p:ext uri="{DAA4B4D4-6D71-4841-9C94-3DE7FCFB9230}">
                <p14:media xmlns:p14="http://schemas.microsoft.com/office/powerpoint/2010/main" r:embed="rId4"/>
              </p:ext>
            </p:extLst>
          </p:nvPr>
        </p:nvPicPr>
        <p:blipFill>
          <a:blip r:embed="rId5"/>
          <a:stretch>
            <a:fillRect/>
          </a:stretch>
        </p:blipFill>
        <p:spPr>
          <a:xfrm>
            <a:off x="2788920" y="1371600"/>
            <a:ext cx="2926080" cy="1645920"/>
          </a:xfrm>
          <a:prstGeom prst="rect">
            <a:avLst/>
          </a:prstGeom>
        </p:spPr>
      </p:pic>
      <p:sp>
        <p:nvSpPr>
          <p:cNvPr id="13" name="vt_68"/>
          <p:cNvSpPr txBox="1"/>
          <p:nvPr/>
        </p:nvSpPr>
        <p:spPr>
          <a:xfrm>
            <a:off x="2788920" y="3090672"/>
            <a:ext cx="2926080" cy="685800"/>
          </a:xfrm>
          <a:prstGeom prst="rect">
            <a:avLst/>
          </a:prstGeom>
          <a:solidFill>
            <a:srgbClr val="FFFFFF"/>
          </a:solidFill>
          <a:ln w="15875">
            <a:solidFill>
              <a:srgbClr val="111111"/>
            </a:solidFill>
          </a:ln>
        </p:spPr>
        <p:txBody>
          <a:bodyPr wrap="square" lIns="76200" tIns="76200" rIns="76200" bIns="76200" rtlCol="0" anchor="ctr"/>
          <a:lstStyle/>
          <a:p>
            <a:pPr indent="0" marL="0">
              <a:buNone/>
            </a:pPr>
            <a:r>
              <a:rPr lang="en-US" sz="1250" b="1" dirty="0">
                <a:solidFill>
                  <a:srgbClr val="111111"/>
                </a:solidFill>
                <a:latin typeface="Calibri" pitchFamily="34" charset="0"/>
                <a:ea typeface="Calibri" pitchFamily="34" charset="-122"/>
                <a:cs typeface="Calibri" pitchFamily="34" charset="-120"/>
              </a:rPr>
              <a:t>Permissions and requests</a:t>
            </a:r>
            <a:endParaRPr lang="en-US" sz="1250" dirty="0"/>
          </a:p>
          <a:p>
            <a:pPr indent="0" marL="0">
              <a:buNone/>
            </a:pPr>
            <a:r>
              <a:rPr lang="en-US" sz="1050" dirty="0">
                <a:solidFill>
                  <a:srgbClr val="475569"/>
                </a:solidFill>
                <a:latin typeface="Calibri" pitchFamily="34" charset="0"/>
                <a:ea typeface="Calibri" pitchFamily="34" charset="-122"/>
                <a:cs typeface="Calibri" pitchFamily="34" charset="-120"/>
              </a:rPr>
              <a:t>Practical English Episode 3 · SB p.54 · 2a, 2b (2'17")</a:t>
            </a:r>
            <a:endParaRPr lang="en-US" sz="1250" dirty="0"/>
          </a:p>
        </p:txBody>
      </p:sp>
      <p:sp>
        <p:nvSpPr>
          <p:cNvPr id="14" name="wyw_69"/>
          <p:cNvSpPr txBox="1"/>
          <p:nvPr/>
        </p:nvSpPr>
        <p:spPr>
          <a:xfrm>
            <a:off x="5852160" y="1371600"/>
            <a:ext cx="2971800" cy="347472"/>
          </a:xfrm>
          <a:prstGeom prst="rect">
            <a:avLst/>
          </a:prstGeom>
          <a:solidFill>
            <a:srgbClr val="F59E0B"/>
          </a:solidFill>
          <a:ln w="19050">
            <a:solidFill>
              <a:srgbClr val="111111"/>
            </a:solidFill>
          </a:ln>
        </p:spPr>
        <p:txBody>
          <a:bodyPr wrap="square" lIns="25400" tIns="25400" rIns="25400" bIns="25400" rtlCol="0" anchor="ctr"/>
          <a:lstStyle/>
          <a:p>
            <a:pPr algn="ctr" indent="0" marL="0">
              <a:buNone/>
            </a:pPr>
            <a:r>
              <a:rPr lang="en-US" sz="1150" dirty="0">
                <a:solidFill>
                  <a:srgbClr val="FFFFFF"/>
                </a:solidFill>
                <a:latin typeface="Arial Black" pitchFamily="34" charset="0"/>
                <a:ea typeface="Arial Black" pitchFamily="34" charset="-122"/>
                <a:cs typeface="Arial Black" pitchFamily="34" charset="-120"/>
              </a:rPr>
              <a:t>While you watch · Mentre guardi</a:t>
            </a:r>
            <a:endParaRPr lang="en-US" sz="1150" dirty="0"/>
          </a:p>
        </p:txBody>
      </p:sp>
      <p:sp>
        <p:nvSpPr>
          <p:cNvPr id="15" name="box_70"/>
          <p:cNvSpPr txBox="1"/>
          <p:nvPr/>
        </p:nvSpPr>
        <p:spPr>
          <a:xfrm>
            <a:off x="5852160" y="1810512"/>
            <a:ext cx="1783080" cy="658368"/>
          </a:xfrm>
          <a:prstGeom prst="rect">
            <a:avLst/>
          </a:prstGeom>
          <a:solidFill>
            <a:srgbClr val="E0F2FE"/>
          </a:solidFill>
          <a:ln w="15875">
            <a:solidFill>
              <a:srgbClr val="111111"/>
            </a:solidFill>
          </a:ln>
        </p:spPr>
        <p:txBody>
          <a:bodyPr wrap="square" lIns="76200" tIns="76200" rIns="76200" bIns="76200" rtlCol="0" anchor="ctr"/>
          <a:lstStyle/>
          <a:p>
            <a:pPr algn="l" indent="0" marL="0">
              <a:buNone/>
            </a:pPr>
            <a:r>
              <a:rPr lang="en-US" sz="1250" dirty="0">
                <a:solidFill>
                  <a:srgbClr val="111111"/>
                </a:solidFill>
                <a:latin typeface="Calibri" pitchFamily="34" charset="0"/>
                <a:ea typeface="Calibri" pitchFamily="34" charset="-122"/>
                <a:cs typeface="Calibri" pitchFamily="34" charset="-120"/>
              </a:rPr>
              <a:t>1  What favour does Rob ask?</a:t>
            </a:r>
            <a:endParaRPr lang="en-US" sz="1250" dirty="0"/>
          </a:p>
        </p:txBody>
      </p:sp>
      <p:sp>
        <p:nvSpPr>
          <p:cNvPr id="16" name="R1_va0"/>
          <p:cNvSpPr txBox="1"/>
          <p:nvPr/>
        </p:nvSpPr>
        <p:spPr>
          <a:xfrm>
            <a:off x="7680960" y="1837944"/>
            <a:ext cx="1143000" cy="603504"/>
          </a:xfrm>
          <a:prstGeom prst="roundRect">
            <a:avLst>
              <a:gd name="adj" fmla="val 9091"/>
            </a:avLst>
          </a:prstGeom>
          <a:solidFill>
            <a:srgbClr val="FFFFFF"/>
          </a:solidFill>
          <a:ln w="38100">
            <a:solidFill>
              <a:srgbClr val="1FA463"/>
            </a:solidFill>
          </a:ln>
        </p:spPr>
        <p:txBody>
          <a:bodyPr wrap="square" lIns="25400" tIns="25400" rIns="25400" bIns="25400" rtlCol="0" anchor="ctr"/>
          <a:lstStyle/>
          <a:p>
            <a:pPr algn="ctr" indent="0" marL="0">
              <a:buNone/>
            </a:pPr>
            <a:r>
              <a:rPr lang="en-US" sz="1050" dirty="0">
                <a:solidFill>
                  <a:srgbClr val="111111"/>
                </a:solidFill>
                <a:latin typeface="Calibri" pitchFamily="34" charset="0"/>
                <a:ea typeface="Calibri" pitchFamily="34" charset="-122"/>
                <a:cs typeface="Calibri" pitchFamily="34" charset="-120"/>
              </a:rPr>
              <a:t>meet Paul at the airport + take him to his flat</a:t>
            </a:r>
            <a:endParaRPr lang="en-US" sz="1050" dirty="0"/>
          </a:p>
        </p:txBody>
      </p:sp>
      <p:sp>
        <p:nvSpPr>
          <p:cNvPr id="17" name="box_71"/>
          <p:cNvSpPr txBox="1"/>
          <p:nvPr/>
        </p:nvSpPr>
        <p:spPr>
          <a:xfrm>
            <a:off x="5852160" y="2542032"/>
            <a:ext cx="1783080" cy="658368"/>
          </a:xfrm>
          <a:prstGeom prst="rect">
            <a:avLst/>
          </a:prstGeom>
          <a:solidFill>
            <a:srgbClr val="FCE7F3"/>
          </a:solidFill>
          <a:ln w="15875">
            <a:solidFill>
              <a:srgbClr val="111111"/>
            </a:solidFill>
          </a:ln>
        </p:spPr>
        <p:txBody>
          <a:bodyPr wrap="square" lIns="76200" tIns="76200" rIns="76200" bIns="76200" rtlCol="0" anchor="ctr"/>
          <a:lstStyle/>
          <a:p>
            <a:pPr algn="l" indent="0" marL="0">
              <a:buNone/>
            </a:pPr>
            <a:r>
              <a:rPr lang="en-US" sz="1250" dirty="0">
                <a:solidFill>
                  <a:srgbClr val="111111"/>
                </a:solidFill>
                <a:latin typeface="Calibri" pitchFamily="34" charset="0"/>
                <a:ea typeface="Calibri" pitchFamily="34" charset="-122"/>
                <a:cs typeface="Calibri" pitchFamily="34" charset="-120"/>
              </a:rPr>
              <a:t>2  Who's Paul?</a:t>
            </a:r>
            <a:endParaRPr lang="en-US" sz="1250" dirty="0"/>
          </a:p>
        </p:txBody>
      </p:sp>
      <p:sp>
        <p:nvSpPr>
          <p:cNvPr id="18" name="R1_va1"/>
          <p:cNvSpPr txBox="1"/>
          <p:nvPr/>
        </p:nvSpPr>
        <p:spPr>
          <a:xfrm>
            <a:off x="7680960" y="2569464"/>
            <a:ext cx="1143000" cy="603504"/>
          </a:xfrm>
          <a:prstGeom prst="roundRect">
            <a:avLst>
              <a:gd name="adj" fmla="val 9091"/>
            </a:avLst>
          </a:prstGeom>
          <a:solidFill>
            <a:srgbClr val="FFFFFF"/>
          </a:solidFill>
          <a:ln w="38100">
            <a:solidFill>
              <a:srgbClr val="1FA463"/>
            </a:solidFill>
          </a:ln>
        </p:spPr>
        <p:txBody>
          <a:bodyPr wrap="square" lIns="25400" tIns="25400" rIns="25400" bIns="25400" rtlCol="0" anchor="ctr"/>
          <a:lstStyle/>
          <a:p>
            <a:pPr algn="ctr" indent="0" marL="0">
              <a:buNone/>
            </a:pPr>
            <a:r>
              <a:rPr lang="en-US" sz="1050" dirty="0">
                <a:solidFill>
                  <a:srgbClr val="111111"/>
                </a:solidFill>
                <a:latin typeface="Calibri" pitchFamily="34" charset="0"/>
                <a:ea typeface="Calibri" pitchFamily="34" charset="-122"/>
                <a:cs typeface="Calibri" pitchFamily="34" charset="-120"/>
              </a:rPr>
              <a:t>an old friend of Rob's from university</a:t>
            </a:r>
            <a:endParaRPr lang="en-US" sz="1050" dirty="0"/>
          </a:p>
        </p:txBody>
      </p:sp>
      <p:sp>
        <p:nvSpPr>
          <p:cNvPr id="19" name="box_72"/>
          <p:cNvSpPr txBox="1"/>
          <p:nvPr/>
        </p:nvSpPr>
        <p:spPr>
          <a:xfrm>
            <a:off x="5852160" y="3273552"/>
            <a:ext cx="2971800" cy="658368"/>
          </a:xfrm>
          <a:prstGeom prst="rect">
            <a:avLst/>
          </a:prstGeom>
          <a:solidFill>
            <a:srgbClr val="FEF9C3"/>
          </a:solidFill>
          <a:ln w="15875">
            <a:solidFill>
              <a:srgbClr val="111111"/>
            </a:solidFill>
          </a:ln>
        </p:spPr>
        <p:txBody>
          <a:bodyPr wrap="square" lIns="76200" tIns="76200" rIns="76200" bIns="76200" rtlCol="0" anchor="ctr"/>
          <a:lstStyle/>
          <a:p>
            <a:pPr algn="l" indent="0" marL="0">
              <a:buNone/>
            </a:pPr>
            <a:r>
              <a:rPr lang="en-US" sz="1250" dirty="0">
                <a:solidFill>
                  <a:srgbClr val="111111"/>
                </a:solidFill>
                <a:latin typeface="Calibri" pitchFamily="34" charset="0"/>
                <a:ea typeface="Calibri" pitchFamily="34" charset="-122"/>
                <a:cs typeface="Calibri" pitchFamily="34" charset="-120"/>
              </a:rPr>
              <a:t>3  Watch again: 2b, sentences 1–8 in the book. True or false?</a:t>
            </a:r>
            <a:endParaRPr lang="en-US" sz="1250" dirty="0"/>
          </a:p>
        </p:txBody>
      </p:sp>
      <p:sp>
        <p:nvSpPr>
          <p:cNvPr id="20" name="pageTag_73"/>
          <p:cNvSpPr txBox="1"/>
          <p:nvPr/>
        </p:nvSpPr>
        <p:spPr>
          <a:xfrm>
            <a:off x="320040" y="4773168"/>
            <a:ext cx="6720840" cy="246888"/>
          </a:xfrm>
          <a:prstGeom prst="rect">
            <a:avLst/>
          </a:prstGeom>
          <a:solidFill>
            <a:srgbClr val="FFFFFF"/>
          </a:solidFill>
          <a:ln/>
        </p:spPr>
        <p:txBody>
          <a:bodyPr wrap="square" lIns="25400" tIns="25400" rIns="25400" bIns="25400" rtlCol="0" anchor="ctr"/>
          <a:lstStyle/>
          <a:p>
            <a:pPr indent="0" marL="0">
              <a:buNone/>
            </a:pPr>
            <a:r>
              <a:rPr lang="en-US" sz="1050" dirty="0">
                <a:solidFill>
                  <a:srgbClr val="334155"/>
                </a:solidFill>
                <a:latin typeface="Calibri" pitchFamily="34" charset="0"/>
                <a:ea typeface="Calibri" pitchFamily="34" charset="-122"/>
                <a:cs typeface="Calibri" pitchFamily="34" charset="-120"/>
              </a:rPr>
              <a:t>📖 Teacher: Student's Book p.54 · 2a, 2b · Practical English Episode 3 · video / audio 5.24</a:t>
            </a:r>
            <a:endParaRPr lang="en-US" sz="1050" dirty="0"/>
          </a:p>
        </p:txBody>
      </p:sp>
      <p:sp>
        <p:nvSpPr>
          <p:cNvPr id="21" name="pframe_74"/>
          <p:cNvSpPr/>
          <p:nvPr/>
        </p:nvSpPr>
        <p:spPr>
          <a:xfrm rot="-120000">
            <a:off x="548640" y="3383280"/>
            <a:ext cx="1691640" cy="1060704"/>
          </a:xfrm>
          <a:prstGeom prst="rect">
            <a:avLst/>
          </a:prstGeom>
          <a:solidFill>
            <a:srgbClr val="FFFFFF"/>
          </a:solidFill>
          <a:ln w="19050">
            <a:solidFill>
              <a:srgbClr val="111111"/>
            </a:solidFill>
            <a:prstDash val="solid"/>
          </a:ln>
          <a:effectLst>
            <a:outerShdw sx="100000" sy="100000" kx="0" ky="0" algn="bl" rotWithShape="0" blurRad="101600" dist="38100" dir="2700000">
              <a:srgbClr val="000000">
                <a:alpha val="35000"/>
              </a:srgbClr>
            </a:outerShdw>
          </a:effectLst>
        </p:spPr>
      </p:sp>
      <p:pic>
        <p:nvPicPr>
          <p:cNvPr id="22" name="pimg_75" descr="picture">    </p:cNvPr>
          <p:cNvPicPr>
            <a:picLocks noChangeAspect="1"/>
          </p:cNvPicPr>
          <p:nvPr/>
        </p:nvPicPr>
        <p:blipFill>
          <a:blip r:embed="rId6"/>
          <a:srcRect l="0" r="0" t="0" b="0"/>
          <a:stretch/>
        </p:blipFill>
        <p:spPr>
          <a:xfrm rot="-120000">
            <a:off x="621792" y="3456432"/>
            <a:ext cx="1545336" cy="841248"/>
          </a:xfrm>
          <a:prstGeom prst="rect">
            <a:avLst/>
          </a:prstGeom>
        </p:spPr>
      </p:pic>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fade">
                                      <p:cBhvr>
                                        <p:cTn id="7" dur="400"/>
                                        <p:tgtEl>
                                          <p:spTgt spid="16"/>
                                        </p:tgtEl>
                                      </p:cBhvr>
                                    </p:animEffect>
                                  </p:childTnLst>
                                </p:cTn>
                              </p:par>
                              <p:par>
                                <p:cTn id="8" presetID="10" presetClass="entr" presetSubtype="0" fill="hold" nodeType="withEffect">
                                  <p:stCondLst>
                                    <p:cond delay="0"/>
                                  </p:stCondLst>
                                  <p:childTnLst>
                                    <p:set>
                                      <p:cBhvr>
                                        <p:cTn id="9" dur="1" fill="hold">
                                          <p:stCondLst>
                                            <p:cond delay="0"/>
                                          </p:stCondLst>
                                        </p:cTn>
                                        <p:tgtEl>
                                          <p:spTgt spid="18"/>
                                        </p:tgtEl>
                                        <p:attrNameLst>
                                          <p:attrName>style.visibility</p:attrName>
                                        </p:attrNameLst>
                                      </p:cBhvr>
                                      <p:to>
                                        <p:strVal val="visible"/>
                                      </p:to>
                                    </p:set>
                                    <p:animEffect transition="in" filter="fade">
                                      <p:cBhvr>
                                        <p:cTn id="10" dur="4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seq concurrent="1" nextAc="seek">
              <p:cTn id="11" restart="whenNotActive" fill="hold" evtFilter="cancelBubble" nodeType="interactiveSeq">
                <p:stCondLst>
                  <p:cond evt="onClick" delay="0">
                    <p:tgtEl>
                      <p:spTgt spid="12"/>
                    </p:tgtEl>
                  </p:cond>
                </p:stCondLst>
                <p:endSync evt="end" delay="0">
                  <p:rtn val="all"/>
                </p:endSync>
                <p:childTnLst>
                  <p:par>
                    <p:cTn id="12" fill="hold">
                      <p:stCondLst>
                        <p:cond delay="0"/>
                      </p:stCondLst>
                      <p:childTnLst>
                        <p:par>
                          <p:cTn id="13" fill="hold">
                            <p:stCondLst>
                              <p:cond delay="0"/>
                            </p:stCondLst>
                            <p:childTnLst>
                              <p:par>
                                <p:cTn id="14" presetID="2" presetClass="mediacall" presetSubtype="0" fill="hold" nodeType="clickEffect">
                                  <p:stCondLst>
                                    <p:cond delay="0"/>
                                  </p:stCondLst>
                                  <p:childTnLst>
                                    <p:cmd type="call" cmd="togglePause">
                                      <p:cBhvr>
                                        <p:cTn id="15" dur="1" fill="hold"/>
                                        <p:tgtEl>
                                          <p:spTgt spid="12"/>
                                        </p:tgtEl>
                                      </p:cBhvr>
                                    </p:cmd>
                                  </p:childTnLst>
                                </p:cTn>
                              </p:par>
                            </p:childTnLst>
                          </p:cTn>
                        </p:par>
                      </p:childTnLst>
                    </p:cTn>
                  </p:par>
                </p:childTnLst>
              </p:cTn>
              <p:nextCondLst>
                <p:cond evt="onClick" delay="0">
                  <p:tgtEl>
                    <p:spTgt spid="12"/>
                  </p:tgtEl>
                </p:cond>
              </p:nextCondLst>
            </p:seq>
            <p:video>
              <p:cMediaNode vol="80000">
                <p:cTn id="16" fill="hold" display="0">
                  <p:stCondLst>
                    <p:cond delay="indefinite"/>
                  </p:stCondLst>
                </p:cTn>
                <p:tgtEl>
                  <p:spTgt spid="12"/>
                </p:tgtEl>
              </p:cMediaNode>
            </p:video>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name="Slide 5">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levelFrame_76"/>
          <p:cNvSpPr/>
          <p:nvPr/>
        </p:nvSpPr>
        <p:spPr>
          <a:xfrm>
            <a:off x="54864" y="54864"/>
            <a:ext cx="9034272" cy="5033772"/>
          </a:xfrm>
          <a:prstGeom prst="rect">
            <a:avLst/>
          </a:prstGeom>
          <a:ln w="114300">
            <a:solidFill>
              <a:srgbClr val="A8E6B4"/>
            </a:solidFill>
            <a:prstDash val="solid"/>
          </a:ln>
        </p:spPr>
      </p:sp>
      <p:pic>
        <p:nvPicPr>
          <p:cNvPr id="4" name="logo_77" descr="London Language School logo">    </p:cNvPr>
          <p:cNvPicPr>
            <a:picLocks noChangeAspect="1"/>
          </p:cNvPicPr>
          <p:nvPr/>
        </p:nvPicPr>
        <p:blipFill>
          <a:blip r:embed="rId2"/>
          <a:stretch>
            <a:fillRect/>
          </a:stretch>
        </p:blipFill>
        <p:spPr>
          <a:xfrm>
            <a:off x="8275320" y="182880"/>
            <a:ext cx="585216" cy="585216"/>
          </a:xfrm>
          <a:prstGeom prst="rect">
            <a:avLst/>
          </a:prstGeom>
        </p:spPr>
      </p:pic>
      <p:sp>
        <p:nvSpPr>
          <p:cNvPr id="5" name="objective_78"/>
          <p:cNvSpPr txBox="1"/>
          <p:nvPr/>
        </p:nvSpPr>
        <p:spPr>
          <a:xfrm>
            <a:off x="320040" y="182880"/>
            <a:ext cx="4754880" cy="365760"/>
          </a:xfrm>
          <a:prstGeom prst="roundRect">
            <a:avLst>
              <a:gd name="adj" fmla="val 20000"/>
            </a:avLst>
          </a:prstGeom>
          <a:solidFill>
            <a:srgbClr val="062F67"/>
          </a:solidFill>
          <a:ln w="31750">
            <a:solidFill>
              <a:srgbClr val="111111"/>
            </a:solidFill>
          </a:ln>
        </p:spPr>
        <p:txBody>
          <a:bodyPr wrap="square" lIns="101600" tIns="101600" rIns="101600" bIns="101600" rtlCol="0" anchor="ctr"/>
          <a:lstStyle/>
          <a:p>
            <a:pPr indent="0" marL="0">
              <a:buNone/>
            </a:pPr>
            <a:r>
              <a:rPr lang="en-US" sz="900" dirty="0">
                <a:solidFill>
                  <a:srgbClr val="FFFFFF"/>
                </a:solidFill>
                <a:latin typeface="Arial Black" pitchFamily="34" charset="0"/>
                <a:ea typeface="Arial Black" pitchFamily="34" charset="-122"/>
                <a:cs typeface="Arial Black" pitchFamily="34" charset="-120"/>
              </a:rPr>
              <a:t>PRACTICAL ENGLISH · Scene 2 · check · 2b</a:t>
            </a:r>
            <a:endParaRPr lang="en-US" sz="900" dirty="0"/>
          </a:p>
        </p:txBody>
      </p:sp>
      <p:sp>
        <p:nvSpPr>
          <p:cNvPr id="6" name="timer_79"/>
          <p:cNvSpPr txBox="1"/>
          <p:nvPr/>
        </p:nvSpPr>
        <p:spPr>
          <a:xfrm>
            <a:off x="7086600" y="219456"/>
            <a:ext cx="1005840" cy="310896"/>
          </a:xfrm>
          <a:prstGeom prst="roundRect">
            <a:avLst>
              <a:gd name="adj" fmla="val 23529"/>
            </a:avLst>
          </a:prstGeom>
          <a:solidFill>
            <a:srgbClr val="FFFFFF"/>
          </a:solidFill>
          <a:ln w="25400">
            <a:solidFill>
              <a:srgbClr val="6D3FC0"/>
            </a:solidFill>
          </a:ln>
        </p:spPr>
        <p:txBody>
          <a:bodyPr wrap="square" lIns="0" tIns="0" rIns="0" bIns="0" rtlCol="0" anchor="ctr"/>
          <a:lstStyle/>
          <a:p>
            <a:pPr algn="ctr" indent="0" marL="0">
              <a:buNone/>
            </a:pPr>
            <a:r>
              <a:rPr lang="en-US" sz="1200" b="1" dirty="0">
                <a:solidFill>
                  <a:srgbClr val="6D3FC0"/>
                </a:solidFill>
                <a:latin typeface="Calibri" pitchFamily="34" charset="0"/>
                <a:ea typeface="Calibri" pitchFamily="34" charset="-122"/>
                <a:cs typeface="Calibri" pitchFamily="34" charset="-120"/>
              </a:rPr>
              <a:t>⏱ 2 min</a:t>
            </a:r>
            <a:endParaRPr lang="en-US" sz="1200" dirty="0"/>
          </a:p>
        </p:txBody>
      </p:sp>
      <p:sp>
        <p:nvSpPr>
          <p:cNvPr id="7" name="footer_80"/>
          <p:cNvSpPr txBox="1"/>
          <p:nvPr/>
        </p:nvSpPr>
        <p:spPr>
          <a:xfrm>
            <a:off x="7132320" y="4818888"/>
            <a:ext cx="1737360" cy="219456"/>
          </a:xfrm>
          <a:prstGeom prst="rect">
            <a:avLst/>
          </a:prstGeom>
          <a:solidFill>
            <a:srgbClr val="FFFFFF"/>
          </a:solidFill>
          <a:ln/>
        </p:spPr>
        <p:txBody>
          <a:bodyPr wrap="square" lIns="0" tIns="0" rIns="0" bIns="0" rtlCol="0" anchor="ctr"/>
          <a:lstStyle/>
          <a:p>
            <a:pPr algn="ctr" indent="0" marL="0">
              <a:buNone/>
            </a:pPr>
            <a:r>
              <a:rPr lang="en-US" sz="1000" dirty="0">
                <a:solidFill>
                  <a:srgbClr val="334155"/>
                </a:solidFill>
                <a:latin typeface="Calibri" pitchFamily="34" charset="0"/>
                <a:ea typeface="Calibri" pitchFamily="34" charset="-122"/>
                <a:cs typeface="Calibri" pitchFamily="34" charset="-120"/>
              </a:rPr>
              <a:t>PE3 · Part 1</a:t>
            </a:r>
            <a:endParaRPr lang="en-US" sz="1000" dirty="0"/>
          </a:p>
        </p:txBody>
      </p:sp>
      <p:sp>
        <p:nvSpPr>
          <p:cNvPr id="8" name="title_81"/>
          <p:cNvSpPr txBox="1"/>
          <p:nvPr/>
        </p:nvSpPr>
        <p:spPr>
          <a:xfrm rot="-120000">
            <a:off x="320040" y="676656"/>
            <a:ext cx="2935224" cy="530352"/>
          </a:xfrm>
          <a:prstGeom prst="rect">
            <a:avLst/>
          </a:prstGeom>
          <a:solidFill>
            <a:srgbClr val="FFD84D"/>
          </a:solidFill>
          <a:ln w="31750">
            <a:solidFill>
              <a:srgbClr val="111111"/>
            </a:solidFill>
          </a:ln>
          <a:effectLst>
            <a:outerShdw sx="100000" sy="100000" kx="0" ky="0" algn="bl" rotWithShape="0" blurRad="101600" dist="38100" dir="2700000">
              <a:srgbClr val="000000">
                <a:alpha val="35000"/>
              </a:srgbClr>
            </a:outerShdw>
          </a:effectLst>
        </p:spPr>
        <p:txBody>
          <a:bodyPr wrap="square" lIns="127000" tIns="127000" rIns="127000" bIns="127000" rtlCol="0" anchor="ctr"/>
          <a:lstStyle/>
          <a:p>
            <a:pPr indent="0" marL="0">
              <a:buNone/>
            </a:pPr>
            <a:r>
              <a:rPr lang="en-US" sz="1500" dirty="0">
                <a:solidFill>
                  <a:srgbClr val="111111"/>
                </a:solidFill>
                <a:latin typeface="Arial Black" pitchFamily="34" charset="0"/>
                <a:ea typeface="Arial Black" pitchFamily="34" charset="-122"/>
                <a:cs typeface="Arial Black" pitchFamily="34" charset="-120"/>
              </a:rPr>
              <a:t>True or false?</a:t>
            </a:r>
            <a:endParaRPr lang="en-US" sz="1500" dirty="0"/>
          </a:p>
        </p:txBody>
      </p:sp>
      <p:sp>
        <p:nvSpPr>
          <p:cNvPr id="9" name="post_82"/>
          <p:cNvSpPr/>
          <p:nvPr/>
        </p:nvSpPr>
        <p:spPr>
          <a:xfrm>
            <a:off x="429768" y="1554480"/>
            <a:ext cx="128016" cy="2194560"/>
          </a:xfrm>
          <a:prstGeom prst="rect">
            <a:avLst/>
          </a:prstGeom>
          <a:solidFill>
            <a:srgbClr val="8B5A2B"/>
          </a:solidFill>
          <a:ln w="31750">
            <a:solidFill>
              <a:srgbClr val="111111"/>
            </a:solidFill>
            <a:prstDash val="solid"/>
          </a:ln>
        </p:spPr>
      </p:sp>
      <p:sp>
        <p:nvSpPr>
          <p:cNvPr id="10" name="signA_83"/>
          <p:cNvSpPr txBox="1"/>
          <p:nvPr/>
        </p:nvSpPr>
        <p:spPr>
          <a:xfrm rot="-180000">
            <a:off x="320040" y="1371600"/>
            <a:ext cx="2240280" cy="457200"/>
          </a:xfrm>
          <a:prstGeom prst="homePlate">
            <a:avLst/>
          </a:prstGeom>
          <a:solidFill>
            <a:srgbClr val="062F67"/>
          </a:solidFill>
          <a:ln w="31750">
            <a:solidFill>
              <a:srgbClr val="111111"/>
            </a:solidFill>
          </a:ln>
          <a:effectLst>
            <a:outerShdw sx="100000" sy="100000" kx="0" ky="0" algn="bl" rotWithShape="0" blurRad="101600" dist="38100" dir="2700000">
              <a:srgbClr val="000000">
                <a:alpha val="35000"/>
              </a:srgbClr>
            </a:outerShdw>
          </a:effectLst>
        </p:spPr>
        <p:txBody>
          <a:bodyPr wrap="square" lIns="76200" tIns="76200" rIns="76200" bIns="76200" rtlCol="0" anchor="ctr"/>
          <a:lstStyle/>
          <a:p>
            <a:pPr indent="0" marL="0">
              <a:buNone/>
            </a:pPr>
            <a:r>
              <a:rPr lang="en-US" sz="1500" b="1" dirty="0">
                <a:solidFill>
                  <a:srgbClr val="FFFFFF"/>
                </a:solidFill>
                <a:latin typeface="Arial Black" pitchFamily="34" charset="0"/>
                <a:ea typeface="Arial Black" pitchFamily="34" charset="-122"/>
                <a:cs typeface="Arial Black" pitchFamily="34" charset="-120"/>
              </a:rPr>
              <a:t>THINK!</a:t>
            </a:r>
            <a:pPr indent="0" marL="0">
              <a:buNone/>
            </a:pPr>
            <a:r>
              <a:rPr lang="en-US" sz="1000" dirty="0">
                <a:solidFill>
                  <a:srgbClr val="FFF3B0"/>
                </a:solidFill>
                <a:latin typeface="Arial Black" pitchFamily="34" charset="0"/>
                <a:ea typeface="Arial Black" pitchFamily="34" charset="-122"/>
                <a:cs typeface="Arial Black" pitchFamily="34" charset="-120"/>
              </a:rPr>
              <a:t>  PENSA!</a:t>
            </a:r>
            <a:endParaRPr lang="en-US" sz="1500" dirty="0"/>
          </a:p>
        </p:txBody>
      </p:sp>
      <p:sp>
        <p:nvSpPr>
          <p:cNvPr id="11" name="signB_84"/>
          <p:cNvSpPr txBox="1"/>
          <p:nvPr/>
        </p:nvSpPr>
        <p:spPr>
          <a:xfrm rot="120000">
            <a:off x="365760" y="1938528"/>
            <a:ext cx="2240280" cy="1051560"/>
          </a:xfrm>
          <a:prstGeom prst="rect">
            <a:avLst/>
          </a:prstGeom>
          <a:solidFill>
            <a:srgbClr val="FFFFFF"/>
          </a:solidFill>
          <a:ln w="31750">
            <a:solidFill>
              <a:srgbClr val="111111"/>
            </a:solidFill>
          </a:ln>
        </p:spPr>
        <p:txBody>
          <a:bodyPr wrap="square" lIns="76200" tIns="76200" rIns="76200" bIns="76200" rtlCol="0" anchor="ctr"/>
          <a:lstStyle/>
          <a:p>
            <a:pPr indent="0" marL="0">
              <a:buNone/>
            </a:pPr>
            <a:r>
              <a:rPr lang="en-US" sz="1250" dirty="0">
                <a:solidFill>
                  <a:srgbClr val="111111"/>
                </a:solidFill>
                <a:latin typeface="Calibri" pitchFamily="34" charset="0"/>
                <a:ea typeface="Calibri" pitchFamily="34" charset="-122"/>
                <a:cs typeface="Calibri" pitchFamily="34" charset="-120"/>
              </a:rPr>
              <a:t>True or false? Correct the false sentences.</a:t>
            </a:r>
            <a:endParaRPr lang="en-US" sz="1250" dirty="0"/>
          </a:p>
          <a:p>
            <a:pPr indent="0" marL="0">
              <a:buNone/>
            </a:pPr>
            <a:r>
              <a:rPr lang="en-US" sz="1100" i="1" dirty="0">
                <a:solidFill>
                  <a:srgbClr val="334155"/>
                </a:solidFill>
                <a:latin typeface="Calibri" pitchFamily="34" charset="0"/>
                <a:ea typeface="Calibri" pitchFamily="34" charset="-122"/>
                <a:cs typeface="Calibri" pitchFamily="34" charset="-120"/>
              </a:rPr>
              <a:t>Vero o falso? Correggi le frasi false.</a:t>
            </a:r>
            <a:endParaRPr lang="en-US" sz="1250" dirty="0"/>
          </a:p>
        </p:txBody>
      </p:sp>
      <p:sp>
        <p:nvSpPr>
          <p:cNvPr id="12" name="box_85"/>
          <p:cNvSpPr txBox="1"/>
          <p:nvPr/>
        </p:nvSpPr>
        <p:spPr>
          <a:xfrm>
            <a:off x="2788920" y="1371600"/>
            <a:ext cx="1831177" cy="726948"/>
          </a:xfrm>
          <a:prstGeom prst="rect">
            <a:avLst/>
          </a:prstGeom>
          <a:solidFill>
            <a:srgbClr val="E0F2FE"/>
          </a:solidFill>
          <a:ln w="15875">
            <a:solidFill>
              <a:srgbClr val="111111"/>
            </a:solidFill>
          </a:ln>
        </p:spPr>
        <p:txBody>
          <a:bodyPr wrap="square" lIns="76200" tIns="76200" rIns="76200" bIns="76200" rtlCol="0" anchor="ctr"/>
          <a:lstStyle/>
          <a:p>
            <a:pPr algn="l" indent="0" marL="0">
              <a:buNone/>
            </a:pPr>
            <a:r>
              <a:rPr lang="en-US" sz="1150" dirty="0">
                <a:solidFill>
                  <a:srgbClr val="111111"/>
                </a:solidFill>
                <a:latin typeface="Calibri" pitchFamily="34" charset="0"/>
                <a:ea typeface="Calibri" pitchFamily="34" charset="-122"/>
                <a:cs typeface="Calibri" pitchFamily="34" charset="-120"/>
              </a:rPr>
              <a:t>1  Rob orders a cappuccino.</a:t>
            </a:r>
            <a:endParaRPr lang="en-US" sz="1150" dirty="0"/>
          </a:p>
        </p:txBody>
      </p:sp>
      <p:sp>
        <p:nvSpPr>
          <p:cNvPr id="13" name="R1_a0"/>
          <p:cNvSpPr txBox="1"/>
          <p:nvPr/>
        </p:nvSpPr>
        <p:spPr>
          <a:xfrm>
            <a:off x="4674961" y="1408176"/>
            <a:ext cx="1067471" cy="653796"/>
          </a:xfrm>
          <a:prstGeom prst="roundRect">
            <a:avLst>
              <a:gd name="adj" fmla="val 8392"/>
            </a:avLst>
          </a:prstGeom>
          <a:solidFill>
            <a:srgbClr val="FFFFFF"/>
          </a:solidFill>
          <a:ln w="38100">
            <a:solidFill>
              <a:srgbClr val="1FA463"/>
            </a:solidFill>
          </a:ln>
        </p:spPr>
        <p:txBody>
          <a:bodyPr wrap="square" lIns="25400" tIns="25400" rIns="25400" bIns="25400" rtlCol="0" anchor="ctr"/>
          <a:lstStyle/>
          <a:p>
            <a:pPr algn="ctr" indent="0" marL="0">
              <a:buNone/>
            </a:pPr>
            <a:r>
              <a:rPr lang="en-US" sz="1150" dirty="0">
                <a:solidFill>
                  <a:srgbClr val="111111"/>
                </a:solidFill>
                <a:latin typeface="Calibri" pitchFamily="34" charset="0"/>
                <a:ea typeface="Calibri" pitchFamily="34" charset="-122"/>
                <a:cs typeface="Calibri" pitchFamily="34" charset="-120"/>
              </a:rPr>
              <a:t>F – a large latte</a:t>
            </a:r>
            <a:endParaRPr lang="en-US" sz="1150" dirty="0"/>
          </a:p>
        </p:txBody>
      </p:sp>
      <p:sp>
        <p:nvSpPr>
          <p:cNvPr id="14" name="box_86"/>
          <p:cNvSpPr txBox="1"/>
          <p:nvPr/>
        </p:nvSpPr>
        <p:spPr>
          <a:xfrm>
            <a:off x="5870448" y="1371600"/>
            <a:ext cx="1831177" cy="726948"/>
          </a:xfrm>
          <a:prstGeom prst="rect">
            <a:avLst/>
          </a:prstGeom>
          <a:solidFill>
            <a:srgbClr val="FCE7F3"/>
          </a:solidFill>
          <a:ln w="15875">
            <a:solidFill>
              <a:srgbClr val="111111"/>
            </a:solidFill>
          </a:ln>
        </p:spPr>
        <p:txBody>
          <a:bodyPr wrap="square" lIns="76200" tIns="76200" rIns="76200" bIns="76200" rtlCol="0" anchor="ctr"/>
          <a:lstStyle/>
          <a:p>
            <a:pPr algn="l" indent="0" marL="0">
              <a:buNone/>
            </a:pPr>
            <a:r>
              <a:rPr lang="en-US" sz="1150" dirty="0">
                <a:solidFill>
                  <a:srgbClr val="111111"/>
                </a:solidFill>
                <a:latin typeface="Calibri" pitchFamily="34" charset="0"/>
                <a:ea typeface="Calibri" pitchFamily="34" charset="-122"/>
                <a:cs typeface="Calibri" pitchFamily="34" charset="-120"/>
              </a:rPr>
              <a:t>2  Rob says Monica looks different from her photos.</a:t>
            </a:r>
            <a:endParaRPr lang="en-US" sz="1150" dirty="0"/>
          </a:p>
        </p:txBody>
      </p:sp>
      <p:sp>
        <p:nvSpPr>
          <p:cNvPr id="15" name="R1_a1"/>
          <p:cNvSpPr txBox="1"/>
          <p:nvPr/>
        </p:nvSpPr>
        <p:spPr>
          <a:xfrm>
            <a:off x="7756489" y="1408176"/>
            <a:ext cx="1067471" cy="653796"/>
          </a:xfrm>
          <a:prstGeom prst="roundRect">
            <a:avLst>
              <a:gd name="adj" fmla="val 8392"/>
            </a:avLst>
          </a:prstGeom>
          <a:solidFill>
            <a:srgbClr val="FFFFFF"/>
          </a:solidFill>
          <a:ln w="38100">
            <a:solidFill>
              <a:srgbClr val="1FA463"/>
            </a:solidFill>
          </a:ln>
        </p:spPr>
        <p:txBody>
          <a:bodyPr wrap="square" lIns="25400" tIns="25400" rIns="25400" bIns="25400" rtlCol="0" anchor="ctr"/>
          <a:lstStyle/>
          <a:p>
            <a:pPr algn="ctr" indent="0" marL="0">
              <a:buNone/>
            </a:pPr>
            <a:r>
              <a:rPr lang="en-US" sz="1150" dirty="0">
                <a:solidFill>
                  <a:srgbClr val="111111"/>
                </a:solidFill>
                <a:latin typeface="Calibri" pitchFamily="34" charset="0"/>
                <a:ea typeface="Calibri" pitchFamily="34" charset="-122"/>
                <a:cs typeface="Calibri" pitchFamily="34" charset="-120"/>
              </a:rPr>
              <a:t>F – she hasn't changed</a:t>
            </a:r>
            <a:endParaRPr lang="en-US" sz="1150" dirty="0"/>
          </a:p>
        </p:txBody>
      </p:sp>
      <p:sp>
        <p:nvSpPr>
          <p:cNvPr id="16" name="box_87"/>
          <p:cNvSpPr txBox="1"/>
          <p:nvPr/>
        </p:nvSpPr>
        <p:spPr>
          <a:xfrm>
            <a:off x="2788920" y="2226564"/>
            <a:ext cx="1831177" cy="726948"/>
          </a:xfrm>
          <a:prstGeom prst="rect">
            <a:avLst/>
          </a:prstGeom>
          <a:solidFill>
            <a:srgbClr val="FEF9C3"/>
          </a:solidFill>
          <a:ln w="15875">
            <a:solidFill>
              <a:srgbClr val="111111"/>
            </a:solidFill>
          </a:ln>
        </p:spPr>
        <p:txBody>
          <a:bodyPr wrap="square" lIns="76200" tIns="76200" rIns="76200" bIns="76200" rtlCol="0" anchor="ctr"/>
          <a:lstStyle/>
          <a:p>
            <a:pPr algn="l" indent="0" marL="0">
              <a:buNone/>
            </a:pPr>
            <a:r>
              <a:rPr lang="en-US" sz="1150" dirty="0">
                <a:solidFill>
                  <a:srgbClr val="111111"/>
                </a:solidFill>
                <a:latin typeface="Calibri" pitchFamily="34" charset="0"/>
                <a:ea typeface="Calibri" pitchFamily="34" charset="-122"/>
                <a:cs typeface="Calibri" pitchFamily="34" charset="-120"/>
              </a:rPr>
              <a:t>3  Monica gets a good impression of Rob.</a:t>
            </a:r>
            <a:endParaRPr lang="en-US" sz="1150" dirty="0"/>
          </a:p>
        </p:txBody>
      </p:sp>
      <p:sp>
        <p:nvSpPr>
          <p:cNvPr id="17" name="R1_a2"/>
          <p:cNvSpPr txBox="1"/>
          <p:nvPr/>
        </p:nvSpPr>
        <p:spPr>
          <a:xfrm>
            <a:off x="4674961" y="2263140"/>
            <a:ext cx="1067471" cy="653796"/>
          </a:xfrm>
          <a:prstGeom prst="roundRect">
            <a:avLst>
              <a:gd name="adj" fmla="val 8392"/>
            </a:avLst>
          </a:prstGeom>
          <a:solidFill>
            <a:srgbClr val="FFFFFF"/>
          </a:solidFill>
          <a:ln w="38100">
            <a:solidFill>
              <a:srgbClr val="1FA463"/>
            </a:solidFill>
          </a:ln>
        </p:spPr>
        <p:txBody>
          <a:bodyPr wrap="square" lIns="25400" tIns="25400" rIns="25400" bIns="25400" rtlCol="0" anchor="ctr"/>
          <a:lstStyle/>
          <a:p>
            <a:pPr algn="ctr" indent="0" marL="0">
              <a:buNone/>
            </a:pPr>
            <a:r>
              <a:rPr lang="en-US" sz="1150" dirty="0">
                <a:solidFill>
                  <a:srgbClr val="111111"/>
                </a:solidFill>
                <a:latin typeface="Calibri" pitchFamily="34" charset="0"/>
                <a:ea typeface="Calibri" pitchFamily="34" charset="-122"/>
                <a:cs typeface="Calibri" pitchFamily="34" charset="-120"/>
              </a:rPr>
              <a:t>T</a:t>
            </a:r>
            <a:endParaRPr lang="en-US" sz="1150" dirty="0"/>
          </a:p>
        </p:txBody>
      </p:sp>
      <p:sp>
        <p:nvSpPr>
          <p:cNvPr id="18" name="box_88"/>
          <p:cNvSpPr txBox="1"/>
          <p:nvPr/>
        </p:nvSpPr>
        <p:spPr>
          <a:xfrm>
            <a:off x="5870448" y="2226564"/>
            <a:ext cx="1831177" cy="726948"/>
          </a:xfrm>
          <a:prstGeom prst="rect">
            <a:avLst/>
          </a:prstGeom>
          <a:solidFill>
            <a:srgbClr val="DCFCE7"/>
          </a:solidFill>
          <a:ln w="15875">
            <a:solidFill>
              <a:srgbClr val="111111"/>
            </a:solidFill>
          </a:ln>
        </p:spPr>
        <p:txBody>
          <a:bodyPr wrap="square" lIns="76200" tIns="76200" rIns="76200" bIns="76200" rtlCol="0" anchor="ctr"/>
          <a:lstStyle/>
          <a:p>
            <a:pPr algn="l" indent="0" marL="0">
              <a:buNone/>
            </a:pPr>
            <a:r>
              <a:rPr lang="en-US" sz="1150" dirty="0">
                <a:solidFill>
                  <a:srgbClr val="111111"/>
                </a:solidFill>
                <a:latin typeface="Calibri" pitchFamily="34" charset="0"/>
                <a:ea typeface="Calibri" pitchFamily="34" charset="-122"/>
                <a:cs typeface="Calibri" pitchFamily="34" charset="-120"/>
              </a:rPr>
              <a:t>4  Monica leaves because she has to go to work.</a:t>
            </a:r>
            <a:endParaRPr lang="en-US" sz="1150" dirty="0"/>
          </a:p>
        </p:txBody>
      </p:sp>
      <p:sp>
        <p:nvSpPr>
          <p:cNvPr id="19" name="R1_a3"/>
          <p:cNvSpPr txBox="1"/>
          <p:nvPr/>
        </p:nvSpPr>
        <p:spPr>
          <a:xfrm>
            <a:off x="7756489" y="2263140"/>
            <a:ext cx="1067471" cy="653796"/>
          </a:xfrm>
          <a:prstGeom prst="roundRect">
            <a:avLst>
              <a:gd name="adj" fmla="val 8392"/>
            </a:avLst>
          </a:prstGeom>
          <a:solidFill>
            <a:srgbClr val="FFFFFF"/>
          </a:solidFill>
          <a:ln w="38100">
            <a:solidFill>
              <a:srgbClr val="1FA463"/>
            </a:solidFill>
          </a:ln>
        </p:spPr>
        <p:txBody>
          <a:bodyPr wrap="square" lIns="25400" tIns="25400" rIns="25400" bIns="25400" rtlCol="0" anchor="ctr"/>
          <a:lstStyle/>
          <a:p>
            <a:pPr algn="ctr" indent="0" marL="0">
              <a:buNone/>
            </a:pPr>
            <a:r>
              <a:rPr lang="en-US" sz="1150" dirty="0">
                <a:solidFill>
                  <a:srgbClr val="111111"/>
                </a:solidFill>
                <a:latin typeface="Calibri" pitchFamily="34" charset="0"/>
                <a:ea typeface="Calibri" pitchFamily="34" charset="-122"/>
                <a:cs typeface="Calibri" pitchFamily="34" charset="-120"/>
              </a:rPr>
              <a:t>F – she needs to meet someone</a:t>
            </a:r>
            <a:endParaRPr lang="en-US" sz="1150" dirty="0"/>
          </a:p>
        </p:txBody>
      </p:sp>
      <p:sp>
        <p:nvSpPr>
          <p:cNvPr id="20" name="box_89"/>
          <p:cNvSpPr txBox="1"/>
          <p:nvPr/>
        </p:nvSpPr>
        <p:spPr>
          <a:xfrm>
            <a:off x="2788920" y="3081528"/>
            <a:ext cx="1831177" cy="726948"/>
          </a:xfrm>
          <a:prstGeom prst="rect">
            <a:avLst/>
          </a:prstGeom>
          <a:solidFill>
            <a:srgbClr val="EDE9FE"/>
          </a:solidFill>
          <a:ln w="15875">
            <a:solidFill>
              <a:srgbClr val="111111"/>
            </a:solidFill>
          </a:ln>
        </p:spPr>
        <p:txBody>
          <a:bodyPr wrap="square" lIns="76200" tIns="76200" rIns="76200" bIns="76200" rtlCol="0" anchor="ctr"/>
          <a:lstStyle/>
          <a:p>
            <a:pPr algn="l" indent="0" marL="0">
              <a:buNone/>
            </a:pPr>
            <a:r>
              <a:rPr lang="en-US" sz="1150" dirty="0">
                <a:solidFill>
                  <a:srgbClr val="111111"/>
                </a:solidFill>
                <a:latin typeface="Calibri" pitchFamily="34" charset="0"/>
                <a:ea typeface="Calibri" pitchFamily="34" charset="-122"/>
                <a:cs typeface="Calibri" pitchFamily="34" charset="-120"/>
              </a:rPr>
              <a:t>5  Jenny says that most of their friends aren't in serious relationships.</a:t>
            </a:r>
            <a:endParaRPr lang="en-US" sz="1150" dirty="0"/>
          </a:p>
        </p:txBody>
      </p:sp>
      <p:sp>
        <p:nvSpPr>
          <p:cNvPr id="21" name="R1_a4"/>
          <p:cNvSpPr txBox="1"/>
          <p:nvPr/>
        </p:nvSpPr>
        <p:spPr>
          <a:xfrm>
            <a:off x="4674961" y="3118104"/>
            <a:ext cx="1067471" cy="653796"/>
          </a:xfrm>
          <a:prstGeom prst="roundRect">
            <a:avLst>
              <a:gd name="adj" fmla="val 8392"/>
            </a:avLst>
          </a:prstGeom>
          <a:solidFill>
            <a:srgbClr val="FFFFFF"/>
          </a:solidFill>
          <a:ln w="38100">
            <a:solidFill>
              <a:srgbClr val="1FA463"/>
            </a:solidFill>
          </a:ln>
        </p:spPr>
        <p:txBody>
          <a:bodyPr wrap="square" lIns="25400" tIns="25400" rIns="25400" bIns="25400" rtlCol="0" anchor="ctr"/>
          <a:lstStyle/>
          <a:p>
            <a:pPr algn="ctr" indent="0" marL="0">
              <a:buNone/>
            </a:pPr>
            <a:r>
              <a:rPr lang="en-US" sz="1150" dirty="0">
                <a:solidFill>
                  <a:srgbClr val="111111"/>
                </a:solidFill>
                <a:latin typeface="Calibri" pitchFamily="34" charset="0"/>
                <a:ea typeface="Calibri" pitchFamily="34" charset="-122"/>
                <a:cs typeface="Calibri" pitchFamily="34" charset="-120"/>
              </a:rPr>
              <a:t>F – most are getting married</a:t>
            </a:r>
            <a:endParaRPr lang="en-US" sz="1150" dirty="0"/>
          </a:p>
        </p:txBody>
      </p:sp>
      <p:sp>
        <p:nvSpPr>
          <p:cNvPr id="22" name="box_90"/>
          <p:cNvSpPr txBox="1"/>
          <p:nvPr/>
        </p:nvSpPr>
        <p:spPr>
          <a:xfrm>
            <a:off x="5870448" y="3081528"/>
            <a:ext cx="1831177" cy="726948"/>
          </a:xfrm>
          <a:prstGeom prst="rect">
            <a:avLst/>
          </a:prstGeom>
          <a:solidFill>
            <a:srgbClr val="FFEDD5"/>
          </a:solidFill>
          <a:ln w="15875">
            <a:solidFill>
              <a:srgbClr val="111111"/>
            </a:solidFill>
          </a:ln>
        </p:spPr>
        <p:txBody>
          <a:bodyPr wrap="square" lIns="76200" tIns="76200" rIns="76200" bIns="76200" rtlCol="0" anchor="ctr"/>
          <a:lstStyle/>
          <a:p>
            <a:pPr algn="l" indent="0" marL="0">
              <a:buNone/>
            </a:pPr>
            <a:r>
              <a:rPr lang="en-US" sz="1150" dirty="0">
                <a:solidFill>
                  <a:srgbClr val="111111"/>
                </a:solidFill>
                <a:latin typeface="Calibri" pitchFamily="34" charset="0"/>
                <a:ea typeface="Calibri" pitchFamily="34" charset="-122"/>
                <a:cs typeface="Calibri" pitchFamily="34" charset="-120"/>
              </a:rPr>
              <a:t>6  Paul is going to stay for a fortnight.</a:t>
            </a:r>
            <a:endParaRPr lang="en-US" sz="1150" dirty="0"/>
          </a:p>
        </p:txBody>
      </p:sp>
      <p:sp>
        <p:nvSpPr>
          <p:cNvPr id="23" name="R1_a5"/>
          <p:cNvSpPr txBox="1"/>
          <p:nvPr/>
        </p:nvSpPr>
        <p:spPr>
          <a:xfrm>
            <a:off x="7756489" y="3118104"/>
            <a:ext cx="1067471" cy="653796"/>
          </a:xfrm>
          <a:prstGeom prst="roundRect">
            <a:avLst>
              <a:gd name="adj" fmla="val 8392"/>
            </a:avLst>
          </a:prstGeom>
          <a:solidFill>
            <a:srgbClr val="FFFFFF"/>
          </a:solidFill>
          <a:ln w="38100">
            <a:solidFill>
              <a:srgbClr val="1FA463"/>
            </a:solidFill>
          </a:ln>
        </p:spPr>
        <p:txBody>
          <a:bodyPr wrap="square" lIns="25400" tIns="25400" rIns="25400" bIns="25400" rtlCol="0" anchor="ctr"/>
          <a:lstStyle/>
          <a:p>
            <a:pPr algn="ctr" indent="0" marL="0">
              <a:buNone/>
            </a:pPr>
            <a:r>
              <a:rPr lang="en-US" sz="1150" dirty="0">
                <a:solidFill>
                  <a:srgbClr val="111111"/>
                </a:solidFill>
                <a:latin typeface="Calibri" pitchFamily="34" charset="0"/>
                <a:ea typeface="Calibri" pitchFamily="34" charset="-122"/>
                <a:cs typeface="Calibri" pitchFamily="34" charset="-120"/>
              </a:rPr>
              <a:t>F – for a week</a:t>
            </a:r>
            <a:endParaRPr lang="en-US" sz="1150" dirty="0"/>
          </a:p>
        </p:txBody>
      </p:sp>
      <p:sp>
        <p:nvSpPr>
          <p:cNvPr id="24" name="box_91"/>
          <p:cNvSpPr txBox="1"/>
          <p:nvPr/>
        </p:nvSpPr>
        <p:spPr>
          <a:xfrm>
            <a:off x="2788920" y="3936492"/>
            <a:ext cx="1831177" cy="726948"/>
          </a:xfrm>
          <a:prstGeom prst="rect">
            <a:avLst/>
          </a:prstGeom>
          <a:solidFill>
            <a:srgbClr val="E0F2FE"/>
          </a:solidFill>
          <a:ln w="15875">
            <a:solidFill>
              <a:srgbClr val="111111"/>
            </a:solidFill>
          </a:ln>
        </p:spPr>
        <p:txBody>
          <a:bodyPr wrap="square" lIns="76200" tIns="76200" rIns="76200" bIns="76200" rtlCol="0" anchor="ctr"/>
          <a:lstStyle/>
          <a:p>
            <a:pPr algn="l" indent="0" marL="0">
              <a:buNone/>
            </a:pPr>
            <a:r>
              <a:rPr lang="en-US" sz="1150" dirty="0">
                <a:solidFill>
                  <a:srgbClr val="111111"/>
                </a:solidFill>
                <a:latin typeface="Calibri" pitchFamily="34" charset="0"/>
                <a:ea typeface="Calibri" pitchFamily="34" charset="-122"/>
                <a:cs typeface="Calibri" pitchFamily="34" charset="-120"/>
              </a:rPr>
              <a:t>7  Paul used to be very quiet when they were younger.</a:t>
            </a:r>
            <a:endParaRPr lang="en-US" sz="1150" dirty="0"/>
          </a:p>
        </p:txBody>
      </p:sp>
      <p:sp>
        <p:nvSpPr>
          <p:cNvPr id="25" name="R1_a6"/>
          <p:cNvSpPr txBox="1"/>
          <p:nvPr/>
        </p:nvSpPr>
        <p:spPr>
          <a:xfrm>
            <a:off x="4674961" y="3973068"/>
            <a:ext cx="1067471" cy="653796"/>
          </a:xfrm>
          <a:prstGeom prst="roundRect">
            <a:avLst>
              <a:gd name="adj" fmla="val 8392"/>
            </a:avLst>
          </a:prstGeom>
          <a:solidFill>
            <a:srgbClr val="FFFFFF"/>
          </a:solidFill>
          <a:ln w="38100">
            <a:solidFill>
              <a:srgbClr val="1FA463"/>
            </a:solidFill>
          </a:ln>
        </p:spPr>
        <p:txBody>
          <a:bodyPr wrap="square" lIns="25400" tIns="25400" rIns="25400" bIns="25400" rtlCol="0" anchor="ctr"/>
          <a:lstStyle/>
          <a:p>
            <a:pPr algn="ctr" indent="0" marL="0">
              <a:buNone/>
            </a:pPr>
            <a:r>
              <a:rPr lang="en-US" sz="1150" dirty="0">
                <a:solidFill>
                  <a:srgbClr val="111111"/>
                </a:solidFill>
                <a:latin typeface="Calibri" pitchFamily="34" charset="0"/>
                <a:ea typeface="Calibri" pitchFamily="34" charset="-122"/>
                <a:cs typeface="Calibri" pitchFamily="34" charset="-120"/>
              </a:rPr>
              <a:t>F – he used to be a bit wild</a:t>
            </a:r>
            <a:endParaRPr lang="en-US" sz="1150" dirty="0"/>
          </a:p>
        </p:txBody>
      </p:sp>
      <p:sp>
        <p:nvSpPr>
          <p:cNvPr id="26" name="box_92"/>
          <p:cNvSpPr txBox="1"/>
          <p:nvPr/>
        </p:nvSpPr>
        <p:spPr>
          <a:xfrm>
            <a:off x="5870448" y="3936492"/>
            <a:ext cx="1831177" cy="726948"/>
          </a:xfrm>
          <a:prstGeom prst="rect">
            <a:avLst/>
          </a:prstGeom>
          <a:solidFill>
            <a:srgbClr val="FCE7F3"/>
          </a:solidFill>
          <a:ln w="15875">
            <a:solidFill>
              <a:srgbClr val="111111"/>
            </a:solidFill>
          </a:ln>
        </p:spPr>
        <p:txBody>
          <a:bodyPr wrap="square" lIns="76200" tIns="76200" rIns="76200" bIns="76200" rtlCol="0" anchor="ctr"/>
          <a:lstStyle/>
          <a:p>
            <a:pPr algn="l" indent="0" marL="0">
              <a:buNone/>
            </a:pPr>
            <a:r>
              <a:rPr lang="en-US" sz="1150" dirty="0">
                <a:solidFill>
                  <a:srgbClr val="111111"/>
                </a:solidFill>
                <a:latin typeface="Calibri" pitchFamily="34" charset="0"/>
                <a:ea typeface="Calibri" pitchFamily="34" charset="-122"/>
                <a:cs typeface="Calibri" pitchFamily="34" charset="-120"/>
              </a:rPr>
              <a:t>8  Jenny is keen to meet Paul.</a:t>
            </a:r>
            <a:endParaRPr lang="en-US" sz="1150" dirty="0"/>
          </a:p>
        </p:txBody>
      </p:sp>
      <p:sp>
        <p:nvSpPr>
          <p:cNvPr id="27" name="R1_a7"/>
          <p:cNvSpPr txBox="1"/>
          <p:nvPr/>
        </p:nvSpPr>
        <p:spPr>
          <a:xfrm>
            <a:off x="7756489" y="3973068"/>
            <a:ext cx="1067471" cy="653796"/>
          </a:xfrm>
          <a:prstGeom prst="roundRect">
            <a:avLst>
              <a:gd name="adj" fmla="val 8392"/>
            </a:avLst>
          </a:prstGeom>
          <a:solidFill>
            <a:srgbClr val="FFFFFF"/>
          </a:solidFill>
          <a:ln w="38100">
            <a:solidFill>
              <a:srgbClr val="1FA463"/>
            </a:solidFill>
          </a:ln>
        </p:spPr>
        <p:txBody>
          <a:bodyPr wrap="square" lIns="25400" tIns="25400" rIns="25400" bIns="25400" rtlCol="0" anchor="ctr"/>
          <a:lstStyle/>
          <a:p>
            <a:pPr algn="ctr" indent="0" marL="0">
              <a:buNone/>
            </a:pPr>
            <a:r>
              <a:rPr lang="en-US" sz="1150" dirty="0">
                <a:solidFill>
                  <a:srgbClr val="111111"/>
                </a:solidFill>
                <a:latin typeface="Calibri" pitchFamily="34" charset="0"/>
                <a:ea typeface="Calibri" pitchFamily="34" charset="-122"/>
                <a:cs typeface="Calibri" pitchFamily="34" charset="-120"/>
              </a:rPr>
              <a:t>T</a:t>
            </a:r>
            <a:endParaRPr lang="en-US" sz="1150" dirty="0"/>
          </a:p>
        </p:txBody>
      </p:sp>
      <p:sp>
        <p:nvSpPr>
          <p:cNvPr id="28" name="pageTag_93"/>
          <p:cNvSpPr txBox="1"/>
          <p:nvPr/>
        </p:nvSpPr>
        <p:spPr>
          <a:xfrm>
            <a:off x="320040" y="4773168"/>
            <a:ext cx="6720840" cy="246888"/>
          </a:xfrm>
          <a:prstGeom prst="rect">
            <a:avLst/>
          </a:prstGeom>
          <a:solidFill>
            <a:srgbClr val="FFFFFF"/>
          </a:solidFill>
          <a:ln/>
        </p:spPr>
        <p:txBody>
          <a:bodyPr wrap="square" lIns="25400" tIns="25400" rIns="25400" bIns="25400" rtlCol="0" anchor="ctr"/>
          <a:lstStyle/>
          <a:p>
            <a:pPr indent="0" marL="0">
              <a:buNone/>
            </a:pPr>
            <a:r>
              <a:rPr lang="en-US" sz="1050" dirty="0">
                <a:solidFill>
                  <a:srgbClr val="334155"/>
                </a:solidFill>
                <a:latin typeface="Calibri" pitchFamily="34" charset="0"/>
                <a:ea typeface="Calibri" pitchFamily="34" charset="-122"/>
                <a:cs typeface="Calibri" pitchFamily="34" charset="-120"/>
              </a:rPr>
              <a:t>📖 Teacher: Student's Book p.54 · 2a, 2b · Practical English Episode 3 · audio 5.24</a:t>
            </a:r>
            <a:endParaRPr lang="en-US" sz="1050" dirty="0"/>
          </a:p>
        </p:txBody>
      </p:sp>
      <p:pic>
        <p:nvPicPr>
          <p:cNvPr id="29" name="Media 0">
            <a:hlinkClick r:id="" action="ppaction://media"/>
          </p:cNvPr>
          <p:cNvPicPr>
            <a:picLocks noChangeAspect="1"/>
          </p:cNvPicPr>
          <p:nvPr>
            <a:audioFile r:link="rId3"/>
            <p:extLst>
              <p:ext uri="{DAA4B4D4-6D71-4841-9C94-3DE7FCFB9230}">
                <p14:media xmlns:p14="http://schemas.microsoft.com/office/powerpoint/2010/main" r:embed="rId4"/>
              </p:ext>
            </p:extLst>
          </p:nvPr>
        </p:nvPicPr>
        <p:blipFill>
          <a:blip r:embed="rId5"/>
          <a:stretch>
            <a:fillRect/>
          </a:stretch>
        </p:blipFill>
        <p:spPr>
          <a:xfrm>
            <a:off x="5166360" y="155448"/>
            <a:ext cx="384048" cy="384048"/>
          </a:xfrm>
          <a:prstGeom prst="rect">
            <a:avLst/>
          </a:prstGeom>
        </p:spPr>
      </p:pic>
      <p:sp>
        <p:nvSpPr>
          <p:cNvPr id="30" name="atr_94"/>
          <p:cNvSpPr txBox="1"/>
          <p:nvPr/>
        </p:nvSpPr>
        <p:spPr>
          <a:xfrm>
            <a:off x="5120640" y="530352"/>
            <a:ext cx="475488" cy="164592"/>
          </a:xfrm>
          <a:prstGeom prst="rect">
            <a:avLst/>
          </a:prstGeom>
          <a:noFill/>
          <a:ln/>
        </p:spPr>
        <p:txBody>
          <a:bodyPr wrap="square" lIns="0" tIns="0" rIns="0" bIns="0" rtlCol="0" anchor="ctr"/>
          <a:lstStyle/>
          <a:p>
            <a:pPr algn="ctr" indent="0" marL="0">
              <a:buNone/>
            </a:pPr>
            <a:r>
              <a:rPr lang="en-US" sz="800" b="1" dirty="0">
                <a:solidFill>
                  <a:srgbClr val="062F67"/>
                </a:solidFill>
                <a:latin typeface="Calibri" pitchFamily="34" charset="0"/>
                <a:ea typeface="Calibri" pitchFamily="34" charset="-122"/>
                <a:cs typeface="Calibri" pitchFamily="34" charset="-120"/>
              </a:rPr>
              <a:t>5.24</a:t>
            </a:r>
            <a:endParaRPr lang="en-US" sz="80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400"/>
                                        <p:tgtEl>
                                          <p:spTgt spid="13"/>
                                        </p:tgtEl>
                                      </p:cBhvr>
                                    </p:animEffect>
                                  </p:childTnLst>
                                </p:cTn>
                              </p:par>
                              <p:par>
                                <p:cTn id="8" presetID="10" presetClass="entr" presetSubtype="0" fill="hold" nodeType="withEffect">
                                  <p:stCondLst>
                                    <p:cond delay="0"/>
                                  </p:stCondLst>
                                  <p:childTnLst>
                                    <p:set>
                                      <p:cBhvr>
                                        <p:cTn id="9" dur="1" fill="hold">
                                          <p:stCondLst>
                                            <p:cond delay="0"/>
                                          </p:stCondLst>
                                        </p:cTn>
                                        <p:tgtEl>
                                          <p:spTgt spid="15"/>
                                        </p:tgtEl>
                                        <p:attrNameLst>
                                          <p:attrName>style.visibility</p:attrName>
                                        </p:attrNameLst>
                                      </p:cBhvr>
                                      <p:to>
                                        <p:strVal val="visible"/>
                                      </p:to>
                                    </p:set>
                                    <p:animEffect transition="in" filter="fade">
                                      <p:cBhvr>
                                        <p:cTn id="10" dur="400"/>
                                        <p:tgtEl>
                                          <p:spTgt spid="15"/>
                                        </p:tgtEl>
                                      </p:cBhvr>
                                    </p:animEffect>
                                  </p:childTnLst>
                                </p:cTn>
                              </p:par>
                              <p:par>
                                <p:cTn id="11" presetID="10" presetClass="entr" presetSubtype="0" fill="hold" nodeType="withEffect">
                                  <p:stCondLst>
                                    <p:cond delay="0"/>
                                  </p:stCondLst>
                                  <p:childTnLst>
                                    <p:set>
                                      <p:cBhvr>
                                        <p:cTn id="12" dur="1" fill="hold">
                                          <p:stCondLst>
                                            <p:cond delay="0"/>
                                          </p:stCondLst>
                                        </p:cTn>
                                        <p:tgtEl>
                                          <p:spTgt spid="17"/>
                                        </p:tgtEl>
                                        <p:attrNameLst>
                                          <p:attrName>style.visibility</p:attrName>
                                        </p:attrNameLst>
                                      </p:cBhvr>
                                      <p:to>
                                        <p:strVal val="visible"/>
                                      </p:to>
                                    </p:set>
                                    <p:animEffect transition="in" filter="fade">
                                      <p:cBhvr>
                                        <p:cTn id="13" dur="400"/>
                                        <p:tgtEl>
                                          <p:spTgt spid="17"/>
                                        </p:tgtEl>
                                      </p:cBhvr>
                                    </p:animEffect>
                                  </p:childTnLst>
                                </p:cTn>
                              </p:par>
                              <p:par>
                                <p:cTn id="14" presetID="10" presetClass="entr" presetSubtype="0" fill="hold" nodeType="withEffect">
                                  <p:stCondLst>
                                    <p:cond delay="0"/>
                                  </p:stCondLst>
                                  <p:childTnLst>
                                    <p:set>
                                      <p:cBhvr>
                                        <p:cTn id="15" dur="1" fill="hold">
                                          <p:stCondLst>
                                            <p:cond delay="0"/>
                                          </p:stCondLst>
                                        </p:cTn>
                                        <p:tgtEl>
                                          <p:spTgt spid="19"/>
                                        </p:tgtEl>
                                        <p:attrNameLst>
                                          <p:attrName>style.visibility</p:attrName>
                                        </p:attrNameLst>
                                      </p:cBhvr>
                                      <p:to>
                                        <p:strVal val="visible"/>
                                      </p:to>
                                    </p:set>
                                    <p:animEffect transition="in" filter="fade">
                                      <p:cBhvr>
                                        <p:cTn id="16" dur="400"/>
                                        <p:tgtEl>
                                          <p:spTgt spid="19"/>
                                        </p:tgtEl>
                                      </p:cBhvr>
                                    </p:animEffect>
                                  </p:childTnLst>
                                </p:cTn>
                              </p:par>
                              <p:par>
                                <p:cTn id="17" presetID="10" presetClass="entr" presetSubtype="0" fill="hold" nodeType="withEffect">
                                  <p:stCondLst>
                                    <p:cond delay="0"/>
                                  </p:stCondLst>
                                  <p:childTnLst>
                                    <p:set>
                                      <p:cBhvr>
                                        <p:cTn id="18" dur="1" fill="hold">
                                          <p:stCondLst>
                                            <p:cond delay="0"/>
                                          </p:stCondLst>
                                        </p:cTn>
                                        <p:tgtEl>
                                          <p:spTgt spid="21"/>
                                        </p:tgtEl>
                                        <p:attrNameLst>
                                          <p:attrName>style.visibility</p:attrName>
                                        </p:attrNameLst>
                                      </p:cBhvr>
                                      <p:to>
                                        <p:strVal val="visible"/>
                                      </p:to>
                                    </p:set>
                                    <p:animEffect transition="in" filter="fade">
                                      <p:cBhvr>
                                        <p:cTn id="19" dur="400"/>
                                        <p:tgtEl>
                                          <p:spTgt spid="21"/>
                                        </p:tgtEl>
                                      </p:cBhvr>
                                    </p:animEffect>
                                  </p:childTnLst>
                                </p:cTn>
                              </p:par>
                              <p:par>
                                <p:cTn id="20" presetID="10" presetClass="entr" presetSubtype="0" fill="hold" nodeType="withEffect">
                                  <p:stCondLst>
                                    <p:cond delay="0"/>
                                  </p:stCondLst>
                                  <p:childTnLst>
                                    <p:set>
                                      <p:cBhvr>
                                        <p:cTn id="21" dur="1" fill="hold">
                                          <p:stCondLst>
                                            <p:cond delay="0"/>
                                          </p:stCondLst>
                                        </p:cTn>
                                        <p:tgtEl>
                                          <p:spTgt spid="23"/>
                                        </p:tgtEl>
                                        <p:attrNameLst>
                                          <p:attrName>style.visibility</p:attrName>
                                        </p:attrNameLst>
                                      </p:cBhvr>
                                      <p:to>
                                        <p:strVal val="visible"/>
                                      </p:to>
                                    </p:set>
                                    <p:animEffect transition="in" filter="fade">
                                      <p:cBhvr>
                                        <p:cTn id="22" dur="400"/>
                                        <p:tgtEl>
                                          <p:spTgt spid="23"/>
                                        </p:tgtEl>
                                      </p:cBhvr>
                                    </p:animEffect>
                                  </p:childTnLst>
                                </p:cTn>
                              </p:par>
                              <p:par>
                                <p:cTn id="23" presetID="10" presetClass="entr" presetSubtype="0" fill="hold" nodeType="withEffect">
                                  <p:stCondLst>
                                    <p:cond delay="0"/>
                                  </p:stCondLst>
                                  <p:childTnLst>
                                    <p:set>
                                      <p:cBhvr>
                                        <p:cTn id="24" dur="1" fill="hold">
                                          <p:stCondLst>
                                            <p:cond delay="0"/>
                                          </p:stCondLst>
                                        </p:cTn>
                                        <p:tgtEl>
                                          <p:spTgt spid="25"/>
                                        </p:tgtEl>
                                        <p:attrNameLst>
                                          <p:attrName>style.visibility</p:attrName>
                                        </p:attrNameLst>
                                      </p:cBhvr>
                                      <p:to>
                                        <p:strVal val="visible"/>
                                      </p:to>
                                    </p:set>
                                    <p:animEffect transition="in" filter="fade">
                                      <p:cBhvr>
                                        <p:cTn id="25" dur="400"/>
                                        <p:tgtEl>
                                          <p:spTgt spid="25"/>
                                        </p:tgtEl>
                                      </p:cBhvr>
                                    </p:animEffect>
                                  </p:childTnLst>
                                </p:cTn>
                              </p:par>
                              <p:par>
                                <p:cTn id="26" presetID="10" presetClass="entr" presetSubtype="0" fill="hold" nodeType="withEffect">
                                  <p:stCondLst>
                                    <p:cond delay="0"/>
                                  </p:stCondLst>
                                  <p:childTnLst>
                                    <p:set>
                                      <p:cBhvr>
                                        <p:cTn id="27" dur="1" fill="hold">
                                          <p:stCondLst>
                                            <p:cond delay="0"/>
                                          </p:stCondLst>
                                        </p:cTn>
                                        <p:tgtEl>
                                          <p:spTgt spid="27"/>
                                        </p:tgtEl>
                                        <p:attrNameLst>
                                          <p:attrName>style.visibility</p:attrName>
                                        </p:attrNameLst>
                                      </p:cBhvr>
                                      <p:to>
                                        <p:strVal val="visible"/>
                                      </p:to>
                                    </p:set>
                                    <p:animEffect transition="in" filter="fade">
                                      <p:cBhvr>
                                        <p:cTn id="28" dur="4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seq concurrent="1" nextAc="seek">
              <p:cTn id="29" restart="whenNotActive" fill="hold" evtFilter="cancelBubble" nodeType="interactiveSeq">
                <p:stCondLst>
                  <p:cond evt="onClick" delay="0">
                    <p:tgtEl>
                      <p:spTgt spid="29"/>
                    </p:tgtEl>
                  </p:cond>
                </p:stCondLst>
                <p:endSync evt="end" delay="0">
                  <p:rtn val="all"/>
                </p:endSync>
                <p:childTnLst>
                  <p:par>
                    <p:cTn id="30" fill="hold">
                      <p:stCondLst>
                        <p:cond delay="0"/>
                      </p:stCondLst>
                      <p:childTnLst>
                        <p:par>
                          <p:cTn id="31" fill="hold">
                            <p:stCondLst>
                              <p:cond delay="0"/>
                            </p:stCondLst>
                            <p:childTnLst>
                              <p:par>
                                <p:cTn id="32" presetID="2" presetClass="mediacall" presetSubtype="0" fill="hold" nodeType="clickEffect">
                                  <p:stCondLst>
                                    <p:cond delay="0"/>
                                  </p:stCondLst>
                                  <p:childTnLst>
                                    <p:cmd type="call" cmd="togglePause">
                                      <p:cBhvr>
                                        <p:cTn id="33" dur="1" fill="hold"/>
                                        <p:tgtEl>
                                          <p:spTgt spid="29"/>
                                        </p:tgtEl>
                                      </p:cBhvr>
                                    </p:cmd>
                                  </p:childTnLst>
                                </p:cTn>
                              </p:par>
                            </p:childTnLst>
                          </p:cTn>
                        </p:par>
                      </p:childTnLst>
                    </p:cTn>
                  </p:par>
                </p:childTnLst>
              </p:cTn>
              <p:nextCondLst>
                <p:cond evt="onClick" delay="0">
                  <p:tgtEl>
                    <p:spTgt spid="29"/>
                  </p:tgtEl>
                </p:cond>
              </p:nextCondLst>
            </p:seq>
            <p:audio>
              <p:cMediaNode vol="80000">
                <p:cTn id="34" fill="hold" display="0">
                  <p:stCondLst>
                    <p:cond delay="indefinite"/>
                  </p:stCondLst>
                  <p:endCondLst>
                    <p:cond evt="onStopAudio" delay="0">
                      <p:tgtEl>
                        <p:sldTgt/>
                      </p:tgtEl>
                    </p:cond>
                  </p:endCondLst>
                </p:cTn>
                <p:tgtEl>
                  <p:spTgt spid="29"/>
                </p:tgtEl>
              </p:cMediaNode>
            </p:audio>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name="Slide 6">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levelFrame_95"/>
          <p:cNvSpPr/>
          <p:nvPr/>
        </p:nvSpPr>
        <p:spPr>
          <a:xfrm>
            <a:off x="54864" y="54864"/>
            <a:ext cx="9034272" cy="5033772"/>
          </a:xfrm>
          <a:prstGeom prst="rect">
            <a:avLst/>
          </a:prstGeom>
          <a:ln w="114300">
            <a:solidFill>
              <a:srgbClr val="A8E6B4"/>
            </a:solidFill>
            <a:prstDash val="solid"/>
          </a:ln>
        </p:spPr>
      </p:sp>
      <p:pic>
        <p:nvPicPr>
          <p:cNvPr id="4" name="logo_96" descr="London Language School logo">    </p:cNvPr>
          <p:cNvPicPr>
            <a:picLocks noChangeAspect="1"/>
          </p:cNvPicPr>
          <p:nvPr/>
        </p:nvPicPr>
        <p:blipFill>
          <a:blip r:embed="rId2"/>
          <a:stretch>
            <a:fillRect/>
          </a:stretch>
        </p:blipFill>
        <p:spPr>
          <a:xfrm>
            <a:off x="8275320" y="182880"/>
            <a:ext cx="585216" cy="585216"/>
          </a:xfrm>
          <a:prstGeom prst="rect">
            <a:avLst/>
          </a:prstGeom>
        </p:spPr>
      </p:pic>
      <p:sp>
        <p:nvSpPr>
          <p:cNvPr id="5" name="objective_97"/>
          <p:cNvSpPr txBox="1"/>
          <p:nvPr/>
        </p:nvSpPr>
        <p:spPr>
          <a:xfrm>
            <a:off x="320040" y="182880"/>
            <a:ext cx="4754880" cy="365760"/>
          </a:xfrm>
          <a:prstGeom prst="roundRect">
            <a:avLst>
              <a:gd name="adj" fmla="val 20000"/>
            </a:avLst>
          </a:prstGeom>
          <a:solidFill>
            <a:srgbClr val="062F67"/>
          </a:solidFill>
          <a:ln w="31750">
            <a:solidFill>
              <a:srgbClr val="111111"/>
            </a:solidFill>
          </a:ln>
        </p:spPr>
        <p:txBody>
          <a:bodyPr wrap="square" lIns="101600" tIns="101600" rIns="101600" bIns="101600" rtlCol="0" anchor="ctr"/>
          <a:lstStyle/>
          <a:p>
            <a:pPr indent="0" marL="0">
              <a:buNone/>
            </a:pPr>
            <a:r>
              <a:rPr lang="en-US" sz="900" dirty="0">
                <a:solidFill>
                  <a:srgbClr val="FFFFFF"/>
                </a:solidFill>
                <a:latin typeface="Arial Black" pitchFamily="34" charset="0"/>
                <a:ea typeface="Arial Black" pitchFamily="34" charset="-122"/>
                <a:cs typeface="Arial Black" pitchFamily="34" charset="-120"/>
              </a:rPr>
              <a:t>PRACTICAL ENGLISH · Permission and requests · 2c</a:t>
            </a:r>
            <a:endParaRPr lang="en-US" sz="900" dirty="0"/>
          </a:p>
        </p:txBody>
      </p:sp>
      <p:sp>
        <p:nvSpPr>
          <p:cNvPr id="6" name="timer_98"/>
          <p:cNvSpPr txBox="1"/>
          <p:nvPr/>
        </p:nvSpPr>
        <p:spPr>
          <a:xfrm>
            <a:off x="7086600" y="219456"/>
            <a:ext cx="1005840" cy="310896"/>
          </a:xfrm>
          <a:prstGeom prst="roundRect">
            <a:avLst>
              <a:gd name="adj" fmla="val 23529"/>
            </a:avLst>
          </a:prstGeom>
          <a:solidFill>
            <a:srgbClr val="FFFFFF"/>
          </a:solidFill>
          <a:ln w="25400">
            <a:solidFill>
              <a:srgbClr val="6D3FC0"/>
            </a:solidFill>
          </a:ln>
        </p:spPr>
        <p:txBody>
          <a:bodyPr wrap="square" lIns="0" tIns="0" rIns="0" bIns="0" rtlCol="0" anchor="ctr"/>
          <a:lstStyle/>
          <a:p>
            <a:pPr algn="ctr" indent="0" marL="0">
              <a:buNone/>
            </a:pPr>
            <a:r>
              <a:rPr lang="en-US" sz="1200" b="1" dirty="0">
                <a:solidFill>
                  <a:srgbClr val="6D3FC0"/>
                </a:solidFill>
                <a:latin typeface="Calibri" pitchFamily="34" charset="0"/>
                <a:ea typeface="Calibri" pitchFamily="34" charset="-122"/>
                <a:cs typeface="Calibri" pitchFamily="34" charset="-120"/>
              </a:rPr>
              <a:t>⏱ 2 min</a:t>
            </a:r>
            <a:endParaRPr lang="en-US" sz="1200" dirty="0"/>
          </a:p>
        </p:txBody>
      </p:sp>
      <p:sp>
        <p:nvSpPr>
          <p:cNvPr id="7" name="footer_99"/>
          <p:cNvSpPr txBox="1"/>
          <p:nvPr/>
        </p:nvSpPr>
        <p:spPr>
          <a:xfrm>
            <a:off x="7132320" y="4818888"/>
            <a:ext cx="1737360" cy="219456"/>
          </a:xfrm>
          <a:prstGeom prst="rect">
            <a:avLst/>
          </a:prstGeom>
          <a:solidFill>
            <a:srgbClr val="FFFFFF"/>
          </a:solidFill>
          <a:ln/>
        </p:spPr>
        <p:txBody>
          <a:bodyPr wrap="square" lIns="0" tIns="0" rIns="0" bIns="0" rtlCol="0" anchor="ctr"/>
          <a:lstStyle/>
          <a:p>
            <a:pPr algn="ctr" indent="0" marL="0">
              <a:buNone/>
            </a:pPr>
            <a:r>
              <a:rPr lang="en-US" sz="1000" dirty="0">
                <a:solidFill>
                  <a:srgbClr val="334155"/>
                </a:solidFill>
                <a:latin typeface="Calibri" pitchFamily="34" charset="0"/>
                <a:ea typeface="Calibri" pitchFamily="34" charset="-122"/>
                <a:cs typeface="Calibri" pitchFamily="34" charset="-120"/>
              </a:rPr>
              <a:t>PE3 · Part 1</a:t>
            </a:r>
            <a:endParaRPr lang="en-US" sz="1000" dirty="0"/>
          </a:p>
        </p:txBody>
      </p:sp>
      <p:sp>
        <p:nvSpPr>
          <p:cNvPr id="8" name="title_100"/>
          <p:cNvSpPr txBox="1"/>
          <p:nvPr/>
        </p:nvSpPr>
        <p:spPr>
          <a:xfrm rot="-120000">
            <a:off x="320040" y="676656"/>
            <a:ext cx="2761488" cy="530352"/>
          </a:xfrm>
          <a:prstGeom prst="rect">
            <a:avLst/>
          </a:prstGeom>
          <a:solidFill>
            <a:srgbClr val="FFD84D"/>
          </a:solidFill>
          <a:ln w="31750">
            <a:solidFill>
              <a:srgbClr val="111111"/>
            </a:solidFill>
          </a:ln>
          <a:effectLst>
            <a:outerShdw sx="100000" sy="100000" kx="0" ky="0" algn="bl" rotWithShape="0" blurRad="101600" dist="38100" dir="2700000">
              <a:srgbClr val="000000">
                <a:alpha val="35000"/>
              </a:srgbClr>
            </a:outerShdw>
          </a:effectLst>
        </p:spPr>
        <p:txBody>
          <a:bodyPr wrap="square" lIns="127000" tIns="127000" rIns="127000" bIns="127000" rtlCol="0" anchor="ctr"/>
          <a:lstStyle/>
          <a:p>
            <a:pPr indent="0" marL="0">
              <a:buNone/>
            </a:pPr>
            <a:r>
              <a:rPr lang="en-US" sz="1500" dirty="0">
                <a:solidFill>
                  <a:srgbClr val="111111"/>
                </a:solidFill>
                <a:latin typeface="Arial Black" pitchFamily="34" charset="0"/>
                <a:ea typeface="Arial Black" pitchFamily="34" charset="-122"/>
                <a:cs typeface="Arial Black" pitchFamily="34" charset="-120"/>
              </a:rPr>
              <a:t>Mind the gap!</a:t>
            </a:r>
            <a:endParaRPr lang="en-US" sz="1500" dirty="0"/>
          </a:p>
        </p:txBody>
      </p:sp>
      <p:sp>
        <p:nvSpPr>
          <p:cNvPr id="9" name="post_101"/>
          <p:cNvSpPr/>
          <p:nvPr/>
        </p:nvSpPr>
        <p:spPr>
          <a:xfrm>
            <a:off x="429768" y="1554480"/>
            <a:ext cx="128016" cy="2194560"/>
          </a:xfrm>
          <a:prstGeom prst="rect">
            <a:avLst/>
          </a:prstGeom>
          <a:solidFill>
            <a:srgbClr val="8B5A2B"/>
          </a:solidFill>
          <a:ln w="31750">
            <a:solidFill>
              <a:srgbClr val="111111"/>
            </a:solidFill>
            <a:prstDash val="solid"/>
          </a:ln>
        </p:spPr>
      </p:sp>
      <p:sp>
        <p:nvSpPr>
          <p:cNvPr id="10" name="signA_102"/>
          <p:cNvSpPr txBox="1"/>
          <p:nvPr/>
        </p:nvSpPr>
        <p:spPr>
          <a:xfrm rot="-180000">
            <a:off x="320040" y="1371600"/>
            <a:ext cx="2240280" cy="457200"/>
          </a:xfrm>
          <a:prstGeom prst="homePlate">
            <a:avLst/>
          </a:prstGeom>
          <a:solidFill>
            <a:srgbClr val="062F67"/>
          </a:solidFill>
          <a:ln w="31750">
            <a:solidFill>
              <a:srgbClr val="111111"/>
            </a:solidFill>
          </a:ln>
          <a:effectLst>
            <a:outerShdw sx="100000" sy="100000" kx="0" ky="0" algn="bl" rotWithShape="0" blurRad="101600" dist="38100" dir="2700000">
              <a:srgbClr val="000000">
                <a:alpha val="35000"/>
              </a:srgbClr>
            </a:outerShdw>
          </a:effectLst>
        </p:spPr>
        <p:txBody>
          <a:bodyPr wrap="square" lIns="76200" tIns="76200" rIns="76200" bIns="76200" rtlCol="0" anchor="ctr"/>
          <a:lstStyle/>
          <a:p>
            <a:pPr indent="0" marL="0">
              <a:buNone/>
            </a:pPr>
            <a:r>
              <a:rPr lang="en-US" sz="1500" b="1" dirty="0">
                <a:solidFill>
                  <a:srgbClr val="FFFFFF"/>
                </a:solidFill>
                <a:latin typeface="Arial Black" pitchFamily="34" charset="0"/>
                <a:ea typeface="Arial Black" pitchFamily="34" charset="-122"/>
                <a:cs typeface="Arial Black" pitchFamily="34" charset="-120"/>
              </a:rPr>
              <a:t>THINK!</a:t>
            </a:r>
            <a:pPr indent="0" marL="0">
              <a:buNone/>
            </a:pPr>
            <a:r>
              <a:rPr lang="en-US" sz="1000" dirty="0">
                <a:solidFill>
                  <a:srgbClr val="FFF3B0"/>
                </a:solidFill>
                <a:latin typeface="Arial Black" pitchFamily="34" charset="0"/>
                <a:ea typeface="Arial Black" pitchFamily="34" charset="-122"/>
                <a:cs typeface="Arial Black" pitchFamily="34" charset="-120"/>
              </a:rPr>
              <a:t>  PENSA!</a:t>
            </a:r>
            <a:endParaRPr lang="en-US" sz="1500" dirty="0"/>
          </a:p>
        </p:txBody>
      </p:sp>
      <p:sp>
        <p:nvSpPr>
          <p:cNvPr id="11" name="signB_103"/>
          <p:cNvSpPr txBox="1"/>
          <p:nvPr/>
        </p:nvSpPr>
        <p:spPr>
          <a:xfrm rot="120000">
            <a:off x="365760" y="1938528"/>
            <a:ext cx="2240280" cy="1051560"/>
          </a:xfrm>
          <a:prstGeom prst="rect">
            <a:avLst/>
          </a:prstGeom>
          <a:solidFill>
            <a:srgbClr val="FFFFFF"/>
          </a:solidFill>
          <a:ln w="31750">
            <a:solidFill>
              <a:srgbClr val="111111"/>
            </a:solidFill>
          </a:ln>
        </p:spPr>
        <p:txBody>
          <a:bodyPr wrap="square" lIns="76200" tIns="76200" rIns="76200" bIns="76200" rtlCol="0" anchor="ctr"/>
          <a:lstStyle/>
          <a:p>
            <a:pPr indent="0" marL="0">
              <a:buNone/>
            </a:pPr>
            <a:r>
              <a:rPr lang="en-US" sz="1200" dirty="0">
                <a:solidFill>
                  <a:srgbClr val="111111"/>
                </a:solidFill>
                <a:latin typeface="Calibri" pitchFamily="34" charset="0"/>
                <a:ea typeface="Calibri" pitchFamily="34" charset="-122"/>
                <a:cs typeface="Calibri" pitchFamily="34" charset="-120"/>
              </a:rPr>
              <a:t>Can you remember the missing words? Guess with a partner.</a:t>
            </a:r>
            <a:endParaRPr lang="en-US" sz="1200" dirty="0"/>
          </a:p>
          <a:p>
            <a:pPr indent="0" marL="0">
              <a:buNone/>
            </a:pPr>
            <a:r>
              <a:rPr lang="en-US" sz="1050" i="1" dirty="0">
                <a:solidFill>
                  <a:srgbClr val="334155"/>
                </a:solidFill>
                <a:latin typeface="Calibri" pitchFamily="34" charset="0"/>
                <a:ea typeface="Calibri" pitchFamily="34" charset="-122"/>
                <a:cs typeface="Calibri" pitchFamily="34" charset="-120"/>
              </a:rPr>
              <a:t>Ricordi le parole mancanti? Indovina con un compagno.</a:t>
            </a:r>
            <a:endParaRPr lang="en-US" sz="1200" dirty="0"/>
          </a:p>
        </p:txBody>
      </p:sp>
      <p:sp>
        <p:nvSpPr>
          <p:cNvPr id="12" name="box_104"/>
          <p:cNvSpPr txBox="1"/>
          <p:nvPr/>
        </p:nvSpPr>
        <p:spPr>
          <a:xfrm>
            <a:off x="2788920" y="1371600"/>
            <a:ext cx="6035040" cy="555955"/>
          </a:xfrm>
          <a:prstGeom prst="rect">
            <a:avLst/>
          </a:prstGeom>
          <a:solidFill>
            <a:srgbClr val="E0F2FE"/>
          </a:solidFill>
          <a:ln w="15875">
            <a:solidFill>
              <a:srgbClr val="111111"/>
            </a:solidFill>
          </a:ln>
        </p:spPr>
        <p:txBody>
          <a:bodyPr wrap="square" lIns="76200" tIns="76200" rIns="76200" bIns="76200" rtlCol="0" anchor="ctr"/>
          <a:lstStyle/>
          <a:p>
            <a:pPr algn="l" indent="0" marL="0">
              <a:buNone/>
            </a:pPr>
            <a:r>
              <a:rPr lang="en-US" sz="1150" dirty="0">
                <a:solidFill>
                  <a:srgbClr val="111111"/>
                </a:solidFill>
                <a:latin typeface="Calibri" pitchFamily="34" charset="0"/>
                <a:ea typeface="Calibri" pitchFamily="34" charset="-122"/>
                <a:cs typeface="Calibri" pitchFamily="34" charset="-120"/>
              </a:rPr>
              <a:t>1  Rob: Do you ___ if I join you?   Monica: Of ___ not. Come on, sit down.</a:t>
            </a:r>
            <a:endParaRPr lang="en-US" sz="1150" dirty="0"/>
          </a:p>
        </p:txBody>
      </p:sp>
      <p:sp>
        <p:nvSpPr>
          <p:cNvPr id="13" name="box_105"/>
          <p:cNvSpPr txBox="1"/>
          <p:nvPr/>
        </p:nvSpPr>
        <p:spPr>
          <a:xfrm>
            <a:off x="2788920" y="2055571"/>
            <a:ext cx="6035040" cy="555955"/>
          </a:xfrm>
          <a:prstGeom prst="rect">
            <a:avLst/>
          </a:prstGeom>
          <a:solidFill>
            <a:srgbClr val="FCE7F3"/>
          </a:solidFill>
          <a:ln w="15875">
            <a:solidFill>
              <a:srgbClr val="111111"/>
            </a:solidFill>
          </a:ln>
        </p:spPr>
        <p:txBody>
          <a:bodyPr wrap="square" lIns="76200" tIns="76200" rIns="76200" bIns="76200" rtlCol="0" anchor="ctr"/>
          <a:lstStyle/>
          <a:p>
            <a:pPr algn="l" indent="0" marL="0">
              <a:buNone/>
            </a:pPr>
            <a:r>
              <a:rPr lang="en-US" sz="1150" dirty="0">
                <a:solidFill>
                  <a:srgbClr val="111111"/>
                </a:solidFill>
                <a:latin typeface="Calibri" pitchFamily="34" charset="0"/>
                <a:ea typeface="Calibri" pitchFamily="34" charset="-122"/>
                <a:cs typeface="Calibri" pitchFamily="34" charset="-120"/>
              </a:rPr>
              <a:t>2  Rob: Is it ___ if we change our plans a bit this week?   Jenny: Er… sure.</a:t>
            </a:r>
            <a:endParaRPr lang="en-US" sz="1150" dirty="0"/>
          </a:p>
        </p:txBody>
      </p:sp>
      <p:sp>
        <p:nvSpPr>
          <p:cNvPr id="14" name="box_106"/>
          <p:cNvSpPr txBox="1"/>
          <p:nvPr/>
        </p:nvSpPr>
        <p:spPr>
          <a:xfrm>
            <a:off x="2788920" y="2739542"/>
            <a:ext cx="6035040" cy="555955"/>
          </a:xfrm>
          <a:prstGeom prst="rect">
            <a:avLst/>
          </a:prstGeom>
          <a:solidFill>
            <a:srgbClr val="FEF9C3"/>
          </a:solidFill>
          <a:ln w="15875">
            <a:solidFill>
              <a:srgbClr val="111111"/>
            </a:solidFill>
          </a:ln>
        </p:spPr>
        <p:txBody>
          <a:bodyPr wrap="square" lIns="76200" tIns="76200" rIns="76200" bIns="76200" rtlCol="0" anchor="ctr"/>
          <a:lstStyle/>
          <a:p>
            <a:pPr algn="l" indent="0" marL="0">
              <a:buNone/>
            </a:pPr>
            <a:r>
              <a:rPr lang="en-US" sz="1150" dirty="0">
                <a:solidFill>
                  <a:srgbClr val="111111"/>
                </a:solidFill>
                <a:latin typeface="Calibri" pitchFamily="34" charset="0"/>
                <a:ea typeface="Calibri" pitchFamily="34" charset="-122"/>
                <a:cs typeface="Calibri" pitchFamily="34" charset="-120"/>
              </a:rPr>
              <a:t>3  Rob: ___ you pass the sugar?   Jenny: ___ .</a:t>
            </a:r>
            <a:endParaRPr lang="en-US" sz="1150" dirty="0"/>
          </a:p>
        </p:txBody>
      </p:sp>
      <p:sp>
        <p:nvSpPr>
          <p:cNvPr id="15" name="box_107"/>
          <p:cNvSpPr txBox="1"/>
          <p:nvPr/>
        </p:nvSpPr>
        <p:spPr>
          <a:xfrm>
            <a:off x="2788920" y="3423514"/>
            <a:ext cx="6035040" cy="555955"/>
          </a:xfrm>
          <a:prstGeom prst="rect">
            <a:avLst/>
          </a:prstGeom>
          <a:solidFill>
            <a:srgbClr val="DCFCE7"/>
          </a:solidFill>
          <a:ln w="15875">
            <a:solidFill>
              <a:srgbClr val="111111"/>
            </a:solidFill>
          </a:ln>
        </p:spPr>
        <p:txBody>
          <a:bodyPr wrap="square" lIns="76200" tIns="76200" rIns="76200" bIns="76200" rtlCol="0" anchor="ctr"/>
          <a:lstStyle/>
          <a:p>
            <a:pPr algn="l" indent="0" marL="0">
              <a:buNone/>
            </a:pPr>
            <a:r>
              <a:rPr lang="en-US" sz="1150" dirty="0">
                <a:solidFill>
                  <a:srgbClr val="111111"/>
                </a:solidFill>
                <a:latin typeface="Calibri" pitchFamily="34" charset="0"/>
                <a:ea typeface="Calibri" pitchFamily="34" charset="-122"/>
                <a:cs typeface="Calibri" pitchFamily="34" charset="-120"/>
              </a:rPr>
              <a:t>4  Rob: Could you do me a big ___ ? I have to work late this evening, so… would you mind ___ him at the airport?   Jenny: ___ at all. I'd like to meet him.</a:t>
            </a:r>
            <a:endParaRPr lang="en-US" sz="1150" dirty="0"/>
          </a:p>
        </p:txBody>
      </p:sp>
      <p:sp>
        <p:nvSpPr>
          <p:cNvPr id="16" name="box_108"/>
          <p:cNvSpPr txBox="1"/>
          <p:nvPr/>
        </p:nvSpPr>
        <p:spPr>
          <a:xfrm>
            <a:off x="2788920" y="4107485"/>
            <a:ext cx="6035040" cy="555955"/>
          </a:xfrm>
          <a:prstGeom prst="rect">
            <a:avLst/>
          </a:prstGeom>
          <a:solidFill>
            <a:srgbClr val="EDE9FE"/>
          </a:solidFill>
          <a:ln w="15875">
            <a:solidFill>
              <a:srgbClr val="111111"/>
            </a:solidFill>
          </a:ln>
        </p:spPr>
        <p:txBody>
          <a:bodyPr wrap="square" lIns="76200" tIns="76200" rIns="76200" bIns="76200" rtlCol="0" anchor="ctr"/>
          <a:lstStyle/>
          <a:p>
            <a:pPr algn="l" indent="0" marL="0">
              <a:buNone/>
            </a:pPr>
            <a:r>
              <a:rPr lang="en-US" sz="1150" dirty="0">
                <a:solidFill>
                  <a:srgbClr val="111111"/>
                </a:solidFill>
                <a:latin typeface="Calibri" pitchFamily="34" charset="0"/>
                <a:ea typeface="Calibri" pitchFamily="34" charset="-122"/>
                <a:cs typeface="Calibri" pitchFamily="34" charset="-120"/>
              </a:rPr>
              <a:t>5  Rob: And do you think you ___ take him to my flat? I'll give you the keys.   Jenny: No ___ , Rob.</a:t>
            </a:r>
            <a:endParaRPr lang="en-US" sz="1150" dirty="0"/>
          </a:p>
        </p:txBody>
      </p:sp>
      <p:sp>
        <p:nvSpPr>
          <p:cNvPr id="17" name="pageTag_109"/>
          <p:cNvSpPr txBox="1"/>
          <p:nvPr/>
        </p:nvSpPr>
        <p:spPr>
          <a:xfrm>
            <a:off x="320040" y="4773168"/>
            <a:ext cx="6720840" cy="246888"/>
          </a:xfrm>
          <a:prstGeom prst="rect">
            <a:avLst/>
          </a:prstGeom>
          <a:solidFill>
            <a:srgbClr val="FFFFFF"/>
          </a:solidFill>
          <a:ln/>
        </p:spPr>
        <p:txBody>
          <a:bodyPr wrap="square" lIns="25400" tIns="25400" rIns="25400" bIns="25400" rtlCol="0" anchor="ctr"/>
          <a:lstStyle/>
          <a:p>
            <a:pPr indent="0" marL="0">
              <a:buNone/>
            </a:pPr>
            <a:r>
              <a:rPr lang="en-US" sz="1050" dirty="0">
                <a:solidFill>
                  <a:srgbClr val="334155"/>
                </a:solidFill>
                <a:latin typeface="Calibri" pitchFamily="34" charset="0"/>
                <a:ea typeface="Calibri" pitchFamily="34" charset="-122"/>
                <a:cs typeface="Calibri" pitchFamily="34" charset="-120"/>
              </a:rPr>
              <a:t>📖 Teacher: Student's Book p.54 · 2c</a:t>
            </a:r>
            <a:endParaRPr lang="en-US" sz="1050" dirty="0"/>
          </a:p>
        </p:txBody>
      </p:sp>
    </p:spTree>
  </p:cSld>
  <p:clrMapOvr>
    <a:masterClrMapping/>
  </p:clrMapOvr>
  <p:transition spd="med">
    <p:push dir="l"/>
  </p:transition>
</p:sld>
</file>

<file path=ppt/slides/slide7.xml><?xml version="1.0" encoding="utf-8"?>
<p:sld xmlns:a="http://schemas.openxmlformats.org/drawingml/2006/main" xmlns:r="http://schemas.openxmlformats.org/officeDocument/2006/relationships" xmlns:p="http://schemas.openxmlformats.org/presentationml/2006/main">
  <p:cSld name="Slide 7">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levelFrame_110"/>
          <p:cNvSpPr/>
          <p:nvPr/>
        </p:nvSpPr>
        <p:spPr>
          <a:xfrm>
            <a:off x="54864" y="54864"/>
            <a:ext cx="9034272" cy="5033772"/>
          </a:xfrm>
          <a:prstGeom prst="rect">
            <a:avLst/>
          </a:prstGeom>
          <a:ln w="114300">
            <a:solidFill>
              <a:srgbClr val="A8E6B4"/>
            </a:solidFill>
            <a:prstDash val="solid"/>
          </a:ln>
        </p:spPr>
      </p:sp>
      <p:pic>
        <p:nvPicPr>
          <p:cNvPr id="4" name="logo_111" descr="London Language School logo">    </p:cNvPr>
          <p:cNvPicPr>
            <a:picLocks noChangeAspect="1"/>
          </p:cNvPicPr>
          <p:nvPr/>
        </p:nvPicPr>
        <p:blipFill>
          <a:blip r:embed="rId2"/>
          <a:stretch>
            <a:fillRect/>
          </a:stretch>
        </p:blipFill>
        <p:spPr>
          <a:xfrm>
            <a:off x="8275320" y="182880"/>
            <a:ext cx="585216" cy="585216"/>
          </a:xfrm>
          <a:prstGeom prst="rect">
            <a:avLst/>
          </a:prstGeom>
        </p:spPr>
      </p:pic>
      <p:sp>
        <p:nvSpPr>
          <p:cNvPr id="5" name="objective_112"/>
          <p:cNvSpPr txBox="1"/>
          <p:nvPr/>
        </p:nvSpPr>
        <p:spPr>
          <a:xfrm>
            <a:off x="320040" y="182880"/>
            <a:ext cx="4754880" cy="365760"/>
          </a:xfrm>
          <a:prstGeom prst="roundRect">
            <a:avLst>
              <a:gd name="adj" fmla="val 20000"/>
            </a:avLst>
          </a:prstGeom>
          <a:solidFill>
            <a:srgbClr val="062F67"/>
          </a:solidFill>
          <a:ln w="31750">
            <a:solidFill>
              <a:srgbClr val="111111"/>
            </a:solidFill>
          </a:ln>
        </p:spPr>
        <p:txBody>
          <a:bodyPr wrap="square" lIns="101600" tIns="101600" rIns="101600" bIns="101600" rtlCol="0" anchor="ctr"/>
          <a:lstStyle/>
          <a:p>
            <a:pPr indent="0" marL="0">
              <a:buNone/>
            </a:pPr>
            <a:r>
              <a:rPr lang="en-US" sz="900" dirty="0">
                <a:solidFill>
                  <a:srgbClr val="FFFFFF"/>
                </a:solidFill>
                <a:latin typeface="Arial Black" pitchFamily="34" charset="0"/>
                <a:ea typeface="Arial Black" pitchFamily="34" charset="-122"/>
                <a:cs typeface="Arial Black" pitchFamily="34" charset="-120"/>
              </a:rPr>
              <a:t>PRACTICAL ENGLISH · Listen and check · 5.25</a:t>
            </a:r>
            <a:endParaRPr lang="en-US" sz="900" dirty="0"/>
          </a:p>
        </p:txBody>
      </p:sp>
      <p:sp>
        <p:nvSpPr>
          <p:cNvPr id="6" name="timer_113"/>
          <p:cNvSpPr txBox="1"/>
          <p:nvPr/>
        </p:nvSpPr>
        <p:spPr>
          <a:xfrm>
            <a:off x="7086600" y="219456"/>
            <a:ext cx="1005840" cy="310896"/>
          </a:xfrm>
          <a:prstGeom prst="roundRect">
            <a:avLst>
              <a:gd name="adj" fmla="val 23529"/>
            </a:avLst>
          </a:prstGeom>
          <a:solidFill>
            <a:srgbClr val="FFFFFF"/>
          </a:solidFill>
          <a:ln w="25400">
            <a:solidFill>
              <a:srgbClr val="6D3FC0"/>
            </a:solidFill>
          </a:ln>
        </p:spPr>
        <p:txBody>
          <a:bodyPr wrap="square" lIns="0" tIns="0" rIns="0" bIns="0" rtlCol="0" anchor="ctr"/>
          <a:lstStyle/>
          <a:p>
            <a:pPr algn="ctr" indent="0" marL="0">
              <a:buNone/>
            </a:pPr>
            <a:r>
              <a:rPr lang="en-US" sz="1200" b="1" dirty="0">
                <a:solidFill>
                  <a:srgbClr val="6D3FC0"/>
                </a:solidFill>
                <a:latin typeface="Calibri" pitchFamily="34" charset="0"/>
                <a:ea typeface="Calibri" pitchFamily="34" charset="-122"/>
                <a:cs typeface="Calibri" pitchFamily="34" charset="-120"/>
              </a:rPr>
              <a:t>⏱ 2 min</a:t>
            </a:r>
            <a:endParaRPr lang="en-US" sz="1200" dirty="0"/>
          </a:p>
        </p:txBody>
      </p:sp>
      <p:sp>
        <p:nvSpPr>
          <p:cNvPr id="7" name="footer_114"/>
          <p:cNvSpPr txBox="1"/>
          <p:nvPr/>
        </p:nvSpPr>
        <p:spPr>
          <a:xfrm>
            <a:off x="7132320" y="4818888"/>
            <a:ext cx="1737360" cy="219456"/>
          </a:xfrm>
          <a:prstGeom prst="rect">
            <a:avLst/>
          </a:prstGeom>
          <a:solidFill>
            <a:srgbClr val="FFFFFF"/>
          </a:solidFill>
          <a:ln/>
        </p:spPr>
        <p:txBody>
          <a:bodyPr wrap="square" lIns="0" tIns="0" rIns="0" bIns="0" rtlCol="0" anchor="ctr"/>
          <a:lstStyle/>
          <a:p>
            <a:pPr algn="ctr" indent="0" marL="0">
              <a:buNone/>
            </a:pPr>
            <a:r>
              <a:rPr lang="en-US" sz="1000" dirty="0">
                <a:solidFill>
                  <a:srgbClr val="334155"/>
                </a:solidFill>
                <a:latin typeface="Calibri" pitchFamily="34" charset="0"/>
                <a:ea typeface="Calibri" pitchFamily="34" charset="-122"/>
                <a:cs typeface="Calibri" pitchFamily="34" charset="-120"/>
              </a:rPr>
              <a:t>PE3 · Part 1</a:t>
            </a:r>
            <a:endParaRPr lang="en-US" sz="1000" dirty="0"/>
          </a:p>
        </p:txBody>
      </p:sp>
      <p:sp>
        <p:nvSpPr>
          <p:cNvPr id="8" name="title_115"/>
          <p:cNvSpPr txBox="1"/>
          <p:nvPr/>
        </p:nvSpPr>
        <p:spPr>
          <a:xfrm rot="-120000">
            <a:off x="320040" y="676656"/>
            <a:ext cx="3282696" cy="530352"/>
          </a:xfrm>
          <a:prstGeom prst="rect">
            <a:avLst/>
          </a:prstGeom>
          <a:solidFill>
            <a:srgbClr val="FFD84D"/>
          </a:solidFill>
          <a:ln w="31750">
            <a:solidFill>
              <a:srgbClr val="111111"/>
            </a:solidFill>
          </a:ln>
          <a:effectLst>
            <a:outerShdw sx="100000" sy="100000" kx="0" ky="0" algn="bl" rotWithShape="0" blurRad="101600" dist="38100" dir="2700000">
              <a:srgbClr val="000000">
                <a:alpha val="35000"/>
              </a:srgbClr>
            </a:outerShdw>
          </a:effectLst>
        </p:spPr>
        <p:txBody>
          <a:bodyPr wrap="square" lIns="127000" tIns="127000" rIns="127000" bIns="127000" rtlCol="0" anchor="ctr"/>
          <a:lstStyle/>
          <a:p>
            <a:pPr indent="0" marL="0">
              <a:buNone/>
            </a:pPr>
            <a:r>
              <a:rPr lang="en-US" sz="1500" dirty="0">
                <a:solidFill>
                  <a:srgbClr val="111111"/>
                </a:solidFill>
                <a:latin typeface="Arial Black" pitchFamily="34" charset="0"/>
                <a:ea typeface="Arial Black" pitchFamily="34" charset="-122"/>
                <a:cs typeface="Arial Black" pitchFamily="34" charset="-120"/>
              </a:rPr>
              <a:t>Listen and check</a:t>
            </a:r>
            <a:endParaRPr lang="en-US" sz="1500" dirty="0"/>
          </a:p>
        </p:txBody>
      </p:sp>
      <p:sp>
        <p:nvSpPr>
          <p:cNvPr id="9" name="post_116"/>
          <p:cNvSpPr/>
          <p:nvPr/>
        </p:nvSpPr>
        <p:spPr>
          <a:xfrm>
            <a:off x="429768" y="1554480"/>
            <a:ext cx="128016" cy="2194560"/>
          </a:xfrm>
          <a:prstGeom prst="rect">
            <a:avLst/>
          </a:prstGeom>
          <a:solidFill>
            <a:srgbClr val="8B5A2B"/>
          </a:solidFill>
          <a:ln w="31750">
            <a:solidFill>
              <a:srgbClr val="111111"/>
            </a:solidFill>
            <a:prstDash val="solid"/>
          </a:ln>
        </p:spPr>
      </p:sp>
      <p:sp>
        <p:nvSpPr>
          <p:cNvPr id="10" name="signA_117"/>
          <p:cNvSpPr txBox="1"/>
          <p:nvPr/>
        </p:nvSpPr>
        <p:spPr>
          <a:xfrm rot="-180000">
            <a:off x="320040" y="1371600"/>
            <a:ext cx="2240280" cy="457200"/>
          </a:xfrm>
          <a:prstGeom prst="homePlate">
            <a:avLst/>
          </a:prstGeom>
          <a:solidFill>
            <a:srgbClr val="F59E0B"/>
          </a:solidFill>
          <a:ln w="31750">
            <a:solidFill>
              <a:srgbClr val="111111"/>
            </a:solidFill>
          </a:ln>
          <a:effectLst>
            <a:outerShdw sx="100000" sy="100000" kx="0" ky="0" algn="bl" rotWithShape="0" blurRad="101600" dist="38100" dir="2700000">
              <a:srgbClr val="000000">
                <a:alpha val="35000"/>
              </a:srgbClr>
            </a:outerShdw>
          </a:effectLst>
        </p:spPr>
        <p:txBody>
          <a:bodyPr wrap="square" lIns="76200" tIns="76200" rIns="76200" bIns="76200" rtlCol="0" anchor="ctr"/>
          <a:lstStyle/>
          <a:p>
            <a:pPr indent="0" marL="0">
              <a:buNone/>
            </a:pPr>
            <a:r>
              <a:rPr lang="en-US" sz="1500" b="1" dirty="0">
                <a:solidFill>
                  <a:srgbClr val="FFFFFF"/>
                </a:solidFill>
                <a:latin typeface="Arial Black" pitchFamily="34" charset="0"/>
                <a:ea typeface="Arial Black" pitchFamily="34" charset="-122"/>
                <a:cs typeface="Arial Black" pitchFamily="34" charset="-120"/>
              </a:rPr>
              <a:t>WATCH!</a:t>
            </a:r>
            <a:pPr indent="0" marL="0">
              <a:buNone/>
            </a:pPr>
            <a:r>
              <a:rPr lang="en-US" sz="1000" dirty="0">
                <a:solidFill>
                  <a:srgbClr val="FFF3B0"/>
                </a:solidFill>
                <a:latin typeface="Arial Black" pitchFamily="34" charset="0"/>
                <a:ea typeface="Arial Black" pitchFamily="34" charset="-122"/>
                <a:cs typeface="Arial Black" pitchFamily="34" charset="-120"/>
              </a:rPr>
              <a:t>  GUARDA!</a:t>
            </a:r>
            <a:endParaRPr lang="en-US" sz="1500" dirty="0"/>
          </a:p>
        </p:txBody>
      </p:sp>
      <p:sp>
        <p:nvSpPr>
          <p:cNvPr id="11" name="signB_118"/>
          <p:cNvSpPr txBox="1"/>
          <p:nvPr/>
        </p:nvSpPr>
        <p:spPr>
          <a:xfrm rot="120000">
            <a:off x="365760" y="1938528"/>
            <a:ext cx="2240280" cy="1051560"/>
          </a:xfrm>
          <a:prstGeom prst="rect">
            <a:avLst/>
          </a:prstGeom>
          <a:solidFill>
            <a:srgbClr val="FFFFFF"/>
          </a:solidFill>
          <a:ln w="31750">
            <a:solidFill>
              <a:srgbClr val="111111"/>
            </a:solidFill>
          </a:ln>
        </p:spPr>
        <p:txBody>
          <a:bodyPr wrap="square" lIns="76200" tIns="76200" rIns="76200" bIns="76200" rtlCol="0" anchor="ctr"/>
          <a:lstStyle/>
          <a:p>
            <a:pPr indent="0" marL="0">
              <a:buNone/>
            </a:pPr>
            <a:r>
              <a:rPr lang="en-US" sz="1250" dirty="0">
                <a:solidFill>
                  <a:srgbClr val="111111"/>
                </a:solidFill>
                <a:latin typeface="Calibri" pitchFamily="34" charset="0"/>
                <a:ea typeface="Calibri" pitchFamily="34" charset="-122"/>
                <a:cs typeface="Calibri" pitchFamily="34" charset="-120"/>
              </a:rPr>
              <a:t>Watch and check your guesses.</a:t>
            </a:r>
            <a:endParaRPr lang="en-US" sz="1250" dirty="0"/>
          </a:p>
          <a:p>
            <a:pPr indent="0" marL="0">
              <a:buNone/>
            </a:pPr>
            <a:r>
              <a:rPr lang="en-US" sz="1100" i="1" dirty="0">
                <a:solidFill>
                  <a:srgbClr val="334155"/>
                </a:solidFill>
                <a:latin typeface="Calibri" pitchFamily="34" charset="0"/>
                <a:ea typeface="Calibri" pitchFamily="34" charset="-122"/>
                <a:cs typeface="Calibri" pitchFamily="34" charset="-120"/>
              </a:rPr>
              <a:t>Guarda e controlla le tue ipotesi.</a:t>
            </a:r>
            <a:endParaRPr lang="en-US" sz="1250" dirty="0"/>
          </a:p>
        </p:txBody>
      </p:sp>
      <p:pic>
        <p:nvPicPr>
          <p:cNvPr id="12" name="Media 0">
            <a:hlinkClick r:id="" action="ppaction://media"/>
          </p:cNvPr>
          <p:cNvPicPr>
            <a:picLocks noChangeAspect="1"/>
          </p:cNvPicPr>
          <p:nvPr>
            <a:videoFile r:link="rId3"/>
            <p:extLst>
              <p:ext uri="{DAA4B4D4-6D71-4841-9C94-3DE7FCFB9230}">
                <p14:media xmlns:p14="http://schemas.microsoft.com/office/powerpoint/2010/main" r:embed="rId4"/>
              </p:ext>
            </p:extLst>
          </p:nvPr>
        </p:nvPicPr>
        <p:blipFill>
          <a:blip r:embed="rId5"/>
          <a:stretch>
            <a:fillRect/>
          </a:stretch>
        </p:blipFill>
        <p:spPr>
          <a:xfrm>
            <a:off x="2788920" y="1371600"/>
            <a:ext cx="2926080" cy="1645920"/>
          </a:xfrm>
          <a:prstGeom prst="rect">
            <a:avLst/>
          </a:prstGeom>
        </p:spPr>
      </p:pic>
      <p:sp>
        <p:nvSpPr>
          <p:cNvPr id="13" name="vt_119"/>
          <p:cNvSpPr txBox="1"/>
          <p:nvPr/>
        </p:nvSpPr>
        <p:spPr>
          <a:xfrm>
            <a:off x="2788920" y="3090672"/>
            <a:ext cx="2926080" cy="685800"/>
          </a:xfrm>
          <a:prstGeom prst="rect">
            <a:avLst/>
          </a:prstGeom>
          <a:solidFill>
            <a:srgbClr val="FFFFFF"/>
          </a:solidFill>
          <a:ln w="15875">
            <a:solidFill>
              <a:srgbClr val="111111"/>
            </a:solidFill>
          </a:ln>
        </p:spPr>
        <p:txBody>
          <a:bodyPr wrap="square" lIns="76200" tIns="76200" rIns="76200" bIns="76200" rtlCol="0" anchor="ctr"/>
          <a:lstStyle/>
          <a:p>
            <a:pPr indent="0" marL="0">
              <a:buNone/>
            </a:pPr>
            <a:r>
              <a:rPr lang="en-US" sz="1200" b="1" dirty="0">
                <a:solidFill>
                  <a:srgbClr val="111111"/>
                </a:solidFill>
                <a:latin typeface="Calibri" pitchFamily="34" charset="0"/>
                <a:ea typeface="Calibri" pitchFamily="34" charset="-122"/>
                <a:cs typeface="Calibri" pitchFamily="34" charset="-120"/>
              </a:rPr>
              <a:t>Permissions and requests – listen and check</a:t>
            </a:r>
            <a:endParaRPr lang="en-US" sz="1200" dirty="0"/>
          </a:p>
          <a:p>
            <a:pPr indent="0" marL="0">
              <a:buNone/>
            </a:pPr>
            <a:r>
              <a:rPr lang="en-US" sz="1000" dirty="0">
                <a:solidFill>
                  <a:srgbClr val="475569"/>
                </a:solidFill>
                <a:latin typeface="Calibri" pitchFamily="34" charset="0"/>
                <a:ea typeface="Calibri" pitchFamily="34" charset="-122"/>
                <a:cs typeface="Calibri" pitchFamily="34" charset="-120"/>
              </a:rPr>
              <a:t>Practical English Episode 3 · SB p.54 · 2c (54")</a:t>
            </a:r>
            <a:endParaRPr lang="en-US" sz="1200" dirty="0"/>
          </a:p>
        </p:txBody>
      </p:sp>
      <p:sp>
        <p:nvSpPr>
          <p:cNvPr id="14" name="wyw_120"/>
          <p:cNvSpPr txBox="1"/>
          <p:nvPr/>
        </p:nvSpPr>
        <p:spPr>
          <a:xfrm>
            <a:off x="5852160" y="1371600"/>
            <a:ext cx="2971800" cy="347472"/>
          </a:xfrm>
          <a:prstGeom prst="rect">
            <a:avLst/>
          </a:prstGeom>
          <a:solidFill>
            <a:srgbClr val="F59E0B"/>
          </a:solidFill>
          <a:ln w="19050">
            <a:solidFill>
              <a:srgbClr val="111111"/>
            </a:solidFill>
          </a:ln>
        </p:spPr>
        <p:txBody>
          <a:bodyPr wrap="square" lIns="25400" tIns="25400" rIns="25400" bIns="25400" rtlCol="0" anchor="ctr"/>
          <a:lstStyle/>
          <a:p>
            <a:pPr algn="ctr" indent="0" marL="0">
              <a:buNone/>
            </a:pPr>
            <a:r>
              <a:rPr lang="en-US" sz="1150" dirty="0">
                <a:solidFill>
                  <a:srgbClr val="FFFFFF"/>
                </a:solidFill>
                <a:latin typeface="Arial Black" pitchFamily="34" charset="0"/>
                <a:ea typeface="Arial Black" pitchFamily="34" charset="-122"/>
                <a:cs typeface="Arial Black" pitchFamily="34" charset="-120"/>
              </a:rPr>
              <a:t>While you watch · Mentre guardi</a:t>
            </a:r>
            <a:endParaRPr lang="en-US" sz="1150" dirty="0"/>
          </a:p>
        </p:txBody>
      </p:sp>
      <p:sp>
        <p:nvSpPr>
          <p:cNvPr id="15" name="box_121"/>
          <p:cNvSpPr txBox="1"/>
          <p:nvPr/>
        </p:nvSpPr>
        <p:spPr>
          <a:xfrm>
            <a:off x="5852160" y="1810512"/>
            <a:ext cx="1783080" cy="512064"/>
          </a:xfrm>
          <a:prstGeom prst="rect">
            <a:avLst/>
          </a:prstGeom>
          <a:solidFill>
            <a:srgbClr val="E0F2FE"/>
          </a:solidFill>
          <a:ln w="15875">
            <a:solidFill>
              <a:srgbClr val="111111"/>
            </a:solidFill>
          </a:ln>
        </p:spPr>
        <p:txBody>
          <a:bodyPr wrap="square" lIns="76200" tIns="76200" rIns="76200" bIns="76200" rtlCol="0" anchor="ctr"/>
          <a:lstStyle/>
          <a:p>
            <a:pPr algn="l" indent="0" marL="0">
              <a:buNone/>
            </a:pPr>
            <a:r>
              <a:rPr lang="en-US" sz="1100" dirty="0">
                <a:solidFill>
                  <a:srgbClr val="111111"/>
                </a:solidFill>
                <a:latin typeface="Calibri" pitchFamily="34" charset="0"/>
                <a:ea typeface="Calibri" pitchFamily="34" charset="-122"/>
                <a:cs typeface="Calibri" pitchFamily="34" charset="-120"/>
              </a:rPr>
              <a:t>1  Do you ___ if I join you? – Of ___ not.</a:t>
            </a:r>
            <a:endParaRPr lang="en-US" sz="1100" dirty="0"/>
          </a:p>
        </p:txBody>
      </p:sp>
      <p:sp>
        <p:nvSpPr>
          <p:cNvPr id="16" name="R1_va0"/>
          <p:cNvSpPr txBox="1"/>
          <p:nvPr/>
        </p:nvSpPr>
        <p:spPr>
          <a:xfrm>
            <a:off x="7680960" y="1837944"/>
            <a:ext cx="1143000" cy="457200"/>
          </a:xfrm>
          <a:prstGeom prst="roundRect">
            <a:avLst>
              <a:gd name="adj" fmla="val 12000"/>
            </a:avLst>
          </a:prstGeom>
          <a:solidFill>
            <a:srgbClr val="FFFFFF"/>
          </a:solidFill>
          <a:ln w="38100">
            <a:solidFill>
              <a:srgbClr val="1FA463"/>
            </a:solidFill>
          </a:ln>
        </p:spPr>
        <p:txBody>
          <a:bodyPr wrap="square" lIns="25400" tIns="25400" rIns="25400" bIns="25400" rtlCol="0" anchor="ctr"/>
          <a:lstStyle/>
          <a:p>
            <a:pPr algn="ctr" indent="0" marL="0">
              <a:buNone/>
            </a:pPr>
            <a:r>
              <a:rPr lang="en-US" sz="1050" dirty="0">
                <a:solidFill>
                  <a:srgbClr val="111111"/>
                </a:solidFill>
                <a:latin typeface="Calibri" pitchFamily="34" charset="0"/>
                <a:ea typeface="Calibri" pitchFamily="34" charset="-122"/>
                <a:cs typeface="Calibri" pitchFamily="34" charset="-120"/>
              </a:rPr>
              <a:t>mind · course</a:t>
            </a:r>
            <a:endParaRPr lang="en-US" sz="1050" dirty="0"/>
          </a:p>
        </p:txBody>
      </p:sp>
      <p:sp>
        <p:nvSpPr>
          <p:cNvPr id="17" name="box_122"/>
          <p:cNvSpPr txBox="1"/>
          <p:nvPr/>
        </p:nvSpPr>
        <p:spPr>
          <a:xfrm>
            <a:off x="5852160" y="2395728"/>
            <a:ext cx="1783080" cy="512064"/>
          </a:xfrm>
          <a:prstGeom prst="rect">
            <a:avLst/>
          </a:prstGeom>
          <a:solidFill>
            <a:srgbClr val="FCE7F3"/>
          </a:solidFill>
          <a:ln w="15875">
            <a:solidFill>
              <a:srgbClr val="111111"/>
            </a:solidFill>
          </a:ln>
        </p:spPr>
        <p:txBody>
          <a:bodyPr wrap="square" lIns="76200" tIns="76200" rIns="76200" bIns="76200" rtlCol="0" anchor="ctr"/>
          <a:lstStyle/>
          <a:p>
            <a:pPr algn="l" indent="0" marL="0">
              <a:buNone/>
            </a:pPr>
            <a:r>
              <a:rPr lang="en-US" sz="1100" dirty="0">
                <a:solidFill>
                  <a:srgbClr val="111111"/>
                </a:solidFill>
                <a:latin typeface="Calibri" pitchFamily="34" charset="0"/>
                <a:ea typeface="Calibri" pitchFamily="34" charset="-122"/>
                <a:cs typeface="Calibri" pitchFamily="34" charset="-120"/>
              </a:rPr>
              <a:t>2  Is it ___ if we change our plans?</a:t>
            </a:r>
            <a:endParaRPr lang="en-US" sz="1100" dirty="0"/>
          </a:p>
        </p:txBody>
      </p:sp>
      <p:sp>
        <p:nvSpPr>
          <p:cNvPr id="18" name="R1_va1"/>
          <p:cNvSpPr txBox="1"/>
          <p:nvPr/>
        </p:nvSpPr>
        <p:spPr>
          <a:xfrm>
            <a:off x="7680960" y="2423160"/>
            <a:ext cx="1143000" cy="457200"/>
          </a:xfrm>
          <a:prstGeom prst="roundRect">
            <a:avLst>
              <a:gd name="adj" fmla="val 12000"/>
            </a:avLst>
          </a:prstGeom>
          <a:solidFill>
            <a:srgbClr val="FFFFFF"/>
          </a:solidFill>
          <a:ln w="38100">
            <a:solidFill>
              <a:srgbClr val="1FA463"/>
            </a:solidFill>
          </a:ln>
        </p:spPr>
        <p:txBody>
          <a:bodyPr wrap="square" lIns="25400" tIns="25400" rIns="25400" bIns="25400" rtlCol="0" anchor="ctr"/>
          <a:lstStyle/>
          <a:p>
            <a:pPr algn="ctr" indent="0" marL="0">
              <a:buNone/>
            </a:pPr>
            <a:r>
              <a:rPr lang="en-US" sz="1050" dirty="0">
                <a:solidFill>
                  <a:srgbClr val="111111"/>
                </a:solidFill>
                <a:latin typeface="Calibri" pitchFamily="34" charset="0"/>
                <a:ea typeface="Calibri" pitchFamily="34" charset="-122"/>
                <a:cs typeface="Calibri" pitchFamily="34" charset="-120"/>
              </a:rPr>
              <a:t>OK</a:t>
            </a:r>
            <a:endParaRPr lang="en-US" sz="1050" dirty="0"/>
          </a:p>
        </p:txBody>
      </p:sp>
      <p:sp>
        <p:nvSpPr>
          <p:cNvPr id="19" name="box_123"/>
          <p:cNvSpPr txBox="1"/>
          <p:nvPr/>
        </p:nvSpPr>
        <p:spPr>
          <a:xfrm>
            <a:off x="5852160" y="2980944"/>
            <a:ext cx="1783080" cy="512064"/>
          </a:xfrm>
          <a:prstGeom prst="rect">
            <a:avLst/>
          </a:prstGeom>
          <a:solidFill>
            <a:srgbClr val="FEF9C3"/>
          </a:solidFill>
          <a:ln w="15875">
            <a:solidFill>
              <a:srgbClr val="111111"/>
            </a:solidFill>
          </a:ln>
        </p:spPr>
        <p:txBody>
          <a:bodyPr wrap="square" lIns="76200" tIns="76200" rIns="76200" bIns="76200" rtlCol="0" anchor="ctr"/>
          <a:lstStyle/>
          <a:p>
            <a:pPr algn="l" indent="0" marL="0">
              <a:buNone/>
            </a:pPr>
            <a:r>
              <a:rPr lang="en-US" sz="1100" dirty="0">
                <a:solidFill>
                  <a:srgbClr val="111111"/>
                </a:solidFill>
                <a:latin typeface="Calibri" pitchFamily="34" charset="0"/>
                <a:ea typeface="Calibri" pitchFamily="34" charset="-122"/>
                <a:cs typeface="Calibri" pitchFamily="34" charset="-120"/>
              </a:rPr>
              <a:t>3  ___ you pass the sugar? – ___ .</a:t>
            </a:r>
            <a:endParaRPr lang="en-US" sz="1100" dirty="0"/>
          </a:p>
        </p:txBody>
      </p:sp>
      <p:sp>
        <p:nvSpPr>
          <p:cNvPr id="20" name="R1_va2"/>
          <p:cNvSpPr txBox="1"/>
          <p:nvPr/>
        </p:nvSpPr>
        <p:spPr>
          <a:xfrm>
            <a:off x="7680960" y="3008376"/>
            <a:ext cx="1143000" cy="457200"/>
          </a:xfrm>
          <a:prstGeom prst="roundRect">
            <a:avLst>
              <a:gd name="adj" fmla="val 12000"/>
            </a:avLst>
          </a:prstGeom>
          <a:solidFill>
            <a:srgbClr val="FFFFFF"/>
          </a:solidFill>
          <a:ln w="38100">
            <a:solidFill>
              <a:srgbClr val="1FA463"/>
            </a:solidFill>
          </a:ln>
        </p:spPr>
        <p:txBody>
          <a:bodyPr wrap="square" lIns="25400" tIns="25400" rIns="25400" bIns="25400" rtlCol="0" anchor="ctr"/>
          <a:lstStyle/>
          <a:p>
            <a:pPr algn="ctr" indent="0" marL="0">
              <a:buNone/>
            </a:pPr>
            <a:r>
              <a:rPr lang="en-US" sz="1050" dirty="0">
                <a:solidFill>
                  <a:srgbClr val="111111"/>
                </a:solidFill>
                <a:latin typeface="Calibri" pitchFamily="34" charset="0"/>
                <a:ea typeface="Calibri" pitchFamily="34" charset="-122"/>
                <a:cs typeface="Calibri" pitchFamily="34" charset="-120"/>
              </a:rPr>
              <a:t>Can · Sure</a:t>
            </a:r>
            <a:endParaRPr lang="en-US" sz="1050" dirty="0"/>
          </a:p>
        </p:txBody>
      </p:sp>
      <p:sp>
        <p:nvSpPr>
          <p:cNvPr id="21" name="box_124"/>
          <p:cNvSpPr txBox="1"/>
          <p:nvPr/>
        </p:nvSpPr>
        <p:spPr>
          <a:xfrm>
            <a:off x="5852160" y="3566160"/>
            <a:ext cx="1783080" cy="512064"/>
          </a:xfrm>
          <a:prstGeom prst="rect">
            <a:avLst/>
          </a:prstGeom>
          <a:solidFill>
            <a:srgbClr val="DCFCE7"/>
          </a:solidFill>
          <a:ln w="15875">
            <a:solidFill>
              <a:srgbClr val="111111"/>
            </a:solidFill>
          </a:ln>
        </p:spPr>
        <p:txBody>
          <a:bodyPr wrap="square" lIns="76200" tIns="76200" rIns="76200" bIns="76200" rtlCol="0" anchor="ctr"/>
          <a:lstStyle/>
          <a:p>
            <a:pPr algn="l" indent="0" marL="0">
              <a:buNone/>
            </a:pPr>
            <a:r>
              <a:rPr lang="en-US" sz="1100" dirty="0">
                <a:solidFill>
                  <a:srgbClr val="111111"/>
                </a:solidFill>
                <a:latin typeface="Calibri" pitchFamily="34" charset="0"/>
                <a:ea typeface="Calibri" pitchFamily="34" charset="-122"/>
                <a:cs typeface="Calibri" pitchFamily="34" charset="-120"/>
              </a:rPr>
              <a:t>4  a big ___ ? · mind ___ him? · ___ at all.</a:t>
            </a:r>
            <a:endParaRPr lang="en-US" sz="1100" dirty="0"/>
          </a:p>
        </p:txBody>
      </p:sp>
      <p:sp>
        <p:nvSpPr>
          <p:cNvPr id="22" name="R1_va3"/>
          <p:cNvSpPr txBox="1"/>
          <p:nvPr/>
        </p:nvSpPr>
        <p:spPr>
          <a:xfrm>
            <a:off x="7680960" y="3593592"/>
            <a:ext cx="1143000" cy="457200"/>
          </a:xfrm>
          <a:prstGeom prst="roundRect">
            <a:avLst>
              <a:gd name="adj" fmla="val 12000"/>
            </a:avLst>
          </a:prstGeom>
          <a:solidFill>
            <a:srgbClr val="FFFFFF"/>
          </a:solidFill>
          <a:ln w="38100">
            <a:solidFill>
              <a:srgbClr val="1FA463"/>
            </a:solidFill>
          </a:ln>
        </p:spPr>
        <p:txBody>
          <a:bodyPr wrap="square" lIns="25400" tIns="25400" rIns="25400" bIns="25400" rtlCol="0" anchor="ctr"/>
          <a:lstStyle/>
          <a:p>
            <a:pPr algn="ctr" indent="0" marL="0">
              <a:buNone/>
            </a:pPr>
            <a:r>
              <a:rPr lang="en-US" sz="1050" dirty="0">
                <a:solidFill>
                  <a:srgbClr val="111111"/>
                </a:solidFill>
                <a:latin typeface="Calibri" pitchFamily="34" charset="0"/>
                <a:ea typeface="Calibri" pitchFamily="34" charset="-122"/>
                <a:cs typeface="Calibri" pitchFamily="34" charset="-120"/>
              </a:rPr>
              <a:t>favour · meeting · Not</a:t>
            </a:r>
            <a:endParaRPr lang="en-US" sz="1050" dirty="0"/>
          </a:p>
        </p:txBody>
      </p:sp>
      <p:sp>
        <p:nvSpPr>
          <p:cNvPr id="23" name="box_125"/>
          <p:cNvSpPr txBox="1"/>
          <p:nvPr/>
        </p:nvSpPr>
        <p:spPr>
          <a:xfrm>
            <a:off x="5852160" y="4151376"/>
            <a:ext cx="1783080" cy="512064"/>
          </a:xfrm>
          <a:prstGeom prst="rect">
            <a:avLst/>
          </a:prstGeom>
          <a:solidFill>
            <a:srgbClr val="EDE9FE"/>
          </a:solidFill>
          <a:ln w="15875">
            <a:solidFill>
              <a:srgbClr val="111111"/>
            </a:solidFill>
          </a:ln>
        </p:spPr>
        <p:txBody>
          <a:bodyPr wrap="square" lIns="76200" tIns="76200" rIns="76200" bIns="76200" rtlCol="0" anchor="ctr"/>
          <a:lstStyle/>
          <a:p>
            <a:pPr algn="l" indent="0" marL="0">
              <a:buNone/>
            </a:pPr>
            <a:r>
              <a:rPr lang="en-US" sz="1100" dirty="0">
                <a:solidFill>
                  <a:srgbClr val="111111"/>
                </a:solidFill>
                <a:latin typeface="Calibri" pitchFamily="34" charset="0"/>
                <a:ea typeface="Calibri" pitchFamily="34" charset="-122"/>
                <a:cs typeface="Calibri" pitchFamily="34" charset="-120"/>
              </a:rPr>
              <a:t>5  you ___ take him to my flat? – No ___ .</a:t>
            </a:r>
            <a:endParaRPr lang="en-US" sz="1100" dirty="0"/>
          </a:p>
        </p:txBody>
      </p:sp>
      <p:sp>
        <p:nvSpPr>
          <p:cNvPr id="24" name="R1_va4"/>
          <p:cNvSpPr txBox="1"/>
          <p:nvPr/>
        </p:nvSpPr>
        <p:spPr>
          <a:xfrm>
            <a:off x="7680960" y="4178808"/>
            <a:ext cx="1143000" cy="457200"/>
          </a:xfrm>
          <a:prstGeom prst="roundRect">
            <a:avLst>
              <a:gd name="adj" fmla="val 12000"/>
            </a:avLst>
          </a:prstGeom>
          <a:solidFill>
            <a:srgbClr val="FFFFFF"/>
          </a:solidFill>
          <a:ln w="38100">
            <a:solidFill>
              <a:srgbClr val="1FA463"/>
            </a:solidFill>
          </a:ln>
        </p:spPr>
        <p:txBody>
          <a:bodyPr wrap="square" lIns="25400" tIns="25400" rIns="25400" bIns="25400" rtlCol="0" anchor="ctr"/>
          <a:lstStyle/>
          <a:p>
            <a:pPr algn="ctr" indent="0" marL="0">
              <a:buNone/>
            </a:pPr>
            <a:r>
              <a:rPr lang="en-US" sz="1050" dirty="0">
                <a:solidFill>
                  <a:srgbClr val="111111"/>
                </a:solidFill>
                <a:latin typeface="Calibri" pitchFamily="34" charset="0"/>
                <a:ea typeface="Calibri" pitchFamily="34" charset="-122"/>
                <a:cs typeface="Calibri" pitchFamily="34" charset="-120"/>
              </a:rPr>
              <a:t>could · problem</a:t>
            </a:r>
            <a:endParaRPr lang="en-US" sz="1050" dirty="0"/>
          </a:p>
        </p:txBody>
      </p:sp>
      <p:sp>
        <p:nvSpPr>
          <p:cNvPr id="25" name="pageTag_126"/>
          <p:cNvSpPr txBox="1"/>
          <p:nvPr/>
        </p:nvSpPr>
        <p:spPr>
          <a:xfrm>
            <a:off x="320040" y="4773168"/>
            <a:ext cx="6720840" cy="246888"/>
          </a:xfrm>
          <a:prstGeom prst="rect">
            <a:avLst/>
          </a:prstGeom>
          <a:solidFill>
            <a:srgbClr val="FFFFFF"/>
          </a:solidFill>
          <a:ln/>
        </p:spPr>
        <p:txBody>
          <a:bodyPr wrap="square" lIns="25400" tIns="25400" rIns="25400" bIns="25400" rtlCol="0" anchor="ctr"/>
          <a:lstStyle/>
          <a:p>
            <a:pPr indent="0" marL="0">
              <a:buNone/>
            </a:pPr>
            <a:r>
              <a:rPr lang="en-US" sz="1050" dirty="0">
                <a:solidFill>
                  <a:srgbClr val="334155"/>
                </a:solidFill>
                <a:latin typeface="Calibri" pitchFamily="34" charset="0"/>
                <a:ea typeface="Calibri" pitchFamily="34" charset="-122"/>
                <a:cs typeface="Calibri" pitchFamily="34" charset="-120"/>
              </a:rPr>
              <a:t>📖 Teacher: Student's Book p.54 · 2c · video / audio 5.25</a:t>
            </a:r>
            <a:endParaRPr lang="en-US" sz="105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fade">
                                      <p:cBhvr>
                                        <p:cTn id="7" dur="400"/>
                                        <p:tgtEl>
                                          <p:spTgt spid="16"/>
                                        </p:tgtEl>
                                      </p:cBhvr>
                                    </p:animEffect>
                                  </p:childTnLst>
                                </p:cTn>
                              </p:par>
                              <p:par>
                                <p:cTn id="8" presetID="10" presetClass="entr" presetSubtype="0" fill="hold" nodeType="withEffect">
                                  <p:stCondLst>
                                    <p:cond delay="0"/>
                                  </p:stCondLst>
                                  <p:childTnLst>
                                    <p:set>
                                      <p:cBhvr>
                                        <p:cTn id="9" dur="1" fill="hold">
                                          <p:stCondLst>
                                            <p:cond delay="0"/>
                                          </p:stCondLst>
                                        </p:cTn>
                                        <p:tgtEl>
                                          <p:spTgt spid="18"/>
                                        </p:tgtEl>
                                        <p:attrNameLst>
                                          <p:attrName>style.visibility</p:attrName>
                                        </p:attrNameLst>
                                      </p:cBhvr>
                                      <p:to>
                                        <p:strVal val="visible"/>
                                      </p:to>
                                    </p:set>
                                    <p:animEffect transition="in" filter="fade">
                                      <p:cBhvr>
                                        <p:cTn id="10" dur="400"/>
                                        <p:tgtEl>
                                          <p:spTgt spid="18"/>
                                        </p:tgtEl>
                                      </p:cBhvr>
                                    </p:animEffect>
                                  </p:childTnLst>
                                </p:cTn>
                              </p:par>
                              <p:par>
                                <p:cTn id="11" presetID="10" presetClass="entr" presetSubtype="0" fill="hold" nodeType="withEffect">
                                  <p:stCondLst>
                                    <p:cond delay="0"/>
                                  </p:stCondLst>
                                  <p:childTnLst>
                                    <p:set>
                                      <p:cBhvr>
                                        <p:cTn id="12" dur="1" fill="hold">
                                          <p:stCondLst>
                                            <p:cond delay="0"/>
                                          </p:stCondLst>
                                        </p:cTn>
                                        <p:tgtEl>
                                          <p:spTgt spid="20"/>
                                        </p:tgtEl>
                                        <p:attrNameLst>
                                          <p:attrName>style.visibility</p:attrName>
                                        </p:attrNameLst>
                                      </p:cBhvr>
                                      <p:to>
                                        <p:strVal val="visible"/>
                                      </p:to>
                                    </p:set>
                                    <p:animEffect transition="in" filter="fade">
                                      <p:cBhvr>
                                        <p:cTn id="13" dur="400"/>
                                        <p:tgtEl>
                                          <p:spTgt spid="20"/>
                                        </p:tgtEl>
                                      </p:cBhvr>
                                    </p:animEffect>
                                  </p:childTnLst>
                                </p:cTn>
                              </p:par>
                              <p:par>
                                <p:cTn id="14" presetID="10" presetClass="entr" presetSubtype="0" fill="hold" nodeType="withEffect">
                                  <p:stCondLst>
                                    <p:cond delay="0"/>
                                  </p:stCondLst>
                                  <p:childTnLst>
                                    <p:set>
                                      <p:cBhvr>
                                        <p:cTn id="15" dur="1" fill="hold">
                                          <p:stCondLst>
                                            <p:cond delay="0"/>
                                          </p:stCondLst>
                                        </p:cTn>
                                        <p:tgtEl>
                                          <p:spTgt spid="22"/>
                                        </p:tgtEl>
                                        <p:attrNameLst>
                                          <p:attrName>style.visibility</p:attrName>
                                        </p:attrNameLst>
                                      </p:cBhvr>
                                      <p:to>
                                        <p:strVal val="visible"/>
                                      </p:to>
                                    </p:set>
                                    <p:animEffect transition="in" filter="fade">
                                      <p:cBhvr>
                                        <p:cTn id="16" dur="400"/>
                                        <p:tgtEl>
                                          <p:spTgt spid="22"/>
                                        </p:tgtEl>
                                      </p:cBhvr>
                                    </p:animEffect>
                                  </p:childTnLst>
                                </p:cTn>
                              </p:par>
                              <p:par>
                                <p:cTn id="17" presetID="10" presetClass="entr" presetSubtype="0" fill="hold" nodeType="withEffect">
                                  <p:stCondLst>
                                    <p:cond delay="0"/>
                                  </p:stCondLst>
                                  <p:childTnLst>
                                    <p:set>
                                      <p:cBhvr>
                                        <p:cTn id="18" dur="1" fill="hold">
                                          <p:stCondLst>
                                            <p:cond delay="0"/>
                                          </p:stCondLst>
                                        </p:cTn>
                                        <p:tgtEl>
                                          <p:spTgt spid="24"/>
                                        </p:tgtEl>
                                        <p:attrNameLst>
                                          <p:attrName>style.visibility</p:attrName>
                                        </p:attrNameLst>
                                      </p:cBhvr>
                                      <p:to>
                                        <p:strVal val="visible"/>
                                      </p:to>
                                    </p:set>
                                    <p:animEffect transition="in" filter="fade">
                                      <p:cBhvr>
                                        <p:cTn id="19" dur="4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seq concurrent="1" nextAc="seek">
              <p:cTn id="20" restart="whenNotActive" fill="hold" evtFilter="cancelBubble" nodeType="interactiveSeq">
                <p:stCondLst>
                  <p:cond evt="onClick" delay="0">
                    <p:tgtEl>
                      <p:spTgt spid="12"/>
                    </p:tgtEl>
                  </p:cond>
                </p:stCondLst>
                <p:endSync evt="end" delay="0">
                  <p:rtn val="all"/>
                </p:endSync>
                <p:childTnLst>
                  <p:par>
                    <p:cTn id="21" fill="hold">
                      <p:stCondLst>
                        <p:cond delay="0"/>
                      </p:stCondLst>
                      <p:childTnLst>
                        <p:par>
                          <p:cTn id="22" fill="hold">
                            <p:stCondLst>
                              <p:cond delay="0"/>
                            </p:stCondLst>
                            <p:childTnLst>
                              <p:par>
                                <p:cTn id="23" presetID="2" presetClass="mediacall" presetSubtype="0" fill="hold" nodeType="clickEffect">
                                  <p:stCondLst>
                                    <p:cond delay="0"/>
                                  </p:stCondLst>
                                  <p:childTnLst>
                                    <p:cmd type="call" cmd="togglePause">
                                      <p:cBhvr>
                                        <p:cTn id="24" dur="1" fill="hold"/>
                                        <p:tgtEl>
                                          <p:spTgt spid="12"/>
                                        </p:tgtEl>
                                      </p:cBhvr>
                                    </p:cmd>
                                  </p:childTnLst>
                                </p:cTn>
                              </p:par>
                            </p:childTnLst>
                          </p:cTn>
                        </p:par>
                      </p:childTnLst>
                    </p:cTn>
                  </p:par>
                </p:childTnLst>
              </p:cTn>
              <p:nextCondLst>
                <p:cond evt="onClick" delay="0">
                  <p:tgtEl>
                    <p:spTgt spid="12"/>
                  </p:tgtEl>
                </p:cond>
              </p:nextCondLst>
            </p:seq>
            <p:video>
              <p:cMediaNode vol="80000">
                <p:cTn id="25" fill="hold" display="0">
                  <p:stCondLst>
                    <p:cond delay="indefinite"/>
                  </p:stCondLst>
                </p:cTn>
                <p:tgtEl>
                  <p:spTgt spid="12"/>
                </p:tgtEl>
              </p:cMediaNode>
            </p:video>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name="Slide 8">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levelFrame_127"/>
          <p:cNvSpPr/>
          <p:nvPr/>
        </p:nvSpPr>
        <p:spPr>
          <a:xfrm>
            <a:off x="54864" y="54864"/>
            <a:ext cx="9034272" cy="5033772"/>
          </a:xfrm>
          <a:prstGeom prst="rect">
            <a:avLst/>
          </a:prstGeom>
          <a:ln w="114300">
            <a:solidFill>
              <a:srgbClr val="A8E6B4"/>
            </a:solidFill>
            <a:prstDash val="solid"/>
          </a:ln>
        </p:spPr>
      </p:sp>
      <p:pic>
        <p:nvPicPr>
          <p:cNvPr id="4" name="logo_128" descr="London Language School logo">    </p:cNvPr>
          <p:cNvPicPr>
            <a:picLocks noChangeAspect="1"/>
          </p:cNvPicPr>
          <p:nvPr/>
        </p:nvPicPr>
        <p:blipFill>
          <a:blip r:embed="rId2"/>
          <a:stretch>
            <a:fillRect/>
          </a:stretch>
        </p:blipFill>
        <p:spPr>
          <a:xfrm>
            <a:off x="8275320" y="182880"/>
            <a:ext cx="585216" cy="585216"/>
          </a:xfrm>
          <a:prstGeom prst="rect">
            <a:avLst/>
          </a:prstGeom>
        </p:spPr>
      </p:pic>
      <p:sp>
        <p:nvSpPr>
          <p:cNvPr id="5" name="objective_129"/>
          <p:cNvSpPr txBox="1"/>
          <p:nvPr/>
        </p:nvSpPr>
        <p:spPr>
          <a:xfrm>
            <a:off x="320040" y="182880"/>
            <a:ext cx="4754880" cy="365760"/>
          </a:xfrm>
          <a:prstGeom prst="roundRect">
            <a:avLst>
              <a:gd name="adj" fmla="val 20000"/>
            </a:avLst>
          </a:prstGeom>
          <a:solidFill>
            <a:srgbClr val="062F67"/>
          </a:solidFill>
          <a:ln w="31750">
            <a:solidFill>
              <a:srgbClr val="111111"/>
            </a:solidFill>
          </a:ln>
        </p:spPr>
        <p:txBody>
          <a:bodyPr wrap="square" lIns="101600" tIns="101600" rIns="101600" bIns="101600" rtlCol="0" anchor="ctr"/>
          <a:lstStyle/>
          <a:p>
            <a:pPr indent="0" marL="0">
              <a:buNone/>
            </a:pPr>
            <a:r>
              <a:rPr lang="en-US" sz="900" dirty="0">
                <a:solidFill>
                  <a:srgbClr val="FFFFFF"/>
                </a:solidFill>
                <a:latin typeface="Arial Black" pitchFamily="34" charset="0"/>
                <a:ea typeface="Arial Black" pitchFamily="34" charset="-122"/>
                <a:cs typeface="Arial Black" pitchFamily="34" charset="-120"/>
              </a:rPr>
              <a:t>PRACTICAL ENGLISH · Listen and repeat · 5.26</a:t>
            </a:r>
            <a:endParaRPr lang="en-US" sz="900" dirty="0"/>
          </a:p>
        </p:txBody>
      </p:sp>
      <p:sp>
        <p:nvSpPr>
          <p:cNvPr id="6" name="timer_130"/>
          <p:cNvSpPr txBox="1"/>
          <p:nvPr/>
        </p:nvSpPr>
        <p:spPr>
          <a:xfrm>
            <a:off x="7086600" y="219456"/>
            <a:ext cx="1005840" cy="310896"/>
          </a:xfrm>
          <a:prstGeom prst="roundRect">
            <a:avLst>
              <a:gd name="adj" fmla="val 23529"/>
            </a:avLst>
          </a:prstGeom>
          <a:solidFill>
            <a:srgbClr val="FFFFFF"/>
          </a:solidFill>
          <a:ln w="25400">
            <a:solidFill>
              <a:srgbClr val="6D3FC0"/>
            </a:solidFill>
          </a:ln>
        </p:spPr>
        <p:txBody>
          <a:bodyPr wrap="square" lIns="0" tIns="0" rIns="0" bIns="0" rtlCol="0" anchor="ctr"/>
          <a:lstStyle/>
          <a:p>
            <a:pPr algn="ctr" indent="0" marL="0">
              <a:buNone/>
            </a:pPr>
            <a:r>
              <a:rPr lang="en-US" sz="1200" b="1" dirty="0">
                <a:solidFill>
                  <a:srgbClr val="6D3FC0"/>
                </a:solidFill>
                <a:latin typeface="Calibri" pitchFamily="34" charset="0"/>
                <a:ea typeface="Calibri" pitchFamily="34" charset="-122"/>
                <a:cs typeface="Calibri" pitchFamily="34" charset="-120"/>
              </a:rPr>
              <a:t>⏱ 2 min</a:t>
            </a:r>
            <a:endParaRPr lang="en-US" sz="1200" dirty="0"/>
          </a:p>
        </p:txBody>
      </p:sp>
      <p:sp>
        <p:nvSpPr>
          <p:cNvPr id="7" name="footer_131"/>
          <p:cNvSpPr txBox="1"/>
          <p:nvPr/>
        </p:nvSpPr>
        <p:spPr>
          <a:xfrm>
            <a:off x="7132320" y="4818888"/>
            <a:ext cx="1737360" cy="219456"/>
          </a:xfrm>
          <a:prstGeom prst="rect">
            <a:avLst/>
          </a:prstGeom>
          <a:solidFill>
            <a:srgbClr val="FFFFFF"/>
          </a:solidFill>
          <a:ln/>
        </p:spPr>
        <p:txBody>
          <a:bodyPr wrap="square" lIns="0" tIns="0" rIns="0" bIns="0" rtlCol="0" anchor="ctr"/>
          <a:lstStyle/>
          <a:p>
            <a:pPr algn="ctr" indent="0" marL="0">
              <a:buNone/>
            </a:pPr>
            <a:r>
              <a:rPr lang="en-US" sz="1000" dirty="0">
                <a:solidFill>
                  <a:srgbClr val="334155"/>
                </a:solidFill>
                <a:latin typeface="Calibri" pitchFamily="34" charset="0"/>
                <a:ea typeface="Calibri" pitchFamily="34" charset="-122"/>
                <a:cs typeface="Calibri" pitchFamily="34" charset="-120"/>
              </a:rPr>
              <a:t>PE3 · Part 1</a:t>
            </a:r>
            <a:endParaRPr lang="en-US" sz="1000" dirty="0"/>
          </a:p>
        </p:txBody>
      </p:sp>
      <p:sp>
        <p:nvSpPr>
          <p:cNvPr id="8" name="title_132"/>
          <p:cNvSpPr txBox="1"/>
          <p:nvPr/>
        </p:nvSpPr>
        <p:spPr>
          <a:xfrm rot="-120000">
            <a:off x="320040" y="676656"/>
            <a:ext cx="3456432" cy="530352"/>
          </a:xfrm>
          <a:prstGeom prst="rect">
            <a:avLst/>
          </a:prstGeom>
          <a:solidFill>
            <a:srgbClr val="FFD84D"/>
          </a:solidFill>
          <a:ln w="31750">
            <a:solidFill>
              <a:srgbClr val="111111"/>
            </a:solidFill>
          </a:ln>
          <a:effectLst>
            <a:outerShdw sx="100000" sy="100000" kx="0" ky="0" algn="bl" rotWithShape="0" blurRad="101600" dist="38100" dir="2700000">
              <a:srgbClr val="000000">
                <a:alpha val="35000"/>
              </a:srgbClr>
            </a:outerShdw>
          </a:effectLst>
        </p:spPr>
        <p:txBody>
          <a:bodyPr wrap="square" lIns="127000" tIns="127000" rIns="127000" bIns="127000" rtlCol="0" anchor="ctr"/>
          <a:lstStyle/>
          <a:p>
            <a:pPr indent="0" marL="0">
              <a:buNone/>
            </a:pPr>
            <a:r>
              <a:rPr lang="en-US" sz="1500" dirty="0">
                <a:solidFill>
                  <a:srgbClr val="111111"/>
                </a:solidFill>
                <a:latin typeface="Arial Black" pitchFamily="34" charset="0"/>
                <a:ea typeface="Arial Black" pitchFamily="34" charset="-122"/>
                <a:cs typeface="Arial Black" pitchFamily="34" charset="-120"/>
              </a:rPr>
              <a:t>Listen and repeat</a:t>
            </a:r>
            <a:endParaRPr lang="en-US" sz="1500" dirty="0"/>
          </a:p>
        </p:txBody>
      </p:sp>
      <p:sp>
        <p:nvSpPr>
          <p:cNvPr id="9" name="post_133"/>
          <p:cNvSpPr/>
          <p:nvPr/>
        </p:nvSpPr>
        <p:spPr>
          <a:xfrm>
            <a:off x="429768" y="1554480"/>
            <a:ext cx="128016" cy="2194560"/>
          </a:xfrm>
          <a:prstGeom prst="rect">
            <a:avLst/>
          </a:prstGeom>
          <a:solidFill>
            <a:srgbClr val="8B5A2B"/>
          </a:solidFill>
          <a:ln w="31750">
            <a:solidFill>
              <a:srgbClr val="111111"/>
            </a:solidFill>
            <a:prstDash val="solid"/>
          </a:ln>
        </p:spPr>
      </p:sp>
      <p:sp>
        <p:nvSpPr>
          <p:cNvPr id="10" name="signA_134"/>
          <p:cNvSpPr txBox="1"/>
          <p:nvPr/>
        </p:nvSpPr>
        <p:spPr>
          <a:xfrm rot="-180000">
            <a:off x="320040" y="1371600"/>
            <a:ext cx="2240280" cy="457200"/>
          </a:xfrm>
          <a:prstGeom prst="homePlate">
            <a:avLst/>
          </a:prstGeom>
          <a:solidFill>
            <a:srgbClr val="EF2F2F"/>
          </a:solidFill>
          <a:ln w="31750">
            <a:solidFill>
              <a:srgbClr val="111111"/>
            </a:solidFill>
          </a:ln>
          <a:effectLst>
            <a:outerShdw sx="100000" sy="100000" kx="0" ky="0" algn="bl" rotWithShape="0" blurRad="101600" dist="38100" dir="2700000">
              <a:srgbClr val="000000">
                <a:alpha val="35000"/>
              </a:srgbClr>
            </a:outerShdw>
          </a:effectLst>
        </p:spPr>
        <p:txBody>
          <a:bodyPr wrap="square" lIns="76200" tIns="76200" rIns="76200" bIns="76200" rtlCol="0" anchor="ctr"/>
          <a:lstStyle/>
          <a:p>
            <a:pPr indent="0" marL="0">
              <a:buNone/>
            </a:pPr>
            <a:r>
              <a:rPr lang="en-US" sz="1500" b="1" dirty="0">
                <a:solidFill>
                  <a:srgbClr val="FFFFFF"/>
                </a:solidFill>
                <a:latin typeface="Arial Black" pitchFamily="34" charset="0"/>
                <a:ea typeface="Arial Black" pitchFamily="34" charset="-122"/>
                <a:cs typeface="Arial Black" pitchFamily="34" charset="-120"/>
              </a:rPr>
              <a:t>SPEAK!</a:t>
            </a:r>
            <a:pPr indent="0" marL="0">
              <a:buNone/>
            </a:pPr>
            <a:r>
              <a:rPr lang="en-US" sz="1000" dirty="0">
                <a:solidFill>
                  <a:srgbClr val="FFF3B0"/>
                </a:solidFill>
                <a:latin typeface="Arial Black" pitchFamily="34" charset="0"/>
                <a:ea typeface="Arial Black" pitchFamily="34" charset="-122"/>
                <a:cs typeface="Arial Black" pitchFamily="34" charset="-120"/>
              </a:rPr>
              <a:t>  PARLA!</a:t>
            </a:r>
            <a:endParaRPr lang="en-US" sz="1500" dirty="0"/>
          </a:p>
        </p:txBody>
      </p:sp>
      <p:sp>
        <p:nvSpPr>
          <p:cNvPr id="11" name="signB_135"/>
          <p:cNvSpPr txBox="1"/>
          <p:nvPr/>
        </p:nvSpPr>
        <p:spPr>
          <a:xfrm rot="120000">
            <a:off x="365760" y="1938528"/>
            <a:ext cx="2240280" cy="1051560"/>
          </a:xfrm>
          <a:prstGeom prst="rect">
            <a:avLst/>
          </a:prstGeom>
          <a:solidFill>
            <a:srgbClr val="FFFFFF"/>
          </a:solidFill>
          <a:ln w="31750">
            <a:solidFill>
              <a:srgbClr val="111111"/>
            </a:solidFill>
          </a:ln>
        </p:spPr>
        <p:txBody>
          <a:bodyPr wrap="square" lIns="76200" tIns="76200" rIns="76200" bIns="76200" rtlCol="0" anchor="ctr"/>
          <a:lstStyle/>
          <a:p>
            <a:pPr indent="0" marL="0">
              <a:buNone/>
            </a:pPr>
            <a:r>
              <a:rPr lang="en-US" sz="1200" dirty="0">
                <a:solidFill>
                  <a:srgbClr val="111111"/>
                </a:solidFill>
                <a:latin typeface="Calibri" pitchFamily="34" charset="0"/>
                <a:ea typeface="Calibri" pitchFamily="34" charset="-122"/>
                <a:cs typeface="Calibri" pitchFamily="34" charset="-120"/>
              </a:rPr>
              <a:t>Watch and repeat. Copy the rhythm and the polite intonation!</a:t>
            </a:r>
            <a:endParaRPr lang="en-US" sz="1200" dirty="0"/>
          </a:p>
          <a:p>
            <a:pPr indent="0" marL="0">
              <a:buNone/>
            </a:pPr>
            <a:r>
              <a:rPr lang="en-US" sz="1050" i="1" dirty="0">
                <a:solidFill>
                  <a:srgbClr val="334155"/>
                </a:solidFill>
                <a:latin typeface="Calibri" pitchFamily="34" charset="0"/>
                <a:ea typeface="Calibri" pitchFamily="34" charset="-122"/>
                <a:cs typeface="Calibri" pitchFamily="34" charset="-120"/>
              </a:rPr>
              <a:t>Guarda e ripeti. Copia il ritmo e l'intonazione cortese!</a:t>
            </a:r>
            <a:endParaRPr lang="en-US" sz="1200" dirty="0"/>
          </a:p>
        </p:txBody>
      </p:sp>
      <p:pic>
        <p:nvPicPr>
          <p:cNvPr id="12" name="Media 0">
            <a:hlinkClick r:id="" action="ppaction://media"/>
          </p:cNvPr>
          <p:cNvPicPr>
            <a:picLocks noChangeAspect="1"/>
          </p:cNvPicPr>
          <p:nvPr>
            <a:videoFile r:link="rId3"/>
            <p:extLst>
              <p:ext uri="{DAA4B4D4-6D71-4841-9C94-3DE7FCFB9230}">
                <p14:media xmlns:p14="http://schemas.microsoft.com/office/powerpoint/2010/main" r:embed="rId4"/>
              </p:ext>
            </p:extLst>
          </p:nvPr>
        </p:nvPicPr>
        <p:blipFill>
          <a:blip r:embed="rId5"/>
          <a:stretch>
            <a:fillRect/>
          </a:stretch>
        </p:blipFill>
        <p:spPr>
          <a:xfrm>
            <a:off x="2788920" y="1371600"/>
            <a:ext cx="2926080" cy="1645920"/>
          </a:xfrm>
          <a:prstGeom prst="rect">
            <a:avLst/>
          </a:prstGeom>
        </p:spPr>
      </p:pic>
      <p:sp>
        <p:nvSpPr>
          <p:cNvPr id="13" name="vt_136"/>
          <p:cNvSpPr txBox="1"/>
          <p:nvPr/>
        </p:nvSpPr>
        <p:spPr>
          <a:xfrm>
            <a:off x="2788920" y="3090672"/>
            <a:ext cx="2926080" cy="685800"/>
          </a:xfrm>
          <a:prstGeom prst="rect">
            <a:avLst/>
          </a:prstGeom>
          <a:solidFill>
            <a:srgbClr val="FFFFFF"/>
          </a:solidFill>
          <a:ln w="15875">
            <a:solidFill>
              <a:srgbClr val="111111"/>
            </a:solidFill>
          </a:ln>
        </p:spPr>
        <p:txBody>
          <a:bodyPr wrap="square" lIns="76200" tIns="76200" rIns="76200" bIns="76200" rtlCol="0" anchor="ctr"/>
          <a:lstStyle/>
          <a:p>
            <a:pPr indent="0" marL="0">
              <a:buNone/>
            </a:pPr>
            <a:r>
              <a:rPr lang="en-US" sz="1050" b="1" dirty="0">
                <a:solidFill>
                  <a:srgbClr val="111111"/>
                </a:solidFill>
                <a:latin typeface="Calibri" pitchFamily="34" charset="0"/>
                <a:ea typeface="Calibri" pitchFamily="34" charset="-122"/>
                <a:cs typeface="Calibri" pitchFamily="34" charset="-120"/>
              </a:rPr>
              <a:t>Permissions and requests – listen and repeat</a:t>
            </a:r>
            <a:endParaRPr lang="en-US" sz="1050" dirty="0"/>
          </a:p>
          <a:p>
            <a:pPr indent="0" marL="0">
              <a:buNone/>
            </a:pPr>
            <a:r>
              <a:rPr lang="en-US" sz="900" dirty="0">
                <a:solidFill>
                  <a:srgbClr val="475569"/>
                </a:solidFill>
                <a:latin typeface="Calibri" pitchFamily="34" charset="0"/>
                <a:ea typeface="Calibri" pitchFamily="34" charset="-122"/>
                <a:cs typeface="Calibri" pitchFamily="34" charset="-120"/>
              </a:rPr>
              <a:t>Practical English Episode 3 · SB p.54 · 2e, 2f (1'32")</a:t>
            </a:r>
            <a:endParaRPr lang="en-US" sz="1050" dirty="0"/>
          </a:p>
        </p:txBody>
      </p:sp>
      <p:sp>
        <p:nvSpPr>
          <p:cNvPr id="14" name="wyw_137"/>
          <p:cNvSpPr txBox="1"/>
          <p:nvPr/>
        </p:nvSpPr>
        <p:spPr>
          <a:xfrm>
            <a:off x="5852160" y="1371600"/>
            <a:ext cx="2971800" cy="347472"/>
          </a:xfrm>
          <a:prstGeom prst="rect">
            <a:avLst/>
          </a:prstGeom>
          <a:solidFill>
            <a:srgbClr val="F59E0B"/>
          </a:solidFill>
          <a:ln w="19050">
            <a:solidFill>
              <a:srgbClr val="111111"/>
            </a:solidFill>
          </a:ln>
        </p:spPr>
        <p:txBody>
          <a:bodyPr wrap="square" lIns="25400" tIns="25400" rIns="25400" bIns="25400" rtlCol="0" anchor="ctr"/>
          <a:lstStyle/>
          <a:p>
            <a:pPr algn="ctr" indent="0" marL="0">
              <a:buNone/>
            </a:pPr>
            <a:r>
              <a:rPr lang="en-US" sz="1150" dirty="0">
                <a:solidFill>
                  <a:srgbClr val="FFFFFF"/>
                </a:solidFill>
                <a:latin typeface="Arial Black" pitchFamily="34" charset="0"/>
                <a:ea typeface="Arial Black" pitchFamily="34" charset="-122"/>
                <a:cs typeface="Arial Black" pitchFamily="34" charset="-120"/>
              </a:rPr>
              <a:t>While you watch · Mentre guardi</a:t>
            </a:r>
            <a:endParaRPr lang="en-US" sz="1150" dirty="0"/>
          </a:p>
        </p:txBody>
      </p:sp>
      <p:sp>
        <p:nvSpPr>
          <p:cNvPr id="15" name="box_138"/>
          <p:cNvSpPr txBox="1"/>
          <p:nvPr/>
        </p:nvSpPr>
        <p:spPr>
          <a:xfrm>
            <a:off x="5852160" y="1810512"/>
            <a:ext cx="2971800" cy="512064"/>
          </a:xfrm>
          <a:prstGeom prst="rect">
            <a:avLst/>
          </a:prstGeom>
          <a:solidFill>
            <a:srgbClr val="E0F2FE"/>
          </a:solidFill>
          <a:ln w="15875">
            <a:solidFill>
              <a:srgbClr val="111111"/>
            </a:solidFill>
          </a:ln>
        </p:spPr>
        <p:txBody>
          <a:bodyPr wrap="square" lIns="76200" tIns="76200" rIns="76200" bIns="76200" rtlCol="0" anchor="ctr"/>
          <a:lstStyle/>
          <a:p>
            <a:pPr algn="l" indent="0" marL="0">
              <a:buNone/>
            </a:pPr>
            <a:r>
              <a:rPr lang="en-US" sz="1100" dirty="0">
                <a:solidFill>
                  <a:srgbClr val="111111"/>
                </a:solidFill>
                <a:latin typeface="Calibri" pitchFamily="34" charset="0"/>
                <a:ea typeface="Calibri" pitchFamily="34" charset="-122"/>
                <a:cs typeface="Calibri" pitchFamily="34" charset="-120"/>
              </a:rPr>
              <a:t>1  Do you mind if I join you? – Of course not.</a:t>
            </a:r>
            <a:endParaRPr lang="en-US" sz="1100" dirty="0"/>
          </a:p>
        </p:txBody>
      </p:sp>
      <p:sp>
        <p:nvSpPr>
          <p:cNvPr id="16" name="box_139"/>
          <p:cNvSpPr txBox="1"/>
          <p:nvPr/>
        </p:nvSpPr>
        <p:spPr>
          <a:xfrm>
            <a:off x="5852160" y="2395728"/>
            <a:ext cx="2971800" cy="512064"/>
          </a:xfrm>
          <a:prstGeom prst="rect">
            <a:avLst/>
          </a:prstGeom>
          <a:solidFill>
            <a:srgbClr val="FCE7F3"/>
          </a:solidFill>
          <a:ln w="15875">
            <a:solidFill>
              <a:srgbClr val="111111"/>
            </a:solidFill>
          </a:ln>
        </p:spPr>
        <p:txBody>
          <a:bodyPr wrap="square" lIns="76200" tIns="76200" rIns="76200" bIns="76200" rtlCol="0" anchor="ctr"/>
          <a:lstStyle/>
          <a:p>
            <a:pPr algn="l" indent="0" marL="0">
              <a:buNone/>
            </a:pPr>
            <a:r>
              <a:rPr lang="en-US" sz="1250" dirty="0">
                <a:solidFill>
                  <a:srgbClr val="111111"/>
                </a:solidFill>
                <a:latin typeface="Calibri" pitchFamily="34" charset="0"/>
                <a:ea typeface="Calibri" pitchFamily="34" charset="-122"/>
                <a:cs typeface="Calibri" pitchFamily="34" charset="-120"/>
              </a:rPr>
              <a:t>2  Is it OK if…? – Er… sure.</a:t>
            </a:r>
            <a:endParaRPr lang="en-US" sz="1250" dirty="0"/>
          </a:p>
        </p:txBody>
      </p:sp>
      <p:sp>
        <p:nvSpPr>
          <p:cNvPr id="17" name="box_140"/>
          <p:cNvSpPr txBox="1"/>
          <p:nvPr/>
        </p:nvSpPr>
        <p:spPr>
          <a:xfrm>
            <a:off x="5852160" y="2980944"/>
            <a:ext cx="2971800" cy="512064"/>
          </a:xfrm>
          <a:prstGeom prst="rect">
            <a:avLst/>
          </a:prstGeom>
          <a:solidFill>
            <a:srgbClr val="FEF9C3"/>
          </a:solidFill>
          <a:ln w="15875">
            <a:solidFill>
              <a:srgbClr val="111111"/>
            </a:solidFill>
          </a:ln>
        </p:spPr>
        <p:txBody>
          <a:bodyPr wrap="square" lIns="76200" tIns="76200" rIns="76200" bIns="76200" rtlCol="0" anchor="ctr"/>
          <a:lstStyle/>
          <a:p>
            <a:pPr algn="l" indent="0" marL="0">
              <a:buNone/>
            </a:pPr>
            <a:r>
              <a:rPr lang="en-US" sz="1250" dirty="0">
                <a:solidFill>
                  <a:srgbClr val="111111"/>
                </a:solidFill>
                <a:latin typeface="Calibri" pitchFamily="34" charset="0"/>
                <a:ea typeface="Calibri" pitchFamily="34" charset="-122"/>
                <a:cs typeface="Calibri" pitchFamily="34" charset="-120"/>
              </a:rPr>
              <a:t>3  Can you pass the sugar? – Sure.</a:t>
            </a:r>
            <a:endParaRPr lang="en-US" sz="1250" dirty="0"/>
          </a:p>
        </p:txBody>
      </p:sp>
      <p:sp>
        <p:nvSpPr>
          <p:cNvPr id="18" name="box_141"/>
          <p:cNvSpPr txBox="1"/>
          <p:nvPr/>
        </p:nvSpPr>
        <p:spPr>
          <a:xfrm>
            <a:off x="5852160" y="3566160"/>
            <a:ext cx="2971800" cy="512064"/>
          </a:xfrm>
          <a:prstGeom prst="rect">
            <a:avLst/>
          </a:prstGeom>
          <a:solidFill>
            <a:srgbClr val="DCFCE7"/>
          </a:solidFill>
          <a:ln w="15875">
            <a:solidFill>
              <a:srgbClr val="111111"/>
            </a:solidFill>
          </a:ln>
        </p:spPr>
        <p:txBody>
          <a:bodyPr wrap="square" lIns="76200" tIns="76200" rIns="76200" bIns="76200" rtlCol="0" anchor="ctr"/>
          <a:lstStyle/>
          <a:p>
            <a:pPr algn="l" indent="0" marL="0">
              <a:buNone/>
            </a:pPr>
            <a:r>
              <a:rPr lang="en-US" sz="1100" dirty="0">
                <a:solidFill>
                  <a:srgbClr val="111111"/>
                </a:solidFill>
                <a:latin typeface="Calibri" pitchFamily="34" charset="0"/>
                <a:ea typeface="Calibri" pitchFamily="34" charset="-122"/>
                <a:cs typeface="Calibri" pitchFamily="34" charset="-120"/>
              </a:rPr>
              <a:t>4  Would you mind meeting him? – Not at all.</a:t>
            </a:r>
            <a:endParaRPr lang="en-US" sz="1100" dirty="0"/>
          </a:p>
        </p:txBody>
      </p:sp>
      <p:sp>
        <p:nvSpPr>
          <p:cNvPr id="19" name="box_142"/>
          <p:cNvSpPr txBox="1"/>
          <p:nvPr/>
        </p:nvSpPr>
        <p:spPr>
          <a:xfrm>
            <a:off x="5852160" y="4151376"/>
            <a:ext cx="2971800" cy="512064"/>
          </a:xfrm>
          <a:prstGeom prst="rect">
            <a:avLst/>
          </a:prstGeom>
          <a:solidFill>
            <a:srgbClr val="EDE9FE"/>
          </a:solidFill>
          <a:ln w="15875">
            <a:solidFill>
              <a:srgbClr val="111111"/>
            </a:solidFill>
          </a:ln>
        </p:spPr>
        <p:txBody>
          <a:bodyPr wrap="square" lIns="76200" tIns="76200" rIns="76200" bIns="76200" rtlCol="0" anchor="ctr"/>
          <a:lstStyle/>
          <a:p>
            <a:pPr algn="l" indent="0" marL="0">
              <a:buNone/>
            </a:pPr>
            <a:r>
              <a:rPr lang="en-US" sz="1100" dirty="0">
                <a:solidFill>
                  <a:srgbClr val="111111"/>
                </a:solidFill>
                <a:latin typeface="Calibri" pitchFamily="34" charset="0"/>
                <a:ea typeface="Calibri" pitchFamily="34" charset="-122"/>
                <a:cs typeface="Calibri" pitchFamily="34" charset="-120"/>
              </a:rPr>
              <a:t>5  Do you think you could take him…? – No problem.</a:t>
            </a:r>
            <a:endParaRPr lang="en-US" sz="1100" dirty="0"/>
          </a:p>
        </p:txBody>
      </p:sp>
      <p:sp>
        <p:nvSpPr>
          <p:cNvPr id="20" name="bubble_143"/>
          <p:cNvSpPr txBox="1"/>
          <p:nvPr/>
        </p:nvSpPr>
        <p:spPr>
          <a:xfrm>
            <a:off x="2788920" y="3931920"/>
            <a:ext cx="2926080" cy="731520"/>
          </a:xfrm>
          <a:prstGeom prst="roundRect">
            <a:avLst/>
          </a:prstGeom>
          <a:solidFill>
            <a:srgbClr val="FFD84D"/>
          </a:solidFill>
          <a:ln w="31750">
            <a:solidFill>
              <a:srgbClr val="111111"/>
            </a:solidFill>
          </a:ln>
          <a:effectLst>
            <a:outerShdw sx="100000" sy="100000" kx="0" ky="0" algn="bl" rotWithShape="0" blurRad="101600" dist="38100" dir="2700000">
              <a:srgbClr val="000000">
                <a:alpha val="35000"/>
              </a:srgbClr>
            </a:outerShdw>
          </a:effectLst>
        </p:spPr>
        <p:txBody>
          <a:bodyPr wrap="square" lIns="76200" tIns="76200" rIns="76200" bIns="76200" rtlCol="0" anchor="ctr"/>
          <a:lstStyle/>
          <a:p>
            <a:pPr algn="ctr" indent="0" marL="0">
              <a:buNone/>
            </a:pPr>
            <a:r>
              <a:rPr lang="en-US" sz="1200" b="1" dirty="0">
                <a:solidFill>
                  <a:srgbClr val="111111"/>
                </a:solidFill>
                <a:latin typeface="Calibri" pitchFamily="34" charset="0"/>
                <a:ea typeface="Calibri" pitchFamily="34" charset="-122"/>
                <a:cs typeface="Calibri" pitchFamily="34" charset="-120"/>
              </a:rPr>
              <a:t>2f Now practise the five mini-conversations with a partner!</a:t>
            </a:r>
            <a:endParaRPr lang="en-US" sz="1200" dirty="0"/>
          </a:p>
        </p:txBody>
      </p:sp>
      <p:sp>
        <p:nvSpPr>
          <p:cNvPr id="21" name="pageTag_144"/>
          <p:cNvSpPr txBox="1"/>
          <p:nvPr/>
        </p:nvSpPr>
        <p:spPr>
          <a:xfrm>
            <a:off x="320040" y="4773168"/>
            <a:ext cx="6720840" cy="246888"/>
          </a:xfrm>
          <a:prstGeom prst="rect">
            <a:avLst/>
          </a:prstGeom>
          <a:solidFill>
            <a:srgbClr val="FFFFFF"/>
          </a:solidFill>
          <a:ln/>
        </p:spPr>
        <p:txBody>
          <a:bodyPr wrap="square" lIns="25400" tIns="25400" rIns="25400" bIns="25400" rtlCol="0" anchor="ctr"/>
          <a:lstStyle/>
          <a:p>
            <a:pPr indent="0" marL="0">
              <a:buNone/>
            </a:pPr>
            <a:r>
              <a:rPr lang="en-US" sz="1050" dirty="0">
                <a:solidFill>
                  <a:srgbClr val="334155"/>
                </a:solidFill>
                <a:latin typeface="Calibri" pitchFamily="34" charset="0"/>
                <a:ea typeface="Calibri" pitchFamily="34" charset="-122"/>
                <a:cs typeface="Calibri" pitchFamily="34" charset="-120"/>
              </a:rPr>
              <a:t>📖 Teacher: Student's Book p.54 · 2e, 2f · video / audio 5.26</a:t>
            </a:r>
            <a:endParaRPr lang="en-US" sz="1050" dirty="0"/>
          </a:p>
        </p:txBody>
      </p:sp>
    </p:spTree>
  </p:cSld>
  <p:clrMapOvr>
    <a:masterClrMapping/>
  </p:clrMapOvr>
  <p:transition spd="med">
    <p:push dir="l"/>
  </p:transition>
  <p:timing>
    <p:tnLst>
      <p:par>
        <p:cTn id="1" dur="indefinite" restart="never" nodeType="tmRoot">
          <p:childTnLst>
            <p:seq concurrent="1" nextAc="seek">
              <p:cTn id="3" restart="whenNotActive" fill="hold" evtFilter="cancelBubble" nodeType="interactiveSeq">
                <p:stCondLst>
                  <p:cond evt="onClick" delay="0">
                    <p:tgtEl>
                      <p:spTgt spid="12"/>
                    </p:tgtEl>
                  </p:cond>
                </p:stCondLst>
                <p:endSync evt="end" delay="0">
                  <p:rtn val="all"/>
                </p:endSync>
                <p:childTnLst>
                  <p:par>
                    <p:cTn id="4" fill="hold">
                      <p:stCondLst>
                        <p:cond delay="0"/>
                      </p:stCondLst>
                      <p:childTnLst>
                        <p:par>
                          <p:cTn id="5" fill="hold">
                            <p:stCondLst>
                              <p:cond delay="0"/>
                            </p:stCondLst>
                            <p:childTnLst>
                              <p:par>
                                <p:cTn id="6" presetID="2" presetClass="mediacall" presetSubtype="0" fill="hold" nodeType="clickEffect">
                                  <p:stCondLst>
                                    <p:cond delay="0"/>
                                  </p:stCondLst>
                                  <p:childTnLst>
                                    <p:cmd type="call" cmd="togglePause">
                                      <p:cBhvr>
                                        <p:cTn id="7" dur="1" fill="hold"/>
                                        <p:tgtEl>
                                          <p:spTgt spid="12"/>
                                        </p:tgtEl>
                                      </p:cBhvr>
                                    </p:cmd>
                                  </p:childTnLst>
                                </p:cTn>
                              </p:par>
                            </p:childTnLst>
                          </p:cTn>
                        </p:par>
                      </p:childTnLst>
                    </p:cTn>
                  </p:par>
                </p:childTnLst>
              </p:cTn>
              <p:nextCondLst>
                <p:cond evt="onClick" delay="0">
                  <p:tgtEl>
                    <p:spTgt spid="12"/>
                  </p:tgtEl>
                </p:cond>
              </p:nextCondLst>
            </p:seq>
            <p:video>
              <p:cMediaNode vol="80000">
                <p:cTn id="8" fill="hold" display="0">
                  <p:stCondLst>
                    <p:cond delay="indefinite"/>
                  </p:stCondLst>
                </p:cTn>
                <p:tgtEl>
                  <p:spTgt spid="12"/>
                </p:tgtEl>
              </p:cMediaNode>
            </p:video>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name="Slide 9">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levelFrame_145"/>
          <p:cNvSpPr/>
          <p:nvPr/>
        </p:nvSpPr>
        <p:spPr>
          <a:xfrm>
            <a:off x="54864" y="54864"/>
            <a:ext cx="9034272" cy="5033772"/>
          </a:xfrm>
          <a:prstGeom prst="rect">
            <a:avLst/>
          </a:prstGeom>
          <a:ln w="114300">
            <a:solidFill>
              <a:srgbClr val="A8E6B4"/>
            </a:solidFill>
            <a:prstDash val="solid"/>
          </a:ln>
        </p:spPr>
      </p:sp>
      <p:pic>
        <p:nvPicPr>
          <p:cNvPr id="4" name="logo_146" descr="London Language School logo">    </p:cNvPr>
          <p:cNvPicPr>
            <a:picLocks noChangeAspect="1"/>
          </p:cNvPicPr>
          <p:nvPr/>
        </p:nvPicPr>
        <p:blipFill>
          <a:blip r:embed="rId2"/>
          <a:stretch>
            <a:fillRect/>
          </a:stretch>
        </p:blipFill>
        <p:spPr>
          <a:xfrm>
            <a:off x="8275320" y="182880"/>
            <a:ext cx="585216" cy="585216"/>
          </a:xfrm>
          <a:prstGeom prst="rect">
            <a:avLst/>
          </a:prstGeom>
        </p:spPr>
      </p:pic>
      <p:sp>
        <p:nvSpPr>
          <p:cNvPr id="5" name="objective_147"/>
          <p:cNvSpPr txBox="1"/>
          <p:nvPr/>
        </p:nvSpPr>
        <p:spPr>
          <a:xfrm>
            <a:off x="320040" y="182880"/>
            <a:ext cx="4754880" cy="365760"/>
          </a:xfrm>
          <a:prstGeom prst="roundRect">
            <a:avLst>
              <a:gd name="adj" fmla="val 20000"/>
            </a:avLst>
          </a:prstGeom>
          <a:solidFill>
            <a:srgbClr val="062F67"/>
          </a:solidFill>
          <a:ln w="31750">
            <a:solidFill>
              <a:srgbClr val="111111"/>
            </a:solidFill>
          </a:ln>
        </p:spPr>
        <p:txBody>
          <a:bodyPr wrap="square" lIns="101600" tIns="101600" rIns="101600" bIns="101600" rtlCol="0" anchor="ctr"/>
          <a:lstStyle/>
          <a:p>
            <a:pPr indent="0" marL="0">
              <a:buNone/>
            </a:pPr>
            <a:r>
              <a:rPr lang="en-US" sz="900" dirty="0">
                <a:solidFill>
                  <a:srgbClr val="FFFFFF"/>
                </a:solidFill>
                <a:latin typeface="Arial Black" pitchFamily="34" charset="0"/>
                <a:ea typeface="Arial Black" pitchFamily="34" charset="-122"/>
                <a:cs typeface="Arial Black" pitchFamily="34" charset="-120"/>
              </a:rPr>
              <a:t>PRACTICAL ENGLISH · How to ask</a:t>
            </a:r>
            <a:endParaRPr lang="en-US" sz="900" dirty="0"/>
          </a:p>
        </p:txBody>
      </p:sp>
      <p:sp>
        <p:nvSpPr>
          <p:cNvPr id="6" name="timer_148"/>
          <p:cNvSpPr txBox="1"/>
          <p:nvPr/>
        </p:nvSpPr>
        <p:spPr>
          <a:xfrm>
            <a:off x="7086600" y="219456"/>
            <a:ext cx="1005840" cy="310896"/>
          </a:xfrm>
          <a:prstGeom prst="roundRect">
            <a:avLst>
              <a:gd name="adj" fmla="val 23529"/>
            </a:avLst>
          </a:prstGeom>
          <a:solidFill>
            <a:srgbClr val="FFFFFF"/>
          </a:solidFill>
          <a:ln w="25400">
            <a:solidFill>
              <a:srgbClr val="6D3FC0"/>
            </a:solidFill>
          </a:ln>
        </p:spPr>
        <p:txBody>
          <a:bodyPr wrap="square" lIns="0" tIns="0" rIns="0" bIns="0" rtlCol="0" anchor="ctr"/>
          <a:lstStyle/>
          <a:p>
            <a:pPr algn="ctr" indent="0" marL="0">
              <a:buNone/>
            </a:pPr>
            <a:r>
              <a:rPr lang="en-US" sz="1200" b="1" dirty="0">
                <a:solidFill>
                  <a:srgbClr val="6D3FC0"/>
                </a:solidFill>
                <a:latin typeface="Calibri" pitchFamily="34" charset="0"/>
                <a:ea typeface="Calibri" pitchFamily="34" charset="-122"/>
                <a:cs typeface="Calibri" pitchFamily="34" charset="-120"/>
              </a:rPr>
              <a:t>⏱ 3 min</a:t>
            </a:r>
            <a:endParaRPr lang="en-US" sz="1200" dirty="0"/>
          </a:p>
        </p:txBody>
      </p:sp>
      <p:sp>
        <p:nvSpPr>
          <p:cNvPr id="7" name="footer_149"/>
          <p:cNvSpPr txBox="1"/>
          <p:nvPr/>
        </p:nvSpPr>
        <p:spPr>
          <a:xfrm>
            <a:off x="7132320" y="4818888"/>
            <a:ext cx="1737360" cy="219456"/>
          </a:xfrm>
          <a:prstGeom prst="rect">
            <a:avLst/>
          </a:prstGeom>
          <a:solidFill>
            <a:srgbClr val="FFFFFF"/>
          </a:solidFill>
          <a:ln/>
        </p:spPr>
        <p:txBody>
          <a:bodyPr wrap="square" lIns="0" tIns="0" rIns="0" bIns="0" rtlCol="0" anchor="ctr"/>
          <a:lstStyle/>
          <a:p>
            <a:pPr algn="ctr" indent="0" marL="0">
              <a:buNone/>
            </a:pPr>
            <a:r>
              <a:rPr lang="en-US" sz="1000" dirty="0">
                <a:solidFill>
                  <a:srgbClr val="334155"/>
                </a:solidFill>
                <a:latin typeface="Calibri" pitchFamily="34" charset="0"/>
                <a:ea typeface="Calibri" pitchFamily="34" charset="-122"/>
                <a:cs typeface="Calibri" pitchFamily="34" charset="-120"/>
              </a:rPr>
              <a:t>PE3 · Part 1</a:t>
            </a:r>
            <a:endParaRPr lang="en-US" sz="1000" dirty="0"/>
          </a:p>
        </p:txBody>
      </p:sp>
      <p:sp>
        <p:nvSpPr>
          <p:cNvPr id="8" name="title_150"/>
          <p:cNvSpPr txBox="1"/>
          <p:nvPr/>
        </p:nvSpPr>
        <p:spPr>
          <a:xfrm rot="-120000">
            <a:off x="320040" y="676656"/>
            <a:ext cx="3108960" cy="530352"/>
          </a:xfrm>
          <a:prstGeom prst="rect">
            <a:avLst/>
          </a:prstGeom>
          <a:solidFill>
            <a:srgbClr val="FFD84D"/>
          </a:solidFill>
          <a:ln w="31750">
            <a:solidFill>
              <a:srgbClr val="111111"/>
            </a:solidFill>
          </a:ln>
          <a:effectLst>
            <a:outerShdw sx="100000" sy="100000" kx="0" ky="0" algn="bl" rotWithShape="0" blurRad="101600" dist="38100" dir="2700000">
              <a:srgbClr val="000000">
                <a:alpha val="35000"/>
              </a:srgbClr>
            </a:outerShdw>
          </a:effectLst>
        </p:spPr>
        <p:txBody>
          <a:bodyPr wrap="square" lIns="127000" tIns="127000" rIns="127000" bIns="127000" rtlCol="0" anchor="ctr"/>
          <a:lstStyle/>
          <a:p>
            <a:pPr indent="0" marL="0">
              <a:buNone/>
            </a:pPr>
            <a:r>
              <a:rPr lang="en-US" sz="1500" dirty="0">
                <a:solidFill>
                  <a:srgbClr val="111111"/>
                </a:solidFill>
                <a:latin typeface="Arial Black" pitchFamily="34" charset="0"/>
                <a:ea typeface="Arial Black" pitchFamily="34" charset="-122"/>
                <a:cs typeface="Arial Black" pitchFamily="34" charset="-120"/>
              </a:rPr>
              <a:t>Asking politely</a:t>
            </a:r>
            <a:endParaRPr lang="en-US" sz="1500" dirty="0"/>
          </a:p>
        </p:txBody>
      </p:sp>
      <p:sp>
        <p:nvSpPr>
          <p:cNvPr id="9" name="rh_151"/>
          <p:cNvSpPr txBox="1"/>
          <p:nvPr/>
        </p:nvSpPr>
        <p:spPr>
          <a:xfrm>
            <a:off x="320040" y="1371600"/>
            <a:ext cx="2749296" cy="384048"/>
          </a:xfrm>
          <a:prstGeom prst="rect">
            <a:avLst/>
          </a:prstGeom>
          <a:solidFill>
            <a:srgbClr val="48BDF2"/>
          </a:solidFill>
          <a:ln w="19050">
            <a:solidFill>
              <a:srgbClr val="111111"/>
            </a:solidFill>
          </a:ln>
        </p:spPr>
        <p:txBody>
          <a:bodyPr wrap="square" lIns="25400" tIns="25400" rIns="25400" bIns="25400" rtlCol="0" anchor="ctr"/>
          <a:lstStyle/>
          <a:p>
            <a:pPr algn="ctr" indent="0" marL="0">
              <a:buNone/>
            </a:pPr>
            <a:r>
              <a:rPr lang="en-US" sz="1300" dirty="0">
                <a:solidFill>
                  <a:srgbClr val="FFFFFF"/>
                </a:solidFill>
                <a:latin typeface="Arial Black" pitchFamily="34" charset="0"/>
                <a:ea typeface="Arial Black" pitchFamily="34" charset="-122"/>
                <a:cs typeface="Arial Black" pitchFamily="34" charset="-120"/>
              </a:rPr>
              <a:t>Permission (I want to…)</a:t>
            </a:r>
            <a:endParaRPr lang="en-US" sz="1300" dirty="0"/>
          </a:p>
        </p:txBody>
      </p:sp>
      <p:sp>
        <p:nvSpPr>
          <p:cNvPr id="10" name="rb_152"/>
          <p:cNvSpPr txBox="1"/>
          <p:nvPr/>
        </p:nvSpPr>
        <p:spPr>
          <a:xfrm>
            <a:off x="320040" y="1810512"/>
            <a:ext cx="2749296" cy="2157984"/>
          </a:xfrm>
          <a:prstGeom prst="rect">
            <a:avLst/>
          </a:prstGeom>
          <a:solidFill>
            <a:srgbClr val="FFFFFF"/>
          </a:solidFill>
          <a:ln w="19050">
            <a:solidFill>
              <a:srgbClr val="111111"/>
            </a:solidFill>
          </a:ln>
        </p:spPr>
        <p:txBody>
          <a:bodyPr wrap="square" lIns="101600" tIns="101600" rIns="101600" bIns="101600" rtlCol="0" anchor="t"/>
          <a:lstStyle/>
          <a:p>
            <a:pPr indent="0" marL="0">
              <a:spcAft>
                <a:spcPts val="400"/>
              </a:spcAft>
              <a:buNone/>
            </a:pPr>
            <a:r>
              <a:rPr lang="en-US" sz="1500" dirty="0">
                <a:solidFill>
                  <a:srgbClr val="111111"/>
                </a:solidFill>
                <a:latin typeface="Calibri" pitchFamily="34" charset="0"/>
                <a:ea typeface="Calibri" pitchFamily="34" charset="-122"/>
                <a:cs typeface="Calibri" pitchFamily="34" charset="-120"/>
              </a:rPr>
              <a:t>Can I…?</a:t>
            </a:r>
            <a:endParaRPr lang="en-US" sz="1500" dirty="0"/>
          </a:p>
          <a:p>
            <a:pPr indent="0" marL="0">
              <a:spcAft>
                <a:spcPts val="400"/>
              </a:spcAft>
              <a:buNone/>
            </a:pPr>
            <a:r>
              <a:rPr lang="en-US" sz="1500" dirty="0">
                <a:solidFill>
                  <a:srgbClr val="111111"/>
                </a:solidFill>
                <a:latin typeface="Calibri" pitchFamily="34" charset="0"/>
                <a:ea typeface="Calibri" pitchFamily="34" charset="-122"/>
                <a:cs typeface="Calibri" pitchFamily="34" charset="-120"/>
              </a:rPr>
              <a:t>Is it OK if I…?</a:t>
            </a:r>
            <a:endParaRPr lang="en-US" sz="1500" dirty="0"/>
          </a:p>
          <a:p>
            <a:pPr indent="0" marL="0">
              <a:spcAft>
                <a:spcPts val="400"/>
              </a:spcAft>
              <a:buNone/>
            </a:pPr>
            <a:r>
              <a:rPr lang="en-US" sz="1500" dirty="0">
                <a:solidFill>
                  <a:srgbClr val="111111"/>
                </a:solidFill>
                <a:latin typeface="Calibri" pitchFamily="34" charset="0"/>
                <a:ea typeface="Calibri" pitchFamily="34" charset="-122"/>
                <a:cs typeface="Calibri" pitchFamily="34" charset="-120"/>
              </a:rPr>
              <a:t>Do you mind if I join you?</a:t>
            </a:r>
            <a:endParaRPr lang="en-US" sz="1500" dirty="0"/>
          </a:p>
          <a:p>
            <a:pPr indent="0" marL="0">
              <a:spcAft>
                <a:spcPts val="400"/>
              </a:spcAft>
              <a:buNone/>
            </a:pPr>
            <a:r>
              <a:rPr lang="en-US" sz="1150" i="1" dirty="0">
                <a:solidFill>
                  <a:srgbClr val="6D3FC0"/>
                </a:solidFill>
                <a:latin typeface="Calibri" pitchFamily="34" charset="0"/>
                <a:ea typeface="Calibri" pitchFamily="34" charset="-122"/>
                <a:cs typeface="Calibri" pitchFamily="34" charset="-120"/>
              </a:rPr>
              <a:t>+ present simple</a:t>
            </a:r>
            <a:endParaRPr lang="en-US" sz="1500" dirty="0"/>
          </a:p>
        </p:txBody>
      </p:sp>
      <p:sp>
        <p:nvSpPr>
          <p:cNvPr id="11" name="rh_153"/>
          <p:cNvSpPr txBox="1"/>
          <p:nvPr/>
        </p:nvSpPr>
        <p:spPr>
          <a:xfrm>
            <a:off x="3197352" y="1371600"/>
            <a:ext cx="2749296" cy="384048"/>
          </a:xfrm>
          <a:prstGeom prst="rect">
            <a:avLst/>
          </a:prstGeom>
          <a:solidFill>
            <a:srgbClr val="EF2F2F"/>
          </a:solidFill>
          <a:ln w="19050">
            <a:solidFill>
              <a:srgbClr val="111111"/>
            </a:solidFill>
          </a:ln>
        </p:spPr>
        <p:txBody>
          <a:bodyPr wrap="square" lIns="25400" tIns="25400" rIns="25400" bIns="25400" rtlCol="0" anchor="ctr"/>
          <a:lstStyle/>
          <a:p>
            <a:pPr algn="ctr" indent="0" marL="0">
              <a:buNone/>
            </a:pPr>
            <a:r>
              <a:rPr lang="en-US" sz="1300" dirty="0">
                <a:solidFill>
                  <a:srgbClr val="FFFFFF"/>
                </a:solidFill>
                <a:latin typeface="Arial Black" pitchFamily="34" charset="0"/>
                <a:ea typeface="Arial Black" pitchFamily="34" charset="-122"/>
                <a:cs typeface="Arial Black" pitchFamily="34" charset="-120"/>
              </a:rPr>
              <a:t>Requests (you do it)</a:t>
            </a:r>
            <a:endParaRPr lang="en-US" sz="1300" dirty="0"/>
          </a:p>
        </p:txBody>
      </p:sp>
      <p:sp>
        <p:nvSpPr>
          <p:cNvPr id="12" name="rb_154"/>
          <p:cNvSpPr txBox="1"/>
          <p:nvPr/>
        </p:nvSpPr>
        <p:spPr>
          <a:xfrm>
            <a:off x="3197352" y="1810512"/>
            <a:ext cx="2749296" cy="2157984"/>
          </a:xfrm>
          <a:prstGeom prst="rect">
            <a:avLst/>
          </a:prstGeom>
          <a:solidFill>
            <a:srgbClr val="FFFFFF"/>
          </a:solidFill>
          <a:ln w="19050">
            <a:solidFill>
              <a:srgbClr val="111111"/>
            </a:solidFill>
          </a:ln>
        </p:spPr>
        <p:txBody>
          <a:bodyPr wrap="square" lIns="101600" tIns="101600" rIns="101600" bIns="101600" rtlCol="0" anchor="t"/>
          <a:lstStyle/>
          <a:p>
            <a:pPr indent="0" marL="0">
              <a:spcAft>
                <a:spcPts val="400"/>
              </a:spcAft>
              <a:buNone/>
            </a:pPr>
            <a:r>
              <a:rPr lang="en-US" sz="1500" dirty="0">
                <a:solidFill>
                  <a:srgbClr val="111111"/>
                </a:solidFill>
                <a:latin typeface="Calibri" pitchFamily="34" charset="0"/>
                <a:ea typeface="Calibri" pitchFamily="34" charset="-122"/>
                <a:cs typeface="Calibri" pitchFamily="34" charset="-120"/>
              </a:rPr>
              <a:t>Can you pass the sugar?</a:t>
            </a:r>
            <a:endParaRPr lang="en-US" sz="1500" dirty="0"/>
          </a:p>
          <a:p>
            <a:pPr indent="0" marL="0">
              <a:spcAft>
                <a:spcPts val="400"/>
              </a:spcAft>
              <a:buNone/>
            </a:pPr>
            <a:r>
              <a:rPr lang="en-US" sz="1500" dirty="0">
                <a:solidFill>
                  <a:srgbClr val="111111"/>
                </a:solidFill>
                <a:latin typeface="Calibri" pitchFamily="34" charset="0"/>
                <a:ea typeface="Calibri" pitchFamily="34" charset="-122"/>
                <a:cs typeface="Calibri" pitchFamily="34" charset="-120"/>
              </a:rPr>
              <a:t>Could you do me a favour?</a:t>
            </a:r>
            <a:endParaRPr lang="en-US" sz="1500" dirty="0"/>
          </a:p>
          <a:p>
            <a:pPr indent="0" marL="0">
              <a:spcAft>
                <a:spcPts val="400"/>
              </a:spcAft>
              <a:buNone/>
            </a:pPr>
            <a:r>
              <a:rPr lang="en-US" sz="1500" dirty="0">
                <a:solidFill>
                  <a:srgbClr val="111111"/>
                </a:solidFill>
                <a:latin typeface="Calibri" pitchFamily="34" charset="0"/>
                <a:ea typeface="Calibri" pitchFamily="34" charset="-122"/>
                <a:cs typeface="Calibri" pitchFamily="34" charset="-120"/>
              </a:rPr>
              <a:t>Do you think you could…?</a:t>
            </a:r>
            <a:endParaRPr lang="en-US" sz="1500" dirty="0"/>
          </a:p>
          <a:p>
            <a:pPr indent="0" marL="0">
              <a:spcAft>
                <a:spcPts val="400"/>
              </a:spcAft>
              <a:buNone/>
            </a:pPr>
            <a:r>
              <a:rPr lang="en-US" sz="1500" dirty="0">
                <a:solidFill>
                  <a:srgbClr val="111111"/>
                </a:solidFill>
                <a:latin typeface="Calibri" pitchFamily="34" charset="0"/>
                <a:ea typeface="Calibri" pitchFamily="34" charset="-122"/>
                <a:cs typeface="Calibri" pitchFamily="34" charset="-120"/>
              </a:rPr>
              <a:t>Would you mind meeting him?</a:t>
            </a:r>
            <a:endParaRPr lang="en-US" sz="1500" dirty="0"/>
          </a:p>
          <a:p>
            <a:pPr indent="0" marL="0">
              <a:spcAft>
                <a:spcPts val="400"/>
              </a:spcAft>
              <a:buNone/>
            </a:pPr>
            <a:r>
              <a:rPr lang="en-US" sz="1150" i="1" dirty="0">
                <a:solidFill>
                  <a:srgbClr val="6D3FC0"/>
                </a:solidFill>
                <a:latin typeface="Calibri" pitchFamily="34" charset="0"/>
                <a:ea typeface="Calibri" pitchFamily="34" charset="-122"/>
                <a:cs typeface="Calibri" pitchFamily="34" charset="-120"/>
              </a:rPr>
              <a:t>Would you mind + -ing</a:t>
            </a:r>
            <a:endParaRPr lang="en-US" sz="1500" dirty="0"/>
          </a:p>
        </p:txBody>
      </p:sp>
      <p:sp>
        <p:nvSpPr>
          <p:cNvPr id="13" name="rh_155"/>
          <p:cNvSpPr txBox="1"/>
          <p:nvPr/>
        </p:nvSpPr>
        <p:spPr>
          <a:xfrm>
            <a:off x="6074664" y="1371600"/>
            <a:ext cx="2749296" cy="384048"/>
          </a:xfrm>
          <a:prstGeom prst="rect">
            <a:avLst/>
          </a:prstGeom>
          <a:solidFill>
            <a:srgbClr val="1FA463"/>
          </a:solidFill>
          <a:ln w="19050">
            <a:solidFill>
              <a:srgbClr val="111111"/>
            </a:solidFill>
          </a:ln>
        </p:spPr>
        <p:txBody>
          <a:bodyPr wrap="square" lIns="25400" tIns="25400" rIns="25400" bIns="25400" rtlCol="0" anchor="ctr"/>
          <a:lstStyle/>
          <a:p>
            <a:pPr algn="ctr" indent="0" marL="0">
              <a:buNone/>
            </a:pPr>
            <a:r>
              <a:rPr lang="en-US" sz="1300" dirty="0">
                <a:solidFill>
                  <a:srgbClr val="FFFFFF"/>
                </a:solidFill>
                <a:latin typeface="Arial Black" pitchFamily="34" charset="0"/>
                <a:ea typeface="Arial Black" pitchFamily="34" charset="-122"/>
                <a:cs typeface="Arial Black" pitchFamily="34" charset="-120"/>
              </a:rPr>
              <a:t>Answers = YES</a:t>
            </a:r>
            <a:endParaRPr lang="en-US" sz="1300" dirty="0"/>
          </a:p>
        </p:txBody>
      </p:sp>
      <p:sp>
        <p:nvSpPr>
          <p:cNvPr id="14" name="rb_156"/>
          <p:cNvSpPr txBox="1"/>
          <p:nvPr/>
        </p:nvSpPr>
        <p:spPr>
          <a:xfrm>
            <a:off x="6074664" y="1810512"/>
            <a:ext cx="2749296" cy="2157984"/>
          </a:xfrm>
          <a:prstGeom prst="rect">
            <a:avLst/>
          </a:prstGeom>
          <a:solidFill>
            <a:srgbClr val="FFFFFF"/>
          </a:solidFill>
          <a:ln w="19050">
            <a:solidFill>
              <a:srgbClr val="111111"/>
            </a:solidFill>
          </a:ln>
        </p:spPr>
        <p:txBody>
          <a:bodyPr wrap="square" lIns="101600" tIns="101600" rIns="101600" bIns="101600" rtlCol="0" anchor="t"/>
          <a:lstStyle/>
          <a:p>
            <a:pPr indent="0" marL="0">
              <a:spcAft>
                <a:spcPts val="400"/>
              </a:spcAft>
              <a:buNone/>
            </a:pPr>
            <a:r>
              <a:rPr lang="en-US" sz="1500" dirty="0">
                <a:solidFill>
                  <a:srgbClr val="111111"/>
                </a:solidFill>
                <a:latin typeface="Calibri" pitchFamily="34" charset="0"/>
                <a:ea typeface="Calibri" pitchFamily="34" charset="-122"/>
                <a:cs typeface="Calibri" pitchFamily="34" charset="-120"/>
              </a:rPr>
              <a:t>Sure. / No problem.</a:t>
            </a:r>
            <a:endParaRPr lang="en-US" sz="1500" dirty="0"/>
          </a:p>
          <a:p>
            <a:pPr indent="0" marL="0">
              <a:spcAft>
                <a:spcPts val="400"/>
              </a:spcAft>
              <a:buNone/>
            </a:pPr>
            <a:r>
              <a:rPr lang="en-US" sz="1500" dirty="0">
                <a:solidFill>
                  <a:srgbClr val="111111"/>
                </a:solidFill>
                <a:latin typeface="Calibri" pitchFamily="34" charset="0"/>
                <a:ea typeface="Calibri" pitchFamily="34" charset="-122"/>
                <a:cs typeface="Calibri" pitchFamily="34" charset="-120"/>
              </a:rPr>
              <a:t>Do you mind…? / Would you mind…? → Of course not. / Not at all.</a:t>
            </a:r>
            <a:endParaRPr lang="en-US" sz="1500" dirty="0"/>
          </a:p>
          <a:p>
            <a:pPr indent="0" marL="0">
              <a:spcAft>
                <a:spcPts val="400"/>
              </a:spcAft>
              <a:buNone/>
            </a:pPr>
            <a:r>
              <a:rPr lang="en-US" sz="1150" i="1" dirty="0">
                <a:solidFill>
                  <a:srgbClr val="6D3FC0"/>
                </a:solidFill>
                <a:latin typeface="Calibri" pitchFamily="34" charset="0"/>
                <a:ea typeface="Calibri" pitchFamily="34" charset="-122"/>
                <a:cs typeface="Calibri" pitchFamily="34" charset="-120"/>
              </a:rPr>
              <a:t>'mind' = dare fastidio: NO = va bene!</a:t>
            </a:r>
            <a:endParaRPr lang="en-US" sz="1500" dirty="0"/>
          </a:p>
        </p:txBody>
      </p:sp>
      <p:sp>
        <p:nvSpPr>
          <p:cNvPr id="15" name="watch_157"/>
          <p:cNvSpPr txBox="1"/>
          <p:nvPr/>
        </p:nvSpPr>
        <p:spPr>
          <a:xfrm>
            <a:off x="320040" y="4133088"/>
            <a:ext cx="8503920" cy="530352"/>
          </a:xfrm>
          <a:prstGeom prst="rect">
            <a:avLst/>
          </a:prstGeom>
          <a:solidFill>
            <a:srgbClr val="FFE4E6"/>
          </a:solidFill>
          <a:ln w="19050">
            <a:solidFill>
              <a:srgbClr val="111111"/>
            </a:solidFill>
          </a:ln>
        </p:spPr>
        <p:txBody>
          <a:bodyPr wrap="square" lIns="101600" tIns="101600" rIns="101600" bIns="101600" rtlCol="0" anchor="ctr"/>
          <a:lstStyle/>
          <a:p>
            <a:pPr indent="0" marL="0">
              <a:buNone/>
            </a:pPr>
            <a:r>
              <a:rPr lang="en-US" sz="1000" b="1" dirty="0">
                <a:solidFill>
                  <a:srgbClr val="EF2F2F"/>
                </a:solidFill>
                <a:latin typeface="Calibri" pitchFamily="34" charset="0"/>
                <a:ea typeface="Calibri" pitchFamily="34" charset="-122"/>
                <a:cs typeface="Calibri" pitchFamily="34" charset="-120"/>
              </a:rPr>
              <a:t>Watch out!  </a:t>
            </a:r>
            <a:pPr indent="0" marL="0">
              <a:buNone/>
            </a:pPr>
            <a:r>
              <a:rPr lang="en-US" sz="1000" dirty="0">
                <a:solidFill>
                  <a:srgbClr val="111111"/>
                </a:solidFill>
                <a:latin typeface="Calibri" pitchFamily="34" charset="0"/>
                <a:ea typeface="Calibri" pitchFamily="34" charset="-122"/>
                <a:cs typeface="Calibri" pitchFamily="34" charset="-120"/>
              </a:rPr>
              <a:t>Do you mind if I sit here? – ✗ Yes! (= it's a problem!) → ✓ Of course not.   More polite: Could you… / Would you mind… / Do you think you could…</a:t>
            </a:r>
            <a:endParaRPr lang="en-US" sz="1000" dirty="0"/>
          </a:p>
        </p:txBody>
      </p:sp>
      <p:sp>
        <p:nvSpPr>
          <p:cNvPr id="16" name="pageTag_158"/>
          <p:cNvSpPr txBox="1"/>
          <p:nvPr/>
        </p:nvSpPr>
        <p:spPr>
          <a:xfrm>
            <a:off x="320040" y="4773168"/>
            <a:ext cx="6720840" cy="246888"/>
          </a:xfrm>
          <a:prstGeom prst="rect">
            <a:avLst/>
          </a:prstGeom>
          <a:solidFill>
            <a:srgbClr val="FFFFFF"/>
          </a:solidFill>
          <a:ln/>
        </p:spPr>
        <p:txBody>
          <a:bodyPr wrap="square" lIns="25400" tIns="25400" rIns="25400" bIns="25400" rtlCol="0" anchor="ctr"/>
          <a:lstStyle/>
          <a:p>
            <a:pPr indent="0" marL="0">
              <a:buNone/>
            </a:pPr>
            <a:r>
              <a:rPr lang="en-US" sz="1050" dirty="0">
                <a:solidFill>
                  <a:srgbClr val="334155"/>
                </a:solidFill>
                <a:latin typeface="Calibri" pitchFamily="34" charset="0"/>
                <a:ea typeface="Calibri" pitchFamily="34" charset="-122"/>
                <a:cs typeface="Calibri" pitchFamily="34" charset="-120"/>
              </a:rPr>
              <a:t>📖 Teacher: Student's Book p.54 · 2d</a:t>
            </a:r>
            <a:endParaRPr lang="en-US" sz="1050" dirty="0"/>
          </a:p>
        </p:txBody>
      </p:sp>
    </p:spTree>
  </p:cSld>
  <p:clrMapOvr>
    <a:masterClrMapping/>
  </p:clrMapOvr>
  <p:transition spd="med">
    <p:push dir="l"/>
  </p:transition>
</p:sld>
</file>

<file path=ppt/slides/slide10.xml><?xml version="1.0" encoding="utf-8"?>
<p:sld xmlns:a="http://schemas.openxmlformats.org/drawingml/2006/main" xmlns:r="http://schemas.openxmlformats.org/officeDocument/2006/relationships" xmlns:p="http://schemas.openxmlformats.org/presentationml/2006/main">
  <p:cSld name="Slide 10">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levelFrame_159"/>
          <p:cNvSpPr/>
          <p:nvPr/>
        </p:nvSpPr>
        <p:spPr>
          <a:xfrm>
            <a:off x="54864" y="54864"/>
            <a:ext cx="9034272" cy="5033772"/>
          </a:xfrm>
          <a:prstGeom prst="rect">
            <a:avLst/>
          </a:prstGeom>
          <a:ln w="114300">
            <a:solidFill>
              <a:srgbClr val="A8E6B4"/>
            </a:solidFill>
            <a:prstDash val="solid"/>
          </a:ln>
        </p:spPr>
      </p:sp>
      <p:pic>
        <p:nvPicPr>
          <p:cNvPr id="4" name="logo_160" descr="London Language School logo">    </p:cNvPr>
          <p:cNvPicPr>
            <a:picLocks noChangeAspect="1"/>
          </p:cNvPicPr>
          <p:nvPr/>
        </p:nvPicPr>
        <p:blipFill>
          <a:blip r:embed="rId2"/>
          <a:stretch>
            <a:fillRect/>
          </a:stretch>
        </p:blipFill>
        <p:spPr>
          <a:xfrm>
            <a:off x="8275320" y="182880"/>
            <a:ext cx="585216" cy="585216"/>
          </a:xfrm>
          <a:prstGeom prst="rect">
            <a:avLst/>
          </a:prstGeom>
        </p:spPr>
      </p:pic>
      <p:sp>
        <p:nvSpPr>
          <p:cNvPr id="5" name="objective_161"/>
          <p:cNvSpPr txBox="1"/>
          <p:nvPr/>
        </p:nvSpPr>
        <p:spPr>
          <a:xfrm>
            <a:off x="320040" y="182880"/>
            <a:ext cx="4754880" cy="365760"/>
          </a:xfrm>
          <a:prstGeom prst="roundRect">
            <a:avLst>
              <a:gd name="adj" fmla="val 20000"/>
            </a:avLst>
          </a:prstGeom>
          <a:solidFill>
            <a:srgbClr val="062F67"/>
          </a:solidFill>
          <a:ln w="31750">
            <a:solidFill>
              <a:srgbClr val="111111"/>
            </a:solidFill>
          </a:ln>
        </p:spPr>
        <p:txBody>
          <a:bodyPr wrap="square" lIns="101600" tIns="101600" rIns="101600" bIns="101600" rtlCol="0" anchor="ctr"/>
          <a:lstStyle/>
          <a:p>
            <a:pPr indent="0" marL="0">
              <a:buNone/>
            </a:pPr>
            <a:r>
              <a:rPr lang="en-US" sz="900" dirty="0">
                <a:solidFill>
                  <a:srgbClr val="FFFFFF"/>
                </a:solidFill>
                <a:latin typeface="Arial Black" pitchFamily="34" charset="0"/>
                <a:ea typeface="Arial Black" pitchFamily="34" charset="-122"/>
                <a:cs typeface="Arial Black" pitchFamily="34" charset="-120"/>
              </a:rPr>
              <a:t>SPEAKING · Communication p.107</a:t>
            </a:r>
            <a:endParaRPr lang="en-US" sz="900" dirty="0"/>
          </a:p>
        </p:txBody>
      </p:sp>
      <p:sp>
        <p:nvSpPr>
          <p:cNvPr id="6" name="timer_162"/>
          <p:cNvSpPr txBox="1"/>
          <p:nvPr/>
        </p:nvSpPr>
        <p:spPr>
          <a:xfrm>
            <a:off x="7086600" y="219456"/>
            <a:ext cx="1005840" cy="310896"/>
          </a:xfrm>
          <a:prstGeom prst="roundRect">
            <a:avLst>
              <a:gd name="adj" fmla="val 23529"/>
            </a:avLst>
          </a:prstGeom>
          <a:solidFill>
            <a:srgbClr val="FFFFFF"/>
          </a:solidFill>
          <a:ln w="25400">
            <a:solidFill>
              <a:srgbClr val="6D3FC0"/>
            </a:solidFill>
          </a:ln>
        </p:spPr>
        <p:txBody>
          <a:bodyPr wrap="square" lIns="0" tIns="0" rIns="0" bIns="0" rtlCol="0" anchor="ctr"/>
          <a:lstStyle/>
          <a:p>
            <a:pPr algn="ctr" indent="0" marL="0">
              <a:buNone/>
            </a:pPr>
            <a:r>
              <a:rPr lang="en-US" sz="1200" b="1" dirty="0">
                <a:solidFill>
                  <a:srgbClr val="6D3FC0"/>
                </a:solidFill>
                <a:latin typeface="Calibri" pitchFamily="34" charset="0"/>
                <a:ea typeface="Calibri" pitchFamily="34" charset="-122"/>
                <a:cs typeface="Calibri" pitchFamily="34" charset="-120"/>
              </a:rPr>
              <a:t>⏱ 7 min</a:t>
            </a:r>
            <a:endParaRPr lang="en-US" sz="1200" dirty="0"/>
          </a:p>
        </p:txBody>
      </p:sp>
      <p:sp>
        <p:nvSpPr>
          <p:cNvPr id="7" name="footer_163"/>
          <p:cNvSpPr txBox="1"/>
          <p:nvPr/>
        </p:nvSpPr>
        <p:spPr>
          <a:xfrm>
            <a:off x="7132320" y="4818888"/>
            <a:ext cx="1737360" cy="219456"/>
          </a:xfrm>
          <a:prstGeom prst="rect">
            <a:avLst/>
          </a:prstGeom>
          <a:solidFill>
            <a:srgbClr val="FFFFFF"/>
          </a:solidFill>
          <a:ln/>
        </p:spPr>
        <p:txBody>
          <a:bodyPr wrap="square" lIns="0" tIns="0" rIns="0" bIns="0" rtlCol="0" anchor="ctr"/>
          <a:lstStyle/>
          <a:p>
            <a:pPr algn="ctr" indent="0" marL="0">
              <a:buNone/>
            </a:pPr>
            <a:r>
              <a:rPr lang="en-US" sz="1000" dirty="0">
                <a:solidFill>
                  <a:srgbClr val="334155"/>
                </a:solidFill>
                <a:latin typeface="Calibri" pitchFamily="34" charset="0"/>
                <a:ea typeface="Calibri" pitchFamily="34" charset="-122"/>
                <a:cs typeface="Calibri" pitchFamily="34" charset="-120"/>
              </a:rPr>
              <a:t>PE3 · Part 1</a:t>
            </a:r>
            <a:endParaRPr lang="en-US" sz="1000" dirty="0"/>
          </a:p>
        </p:txBody>
      </p:sp>
      <p:sp>
        <p:nvSpPr>
          <p:cNvPr id="8" name="title_164"/>
          <p:cNvSpPr txBox="1"/>
          <p:nvPr/>
        </p:nvSpPr>
        <p:spPr>
          <a:xfrm rot="-120000">
            <a:off x="320040" y="676656"/>
            <a:ext cx="4846320" cy="530352"/>
          </a:xfrm>
          <a:prstGeom prst="rect">
            <a:avLst/>
          </a:prstGeom>
          <a:solidFill>
            <a:srgbClr val="FFD84D"/>
          </a:solidFill>
          <a:ln w="31750">
            <a:solidFill>
              <a:srgbClr val="111111"/>
            </a:solidFill>
          </a:ln>
          <a:effectLst>
            <a:outerShdw sx="100000" sy="100000" kx="0" ky="0" algn="bl" rotWithShape="0" blurRad="101600" dist="38100" dir="2700000">
              <a:srgbClr val="000000">
                <a:alpha val="35000"/>
              </a:srgbClr>
            </a:outerShdw>
          </a:effectLst>
        </p:spPr>
        <p:txBody>
          <a:bodyPr wrap="square" lIns="127000" tIns="127000" rIns="127000" bIns="127000" rtlCol="0" anchor="ctr"/>
          <a:lstStyle/>
          <a:p>
            <a:pPr indent="0" marL="0">
              <a:buNone/>
            </a:pPr>
            <a:r>
              <a:rPr lang="en-US" sz="1500" dirty="0">
                <a:solidFill>
                  <a:srgbClr val="111111"/>
                </a:solidFill>
                <a:latin typeface="Arial Black" pitchFamily="34" charset="0"/>
                <a:ea typeface="Arial Black" pitchFamily="34" charset="-122"/>
                <a:cs typeface="Arial Black" pitchFamily="34" charset="-120"/>
              </a:rPr>
              <a:t>Could you do me a favour?</a:t>
            </a:r>
            <a:endParaRPr lang="en-US" sz="1500" dirty="0"/>
          </a:p>
        </p:txBody>
      </p:sp>
      <p:sp>
        <p:nvSpPr>
          <p:cNvPr id="9" name="post_165"/>
          <p:cNvSpPr/>
          <p:nvPr/>
        </p:nvSpPr>
        <p:spPr>
          <a:xfrm>
            <a:off x="429768" y="1554480"/>
            <a:ext cx="128016" cy="2194560"/>
          </a:xfrm>
          <a:prstGeom prst="rect">
            <a:avLst/>
          </a:prstGeom>
          <a:solidFill>
            <a:srgbClr val="8B5A2B"/>
          </a:solidFill>
          <a:ln w="31750">
            <a:solidFill>
              <a:srgbClr val="111111"/>
            </a:solidFill>
            <a:prstDash val="solid"/>
          </a:ln>
        </p:spPr>
      </p:sp>
      <p:sp>
        <p:nvSpPr>
          <p:cNvPr id="10" name="signA_166"/>
          <p:cNvSpPr txBox="1"/>
          <p:nvPr/>
        </p:nvSpPr>
        <p:spPr>
          <a:xfrm rot="-180000">
            <a:off x="320040" y="1371600"/>
            <a:ext cx="2240280" cy="457200"/>
          </a:xfrm>
          <a:prstGeom prst="homePlate">
            <a:avLst/>
          </a:prstGeom>
          <a:solidFill>
            <a:srgbClr val="EF2F2F"/>
          </a:solidFill>
          <a:ln w="31750">
            <a:solidFill>
              <a:srgbClr val="111111"/>
            </a:solidFill>
          </a:ln>
          <a:effectLst>
            <a:outerShdw sx="100000" sy="100000" kx="0" ky="0" algn="bl" rotWithShape="0" blurRad="101600" dist="38100" dir="2700000">
              <a:srgbClr val="000000">
                <a:alpha val="35000"/>
              </a:srgbClr>
            </a:outerShdw>
          </a:effectLst>
        </p:spPr>
        <p:txBody>
          <a:bodyPr wrap="square" lIns="76200" tIns="76200" rIns="76200" bIns="76200" rtlCol="0" anchor="ctr"/>
          <a:lstStyle/>
          <a:p>
            <a:pPr indent="0" marL="0">
              <a:buNone/>
            </a:pPr>
            <a:r>
              <a:rPr lang="en-US" sz="1500" b="1" dirty="0">
                <a:solidFill>
                  <a:srgbClr val="FFFFFF"/>
                </a:solidFill>
                <a:latin typeface="Arial Black" pitchFamily="34" charset="0"/>
                <a:ea typeface="Arial Black" pitchFamily="34" charset="-122"/>
                <a:cs typeface="Arial Black" pitchFamily="34" charset="-120"/>
              </a:rPr>
              <a:t>SPEAK!</a:t>
            </a:r>
            <a:pPr indent="0" marL="0">
              <a:buNone/>
            </a:pPr>
            <a:r>
              <a:rPr lang="en-US" sz="1000" dirty="0">
                <a:solidFill>
                  <a:srgbClr val="FFF3B0"/>
                </a:solidFill>
                <a:latin typeface="Arial Black" pitchFamily="34" charset="0"/>
                <a:ea typeface="Arial Black" pitchFamily="34" charset="-122"/>
                <a:cs typeface="Arial Black" pitchFamily="34" charset="-120"/>
              </a:rPr>
              <a:t>  PARLA!</a:t>
            </a:r>
            <a:endParaRPr lang="en-US" sz="1500" dirty="0"/>
          </a:p>
        </p:txBody>
      </p:sp>
      <p:sp>
        <p:nvSpPr>
          <p:cNvPr id="11" name="signB_167"/>
          <p:cNvSpPr txBox="1"/>
          <p:nvPr/>
        </p:nvSpPr>
        <p:spPr>
          <a:xfrm rot="120000">
            <a:off x="365760" y="1938528"/>
            <a:ext cx="2240280" cy="1051560"/>
          </a:xfrm>
          <a:prstGeom prst="rect">
            <a:avLst/>
          </a:prstGeom>
          <a:solidFill>
            <a:srgbClr val="FFFFFF"/>
          </a:solidFill>
          <a:ln w="31750">
            <a:solidFill>
              <a:srgbClr val="111111"/>
            </a:solidFill>
          </a:ln>
        </p:spPr>
        <p:txBody>
          <a:bodyPr wrap="square" lIns="76200" tIns="76200" rIns="76200" bIns="76200" rtlCol="0" anchor="ctr"/>
          <a:lstStyle/>
          <a:p>
            <a:pPr indent="0" marL="0">
              <a:buNone/>
            </a:pPr>
            <a:r>
              <a:rPr lang="en-US" sz="1250" dirty="0">
                <a:solidFill>
                  <a:srgbClr val="111111"/>
                </a:solidFill>
                <a:latin typeface="Calibri" pitchFamily="34" charset="0"/>
                <a:ea typeface="Calibri" pitchFamily="34" charset="-122"/>
                <a:cs typeface="Calibri" pitchFamily="34" charset="-120"/>
              </a:rPr>
              <a:t>Stand up! Ask different people for help.</a:t>
            </a:r>
            <a:endParaRPr lang="en-US" sz="1250" dirty="0"/>
          </a:p>
          <a:p>
            <a:pPr indent="0" marL="0">
              <a:buNone/>
            </a:pPr>
            <a:r>
              <a:rPr lang="en-US" sz="1100" i="1" dirty="0">
                <a:solidFill>
                  <a:srgbClr val="334155"/>
                </a:solidFill>
                <a:latin typeface="Calibri" pitchFamily="34" charset="0"/>
                <a:ea typeface="Calibri" pitchFamily="34" charset="-122"/>
                <a:cs typeface="Calibri" pitchFamily="34" charset="-120"/>
              </a:rPr>
              <a:t>Alzati! Chiedi aiuto a persone diverse.</a:t>
            </a:r>
            <a:endParaRPr lang="en-US" sz="1250" dirty="0"/>
          </a:p>
        </p:txBody>
      </p:sp>
      <p:sp>
        <p:nvSpPr>
          <p:cNvPr id="12" name="iconBack_168"/>
          <p:cNvSpPr/>
          <p:nvPr/>
        </p:nvSpPr>
        <p:spPr>
          <a:xfrm>
            <a:off x="685800" y="3246120"/>
            <a:ext cx="1143000" cy="1143000"/>
          </a:xfrm>
          <a:prstGeom prst="ellipse">
            <a:avLst/>
          </a:prstGeom>
          <a:solidFill>
            <a:srgbClr val="FFFFFF"/>
          </a:solidFill>
          <a:ln w="31750">
            <a:solidFill>
              <a:srgbClr val="111111"/>
            </a:solidFill>
            <a:prstDash val="solid"/>
          </a:ln>
          <a:effectLst>
            <a:outerShdw sx="100000" sy="100000" kx="0" ky="0" algn="bl" rotWithShape="0" blurRad="101600" dist="38100" dir="2700000">
              <a:srgbClr val="000000">
                <a:alpha val="35000"/>
              </a:srgbClr>
            </a:outerShdw>
          </a:effectLst>
        </p:spPr>
      </p:sp>
      <p:pic>
        <p:nvPicPr>
          <p:cNvPr id="13" name="icon_169" descr="pi:PiHandshake">    </p:cNvPr>
          <p:cNvPicPr>
            <a:picLocks noChangeAspect="1"/>
          </p:cNvPicPr>
          <p:nvPr/>
        </p:nvPicPr>
        <p:blipFill>
          <a:blip r:embed="rId3"/>
          <a:stretch>
            <a:fillRect/>
          </a:stretch>
        </p:blipFill>
        <p:spPr>
          <a:xfrm>
            <a:off x="914400" y="3474720"/>
            <a:ext cx="685800" cy="685800"/>
          </a:xfrm>
          <a:prstGeom prst="rect">
            <a:avLst/>
          </a:prstGeom>
        </p:spPr>
      </p:pic>
      <p:sp>
        <p:nvSpPr>
          <p:cNvPr id="14" name="num_170"/>
          <p:cNvSpPr txBox="1"/>
          <p:nvPr/>
        </p:nvSpPr>
        <p:spPr>
          <a:xfrm>
            <a:off x="2788920" y="1412748"/>
            <a:ext cx="384048" cy="384048"/>
          </a:xfrm>
          <a:prstGeom prst="ellipse">
            <a:avLst/>
          </a:prstGeom>
          <a:solidFill>
            <a:srgbClr val="EF2F2F"/>
          </a:solidFill>
          <a:ln w="19050">
            <a:solidFill>
              <a:srgbClr val="111111"/>
            </a:solidFill>
          </a:ln>
        </p:spPr>
        <p:txBody>
          <a:bodyPr wrap="square" lIns="0" tIns="0" rIns="0" bIns="0" rtlCol="0" anchor="ctr"/>
          <a:lstStyle/>
          <a:p>
            <a:pPr algn="ctr" indent="0" marL="0">
              <a:buNone/>
            </a:pPr>
            <a:r>
              <a:rPr lang="en-US" sz="1300" dirty="0">
                <a:solidFill>
                  <a:srgbClr val="FFFFFF"/>
                </a:solidFill>
                <a:latin typeface="Arial Black" pitchFamily="34" charset="0"/>
                <a:ea typeface="Arial Black" pitchFamily="34" charset="-122"/>
                <a:cs typeface="Arial Black" pitchFamily="34" charset="-120"/>
              </a:rPr>
              <a:t>1</a:t>
            </a:r>
            <a:endParaRPr lang="en-US" sz="1300" dirty="0"/>
          </a:p>
        </p:txBody>
      </p:sp>
      <p:sp>
        <p:nvSpPr>
          <p:cNvPr id="15" name="box_171"/>
          <p:cNvSpPr txBox="1"/>
          <p:nvPr/>
        </p:nvSpPr>
        <p:spPr>
          <a:xfrm>
            <a:off x="3264408" y="1371600"/>
            <a:ext cx="5559552" cy="466344"/>
          </a:xfrm>
          <a:prstGeom prst="rect">
            <a:avLst/>
          </a:prstGeom>
          <a:solidFill>
            <a:srgbClr val="FFFFFF"/>
          </a:solidFill>
          <a:ln w="15875">
            <a:solidFill>
              <a:srgbClr val="111111"/>
            </a:solidFill>
          </a:ln>
        </p:spPr>
        <p:txBody>
          <a:bodyPr wrap="square" lIns="76200" tIns="76200" rIns="76200" bIns="76200" rtlCol="0" anchor="ctr"/>
          <a:lstStyle/>
          <a:p>
            <a:pPr algn="l" indent="0" marL="0">
              <a:buNone/>
            </a:pPr>
            <a:r>
              <a:rPr lang="en-US" sz="1100" dirty="0">
                <a:solidFill>
                  <a:srgbClr val="111111"/>
                </a:solidFill>
                <a:latin typeface="Calibri" pitchFamily="34" charset="0"/>
                <a:ea typeface="Calibri" pitchFamily="34" charset="-122"/>
                <a:cs typeface="Calibri" pitchFamily="34" charset="-120"/>
              </a:rPr>
              <a:t>Go to Communication 'Could you do me a favour?' p.107. Read the instructions.</a:t>
            </a:r>
            <a:endParaRPr lang="en-US" sz="1100" dirty="0"/>
          </a:p>
        </p:txBody>
      </p:sp>
      <p:sp>
        <p:nvSpPr>
          <p:cNvPr id="16" name="num_172"/>
          <p:cNvSpPr txBox="1"/>
          <p:nvPr/>
        </p:nvSpPr>
        <p:spPr>
          <a:xfrm>
            <a:off x="2788920" y="1970532"/>
            <a:ext cx="384048" cy="384048"/>
          </a:xfrm>
          <a:prstGeom prst="ellipse">
            <a:avLst/>
          </a:prstGeom>
          <a:solidFill>
            <a:srgbClr val="48BDF2"/>
          </a:solidFill>
          <a:ln w="19050">
            <a:solidFill>
              <a:srgbClr val="111111"/>
            </a:solidFill>
          </a:ln>
        </p:spPr>
        <p:txBody>
          <a:bodyPr wrap="square" lIns="0" tIns="0" rIns="0" bIns="0" rtlCol="0" anchor="ctr"/>
          <a:lstStyle/>
          <a:p>
            <a:pPr algn="ctr" indent="0" marL="0">
              <a:buNone/>
            </a:pPr>
            <a:r>
              <a:rPr lang="en-US" sz="1300" dirty="0">
                <a:solidFill>
                  <a:srgbClr val="FFFFFF"/>
                </a:solidFill>
                <a:latin typeface="Arial Black" pitchFamily="34" charset="0"/>
                <a:ea typeface="Arial Black" pitchFamily="34" charset="-122"/>
                <a:cs typeface="Arial Black" pitchFamily="34" charset="-120"/>
              </a:rPr>
              <a:t>2</a:t>
            </a:r>
            <a:endParaRPr lang="en-US" sz="1300" dirty="0"/>
          </a:p>
        </p:txBody>
      </p:sp>
      <p:sp>
        <p:nvSpPr>
          <p:cNvPr id="17" name="box_173"/>
          <p:cNvSpPr txBox="1"/>
          <p:nvPr/>
        </p:nvSpPr>
        <p:spPr>
          <a:xfrm>
            <a:off x="3264408" y="1929384"/>
            <a:ext cx="5559552" cy="466344"/>
          </a:xfrm>
          <a:prstGeom prst="rect">
            <a:avLst/>
          </a:prstGeom>
          <a:solidFill>
            <a:srgbClr val="FFFFFF"/>
          </a:solidFill>
          <a:ln w="15875">
            <a:solidFill>
              <a:srgbClr val="111111"/>
            </a:solidFill>
          </a:ln>
        </p:spPr>
        <p:txBody>
          <a:bodyPr wrap="square" lIns="76200" tIns="76200" rIns="76200" bIns="76200" rtlCol="0" anchor="ctr"/>
          <a:lstStyle/>
          <a:p>
            <a:pPr algn="l" indent="0" marL="0">
              <a:buNone/>
            </a:pPr>
            <a:r>
              <a:rPr lang="en-US" sz="1250" dirty="0">
                <a:solidFill>
                  <a:srgbClr val="111111"/>
                </a:solidFill>
                <a:latin typeface="Calibri" pitchFamily="34" charset="0"/>
                <a:ea typeface="Calibri" pitchFamily="34" charset="-122"/>
                <a:cs typeface="Calibri" pitchFamily="34" charset="-120"/>
              </a:rPr>
              <a:t>Stand up and ask different classmates – use a different request each time.</a:t>
            </a:r>
            <a:endParaRPr lang="en-US" sz="1250" dirty="0"/>
          </a:p>
        </p:txBody>
      </p:sp>
      <p:sp>
        <p:nvSpPr>
          <p:cNvPr id="18" name="num_174"/>
          <p:cNvSpPr txBox="1"/>
          <p:nvPr/>
        </p:nvSpPr>
        <p:spPr>
          <a:xfrm>
            <a:off x="2788920" y="2528316"/>
            <a:ext cx="384048" cy="384048"/>
          </a:xfrm>
          <a:prstGeom prst="ellipse">
            <a:avLst/>
          </a:prstGeom>
          <a:solidFill>
            <a:srgbClr val="1FA463"/>
          </a:solidFill>
          <a:ln w="19050">
            <a:solidFill>
              <a:srgbClr val="111111"/>
            </a:solidFill>
          </a:ln>
        </p:spPr>
        <p:txBody>
          <a:bodyPr wrap="square" lIns="0" tIns="0" rIns="0" bIns="0" rtlCol="0" anchor="ctr"/>
          <a:lstStyle/>
          <a:p>
            <a:pPr algn="ctr" indent="0" marL="0">
              <a:buNone/>
            </a:pPr>
            <a:r>
              <a:rPr lang="en-US" sz="1300" dirty="0">
                <a:solidFill>
                  <a:srgbClr val="FFFFFF"/>
                </a:solidFill>
                <a:latin typeface="Arial Black" pitchFamily="34" charset="0"/>
                <a:ea typeface="Arial Black" pitchFamily="34" charset="-122"/>
                <a:cs typeface="Arial Black" pitchFamily="34" charset="-120"/>
              </a:rPr>
              <a:t>3</a:t>
            </a:r>
            <a:endParaRPr lang="en-US" sz="1300" dirty="0"/>
          </a:p>
        </p:txBody>
      </p:sp>
      <p:sp>
        <p:nvSpPr>
          <p:cNvPr id="19" name="box_175"/>
          <p:cNvSpPr txBox="1"/>
          <p:nvPr/>
        </p:nvSpPr>
        <p:spPr>
          <a:xfrm>
            <a:off x="3264408" y="2487168"/>
            <a:ext cx="5559552" cy="466344"/>
          </a:xfrm>
          <a:prstGeom prst="rect">
            <a:avLst/>
          </a:prstGeom>
          <a:solidFill>
            <a:srgbClr val="FFFFFF"/>
          </a:solidFill>
          <a:ln w="15875">
            <a:solidFill>
              <a:srgbClr val="111111"/>
            </a:solidFill>
          </a:ln>
        </p:spPr>
        <p:txBody>
          <a:bodyPr wrap="square" lIns="76200" tIns="76200" rIns="76200" bIns="76200" rtlCol="0" anchor="ctr"/>
          <a:lstStyle/>
          <a:p>
            <a:pPr algn="l" indent="0" marL="0">
              <a:buNone/>
            </a:pPr>
            <a:r>
              <a:rPr lang="en-US" sz="1050" dirty="0">
                <a:solidFill>
                  <a:srgbClr val="111111"/>
                </a:solidFill>
                <a:latin typeface="Calibri" pitchFamily="34" charset="0"/>
                <a:ea typeface="Calibri" pitchFamily="34" charset="-122"/>
                <a:cs typeface="Calibri" pitchFamily="34" charset="-120"/>
              </a:rPr>
              <a:t>Answer: say yes (Sure / Not at all) or say no politely and give a reason (I'm sorry, but…).</a:t>
            </a:r>
            <a:endParaRPr lang="en-US" sz="1050" dirty="0"/>
          </a:p>
        </p:txBody>
      </p:sp>
      <p:sp>
        <p:nvSpPr>
          <p:cNvPr id="20" name="num_176"/>
          <p:cNvSpPr txBox="1"/>
          <p:nvPr/>
        </p:nvSpPr>
        <p:spPr>
          <a:xfrm>
            <a:off x="2788920" y="3086100"/>
            <a:ext cx="384048" cy="384048"/>
          </a:xfrm>
          <a:prstGeom prst="ellipse">
            <a:avLst/>
          </a:prstGeom>
          <a:solidFill>
            <a:srgbClr val="F59E0B"/>
          </a:solidFill>
          <a:ln w="19050">
            <a:solidFill>
              <a:srgbClr val="111111"/>
            </a:solidFill>
          </a:ln>
        </p:spPr>
        <p:txBody>
          <a:bodyPr wrap="square" lIns="0" tIns="0" rIns="0" bIns="0" rtlCol="0" anchor="ctr"/>
          <a:lstStyle/>
          <a:p>
            <a:pPr algn="ctr" indent="0" marL="0">
              <a:buNone/>
            </a:pPr>
            <a:r>
              <a:rPr lang="en-US" sz="1300" dirty="0">
                <a:solidFill>
                  <a:srgbClr val="FFFFFF"/>
                </a:solidFill>
                <a:latin typeface="Arial Black" pitchFamily="34" charset="0"/>
                <a:ea typeface="Arial Black" pitchFamily="34" charset="-122"/>
                <a:cs typeface="Arial Black" pitchFamily="34" charset="-120"/>
              </a:rPr>
              <a:t>4</a:t>
            </a:r>
            <a:endParaRPr lang="en-US" sz="1300" dirty="0"/>
          </a:p>
        </p:txBody>
      </p:sp>
      <p:sp>
        <p:nvSpPr>
          <p:cNvPr id="21" name="box_177"/>
          <p:cNvSpPr txBox="1"/>
          <p:nvPr/>
        </p:nvSpPr>
        <p:spPr>
          <a:xfrm>
            <a:off x="3264408" y="3044952"/>
            <a:ext cx="5559552" cy="466344"/>
          </a:xfrm>
          <a:prstGeom prst="rect">
            <a:avLst/>
          </a:prstGeom>
          <a:solidFill>
            <a:srgbClr val="FFFFFF"/>
          </a:solidFill>
          <a:ln w="15875">
            <a:solidFill>
              <a:srgbClr val="111111"/>
            </a:solidFill>
          </a:ln>
        </p:spPr>
        <p:txBody>
          <a:bodyPr wrap="square" lIns="76200" tIns="76200" rIns="76200" bIns="76200" rtlCol="0" anchor="ctr"/>
          <a:lstStyle/>
          <a:p>
            <a:pPr algn="l" indent="0" marL="0">
              <a:buNone/>
            </a:pPr>
            <a:r>
              <a:rPr lang="en-US" sz="1250" dirty="0">
                <a:solidFill>
                  <a:srgbClr val="111111"/>
                </a:solidFill>
                <a:latin typeface="Calibri" pitchFamily="34" charset="0"/>
                <a:ea typeface="Calibri" pitchFamily="34" charset="-122"/>
                <a:cs typeface="Calibri" pitchFamily="34" charset="-120"/>
              </a:rPr>
              <a:t>Write down who says yes.</a:t>
            </a:r>
            <a:endParaRPr lang="en-US" sz="1250" dirty="0"/>
          </a:p>
        </p:txBody>
      </p:sp>
      <p:sp>
        <p:nvSpPr>
          <p:cNvPr id="22" name="num_178"/>
          <p:cNvSpPr txBox="1"/>
          <p:nvPr/>
        </p:nvSpPr>
        <p:spPr>
          <a:xfrm>
            <a:off x="2788920" y="3643884"/>
            <a:ext cx="384048" cy="384048"/>
          </a:xfrm>
          <a:prstGeom prst="ellipse">
            <a:avLst/>
          </a:prstGeom>
          <a:solidFill>
            <a:srgbClr val="6D3FC0"/>
          </a:solidFill>
          <a:ln w="19050">
            <a:solidFill>
              <a:srgbClr val="111111"/>
            </a:solidFill>
          </a:ln>
        </p:spPr>
        <p:txBody>
          <a:bodyPr wrap="square" lIns="0" tIns="0" rIns="0" bIns="0" rtlCol="0" anchor="ctr"/>
          <a:lstStyle/>
          <a:p>
            <a:pPr algn="ctr" indent="0" marL="0">
              <a:buNone/>
            </a:pPr>
            <a:r>
              <a:rPr lang="en-US" sz="1300" dirty="0">
                <a:solidFill>
                  <a:srgbClr val="FFFFFF"/>
                </a:solidFill>
                <a:latin typeface="Arial Black" pitchFamily="34" charset="0"/>
                <a:ea typeface="Arial Black" pitchFamily="34" charset="-122"/>
                <a:cs typeface="Arial Black" pitchFamily="34" charset="-120"/>
              </a:rPr>
              <a:t>5</a:t>
            </a:r>
            <a:endParaRPr lang="en-US" sz="1300" dirty="0"/>
          </a:p>
        </p:txBody>
      </p:sp>
      <p:sp>
        <p:nvSpPr>
          <p:cNvPr id="23" name="box_179"/>
          <p:cNvSpPr txBox="1"/>
          <p:nvPr/>
        </p:nvSpPr>
        <p:spPr>
          <a:xfrm>
            <a:off x="3264408" y="3602736"/>
            <a:ext cx="5559552" cy="466344"/>
          </a:xfrm>
          <a:prstGeom prst="rect">
            <a:avLst/>
          </a:prstGeom>
          <a:solidFill>
            <a:srgbClr val="FFFFFF"/>
          </a:solidFill>
          <a:ln w="15875">
            <a:solidFill>
              <a:srgbClr val="111111"/>
            </a:solidFill>
          </a:ln>
        </p:spPr>
        <p:txBody>
          <a:bodyPr wrap="square" lIns="76200" tIns="76200" rIns="76200" bIns="76200" rtlCol="0" anchor="ctr"/>
          <a:lstStyle/>
          <a:p>
            <a:pPr algn="l" indent="0" marL="0">
              <a:buNone/>
            </a:pPr>
            <a:r>
              <a:rPr lang="en-US" sz="1250" dirty="0">
                <a:solidFill>
                  <a:srgbClr val="111111"/>
                </a:solidFill>
                <a:latin typeface="Calibri" pitchFamily="34" charset="0"/>
                <a:ea typeface="Calibri" pitchFamily="34" charset="-122"/>
                <a:cs typeface="Calibri" pitchFamily="34" charset="-120"/>
              </a:rPr>
              <a:t>Who got the most people to help them?</a:t>
            </a:r>
            <a:endParaRPr lang="en-US" sz="1250" dirty="0"/>
          </a:p>
        </p:txBody>
      </p:sp>
      <p:sp>
        <p:nvSpPr>
          <p:cNvPr id="24" name="bubble_180"/>
          <p:cNvSpPr txBox="1"/>
          <p:nvPr/>
        </p:nvSpPr>
        <p:spPr>
          <a:xfrm>
            <a:off x="3246120" y="4160520"/>
            <a:ext cx="5577840" cy="502920"/>
          </a:xfrm>
          <a:prstGeom prst="roundRect">
            <a:avLst/>
          </a:prstGeom>
          <a:solidFill>
            <a:srgbClr val="FFD84D"/>
          </a:solidFill>
          <a:ln w="31750">
            <a:solidFill>
              <a:srgbClr val="111111"/>
            </a:solidFill>
          </a:ln>
          <a:effectLst>
            <a:outerShdw sx="100000" sy="100000" kx="0" ky="0" algn="bl" rotWithShape="0" blurRad="101600" dist="38100" dir="2700000">
              <a:srgbClr val="000000">
                <a:alpha val="35000"/>
              </a:srgbClr>
            </a:outerShdw>
          </a:effectLst>
        </p:spPr>
        <p:txBody>
          <a:bodyPr wrap="square" lIns="76200" tIns="76200" rIns="76200" bIns="76200" rtlCol="0" anchor="ctr"/>
          <a:lstStyle/>
          <a:p>
            <a:pPr algn="ctr" indent="0" marL="0">
              <a:buNone/>
            </a:pPr>
            <a:r>
              <a:rPr lang="en-US" sz="1100" b="1" i="1" dirty="0">
                <a:solidFill>
                  <a:srgbClr val="111111"/>
                </a:solidFill>
                <a:latin typeface="Calibri" pitchFamily="34" charset="0"/>
                <a:ea typeface="Calibri" pitchFamily="34" charset="-122"/>
                <a:cs typeface="Calibri" pitchFamily="34" charset="-120"/>
              </a:rPr>
              <a:t>Would you mind lending me your car this weekend? – I'm really sorry, but I need it myself.</a:t>
            </a:r>
            <a:endParaRPr lang="en-US" sz="1100" dirty="0"/>
          </a:p>
        </p:txBody>
      </p:sp>
      <p:sp>
        <p:nvSpPr>
          <p:cNvPr id="25" name="pageTag_181"/>
          <p:cNvSpPr txBox="1"/>
          <p:nvPr/>
        </p:nvSpPr>
        <p:spPr>
          <a:xfrm>
            <a:off x="320040" y="4773168"/>
            <a:ext cx="6720840" cy="246888"/>
          </a:xfrm>
          <a:prstGeom prst="rect">
            <a:avLst/>
          </a:prstGeom>
          <a:solidFill>
            <a:srgbClr val="FFFFFF"/>
          </a:solidFill>
          <a:ln/>
        </p:spPr>
        <p:txBody>
          <a:bodyPr wrap="square" lIns="25400" tIns="25400" rIns="25400" bIns="25400" rtlCol="0" anchor="ctr"/>
          <a:lstStyle/>
          <a:p>
            <a:pPr indent="0" marL="0">
              <a:buNone/>
            </a:pPr>
            <a:r>
              <a:rPr lang="en-US" sz="1050" dirty="0">
                <a:solidFill>
                  <a:srgbClr val="334155"/>
                </a:solidFill>
                <a:latin typeface="Calibri" pitchFamily="34" charset="0"/>
                <a:ea typeface="Calibri" pitchFamily="34" charset="-122"/>
                <a:cs typeface="Calibri" pitchFamily="34" charset="-120"/>
              </a:rPr>
              <a:t>📖 Teacher: Student's Book p.55 · 2g · Communication Could you do me a favour? p.107</a:t>
            </a:r>
            <a:endParaRPr lang="en-US" sz="1050" dirty="0"/>
          </a:p>
        </p:txBody>
      </p:sp>
    </p:spTree>
  </p:cSld>
  <p:clrMapOvr>
    <a:masterClrMapping/>
  </p:clrMapOvr>
  <p:transition spd="med">
    <p:push dir="l"/>
  </p:transition>
</p:sld>
</file>

<file path=ppt/slides/slide11.xml><?xml version="1.0" encoding="utf-8"?>
<p:sld xmlns:a="http://schemas.openxmlformats.org/drawingml/2006/main" xmlns:r="http://schemas.openxmlformats.org/officeDocument/2006/relationships" xmlns:p="http://schemas.openxmlformats.org/presentationml/2006/main">
  <p:cSld name="Slide 11">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levelFrame_182"/>
          <p:cNvSpPr/>
          <p:nvPr/>
        </p:nvSpPr>
        <p:spPr>
          <a:xfrm>
            <a:off x="54864" y="54864"/>
            <a:ext cx="9034272" cy="5033772"/>
          </a:xfrm>
          <a:prstGeom prst="rect">
            <a:avLst/>
          </a:prstGeom>
          <a:ln w="114300">
            <a:solidFill>
              <a:srgbClr val="A8E6B4"/>
            </a:solidFill>
            <a:prstDash val="solid"/>
          </a:ln>
        </p:spPr>
      </p:sp>
      <p:pic>
        <p:nvPicPr>
          <p:cNvPr id="4" name="logo_183" descr="London Language School logo">    </p:cNvPr>
          <p:cNvPicPr>
            <a:picLocks noChangeAspect="1"/>
          </p:cNvPicPr>
          <p:nvPr/>
        </p:nvPicPr>
        <p:blipFill>
          <a:blip r:embed="rId2"/>
          <a:stretch>
            <a:fillRect/>
          </a:stretch>
        </p:blipFill>
        <p:spPr>
          <a:xfrm>
            <a:off x="8275320" y="182880"/>
            <a:ext cx="585216" cy="585216"/>
          </a:xfrm>
          <a:prstGeom prst="rect">
            <a:avLst/>
          </a:prstGeom>
        </p:spPr>
      </p:pic>
      <p:sp>
        <p:nvSpPr>
          <p:cNvPr id="5" name="objective_184"/>
          <p:cNvSpPr txBox="1"/>
          <p:nvPr/>
        </p:nvSpPr>
        <p:spPr>
          <a:xfrm>
            <a:off x="320040" y="182880"/>
            <a:ext cx="4754880" cy="365760"/>
          </a:xfrm>
          <a:prstGeom prst="roundRect">
            <a:avLst>
              <a:gd name="adj" fmla="val 20000"/>
            </a:avLst>
          </a:prstGeom>
          <a:solidFill>
            <a:srgbClr val="062F67"/>
          </a:solidFill>
          <a:ln w="31750">
            <a:solidFill>
              <a:srgbClr val="111111"/>
            </a:solidFill>
          </a:ln>
        </p:spPr>
        <p:txBody>
          <a:bodyPr wrap="square" lIns="101600" tIns="101600" rIns="101600" bIns="101600" rtlCol="0" anchor="ctr"/>
          <a:lstStyle/>
          <a:p>
            <a:pPr indent="0" marL="0">
              <a:buNone/>
            </a:pPr>
            <a:r>
              <a:rPr lang="en-US" sz="900" dirty="0">
                <a:solidFill>
                  <a:srgbClr val="FFFFFF"/>
                </a:solidFill>
                <a:latin typeface="Arial Black" pitchFamily="34" charset="0"/>
                <a:ea typeface="Arial Black" pitchFamily="34" charset="-122"/>
                <a:cs typeface="Arial Black" pitchFamily="34" charset="-120"/>
              </a:rPr>
              <a:t>PRACTICAL ENGLISH · Scene 3 · video 5.27</a:t>
            </a:r>
            <a:endParaRPr lang="en-US" sz="900" dirty="0"/>
          </a:p>
        </p:txBody>
      </p:sp>
      <p:sp>
        <p:nvSpPr>
          <p:cNvPr id="6" name="timer_185"/>
          <p:cNvSpPr txBox="1"/>
          <p:nvPr/>
        </p:nvSpPr>
        <p:spPr>
          <a:xfrm>
            <a:off x="7086600" y="219456"/>
            <a:ext cx="1005840" cy="310896"/>
          </a:xfrm>
          <a:prstGeom prst="roundRect">
            <a:avLst>
              <a:gd name="adj" fmla="val 23529"/>
            </a:avLst>
          </a:prstGeom>
          <a:solidFill>
            <a:srgbClr val="FFFFFF"/>
          </a:solidFill>
          <a:ln w="25400">
            <a:solidFill>
              <a:srgbClr val="6D3FC0"/>
            </a:solidFill>
          </a:ln>
        </p:spPr>
        <p:txBody>
          <a:bodyPr wrap="square" lIns="0" tIns="0" rIns="0" bIns="0" rtlCol="0" anchor="ctr"/>
          <a:lstStyle/>
          <a:p>
            <a:pPr algn="ctr" indent="0" marL="0">
              <a:buNone/>
            </a:pPr>
            <a:r>
              <a:rPr lang="en-US" sz="1200" b="1" dirty="0">
                <a:solidFill>
                  <a:srgbClr val="6D3FC0"/>
                </a:solidFill>
                <a:latin typeface="Calibri" pitchFamily="34" charset="0"/>
                <a:ea typeface="Calibri" pitchFamily="34" charset="-122"/>
                <a:cs typeface="Calibri" pitchFamily="34" charset="-120"/>
              </a:rPr>
              <a:t>⏱ 6 min</a:t>
            </a:r>
            <a:endParaRPr lang="en-US" sz="1200" dirty="0"/>
          </a:p>
        </p:txBody>
      </p:sp>
      <p:sp>
        <p:nvSpPr>
          <p:cNvPr id="7" name="footer_186"/>
          <p:cNvSpPr txBox="1"/>
          <p:nvPr/>
        </p:nvSpPr>
        <p:spPr>
          <a:xfrm>
            <a:off x="7132320" y="4818888"/>
            <a:ext cx="1737360" cy="219456"/>
          </a:xfrm>
          <a:prstGeom prst="rect">
            <a:avLst/>
          </a:prstGeom>
          <a:solidFill>
            <a:srgbClr val="FFFFFF"/>
          </a:solidFill>
          <a:ln/>
        </p:spPr>
        <p:txBody>
          <a:bodyPr wrap="square" lIns="0" tIns="0" rIns="0" bIns="0" rtlCol="0" anchor="ctr"/>
          <a:lstStyle/>
          <a:p>
            <a:pPr algn="ctr" indent="0" marL="0">
              <a:buNone/>
            </a:pPr>
            <a:r>
              <a:rPr lang="en-US" sz="1000" dirty="0">
                <a:solidFill>
                  <a:srgbClr val="334155"/>
                </a:solidFill>
                <a:latin typeface="Calibri" pitchFamily="34" charset="0"/>
                <a:ea typeface="Calibri" pitchFamily="34" charset="-122"/>
                <a:cs typeface="Calibri" pitchFamily="34" charset="-120"/>
              </a:rPr>
              <a:t>PE3 · Part 1</a:t>
            </a:r>
            <a:endParaRPr lang="en-US" sz="1000" dirty="0"/>
          </a:p>
        </p:txBody>
      </p:sp>
      <p:sp>
        <p:nvSpPr>
          <p:cNvPr id="8" name="title_187"/>
          <p:cNvSpPr txBox="1"/>
          <p:nvPr/>
        </p:nvSpPr>
        <p:spPr>
          <a:xfrm rot="-120000">
            <a:off x="320040" y="676656"/>
            <a:ext cx="2587752" cy="530352"/>
          </a:xfrm>
          <a:prstGeom prst="rect">
            <a:avLst/>
          </a:prstGeom>
          <a:solidFill>
            <a:srgbClr val="FFD84D"/>
          </a:solidFill>
          <a:ln w="31750">
            <a:solidFill>
              <a:srgbClr val="111111"/>
            </a:solidFill>
          </a:ln>
          <a:effectLst>
            <a:outerShdw sx="100000" sy="100000" kx="0" ky="0" algn="bl" rotWithShape="0" blurRad="101600" dist="38100" dir="2700000">
              <a:srgbClr val="000000">
                <a:alpha val="35000"/>
              </a:srgbClr>
            </a:outerShdw>
          </a:effectLst>
        </p:spPr>
        <p:txBody>
          <a:bodyPr wrap="square" lIns="127000" tIns="127000" rIns="127000" bIns="127000" rtlCol="0" anchor="ctr"/>
          <a:lstStyle/>
          <a:p>
            <a:pPr indent="0" marL="0">
              <a:buNone/>
            </a:pPr>
            <a:r>
              <a:rPr lang="en-US" sz="1500" dirty="0">
                <a:solidFill>
                  <a:srgbClr val="111111"/>
                </a:solidFill>
                <a:latin typeface="Arial Black" pitchFamily="34" charset="0"/>
                <a:ea typeface="Arial Black" pitchFamily="34" charset="-122"/>
                <a:cs typeface="Arial Black" pitchFamily="34" charset="-120"/>
              </a:rPr>
              <a:t>Paul arrives</a:t>
            </a:r>
            <a:endParaRPr lang="en-US" sz="1500" dirty="0"/>
          </a:p>
        </p:txBody>
      </p:sp>
      <p:sp>
        <p:nvSpPr>
          <p:cNvPr id="9" name="post_188"/>
          <p:cNvSpPr/>
          <p:nvPr/>
        </p:nvSpPr>
        <p:spPr>
          <a:xfrm>
            <a:off x="429768" y="1554480"/>
            <a:ext cx="128016" cy="2194560"/>
          </a:xfrm>
          <a:prstGeom prst="rect">
            <a:avLst/>
          </a:prstGeom>
          <a:solidFill>
            <a:srgbClr val="8B5A2B"/>
          </a:solidFill>
          <a:ln w="31750">
            <a:solidFill>
              <a:srgbClr val="111111"/>
            </a:solidFill>
            <a:prstDash val="solid"/>
          </a:ln>
        </p:spPr>
      </p:sp>
      <p:sp>
        <p:nvSpPr>
          <p:cNvPr id="10" name="signA_189"/>
          <p:cNvSpPr txBox="1"/>
          <p:nvPr/>
        </p:nvSpPr>
        <p:spPr>
          <a:xfrm rot="-180000">
            <a:off x="320040" y="1371600"/>
            <a:ext cx="2240280" cy="457200"/>
          </a:xfrm>
          <a:prstGeom prst="homePlate">
            <a:avLst/>
          </a:prstGeom>
          <a:solidFill>
            <a:srgbClr val="F59E0B"/>
          </a:solidFill>
          <a:ln w="31750">
            <a:solidFill>
              <a:srgbClr val="111111"/>
            </a:solidFill>
          </a:ln>
          <a:effectLst>
            <a:outerShdw sx="100000" sy="100000" kx="0" ky="0" algn="bl" rotWithShape="0" blurRad="101600" dist="38100" dir="2700000">
              <a:srgbClr val="000000">
                <a:alpha val="35000"/>
              </a:srgbClr>
            </a:outerShdw>
          </a:effectLst>
        </p:spPr>
        <p:txBody>
          <a:bodyPr wrap="square" lIns="76200" tIns="76200" rIns="76200" bIns="76200" rtlCol="0" anchor="ctr"/>
          <a:lstStyle/>
          <a:p>
            <a:pPr indent="0" marL="0">
              <a:buNone/>
            </a:pPr>
            <a:r>
              <a:rPr lang="en-US" sz="1500" b="1" dirty="0">
                <a:solidFill>
                  <a:srgbClr val="FFFFFF"/>
                </a:solidFill>
                <a:latin typeface="Arial Black" pitchFamily="34" charset="0"/>
                <a:ea typeface="Arial Black" pitchFamily="34" charset="-122"/>
                <a:cs typeface="Arial Black" pitchFamily="34" charset="-120"/>
              </a:rPr>
              <a:t>WATCH!</a:t>
            </a:r>
            <a:pPr indent="0" marL="0">
              <a:buNone/>
            </a:pPr>
            <a:r>
              <a:rPr lang="en-US" sz="1000" dirty="0">
                <a:solidFill>
                  <a:srgbClr val="FFF3B0"/>
                </a:solidFill>
                <a:latin typeface="Arial Black" pitchFamily="34" charset="0"/>
                <a:ea typeface="Arial Black" pitchFamily="34" charset="-122"/>
                <a:cs typeface="Arial Black" pitchFamily="34" charset="-120"/>
              </a:rPr>
              <a:t>  GUARDA!</a:t>
            </a:r>
            <a:endParaRPr lang="en-US" sz="1500" dirty="0"/>
          </a:p>
        </p:txBody>
      </p:sp>
      <p:sp>
        <p:nvSpPr>
          <p:cNvPr id="11" name="signB_190"/>
          <p:cNvSpPr txBox="1"/>
          <p:nvPr/>
        </p:nvSpPr>
        <p:spPr>
          <a:xfrm rot="120000">
            <a:off x="365760" y="1938528"/>
            <a:ext cx="2240280" cy="1051560"/>
          </a:xfrm>
          <a:prstGeom prst="rect">
            <a:avLst/>
          </a:prstGeom>
          <a:solidFill>
            <a:srgbClr val="FFFFFF"/>
          </a:solidFill>
          <a:ln w="31750">
            <a:solidFill>
              <a:srgbClr val="111111"/>
            </a:solidFill>
          </a:ln>
        </p:spPr>
        <p:txBody>
          <a:bodyPr wrap="square" lIns="76200" tIns="76200" rIns="76200" bIns="76200" rtlCol="0" anchor="ctr"/>
          <a:lstStyle/>
          <a:p>
            <a:pPr indent="0" marL="0">
              <a:buNone/>
            </a:pPr>
            <a:r>
              <a:rPr lang="en-US" sz="1200" dirty="0">
                <a:solidFill>
                  <a:srgbClr val="111111"/>
                </a:solidFill>
                <a:latin typeface="Calibri" pitchFamily="34" charset="0"/>
                <a:ea typeface="Calibri" pitchFamily="34" charset="-122"/>
                <a:cs typeface="Calibri" pitchFamily="34" charset="-120"/>
              </a:rPr>
              <a:t>How do Rob and Jenny feel? Then watch again and circle.</a:t>
            </a:r>
            <a:endParaRPr lang="en-US" sz="1200" dirty="0"/>
          </a:p>
          <a:p>
            <a:pPr indent="0" marL="0">
              <a:buNone/>
            </a:pPr>
            <a:r>
              <a:rPr lang="en-US" sz="1050" i="1" dirty="0">
                <a:solidFill>
                  <a:srgbClr val="334155"/>
                </a:solidFill>
                <a:latin typeface="Calibri" pitchFamily="34" charset="0"/>
                <a:ea typeface="Calibri" pitchFamily="34" charset="-122"/>
                <a:cs typeface="Calibri" pitchFamily="34" charset="-120"/>
              </a:rPr>
              <a:t>Come si sentono Rob e Jenny? Poi riguarda e cerchia.</a:t>
            </a:r>
            <a:endParaRPr lang="en-US" sz="1200" dirty="0"/>
          </a:p>
        </p:txBody>
      </p:sp>
      <p:pic>
        <p:nvPicPr>
          <p:cNvPr id="12" name="Media 0">
            <a:hlinkClick r:id="" action="ppaction://media"/>
          </p:cNvPr>
          <p:cNvPicPr>
            <a:picLocks noChangeAspect="1"/>
          </p:cNvPicPr>
          <p:nvPr>
            <a:videoFile r:link="rId3"/>
            <p:extLst>
              <p:ext uri="{DAA4B4D4-6D71-4841-9C94-3DE7FCFB9230}">
                <p14:media xmlns:p14="http://schemas.microsoft.com/office/powerpoint/2010/main" r:embed="rId4"/>
              </p:ext>
            </p:extLst>
          </p:nvPr>
        </p:nvPicPr>
        <p:blipFill>
          <a:blip r:embed="rId5"/>
          <a:stretch>
            <a:fillRect/>
          </a:stretch>
        </p:blipFill>
        <p:spPr>
          <a:xfrm>
            <a:off x="2788920" y="1371600"/>
            <a:ext cx="2926080" cy="1645920"/>
          </a:xfrm>
          <a:prstGeom prst="rect">
            <a:avLst/>
          </a:prstGeom>
        </p:spPr>
      </p:pic>
      <p:sp>
        <p:nvSpPr>
          <p:cNvPr id="13" name="vt_191"/>
          <p:cNvSpPr txBox="1"/>
          <p:nvPr/>
        </p:nvSpPr>
        <p:spPr>
          <a:xfrm>
            <a:off x="2788920" y="3090672"/>
            <a:ext cx="2926080" cy="685800"/>
          </a:xfrm>
          <a:prstGeom prst="rect">
            <a:avLst/>
          </a:prstGeom>
          <a:solidFill>
            <a:srgbClr val="FFFFFF"/>
          </a:solidFill>
          <a:ln w="15875">
            <a:solidFill>
              <a:srgbClr val="111111"/>
            </a:solidFill>
          </a:ln>
        </p:spPr>
        <p:txBody>
          <a:bodyPr wrap="square" lIns="76200" tIns="76200" rIns="76200" bIns="76200" rtlCol="0" anchor="ctr"/>
          <a:lstStyle/>
          <a:p>
            <a:pPr indent="0" marL="0">
              <a:buNone/>
            </a:pPr>
            <a:r>
              <a:rPr lang="en-US" sz="1250" b="1" dirty="0">
                <a:solidFill>
                  <a:srgbClr val="111111"/>
                </a:solidFill>
                <a:latin typeface="Calibri" pitchFamily="34" charset="0"/>
                <a:ea typeface="Calibri" pitchFamily="34" charset="-122"/>
                <a:cs typeface="Calibri" pitchFamily="34" charset="-120"/>
              </a:rPr>
              <a:t>Paul arrives</a:t>
            </a:r>
            <a:endParaRPr lang="en-US" sz="1250" dirty="0"/>
          </a:p>
          <a:p>
            <a:pPr indent="0" marL="0">
              <a:buNone/>
            </a:pPr>
            <a:r>
              <a:rPr lang="en-US" sz="1050" dirty="0">
                <a:solidFill>
                  <a:srgbClr val="475569"/>
                </a:solidFill>
                <a:latin typeface="Calibri" pitchFamily="34" charset="0"/>
                <a:ea typeface="Calibri" pitchFamily="34" charset="-122"/>
                <a:cs typeface="Calibri" pitchFamily="34" charset="-120"/>
              </a:rPr>
              <a:t>Practical English Episode 3 · SB p.55 · 3a, 3b (1'31")</a:t>
            </a:r>
            <a:endParaRPr lang="en-US" sz="1250" dirty="0"/>
          </a:p>
        </p:txBody>
      </p:sp>
      <p:sp>
        <p:nvSpPr>
          <p:cNvPr id="14" name="wyw_192"/>
          <p:cNvSpPr txBox="1"/>
          <p:nvPr/>
        </p:nvSpPr>
        <p:spPr>
          <a:xfrm>
            <a:off x="5852160" y="1371600"/>
            <a:ext cx="2971800" cy="347472"/>
          </a:xfrm>
          <a:prstGeom prst="rect">
            <a:avLst/>
          </a:prstGeom>
          <a:solidFill>
            <a:srgbClr val="F59E0B"/>
          </a:solidFill>
          <a:ln w="19050">
            <a:solidFill>
              <a:srgbClr val="111111"/>
            </a:solidFill>
          </a:ln>
        </p:spPr>
        <p:txBody>
          <a:bodyPr wrap="square" lIns="25400" tIns="25400" rIns="25400" bIns="25400" rtlCol="0" anchor="ctr"/>
          <a:lstStyle/>
          <a:p>
            <a:pPr algn="ctr" indent="0" marL="0">
              <a:buNone/>
            </a:pPr>
            <a:r>
              <a:rPr lang="en-US" sz="1150" dirty="0">
                <a:solidFill>
                  <a:srgbClr val="FFFFFF"/>
                </a:solidFill>
                <a:latin typeface="Arial Black" pitchFamily="34" charset="0"/>
                <a:ea typeface="Arial Black" pitchFamily="34" charset="-122"/>
                <a:cs typeface="Arial Black" pitchFamily="34" charset="-120"/>
              </a:rPr>
              <a:t>While you watch · Mentre guardi</a:t>
            </a:r>
            <a:endParaRPr lang="en-US" sz="1150" dirty="0"/>
          </a:p>
        </p:txBody>
      </p:sp>
      <p:sp>
        <p:nvSpPr>
          <p:cNvPr id="15" name="box_193"/>
          <p:cNvSpPr txBox="1"/>
          <p:nvPr/>
        </p:nvSpPr>
        <p:spPr>
          <a:xfrm>
            <a:off x="5852160" y="1810512"/>
            <a:ext cx="1783080" cy="414528"/>
          </a:xfrm>
          <a:prstGeom prst="rect">
            <a:avLst/>
          </a:prstGeom>
          <a:solidFill>
            <a:srgbClr val="E0F2FE"/>
          </a:solidFill>
          <a:ln w="15875">
            <a:solidFill>
              <a:srgbClr val="111111"/>
            </a:solidFill>
          </a:ln>
        </p:spPr>
        <p:txBody>
          <a:bodyPr wrap="square" lIns="76200" tIns="76200" rIns="76200" bIns="76200" rtlCol="0" anchor="ctr"/>
          <a:lstStyle/>
          <a:p>
            <a:pPr algn="l" indent="0" marL="0">
              <a:buNone/>
            </a:pPr>
            <a:r>
              <a:rPr lang="en-US" sz="1050" dirty="0">
                <a:solidFill>
                  <a:srgbClr val="111111"/>
                </a:solidFill>
                <a:latin typeface="Calibri" pitchFamily="34" charset="0"/>
                <a:ea typeface="Calibri" pitchFamily="34" charset="-122"/>
                <a:cs typeface="Calibri" pitchFamily="34" charset="-120"/>
              </a:rPr>
              <a:t>1  Paul's looks: changed?</a:t>
            </a:r>
            <a:endParaRPr lang="en-US" sz="1050" dirty="0"/>
          </a:p>
        </p:txBody>
      </p:sp>
      <p:sp>
        <p:nvSpPr>
          <p:cNvPr id="16" name="R1_va0"/>
          <p:cNvSpPr txBox="1"/>
          <p:nvPr/>
        </p:nvSpPr>
        <p:spPr>
          <a:xfrm>
            <a:off x="7680960" y="1837944"/>
            <a:ext cx="1143000" cy="359664"/>
          </a:xfrm>
          <a:prstGeom prst="roundRect">
            <a:avLst>
              <a:gd name="adj" fmla="val 15254"/>
            </a:avLst>
          </a:prstGeom>
          <a:solidFill>
            <a:srgbClr val="FFFFFF"/>
          </a:solidFill>
          <a:ln w="38100">
            <a:solidFill>
              <a:srgbClr val="1FA463"/>
            </a:solidFill>
          </a:ln>
        </p:spPr>
        <p:txBody>
          <a:bodyPr wrap="square" lIns="25400" tIns="25400" rIns="25400" bIns="25400" rtlCol="0" anchor="ctr"/>
          <a:lstStyle/>
          <a:p>
            <a:pPr algn="ctr" indent="0" marL="0">
              <a:buNone/>
            </a:pPr>
            <a:r>
              <a:rPr lang="en-US" sz="950" dirty="0">
                <a:solidFill>
                  <a:srgbClr val="111111"/>
                </a:solidFill>
                <a:latin typeface="Calibri" pitchFamily="34" charset="0"/>
                <a:ea typeface="Calibri" pitchFamily="34" charset="-122"/>
                <a:cs typeface="Calibri" pitchFamily="34" charset="-120"/>
              </a:rPr>
              <a:t>hasn't changed much</a:t>
            </a:r>
            <a:endParaRPr lang="en-US" sz="950" dirty="0"/>
          </a:p>
        </p:txBody>
      </p:sp>
      <p:sp>
        <p:nvSpPr>
          <p:cNvPr id="17" name="box_194"/>
          <p:cNvSpPr txBox="1"/>
          <p:nvPr/>
        </p:nvSpPr>
        <p:spPr>
          <a:xfrm>
            <a:off x="5852160" y="2298192"/>
            <a:ext cx="1783080" cy="414528"/>
          </a:xfrm>
          <a:prstGeom prst="rect">
            <a:avLst/>
          </a:prstGeom>
          <a:solidFill>
            <a:srgbClr val="FCE7F3"/>
          </a:solidFill>
          <a:ln w="15875">
            <a:solidFill>
              <a:srgbClr val="111111"/>
            </a:solidFill>
          </a:ln>
        </p:spPr>
        <p:txBody>
          <a:bodyPr wrap="square" lIns="76200" tIns="76200" rIns="76200" bIns="76200" rtlCol="0" anchor="ctr"/>
          <a:lstStyle/>
          <a:p>
            <a:pPr algn="l" indent="0" marL="0">
              <a:buNone/>
            </a:pPr>
            <a:r>
              <a:rPr lang="en-US" sz="1250" dirty="0">
                <a:solidFill>
                  <a:srgbClr val="111111"/>
                </a:solidFill>
                <a:latin typeface="Calibri" pitchFamily="34" charset="0"/>
                <a:ea typeface="Calibri" pitchFamily="34" charset="-122"/>
                <a:cs typeface="Calibri" pitchFamily="34" charset="-120"/>
              </a:rPr>
              <a:t>2  His flight: on time?</a:t>
            </a:r>
            <a:endParaRPr lang="en-US" sz="1250" dirty="0"/>
          </a:p>
        </p:txBody>
      </p:sp>
      <p:sp>
        <p:nvSpPr>
          <p:cNvPr id="18" name="R1_va1"/>
          <p:cNvSpPr txBox="1"/>
          <p:nvPr/>
        </p:nvSpPr>
        <p:spPr>
          <a:xfrm>
            <a:off x="7680960" y="2325624"/>
            <a:ext cx="1143000" cy="359664"/>
          </a:xfrm>
          <a:prstGeom prst="roundRect">
            <a:avLst>
              <a:gd name="adj" fmla="val 15254"/>
            </a:avLst>
          </a:prstGeom>
          <a:solidFill>
            <a:srgbClr val="FFFFFF"/>
          </a:solidFill>
          <a:ln w="38100">
            <a:solidFill>
              <a:srgbClr val="1FA463"/>
            </a:solidFill>
          </a:ln>
        </p:spPr>
        <p:txBody>
          <a:bodyPr wrap="square" lIns="25400" tIns="25400" rIns="25400" bIns="25400" rtlCol="0" anchor="ctr"/>
          <a:lstStyle/>
          <a:p>
            <a:pPr algn="ctr" indent="0" marL="0">
              <a:buNone/>
            </a:pPr>
            <a:r>
              <a:rPr lang="en-US" sz="1050" dirty="0">
                <a:solidFill>
                  <a:srgbClr val="111111"/>
                </a:solidFill>
                <a:latin typeface="Calibri" pitchFamily="34" charset="0"/>
                <a:ea typeface="Calibri" pitchFamily="34" charset="-122"/>
                <a:cs typeface="Calibri" pitchFamily="34" charset="-120"/>
              </a:rPr>
              <a:t>no – late</a:t>
            </a:r>
            <a:endParaRPr lang="en-US" sz="1050" dirty="0"/>
          </a:p>
        </p:txBody>
      </p:sp>
      <p:sp>
        <p:nvSpPr>
          <p:cNvPr id="19" name="box_195"/>
          <p:cNvSpPr txBox="1"/>
          <p:nvPr/>
        </p:nvSpPr>
        <p:spPr>
          <a:xfrm>
            <a:off x="5852160" y="2785872"/>
            <a:ext cx="1783080" cy="414528"/>
          </a:xfrm>
          <a:prstGeom prst="rect">
            <a:avLst/>
          </a:prstGeom>
          <a:solidFill>
            <a:srgbClr val="FEF9C3"/>
          </a:solidFill>
          <a:ln w="15875">
            <a:solidFill>
              <a:srgbClr val="111111"/>
            </a:solidFill>
          </a:ln>
        </p:spPr>
        <p:txBody>
          <a:bodyPr wrap="square" lIns="76200" tIns="76200" rIns="76200" bIns="76200" rtlCol="0" anchor="ctr"/>
          <a:lstStyle/>
          <a:p>
            <a:pPr algn="l" indent="0" marL="0">
              <a:buNone/>
            </a:pPr>
            <a:r>
              <a:rPr lang="en-US" sz="800" dirty="0">
                <a:solidFill>
                  <a:srgbClr val="111111"/>
                </a:solidFill>
                <a:latin typeface="Calibri" pitchFamily="34" charset="0"/>
                <a:ea typeface="Calibri" pitchFamily="34" charset="-122"/>
                <a:cs typeface="Calibri" pitchFamily="34" charset="-120"/>
              </a:rPr>
              <a:t>3  In the car, Paul talked about…?</a:t>
            </a:r>
            <a:endParaRPr lang="en-US" sz="800" dirty="0"/>
          </a:p>
        </p:txBody>
      </p:sp>
      <p:sp>
        <p:nvSpPr>
          <p:cNvPr id="20" name="R1_va2"/>
          <p:cNvSpPr txBox="1"/>
          <p:nvPr/>
        </p:nvSpPr>
        <p:spPr>
          <a:xfrm>
            <a:off x="7680960" y="2813304"/>
            <a:ext cx="1143000" cy="359664"/>
          </a:xfrm>
          <a:prstGeom prst="roundRect">
            <a:avLst>
              <a:gd name="adj" fmla="val 15254"/>
            </a:avLst>
          </a:prstGeom>
          <a:solidFill>
            <a:srgbClr val="FFFFFF"/>
          </a:solidFill>
          <a:ln w="38100">
            <a:solidFill>
              <a:srgbClr val="1FA463"/>
            </a:solidFill>
          </a:ln>
        </p:spPr>
        <p:txBody>
          <a:bodyPr wrap="square" lIns="25400" tIns="25400" rIns="25400" bIns="25400" rtlCol="0" anchor="ctr"/>
          <a:lstStyle/>
          <a:p>
            <a:pPr algn="ctr" indent="0" marL="0">
              <a:buNone/>
            </a:pPr>
            <a:r>
              <a:rPr lang="en-US" sz="1050" dirty="0">
                <a:solidFill>
                  <a:srgbClr val="111111"/>
                </a:solidFill>
                <a:latin typeface="Calibri" pitchFamily="34" charset="0"/>
                <a:ea typeface="Calibri" pitchFamily="34" charset="-122"/>
                <a:cs typeface="Calibri" pitchFamily="34" charset="-120"/>
              </a:rPr>
              <a:t>himself</a:t>
            </a:r>
            <a:endParaRPr lang="en-US" sz="1050" dirty="0"/>
          </a:p>
        </p:txBody>
      </p:sp>
      <p:sp>
        <p:nvSpPr>
          <p:cNvPr id="21" name="box_196"/>
          <p:cNvSpPr txBox="1"/>
          <p:nvPr/>
        </p:nvSpPr>
        <p:spPr>
          <a:xfrm>
            <a:off x="5852160" y="3273552"/>
            <a:ext cx="1783080" cy="414528"/>
          </a:xfrm>
          <a:prstGeom prst="rect">
            <a:avLst/>
          </a:prstGeom>
          <a:solidFill>
            <a:srgbClr val="DCFCE7"/>
          </a:solidFill>
          <a:ln w="15875">
            <a:solidFill>
              <a:srgbClr val="111111"/>
            </a:solidFill>
          </a:ln>
        </p:spPr>
        <p:txBody>
          <a:bodyPr wrap="square" lIns="76200" tIns="76200" rIns="76200" bIns="76200" rtlCol="0" anchor="ctr"/>
          <a:lstStyle/>
          <a:p>
            <a:pPr algn="l" indent="0" marL="0">
              <a:buNone/>
            </a:pPr>
            <a:r>
              <a:rPr lang="en-US" sz="1050" dirty="0">
                <a:solidFill>
                  <a:srgbClr val="111111"/>
                </a:solidFill>
                <a:latin typeface="Calibri" pitchFamily="34" charset="0"/>
                <a:ea typeface="Calibri" pitchFamily="34" charset="-122"/>
                <a:cs typeface="Calibri" pitchFamily="34" charset="-120"/>
              </a:rPr>
              <a:t>4  Rob suggests eating…?</a:t>
            </a:r>
            <a:endParaRPr lang="en-US" sz="1050" dirty="0"/>
          </a:p>
        </p:txBody>
      </p:sp>
      <p:sp>
        <p:nvSpPr>
          <p:cNvPr id="22" name="R1_va3"/>
          <p:cNvSpPr txBox="1"/>
          <p:nvPr/>
        </p:nvSpPr>
        <p:spPr>
          <a:xfrm>
            <a:off x="7680960" y="3300984"/>
            <a:ext cx="1143000" cy="359664"/>
          </a:xfrm>
          <a:prstGeom prst="roundRect">
            <a:avLst>
              <a:gd name="adj" fmla="val 15254"/>
            </a:avLst>
          </a:prstGeom>
          <a:solidFill>
            <a:srgbClr val="FFFFFF"/>
          </a:solidFill>
          <a:ln w="38100">
            <a:solidFill>
              <a:srgbClr val="1FA463"/>
            </a:solidFill>
          </a:ln>
        </p:spPr>
        <p:txBody>
          <a:bodyPr wrap="square" lIns="25400" tIns="25400" rIns="25400" bIns="25400" rtlCol="0" anchor="ctr"/>
          <a:lstStyle/>
          <a:p>
            <a:pPr algn="ctr" indent="0" marL="0">
              <a:buNone/>
            </a:pPr>
            <a:r>
              <a:rPr lang="en-US" sz="1050" dirty="0">
                <a:solidFill>
                  <a:srgbClr val="111111"/>
                </a:solidFill>
                <a:latin typeface="Calibri" pitchFamily="34" charset="0"/>
                <a:ea typeface="Calibri" pitchFamily="34" charset="-122"/>
                <a:cs typeface="Calibri" pitchFamily="34" charset="-120"/>
              </a:rPr>
              <a:t>in</a:t>
            </a:r>
            <a:endParaRPr lang="en-US" sz="1050" dirty="0"/>
          </a:p>
        </p:txBody>
      </p:sp>
      <p:sp>
        <p:nvSpPr>
          <p:cNvPr id="23" name="box_197"/>
          <p:cNvSpPr txBox="1"/>
          <p:nvPr/>
        </p:nvSpPr>
        <p:spPr>
          <a:xfrm>
            <a:off x="5852160" y="3761232"/>
            <a:ext cx="1783080" cy="414528"/>
          </a:xfrm>
          <a:prstGeom prst="rect">
            <a:avLst/>
          </a:prstGeom>
          <a:solidFill>
            <a:srgbClr val="EDE9FE"/>
          </a:solidFill>
          <a:ln w="15875">
            <a:solidFill>
              <a:srgbClr val="111111"/>
            </a:solidFill>
          </a:ln>
        </p:spPr>
        <p:txBody>
          <a:bodyPr wrap="square" lIns="76200" tIns="76200" rIns="76200" bIns="76200" rtlCol="0" anchor="ctr"/>
          <a:lstStyle/>
          <a:p>
            <a:pPr algn="l" indent="0" marL="0">
              <a:buNone/>
            </a:pPr>
            <a:r>
              <a:rPr lang="en-US" sz="1100" dirty="0">
                <a:solidFill>
                  <a:srgbClr val="111111"/>
                </a:solidFill>
                <a:latin typeface="Calibri" pitchFamily="34" charset="0"/>
                <a:ea typeface="Calibri" pitchFamily="34" charset="-122"/>
                <a:cs typeface="Calibri" pitchFamily="34" charset="-120"/>
              </a:rPr>
              <a:t>5  Paul feels exhausted?</a:t>
            </a:r>
            <a:endParaRPr lang="en-US" sz="1100" dirty="0"/>
          </a:p>
        </p:txBody>
      </p:sp>
      <p:sp>
        <p:nvSpPr>
          <p:cNvPr id="24" name="R1_va4"/>
          <p:cNvSpPr txBox="1"/>
          <p:nvPr/>
        </p:nvSpPr>
        <p:spPr>
          <a:xfrm>
            <a:off x="7680960" y="3788664"/>
            <a:ext cx="1143000" cy="359664"/>
          </a:xfrm>
          <a:prstGeom prst="roundRect">
            <a:avLst>
              <a:gd name="adj" fmla="val 15254"/>
            </a:avLst>
          </a:prstGeom>
          <a:solidFill>
            <a:srgbClr val="FFFFFF"/>
          </a:solidFill>
          <a:ln w="38100">
            <a:solidFill>
              <a:srgbClr val="1FA463"/>
            </a:solidFill>
          </a:ln>
        </p:spPr>
        <p:txBody>
          <a:bodyPr wrap="square" lIns="25400" tIns="25400" rIns="25400" bIns="25400" rtlCol="0" anchor="ctr"/>
          <a:lstStyle/>
          <a:p>
            <a:pPr algn="ctr" indent="0" marL="0">
              <a:buNone/>
            </a:pPr>
            <a:r>
              <a:rPr lang="en-US" sz="1050" dirty="0">
                <a:solidFill>
                  <a:srgbClr val="111111"/>
                </a:solidFill>
                <a:latin typeface="Calibri" pitchFamily="34" charset="0"/>
                <a:ea typeface="Calibri" pitchFamily="34" charset="-122"/>
                <a:cs typeface="Calibri" pitchFamily="34" charset="-120"/>
              </a:rPr>
              <a:t>no – full of energy</a:t>
            </a:r>
            <a:endParaRPr lang="en-US" sz="1050" dirty="0"/>
          </a:p>
        </p:txBody>
      </p:sp>
      <p:sp>
        <p:nvSpPr>
          <p:cNvPr id="25" name="box_198"/>
          <p:cNvSpPr txBox="1"/>
          <p:nvPr/>
        </p:nvSpPr>
        <p:spPr>
          <a:xfrm>
            <a:off x="5852160" y="4248912"/>
            <a:ext cx="1783080" cy="414528"/>
          </a:xfrm>
          <a:prstGeom prst="rect">
            <a:avLst/>
          </a:prstGeom>
          <a:solidFill>
            <a:srgbClr val="FFEDD5"/>
          </a:solidFill>
          <a:ln w="15875">
            <a:solidFill>
              <a:srgbClr val="111111"/>
            </a:solidFill>
          </a:ln>
        </p:spPr>
        <p:txBody>
          <a:bodyPr wrap="square" lIns="76200" tIns="76200" rIns="76200" bIns="76200" rtlCol="0" anchor="ctr"/>
          <a:lstStyle/>
          <a:p>
            <a:pPr algn="l" indent="0" marL="0">
              <a:buNone/>
            </a:pPr>
            <a:r>
              <a:rPr lang="en-US" sz="1050" dirty="0">
                <a:solidFill>
                  <a:srgbClr val="111111"/>
                </a:solidFill>
                <a:latin typeface="Calibri" pitchFamily="34" charset="0"/>
                <a:ea typeface="Calibri" pitchFamily="34" charset="-122"/>
                <a:cs typeface="Calibri" pitchFamily="34" charset="-120"/>
              </a:rPr>
              <a:t>6  Jenny wants to go out?</a:t>
            </a:r>
            <a:endParaRPr lang="en-US" sz="1050" dirty="0"/>
          </a:p>
        </p:txBody>
      </p:sp>
      <p:sp>
        <p:nvSpPr>
          <p:cNvPr id="26" name="R1_va5"/>
          <p:cNvSpPr txBox="1"/>
          <p:nvPr/>
        </p:nvSpPr>
        <p:spPr>
          <a:xfrm>
            <a:off x="7680960" y="4276344"/>
            <a:ext cx="1143000" cy="359664"/>
          </a:xfrm>
          <a:prstGeom prst="roundRect">
            <a:avLst>
              <a:gd name="adj" fmla="val 15254"/>
            </a:avLst>
          </a:prstGeom>
          <a:solidFill>
            <a:srgbClr val="FFFFFF"/>
          </a:solidFill>
          <a:ln w="38100">
            <a:solidFill>
              <a:srgbClr val="1FA463"/>
            </a:solidFill>
          </a:ln>
        </p:spPr>
        <p:txBody>
          <a:bodyPr wrap="square" lIns="25400" tIns="25400" rIns="25400" bIns="25400" rtlCol="0" anchor="ctr"/>
          <a:lstStyle/>
          <a:p>
            <a:pPr algn="ctr" indent="0" marL="0">
              <a:buNone/>
            </a:pPr>
            <a:r>
              <a:rPr lang="en-US" sz="950" dirty="0">
                <a:solidFill>
                  <a:srgbClr val="111111"/>
                </a:solidFill>
                <a:latin typeface="Calibri" pitchFamily="34" charset="0"/>
                <a:ea typeface="Calibri" pitchFamily="34" charset="-122"/>
                <a:cs typeface="Calibri" pitchFamily="34" charset="-120"/>
              </a:rPr>
              <a:t>no – doesn't feel like it</a:t>
            </a:r>
            <a:endParaRPr lang="en-US" sz="950" dirty="0"/>
          </a:p>
        </p:txBody>
      </p:sp>
      <p:sp>
        <p:nvSpPr>
          <p:cNvPr id="27" name="pageTag_199"/>
          <p:cNvSpPr txBox="1"/>
          <p:nvPr/>
        </p:nvSpPr>
        <p:spPr>
          <a:xfrm>
            <a:off x="320040" y="4773168"/>
            <a:ext cx="6720840" cy="246888"/>
          </a:xfrm>
          <a:prstGeom prst="rect">
            <a:avLst/>
          </a:prstGeom>
          <a:solidFill>
            <a:srgbClr val="FFFFFF"/>
          </a:solidFill>
          <a:ln/>
        </p:spPr>
        <p:txBody>
          <a:bodyPr wrap="square" lIns="25400" tIns="25400" rIns="25400" bIns="25400" rtlCol="0" anchor="ctr"/>
          <a:lstStyle/>
          <a:p>
            <a:pPr indent="0" marL="0">
              <a:buNone/>
            </a:pPr>
            <a:r>
              <a:rPr lang="en-US" sz="1050" dirty="0">
                <a:solidFill>
                  <a:srgbClr val="334155"/>
                </a:solidFill>
                <a:latin typeface="Calibri" pitchFamily="34" charset="0"/>
                <a:ea typeface="Calibri" pitchFamily="34" charset="-122"/>
                <a:cs typeface="Calibri" pitchFamily="34" charset="-120"/>
              </a:rPr>
              <a:t>📖 Teacher: Student's Book p.55 · 3a, 3b · Practical English Episode 3 · video / audio 5.27</a:t>
            </a:r>
            <a:endParaRPr lang="en-US" sz="1050" dirty="0"/>
          </a:p>
        </p:txBody>
      </p:sp>
      <p:sp>
        <p:nvSpPr>
          <p:cNvPr id="28" name="pframe_200"/>
          <p:cNvSpPr/>
          <p:nvPr/>
        </p:nvSpPr>
        <p:spPr>
          <a:xfrm rot="-120000">
            <a:off x="685800" y="3154680"/>
            <a:ext cx="1325880" cy="1554480"/>
          </a:xfrm>
          <a:prstGeom prst="rect">
            <a:avLst/>
          </a:prstGeom>
          <a:solidFill>
            <a:srgbClr val="FFFFFF"/>
          </a:solidFill>
          <a:ln w="19050">
            <a:solidFill>
              <a:srgbClr val="111111"/>
            </a:solidFill>
            <a:prstDash val="solid"/>
          </a:ln>
          <a:effectLst>
            <a:outerShdw sx="100000" sy="100000" kx="0" ky="0" algn="bl" rotWithShape="0" blurRad="101600" dist="38100" dir="2700000">
              <a:srgbClr val="000000">
                <a:alpha val="35000"/>
              </a:srgbClr>
            </a:outerShdw>
          </a:effectLst>
        </p:spPr>
      </p:sp>
      <p:pic>
        <p:nvPicPr>
          <p:cNvPr id="29" name="pimg_201" descr="Paul">    </p:cNvPr>
          <p:cNvPicPr>
            <a:picLocks noChangeAspect="1"/>
          </p:cNvPicPr>
          <p:nvPr/>
        </p:nvPicPr>
        <p:blipFill>
          <a:blip r:embed="rId6"/>
          <a:srcRect l="0" r="0" t="0" b="0"/>
          <a:stretch/>
        </p:blipFill>
        <p:spPr>
          <a:xfrm rot="-120000">
            <a:off x="758952" y="3227832"/>
            <a:ext cx="1179576" cy="1133856"/>
          </a:xfrm>
          <a:prstGeom prst="rect">
            <a:avLst/>
          </a:prstGeom>
        </p:spPr>
      </p:pic>
      <p:sp>
        <p:nvSpPr>
          <p:cNvPr id="30" name="pcap_202"/>
          <p:cNvSpPr txBox="1"/>
          <p:nvPr/>
        </p:nvSpPr>
        <p:spPr>
          <a:xfrm rot="-120000">
            <a:off x="685800" y="4370832"/>
            <a:ext cx="1325880" cy="274320"/>
          </a:xfrm>
          <a:prstGeom prst="rect">
            <a:avLst/>
          </a:prstGeom>
          <a:noFill/>
          <a:ln/>
        </p:spPr>
        <p:txBody>
          <a:bodyPr wrap="square" rtlCol="0" anchor="ctr"/>
          <a:lstStyle/>
          <a:p>
            <a:pPr algn="ctr" indent="0" marL="0">
              <a:buNone/>
            </a:pPr>
            <a:r>
              <a:rPr lang="en-US" sz="1100" i="1" dirty="0">
                <a:solidFill>
                  <a:srgbClr val="111111"/>
                </a:solidFill>
                <a:latin typeface="Calibri" pitchFamily="34" charset="0"/>
                <a:ea typeface="Calibri" pitchFamily="34" charset="-122"/>
                <a:cs typeface="Calibri" pitchFamily="34" charset="-120"/>
              </a:rPr>
              <a:t>Paul</a:t>
            </a:r>
            <a:endParaRPr lang="en-US" sz="110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fade">
                                      <p:cBhvr>
                                        <p:cTn id="7" dur="400"/>
                                        <p:tgtEl>
                                          <p:spTgt spid="16"/>
                                        </p:tgtEl>
                                      </p:cBhvr>
                                    </p:animEffect>
                                  </p:childTnLst>
                                </p:cTn>
                              </p:par>
                              <p:par>
                                <p:cTn id="8" presetID="10" presetClass="entr" presetSubtype="0" fill="hold" nodeType="withEffect">
                                  <p:stCondLst>
                                    <p:cond delay="0"/>
                                  </p:stCondLst>
                                  <p:childTnLst>
                                    <p:set>
                                      <p:cBhvr>
                                        <p:cTn id="9" dur="1" fill="hold">
                                          <p:stCondLst>
                                            <p:cond delay="0"/>
                                          </p:stCondLst>
                                        </p:cTn>
                                        <p:tgtEl>
                                          <p:spTgt spid="18"/>
                                        </p:tgtEl>
                                        <p:attrNameLst>
                                          <p:attrName>style.visibility</p:attrName>
                                        </p:attrNameLst>
                                      </p:cBhvr>
                                      <p:to>
                                        <p:strVal val="visible"/>
                                      </p:to>
                                    </p:set>
                                    <p:animEffect transition="in" filter="fade">
                                      <p:cBhvr>
                                        <p:cTn id="10" dur="400"/>
                                        <p:tgtEl>
                                          <p:spTgt spid="18"/>
                                        </p:tgtEl>
                                      </p:cBhvr>
                                    </p:animEffect>
                                  </p:childTnLst>
                                </p:cTn>
                              </p:par>
                              <p:par>
                                <p:cTn id="11" presetID="10" presetClass="entr" presetSubtype="0" fill="hold" nodeType="withEffect">
                                  <p:stCondLst>
                                    <p:cond delay="0"/>
                                  </p:stCondLst>
                                  <p:childTnLst>
                                    <p:set>
                                      <p:cBhvr>
                                        <p:cTn id="12" dur="1" fill="hold">
                                          <p:stCondLst>
                                            <p:cond delay="0"/>
                                          </p:stCondLst>
                                        </p:cTn>
                                        <p:tgtEl>
                                          <p:spTgt spid="20"/>
                                        </p:tgtEl>
                                        <p:attrNameLst>
                                          <p:attrName>style.visibility</p:attrName>
                                        </p:attrNameLst>
                                      </p:cBhvr>
                                      <p:to>
                                        <p:strVal val="visible"/>
                                      </p:to>
                                    </p:set>
                                    <p:animEffect transition="in" filter="fade">
                                      <p:cBhvr>
                                        <p:cTn id="13" dur="400"/>
                                        <p:tgtEl>
                                          <p:spTgt spid="20"/>
                                        </p:tgtEl>
                                      </p:cBhvr>
                                    </p:animEffect>
                                  </p:childTnLst>
                                </p:cTn>
                              </p:par>
                              <p:par>
                                <p:cTn id="14" presetID="10" presetClass="entr" presetSubtype="0" fill="hold" nodeType="withEffect">
                                  <p:stCondLst>
                                    <p:cond delay="0"/>
                                  </p:stCondLst>
                                  <p:childTnLst>
                                    <p:set>
                                      <p:cBhvr>
                                        <p:cTn id="15" dur="1" fill="hold">
                                          <p:stCondLst>
                                            <p:cond delay="0"/>
                                          </p:stCondLst>
                                        </p:cTn>
                                        <p:tgtEl>
                                          <p:spTgt spid="22"/>
                                        </p:tgtEl>
                                        <p:attrNameLst>
                                          <p:attrName>style.visibility</p:attrName>
                                        </p:attrNameLst>
                                      </p:cBhvr>
                                      <p:to>
                                        <p:strVal val="visible"/>
                                      </p:to>
                                    </p:set>
                                    <p:animEffect transition="in" filter="fade">
                                      <p:cBhvr>
                                        <p:cTn id="16" dur="400"/>
                                        <p:tgtEl>
                                          <p:spTgt spid="22"/>
                                        </p:tgtEl>
                                      </p:cBhvr>
                                    </p:animEffect>
                                  </p:childTnLst>
                                </p:cTn>
                              </p:par>
                              <p:par>
                                <p:cTn id="17" presetID="10" presetClass="entr" presetSubtype="0" fill="hold" nodeType="withEffect">
                                  <p:stCondLst>
                                    <p:cond delay="0"/>
                                  </p:stCondLst>
                                  <p:childTnLst>
                                    <p:set>
                                      <p:cBhvr>
                                        <p:cTn id="18" dur="1" fill="hold">
                                          <p:stCondLst>
                                            <p:cond delay="0"/>
                                          </p:stCondLst>
                                        </p:cTn>
                                        <p:tgtEl>
                                          <p:spTgt spid="24"/>
                                        </p:tgtEl>
                                        <p:attrNameLst>
                                          <p:attrName>style.visibility</p:attrName>
                                        </p:attrNameLst>
                                      </p:cBhvr>
                                      <p:to>
                                        <p:strVal val="visible"/>
                                      </p:to>
                                    </p:set>
                                    <p:animEffect transition="in" filter="fade">
                                      <p:cBhvr>
                                        <p:cTn id="19" dur="400"/>
                                        <p:tgtEl>
                                          <p:spTgt spid="24"/>
                                        </p:tgtEl>
                                      </p:cBhvr>
                                    </p:animEffect>
                                  </p:childTnLst>
                                </p:cTn>
                              </p:par>
                              <p:par>
                                <p:cTn id="20" presetID="10" presetClass="entr" presetSubtype="0" fill="hold" nodeType="withEffect">
                                  <p:stCondLst>
                                    <p:cond delay="0"/>
                                  </p:stCondLst>
                                  <p:childTnLst>
                                    <p:set>
                                      <p:cBhvr>
                                        <p:cTn id="21" dur="1" fill="hold">
                                          <p:stCondLst>
                                            <p:cond delay="0"/>
                                          </p:stCondLst>
                                        </p:cTn>
                                        <p:tgtEl>
                                          <p:spTgt spid="26"/>
                                        </p:tgtEl>
                                        <p:attrNameLst>
                                          <p:attrName>style.visibility</p:attrName>
                                        </p:attrNameLst>
                                      </p:cBhvr>
                                      <p:to>
                                        <p:strVal val="visible"/>
                                      </p:to>
                                    </p:set>
                                    <p:animEffect transition="in" filter="fade">
                                      <p:cBhvr>
                                        <p:cTn id="22" dur="40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seq concurrent="1" nextAc="seek">
              <p:cTn id="23" restart="whenNotActive" fill="hold" evtFilter="cancelBubble" nodeType="interactiveSeq">
                <p:stCondLst>
                  <p:cond evt="onClick" delay="0">
                    <p:tgtEl>
                      <p:spTgt spid="12"/>
                    </p:tgtEl>
                  </p:cond>
                </p:stCondLst>
                <p:endSync evt="end" delay="0">
                  <p:rtn val="all"/>
                </p:endSync>
                <p:childTnLst>
                  <p:par>
                    <p:cTn id="24" fill="hold">
                      <p:stCondLst>
                        <p:cond delay="0"/>
                      </p:stCondLst>
                      <p:childTnLst>
                        <p:par>
                          <p:cTn id="25" fill="hold">
                            <p:stCondLst>
                              <p:cond delay="0"/>
                            </p:stCondLst>
                            <p:childTnLst>
                              <p:par>
                                <p:cTn id="26" presetID="2" presetClass="mediacall" presetSubtype="0" fill="hold" nodeType="clickEffect">
                                  <p:stCondLst>
                                    <p:cond delay="0"/>
                                  </p:stCondLst>
                                  <p:childTnLst>
                                    <p:cmd type="call" cmd="togglePause">
                                      <p:cBhvr>
                                        <p:cTn id="27" dur="1" fill="hold"/>
                                        <p:tgtEl>
                                          <p:spTgt spid="12"/>
                                        </p:tgtEl>
                                      </p:cBhvr>
                                    </p:cmd>
                                  </p:childTnLst>
                                </p:cTn>
                              </p:par>
                            </p:childTnLst>
                          </p:cTn>
                        </p:par>
                      </p:childTnLst>
                    </p:cTn>
                  </p:par>
                </p:childTnLst>
              </p:cTn>
              <p:nextCondLst>
                <p:cond evt="onClick" delay="0">
                  <p:tgtEl>
                    <p:spTgt spid="12"/>
                  </p:tgtEl>
                </p:cond>
              </p:nextCondLst>
            </p:seq>
            <p:video>
              <p:cMediaNode vol="80000">
                <p:cTn id="28" fill="hold" display="0">
                  <p:stCondLst>
                    <p:cond delay="indefinite"/>
                  </p:stCondLst>
                </p:cTn>
                <p:tgtEl>
                  <p:spTgt spid="12"/>
                </p:tgtEl>
              </p:cMediaNode>
            </p:video>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name="Slide 12">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levelFrame_203"/>
          <p:cNvSpPr/>
          <p:nvPr/>
        </p:nvSpPr>
        <p:spPr>
          <a:xfrm>
            <a:off x="54864" y="54864"/>
            <a:ext cx="9034272" cy="5033772"/>
          </a:xfrm>
          <a:prstGeom prst="rect">
            <a:avLst/>
          </a:prstGeom>
          <a:ln w="114300">
            <a:solidFill>
              <a:srgbClr val="A8E6B4"/>
            </a:solidFill>
            <a:prstDash val="solid"/>
          </a:ln>
        </p:spPr>
      </p:sp>
      <p:pic>
        <p:nvPicPr>
          <p:cNvPr id="4" name="logo_204" descr="London Language School logo">    </p:cNvPr>
          <p:cNvPicPr>
            <a:picLocks noChangeAspect="1"/>
          </p:cNvPicPr>
          <p:nvPr/>
        </p:nvPicPr>
        <p:blipFill>
          <a:blip r:embed="rId2"/>
          <a:stretch>
            <a:fillRect/>
          </a:stretch>
        </p:blipFill>
        <p:spPr>
          <a:xfrm>
            <a:off x="8275320" y="182880"/>
            <a:ext cx="585216" cy="585216"/>
          </a:xfrm>
          <a:prstGeom prst="rect">
            <a:avLst/>
          </a:prstGeom>
        </p:spPr>
      </p:pic>
      <p:sp>
        <p:nvSpPr>
          <p:cNvPr id="5" name="objective_205"/>
          <p:cNvSpPr txBox="1"/>
          <p:nvPr/>
        </p:nvSpPr>
        <p:spPr>
          <a:xfrm>
            <a:off x="320040" y="182880"/>
            <a:ext cx="4754880" cy="365760"/>
          </a:xfrm>
          <a:prstGeom prst="roundRect">
            <a:avLst>
              <a:gd name="adj" fmla="val 20000"/>
            </a:avLst>
          </a:prstGeom>
          <a:solidFill>
            <a:srgbClr val="062F67"/>
          </a:solidFill>
          <a:ln w="31750">
            <a:solidFill>
              <a:srgbClr val="111111"/>
            </a:solidFill>
          </a:ln>
        </p:spPr>
        <p:txBody>
          <a:bodyPr wrap="square" lIns="101600" tIns="101600" rIns="101600" bIns="101600" rtlCol="0" anchor="ctr"/>
          <a:lstStyle/>
          <a:p>
            <a:pPr indent="0" marL="0">
              <a:buNone/>
            </a:pPr>
            <a:r>
              <a:rPr lang="en-US" sz="900" dirty="0">
                <a:solidFill>
                  <a:srgbClr val="FFFFFF"/>
                </a:solidFill>
                <a:latin typeface="Arial Black" pitchFamily="34" charset="0"/>
                <a:ea typeface="Arial Black" pitchFamily="34" charset="-122"/>
                <a:cs typeface="Arial Black" pitchFamily="34" charset="-120"/>
              </a:rPr>
              <a:t>SOCIAL ENGLISH · video 5.28</a:t>
            </a:r>
            <a:endParaRPr lang="en-US" sz="900" dirty="0"/>
          </a:p>
        </p:txBody>
      </p:sp>
      <p:sp>
        <p:nvSpPr>
          <p:cNvPr id="6" name="timer_206"/>
          <p:cNvSpPr txBox="1"/>
          <p:nvPr/>
        </p:nvSpPr>
        <p:spPr>
          <a:xfrm>
            <a:off x="7086600" y="219456"/>
            <a:ext cx="1005840" cy="310896"/>
          </a:xfrm>
          <a:prstGeom prst="roundRect">
            <a:avLst>
              <a:gd name="adj" fmla="val 23529"/>
            </a:avLst>
          </a:prstGeom>
          <a:solidFill>
            <a:srgbClr val="FFFFFF"/>
          </a:solidFill>
          <a:ln w="25400">
            <a:solidFill>
              <a:srgbClr val="6D3FC0"/>
            </a:solidFill>
          </a:ln>
        </p:spPr>
        <p:txBody>
          <a:bodyPr wrap="square" lIns="0" tIns="0" rIns="0" bIns="0" rtlCol="0" anchor="ctr"/>
          <a:lstStyle/>
          <a:p>
            <a:pPr algn="ctr" indent="0" marL="0">
              <a:buNone/>
            </a:pPr>
            <a:r>
              <a:rPr lang="en-US" sz="1200" b="1" dirty="0">
                <a:solidFill>
                  <a:srgbClr val="6D3FC0"/>
                </a:solidFill>
                <a:latin typeface="Calibri" pitchFamily="34" charset="0"/>
                <a:ea typeface="Calibri" pitchFamily="34" charset="-122"/>
                <a:cs typeface="Calibri" pitchFamily="34" charset="-120"/>
              </a:rPr>
              <a:t>⏱ 5 min</a:t>
            </a:r>
            <a:endParaRPr lang="en-US" sz="1200" dirty="0"/>
          </a:p>
        </p:txBody>
      </p:sp>
      <p:sp>
        <p:nvSpPr>
          <p:cNvPr id="7" name="footer_207"/>
          <p:cNvSpPr txBox="1"/>
          <p:nvPr/>
        </p:nvSpPr>
        <p:spPr>
          <a:xfrm>
            <a:off x="7132320" y="4818888"/>
            <a:ext cx="1737360" cy="219456"/>
          </a:xfrm>
          <a:prstGeom prst="rect">
            <a:avLst/>
          </a:prstGeom>
          <a:solidFill>
            <a:srgbClr val="FFFFFF"/>
          </a:solidFill>
          <a:ln/>
        </p:spPr>
        <p:txBody>
          <a:bodyPr wrap="square" lIns="0" tIns="0" rIns="0" bIns="0" rtlCol="0" anchor="ctr"/>
          <a:lstStyle/>
          <a:p>
            <a:pPr algn="ctr" indent="0" marL="0">
              <a:buNone/>
            </a:pPr>
            <a:r>
              <a:rPr lang="en-US" sz="1000" dirty="0">
                <a:solidFill>
                  <a:srgbClr val="334155"/>
                </a:solidFill>
                <a:latin typeface="Calibri" pitchFamily="34" charset="0"/>
                <a:ea typeface="Calibri" pitchFamily="34" charset="-122"/>
                <a:cs typeface="Calibri" pitchFamily="34" charset="-120"/>
              </a:rPr>
              <a:t>PE3 · Part 1</a:t>
            </a:r>
            <a:endParaRPr lang="en-US" sz="1000" dirty="0"/>
          </a:p>
        </p:txBody>
      </p:sp>
      <p:sp>
        <p:nvSpPr>
          <p:cNvPr id="8" name="title_208"/>
          <p:cNvSpPr txBox="1"/>
          <p:nvPr/>
        </p:nvSpPr>
        <p:spPr>
          <a:xfrm rot="-120000">
            <a:off x="320040" y="676656"/>
            <a:ext cx="5367528" cy="530352"/>
          </a:xfrm>
          <a:prstGeom prst="rect">
            <a:avLst/>
          </a:prstGeom>
          <a:solidFill>
            <a:srgbClr val="FFD84D"/>
          </a:solidFill>
          <a:ln w="31750">
            <a:solidFill>
              <a:srgbClr val="111111"/>
            </a:solidFill>
          </a:ln>
          <a:effectLst>
            <a:outerShdw sx="100000" sy="100000" kx="0" ky="0" algn="bl" rotWithShape="0" blurRad="101600" dist="38100" dir="2700000">
              <a:srgbClr val="000000">
                <a:alpha val="35000"/>
              </a:srgbClr>
            </a:outerShdw>
          </a:effectLst>
        </p:spPr>
        <p:txBody>
          <a:bodyPr wrap="square" lIns="127000" tIns="127000" rIns="127000" bIns="127000" rtlCol="0" anchor="ctr"/>
          <a:lstStyle/>
          <a:p>
            <a:pPr indent="0" marL="0">
              <a:buNone/>
            </a:pPr>
            <a:r>
              <a:rPr lang="en-US" sz="1500" dirty="0">
                <a:solidFill>
                  <a:srgbClr val="111111"/>
                </a:solidFill>
                <a:latin typeface="Arial Black" pitchFamily="34" charset="0"/>
                <a:ea typeface="Arial Black" pitchFamily="34" charset="-122"/>
                <a:cs typeface="Arial Black" pitchFamily="34" charset="-120"/>
              </a:rPr>
              <a:t>It's great to see you, mate!</a:t>
            </a:r>
            <a:endParaRPr lang="en-US" sz="1500" dirty="0"/>
          </a:p>
        </p:txBody>
      </p:sp>
      <p:sp>
        <p:nvSpPr>
          <p:cNvPr id="9" name="post_209"/>
          <p:cNvSpPr/>
          <p:nvPr/>
        </p:nvSpPr>
        <p:spPr>
          <a:xfrm>
            <a:off x="429768" y="1554480"/>
            <a:ext cx="128016" cy="2194560"/>
          </a:xfrm>
          <a:prstGeom prst="rect">
            <a:avLst/>
          </a:prstGeom>
          <a:solidFill>
            <a:srgbClr val="8B5A2B"/>
          </a:solidFill>
          <a:ln w="31750">
            <a:solidFill>
              <a:srgbClr val="111111"/>
            </a:solidFill>
            <a:prstDash val="solid"/>
          </a:ln>
        </p:spPr>
      </p:sp>
      <p:sp>
        <p:nvSpPr>
          <p:cNvPr id="10" name="signA_210"/>
          <p:cNvSpPr txBox="1"/>
          <p:nvPr/>
        </p:nvSpPr>
        <p:spPr>
          <a:xfrm rot="-180000">
            <a:off x="320040" y="1371600"/>
            <a:ext cx="2240280" cy="457200"/>
          </a:xfrm>
          <a:prstGeom prst="homePlate">
            <a:avLst/>
          </a:prstGeom>
          <a:solidFill>
            <a:srgbClr val="062F67"/>
          </a:solidFill>
          <a:ln w="31750">
            <a:solidFill>
              <a:srgbClr val="111111"/>
            </a:solidFill>
          </a:ln>
          <a:effectLst>
            <a:outerShdw sx="100000" sy="100000" kx="0" ky="0" algn="bl" rotWithShape="0" blurRad="101600" dist="38100" dir="2700000">
              <a:srgbClr val="000000">
                <a:alpha val="35000"/>
              </a:srgbClr>
            </a:outerShdw>
          </a:effectLst>
        </p:spPr>
        <p:txBody>
          <a:bodyPr wrap="square" lIns="76200" tIns="76200" rIns="76200" bIns="76200" rtlCol="0" anchor="ctr"/>
          <a:lstStyle/>
          <a:p>
            <a:pPr indent="0" marL="0">
              <a:buNone/>
            </a:pPr>
            <a:r>
              <a:rPr lang="en-US" sz="1500" b="1" dirty="0">
                <a:solidFill>
                  <a:srgbClr val="FFFFFF"/>
                </a:solidFill>
                <a:latin typeface="Arial Black" pitchFamily="34" charset="0"/>
                <a:ea typeface="Arial Black" pitchFamily="34" charset="-122"/>
                <a:cs typeface="Arial Black" pitchFamily="34" charset="-120"/>
              </a:rPr>
              <a:t>THINK!</a:t>
            </a:r>
            <a:pPr indent="0" marL="0">
              <a:buNone/>
            </a:pPr>
            <a:r>
              <a:rPr lang="en-US" sz="1000" dirty="0">
                <a:solidFill>
                  <a:srgbClr val="FFF3B0"/>
                </a:solidFill>
                <a:latin typeface="Arial Black" pitchFamily="34" charset="0"/>
                <a:ea typeface="Arial Black" pitchFamily="34" charset="-122"/>
                <a:cs typeface="Arial Black" pitchFamily="34" charset="-120"/>
              </a:rPr>
              <a:t>  PENSA!</a:t>
            </a:r>
            <a:endParaRPr lang="en-US" sz="1500" dirty="0"/>
          </a:p>
        </p:txBody>
      </p:sp>
      <p:sp>
        <p:nvSpPr>
          <p:cNvPr id="11" name="signB_211"/>
          <p:cNvSpPr txBox="1"/>
          <p:nvPr/>
        </p:nvSpPr>
        <p:spPr>
          <a:xfrm rot="120000">
            <a:off x="365760" y="1938528"/>
            <a:ext cx="2240280" cy="1051560"/>
          </a:xfrm>
          <a:prstGeom prst="rect">
            <a:avLst/>
          </a:prstGeom>
          <a:solidFill>
            <a:srgbClr val="FFFFFF"/>
          </a:solidFill>
          <a:ln w="31750">
            <a:solidFill>
              <a:srgbClr val="111111"/>
            </a:solidFill>
          </a:ln>
        </p:spPr>
        <p:txBody>
          <a:bodyPr wrap="square" lIns="76200" tIns="76200" rIns="76200" bIns="76200" rtlCol="0" anchor="ctr"/>
          <a:lstStyle/>
          <a:p>
            <a:pPr indent="0" marL="0">
              <a:buNone/>
            </a:pPr>
            <a:r>
              <a:rPr lang="en-US" sz="1200" dirty="0">
                <a:solidFill>
                  <a:srgbClr val="111111"/>
                </a:solidFill>
                <a:latin typeface="Calibri" pitchFamily="34" charset="0"/>
                <a:ea typeface="Calibri" pitchFamily="34" charset="-122"/>
                <a:cs typeface="Calibri" pitchFamily="34" charset="-120"/>
              </a:rPr>
              <a:t>Complete the phrases. Watch and check. Then say them like Paul!</a:t>
            </a:r>
            <a:endParaRPr lang="en-US" sz="1200" dirty="0"/>
          </a:p>
          <a:p>
            <a:pPr indent="0" marL="0">
              <a:buNone/>
            </a:pPr>
            <a:r>
              <a:rPr lang="en-US" sz="1050" i="1" dirty="0">
                <a:solidFill>
                  <a:srgbClr val="334155"/>
                </a:solidFill>
                <a:latin typeface="Calibri" pitchFamily="34" charset="0"/>
                <a:ea typeface="Calibri" pitchFamily="34" charset="-122"/>
                <a:cs typeface="Calibri" pitchFamily="34" charset="-120"/>
              </a:rPr>
              <a:t>Completa le frasi. Guarda e controlla. Poi dille come Paul!</a:t>
            </a:r>
            <a:endParaRPr lang="en-US" sz="1200" dirty="0"/>
          </a:p>
        </p:txBody>
      </p:sp>
      <p:pic>
        <p:nvPicPr>
          <p:cNvPr id="12" name="Media 0">
            <a:hlinkClick r:id="" action="ppaction://media"/>
          </p:cNvPr>
          <p:cNvPicPr>
            <a:picLocks noChangeAspect="1"/>
          </p:cNvPicPr>
          <p:nvPr>
            <a:videoFile r:link="rId3"/>
            <p:extLst>
              <p:ext uri="{DAA4B4D4-6D71-4841-9C94-3DE7FCFB9230}">
                <p14:media xmlns:p14="http://schemas.microsoft.com/office/powerpoint/2010/main" r:embed="rId4"/>
              </p:ext>
            </p:extLst>
          </p:nvPr>
        </p:nvPicPr>
        <p:blipFill>
          <a:blip r:embed="rId5"/>
          <a:stretch>
            <a:fillRect/>
          </a:stretch>
        </p:blipFill>
        <p:spPr>
          <a:xfrm>
            <a:off x="2788920" y="1371600"/>
            <a:ext cx="2926080" cy="1645920"/>
          </a:xfrm>
          <a:prstGeom prst="rect">
            <a:avLst/>
          </a:prstGeom>
        </p:spPr>
      </p:pic>
      <p:sp>
        <p:nvSpPr>
          <p:cNvPr id="13" name="vt_212"/>
          <p:cNvSpPr txBox="1"/>
          <p:nvPr/>
        </p:nvSpPr>
        <p:spPr>
          <a:xfrm>
            <a:off x="2788920" y="3090672"/>
            <a:ext cx="2926080" cy="685800"/>
          </a:xfrm>
          <a:prstGeom prst="rect">
            <a:avLst/>
          </a:prstGeom>
          <a:solidFill>
            <a:srgbClr val="FFFFFF"/>
          </a:solidFill>
          <a:ln w="15875">
            <a:solidFill>
              <a:srgbClr val="111111"/>
            </a:solidFill>
          </a:ln>
        </p:spPr>
        <p:txBody>
          <a:bodyPr wrap="square" lIns="76200" tIns="76200" rIns="76200" bIns="76200" rtlCol="0" anchor="ctr"/>
          <a:lstStyle/>
          <a:p>
            <a:pPr indent="0" marL="0">
              <a:buNone/>
            </a:pPr>
            <a:r>
              <a:rPr lang="en-US" sz="1250" b="1" dirty="0">
                <a:solidFill>
                  <a:srgbClr val="111111"/>
                </a:solidFill>
                <a:latin typeface="Calibri" pitchFamily="34" charset="0"/>
                <a:ea typeface="Calibri" pitchFamily="34" charset="-122"/>
                <a:cs typeface="Calibri" pitchFamily="34" charset="-120"/>
              </a:rPr>
              <a:t>Social English phrases</a:t>
            </a:r>
            <a:endParaRPr lang="en-US" sz="1250" dirty="0"/>
          </a:p>
          <a:p>
            <a:pPr indent="0" marL="0">
              <a:buNone/>
            </a:pPr>
            <a:r>
              <a:rPr lang="en-US" sz="1050" dirty="0">
                <a:solidFill>
                  <a:srgbClr val="475569"/>
                </a:solidFill>
                <a:latin typeface="Calibri" pitchFamily="34" charset="0"/>
                <a:ea typeface="Calibri" pitchFamily="34" charset="-122"/>
                <a:cs typeface="Calibri" pitchFamily="34" charset="-120"/>
              </a:rPr>
              <a:t>Practical English Episode 3 · SB p.55 · 3c, 3d, 3e (1'09")</a:t>
            </a:r>
            <a:endParaRPr lang="en-US" sz="1250" dirty="0"/>
          </a:p>
        </p:txBody>
      </p:sp>
      <p:sp>
        <p:nvSpPr>
          <p:cNvPr id="14" name="wyw_213"/>
          <p:cNvSpPr txBox="1"/>
          <p:nvPr/>
        </p:nvSpPr>
        <p:spPr>
          <a:xfrm>
            <a:off x="5852160" y="1371600"/>
            <a:ext cx="2971800" cy="347472"/>
          </a:xfrm>
          <a:prstGeom prst="rect">
            <a:avLst/>
          </a:prstGeom>
          <a:solidFill>
            <a:srgbClr val="F59E0B"/>
          </a:solidFill>
          <a:ln w="19050">
            <a:solidFill>
              <a:srgbClr val="111111"/>
            </a:solidFill>
          </a:ln>
        </p:spPr>
        <p:txBody>
          <a:bodyPr wrap="square" lIns="25400" tIns="25400" rIns="25400" bIns="25400" rtlCol="0" anchor="ctr"/>
          <a:lstStyle/>
          <a:p>
            <a:pPr algn="ctr" indent="0" marL="0">
              <a:buNone/>
            </a:pPr>
            <a:r>
              <a:rPr lang="en-US" sz="1150" dirty="0">
                <a:solidFill>
                  <a:srgbClr val="FFFFFF"/>
                </a:solidFill>
                <a:latin typeface="Arial Black" pitchFamily="34" charset="0"/>
                <a:ea typeface="Arial Black" pitchFamily="34" charset="-122"/>
                <a:cs typeface="Arial Black" pitchFamily="34" charset="-120"/>
              </a:rPr>
              <a:t>While you watch · Mentre guardi</a:t>
            </a:r>
            <a:endParaRPr lang="en-US" sz="1150" dirty="0"/>
          </a:p>
        </p:txBody>
      </p:sp>
      <p:sp>
        <p:nvSpPr>
          <p:cNvPr id="15" name="box_214"/>
          <p:cNvSpPr txBox="1"/>
          <p:nvPr/>
        </p:nvSpPr>
        <p:spPr>
          <a:xfrm>
            <a:off x="5852160" y="1810512"/>
            <a:ext cx="1783080" cy="414528"/>
          </a:xfrm>
          <a:prstGeom prst="rect">
            <a:avLst/>
          </a:prstGeom>
          <a:solidFill>
            <a:srgbClr val="E0F2FE"/>
          </a:solidFill>
          <a:ln w="15875">
            <a:solidFill>
              <a:srgbClr val="111111"/>
            </a:solidFill>
          </a:ln>
        </p:spPr>
        <p:txBody>
          <a:bodyPr wrap="square" lIns="76200" tIns="76200" rIns="76200" bIns="76200" rtlCol="0" anchor="ctr"/>
          <a:lstStyle/>
          <a:p>
            <a:pPr algn="l" indent="0" marL="0">
              <a:buNone/>
            </a:pPr>
            <a:r>
              <a:rPr lang="en-US" sz="950" dirty="0">
                <a:solidFill>
                  <a:srgbClr val="111111"/>
                </a:solidFill>
                <a:latin typeface="Calibri" pitchFamily="34" charset="0"/>
                <a:ea typeface="Calibri" pitchFamily="34" charset="-122"/>
                <a:cs typeface="Calibri" pitchFamily="34" charset="-120"/>
              </a:rPr>
              <a:t>1  It's great to see you, ___ .</a:t>
            </a:r>
            <a:endParaRPr lang="en-US" sz="950" dirty="0"/>
          </a:p>
        </p:txBody>
      </p:sp>
      <p:sp>
        <p:nvSpPr>
          <p:cNvPr id="16" name="R1_va0"/>
          <p:cNvSpPr txBox="1"/>
          <p:nvPr/>
        </p:nvSpPr>
        <p:spPr>
          <a:xfrm>
            <a:off x="7680960" y="1837944"/>
            <a:ext cx="1143000" cy="359664"/>
          </a:xfrm>
          <a:prstGeom prst="roundRect">
            <a:avLst>
              <a:gd name="adj" fmla="val 15254"/>
            </a:avLst>
          </a:prstGeom>
          <a:solidFill>
            <a:srgbClr val="FFFFFF"/>
          </a:solidFill>
          <a:ln w="38100">
            <a:solidFill>
              <a:srgbClr val="1FA463"/>
            </a:solidFill>
          </a:ln>
        </p:spPr>
        <p:txBody>
          <a:bodyPr wrap="square" lIns="25400" tIns="25400" rIns="25400" bIns="25400" rtlCol="0" anchor="ctr"/>
          <a:lstStyle/>
          <a:p>
            <a:pPr algn="ctr" indent="0" marL="0">
              <a:buNone/>
            </a:pPr>
            <a:r>
              <a:rPr lang="en-US" sz="1050" dirty="0">
                <a:solidFill>
                  <a:srgbClr val="111111"/>
                </a:solidFill>
                <a:latin typeface="Calibri" pitchFamily="34" charset="0"/>
                <a:ea typeface="Calibri" pitchFamily="34" charset="-122"/>
                <a:cs typeface="Calibri" pitchFamily="34" charset="-120"/>
              </a:rPr>
              <a:t>mate</a:t>
            </a:r>
            <a:endParaRPr lang="en-US" sz="1050" dirty="0"/>
          </a:p>
        </p:txBody>
      </p:sp>
      <p:sp>
        <p:nvSpPr>
          <p:cNvPr id="17" name="box_215"/>
          <p:cNvSpPr txBox="1"/>
          <p:nvPr/>
        </p:nvSpPr>
        <p:spPr>
          <a:xfrm>
            <a:off x="5852160" y="2298192"/>
            <a:ext cx="1783080" cy="414528"/>
          </a:xfrm>
          <a:prstGeom prst="rect">
            <a:avLst/>
          </a:prstGeom>
          <a:solidFill>
            <a:srgbClr val="FCE7F3"/>
          </a:solidFill>
          <a:ln w="15875">
            <a:solidFill>
              <a:srgbClr val="111111"/>
            </a:solidFill>
          </a:ln>
        </p:spPr>
        <p:txBody>
          <a:bodyPr wrap="square" lIns="76200" tIns="76200" rIns="76200" bIns="76200" rtlCol="0" anchor="ctr"/>
          <a:lstStyle/>
          <a:p>
            <a:pPr algn="l" indent="0" marL="0">
              <a:buNone/>
            </a:pPr>
            <a:r>
              <a:rPr lang="en-US" sz="1050" dirty="0">
                <a:solidFill>
                  <a:srgbClr val="111111"/>
                </a:solidFill>
                <a:latin typeface="Calibri" pitchFamily="34" charset="0"/>
                <a:ea typeface="Calibri" pitchFamily="34" charset="-122"/>
                <a:cs typeface="Calibri" pitchFamily="34" charset="-120"/>
              </a:rPr>
              <a:t>2  How ___ you're so late?</a:t>
            </a:r>
            <a:endParaRPr lang="en-US" sz="1050" dirty="0"/>
          </a:p>
        </p:txBody>
      </p:sp>
      <p:sp>
        <p:nvSpPr>
          <p:cNvPr id="18" name="R1_va1"/>
          <p:cNvSpPr txBox="1"/>
          <p:nvPr/>
        </p:nvSpPr>
        <p:spPr>
          <a:xfrm>
            <a:off x="7680960" y="2325624"/>
            <a:ext cx="1143000" cy="359664"/>
          </a:xfrm>
          <a:prstGeom prst="roundRect">
            <a:avLst>
              <a:gd name="adj" fmla="val 15254"/>
            </a:avLst>
          </a:prstGeom>
          <a:solidFill>
            <a:srgbClr val="FFFFFF"/>
          </a:solidFill>
          <a:ln w="38100">
            <a:solidFill>
              <a:srgbClr val="1FA463"/>
            </a:solidFill>
          </a:ln>
        </p:spPr>
        <p:txBody>
          <a:bodyPr wrap="square" lIns="25400" tIns="25400" rIns="25400" bIns="25400" rtlCol="0" anchor="ctr"/>
          <a:lstStyle/>
          <a:p>
            <a:pPr algn="ctr" indent="0" marL="0">
              <a:buNone/>
            </a:pPr>
            <a:r>
              <a:rPr lang="en-US" sz="1050" dirty="0">
                <a:solidFill>
                  <a:srgbClr val="111111"/>
                </a:solidFill>
                <a:latin typeface="Calibri" pitchFamily="34" charset="0"/>
                <a:ea typeface="Calibri" pitchFamily="34" charset="-122"/>
                <a:cs typeface="Calibri" pitchFamily="34" charset="-120"/>
              </a:rPr>
              <a:t>come</a:t>
            </a:r>
            <a:endParaRPr lang="en-US" sz="1050" dirty="0"/>
          </a:p>
        </p:txBody>
      </p:sp>
      <p:sp>
        <p:nvSpPr>
          <p:cNvPr id="19" name="box_216"/>
          <p:cNvSpPr txBox="1"/>
          <p:nvPr/>
        </p:nvSpPr>
        <p:spPr>
          <a:xfrm>
            <a:off x="5852160" y="2785872"/>
            <a:ext cx="1783080" cy="414528"/>
          </a:xfrm>
          <a:prstGeom prst="rect">
            <a:avLst/>
          </a:prstGeom>
          <a:solidFill>
            <a:srgbClr val="FEF9C3"/>
          </a:solidFill>
          <a:ln w="15875">
            <a:solidFill>
              <a:srgbClr val="111111"/>
            </a:solidFill>
          </a:ln>
        </p:spPr>
        <p:txBody>
          <a:bodyPr wrap="square" lIns="76200" tIns="76200" rIns="76200" bIns="76200" rtlCol="0" anchor="ctr"/>
          <a:lstStyle/>
          <a:p>
            <a:pPr algn="l" indent="0" marL="0">
              <a:buNone/>
            </a:pPr>
            <a:r>
              <a:rPr lang="en-US" sz="1250" dirty="0">
                <a:solidFill>
                  <a:srgbClr val="111111"/>
                </a:solidFill>
                <a:latin typeface="Calibri" pitchFamily="34" charset="0"/>
                <a:ea typeface="Calibri" pitchFamily="34" charset="-122"/>
                <a:cs typeface="Calibri" pitchFamily="34" charset="-120"/>
              </a:rPr>
              <a:t>3  No ___ , man!</a:t>
            </a:r>
            <a:endParaRPr lang="en-US" sz="1250" dirty="0"/>
          </a:p>
        </p:txBody>
      </p:sp>
      <p:sp>
        <p:nvSpPr>
          <p:cNvPr id="20" name="R1_va2"/>
          <p:cNvSpPr txBox="1"/>
          <p:nvPr/>
        </p:nvSpPr>
        <p:spPr>
          <a:xfrm>
            <a:off x="7680960" y="2813304"/>
            <a:ext cx="1143000" cy="359664"/>
          </a:xfrm>
          <a:prstGeom prst="roundRect">
            <a:avLst>
              <a:gd name="adj" fmla="val 15254"/>
            </a:avLst>
          </a:prstGeom>
          <a:solidFill>
            <a:srgbClr val="FFFFFF"/>
          </a:solidFill>
          <a:ln w="38100">
            <a:solidFill>
              <a:srgbClr val="1FA463"/>
            </a:solidFill>
          </a:ln>
        </p:spPr>
        <p:txBody>
          <a:bodyPr wrap="square" lIns="25400" tIns="25400" rIns="25400" bIns="25400" rtlCol="0" anchor="ctr"/>
          <a:lstStyle/>
          <a:p>
            <a:pPr algn="ctr" indent="0" marL="0">
              <a:buNone/>
            </a:pPr>
            <a:r>
              <a:rPr lang="en-US" sz="1050" dirty="0">
                <a:solidFill>
                  <a:srgbClr val="111111"/>
                </a:solidFill>
                <a:latin typeface="Calibri" pitchFamily="34" charset="0"/>
                <a:ea typeface="Calibri" pitchFamily="34" charset="-122"/>
                <a:cs typeface="Calibri" pitchFamily="34" charset="-120"/>
              </a:rPr>
              <a:t>way</a:t>
            </a:r>
            <a:endParaRPr lang="en-US" sz="1050" dirty="0"/>
          </a:p>
        </p:txBody>
      </p:sp>
      <p:sp>
        <p:nvSpPr>
          <p:cNvPr id="21" name="box_217"/>
          <p:cNvSpPr txBox="1"/>
          <p:nvPr/>
        </p:nvSpPr>
        <p:spPr>
          <a:xfrm>
            <a:off x="5852160" y="3273552"/>
            <a:ext cx="1783080" cy="414528"/>
          </a:xfrm>
          <a:prstGeom prst="rect">
            <a:avLst/>
          </a:prstGeom>
          <a:solidFill>
            <a:srgbClr val="DCFCE7"/>
          </a:solidFill>
          <a:ln w="15875">
            <a:solidFill>
              <a:srgbClr val="111111"/>
            </a:solidFill>
          </a:ln>
        </p:spPr>
        <p:txBody>
          <a:bodyPr wrap="square" lIns="76200" tIns="76200" rIns="76200" bIns="76200" rtlCol="0" anchor="ctr"/>
          <a:lstStyle/>
          <a:p>
            <a:pPr algn="l" indent="0" marL="0">
              <a:buNone/>
            </a:pPr>
            <a:r>
              <a:rPr lang="en-US" sz="850" dirty="0">
                <a:solidFill>
                  <a:srgbClr val="111111"/>
                </a:solidFill>
                <a:latin typeface="Calibri" pitchFamily="34" charset="0"/>
                <a:ea typeface="Calibri" pitchFamily="34" charset="-122"/>
                <a:cs typeface="Calibri" pitchFamily="34" charset="-120"/>
              </a:rPr>
              <a:t>4  I'll go home if you don't ___ .</a:t>
            </a:r>
            <a:endParaRPr lang="en-US" sz="850" dirty="0"/>
          </a:p>
        </p:txBody>
      </p:sp>
      <p:sp>
        <p:nvSpPr>
          <p:cNvPr id="22" name="R1_va3"/>
          <p:cNvSpPr txBox="1"/>
          <p:nvPr/>
        </p:nvSpPr>
        <p:spPr>
          <a:xfrm>
            <a:off x="7680960" y="3300984"/>
            <a:ext cx="1143000" cy="359664"/>
          </a:xfrm>
          <a:prstGeom prst="roundRect">
            <a:avLst>
              <a:gd name="adj" fmla="val 15254"/>
            </a:avLst>
          </a:prstGeom>
          <a:solidFill>
            <a:srgbClr val="FFFFFF"/>
          </a:solidFill>
          <a:ln w="38100">
            <a:solidFill>
              <a:srgbClr val="1FA463"/>
            </a:solidFill>
          </a:ln>
        </p:spPr>
        <p:txBody>
          <a:bodyPr wrap="square" lIns="25400" tIns="25400" rIns="25400" bIns="25400" rtlCol="0" anchor="ctr"/>
          <a:lstStyle/>
          <a:p>
            <a:pPr algn="ctr" indent="0" marL="0">
              <a:buNone/>
            </a:pPr>
            <a:r>
              <a:rPr lang="en-US" sz="1050" dirty="0">
                <a:solidFill>
                  <a:srgbClr val="111111"/>
                </a:solidFill>
                <a:latin typeface="Calibri" pitchFamily="34" charset="0"/>
                <a:ea typeface="Calibri" pitchFamily="34" charset="-122"/>
                <a:cs typeface="Calibri" pitchFamily="34" charset="-120"/>
              </a:rPr>
              <a:t>mind</a:t>
            </a:r>
            <a:endParaRPr lang="en-US" sz="1050" dirty="0"/>
          </a:p>
        </p:txBody>
      </p:sp>
      <p:sp>
        <p:nvSpPr>
          <p:cNvPr id="23" name="box_218"/>
          <p:cNvSpPr txBox="1"/>
          <p:nvPr/>
        </p:nvSpPr>
        <p:spPr>
          <a:xfrm>
            <a:off x="5852160" y="3761232"/>
            <a:ext cx="1783080" cy="414528"/>
          </a:xfrm>
          <a:prstGeom prst="rect">
            <a:avLst/>
          </a:prstGeom>
          <a:solidFill>
            <a:srgbClr val="EDE9FE"/>
          </a:solidFill>
          <a:ln w="15875">
            <a:solidFill>
              <a:srgbClr val="111111"/>
            </a:solidFill>
          </a:ln>
        </p:spPr>
        <p:txBody>
          <a:bodyPr wrap="square" lIns="76200" tIns="76200" rIns="76200" bIns="76200" rtlCol="0" anchor="ctr"/>
          <a:lstStyle/>
          <a:p>
            <a:pPr algn="l" indent="0" marL="0">
              <a:buNone/>
            </a:pPr>
            <a:r>
              <a:rPr lang="en-US" sz="1100" dirty="0">
                <a:solidFill>
                  <a:srgbClr val="111111"/>
                </a:solidFill>
                <a:latin typeface="Calibri" pitchFamily="34" charset="0"/>
                <a:ea typeface="Calibri" pitchFamily="34" charset="-122"/>
                <a:cs typeface="Calibri" pitchFamily="34" charset="-120"/>
              </a:rPr>
              <a:t>5  Just like the old ___ !</a:t>
            </a:r>
            <a:endParaRPr lang="en-US" sz="1100" dirty="0"/>
          </a:p>
        </p:txBody>
      </p:sp>
      <p:sp>
        <p:nvSpPr>
          <p:cNvPr id="24" name="R1_va4"/>
          <p:cNvSpPr txBox="1"/>
          <p:nvPr/>
        </p:nvSpPr>
        <p:spPr>
          <a:xfrm>
            <a:off x="7680960" y="3788664"/>
            <a:ext cx="1143000" cy="359664"/>
          </a:xfrm>
          <a:prstGeom prst="roundRect">
            <a:avLst>
              <a:gd name="adj" fmla="val 15254"/>
            </a:avLst>
          </a:prstGeom>
          <a:solidFill>
            <a:srgbClr val="FFFFFF"/>
          </a:solidFill>
          <a:ln w="38100">
            <a:solidFill>
              <a:srgbClr val="1FA463"/>
            </a:solidFill>
          </a:ln>
        </p:spPr>
        <p:txBody>
          <a:bodyPr wrap="square" lIns="25400" tIns="25400" rIns="25400" bIns="25400" rtlCol="0" anchor="ctr"/>
          <a:lstStyle/>
          <a:p>
            <a:pPr algn="ctr" indent="0" marL="0">
              <a:buNone/>
            </a:pPr>
            <a:r>
              <a:rPr lang="en-US" sz="1050" dirty="0">
                <a:solidFill>
                  <a:srgbClr val="111111"/>
                </a:solidFill>
                <a:latin typeface="Calibri" pitchFamily="34" charset="0"/>
                <a:ea typeface="Calibri" pitchFamily="34" charset="-122"/>
                <a:cs typeface="Calibri" pitchFamily="34" charset="-120"/>
              </a:rPr>
              <a:t>days</a:t>
            </a:r>
            <a:endParaRPr lang="en-US" sz="1050" dirty="0"/>
          </a:p>
        </p:txBody>
      </p:sp>
      <p:sp>
        <p:nvSpPr>
          <p:cNvPr id="25" name="box_219"/>
          <p:cNvSpPr txBox="1"/>
          <p:nvPr/>
        </p:nvSpPr>
        <p:spPr>
          <a:xfrm>
            <a:off x="5852160" y="4248912"/>
            <a:ext cx="1783080" cy="414528"/>
          </a:xfrm>
          <a:prstGeom prst="rect">
            <a:avLst/>
          </a:prstGeom>
          <a:solidFill>
            <a:srgbClr val="FFEDD5"/>
          </a:solidFill>
          <a:ln w="15875">
            <a:solidFill>
              <a:srgbClr val="111111"/>
            </a:solidFill>
          </a:ln>
        </p:spPr>
        <p:txBody>
          <a:bodyPr wrap="square" lIns="76200" tIns="76200" rIns="76200" bIns="76200" rtlCol="0" anchor="ctr"/>
          <a:lstStyle/>
          <a:p>
            <a:pPr algn="l" indent="0" marL="0">
              <a:buNone/>
            </a:pPr>
            <a:r>
              <a:rPr lang="en-US" sz="900" dirty="0">
                <a:solidFill>
                  <a:srgbClr val="111111"/>
                </a:solidFill>
                <a:latin typeface="Calibri" pitchFamily="34" charset="0"/>
                <a:ea typeface="Calibri" pitchFamily="34" charset="-122"/>
                <a:cs typeface="Calibri" pitchFamily="34" charset="-120"/>
              </a:rPr>
              <a:t>6  We've got a lot to talk ___ !</a:t>
            </a:r>
            <a:endParaRPr lang="en-US" sz="900" dirty="0"/>
          </a:p>
        </p:txBody>
      </p:sp>
      <p:sp>
        <p:nvSpPr>
          <p:cNvPr id="26" name="R1_va5"/>
          <p:cNvSpPr txBox="1"/>
          <p:nvPr/>
        </p:nvSpPr>
        <p:spPr>
          <a:xfrm>
            <a:off x="7680960" y="4276344"/>
            <a:ext cx="1143000" cy="359664"/>
          </a:xfrm>
          <a:prstGeom prst="roundRect">
            <a:avLst>
              <a:gd name="adj" fmla="val 15254"/>
            </a:avLst>
          </a:prstGeom>
          <a:solidFill>
            <a:srgbClr val="FFFFFF"/>
          </a:solidFill>
          <a:ln w="38100">
            <a:solidFill>
              <a:srgbClr val="1FA463"/>
            </a:solidFill>
          </a:ln>
        </p:spPr>
        <p:txBody>
          <a:bodyPr wrap="square" lIns="25400" tIns="25400" rIns="25400" bIns="25400" rtlCol="0" anchor="ctr"/>
          <a:lstStyle/>
          <a:p>
            <a:pPr algn="ctr" indent="0" marL="0">
              <a:buNone/>
            </a:pPr>
            <a:r>
              <a:rPr lang="en-US" sz="1050" dirty="0">
                <a:solidFill>
                  <a:srgbClr val="111111"/>
                </a:solidFill>
                <a:latin typeface="Calibri" pitchFamily="34" charset="0"/>
                <a:ea typeface="Calibri" pitchFamily="34" charset="-122"/>
                <a:cs typeface="Calibri" pitchFamily="34" charset="-120"/>
              </a:rPr>
              <a:t>about</a:t>
            </a:r>
            <a:endParaRPr lang="en-US" sz="1050" dirty="0"/>
          </a:p>
        </p:txBody>
      </p:sp>
      <p:sp>
        <p:nvSpPr>
          <p:cNvPr id="27" name="bubble_220"/>
          <p:cNvSpPr txBox="1"/>
          <p:nvPr/>
        </p:nvSpPr>
        <p:spPr>
          <a:xfrm>
            <a:off x="2788920" y="3931920"/>
            <a:ext cx="2926080" cy="731520"/>
          </a:xfrm>
          <a:prstGeom prst="roundRect">
            <a:avLst/>
          </a:prstGeom>
          <a:solidFill>
            <a:srgbClr val="FFD84D"/>
          </a:solidFill>
          <a:ln w="31750">
            <a:solidFill>
              <a:srgbClr val="111111"/>
            </a:solidFill>
          </a:ln>
          <a:effectLst>
            <a:outerShdw sx="100000" sy="100000" kx="0" ky="0" algn="bl" rotWithShape="0" blurRad="101600" dist="38100" dir="2700000">
              <a:srgbClr val="000000">
                <a:alpha val="35000"/>
              </a:srgbClr>
            </a:outerShdw>
          </a:effectLst>
        </p:spPr>
        <p:txBody>
          <a:bodyPr wrap="square" lIns="76200" tIns="76200" rIns="76200" bIns="76200" rtlCol="0" anchor="ctr"/>
          <a:lstStyle/>
          <a:p>
            <a:pPr algn="ctr" indent="0" marL="0">
              <a:buNone/>
            </a:pPr>
            <a:r>
              <a:rPr lang="en-US" sz="1200" b="1" dirty="0">
                <a:solidFill>
                  <a:srgbClr val="111111"/>
                </a:solidFill>
                <a:latin typeface="Calibri" pitchFamily="34" charset="0"/>
                <a:ea typeface="Calibri" pitchFamily="34" charset="-122"/>
                <a:cs typeface="Calibri" pitchFamily="34" charset="-120"/>
              </a:rPr>
              <a:t>3e Complete conversations A–F in the book. Act them out!</a:t>
            </a:r>
            <a:endParaRPr lang="en-US" sz="1200" dirty="0"/>
          </a:p>
        </p:txBody>
      </p:sp>
      <p:sp>
        <p:nvSpPr>
          <p:cNvPr id="28" name="pageTag_221"/>
          <p:cNvSpPr txBox="1"/>
          <p:nvPr/>
        </p:nvSpPr>
        <p:spPr>
          <a:xfrm>
            <a:off x="320040" y="4773168"/>
            <a:ext cx="6720840" cy="246888"/>
          </a:xfrm>
          <a:prstGeom prst="rect">
            <a:avLst/>
          </a:prstGeom>
          <a:solidFill>
            <a:srgbClr val="FFFFFF"/>
          </a:solidFill>
          <a:ln/>
        </p:spPr>
        <p:txBody>
          <a:bodyPr wrap="square" lIns="25400" tIns="25400" rIns="25400" bIns="25400" rtlCol="0" anchor="ctr"/>
          <a:lstStyle/>
          <a:p>
            <a:pPr indent="0" marL="0">
              <a:buNone/>
            </a:pPr>
            <a:r>
              <a:rPr lang="en-US" sz="1050" dirty="0">
                <a:solidFill>
                  <a:srgbClr val="334155"/>
                </a:solidFill>
                <a:latin typeface="Calibri" pitchFamily="34" charset="0"/>
                <a:ea typeface="Calibri" pitchFamily="34" charset="-122"/>
                <a:cs typeface="Calibri" pitchFamily="34" charset="-120"/>
              </a:rPr>
              <a:t>📖 Teacher: Student's Book p.55 · 3c, 3d, 3e · video / audio 5.28</a:t>
            </a:r>
            <a:endParaRPr lang="en-US" sz="105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fade">
                                      <p:cBhvr>
                                        <p:cTn id="7" dur="400"/>
                                        <p:tgtEl>
                                          <p:spTgt spid="16"/>
                                        </p:tgtEl>
                                      </p:cBhvr>
                                    </p:animEffect>
                                  </p:childTnLst>
                                </p:cTn>
                              </p:par>
                              <p:par>
                                <p:cTn id="8" presetID="10" presetClass="entr" presetSubtype="0" fill="hold" nodeType="withEffect">
                                  <p:stCondLst>
                                    <p:cond delay="0"/>
                                  </p:stCondLst>
                                  <p:childTnLst>
                                    <p:set>
                                      <p:cBhvr>
                                        <p:cTn id="9" dur="1" fill="hold">
                                          <p:stCondLst>
                                            <p:cond delay="0"/>
                                          </p:stCondLst>
                                        </p:cTn>
                                        <p:tgtEl>
                                          <p:spTgt spid="18"/>
                                        </p:tgtEl>
                                        <p:attrNameLst>
                                          <p:attrName>style.visibility</p:attrName>
                                        </p:attrNameLst>
                                      </p:cBhvr>
                                      <p:to>
                                        <p:strVal val="visible"/>
                                      </p:to>
                                    </p:set>
                                    <p:animEffect transition="in" filter="fade">
                                      <p:cBhvr>
                                        <p:cTn id="10" dur="400"/>
                                        <p:tgtEl>
                                          <p:spTgt spid="18"/>
                                        </p:tgtEl>
                                      </p:cBhvr>
                                    </p:animEffect>
                                  </p:childTnLst>
                                </p:cTn>
                              </p:par>
                              <p:par>
                                <p:cTn id="11" presetID="10" presetClass="entr" presetSubtype="0" fill="hold" nodeType="withEffect">
                                  <p:stCondLst>
                                    <p:cond delay="0"/>
                                  </p:stCondLst>
                                  <p:childTnLst>
                                    <p:set>
                                      <p:cBhvr>
                                        <p:cTn id="12" dur="1" fill="hold">
                                          <p:stCondLst>
                                            <p:cond delay="0"/>
                                          </p:stCondLst>
                                        </p:cTn>
                                        <p:tgtEl>
                                          <p:spTgt spid="20"/>
                                        </p:tgtEl>
                                        <p:attrNameLst>
                                          <p:attrName>style.visibility</p:attrName>
                                        </p:attrNameLst>
                                      </p:cBhvr>
                                      <p:to>
                                        <p:strVal val="visible"/>
                                      </p:to>
                                    </p:set>
                                    <p:animEffect transition="in" filter="fade">
                                      <p:cBhvr>
                                        <p:cTn id="13" dur="400"/>
                                        <p:tgtEl>
                                          <p:spTgt spid="20"/>
                                        </p:tgtEl>
                                      </p:cBhvr>
                                    </p:animEffect>
                                  </p:childTnLst>
                                </p:cTn>
                              </p:par>
                              <p:par>
                                <p:cTn id="14" presetID="10" presetClass="entr" presetSubtype="0" fill="hold" nodeType="withEffect">
                                  <p:stCondLst>
                                    <p:cond delay="0"/>
                                  </p:stCondLst>
                                  <p:childTnLst>
                                    <p:set>
                                      <p:cBhvr>
                                        <p:cTn id="15" dur="1" fill="hold">
                                          <p:stCondLst>
                                            <p:cond delay="0"/>
                                          </p:stCondLst>
                                        </p:cTn>
                                        <p:tgtEl>
                                          <p:spTgt spid="22"/>
                                        </p:tgtEl>
                                        <p:attrNameLst>
                                          <p:attrName>style.visibility</p:attrName>
                                        </p:attrNameLst>
                                      </p:cBhvr>
                                      <p:to>
                                        <p:strVal val="visible"/>
                                      </p:to>
                                    </p:set>
                                    <p:animEffect transition="in" filter="fade">
                                      <p:cBhvr>
                                        <p:cTn id="16" dur="400"/>
                                        <p:tgtEl>
                                          <p:spTgt spid="22"/>
                                        </p:tgtEl>
                                      </p:cBhvr>
                                    </p:animEffect>
                                  </p:childTnLst>
                                </p:cTn>
                              </p:par>
                              <p:par>
                                <p:cTn id="17" presetID="10" presetClass="entr" presetSubtype="0" fill="hold" nodeType="withEffect">
                                  <p:stCondLst>
                                    <p:cond delay="0"/>
                                  </p:stCondLst>
                                  <p:childTnLst>
                                    <p:set>
                                      <p:cBhvr>
                                        <p:cTn id="18" dur="1" fill="hold">
                                          <p:stCondLst>
                                            <p:cond delay="0"/>
                                          </p:stCondLst>
                                        </p:cTn>
                                        <p:tgtEl>
                                          <p:spTgt spid="24"/>
                                        </p:tgtEl>
                                        <p:attrNameLst>
                                          <p:attrName>style.visibility</p:attrName>
                                        </p:attrNameLst>
                                      </p:cBhvr>
                                      <p:to>
                                        <p:strVal val="visible"/>
                                      </p:to>
                                    </p:set>
                                    <p:animEffect transition="in" filter="fade">
                                      <p:cBhvr>
                                        <p:cTn id="19" dur="400"/>
                                        <p:tgtEl>
                                          <p:spTgt spid="24"/>
                                        </p:tgtEl>
                                      </p:cBhvr>
                                    </p:animEffect>
                                  </p:childTnLst>
                                </p:cTn>
                              </p:par>
                              <p:par>
                                <p:cTn id="20" presetID="10" presetClass="entr" presetSubtype="0" fill="hold" nodeType="withEffect">
                                  <p:stCondLst>
                                    <p:cond delay="0"/>
                                  </p:stCondLst>
                                  <p:childTnLst>
                                    <p:set>
                                      <p:cBhvr>
                                        <p:cTn id="21" dur="1" fill="hold">
                                          <p:stCondLst>
                                            <p:cond delay="0"/>
                                          </p:stCondLst>
                                        </p:cTn>
                                        <p:tgtEl>
                                          <p:spTgt spid="26"/>
                                        </p:tgtEl>
                                        <p:attrNameLst>
                                          <p:attrName>style.visibility</p:attrName>
                                        </p:attrNameLst>
                                      </p:cBhvr>
                                      <p:to>
                                        <p:strVal val="visible"/>
                                      </p:to>
                                    </p:set>
                                    <p:animEffect transition="in" filter="fade">
                                      <p:cBhvr>
                                        <p:cTn id="22" dur="40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seq concurrent="1" nextAc="seek">
              <p:cTn id="23" restart="whenNotActive" fill="hold" evtFilter="cancelBubble" nodeType="interactiveSeq">
                <p:stCondLst>
                  <p:cond evt="onClick" delay="0">
                    <p:tgtEl>
                      <p:spTgt spid="12"/>
                    </p:tgtEl>
                  </p:cond>
                </p:stCondLst>
                <p:endSync evt="end" delay="0">
                  <p:rtn val="all"/>
                </p:endSync>
                <p:childTnLst>
                  <p:par>
                    <p:cTn id="24" fill="hold">
                      <p:stCondLst>
                        <p:cond delay="0"/>
                      </p:stCondLst>
                      <p:childTnLst>
                        <p:par>
                          <p:cTn id="25" fill="hold">
                            <p:stCondLst>
                              <p:cond delay="0"/>
                            </p:stCondLst>
                            <p:childTnLst>
                              <p:par>
                                <p:cTn id="26" presetID="2" presetClass="mediacall" presetSubtype="0" fill="hold" nodeType="clickEffect">
                                  <p:stCondLst>
                                    <p:cond delay="0"/>
                                  </p:stCondLst>
                                  <p:childTnLst>
                                    <p:cmd type="call" cmd="togglePause">
                                      <p:cBhvr>
                                        <p:cTn id="27" dur="1" fill="hold"/>
                                        <p:tgtEl>
                                          <p:spTgt spid="12"/>
                                        </p:tgtEl>
                                      </p:cBhvr>
                                    </p:cmd>
                                  </p:childTnLst>
                                </p:cTn>
                              </p:par>
                            </p:childTnLst>
                          </p:cTn>
                        </p:par>
                      </p:childTnLst>
                    </p:cTn>
                  </p:par>
                </p:childTnLst>
              </p:cTn>
              <p:nextCondLst>
                <p:cond evt="onClick" delay="0">
                  <p:tgtEl>
                    <p:spTgt spid="12"/>
                  </p:tgtEl>
                </p:cond>
              </p:nextCondLst>
            </p:seq>
            <p:video>
              <p:cMediaNode vol="80000">
                <p:cTn id="28" fill="hold" display="0">
                  <p:stCondLst>
                    <p:cond delay="indefinite"/>
                  </p:stCondLst>
                </p:cTn>
                <p:tgtEl>
                  <p:spTgt spid="12"/>
                </p:tgtEl>
              </p:cMediaNode>
            </p:video>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name="Slide 13">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levelFrame_222"/>
          <p:cNvSpPr/>
          <p:nvPr/>
        </p:nvSpPr>
        <p:spPr>
          <a:xfrm>
            <a:off x="54864" y="54864"/>
            <a:ext cx="9034272" cy="5033772"/>
          </a:xfrm>
          <a:prstGeom prst="rect">
            <a:avLst/>
          </a:prstGeom>
          <a:ln w="114300">
            <a:solidFill>
              <a:srgbClr val="A8E6B4"/>
            </a:solidFill>
            <a:prstDash val="solid"/>
          </a:ln>
        </p:spPr>
      </p:sp>
      <p:pic>
        <p:nvPicPr>
          <p:cNvPr id="4" name="logo_223" descr="London Language School logo">    </p:cNvPr>
          <p:cNvPicPr>
            <a:picLocks noChangeAspect="1"/>
          </p:cNvPicPr>
          <p:nvPr/>
        </p:nvPicPr>
        <p:blipFill>
          <a:blip r:embed="rId2"/>
          <a:stretch>
            <a:fillRect/>
          </a:stretch>
        </p:blipFill>
        <p:spPr>
          <a:xfrm>
            <a:off x="8275320" y="182880"/>
            <a:ext cx="585216" cy="585216"/>
          </a:xfrm>
          <a:prstGeom prst="rect">
            <a:avLst/>
          </a:prstGeom>
        </p:spPr>
      </p:pic>
      <p:sp>
        <p:nvSpPr>
          <p:cNvPr id="5" name="objective_224"/>
          <p:cNvSpPr txBox="1"/>
          <p:nvPr/>
        </p:nvSpPr>
        <p:spPr>
          <a:xfrm>
            <a:off x="320040" y="182880"/>
            <a:ext cx="4754880" cy="365760"/>
          </a:xfrm>
          <a:prstGeom prst="roundRect">
            <a:avLst>
              <a:gd name="adj" fmla="val 20000"/>
            </a:avLst>
          </a:prstGeom>
          <a:solidFill>
            <a:srgbClr val="062F67"/>
          </a:solidFill>
          <a:ln w="31750">
            <a:solidFill>
              <a:srgbClr val="111111"/>
            </a:solidFill>
          </a:ln>
        </p:spPr>
        <p:txBody>
          <a:bodyPr wrap="square" lIns="101600" tIns="101600" rIns="101600" bIns="101600" rtlCol="0" anchor="ctr"/>
          <a:lstStyle/>
          <a:p>
            <a:pPr indent="0" marL="0">
              <a:buNone/>
            </a:pPr>
            <a:r>
              <a:rPr lang="en-US" sz="900" dirty="0">
                <a:solidFill>
                  <a:srgbClr val="FFFFFF"/>
                </a:solidFill>
                <a:latin typeface="Arial Black" pitchFamily="34" charset="0"/>
                <a:ea typeface="Arial Black" pitchFamily="34" charset="-122"/>
                <a:cs typeface="Arial Black" pitchFamily="34" charset="-120"/>
              </a:rPr>
              <a:t>GAME · Upgrade the language</a:t>
            </a:r>
            <a:endParaRPr lang="en-US" sz="900" dirty="0"/>
          </a:p>
        </p:txBody>
      </p:sp>
      <p:sp>
        <p:nvSpPr>
          <p:cNvPr id="6" name="timer_225"/>
          <p:cNvSpPr txBox="1"/>
          <p:nvPr/>
        </p:nvSpPr>
        <p:spPr>
          <a:xfrm>
            <a:off x="7086600" y="219456"/>
            <a:ext cx="1005840" cy="310896"/>
          </a:xfrm>
          <a:prstGeom prst="roundRect">
            <a:avLst>
              <a:gd name="adj" fmla="val 23529"/>
            </a:avLst>
          </a:prstGeom>
          <a:solidFill>
            <a:srgbClr val="FFFFFF"/>
          </a:solidFill>
          <a:ln w="25400">
            <a:solidFill>
              <a:srgbClr val="6D3FC0"/>
            </a:solidFill>
          </a:ln>
        </p:spPr>
        <p:txBody>
          <a:bodyPr wrap="square" lIns="0" tIns="0" rIns="0" bIns="0" rtlCol="0" anchor="ctr"/>
          <a:lstStyle/>
          <a:p>
            <a:pPr algn="ctr" indent="0" marL="0">
              <a:buNone/>
            </a:pPr>
            <a:r>
              <a:rPr lang="en-US" sz="1200" b="1" dirty="0">
                <a:solidFill>
                  <a:srgbClr val="6D3FC0"/>
                </a:solidFill>
                <a:latin typeface="Calibri" pitchFamily="34" charset="0"/>
                <a:ea typeface="Calibri" pitchFamily="34" charset="-122"/>
                <a:cs typeface="Calibri" pitchFamily="34" charset="-120"/>
              </a:rPr>
              <a:t>⏱ 5 min</a:t>
            </a:r>
            <a:endParaRPr lang="en-US" sz="1200" dirty="0"/>
          </a:p>
        </p:txBody>
      </p:sp>
      <p:sp>
        <p:nvSpPr>
          <p:cNvPr id="7" name="footer_226"/>
          <p:cNvSpPr txBox="1"/>
          <p:nvPr/>
        </p:nvSpPr>
        <p:spPr>
          <a:xfrm>
            <a:off x="7132320" y="4818888"/>
            <a:ext cx="1737360" cy="219456"/>
          </a:xfrm>
          <a:prstGeom prst="rect">
            <a:avLst/>
          </a:prstGeom>
          <a:solidFill>
            <a:srgbClr val="FFFFFF"/>
          </a:solidFill>
          <a:ln/>
        </p:spPr>
        <p:txBody>
          <a:bodyPr wrap="square" lIns="0" tIns="0" rIns="0" bIns="0" rtlCol="0" anchor="ctr"/>
          <a:lstStyle/>
          <a:p>
            <a:pPr algn="ctr" indent="0" marL="0">
              <a:buNone/>
            </a:pPr>
            <a:r>
              <a:rPr lang="en-US" sz="1000" dirty="0">
                <a:solidFill>
                  <a:srgbClr val="334155"/>
                </a:solidFill>
                <a:latin typeface="Calibri" pitchFamily="34" charset="0"/>
                <a:ea typeface="Calibri" pitchFamily="34" charset="-122"/>
                <a:cs typeface="Calibri" pitchFamily="34" charset="-120"/>
              </a:rPr>
              <a:t>PE3 · Part 1</a:t>
            </a:r>
            <a:endParaRPr lang="en-US" sz="1000" dirty="0"/>
          </a:p>
        </p:txBody>
      </p:sp>
      <p:sp>
        <p:nvSpPr>
          <p:cNvPr id="8" name="title_227"/>
          <p:cNvSpPr txBox="1"/>
          <p:nvPr/>
        </p:nvSpPr>
        <p:spPr>
          <a:xfrm rot="-120000">
            <a:off x="320040" y="676656"/>
            <a:ext cx="3108960" cy="530352"/>
          </a:xfrm>
          <a:prstGeom prst="rect">
            <a:avLst/>
          </a:prstGeom>
          <a:solidFill>
            <a:srgbClr val="FFD84D"/>
          </a:solidFill>
          <a:ln w="31750">
            <a:solidFill>
              <a:srgbClr val="111111"/>
            </a:solidFill>
          </a:ln>
          <a:effectLst>
            <a:outerShdw sx="100000" sy="100000" kx="0" ky="0" algn="bl" rotWithShape="0" blurRad="101600" dist="38100" dir="2700000">
              <a:srgbClr val="000000">
                <a:alpha val="35000"/>
              </a:srgbClr>
            </a:outerShdw>
          </a:effectLst>
        </p:spPr>
        <p:txBody>
          <a:bodyPr wrap="square" lIns="127000" tIns="127000" rIns="127000" bIns="127000" rtlCol="0" anchor="ctr"/>
          <a:lstStyle/>
          <a:p>
            <a:pPr indent="0" marL="0">
              <a:buNone/>
            </a:pPr>
            <a:r>
              <a:rPr lang="en-US" sz="1500" dirty="0">
                <a:solidFill>
                  <a:srgbClr val="111111"/>
                </a:solidFill>
                <a:latin typeface="Arial Black" pitchFamily="34" charset="0"/>
                <a:ea typeface="Arial Black" pitchFamily="34" charset="-122"/>
                <a:cs typeface="Arial Black" pitchFamily="34" charset="-120"/>
              </a:rPr>
              <a:t>Make it polite!</a:t>
            </a:r>
            <a:endParaRPr lang="en-US" sz="1500" dirty="0"/>
          </a:p>
        </p:txBody>
      </p:sp>
      <p:sp>
        <p:nvSpPr>
          <p:cNvPr id="9" name="post_228"/>
          <p:cNvSpPr/>
          <p:nvPr/>
        </p:nvSpPr>
        <p:spPr>
          <a:xfrm>
            <a:off x="429768" y="1554480"/>
            <a:ext cx="128016" cy="2194560"/>
          </a:xfrm>
          <a:prstGeom prst="rect">
            <a:avLst/>
          </a:prstGeom>
          <a:solidFill>
            <a:srgbClr val="8B5A2B"/>
          </a:solidFill>
          <a:ln w="31750">
            <a:solidFill>
              <a:srgbClr val="111111"/>
            </a:solidFill>
            <a:prstDash val="solid"/>
          </a:ln>
        </p:spPr>
      </p:sp>
      <p:sp>
        <p:nvSpPr>
          <p:cNvPr id="10" name="signA_229"/>
          <p:cNvSpPr txBox="1"/>
          <p:nvPr/>
        </p:nvSpPr>
        <p:spPr>
          <a:xfrm rot="-180000">
            <a:off x="320040" y="1371600"/>
            <a:ext cx="2240280" cy="457200"/>
          </a:xfrm>
          <a:prstGeom prst="homePlate">
            <a:avLst/>
          </a:prstGeom>
          <a:solidFill>
            <a:srgbClr val="1FA463"/>
          </a:solidFill>
          <a:ln w="31750">
            <a:solidFill>
              <a:srgbClr val="111111"/>
            </a:solidFill>
          </a:ln>
          <a:effectLst>
            <a:outerShdw sx="100000" sy="100000" kx="0" ky="0" algn="bl" rotWithShape="0" blurRad="101600" dist="38100" dir="2700000">
              <a:srgbClr val="000000">
                <a:alpha val="35000"/>
              </a:srgbClr>
            </a:outerShdw>
          </a:effectLst>
        </p:spPr>
        <p:txBody>
          <a:bodyPr wrap="square" lIns="76200" tIns="76200" rIns="76200" bIns="76200" rtlCol="0" anchor="ctr"/>
          <a:lstStyle/>
          <a:p>
            <a:pPr indent="0" marL="0">
              <a:buNone/>
            </a:pPr>
            <a:r>
              <a:rPr lang="en-US" sz="1500" b="1" dirty="0">
                <a:solidFill>
                  <a:srgbClr val="FFFFFF"/>
                </a:solidFill>
                <a:latin typeface="Arial Black" pitchFamily="34" charset="0"/>
                <a:ea typeface="Arial Black" pitchFamily="34" charset="-122"/>
                <a:cs typeface="Arial Black" pitchFamily="34" charset="-120"/>
              </a:rPr>
              <a:t>PLAY!</a:t>
            </a:r>
            <a:pPr indent="0" marL="0">
              <a:buNone/>
            </a:pPr>
            <a:r>
              <a:rPr lang="en-US" sz="1000" dirty="0">
                <a:solidFill>
                  <a:srgbClr val="FFF3B0"/>
                </a:solidFill>
                <a:latin typeface="Arial Black" pitchFamily="34" charset="0"/>
                <a:ea typeface="Arial Black" pitchFamily="34" charset="-122"/>
                <a:cs typeface="Arial Black" pitchFamily="34" charset="-120"/>
              </a:rPr>
              <a:t>  GIOCA!</a:t>
            </a:r>
            <a:endParaRPr lang="en-US" sz="1500" dirty="0"/>
          </a:p>
        </p:txBody>
      </p:sp>
      <p:sp>
        <p:nvSpPr>
          <p:cNvPr id="11" name="signB_230"/>
          <p:cNvSpPr txBox="1"/>
          <p:nvPr/>
        </p:nvSpPr>
        <p:spPr>
          <a:xfrm rot="120000">
            <a:off x="365760" y="1938528"/>
            <a:ext cx="2240280" cy="1051560"/>
          </a:xfrm>
          <a:prstGeom prst="rect">
            <a:avLst/>
          </a:prstGeom>
          <a:solidFill>
            <a:srgbClr val="FFFFFF"/>
          </a:solidFill>
          <a:ln w="31750">
            <a:solidFill>
              <a:srgbClr val="111111"/>
            </a:solidFill>
          </a:ln>
        </p:spPr>
        <p:txBody>
          <a:bodyPr wrap="square" lIns="76200" tIns="76200" rIns="76200" bIns="76200" rtlCol="0" anchor="ctr"/>
          <a:lstStyle/>
          <a:p>
            <a:pPr indent="0" marL="0">
              <a:buNone/>
            </a:pPr>
            <a:r>
              <a:rPr lang="en-US" sz="1250" dirty="0">
                <a:solidFill>
                  <a:srgbClr val="111111"/>
                </a:solidFill>
                <a:latin typeface="Calibri" pitchFamily="34" charset="0"/>
                <a:ea typeface="Calibri" pitchFamily="34" charset="-122"/>
                <a:cs typeface="Calibri" pitchFamily="34" charset="-120"/>
              </a:rPr>
              <a:t>Teams: make it more polite! Better form = more points.</a:t>
            </a:r>
            <a:endParaRPr lang="en-US" sz="1250" dirty="0"/>
          </a:p>
          <a:p>
            <a:pPr indent="0" marL="0">
              <a:buNone/>
            </a:pPr>
            <a:r>
              <a:rPr lang="en-US" sz="1100" i="1" dirty="0">
                <a:solidFill>
                  <a:srgbClr val="334155"/>
                </a:solidFill>
                <a:latin typeface="Calibri" pitchFamily="34" charset="0"/>
                <a:ea typeface="Calibri" pitchFamily="34" charset="-122"/>
                <a:cs typeface="Calibri" pitchFamily="34" charset="-120"/>
              </a:rPr>
              <a:t>Squadre: rendetela più educata! Forma migliore = più punti.</a:t>
            </a:r>
            <a:endParaRPr lang="en-US" sz="1250" dirty="0"/>
          </a:p>
        </p:txBody>
      </p:sp>
      <p:sp>
        <p:nvSpPr>
          <p:cNvPr id="12" name="iconBack_231"/>
          <p:cNvSpPr/>
          <p:nvPr/>
        </p:nvSpPr>
        <p:spPr>
          <a:xfrm>
            <a:off x="685800" y="3246120"/>
            <a:ext cx="1143000" cy="1143000"/>
          </a:xfrm>
          <a:prstGeom prst="ellipse">
            <a:avLst/>
          </a:prstGeom>
          <a:solidFill>
            <a:srgbClr val="FFFFFF"/>
          </a:solidFill>
          <a:ln w="31750">
            <a:solidFill>
              <a:srgbClr val="111111"/>
            </a:solidFill>
            <a:prstDash val="solid"/>
          </a:ln>
          <a:effectLst>
            <a:outerShdw sx="100000" sy="100000" kx="0" ky="0" algn="bl" rotWithShape="0" blurRad="101600" dist="38100" dir="2700000">
              <a:srgbClr val="000000">
                <a:alpha val="35000"/>
              </a:srgbClr>
            </a:outerShdw>
          </a:effectLst>
        </p:spPr>
      </p:sp>
      <p:pic>
        <p:nvPicPr>
          <p:cNvPr id="13" name="icon_232" descr="pi:PiCrown">    </p:cNvPr>
          <p:cNvPicPr>
            <a:picLocks noChangeAspect="1"/>
          </p:cNvPicPr>
          <p:nvPr/>
        </p:nvPicPr>
        <p:blipFill>
          <a:blip r:embed="rId3"/>
          <a:stretch>
            <a:fillRect/>
          </a:stretch>
        </p:blipFill>
        <p:spPr>
          <a:xfrm>
            <a:off x="914400" y="3474720"/>
            <a:ext cx="685800" cy="685800"/>
          </a:xfrm>
          <a:prstGeom prst="rect">
            <a:avLst/>
          </a:prstGeom>
        </p:spPr>
      </p:pic>
      <p:sp>
        <p:nvSpPr>
          <p:cNvPr id="14" name="box_233"/>
          <p:cNvSpPr txBox="1"/>
          <p:nvPr/>
        </p:nvSpPr>
        <p:spPr>
          <a:xfrm>
            <a:off x="2788920" y="1371600"/>
            <a:ext cx="2414016" cy="441960"/>
          </a:xfrm>
          <a:prstGeom prst="rect">
            <a:avLst/>
          </a:prstGeom>
          <a:solidFill>
            <a:srgbClr val="E0F2FE"/>
          </a:solidFill>
          <a:ln w="15875">
            <a:solidFill>
              <a:srgbClr val="111111"/>
            </a:solidFill>
          </a:ln>
        </p:spPr>
        <p:txBody>
          <a:bodyPr wrap="square" lIns="76200" tIns="76200" rIns="76200" bIns="76200" rtlCol="0" anchor="ctr"/>
          <a:lstStyle/>
          <a:p>
            <a:pPr algn="l" indent="0" marL="0">
              <a:buNone/>
            </a:pPr>
            <a:r>
              <a:rPr lang="en-US" sz="1400" dirty="0">
                <a:solidFill>
                  <a:srgbClr val="111111"/>
                </a:solidFill>
                <a:latin typeface="Calibri" pitchFamily="34" charset="0"/>
                <a:ea typeface="Calibri" pitchFamily="34" charset="-122"/>
                <a:cs typeface="Calibri" pitchFamily="34" charset="-120"/>
              </a:rPr>
              <a:t>1  "Give me your pen."</a:t>
            </a:r>
            <a:endParaRPr lang="en-US" sz="1400" dirty="0"/>
          </a:p>
        </p:txBody>
      </p:sp>
      <p:sp>
        <p:nvSpPr>
          <p:cNvPr id="15" name="R1_a0"/>
          <p:cNvSpPr txBox="1"/>
          <p:nvPr/>
        </p:nvSpPr>
        <p:spPr>
          <a:xfrm>
            <a:off x="5257800" y="1408176"/>
            <a:ext cx="3566160" cy="368808"/>
          </a:xfrm>
          <a:prstGeom prst="roundRect">
            <a:avLst>
              <a:gd name="adj" fmla="val 14876"/>
            </a:avLst>
          </a:prstGeom>
          <a:solidFill>
            <a:srgbClr val="FFFFFF"/>
          </a:solidFill>
          <a:ln w="38100">
            <a:solidFill>
              <a:srgbClr val="1FA463"/>
            </a:solidFill>
          </a:ln>
        </p:spPr>
        <p:txBody>
          <a:bodyPr wrap="square" lIns="25400" tIns="25400" rIns="25400" bIns="25400" rtlCol="0" anchor="ctr"/>
          <a:lstStyle/>
          <a:p>
            <a:pPr algn="ctr" indent="0" marL="0">
              <a:buNone/>
            </a:pPr>
            <a:r>
              <a:rPr lang="en-US" sz="1250" dirty="0">
                <a:solidFill>
                  <a:srgbClr val="111111"/>
                </a:solidFill>
                <a:latin typeface="Calibri" pitchFamily="34" charset="0"/>
                <a:ea typeface="Calibri" pitchFamily="34" charset="-122"/>
                <a:cs typeface="Calibri" pitchFamily="34" charset="-120"/>
              </a:rPr>
              <a:t>e.g. Could you lend me your pen, please?</a:t>
            </a:r>
            <a:endParaRPr lang="en-US" sz="1250" dirty="0"/>
          </a:p>
        </p:txBody>
      </p:sp>
      <p:sp>
        <p:nvSpPr>
          <p:cNvPr id="16" name="box_234"/>
          <p:cNvSpPr txBox="1"/>
          <p:nvPr/>
        </p:nvSpPr>
        <p:spPr>
          <a:xfrm>
            <a:off x="2788920" y="1941576"/>
            <a:ext cx="2414016" cy="441960"/>
          </a:xfrm>
          <a:prstGeom prst="rect">
            <a:avLst/>
          </a:prstGeom>
          <a:solidFill>
            <a:srgbClr val="FCE7F3"/>
          </a:solidFill>
          <a:ln w="15875">
            <a:solidFill>
              <a:srgbClr val="111111"/>
            </a:solidFill>
          </a:ln>
        </p:spPr>
        <p:txBody>
          <a:bodyPr wrap="square" lIns="76200" tIns="76200" rIns="76200" bIns="76200" rtlCol="0" anchor="ctr"/>
          <a:lstStyle/>
          <a:p>
            <a:pPr algn="l" indent="0" marL="0">
              <a:buNone/>
            </a:pPr>
            <a:r>
              <a:rPr lang="en-US" sz="1350" dirty="0">
                <a:solidFill>
                  <a:srgbClr val="111111"/>
                </a:solidFill>
                <a:latin typeface="Calibri" pitchFamily="34" charset="0"/>
                <a:ea typeface="Calibri" pitchFamily="34" charset="-122"/>
                <a:cs typeface="Calibri" pitchFamily="34" charset="-120"/>
              </a:rPr>
              <a:t>2  "I'm opening the window."</a:t>
            </a:r>
            <a:endParaRPr lang="en-US" sz="1350" dirty="0"/>
          </a:p>
        </p:txBody>
      </p:sp>
      <p:sp>
        <p:nvSpPr>
          <p:cNvPr id="17" name="R2_a1"/>
          <p:cNvSpPr txBox="1"/>
          <p:nvPr/>
        </p:nvSpPr>
        <p:spPr>
          <a:xfrm>
            <a:off x="5257800" y="1978152"/>
            <a:ext cx="3566160" cy="368808"/>
          </a:xfrm>
          <a:prstGeom prst="roundRect">
            <a:avLst>
              <a:gd name="adj" fmla="val 14876"/>
            </a:avLst>
          </a:prstGeom>
          <a:solidFill>
            <a:srgbClr val="FFFFFF"/>
          </a:solidFill>
          <a:ln w="38100">
            <a:solidFill>
              <a:srgbClr val="1FA463"/>
            </a:solidFill>
          </a:ln>
        </p:spPr>
        <p:txBody>
          <a:bodyPr wrap="square" lIns="25400" tIns="25400" rIns="25400" bIns="25400" rtlCol="0" anchor="ctr"/>
          <a:lstStyle/>
          <a:p>
            <a:pPr algn="ctr" indent="0" marL="0">
              <a:buNone/>
            </a:pPr>
            <a:r>
              <a:rPr lang="en-US" sz="1250" dirty="0">
                <a:solidFill>
                  <a:srgbClr val="111111"/>
                </a:solidFill>
                <a:latin typeface="Calibri" pitchFamily="34" charset="0"/>
                <a:ea typeface="Calibri" pitchFamily="34" charset="-122"/>
                <a:cs typeface="Calibri" pitchFamily="34" charset="-120"/>
              </a:rPr>
              <a:t>e.g. Do you mind if I open the window?</a:t>
            </a:r>
            <a:endParaRPr lang="en-US" sz="1250" dirty="0"/>
          </a:p>
        </p:txBody>
      </p:sp>
      <p:sp>
        <p:nvSpPr>
          <p:cNvPr id="18" name="box_235"/>
          <p:cNvSpPr txBox="1"/>
          <p:nvPr/>
        </p:nvSpPr>
        <p:spPr>
          <a:xfrm>
            <a:off x="2788920" y="2511552"/>
            <a:ext cx="2414016" cy="441960"/>
          </a:xfrm>
          <a:prstGeom prst="rect">
            <a:avLst/>
          </a:prstGeom>
          <a:solidFill>
            <a:srgbClr val="FEF9C3"/>
          </a:solidFill>
          <a:ln w="15875">
            <a:solidFill>
              <a:srgbClr val="111111"/>
            </a:solidFill>
          </a:ln>
        </p:spPr>
        <p:txBody>
          <a:bodyPr wrap="square" lIns="76200" tIns="76200" rIns="76200" bIns="76200" rtlCol="0" anchor="ctr"/>
          <a:lstStyle/>
          <a:p>
            <a:pPr algn="l" indent="0" marL="0">
              <a:buNone/>
            </a:pPr>
            <a:r>
              <a:rPr lang="en-US" sz="1400" dirty="0">
                <a:solidFill>
                  <a:srgbClr val="111111"/>
                </a:solidFill>
                <a:latin typeface="Calibri" pitchFamily="34" charset="0"/>
                <a:ea typeface="Calibri" pitchFamily="34" charset="-122"/>
                <a:cs typeface="Calibri" pitchFamily="34" charset="-120"/>
              </a:rPr>
              <a:t>3  "Carry my bag."</a:t>
            </a:r>
            <a:endParaRPr lang="en-US" sz="1400" dirty="0"/>
          </a:p>
        </p:txBody>
      </p:sp>
      <p:sp>
        <p:nvSpPr>
          <p:cNvPr id="19" name="R3_a2"/>
          <p:cNvSpPr txBox="1"/>
          <p:nvPr/>
        </p:nvSpPr>
        <p:spPr>
          <a:xfrm>
            <a:off x="5257800" y="2548128"/>
            <a:ext cx="3566160" cy="368808"/>
          </a:xfrm>
          <a:prstGeom prst="roundRect">
            <a:avLst>
              <a:gd name="adj" fmla="val 14876"/>
            </a:avLst>
          </a:prstGeom>
          <a:solidFill>
            <a:srgbClr val="FFFFFF"/>
          </a:solidFill>
          <a:ln w="38100">
            <a:solidFill>
              <a:srgbClr val="1FA463"/>
            </a:solidFill>
          </a:ln>
        </p:spPr>
        <p:txBody>
          <a:bodyPr wrap="square" lIns="25400" tIns="25400" rIns="25400" bIns="25400" rtlCol="0" anchor="ctr"/>
          <a:lstStyle/>
          <a:p>
            <a:pPr algn="ctr" indent="0" marL="0">
              <a:buNone/>
            </a:pPr>
            <a:r>
              <a:rPr lang="en-US" sz="1250" dirty="0">
                <a:solidFill>
                  <a:srgbClr val="111111"/>
                </a:solidFill>
                <a:latin typeface="Calibri" pitchFamily="34" charset="0"/>
                <a:ea typeface="Calibri" pitchFamily="34" charset="-122"/>
                <a:cs typeface="Calibri" pitchFamily="34" charset="-120"/>
              </a:rPr>
              <a:t>e.g. Would you mind carrying my bag?</a:t>
            </a:r>
            <a:endParaRPr lang="en-US" sz="1250" dirty="0"/>
          </a:p>
        </p:txBody>
      </p:sp>
      <p:sp>
        <p:nvSpPr>
          <p:cNvPr id="20" name="box_236"/>
          <p:cNvSpPr txBox="1"/>
          <p:nvPr/>
        </p:nvSpPr>
        <p:spPr>
          <a:xfrm>
            <a:off x="2788920" y="3081528"/>
            <a:ext cx="2414016" cy="441960"/>
          </a:xfrm>
          <a:prstGeom prst="rect">
            <a:avLst/>
          </a:prstGeom>
          <a:solidFill>
            <a:srgbClr val="DCFCE7"/>
          </a:solidFill>
          <a:ln w="15875">
            <a:solidFill>
              <a:srgbClr val="111111"/>
            </a:solidFill>
          </a:ln>
        </p:spPr>
        <p:txBody>
          <a:bodyPr wrap="square" lIns="76200" tIns="76200" rIns="76200" bIns="76200" rtlCol="0" anchor="ctr"/>
          <a:lstStyle/>
          <a:p>
            <a:pPr algn="l" indent="0" marL="0">
              <a:buNone/>
            </a:pPr>
            <a:r>
              <a:rPr lang="en-US" sz="1400" dirty="0">
                <a:solidFill>
                  <a:srgbClr val="111111"/>
                </a:solidFill>
                <a:latin typeface="Calibri" pitchFamily="34" charset="0"/>
                <a:ea typeface="Calibri" pitchFamily="34" charset="-122"/>
                <a:cs typeface="Calibri" pitchFamily="34" charset="-120"/>
              </a:rPr>
              <a:t>4  "I'm using your phone."</a:t>
            </a:r>
            <a:endParaRPr lang="en-US" sz="1400" dirty="0"/>
          </a:p>
        </p:txBody>
      </p:sp>
      <p:sp>
        <p:nvSpPr>
          <p:cNvPr id="21" name="R4_a3"/>
          <p:cNvSpPr txBox="1"/>
          <p:nvPr/>
        </p:nvSpPr>
        <p:spPr>
          <a:xfrm>
            <a:off x="5257800" y="3118104"/>
            <a:ext cx="3566160" cy="368808"/>
          </a:xfrm>
          <a:prstGeom prst="roundRect">
            <a:avLst>
              <a:gd name="adj" fmla="val 14876"/>
            </a:avLst>
          </a:prstGeom>
          <a:solidFill>
            <a:srgbClr val="FFFFFF"/>
          </a:solidFill>
          <a:ln w="38100">
            <a:solidFill>
              <a:srgbClr val="1FA463"/>
            </a:solidFill>
          </a:ln>
        </p:spPr>
        <p:txBody>
          <a:bodyPr wrap="square" lIns="25400" tIns="25400" rIns="25400" bIns="25400" rtlCol="0" anchor="ctr"/>
          <a:lstStyle/>
          <a:p>
            <a:pPr algn="ctr" indent="0" marL="0">
              <a:buNone/>
            </a:pPr>
            <a:r>
              <a:rPr lang="en-US" sz="1250" dirty="0">
                <a:solidFill>
                  <a:srgbClr val="111111"/>
                </a:solidFill>
                <a:latin typeface="Calibri" pitchFamily="34" charset="0"/>
                <a:ea typeface="Calibri" pitchFamily="34" charset="-122"/>
                <a:cs typeface="Calibri" pitchFamily="34" charset="-120"/>
              </a:rPr>
              <a:t>e.g. Is it OK if I use your phone?</a:t>
            </a:r>
            <a:endParaRPr lang="en-US" sz="1250" dirty="0"/>
          </a:p>
        </p:txBody>
      </p:sp>
      <p:sp>
        <p:nvSpPr>
          <p:cNvPr id="22" name="box_237"/>
          <p:cNvSpPr txBox="1"/>
          <p:nvPr/>
        </p:nvSpPr>
        <p:spPr>
          <a:xfrm>
            <a:off x="2788920" y="3651504"/>
            <a:ext cx="2414016" cy="441960"/>
          </a:xfrm>
          <a:prstGeom prst="rect">
            <a:avLst/>
          </a:prstGeom>
          <a:solidFill>
            <a:srgbClr val="EDE9FE"/>
          </a:solidFill>
          <a:ln w="15875">
            <a:solidFill>
              <a:srgbClr val="111111"/>
            </a:solidFill>
          </a:ln>
        </p:spPr>
        <p:txBody>
          <a:bodyPr wrap="square" lIns="76200" tIns="76200" rIns="76200" bIns="76200" rtlCol="0" anchor="ctr"/>
          <a:lstStyle/>
          <a:p>
            <a:pPr algn="l" indent="0" marL="0">
              <a:buNone/>
            </a:pPr>
            <a:r>
              <a:rPr lang="en-US" sz="1400" dirty="0">
                <a:solidFill>
                  <a:srgbClr val="111111"/>
                </a:solidFill>
                <a:latin typeface="Calibri" pitchFamily="34" charset="0"/>
                <a:ea typeface="Calibri" pitchFamily="34" charset="-122"/>
                <a:cs typeface="Calibri" pitchFamily="34" charset="-120"/>
              </a:rPr>
              <a:t>5  "Take me to the station."</a:t>
            </a:r>
            <a:endParaRPr lang="en-US" sz="1400" dirty="0"/>
          </a:p>
        </p:txBody>
      </p:sp>
      <p:sp>
        <p:nvSpPr>
          <p:cNvPr id="23" name="R5_a4"/>
          <p:cNvSpPr txBox="1"/>
          <p:nvPr/>
        </p:nvSpPr>
        <p:spPr>
          <a:xfrm>
            <a:off x="5257800" y="3688080"/>
            <a:ext cx="3566160" cy="368808"/>
          </a:xfrm>
          <a:prstGeom prst="roundRect">
            <a:avLst>
              <a:gd name="adj" fmla="val 14876"/>
            </a:avLst>
          </a:prstGeom>
          <a:solidFill>
            <a:srgbClr val="FFFFFF"/>
          </a:solidFill>
          <a:ln w="38100">
            <a:solidFill>
              <a:srgbClr val="1FA463"/>
            </a:solidFill>
          </a:ln>
        </p:spPr>
        <p:txBody>
          <a:bodyPr wrap="square" lIns="25400" tIns="25400" rIns="25400" bIns="25400" rtlCol="0" anchor="ctr"/>
          <a:lstStyle/>
          <a:p>
            <a:pPr algn="ctr" indent="0" marL="0">
              <a:buNone/>
            </a:pPr>
            <a:r>
              <a:rPr lang="en-US" sz="1250" dirty="0">
                <a:solidFill>
                  <a:srgbClr val="111111"/>
                </a:solidFill>
                <a:latin typeface="Calibri" pitchFamily="34" charset="0"/>
                <a:ea typeface="Calibri" pitchFamily="34" charset="-122"/>
                <a:cs typeface="Calibri" pitchFamily="34" charset="-120"/>
              </a:rPr>
              <a:t>e.g. Do you think you could take me…?</a:t>
            </a:r>
            <a:endParaRPr lang="en-US" sz="1250" dirty="0"/>
          </a:p>
        </p:txBody>
      </p:sp>
      <p:sp>
        <p:nvSpPr>
          <p:cNvPr id="24" name="box_238"/>
          <p:cNvSpPr txBox="1"/>
          <p:nvPr/>
        </p:nvSpPr>
        <p:spPr>
          <a:xfrm>
            <a:off x="2788920" y="4221480"/>
            <a:ext cx="2414016" cy="441960"/>
          </a:xfrm>
          <a:prstGeom prst="rect">
            <a:avLst/>
          </a:prstGeom>
          <a:solidFill>
            <a:srgbClr val="FFEDD5"/>
          </a:solidFill>
          <a:ln w="15875">
            <a:solidFill>
              <a:srgbClr val="111111"/>
            </a:solidFill>
          </a:ln>
        </p:spPr>
        <p:txBody>
          <a:bodyPr wrap="square" lIns="76200" tIns="76200" rIns="76200" bIns="76200" rtlCol="0" anchor="ctr"/>
          <a:lstStyle/>
          <a:p>
            <a:pPr algn="l" indent="0" marL="0">
              <a:buNone/>
            </a:pPr>
            <a:r>
              <a:rPr lang="en-US" sz="1400" dirty="0">
                <a:solidFill>
                  <a:srgbClr val="111111"/>
                </a:solidFill>
                <a:latin typeface="Calibri" pitchFamily="34" charset="0"/>
                <a:ea typeface="Calibri" pitchFamily="34" charset="-122"/>
                <a:cs typeface="Calibri" pitchFamily="34" charset="-120"/>
              </a:rPr>
              <a:t>6  "Move!"</a:t>
            </a:r>
            <a:endParaRPr lang="en-US" sz="1400" dirty="0"/>
          </a:p>
        </p:txBody>
      </p:sp>
      <p:sp>
        <p:nvSpPr>
          <p:cNvPr id="25" name="R6_a5"/>
          <p:cNvSpPr txBox="1"/>
          <p:nvPr/>
        </p:nvSpPr>
        <p:spPr>
          <a:xfrm>
            <a:off x="5257800" y="4258056"/>
            <a:ext cx="3566160" cy="368808"/>
          </a:xfrm>
          <a:prstGeom prst="roundRect">
            <a:avLst>
              <a:gd name="adj" fmla="val 14876"/>
            </a:avLst>
          </a:prstGeom>
          <a:solidFill>
            <a:srgbClr val="FFFFFF"/>
          </a:solidFill>
          <a:ln w="38100">
            <a:solidFill>
              <a:srgbClr val="1FA463"/>
            </a:solidFill>
          </a:ln>
        </p:spPr>
        <p:txBody>
          <a:bodyPr wrap="square" lIns="25400" tIns="25400" rIns="25400" bIns="25400" rtlCol="0" anchor="ctr"/>
          <a:lstStyle/>
          <a:p>
            <a:pPr algn="ctr" indent="0" marL="0">
              <a:buNone/>
            </a:pPr>
            <a:r>
              <a:rPr lang="en-US" sz="1250" dirty="0">
                <a:solidFill>
                  <a:srgbClr val="111111"/>
                </a:solidFill>
                <a:latin typeface="Calibri" pitchFamily="34" charset="0"/>
                <a:ea typeface="Calibri" pitchFamily="34" charset="-122"/>
                <a:cs typeface="Calibri" pitchFamily="34" charset="-120"/>
              </a:rPr>
              <a:t>e.g. Would you mind moving, please?</a:t>
            </a:r>
            <a:endParaRPr lang="en-US" sz="1250" dirty="0"/>
          </a:p>
        </p:txBody>
      </p:sp>
      <p:sp>
        <p:nvSpPr>
          <p:cNvPr id="26" name="pageTag_239"/>
          <p:cNvSpPr txBox="1"/>
          <p:nvPr/>
        </p:nvSpPr>
        <p:spPr>
          <a:xfrm>
            <a:off x="320040" y="4773168"/>
            <a:ext cx="6720840" cy="246888"/>
          </a:xfrm>
          <a:prstGeom prst="rect">
            <a:avLst/>
          </a:prstGeom>
          <a:solidFill>
            <a:srgbClr val="FFFFFF"/>
          </a:solidFill>
          <a:ln/>
        </p:spPr>
        <p:txBody>
          <a:bodyPr wrap="square" lIns="25400" tIns="25400" rIns="25400" bIns="25400" rtlCol="0" anchor="ctr"/>
          <a:lstStyle/>
          <a:p>
            <a:pPr indent="0" marL="0">
              <a:buNone/>
            </a:pPr>
            <a:r>
              <a:rPr lang="en-US" sz="1050" dirty="0">
                <a:solidFill>
                  <a:srgbClr val="334155"/>
                </a:solidFill>
                <a:latin typeface="Calibri" pitchFamily="34" charset="0"/>
                <a:ea typeface="Calibri" pitchFamily="34" charset="-122"/>
                <a:cs typeface="Calibri" pitchFamily="34" charset="-120"/>
              </a:rPr>
              <a:t>📖 Teacher: practice of Practical English 3 · permission and requests</a:t>
            </a:r>
            <a:endParaRPr lang="en-US" sz="105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fade">
                                      <p:cBhvr>
                                        <p:cTn id="7" dur="400"/>
                                        <p:tgtEl>
                                          <p:spTgt spid="1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7"/>
                                        </p:tgtEl>
                                        <p:attrNameLst>
                                          <p:attrName>style.visibility</p:attrName>
                                        </p:attrNameLst>
                                      </p:cBhvr>
                                      <p:to>
                                        <p:strVal val="visible"/>
                                      </p:to>
                                    </p:set>
                                    <p:animEffect transition="in" filter="fade">
                                      <p:cBhvr>
                                        <p:cTn id="12" dur="400"/>
                                        <p:tgtEl>
                                          <p:spTgt spid="17"/>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9"/>
                                        </p:tgtEl>
                                        <p:attrNameLst>
                                          <p:attrName>style.visibility</p:attrName>
                                        </p:attrNameLst>
                                      </p:cBhvr>
                                      <p:to>
                                        <p:strVal val="visible"/>
                                      </p:to>
                                    </p:set>
                                    <p:animEffect transition="in" filter="fade">
                                      <p:cBhvr>
                                        <p:cTn id="17" dur="400"/>
                                        <p:tgtEl>
                                          <p:spTgt spid="19"/>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1"/>
                                        </p:tgtEl>
                                        <p:attrNameLst>
                                          <p:attrName>style.visibility</p:attrName>
                                        </p:attrNameLst>
                                      </p:cBhvr>
                                      <p:to>
                                        <p:strVal val="visible"/>
                                      </p:to>
                                    </p:set>
                                    <p:animEffect transition="in" filter="fade">
                                      <p:cBhvr>
                                        <p:cTn id="22" dur="400"/>
                                        <p:tgtEl>
                                          <p:spTgt spid="21"/>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23"/>
                                        </p:tgtEl>
                                        <p:attrNameLst>
                                          <p:attrName>style.visibility</p:attrName>
                                        </p:attrNameLst>
                                      </p:cBhvr>
                                      <p:to>
                                        <p:strVal val="visible"/>
                                      </p:to>
                                    </p:set>
                                    <p:animEffect transition="in" filter="fade">
                                      <p:cBhvr>
                                        <p:cTn id="27" dur="400"/>
                                        <p:tgtEl>
                                          <p:spTgt spid="23"/>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25"/>
                                        </p:tgtEl>
                                        <p:attrNameLst>
                                          <p:attrName>style.visibility</p:attrName>
                                        </p:attrNameLst>
                                      </p:cBhvr>
                                      <p:to>
                                        <p:strVal val="visible"/>
                                      </p:to>
                                    </p:set>
                                    <p:animEffect transition="in" filter="fade">
                                      <p:cBhvr>
                                        <p:cTn id="32" dur="4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name="Slide 14">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levelFrame_240"/>
          <p:cNvSpPr/>
          <p:nvPr/>
        </p:nvSpPr>
        <p:spPr>
          <a:xfrm>
            <a:off x="54864" y="54864"/>
            <a:ext cx="9034272" cy="5033772"/>
          </a:xfrm>
          <a:prstGeom prst="rect">
            <a:avLst/>
          </a:prstGeom>
          <a:ln w="114300">
            <a:solidFill>
              <a:srgbClr val="A8E6B4"/>
            </a:solidFill>
            <a:prstDash val="solid"/>
          </a:ln>
        </p:spPr>
      </p:sp>
      <p:pic>
        <p:nvPicPr>
          <p:cNvPr id="4" name="logo_241" descr="London Language School logo">    </p:cNvPr>
          <p:cNvPicPr>
            <a:picLocks noChangeAspect="1"/>
          </p:cNvPicPr>
          <p:nvPr/>
        </p:nvPicPr>
        <p:blipFill>
          <a:blip r:embed="rId2"/>
          <a:stretch>
            <a:fillRect/>
          </a:stretch>
        </p:blipFill>
        <p:spPr>
          <a:xfrm>
            <a:off x="8275320" y="182880"/>
            <a:ext cx="585216" cy="585216"/>
          </a:xfrm>
          <a:prstGeom prst="rect">
            <a:avLst/>
          </a:prstGeom>
        </p:spPr>
      </p:pic>
      <p:sp>
        <p:nvSpPr>
          <p:cNvPr id="5" name="footer_242"/>
          <p:cNvSpPr txBox="1"/>
          <p:nvPr/>
        </p:nvSpPr>
        <p:spPr>
          <a:xfrm>
            <a:off x="7132320" y="4818888"/>
            <a:ext cx="1737360" cy="219456"/>
          </a:xfrm>
          <a:prstGeom prst="rect">
            <a:avLst/>
          </a:prstGeom>
          <a:solidFill>
            <a:srgbClr val="FFFFFF"/>
          </a:solidFill>
          <a:ln/>
        </p:spPr>
        <p:txBody>
          <a:bodyPr wrap="square" lIns="0" tIns="0" rIns="0" bIns="0" rtlCol="0" anchor="ctr"/>
          <a:lstStyle/>
          <a:p>
            <a:pPr algn="ctr" indent="0" marL="0">
              <a:buNone/>
            </a:pPr>
            <a:r>
              <a:rPr lang="en-US" sz="1000" dirty="0">
                <a:solidFill>
                  <a:srgbClr val="334155"/>
                </a:solidFill>
                <a:latin typeface="Calibri" pitchFamily="34" charset="0"/>
                <a:ea typeface="Calibri" pitchFamily="34" charset="-122"/>
                <a:cs typeface="Calibri" pitchFamily="34" charset="-120"/>
              </a:rPr>
              <a:t>PE3 · Part 1</a:t>
            </a:r>
            <a:endParaRPr lang="en-US" sz="1000" dirty="0"/>
          </a:p>
        </p:txBody>
      </p:sp>
      <p:sp>
        <p:nvSpPr>
          <p:cNvPr id="6" name="title_243"/>
          <p:cNvSpPr txBox="1"/>
          <p:nvPr/>
        </p:nvSpPr>
        <p:spPr>
          <a:xfrm rot="-120000">
            <a:off x="320040" y="676656"/>
            <a:ext cx="4151376" cy="530352"/>
          </a:xfrm>
          <a:prstGeom prst="rect">
            <a:avLst/>
          </a:prstGeom>
          <a:solidFill>
            <a:srgbClr val="FFD84D"/>
          </a:solidFill>
          <a:ln w="31750">
            <a:solidFill>
              <a:srgbClr val="111111"/>
            </a:solidFill>
          </a:ln>
          <a:effectLst>
            <a:outerShdw sx="100000" sy="100000" kx="0" ky="0" algn="bl" rotWithShape="0" blurRad="101600" dist="38100" dir="2700000">
              <a:srgbClr val="000000">
                <a:alpha val="35000"/>
              </a:srgbClr>
            </a:outerShdw>
          </a:effectLst>
        </p:spPr>
        <p:txBody>
          <a:bodyPr wrap="square" lIns="127000" tIns="127000" rIns="127000" bIns="127000" rtlCol="0" anchor="ctr"/>
          <a:lstStyle/>
          <a:p>
            <a:pPr indent="0" marL="0">
              <a:buNone/>
            </a:pPr>
            <a:r>
              <a:rPr lang="en-US" sz="1500" dirty="0">
                <a:solidFill>
                  <a:srgbClr val="111111"/>
                </a:solidFill>
                <a:latin typeface="Arial Black" pitchFamily="34" charset="0"/>
                <a:ea typeface="Arial Black" pitchFamily="34" charset="-122"/>
                <a:cs typeface="Arial Black" pitchFamily="34" charset="-120"/>
              </a:rPr>
              <a:t>Look what you can do!</a:t>
            </a:r>
            <a:endParaRPr lang="en-US" sz="1500" dirty="0"/>
          </a:p>
        </p:txBody>
      </p:sp>
      <p:sp>
        <p:nvSpPr>
          <p:cNvPr id="7" name="sub_244"/>
          <p:cNvSpPr txBox="1"/>
          <p:nvPr/>
        </p:nvSpPr>
        <p:spPr>
          <a:xfrm>
            <a:off x="365760" y="1234440"/>
            <a:ext cx="3657600" cy="274320"/>
          </a:xfrm>
          <a:prstGeom prst="rect">
            <a:avLst/>
          </a:prstGeom>
          <a:noFill/>
          <a:ln/>
        </p:spPr>
        <p:txBody>
          <a:bodyPr wrap="square" rtlCol="0" anchor="ctr"/>
          <a:lstStyle/>
          <a:p>
            <a:pPr indent="0" marL="0">
              <a:buNone/>
            </a:pPr>
            <a:r>
              <a:rPr lang="en-US" sz="1200" i="1" dirty="0">
                <a:solidFill>
                  <a:srgbClr val="334155"/>
                </a:solidFill>
                <a:latin typeface="Calibri" pitchFamily="34" charset="0"/>
                <a:ea typeface="Calibri" pitchFamily="34" charset="-122"/>
                <a:cs typeface="Calibri" pitchFamily="34" charset="-120"/>
              </a:rPr>
              <a:t>Guarda cosa sai fare adesso!</a:t>
            </a:r>
            <a:endParaRPr lang="en-US" sz="1200" dirty="0"/>
          </a:p>
        </p:txBody>
      </p:sp>
      <p:sp>
        <p:nvSpPr>
          <p:cNvPr id="8" name="box_245"/>
          <p:cNvSpPr txBox="1"/>
          <p:nvPr/>
        </p:nvSpPr>
        <p:spPr>
          <a:xfrm>
            <a:off x="365760" y="1600200"/>
            <a:ext cx="4846320" cy="548640"/>
          </a:xfrm>
          <a:prstGeom prst="rect">
            <a:avLst/>
          </a:prstGeom>
          <a:solidFill>
            <a:srgbClr val="E0F2FE"/>
          </a:solidFill>
          <a:ln w="15875">
            <a:solidFill>
              <a:srgbClr val="111111"/>
            </a:solidFill>
          </a:ln>
        </p:spPr>
        <p:txBody>
          <a:bodyPr wrap="square" lIns="76200" tIns="76200" rIns="76200" bIns="76200" rtlCol="0" anchor="ctr"/>
          <a:lstStyle/>
          <a:p>
            <a:pPr algn="l" indent="0" marL="0">
              <a:buNone/>
            </a:pPr>
            <a:r>
              <a:rPr lang="en-US" sz="1350" b="1" dirty="0">
                <a:solidFill>
                  <a:srgbClr val="111111"/>
                </a:solidFill>
                <a:latin typeface="Calibri" pitchFamily="34" charset="0"/>
                <a:ea typeface="Calibri" pitchFamily="34" charset="-122"/>
                <a:cs typeface="Calibri" pitchFamily="34" charset="-120"/>
              </a:rPr>
              <a:t>✓  I can ask for permission politely.</a:t>
            </a:r>
            <a:endParaRPr lang="en-US" sz="1350" dirty="0"/>
          </a:p>
        </p:txBody>
      </p:sp>
      <p:sp>
        <p:nvSpPr>
          <p:cNvPr id="9" name="faces_246"/>
          <p:cNvSpPr txBox="1"/>
          <p:nvPr/>
        </p:nvSpPr>
        <p:spPr>
          <a:xfrm>
            <a:off x="5230368" y="1600200"/>
            <a:ext cx="1188720" cy="548640"/>
          </a:xfrm>
          <a:prstGeom prst="rect">
            <a:avLst/>
          </a:prstGeom>
          <a:noFill/>
          <a:ln/>
        </p:spPr>
        <p:txBody>
          <a:bodyPr wrap="square" rtlCol="0" anchor="ctr"/>
          <a:lstStyle/>
          <a:p>
            <a:pPr algn="ctr" indent="0" marL="0">
              <a:buNone/>
            </a:pPr>
            <a:r>
              <a:rPr lang="en-US" sz="1400" dirty="0">
                <a:solidFill>
                  <a:srgbClr val="000000"/>
                </a:solidFill>
                <a:latin typeface="Calibri" pitchFamily="34" charset="0"/>
                <a:ea typeface="Calibri" pitchFamily="34" charset="-122"/>
                <a:cs typeface="Calibri" pitchFamily="34" charset="-120"/>
              </a:rPr>
              <a:t>😀 🙂 😐</a:t>
            </a:r>
            <a:endParaRPr lang="en-US" sz="1400" dirty="0"/>
          </a:p>
        </p:txBody>
      </p:sp>
      <p:sp>
        <p:nvSpPr>
          <p:cNvPr id="10" name="box_247"/>
          <p:cNvSpPr txBox="1"/>
          <p:nvPr/>
        </p:nvSpPr>
        <p:spPr>
          <a:xfrm>
            <a:off x="365760" y="2240280"/>
            <a:ext cx="4846320" cy="548640"/>
          </a:xfrm>
          <a:prstGeom prst="rect">
            <a:avLst/>
          </a:prstGeom>
          <a:solidFill>
            <a:srgbClr val="FCE7F3"/>
          </a:solidFill>
          <a:ln w="15875">
            <a:solidFill>
              <a:srgbClr val="111111"/>
            </a:solidFill>
          </a:ln>
        </p:spPr>
        <p:txBody>
          <a:bodyPr wrap="square" lIns="76200" tIns="76200" rIns="76200" bIns="76200" rtlCol="0" anchor="ctr"/>
          <a:lstStyle/>
          <a:p>
            <a:pPr algn="l" indent="0" marL="0">
              <a:buNone/>
            </a:pPr>
            <a:r>
              <a:rPr lang="en-US" sz="1350" b="1" dirty="0">
                <a:solidFill>
                  <a:srgbClr val="111111"/>
                </a:solidFill>
                <a:latin typeface="Calibri" pitchFamily="34" charset="0"/>
                <a:ea typeface="Calibri" pitchFamily="34" charset="-122"/>
                <a:cs typeface="Calibri" pitchFamily="34" charset="-120"/>
              </a:rPr>
              <a:t>✓  I can ask people to do things for me – and answer.</a:t>
            </a:r>
            <a:endParaRPr lang="en-US" sz="1350" dirty="0"/>
          </a:p>
        </p:txBody>
      </p:sp>
      <p:sp>
        <p:nvSpPr>
          <p:cNvPr id="11" name="faces_248"/>
          <p:cNvSpPr txBox="1"/>
          <p:nvPr/>
        </p:nvSpPr>
        <p:spPr>
          <a:xfrm>
            <a:off x="5230368" y="2240280"/>
            <a:ext cx="1188720" cy="548640"/>
          </a:xfrm>
          <a:prstGeom prst="rect">
            <a:avLst/>
          </a:prstGeom>
          <a:noFill/>
          <a:ln/>
        </p:spPr>
        <p:txBody>
          <a:bodyPr wrap="square" rtlCol="0" anchor="ctr"/>
          <a:lstStyle/>
          <a:p>
            <a:pPr algn="ctr" indent="0" marL="0">
              <a:buNone/>
            </a:pPr>
            <a:r>
              <a:rPr lang="en-US" sz="1400" dirty="0">
                <a:solidFill>
                  <a:srgbClr val="000000"/>
                </a:solidFill>
                <a:latin typeface="Calibri" pitchFamily="34" charset="0"/>
                <a:ea typeface="Calibri" pitchFamily="34" charset="-122"/>
                <a:cs typeface="Calibri" pitchFamily="34" charset="-120"/>
              </a:rPr>
              <a:t>😀 🙂 😐</a:t>
            </a:r>
            <a:endParaRPr lang="en-US" sz="1400" dirty="0"/>
          </a:p>
        </p:txBody>
      </p:sp>
      <p:sp>
        <p:nvSpPr>
          <p:cNvPr id="12" name="box_249"/>
          <p:cNvSpPr txBox="1"/>
          <p:nvPr/>
        </p:nvSpPr>
        <p:spPr>
          <a:xfrm>
            <a:off x="365760" y="2880360"/>
            <a:ext cx="4846320" cy="548640"/>
          </a:xfrm>
          <a:prstGeom prst="rect">
            <a:avLst/>
          </a:prstGeom>
          <a:solidFill>
            <a:srgbClr val="FEF9C3"/>
          </a:solidFill>
          <a:ln w="15875">
            <a:solidFill>
              <a:srgbClr val="111111"/>
            </a:solidFill>
          </a:ln>
        </p:spPr>
        <p:txBody>
          <a:bodyPr wrap="square" lIns="76200" tIns="76200" rIns="76200" bIns="76200" rtlCol="0" anchor="ctr"/>
          <a:lstStyle/>
          <a:p>
            <a:pPr algn="l" indent="0" marL="0">
              <a:buNone/>
            </a:pPr>
            <a:r>
              <a:rPr lang="en-US" sz="1300" b="1" dirty="0">
                <a:solidFill>
                  <a:srgbClr val="111111"/>
                </a:solidFill>
                <a:latin typeface="Calibri" pitchFamily="34" charset="0"/>
                <a:ea typeface="Calibri" pitchFamily="34" charset="-122"/>
                <a:cs typeface="Calibri" pitchFamily="34" charset="-120"/>
              </a:rPr>
              <a:t>✓  I can greet an old friend I haven't seen for a long time.</a:t>
            </a:r>
            <a:endParaRPr lang="en-US" sz="1300" dirty="0"/>
          </a:p>
        </p:txBody>
      </p:sp>
      <p:sp>
        <p:nvSpPr>
          <p:cNvPr id="13" name="faces_250"/>
          <p:cNvSpPr txBox="1"/>
          <p:nvPr/>
        </p:nvSpPr>
        <p:spPr>
          <a:xfrm>
            <a:off x="5230368" y="2880360"/>
            <a:ext cx="1188720" cy="548640"/>
          </a:xfrm>
          <a:prstGeom prst="rect">
            <a:avLst/>
          </a:prstGeom>
          <a:noFill/>
          <a:ln/>
        </p:spPr>
        <p:txBody>
          <a:bodyPr wrap="square" rtlCol="0" anchor="ctr"/>
          <a:lstStyle/>
          <a:p>
            <a:pPr algn="ctr" indent="0" marL="0">
              <a:buNone/>
            </a:pPr>
            <a:r>
              <a:rPr lang="en-US" sz="1400" dirty="0">
                <a:solidFill>
                  <a:srgbClr val="000000"/>
                </a:solidFill>
                <a:latin typeface="Calibri" pitchFamily="34" charset="0"/>
                <a:ea typeface="Calibri" pitchFamily="34" charset="-122"/>
                <a:cs typeface="Calibri" pitchFamily="34" charset="-120"/>
              </a:rPr>
              <a:t>😀 🙂 😐</a:t>
            </a:r>
            <a:endParaRPr lang="en-US" sz="1400" dirty="0"/>
          </a:p>
        </p:txBody>
      </p:sp>
      <p:sp>
        <p:nvSpPr>
          <p:cNvPr id="14" name="hw_251"/>
          <p:cNvSpPr txBox="1"/>
          <p:nvPr/>
        </p:nvSpPr>
        <p:spPr>
          <a:xfrm rot="90000">
            <a:off x="6446520" y="1325880"/>
            <a:ext cx="2377440" cy="2651760"/>
          </a:xfrm>
          <a:prstGeom prst="rect">
            <a:avLst/>
          </a:prstGeom>
          <a:solidFill>
            <a:srgbClr val="062F67"/>
          </a:solidFill>
          <a:ln w="31750">
            <a:solidFill>
              <a:srgbClr val="111111"/>
            </a:solidFill>
          </a:ln>
          <a:effectLst>
            <a:outerShdw sx="100000" sy="100000" kx="0" ky="0" algn="bl" rotWithShape="0" blurRad="101600" dist="38100" dir="2700000">
              <a:srgbClr val="000000">
                <a:alpha val="35000"/>
              </a:srgbClr>
            </a:outerShdw>
          </a:effectLst>
        </p:spPr>
        <p:txBody>
          <a:bodyPr wrap="square" lIns="114300" tIns="114300" rIns="114300" bIns="114300" rtlCol="0" anchor="t"/>
          <a:lstStyle/>
          <a:p>
            <a:pPr indent="0" marL="0">
              <a:spcAft>
                <a:spcPts val="500"/>
              </a:spcAft>
              <a:buNone/>
            </a:pPr>
            <a:r>
              <a:rPr lang="en-US" sz="1200" b="1" dirty="0">
                <a:solidFill>
                  <a:srgbClr val="FFD84D"/>
                </a:solidFill>
                <a:latin typeface="Arial Black" pitchFamily="34" charset="0"/>
                <a:ea typeface="Arial Black" pitchFamily="34" charset="-122"/>
                <a:cs typeface="Arial Black" pitchFamily="34" charset="-120"/>
              </a:rPr>
              <a:t>HOMEWORK · COMPITI</a:t>
            </a:r>
            <a:endParaRPr lang="en-US" sz="1250" dirty="0"/>
          </a:p>
          <a:p>
            <a:pPr indent="0" marL="0">
              <a:spcAft>
                <a:spcPts val="500"/>
              </a:spcAft>
              <a:buNone/>
            </a:pPr>
            <a:r>
              <a:rPr lang="en-US" sz="1250" dirty="0">
                <a:solidFill>
                  <a:srgbClr val="FFFFFF"/>
                </a:solidFill>
                <a:latin typeface="Calibri" pitchFamily="34" charset="0"/>
                <a:ea typeface="Calibri" pitchFamily="34" charset="-122"/>
                <a:cs typeface="Calibri" pitchFamily="34" charset="-120"/>
              </a:rPr>
              <a:t>• Workbook Practical English 3: 1a–1d, 2a, 2b</a:t>
            </a:r>
            <a:endParaRPr lang="en-US" sz="1250" dirty="0"/>
          </a:p>
          <a:p>
            <a:pPr indent="0" marL="0">
              <a:spcAft>
                <a:spcPts val="500"/>
              </a:spcAft>
              <a:buNone/>
            </a:pPr>
            <a:r>
              <a:rPr lang="en-US" sz="1250" dirty="0">
                <a:solidFill>
                  <a:srgbClr val="FFFFFF"/>
                </a:solidFill>
                <a:latin typeface="Calibri" pitchFamily="34" charset="0"/>
                <a:ea typeface="Calibri" pitchFamily="34" charset="-122"/>
                <a:cs typeface="Calibri" pitchFamily="34" charset="-120"/>
              </a:rPr>
              <a:t>• Homework sheet PE3</a:t>
            </a:r>
            <a:endParaRPr lang="en-US" sz="1250" dirty="0"/>
          </a:p>
          <a:p>
            <a:pPr indent="0" marL="0">
              <a:spcAft>
                <a:spcPts val="500"/>
              </a:spcAft>
              <a:buNone/>
            </a:pPr>
            <a:r>
              <a:rPr lang="en-US" sz="1050" i="1" dirty="0">
                <a:solidFill>
                  <a:srgbClr val="C7D2FE"/>
                </a:solidFill>
                <a:latin typeface="Calibri" pitchFamily="34" charset="0"/>
                <a:ea typeface="Calibri" pitchFamily="34" charset="-122"/>
                <a:cs typeface="Calibri" pitchFamily="34" charset="-120"/>
              </a:rPr>
              <a:t>📷 Hand it in on the LLS app · Consegna nell'app LLS</a:t>
            </a:r>
            <a:endParaRPr lang="en-US" sz="1250" dirty="0"/>
          </a:p>
        </p:txBody>
      </p:sp>
      <p:sp>
        <p:nvSpPr>
          <p:cNvPr id="15" name="stamp_252"/>
          <p:cNvSpPr txBox="1"/>
          <p:nvPr/>
        </p:nvSpPr>
        <p:spPr>
          <a:xfrm>
            <a:off x="365760" y="3657600"/>
            <a:ext cx="5577840" cy="384048"/>
          </a:xfrm>
          <a:prstGeom prst="roundRect">
            <a:avLst>
              <a:gd name="adj" fmla="val 14286"/>
            </a:avLst>
          </a:prstGeom>
          <a:solidFill>
            <a:srgbClr val="FFFFFF"/>
          </a:solidFill>
          <a:ln w="38100">
            <a:solidFill>
              <a:srgbClr val="6D3FC0"/>
            </a:solidFill>
          </a:ln>
        </p:spPr>
        <p:txBody>
          <a:bodyPr wrap="square" lIns="25400" tIns="25400" rIns="25400" bIns="25400" rtlCol="0" anchor="ctr"/>
          <a:lstStyle/>
          <a:p>
            <a:pPr algn="ctr" indent="0" marL="0">
              <a:buNone/>
            </a:pPr>
            <a:r>
              <a:rPr lang="en-US" sz="1200" dirty="0">
                <a:solidFill>
                  <a:srgbClr val="6D3FC0"/>
                </a:solidFill>
                <a:latin typeface="Calibri" pitchFamily="34" charset="0"/>
                <a:ea typeface="Calibri" pitchFamily="34" charset="-122"/>
                <a:cs typeface="Calibri" pitchFamily="34" charset="-120"/>
              </a:rPr>
              <a:t>Next lesson: 6A part 1 · Behind the scenes · the passive</a:t>
            </a:r>
            <a:endParaRPr lang="en-US" sz="1200" dirty="0"/>
          </a:p>
        </p:txBody>
      </p:sp>
    </p:spTree>
  </p:cSld>
  <p:clrMapOvr>
    <a:masterClrMapping/>
  </p:clrMapOvr>
  <p:transition spd="med">
    <p:push dir="l"/>
  </p:transition>
</p:sld>
</file>

<file path=ppt/slides/slide15.xml><?xml version="1.0" encoding="utf-8"?>
<p:sld xmlns:a="http://schemas.openxmlformats.org/drawingml/2006/main" xmlns:r="http://schemas.openxmlformats.org/officeDocument/2006/relationships" xmlns:p="http://schemas.openxmlformats.org/presentationml/2006/main">
  <p:cSld name="Slide 15">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levelFrame_253"/>
          <p:cNvSpPr/>
          <p:nvPr/>
        </p:nvSpPr>
        <p:spPr>
          <a:xfrm>
            <a:off x="54864" y="54864"/>
            <a:ext cx="9034272" cy="5033772"/>
          </a:xfrm>
          <a:prstGeom prst="rect">
            <a:avLst/>
          </a:prstGeom>
          <a:ln w="114300">
            <a:solidFill>
              <a:srgbClr val="A8E6B4"/>
            </a:solidFill>
            <a:prstDash val="solid"/>
          </a:ln>
        </p:spPr>
      </p:sp>
      <p:pic>
        <p:nvPicPr>
          <p:cNvPr id="4" name="logo_254" descr="London Language School logo">    </p:cNvPr>
          <p:cNvPicPr>
            <a:picLocks noChangeAspect="1"/>
          </p:cNvPicPr>
          <p:nvPr/>
        </p:nvPicPr>
        <p:blipFill>
          <a:blip r:embed="rId2"/>
          <a:stretch>
            <a:fillRect/>
          </a:stretch>
        </p:blipFill>
        <p:spPr>
          <a:xfrm>
            <a:off x="8275320" y="182880"/>
            <a:ext cx="585216" cy="585216"/>
          </a:xfrm>
          <a:prstGeom prst="rect">
            <a:avLst/>
          </a:prstGeom>
        </p:spPr>
      </p:pic>
      <p:sp>
        <p:nvSpPr>
          <p:cNvPr id="5" name="objective_255"/>
          <p:cNvSpPr txBox="1"/>
          <p:nvPr/>
        </p:nvSpPr>
        <p:spPr>
          <a:xfrm>
            <a:off x="320040" y="182880"/>
            <a:ext cx="4754880" cy="365760"/>
          </a:xfrm>
          <a:prstGeom prst="roundRect">
            <a:avLst>
              <a:gd name="adj" fmla="val 20000"/>
            </a:avLst>
          </a:prstGeom>
          <a:solidFill>
            <a:srgbClr val="062F67"/>
          </a:solidFill>
          <a:ln w="31750">
            <a:solidFill>
              <a:srgbClr val="111111"/>
            </a:solidFill>
          </a:ln>
        </p:spPr>
        <p:txBody>
          <a:bodyPr wrap="square" lIns="101600" tIns="101600" rIns="101600" bIns="101600" rtlCol="0" anchor="ctr"/>
          <a:lstStyle/>
          <a:p>
            <a:pPr indent="0" marL="0">
              <a:buNone/>
            </a:pPr>
            <a:r>
              <a:rPr lang="en-US" sz="900" dirty="0">
                <a:solidFill>
                  <a:srgbClr val="FFFFFF"/>
                </a:solidFill>
                <a:latin typeface="Arial Black" pitchFamily="34" charset="0"/>
                <a:ea typeface="Arial Black" pitchFamily="34" charset="-122"/>
                <a:cs typeface="Arial Black" pitchFamily="34" charset="-120"/>
              </a:rPr>
              <a:t>EXTRA · Speaking · Role-play</a:t>
            </a:r>
            <a:endParaRPr lang="en-US" sz="900" dirty="0"/>
          </a:p>
        </p:txBody>
      </p:sp>
      <p:sp>
        <p:nvSpPr>
          <p:cNvPr id="6" name="timer_256"/>
          <p:cNvSpPr txBox="1"/>
          <p:nvPr/>
        </p:nvSpPr>
        <p:spPr>
          <a:xfrm>
            <a:off x="7086600" y="219456"/>
            <a:ext cx="1005840" cy="310896"/>
          </a:xfrm>
          <a:prstGeom prst="roundRect">
            <a:avLst>
              <a:gd name="adj" fmla="val 23529"/>
            </a:avLst>
          </a:prstGeom>
          <a:solidFill>
            <a:srgbClr val="FFFFFF"/>
          </a:solidFill>
          <a:ln w="25400">
            <a:solidFill>
              <a:srgbClr val="6D3FC0"/>
            </a:solidFill>
          </a:ln>
        </p:spPr>
        <p:txBody>
          <a:bodyPr wrap="square" lIns="0" tIns="0" rIns="0" bIns="0" rtlCol="0" anchor="ctr"/>
          <a:lstStyle/>
          <a:p>
            <a:pPr algn="ctr" indent="0" marL="0">
              <a:buNone/>
            </a:pPr>
            <a:r>
              <a:rPr lang="en-US" sz="1200" b="1" dirty="0">
                <a:solidFill>
                  <a:srgbClr val="6D3FC0"/>
                </a:solidFill>
                <a:latin typeface="Calibri" pitchFamily="34" charset="0"/>
                <a:ea typeface="Calibri" pitchFamily="34" charset="-122"/>
                <a:cs typeface="Calibri" pitchFamily="34" charset="-120"/>
              </a:rPr>
              <a:t>⏱ 8 min</a:t>
            </a:r>
            <a:endParaRPr lang="en-US" sz="1200" dirty="0"/>
          </a:p>
        </p:txBody>
      </p:sp>
      <p:sp>
        <p:nvSpPr>
          <p:cNvPr id="7" name="extra_257"/>
          <p:cNvSpPr txBox="1"/>
          <p:nvPr/>
        </p:nvSpPr>
        <p:spPr>
          <a:xfrm rot="360000">
            <a:off x="5943600" y="201168"/>
            <a:ext cx="1005840" cy="347472"/>
          </a:xfrm>
          <a:prstGeom prst="roundRect">
            <a:avLst>
              <a:gd name="adj" fmla="val 21053"/>
            </a:avLst>
          </a:prstGeom>
          <a:solidFill>
            <a:srgbClr val="1FA463"/>
          </a:solidFill>
          <a:ln w="31750">
            <a:solidFill>
              <a:srgbClr val="111111"/>
            </a:solidFill>
          </a:ln>
        </p:spPr>
        <p:txBody>
          <a:bodyPr wrap="square" rtlCol="0" anchor="ctr"/>
          <a:lstStyle/>
          <a:p>
            <a:pPr algn="ctr" indent="0" marL="0">
              <a:buNone/>
            </a:pPr>
            <a:r>
              <a:rPr lang="en-US" sz="1300" dirty="0">
                <a:solidFill>
                  <a:srgbClr val="FFFFFF"/>
                </a:solidFill>
                <a:latin typeface="Arial Black" pitchFamily="34" charset="0"/>
                <a:ea typeface="Arial Black" pitchFamily="34" charset="-122"/>
                <a:cs typeface="Arial Black" pitchFamily="34" charset="-120"/>
              </a:rPr>
              <a:t>EXTRA</a:t>
            </a:r>
            <a:endParaRPr lang="en-US" sz="1300" dirty="0"/>
          </a:p>
        </p:txBody>
      </p:sp>
      <p:sp>
        <p:nvSpPr>
          <p:cNvPr id="8" name="footer_258"/>
          <p:cNvSpPr txBox="1"/>
          <p:nvPr/>
        </p:nvSpPr>
        <p:spPr>
          <a:xfrm>
            <a:off x="7132320" y="4818888"/>
            <a:ext cx="1737360" cy="219456"/>
          </a:xfrm>
          <a:prstGeom prst="rect">
            <a:avLst/>
          </a:prstGeom>
          <a:solidFill>
            <a:srgbClr val="FFFFFF"/>
          </a:solidFill>
          <a:ln/>
        </p:spPr>
        <p:txBody>
          <a:bodyPr wrap="square" lIns="0" tIns="0" rIns="0" bIns="0" rtlCol="0" anchor="ctr"/>
          <a:lstStyle/>
          <a:p>
            <a:pPr algn="ctr" indent="0" marL="0">
              <a:buNone/>
            </a:pPr>
            <a:r>
              <a:rPr lang="en-US" sz="1000" dirty="0">
                <a:solidFill>
                  <a:srgbClr val="334155"/>
                </a:solidFill>
                <a:latin typeface="Calibri" pitchFamily="34" charset="0"/>
                <a:ea typeface="Calibri" pitchFamily="34" charset="-122"/>
                <a:cs typeface="Calibri" pitchFamily="34" charset="-120"/>
              </a:rPr>
              <a:t>PE3 · Part 1</a:t>
            </a:r>
            <a:endParaRPr lang="en-US" sz="1000" dirty="0"/>
          </a:p>
        </p:txBody>
      </p:sp>
      <p:sp>
        <p:nvSpPr>
          <p:cNvPr id="9" name="title_259"/>
          <p:cNvSpPr txBox="1"/>
          <p:nvPr/>
        </p:nvSpPr>
        <p:spPr>
          <a:xfrm rot="-120000">
            <a:off x="320040" y="676656"/>
            <a:ext cx="3630168" cy="530352"/>
          </a:xfrm>
          <a:prstGeom prst="rect">
            <a:avLst/>
          </a:prstGeom>
          <a:solidFill>
            <a:srgbClr val="FFD84D"/>
          </a:solidFill>
          <a:ln w="31750">
            <a:solidFill>
              <a:srgbClr val="111111"/>
            </a:solidFill>
          </a:ln>
          <a:effectLst>
            <a:outerShdw sx="100000" sy="100000" kx="0" ky="0" algn="bl" rotWithShape="0" blurRad="101600" dist="38100" dir="2700000">
              <a:srgbClr val="000000">
                <a:alpha val="35000"/>
              </a:srgbClr>
            </a:outerShdw>
          </a:effectLst>
        </p:spPr>
        <p:txBody>
          <a:bodyPr wrap="square" lIns="127000" tIns="127000" rIns="127000" bIns="127000" rtlCol="0" anchor="ctr"/>
          <a:lstStyle/>
          <a:p>
            <a:pPr indent="0" marL="0">
              <a:buNone/>
            </a:pPr>
            <a:r>
              <a:rPr lang="en-US" sz="1500" dirty="0">
                <a:solidFill>
                  <a:srgbClr val="111111"/>
                </a:solidFill>
                <a:latin typeface="Arial Black" pitchFamily="34" charset="0"/>
                <a:ea typeface="Arial Black" pitchFamily="34" charset="-122"/>
                <a:cs typeface="Arial Black" pitchFamily="34" charset="-120"/>
              </a:rPr>
              <a:t>What happens next?</a:t>
            </a:r>
            <a:endParaRPr lang="en-US" sz="1500" dirty="0"/>
          </a:p>
        </p:txBody>
      </p:sp>
      <p:sp>
        <p:nvSpPr>
          <p:cNvPr id="10" name="post_260"/>
          <p:cNvSpPr/>
          <p:nvPr/>
        </p:nvSpPr>
        <p:spPr>
          <a:xfrm>
            <a:off x="429768" y="1554480"/>
            <a:ext cx="128016" cy="2194560"/>
          </a:xfrm>
          <a:prstGeom prst="rect">
            <a:avLst/>
          </a:prstGeom>
          <a:solidFill>
            <a:srgbClr val="8B5A2B"/>
          </a:solidFill>
          <a:ln w="31750">
            <a:solidFill>
              <a:srgbClr val="111111"/>
            </a:solidFill>
            <a:prstDash val="solid"/>
          </a:ln>
        </p:spPr>
      </p:sp>
      <p:sp>
        <p:nvSpPr>
          <p:cNvPr id="11" name="signA_261"/>
          <p:cNvSpPr txBox="1"/>
          <p:nvPr/>
        </p:nvSpPr>
        <p:spPr>
          <a:xfrm rot="-180000">
            <a:off x="320040" y="1371600"/>
            <a:ext cx="2240280" cy="457200"/>
          </a:xfrm>
          <a:prstGeom prst="homePlate">
            <a:avLst/>
          </a:prstGeom>
          <a:solidFill>
            <a:srgbClr val="EF2F2F"/>
          </a:solidFill>
          <a:ln w="31750">
            <a:solidFill>
              <a:srgbClr val="111111"/>
            </a:solidFill>
          </a:ln>
          <a:effectLst>
            <a:outerShdw sx="100000" sy="100000" kx="0" ky="0" algn="bl" rotWithShape="0" blurRad="101600" dist="38100" dir="2700000">
              <a:srgbClr val="000000">
                <a:alpha val="35000"/>
              </a:srgbClr>
            </a:outerShdw>
          </a:effectLst>
        </p:spPr>
        <p:txBody>
          <a:bodyPr wrap="square" lIns="76200" tIns="76200" rIns="76200" bIns="76200" rtlCol="0" anchor="ctr"/>
          <a:lstStyle/>
          <a:p>
            <a:pPr indent="0" marL="0">
              <a:buNone/>
            </a:pPr>
            <a:r>
              <a:rPr lang="en-US" sz="1500" b="1" dirty="0">
                <a:solidFill>
                  <a:srgbClr val="FFFFFF"/>
                </a:solidFill>
                <a:latin typeface="Arial Black" pitchFamily="34" charset="0"/>
                <a:ea typeface="Arial Black" pitchFamily="34" charset="-122"/>
                <a:cs typeface="Arial Black" pitchFamily="34" charset="-120"/>
              </a:rPr>
              <a:t>SPEAK!</a:t>
            </a:r>
            <a:pPr indent="0" marL="0">
              <a:buNone/>
            </a:pPr>
            <a:r>
              <a:rPr lang="en-US" sz="1000" dirty="0">
                <a:solidFill>
                  <a:srgbClr val="FFF3B0"/>
                </a:solidFill>
                <a:latin typeface="Arial Black" pitchFamily="34" charset="0"/>
                <a:ea typeface="Arial Black" pitchFamily="34" charset="-122"/>
                <a:cs typeface="Arial Black" pitchFamily="34" charset="-120"/>
              </a:rPr>
              <a:t>  PARLA!</a:t>
            </a:r>
            <a:endParaRPr lang="en-US" sz="1500" dirty="0"/>
          </a:p>
        </p:txBody>
      </p:sp>
      <p:sp>
        <p:nvSpPr>
          <p:cNvPr id="12" name="signB_262"/>
          <p:cNvSpPr txBox="1"/>
          <p:nvPr/>
        </p:nvSpPr>
        <p:spPr>
          <a:xfrm rot="120000">
            <a:off x="365760" y="1938528"/>
            <a:ext cx="2240280" cy="1051560"/>
          </a:xfrm>
          <a:prstGeom prst="rect">
            <a:avLst/>
          </a:prstGeom>
          <a:solidFill>
            <a:srgbClr val="FFFFFF"/>
          </a:solidFill>
          <a:ln w="31750">
            <a:solidFill>
              <a:srgbClr val="111111"/>
            </a:solidFill>
          </a:ln>
        </p:spPr>
        <p:txBody>
          <a:bodyPr wrap="square" lIns="76200" tIns="76200" rIns="76200" bIns="76200" rtlCol="0" anchor="ctr"/>
          <a:lstStyle/>
          <a:p>
            <a:pPr indent="0" marL="0">
              <a:buNone/>
            </a:pPr>
            <a:r>
              <a:rPr lang="en-US" sz="1250" dirty="0">
                <a:solidFill>
                  <a:srgbClr val="111111"/>
                </a:solidFill>
                <a:latin typeface="Calibri" pitchFamily="34" charset="0"/>
                <a:ea typeface="Calibri" pitchFamily="34" charset="-122"/>
                <a:cs typeface="Calibri" pitchFamily="34" charset="-120"/>
              </a:rPr>
              <a:t>Groups of 3: write and act the next scene!</a:t>
            </a:r>
            <a:endParaRPr lang="en-US" sz="1250" dirty="0"/>
          </a:p>
          <a:p>
            <a:pPr indent="0" marL="0">
              <a:buNone/>
            </a:pPr>
            <a:r>
              <a:rPr lang="en-US" sz="1100" i="1" dirty="0">
                <a:solidFill>
                  <a:srgbClr val="334155"/>
                </a:solidFill>
                <a:latin typeface="Calibri" pitchFamily="34" charset="0"/>
                <a:ea typeface="Calibri" pitchFamily="34" charset="-122"/>
                <a:cs typeface="Calibri" pitchFamily="34" charset="-120"/>
              </a:rPr>
              <a:t>Gruppi di 3: scrivete e recitate la scena successiva!</a:t>
            </a:r>
            <a:endParaRPr lang="en-US" sz="1250" dirty="0"/>
          </a:p>
        </p:txBody>
      </p:sp>
      <p:sp>
        <p:nvSpPr>
          <p:cNvPr id="13" name="iconBack_263"/>
          <p:cNvSpPr/>
          <p:nvPr/>
        </p:nvSpPr>
        <p:spPr>
          <a:xfrm>
            <a:off x="685800" y="3246120"/>
            <a:ext cx="1143000" cy="1143000"/>
          </a:xfrm>
          <a:prstGeom prst="ellipse">
            <a:avLst/>
          </a:prstGeom>
          <a:solidFill>
            <a:srgbClr val="FFFFFF"/>
          </a:solidFill>
          <a:ln w="31750">
            <a:solidFill>
              <a:srgbClr val="111111"/>
            </a:solidFill>
            <a:prstDash val="solid"/>
          </a:ln>
          <a:effectLst>
            <a:outerShdw sx="100000" sy="100000" kx="0" ky="0" algn="bl" rotWithShape="0" blurRad="101600" dist="38100" dir="2700000">
              <a:srgbClr val="000000">
                <a:alpha val="35000"/>
              </a:srgbClr>
            </a:outerShdw>
          </a:effectLst>
        </p:spPr>
      </p:sp>
      <p:pic>
        <p:nvPicPr>
          <p:cNvPr id="14" name="icon_264" descr="pi:PiFilmSlate">    </p:cNvPr>
          <p:cNvPicPr>
            <a:picLocks noChangeAspect="1"/>
          </p:cNvPicPr>
          <p:nvPr/>
        </p:nvPicPr>
        <p:blipFill>
          <a:blip r:embed="rId3"/>
          <a:stretch>
            <a:fillRect/>
          </a:stretch>
        </p:blipFill>
        <p:spPr>
          <a:xfrm>
            <a:off x="914400" y="3474720"/>
            <a:ext cx="685800" cy="685800"/>
          </a:xfrm>
          <a:prstGeom prst="rect">
            <a:avLst/>
          </a:prstGeom>
        </p:spPr>
      </p:pic>
      <p:sp>
        <p:nvSpPr>
          <p:cNvPr id="15" name="num_265"/>
          <p:cNvSpPr txBox="1"/>
          <p:nvPr/>
        </p:nvSpPr>
        <p:spPr>
          <a:xfrm>
            <a:off x="2788920" y="1482471"/>
            <a:ext cx="384048" cy="384048"/>
          </a:xfrm>
          <a:prstGeom prst="ellipse">
            <a:avLst/>
          </a:prstGeom>
          <a:solidFill>
            <a:srgbClr val="EF2F2F"/>
          </a:solidFill>
          <a:ln w="19050">
            <a:solidFill>
              <a:srgbClr val="111111"/>
            </a:solidFill>
          </a:ln>
        </p:spPr>
        <p:txBody>
          <a:bodyPr wrap="square" lIns="0" tIns="0" rIns="0" bIns="0" rtlCol="0" anchor="ctr"/>
          <a:lstStyle/>
          <a:p>
            <a:pPr algn="ctr" indent="0" marL="0">
              <a:buNone/>
            </a:pPr>
            <a:r>
              <a:rPr lang="en-US" sz="1300" dirty="0">
                <a:solidFill>
                  <a:srgbClr val="FFFFFF"/>
                </a:solidFill>
                <a:latin typeface="Arial Black" pitchFamily="34" charset="0"/>
                <a:ea typeface="Arial Black" pitchFamily="34" charset="-122"/>
                <a:cs typeface="Arial Black" pitchFamily="34" charset="-120"/>
              </a:rPr>
              <a:t>1</a:t>
            </a:r>
            <a:endParaRPr lang="en-US" sz="1300" dirty="0"/>
          </a:p>
        </p:txBody>
      </p:sp>
      <p:sp>
        <p:nvSpPr>
          <p:cNvPr id="16" name="box_266"/>
          <p:cNvSpPr txBox="1"/>
          <p:nvPr/>
        </p:nvSpPr>
        <p:spPr>
          <a:xfrm>
            <a:off x="3264408" y="1371600"/>
            <a:ext cx="5559552" cy="605790"/>
          </a:xfrm>
          <a:prstGeom prst="rect">
            <a:avLst/>
          </a:prstGeom>
          <a:solidFill>
            <a:srgbClr val="FFFFFF"/>
          </a:solidFill>
          <a:ln w="15875">
            <a:solidFill>
              <a:srgbClr val="111111"/>
            </a:solidFill>
          </a:ln>
        </p:spPr>
        <p:txBody>
          <a:bodyPr wrap="square" lIns="76200" tIns="76200" rIns="76200" bIns="76200" rtlCol="0" anchor="ctr"/>
          <a:lstStyle/>
          <a:p>
            <a:pPr algn="l" indent="0" marL="0">
              <a:buNone/>
            </a:pPr>
            <a:r>
              <a:rPr lang="en-US" sz="1300" dirty="0">
                <a:solidFill>
                  <a:srgbClr val="111111"/>
                </a:solidFill>
                <a:latin typeface="Calibri" pitchFamily="34" charset="0"/>
                <a:ea typeface="Calibri" pitchFamily="34" charset="-122"/>
                <a:cs typeface="Calibri" pitchFamily="34" charset="-120"/>
              </a:rPr>
              <a:t>It's the next morning. Rob and Paul came home very late after their 'boys' night out'.</a:t>
            </a:r>
            <a:endParaRPr lang="en-US" sz="1300" dirty="0"/>
          </a:p>
        </p:txBody>
      </p:sp>
      <p:sp>
        <p:nvSpPr>
          <p:cNvPr id="17" name="num_267"/>
          <p:cNvSpPr txBox="1"/>
          <p:nvPr/>
        </p:nvSpPr>
        <p:spPr>
          <a:xfrm>
            <a:off x="2788920" y="2179701"/>
            <a:ext cx="384048" cy="384048"/>
          </a:xfrm>
          <a:prstGeom prst="ellipse">
            <a:avLst/>
          </a:prstGeom>
          <a:solidFill>
            <a:srgbClr val="48BDF2"/>
          </a:solidFill>
          <a:ln w="19050">
            <a:solidFill>
              <a:srgbClr val="111111"/>
            </a:solidFill>
          </a:ln>
        </p:spPr>
        <p:txBody>
          <a:bodyPr wrap="square" lIns="0" tIns="0" rIns="0" bIns="0" rtlCol="0" anchor="ctr"/>
          <a:lstStyle/>
          <a:p>
            <a:pPr algn="ctr" indent="0" marL="0">
              <a:buNone/>
            </a:pPr>
            <a:r>
              <a:rPr lang="en-US" sz="1300" dirty="0">
                <a:solidFill>
                  <a:srgbClr val="FFFFFF"/>
                </a:solidFill>
                <a:latin typeface="Arial Black" pitchFamily="34" charset="0"/>
                <a:ea typeface="Arial Black" pitchFamily="34" charset="-122"/>
                <a:cs typeface="Arial Black" pitchFamily="34" charset="-120"/>
              </a:rPr>
              <a:t>2</a:t>
            </a:r>
            <a:endParaRPr lang="en-US" sz="1300" dirty="0"/>
          </a:p>
        </p:txBody>
      </p:sp>
      <p:sp>
        <p:nvSpPr>
          <p:cNvPr id="18" name="box_268"/>
          <p:cNvSpPr txBox="1"/>
          <p:nvPr/>
        </p:nvSpPr>
        <p:spPr>
          <a:xfrm>
            <a:off x="3264408" y="2068830"/>
            <a:ext cx="5559552" cy="605790"/>
          </a:xfrm>
          <a:prstGeom prst="rect">
            <a:avLst/>
          </a:prstGeom>
          <a:solidFill>
            <a:srgbClr val="FFFFFF"/>
          </a:solidFill>
          <a:ln w="15875">
            <a:solidFill>
              <a:srgbClr val="111111"/>
            </a:solidFill>
          </a:ln>
        </p:spPr>
        <p:txBody>
          <a:bodyPr wrap="square" lIns="76200" tIns="76200" rIns="76200" bIns="76200" rtlCol="0" anchor="ctr"/>
          <a:lstStyle/>
          <a:p>
            <a:pPr algn="l" indent="0" marL="0">
              <a:buNone/>
            </a:pPr>
            <a:r>
              <a:rPr lang="en-US" sz="1300" dirty="0">
                <a:solidFill>
                  <a:srgbClr val="111111"/>
                </a:solidFill>
                <a:latin typeface="Calibri" pitchFamily="34" charset="0"/>
                <a:ea typeface="Calibri" pitchFamily="34" charset="-122"/>
                <a:cs typeface="Calibri" pitchFamily="34" charset="-120"/>
              </a:rPr>
              <a:t>Jenny calls Rob. What do they say?</a:t>
            </a:r>
            <a:endParaRPr lang="en-US" sz="1300" dirty="0"/>
          </a:p>
        </p:txBody>
      </p:sp>
      <p:sp>
        <p:nvSpPr>
          <p:cNvPr id="19" name="num_269"/>
          <p:cNvSpPr txBox="1"/>
          <p:nvPr/>
        </p:nvSpPr>
        <p:spPr>
          <a:xfrm>
            <a:off x="2788920" y="2876931"/>
            <a:ext cx="384048" cy="384048"/>
          </a:xfrm>
          <a:prstGeom prst="ellipse">
            <a:avLst/>
          </a:prstGeom>
          <a:solidFill>
            <a:srgbClr val="1FA463"/>
          </a:solidFill>
          <a:ln w="19050">
            <a:solidFill>
              <a:srgbClr val="111111"/>
            </a:solidFill>
          </a:ln>
        </p:spPr>
        <p:txBody>
          <a:bodyPr wrap="square" lIns="0" tIns="0" rIns="0" bIns="0" rtlCol="0" anchor="ctr"/>
          <a:lstStyle/>
          <a:p>
            <a:pPr algn="ctr" indent="0" marL="0">
              <a:buNone/>
            </a:pPr>
            <a:r>
              <a:rPr lang="en-US" sz="1300" dirty="0">
                <a:solidFill>
                  <a:srgbClr val="FFFFFF"/>
                </a:solidFill>
                <a:latin typeface="Arial Black" pitchFamily="34" charset="0"/>
                <a:ea typeface="Arial Black" pitchFamily="34" charset="-122"/>
                <a:cs typeface="Arial Black" pitchFamily="34" charset="-120"/>
              </a:rPr>
              <a:t>3</a:t>
            </a:r>
            <a:endParaRPr lang="en-US" sz="1300" dirty="0"/>
          </a:p>
        </p:txBody>
      </p:sp>
      <p:sp>
        <p:nvSpPr>
          <p:cNvPr id="20" name="box_270"/>
          <p:cNvSpPr txBox="1"/>
          <p:nvPr/>
        </p:nvSpPr>
        <p:spPr>
          <a:xfrm>
            <a:off x="3264408" y="2766060"/>
            <a:ext cx="5559552" cy="605790"/>
          </a:xfrm>
          <a:prstGeom prst="rect">
            <a:avLst/>
          </a:prstGeom>
          <a:solidFill>
            <a:srgbClr val="FFFFFF"/>
          </a:solidFill>
          <a:ln w="15875">
            <a:solidFill>
              <a:srgbClr val="111111"/>
            </a:solidFill>
          </a:ln>
        </p:spPr>
        <p:txBody>
          <a:bodyPr wrap="square" lIns="76200" tIns="76200" rIns="76200" bIns="76200" rtlCol="0" anchor="ctr"/>
          <a:lstStyle/>
          <a:p>
            <a:pPr algn="l" indent="0" marL="0">
              <a:buNone/>
            </a:pPr>
            <a:r>
              <a:rPr lang="en-US" sz="1300" dirty="0">
                <a:solidFill>
                  <a:srgbClr val="111111"/>
                </a:solidFill>
                <a:latin typeface="Calibri" pitchFamily="34" charset="0"/>
                <a:ea typeface="Calibri" pitchFamily="34" charset="-122"/>
                <a:cs typeface="Calibri" pitchFamily="34" charset="-120"/>
              </a:rPr>
              <a:t>Use two requests and one Social English phrase from today.</a:t>
            </a:r>
            <a:endParaRPr lang="en-US" sz="1300" dirty="0"/>
          </a:p>
        </p:txBody>
      </p:sp>
      <p:sp>
        <p:nvSpPr>
          <p:cNvPr id="21" name="num_271"/>
          <p:cNvSpPr txBox="1"/>
          <p:nvPr/>
        </p:nvSpPr>
        <p:spPr>
          <a:xfrm>
            <a:off x="2788920" y="3574161"/>
            <a:ext cx="384048" cy="384048"/>
          </a:xfrm>
          <a:prstGeom prst="ellipse">
            <a:avLst/>
          </a:prstGeom>
          <a:solidFill>
            <a:srgbClr val="F59E0B"/>
          </a:solidFill>
          <a:ln w="19050">
            <a:solidFill>
              <a:srgbClr val="111111"/>
            </a:solidFill>
          </a:ln>
        </p:spPr>
        <p:txBody>
          <a:bodyPr wrap="square" lIns="0" tIns="0" rIns="0" bIns="0" rtlCol="0" anchor="ctr"/>
          <a:lstStyle/>
          <a:p>
            <a:pPr algn="ctr" indent="0" marL="0">
              <a:buNone/>
            </a:pPr>
            <a:r>
              <a:rPr lang="en-US" sz="1300" dirty="0">
                <a:solidFill>
                  <a:srgbClr val="FFFFFF"/>
                </a:solidFill>
                <a:latin typeface="Arial Black" pitchFamily="34" charset="0"/>
                <a:ea typeface="Arial Black" pitchFamily="34" charset="-122"/>
                <a:cs typeface="Arial Black" pitchFamily="34" charset="-120"/>
              </a:rPr>
              <a:t>4</a:t>
            </a:r>
            <a:endParaRPr lang="en-US" sz="1300" dirty="0"/>
          </a:p>
        </p:txBody>
      </p:sp>
      <p:sp>
        <p:nvSpPr>
          <p:cNvPr id="22" name="box_272"/>
          <p:cNvSpPr txBox="1"/>
          <p:nvPr/>
        </p:nvSpPr>
        <p:spPr>
          <a:xfrm>
            <a:off x="3264408" y="3463290"/>
            <a:ext cx="5559552" cy="605790"/>
          </a:xfrm>
          <a:prstGeom prst="rect">
            <a:avLst/>
          </a:prstGeom>
          <a:solidFill>
            <a:srgbClr val="FFFFFF"/>
          </a:solidFill>
          <a:ln w="15875">
            <a:solidFill>
              <a:srgbClr val="111111"/>
            </a:solidFill>
          </a:ln>
        </p:spPr>
        <p:txBody>
          <a:bodyPr wrap="square" lIns="76200" tIns="76200" rIns="76200" bIns="76200" rtlCol="0" anchor="ctr"/>
          <a:lstStyle/>
          <a:p>
            <a:pPr algn="l" indent="0" marL="0">
              <a:buNone/>
            </a:pPr>
            <a:r>
              <a:rPr lang="en-US" sz="1300" dirty="0">
                <a:solidFill>
                  <a:srgbClr val="111111"/>
                </a:solidFill>
                <a:latin typeface="Calibri" pitchFamily="34" charset="0"/>
                <a:ea typeface="Calibri" pitchFamily="34" charset="-122"/>
                <a:cs typeface="Calibri" pitchFamily="34" charset="-120"/>
              </a:rPr>
              <a:t>Act it out for the class (1 minute). The best scene wins!</a:t>
            </a:r>
            <a:endParaRPr lang="en-US" sz="1300" dirty="0"/>
          </a:p>
        </p:txBody>
      </p:sp>
      <p:sp>
        <p:nvSpPr>
          <p:cNvPr id="23" name="bubble_273"/>
          <p:cNvSpPr txBox="1"/>
          <p:nvPr/>
        </p:nvSpPr>
        <p:spPr>
          <a:xfrm>
            <a:off x="3246120" y="4160520"/>
            <a:ext cx="5577840" cy="502920"/>
          </a:xfrm>
          <a:prstGeom prst="roundRect">
            <a:avLst/>
          </a:prstGeom>
          <a:solidFill>
            <a:srgbClr val="FFD84D"/>
          </a:solidFill>
          <a:ln w="31750">
            <a:solidFill>
              <a:srgbClr val="111111"/>
            </a:solidFill>
          </a:ln>
          <a:effectLst>
            <a:outerShdw sx="100000" sy="100000" kx="0" ky="0" algn="bl" rotWithShape="0" blurRad="101600" dist="38100" dir="2700000">
              <a:srgbClr val="000000">
                <a:alpha val="35000"/>
              </a:srgbClr>
            </a:outerShdw>
          </a:effectLst>
        </p:spPr>
        <p:txBody>
          <a:bodyPr wrap="square" lIns="76200" tIns="76200" rIns="76200" bIns="76200" rtlCol="0" anchor="ctr"/>
          <a:lstStyle/>
          <a:p>
            <a:pPr algn="ctr" indent="0" marL="0">
              <a:buNone/>
            </a:pPr>
            <a:r>
              <a:rPr lang="en-US" sz="1100" b="1" i="1" dirty="0">
                <a:solidFill>
                  <a:srgbClr val="111111"/>
                </a:solidFill>
                <a:latin typeface="Calibri" pitchFamily="34" charset="0"/>
                <a:ea typeface="Calibri" pitchFamily="34" charset="-122"/>
                <a:cs typeface="Calibri" pitchFamily="34" charset="-120"/>
              </a:rPr>
              <a:t>Jenny: Rob, could you call me back? / Paul: No way, man! It's only 10 o'clock!</a:t>
            </a:r>
            <a:endParaRPr lang="en-US" sz="1100" dirty="0"/>
          </a:p>
        </p:txBody>
      </p:sp>
    </p:spTree>
  </p:cSld>
  <p:clrMapOvr>
    <a:masterClrMapping/>
  </p:clrMapOvr>
  <p:transition spd="med">
    <p:push dir="l"/>
  </p:transition>
</p:sld>
</file>

<file path=ppt/slides/slide16.xml><?xml version="1.0" encoding="utf-8"?>
<p:sld xmlns:a="http://schemas.openxmlformats.org/drawingml/2006/main" xmlns:r="http://schemas.openxmlformats.org/officeDocument/2006/relationships" xmlns:p="http://schemas.openxmlformats.org/presentationml/2006/main">
  <p:cSld name="Slide 16">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levelFrame_274"/>
          <p:cNvSpPr/>
          <p:nvPr/>
        </p:nvSpPr>
        <p:spPr>
          <a:xfrm>
            <a:off x="54864" y="54864"/>
            <a:ext cx="9034272" cy="5033772"/>
          </a:xfrm>
          <a:prstGeom prst="rect">
            <a:avLst/>
          </a:prstGeom>
          <a:ln w="114300">
            <a:solidFill>
              <a:srgbClr val="A8E6B4"/>
            </a:solidFill>
            <a:prstDash val="solid"/>
          </a:ln>
        </p:spPr>
      </p:sp>
      <p:pic>
        <p:nvPicPr>
          <p:cNvPr id="4" name="logo_275" descr="London Language School logo">    </p:cNvPr>
          <p:cNvPicPr>
            <a:picLocks noChangeAspect="1"/>
          </p:cNvPicPr>
          <p:nvPr/>
        </p:nvPicPr>
        <p:blipFill>
          <a:blip r:embed="rId2"/>
          <a:stretch>
            <a:fillRect/>
          </a:stretch>
        </p:blipFill>
        <p:spPr>
          <a:xfrm>
            <a:off x="8275320" y="182880"/>
            <a:ext cx="585216" cy="585216"/>
          </a:xfrm>
          <a:prstGeom prst="rect">
            <a:avLst/>
          </a:prstGeom>
        </p:spPr>
      </p:pic>
      <p:sp>
        <p:nvSpPr>
          <p:cNvPr id="5" name="objective_276"/>
          <p:cNvSpPr txBox="1"/>
          <p:nvPr/>
        </p:nvSpPr>
        <p:spPr>
          <a:xfrm>
            <a:off x="320040" y="182880"/>
            <a:ext cx="4754880" cy="365760"/>
          </a:xfrm>
          <a:prstGeom prst="roundRect">
            <a:avLst>
              <a:gd name="adj" fmla="val 20000"/>
            </a:avLst>
          </a:prstGeom>
          <a:solidFill>
            <a:srgbClr val="062F67"/>
          </a:solidFill>
          <a:ln w="31750">
            <a:solidFill>
              <a:srgbClr val="111111"/>
            </a:solidFill>
          </a:ln>
        </p:spPr>
        <p:txBody>
          <a:bodyPr wrap="square" lIns="101600" tIns="101600" rIns="101600" bIns="101600" rtlCol="0" anchor="ctr"/>
          <a:lstStyle/>
          <a:p>
            <a:pPr indent="0" marL="0">
              <a:buNone/>
            </a:pPr>
            <a:r>
              <a:rPr lang="en-US" sz="900" dirty="0">
                <a:solidFill>
                  <a:srgbClr val="FFFFFF"/>
                </a:solidFill>
                <a:latin typeface="Arial Black" pitchFamily="34" charset="0"/>
                <a:ea typeface="Arial Black" pitchFamily="34" charset="-122"/>
                <a:cs typeface="Arial Black" pitchFamily="34" charset="-120"/>
              </a:rPr>
              <a:t>EXTRA · Speaking · Favour chain</a:t>
            </a:r>
            <a:endParaRPr lang="en-US" sz="900" dirty="0"/>
          </a:p>
        </p:txBody>
      </p:sp>
      <p:sp>
        <p:nvSpPr>
          <p:cNvPr id="6" name="timer_277"/>
          <p:cNvSpPr txBox="1"/>
          <p:nvPr/>
        </p:nvSpPr>
        <p:spPr>
          <a:xfrm>
            <a:off x="7086600" y="219456"/>
            <a:ext cx="1005840" cy="310896"/>
          </a:xfrm>
          <a:prstGeom prst="roundRect">
            <a:avLst>
              <a:gd name="adj" fmla="val 23529"/>
            </a:avLst>
          </a:prstGeom>
          <a:solidFill>
            <a:srgbClr val="FFFFFF"/>
          </a:solidFill>
          <a:ln w="25400">
            <a:solidFill>
              <a:srgbClr val="6D3FC0"/>
            </a:solidFill>
          </a:ln>
        </p:spPr>
        <p:txBody>
          <a:bodyPr wrap="square" lIns="0" tIns="0" rIns="0" bIns="0" rtlCol="0" anchor="ctr"/>
          <a:lstStyle/>
          <a:p>
            <a:pPr algn="ctr" indent="0" marL="0">
              <a:buNone/>
            </a:pPr>
            <a:r>
              <a:rPr lang="en-US" sz="1200" b="1" dirty="0">
                <a:solidFill>
                  <a:srgbClr val="6D3FC0"/>
                </a:solidFill>
                <a:latin typeface="Calibri" pitchFamily="34" charset="0"/>
                <a:ea typeface="Calibri" pitchFamily="34" charset="-122"/>
                <a:cs typeface="Calibri" pitchFamily="34" charset="-120"/>
              </a:rPr>
              <a:t>⏱ 6 min</a:t>
            </a:r>
            <a:endParaRPr lang="en-US" sz="1200" dirty="0"/>
          </a:p>
        </p:txBody>
      </p:sp>
      <p:sp>
        <p:nvSpPr>
          <p:cNvPr id="7" name="extra_278"/>
          <p:cNvSpPr txBox="1"/>
          <p:nvPr/>
        </p:nvSpPr>
        <p:spPr>
          <a:xfrm rot="360000">
            <a:off x="5943600" y="201168"/>
            <a:ext cx="1005840" cy="347472"/>
          </a:xfrm>
          <a:prstGeom prst="roundRect">
            <a:avLst>
              <a:gd name="adj" fmla="val 21053"/>
            </a:avLst>
          </a:prstGeom>
          <a:solidFill>
            <a:srgbClr val="1FA463"/>
          </a:solidFill>
          <a:ln w="31750">
            <a:solidFill>
              <a:srgbClr val="111111"/>
            </a:solidFill>
          </a:ln>
        </p:spPr>
        <p:txBody>
          <a:bodyPr wrap="square" rtlCol="0" anchor="ctr"/>
          <a:lstStyle/>
          <a:p>
            <a:pPr algn="ctr" indent="0" marL="0">
              <a:buNone/>
            </a:pPr>
            <a:r>
              <a:rPr lang="en-US" sz="1300" dirty="0">
                <a:solidFill>
                  <a:srgbClr val="FFFFFF"/>
                </a:solidFill>
                <a:latin typeface="Arial Black" pitchFamily="34" charset="0"/>
                <a:ea typeface="Arial Black" pitchFamily="34" charset="-122"/>
                <a:cs typeface="Arial Black" pitchFamily="34" charset="-120"/>
              </a:rPr>
              <a:t>EXTRA</a:t>
            </a:r>
            <a:endParaRPr lang="en-US" sz="1300" dirty="0"/>
          </a:p>
        </p:txBody>
      </p:sp>
      <p:sp>
        <p:nvSpPr>
          <p:cNvPr id="8" name="footer_279"/>
          <p:cNvSpPr txBox="1"/>
          <p:nvPr/>
        </p:nvSpPr>
        <p:spPr>
          <a:xfrm>
            <a:off x="7132320" y="4818888"/>
            <a:ext cx="1737360" cy="219456"/>
          </a:xfrm>
          <a:prstGeom prst="rect">
            <a:avLst/>
          </a:prstGeom>
          <a:solidFill>
            <a:srgbClr val="FFFFFF"/>
          </a:solidFill>
          <a:ln/>
        </p:spPr>
        <p:txBody>
          <a:bodyPr wrap="square" lIns="0" tIns="0" rIns="0" bIns="0" rtlCol="0" anchor="ctr"/>
          <a:lstStyle/>
          <a:p>
            <a:pPr algn="ctr" indent="0" marL="0">
              <a:buNone/>
            </a:pPr>
            <a:r>
              <a:rPr lang="en-US" sz="1000" dirty="0">
                <a:solidFill>
                  <a:srgbClr val="334155"/>
                </a:solidFill>
                <a:latin typeface="Calibri" pitchFamily="34" charset="0"/>
                <a:ea typeface="Calibri" pitchFamily="34" charset="-122"/>
                <a:cs typeface="Calibri" pitchFamily="34" charset="-120"/>
              </a:rPr>
              <a:t>PE3 · Part 1</a:t>
            </a:r>
            <a:endParaRPr lang="en-US" sz="1000" dirty="0"/>
          </a:p>
        </p:txBody>
      </p:sp>
      <p:sp>
        <p:nvSpPr>
          <p:cNvPr id="9" name="title_280"/>
          <p:cNvSpPr txBox="1"/>
          <p:nvPr/>
        </p:nvSpPr>
        <p:spPr>
          <a:xfrm rot="-120000">
            <a:off x="320040" y="676656"/>
            <a:ext cx="2066544" cy="530352"/>
          </a:xfrm>
          <a:prstGeom prst="rect">
            <a:avLst/>
          </a:prstGeom>
          <a:solidFill>
            <a:srgbClr val="FFD84D"/>
          </a:solidFill>
          <a:ln w="31750">
            <a:solidFill>
              <a:srgbClr val="111111"/>
            </a:solidFill>
          </a:ln>
          <a:effectLst>
            <a:outerShdw sx="100000" sy="100000" kx="0" ky="0" algn="bl" rotWithShape="0" blurRad="101600" dist="38100" dir="2700000">
              <a:srgbClr val="000000">
                <a:alpha val="35000"/>
              </a:srgbClr>
            </a:outerShdw>
          </a:effectLst>
        </p:spPr>
        <p:txBody>
          <a:bodyPr wrap="square" lIns="127000" tIns="127000" rIns="127000" bIns="127000" rtlCol="0" anchor="ctr"/>
          <a:lstStyle/>
          <a:p>
            <a:pPr indent="0" marL="0">
              <a:buNone/>
            </a:pPr>
            <a:r>
              <a:rPr lang="en-US" sz="1500" dirty="0">
                <a:solidFill>
                  <a:srgbClr val="111111"/>
                </a:solidFill>
                <a:latin typeface="Arial Black" pitchFamily="34" charset="0"/>
                <a:ea typeface="Arial Black" pitchFamily="34" charset="-122"/>
                <a:cs typeface="Arial Black" pitchFamily="34" charset="-120"/>
              </a:rPr>
              <a:t>Yes, but…</a:t>
            </a:r>
            <a:endParaRPr lang="en-US" sz="1500" dirty="0"/>
          </a:p>
        </p:txBody>
      </p:sp>
      <p:sp>
        <p:nvSpPr>
          <p:cNvPr id="10" name="post_281"/>
          <p:cNvSpPr/>
          <p:nvPr/>
        </p:nvSpPr>
        <p:spPr>
          <a:xfrm>
            <a:off x="429768" y="1554480"/>
            <a:ext cx="128016" cy="2194560"/>
          </a:xfrm>
          <a:prstGeom prst="rect">
            <a:avLst/>
          </a:prstGeom>
          <a:solidFill>
            <a:srgbClr val="8B5A2B"/>
          </a:solidFill>
          <a:ln w="31750">
            <a:solidFill>
              <a:srgbClr val="111111"/>
            </a:solidFill>
            <a:prstDash val="solid"/>
          </a:ln>
        </p:spPr>
      </p:sp>
      <p:sp>
        <p:nvSpPr>
          <p:cNvPr id="11" name="signA_282"/>
          <p:cNvSpPr txBox="1"/>
          <p:nvPr/>
        </p:nvSpPr>
        <p:spPr>
          <a:xfrm rot="-180000">
            <a:off x="320040" y="1371600"/>
            <a:ext cx="2240280" cy="457200"/>
          </a:xfrm>
          <a:prstGeom prst="homePlate">
            <a:avLst/>
          </a:prstGeom>
          <a:solidFill>
            <a:srgbClr val="EF2F2F"/>
          </a:solidFill>
          <a:ln w="31750">
            <a:solidFill>
              <a:srgbClr val="111111"/>
            </a:solidFill>
          </a:ln>
          <a:effectLst>
            <a:outerShdw sx="100000" sy="100000" kx="0" ky="0" algn="bl" rotWithShape="0" blurRad="101600" dist="38100" dir="2700000">
              <a:srgbClr val="000000">
                <a:alpha val="35000"/>
              </a:srgbClr>
            </a:outerShdw>
          </a:effectLst>
        </p:spPr>
        <p:txBody>
          <a:bodyPr wrap="square" lIns="76200" tIns="76200" rIns="76200" bIns="76200" rtlCol="0" anchor="ctr"/>
          <a:lstStyle/>
          <a:p>
            <a:pPr indent="0" marL="0">
              <a:buNone/>
            </a:pPr>
            <a:r>
              <a:rPr lang="en-US" sz="1500" b="1" dirty="0">
                <a:solidFill>
                  <a:srgbClr val="FFFFFF"/>
                </a:solidFill>
                <a:latin typeface="Arial Black" pitchFamily="34" charset="0"/>
                <a:ea typeface="Arial Black" pitchFamily="34" charset="-122"/>
                <a:cs typeface="Arial Black" pitchFamily="34" charset="-120"/>
              </a:rPr>
              <a:t>SPEAK!</a:t>
            </a:r>
            <a:pPr indent="0" marL="0">
              <a:buNone/>
            </a:pPr>
            <a:r>
              <a:rPr lang="en-US" sz="1000" dirty="0">
                <a:solidFill>
                  <a:srgbClr val="FFF3B0"/>
                </a:solidFill>
                <a:latin typeface="Arial Black" pitchFamily="34" charset="0"/>
                <a:ea typeface="Arial Black" pitchFamily="34" charset="-122"/>
                <a:cs typeface="Arial Black" pitchFamily="34" charset="-120"/>
              </a:rPr>
              <a:t>  PARLA!</a:t>
            </a:r>
            <a:endParaRPr lang="en-US" sz="1500" dirty="0"/>
          </a:p>
        </p:txBody>
      </p:sp>
      <p:sp>
        <p:nvSpPr>
          <p:cNvPr id="12" name="signB_283"/>
          <p:cNvSpPr txBox="1"/>
          <p:nvPr/>
        </p:nvSpPr>
        <p:spPr>
          <a:xfrm rot="120000">
            <a:off x="365760" y="1938528"/>
            <a:ext cx="2240280" cy="1051560"/>
          </a:xfrm>
          <a:prstGeom prst="rect">
            <a:avLst/>
          </a:prstGeom>
          <a:solidFill>
            <a:srgbClr val="FFFFFF"/>
          </a:solidFill>
          <a:ln w="31750">
            <a:solidFill>
              <a:srgbClr val="111111"/>
            </a:solidFill>
          </a:ln>
        </p:spPr>
        <p:txBody>
          <a:bodyPr wrap="square" lIns="76200" tIns="76200" rIns="76200" bIns="76200" rtlCol="0" anchor="ctr"/>
          <a:lstStyle/>
          <a:p>
            <a:pPr indent="0" marL="0">
              <a:buNone/>
            </a:pPr>
            <a:r>
              <a:rPr lang="en-US" sz="1200" dirty="0">
                <a:solidFill>
                  <a:srgbClr val="111111"/>
                </a:solidFill>
                <a:latin typeface="Calibri" pitchFamily="34" charset="0"/>
                <a:ea typeface="Calibri" pitchFamily="34" charset="-122"/>
                <a:cs typeface="Calibri" pitchFamily="34" charset="-120"/>
              </a:rPr>
              <a:t>Ask a favour. Your partner says yes – but asks one back!</a:t>
            </a:r>
            <a:endParaRPr lang="en-US" sz="1200" dirty="0"/>
          </a:p>
          <a:p>
            <a:pPr indent="0" marL="0">
              <a:buNone/>
            </a:pPr>
            <a:r>
              <a:rPr lang="en-US" sz="1050" i="1" dirty="0">
                <a:solidFill>
                  <a:srgbClr val="334155"/>
                </a:solidFill>
                <a:latin typeface="Calibri" pitchFamily="34" charset="0"/>
                <a:ea typeface="Calibri" pitchFamily="34" charset="-122"/>
                <a:cs typeface="Calibri" pitchFamily="34" charset="-120"/>
              </a:rPr>
              <a:t>Chiedi un favore. Il compagno dice sì – ma ne chiede uno!</a:t>
            </a:r>
            <a:endParaRPr lang="en-US" sz="1200" dirty="0"/>
          </a:p>
        </p:txBody>
      </p:sp>
      <p:sp>
        <p:nvSpPr>
          <p:cNvPr id="13" name="box_284"/>
          <p:cNvSpPr txBox="1"/>
          <p:nvPr/>
        </p:nvSpPr>
        <p:spPr>
          <a:xfrm>
            <a:off x="2788920" y="1371600"/>
            <a:ext cx="2953512" cy="868680"/>
          </a:xfrm>
          <a:prstGeom prst="rect">
            <a:avLst/>
          </a:prstGeom>
          <a:solidFill>
            <a:srgbClr val="E0F2FE"/>
          </a:solidFill>
          <a:ln w="15875">
            <a:solidFill>
              <a:srgbClr val="111111"/>
            </a:solidFill>
          </a:ln>
        </p:spPr>
        <p:txBody>
          <a:bodyPr wrap="square" lIns="76200" tIns="76200" rIns="76200" bIns="76200" rtlCol="0" anchor="ctr"/>
          <a:lstStyle/>
          <a:p>
            <a:pPr algn="l" indent="0" marL="0">
              <a:buNone/>
            </a:pPr>
            <a:r>
              <a:rPr lang="en-US" sz="1300" dirty="0">
                <a:solidFill>
                  <a:srgbClr val="111111"/>
                </a:solidFill>
                <a:latin typeface="Calibri" pitchFamily="34" charset="0"/>
                <a:ea typeface="Calibri" pitchFamily="34" charset="-122"/>
                <a:cs typeface="Calibri" pitchFamily="34" charset="-120"/>
              </a:rPr>
              <a:t>1  water my plants</a:t>
            </a:r>
            <a:endParaRPr lang="en-US" sz="1300" dirty="0"/>
          </a:p>
        </p:txBody>
      </p:sp>
      <p:sp>
        <p:nvSpPr>
          <p:cNvPr id="14" name="box_285"/>
          <p:cNvSpPr txBox="1"/>
          <p:nvPr/>
        </p:nvSpPr>
        <p:spPr>
          <a:xfrm>
            <a:off x="5870448" y="1371600"/>
            <a:ext cx="2953512" cy="868680"/>
          </a:xfrm>
          <a:prstGeom prst="rect">
            <a:avLst/>
          </a:prstGeom>
          <a:solidFill>
            <a:srgbClr val="FCE7F3"/>
          </a:solidFill>
          <a:ln w="15875">
            <a:solidFill>
              <a:srgbClr val="111111"/>
            </a:solidFill>
          </a:ln>
        </p:spPr>
        <p:txBody>
          <a:bodyPr wrap="square" lIns="76200" tIns="76200" rIns="76200" bIns="76200" rtlCol="0" anchor="ctr"/>
          <a:lstStyle/>
          <a:p>
            <a:pPr algn="l" indent="0" marL="0">
              <a:buNone/>
            </a:pPr>
            <a:r>
              <a:rPr lang="en-US" sz="1300" dirty="0">
                <a:solidFill>
                  <a:srgbClr val="111111"/>
                </a:solidFill>
                <a:latin typeface="Calibri" pitchFamily="34" charset="0"/>
                <a:ea typeface="Calibri" pitchFamily="34" charset="-122"/>
                <a:cs typeface="Calibri" pitchFamily="34" charset="-120"/>
              </a:rPr>
              <a:t>2  feed my cat</a:t>
            </a:r>
            <a:endParaRPr lang="en-US" sz="1300" dirty="0"/>
          </a:p>
        </p:txBody>
      </p:sp>
      <p:sp>
        <p:nvSpPr>
          <p:cNvPr id="15" name="box_286"/>
          <p:cNvSpPr txBox="1"/>
          <p:nvPr/>
        </p:nvSpPr>
        <p:spPr>
          <a:xfrm>
            <a:off x="2788920" y="2368296"/>
            <a:ext cx="2953512" cy="868680"/>
          </a:xfrm>
          <a:prstGeom prst="rect">
            <a:avLst/>
          </a:prstGeom>
          <a:solidFill>
            <a:srgbClr val="FEF9C3"/>
          </a:solidFill>
          <a:ln w="15875">
            <a:solidFill>
              <a:srgbClr val="111111"/>
            </a:solidFill>
          </a:ln>
        </p:spPr>
        <p:txBody>
          <a:bodyPr wrap="square" lIns="76200" tIns="76200" rIns="76200" bIns="76200" rtlCol="0" anchor="ctr"/>
          <a:lstStyle/>
          <a:p>
            <a:pPr algn="l" indent="0" marL="0">
              <a:buNone/>
            </a:pPr>
            <a:r>
              <a:rPr lang="en-US" sz="1300" dirty="0">
                <a:solidFill>
                  <a:srgbClr val="111111"/>
                </a:solidFill>
                <a:latin typeface="Calibri" pitchFamily="34" charset="0"/>
                <a:ea typeface="Calibri" pitchFamily="34" charset="-122"/>
                <a:cs typeface="Calibri" pitchFamily="34" charset="-120"/>
              </a:rPr>
              <a:t>3  help me move flat</a:t>
            </a:r>
            <a:endParaRPr lang="en-US" sz="1300" dirty="0"/>
          </a:p>
        </p:txBody>
      </p:sp>
      <p:sp>
        <p:nvSpPr>
          <p:cNvPr id="16" name="box_287"/>
          <p:cNvSpPr txBox="1"/>
          <p:nvPr/>
        </p:nvSpPr>
        <p:spPr>
          <a:xfrm>
            <a:off x="5870448" y="2368296"/>
            <a:ext cx="2953512" cy="868680"/>
          </a:xfrm>
          <a:prstGeom prst="rect">
            <a:avLst/>
          </a:prstGeom>
          <a:solidFill>
            <a:srgbClr val="DCFCE7"/>
          </a:solidFill>
          <a:ln w="15875">
            <a:solidFill>
              <a:srgbClr val="111111"/>
            </a:solidFill>
          </a:ln>
        </p:spPr>
        <p:txBody>
          <a:bodyPr wrap="square" lIns="76200" tIns="76200" rIns="76200" bIns="76200" rtlCol="0" anchor="ctr"/>
          <a:lstStyle/>
          <a:p>
            <a:pPr algn="l" indent="0" marL="0">
              <a:buNone/>
            </a:pPr>
            <a:r>
              <a:rPr lang="en-US" sz="1300" dirty="0">
                <a:solidFill>
                  <a:srgbClr val="111111"/>
                </a:solidFill>
                <a:latin typeface="Calibri" pitchFamily="34" charset="0"/>
                <a:ea typeface="Calibri" pitchFamily="34" charset="-122"/>
                <a:cs typeface="Calibri" pitchFamily="34" charset="-120"/>
              </a:rPr>
              <a:t>4  lend me 20 euros</a:t>
            </a:r>
            <a:endParaRPr lang="en-US" sz="1300" dirty="0"/>
          </a:p>
        </p:txBody>
      </p:sp>
      <p:sp>
        <p:nvSpPr>
          <p:cNvPr id="17" name="box_288"/>
          <p:cNvSpPr txBox="1"/>
          <p:nvPr/>
        </p:nvSpPr>
        <p:spPr>
          <a:xfrm>
            <a:off x="2788920" y="3364992"/>
            <a:ext cx="2953512" cy="868680"/>
          </a:xfrm>
          <a:prstGeom prst="rect">
            <a:avLst/>
          </a:prstGeom>
          <a:solidFill>
            <a:srgbClr val="EDE9FE"/>
          </a:solidFill>
          <a:ln w="15875">
            <a:solidFill>
              <a:srgbClr val="111111"/>
            </a:solidFill>
          </a:ln>
        </p:spPr>
        <p:txBody>
          <a:bodyPr wrap="square" lIns="76200" tIns="76200" rIns="76200" bIns="76200" rtlCol="0" anchor="ctr"/>
          <a:lstStyle/>
          <a:p>
            <a:pPr algn="l" indent="0" marL="0">
              <a:buNone/>
            </a:pPr>
            <a:r>
              <a:rPr lang="en-US" sz="1300" dirty="0">
                <a:solidFill>
                  <a:srgbClr val="111111"/>
                </a:solidFill>
                <a:latin typeface="Calibri" pitchFamily="34" charset="0"/>
                <a:ea typeface="Calibri" pitchFamily="34" charset="-122"/>
                <a:cs typeface="Calibri" pitchFamily="34" charset="-120"/>
              </a:rPr>
              <a:t>5  pick me up at the airport</a:t>
            </a:r>
            <a:endParaRPr lang="en-US" sz="1300" dirty="0"/>
          </a:p>
        </p:txBody>
      </p:sp>
      <p:sp>
        <p:nvSpPr>
          <p:cNvPr id="18" name="box_289"/>
          <p:cNvSpPr txBox="1"/>
          <p:nvPr/>
        </p:nvSpPr>
        <p:spPr>
          <a:xfrm>
            <a:off x="5870448" y="3364992"/>
            <a:ext cx="2953512" cy="868680"/>
          </a:xfrm>
          <a:prstGeom prst="rect">
            <a:avLst/>
          </a:prstGeom>
          <a:solidFill>
            <a:srgbClr val="FFEDD5"/>
          </a:solidFill>
          <a:ln w="15875">
            <a:solidFill>
              <a:srgbClr val="111111"/>
            </a:solidFill>
          </a:ln>
        </p:spPr>
        <p:txBody>
          <a:bodyPr wrap="square" lIns="76200" tIns="76200" rIns="76200" bIns="76200" rtlCol="0" anchor="ctr"/>
          <a:lstStyle/>
          <a:p>
            <a:pPr algn="l" indent="0" marL="0">
              <a:buNone/>
            </a:pPr>
            <a:r>
              <a:rPr lang="en-US" sz="1300" dirty="0">
                <a:solidFill>
                  <a:srgbClr val="111111"/>
                </a:solidFill>
                <a:latin typeface="Calibri" pitchFamily="34" charset="0"/>
                <a:ea typeface="Calibri" pitchFamily="34" charset="-122"/>
                <a:cs typeface="Calibri" pitchFamily="34" charset="-120"/>
              </a:rPr>
              <a:t>6  check my English homework</a:t>
            </a:r>
            <a:endParaRPr lang="en-US" sz="1300" dirty="0"/>
          </a:p>
        </p:txBody>
      </p:sp>
      <p:sp>
        <p:nvSpPr>
          <p:cNvPr id="19" name="sticky_290"/>
          <p:cNvSpPr txBox="1"/>
          <p:nvPr/>
        </p:nvSpPr>
        <p:spPr>
          <a:xfrm rot="-120000">
            <a:off x="411480" y="4023360"/>
            <a:ext cx="2194560" cy="640080"/>
          </a:xfrm>
          <a:prstGeom prst="rect">
            <a:avLst/>
          </a:prstGeom>
          <a:solidFill>
            <a:srgbClr val="FFD84D"/>
          </a:solidFill>
          <a:ln w="12700">
            <a:solidFill>
              <a:srgbClr val="B7950B"/>
            </a:solidFill>
          </a:ln>
          <a:effectLst>
            <a:outerShdw sx="100000" sy="100000" kx="0" ky="0" algn="bl" rotWithShape="0" blurRad="101600" dist="38100" dir="2700000">
              <a:srgbClr val="000000">
                <a:alpha val="35000"/>
              </a:srgbClr>
            </a:outerShdw>
          </a:effectLst>
        </p:spPr>
        <p:txBody>
          <a:bodyPr wrap="square" lIns="76200" tIns="76200" rIns="76200" bIns="76200" rtlCol="0" anchor="ctr"/>
          <a:lstStyle/>
          <a:p>
            <a:pPr algn="ctr" indent="0" marL="0">
              <a:buNone/>
            </a:pPr>
            <a:r>
              <a:rPr lang="en-US" sz="1150" b="1" dirty="0">
                <a:solidFill>
                  <a:srgbClr val="111111"/>
                </a:solidFill>
                <a:latin typeface="Calibri" pitchFamily="34" charset="0"/>
                <a:ea typeface="Calibri" pitchFamily="34" charset="-122"/>
                <a:cs typeface="Calibri" pitchFamily="34" charset="-120"/>
              </a:rPr>
              <a:t>Sure – but could you…? / Not at all – if you…</a:t>
            </a:r>
            <a:endParaRPr lang="en-US" sz="1150" dirty="0"/>
          </a:p>
        </p:txBody>
      </p:sp>
    </p:spTree>
  </p:cSld>
  <p:clrMapOvr>
    <a:masterClrMapping/>
  </p:clrMapOvr>
  <p:transition spd="med">
    <p:push dir="l"/>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Black"/>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London Language School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B1 PE3 Old friends</dc:title>
  <dc:subject>PptxGenJS Presentation</dc:subject>
  <dc:creator>London Language School</dc:creator>
  <cp:lastModifiedBy>London Language School</cp:lastModifiedBy>
  <cp:revision>1</cp:revision>
  <dcterms:created xsi:type="dcterms:W3CDTF">2026-10-05T09:39:34Z</dcterms:created>
  <dcterms:modified xsi:type="dcterms:W3CDTF">2026-10-05T09:39:34Z</dcterms:modified>
</cp:coreProperties>
</file>