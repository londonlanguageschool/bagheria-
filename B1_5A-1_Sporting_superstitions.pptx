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5A PART 1 (60 min) · SB pp.46–47. Aims: sport vocabulary – people, places, verbs (Vocabulary Bank Sport p.157); the sounds /ɔː/ (horse) and /ɜː/ (bird); speaking about sport (for sporty and non-sporty students); read an article about sporting superstitions. Timing: cover 2 · revision 5 · sports quiz 5 · people &amp; places 6 · verbs 6 · pronunciation 6 · speaking 6 · reading 8 · debate 4 · Taboo 5 · exit 3 = 56 min. Click 1: the question – let 2–3 students answer before click 2. Teach 'lucky' and 'superstition' /suːpəˈstɪʃn/ only later, in the reading.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4B part 2 (5 min). VARIATION: reverse the obvious – answers first, students reconstruct the question. Pairs, 3 minutes: write the question for each answer. Click once per item to show a model question. Items 1–4 are questions from audio 4.19 (-ed / -ing adjectives: frightened, tiring, disappointed, frustrated); accept any correct question with the right adjective form (e.g. 'Are you scared of heights?' = OK, but push for frightened). Items 5–6 recall the Alex Rawlings video (he speaks 11 languages; Afrikaans was the easiest – very simple grammar, vocabulary similar to English). If your class didn't watch the video, skip 5–6 and ask instead: 'Complete: I taught ___ to play the guitar' (myself) / 'They introduced ___' (themselves) – reflexive pronouns from 4B. Quick follow-up: pairs ask each other question 1 or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(5 min). SB 1a: teams of 3–4 answer the quiz 'In which sport…?' in the book as fast as they can (the slide repeats the 10 questions from the book p.46). When the first team has finished, it shouts 'Finish line!' and everybody stops. 1b: play 5.1 to check; click 1 shows all answers: 1 swimming · 2 basketball · 3 baseball · 4 rugby · 5 table tennis / ping pong · 6 golf · 7 ice hockey · 8 tennis · 9 athletics · 10 football. Get students to SPELL the sports (athletics, rugby). The team with most correct answers wins (not necessarily the fastest!). VARIATION: change the energy (race). Optional lead-in from the TG (if time): the three most popular sports in Italy – who watches them, who plays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Vocabulary Bank Sport p.157, 1 People and places: students match a (pictures), play 5.2 to check (3 captain · 7 coach · 1 fans · 5 players · 2 referee / umpire · 9 spectators / the crowd · 6 sports hall · 8 stadium · 4 team); then c/d places, play 5.3 (1 tennis / basketball court · 2 football / rugby / hockey pitch · 3 swimming / diving pool · 4 athletics track · 5 Formula 1 / motorcycling circuit · 6 golf course · 7 ski slope). Then this slide: drill and click for the Italian. TG notes: the coach is the non-playing person in charge of a team (in British football = the manager); places are usually compound nouns (tennis court, football pitch). Italian has one word 'campo' for court, pitch and course – that's the trap! Activation: A says a sport, B says the place and the people (e.g. 'tennis – court – umpire'). VARIATION: vocabulary branching.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Vocabulary Bank 2 Verbs: go through the win and beat box (yellow sticky). Students do a and b, then d (write the verbs in the Verb column, not in the gaps, so they can test themselves later); play 5.4 and 5.5 to check: a beat, beat, beaten · win, won, won · lose, lost, lost · draw, drew, drawn · b 1 drew · 2 beat · 3 won · 4 lost · e 1 train · 2 get injured · 3 kick · 4 get fit · 5 score · 6 go (swimming) · 7 do (yoga) · 8 throw. 3 Phrasal verbs (5.6): warm up = do light exercise to get ready · work out = do exercise, usually at a gym · was sent off = was told to leave the pitch · was knocked out = was eliminated. Then this slide as a quick check – click 1 for all answers (sentences 1–7 are from audio 5.4/5.5). Italian learners say ✗ 'Milan won Chelsea' (vincere = win AND beat) – drill 'beat' + team. Remind them: nil in football, love in tennis. VARIATION: forbidden easy answer – in 7 and 8 nobody may answer with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(6 min). 2a: elicit the sound pictures horse /ɔː/ and bird /ɜː/. Pairs put the 16 words (yellow sticky) in the right row, saying them aloud – careful with the -or words. 2b: play 5.7; click once per row (answers from the audio script): horse /ɔː/ ball, caught, course, court, draw, fought, score, sport, warm up · bird /ɜː/ circuit, hurt, serve, shirt, work out, world, worse. Clicks 3–4: TG pronunciation notes – -or is usually /ɔː/, but /ɜː/ after w; caught and court sound exactly the same; fought and caught have the same vowel. Italian speakers often say /ɜː/ like 'er' with a strong r – no r in British English! 2c dictation, play 5.8 twice, students write the six sentences: 1 I hurt myself when I caught the ball. 2 Her serve's worse than the other girl's. 3 It was a draw – the score was four all. 4 It's the worst sport in the world. 5 We warmed up on the court. 6 They wore red shirts and white shorts. Pairs practise saying them. VARIATION: phonological branching – each pair adds one more word to each row (e.g. /ɔː/ walk, /ɜː/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(6 min). SB 3: 'In pairs, interview your partner about sport using the questionnaire. Ask for more information.' The flow chart 'Do you like sport?' has a YES route (left column on the slide) and a NO route (right column), 8 questions each, then three questions for everybody (bottom row) – all questions on the slide are the book's wording. TG EXTRA SUPPORT: let students interview YOU first with a few questions from your route, and elicit follow-up questions (Why? Who with? How often?). Pairs interview each other; monitor and correct pronunciation of the new vocabulary (court, stadium, referee, circuit). Correction spot at the end with 2–3 common mistakes. The last three questions can be done as a whole class. VARIATION: negative experiences (age-appropriate) – non-sporty students get a real voice ('I hate sport!' is a good answer); personalisation with boundaries (nobody has to talk about fitness or their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(8 min). 4a (1 min, whole class): 'Do you do any of these things when you want to have good luck or avoid bad luck?' – cross your fingers · touch wood · wear lucky clothes · carry a lucky charm (TG: Italians say 'touch iron' – tocca ferro – not touch wood). Teach superstition /suːpəˈstɪʃn/ and 'work' in the title (= have the result you want). 4b (2 min): students read the article on p.47 quickly to answer the title question – ANSWER (TG): Yes, because they increase confidence and control. 4c (2 min): match paragraphs 1–4 to topics A–D: A the physical effects of superstitions · B examples of sporting superstitions · C the disadvantages of superstitions · D the psychological effects of superstitions – ANSWERS: 1 B · 2 D · 3 A · 4 C. 4d (3 min): 'With a partner, explain why the following examples are mentioned' (the slide shows the book's prompts per paragraph); click 1 for the answers (TG): 1 examples of famous sportspeople's superstitions · 2 the Cologne study showed people perform better when they have 'lucky' things · 3 adrenaline and other chemicals released by rituals help athletes focus · 4 an example of how superstitions can cause problems (both players wanted to be the last to leave the changing room). The text on the slide is our short summary of the article (facts kept). Also in the article: Kayla Harrison's lucky socks from her grandmother; people with a lucky charm did better in memory tests; 'what if you forget your lucky pen in an exam?' VARIATION: curiosity gap (the title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(4 min). SB 4e: 'Talk to a partner. Do you know of any other sports players who are superstitious? What do they do? Do you have any superstitions, e.g. when you are playing or watching sport, or when you do an exam, or when you travel?' – ask these first (1 min), then the statements as a mini debate. The picture shows the four things from 4a (cross your fingers, touch wood, wear lucky clothes, carry a lucky charm). VARIATION: mild controversy + forced choice – every pair must choose AGREE or NO WAY for each statement, no 'it depends'. Then feedback on statement 2 or 4 with a show of hands. TG: if you have a superstition yourself, tell the class. Keep it light – no religious discussion; local examples are fine (Friday 17th, black cats, tocca ferro).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(5 min). VARIATION: constraint challenge (the most obvious words are forbidden, so students must paraphrase: 'the person who…', 'the place where…'). Two teams; one describer at a time stands facing the screen, back to the class. Describer's team guesses; 1 minute per card. Red word = card goes to the other team. Stop after 5 minutes.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7.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8.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5A 1a–1d (sport vocabulary) and 2a (pronunciation; 2b is audio – optional at home) + Vocabulary Bank Sport p.157 (cover and test yourself) + the 5A-1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(6 min). VARIATION: vocabulary branching + competition. Insist on spelling (athletics, referee, circuit, spectators). For a printed version, use the next slide (Vocabulary photocopiable).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or HOMEWORK. Vocabulary photocopiable 5A 'Sport' – print B1_5A_Photocopiables.pdf, page 3 (one per pair). TG procedure: a pairwork vocabulary race – set a time limit; pairs write as many words as they can; check; the first pair to complete all the words correctly (or the pair with most correct answers at the end) wins. ACTIVATION: cover the column, read the sentences and say the words. OFFICIAL ANSWERS (TG): 1 captain (example) · 2 circuit · 3 court · 4 spectators · 5 hockey · 6 warm up · 7 get injured · 8 stadium · 9 draw · 10 referee · 11 diving · 12 golf · 13 work out · 14 train · 15 lose · 16 players · 17 kick · 18 coach · 19 fan · 20 sports hall. VARIATION: competition + memory (activation).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change the interaction (mingle). Students stand up and ask three different people; then report: 'Marco is the most superstitious – he always…'. Local touch: in Italy 17 and Friday 17th are unlucky, in the UK it's 13 and Friday 13th. Keep it light; nobody has to explain personal beliefs.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audio" Target="../media/media-3-4.mp3"/><Relationship Id="rId5" Type="http://schemas.microsoft.com/office/2007/relationships/media" Target="../media/media-3-4.mp3"/><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audio" Target="../media/media-4-19.mp3"/><Relationship Id="rId20" Type="http://schemas.microsoft.com/office/2007/relationships/media" Target="../media/media-4-19.mp3"/><Relationship Id="rId21" Type="http://schemas.openxmlformats.org/officeDocument/2006/relationships/image" Target="../media/image-4-21.png"/><Relationship Id="rId22" Type="http://schemas.openxmlformats.org/officeDocument/2006/relationships/audio" Target="../media/media-4-22.mp3"/><Relationship Id="rId23" Type="http://schemas.microsoft.com/office/2007/relationships/media" Target="../media/media-4-22.mp3"/><Relationship Id="rId24" Type="http://schemas.openxmlformats.org/officeDocument/2006/relationships/image" Target="../media/image-4-24.png"/><Relationship Id="rId25" Type="http://schemas.openxmlformats.org/officeDocument/2006/relationships/slideLayout" Target="../slideLayouts/slideLayout1.xml"/><Relationship Id="rId2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audio" Target="../media/media-5-3.mp3"/><Relationship Id="rId4" Type="http://schemas.microsoft.com/office/2007/relationships/media" Target="../media/media-5-3.mp3"/><Relationship Id="rId5" Type="http://schemas.openxmlformats.org/officeDocument/2006/relationships/image" Target="../media/image-5-5.png"/><Relationship Id="rId6" Type="http://schemas.openxmlformats.org/officeDocument/2006/relationships/audio" Target="../media/media-5-6.mp3"/><Relationship Id="rId7" Type="http://schemas.microsoft.com/office/2007/relationships/media" Target="../media/media-5-6.mp3"/><Relationship Id="rId8" Type="http://schemas.openxmlformats.org/officeDocument/2006/relationships/image" Target="../media/image-5-8.png"/><Relationship Id="rId9" Type="http://schemas.openxmlformats.org/officeDocument/2006/relationships/audio" Target="../media/media-5-9.mp3"/><Relationship Id="rId10" Type="http://schemas.microsoft.com/office/2007/relationships/media" Target="../media/media-5-9.mp3"/><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audio" Target="../media/media-6-6.mp3"/><Relationship Id="rId7" Type="http://schemas.microsoft.com/office/2007/relationships/media" Target="../media/media-6-6.mp3"/><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5A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5A</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5A · Part 1 · SB pp.46–47</a:t>
            </a:r>
            <a:endParaRPr lang="en-US" sz="1100" dirty="0"/>
          </a:p>
        </p:txBody>
      </p:sp>
      <p:sp>
        <p:nvSpPr>
          <p:cNvPr id="9"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SPORTING SUPERSTITIONS</a:t>
            </a:r>
            <a:endParaRPr lang="en-US" sz="2200" dirty="0"/>
          </a:p>
        </p:txBody>
      </p:sp>
      <p:sp>
        <p:nvSpPr>
          <p:cNvPr id="10" name="stamp_8"/>
          <p:cNvSpPr txBox="1"/>
          <p:nvPr/>
        </p:nvSpPr>
        <p:spPr>
          <a:xfrm>
            <a:off x="457200" y="2468880"/>
            <a:ext cx="2276856"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sport</a:t>
            </a:r>
            <a:endParaRPr lang="en-US" sz="1200" dirty="0"/>
          </a:p>
        </p:txBody>
      </p:sp>
      <p:sp>
        <p:nvSpPr>
          <p:cNvPr id="11" name="stamp_9"/>
          <p:cNvSpPr txBox="1"/>
          <p:nvPr/>
        </p:nvSpPr>
        <p:spPr>
          <a:xfrm>
            <a:off x="457200" y="2944368"/>
            <a:ext cx="3332988"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/ɔː/ and /ɜː/</a:t>
            </a:r>
            <a:endParaRPr lang="en-US" sz="1200" dirty="0"/>
          </a:p>
        </p:txBody>
      </p:sp>
      <p:sp>
        <p:nvSpPr>
          <p:cNvPr id="12" name="stamp_10"/>
          <p:cNvSpPr txBox="1"/>
          <p:nvPr/>
        </p:nvSpPr>
        <p:spPr>
          <a:xfrm>
            <a:off x="457200" y="3419856"/>
            <a:ext cx="4293108"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Do 'lucky socks' really work?</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gi:GiClover">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SoccerBall">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Trophy">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Do you have a lucky object?</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My lucky socks – of course!</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4B part 2 · feelings + languages</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23"/>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Answers first!</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Here are the ANSWERS. What were the questions?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Ecco le RISPOSTE. Quali erano le domande?</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ArrowCounterClockwise">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3379622"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"Yes – I never go near the edge of a balcony!"</a:t>
            </a:r>
            <a:endParaRPr lang="en-US" sz="1150" dirty="0"/>
          </a:p>
        </p:txBody>
      </p:sp>
      <p:sp>
        <p:nvSpPr>
          <p:cNvPr id="15" name="R1_a0"/>
          <p:cNvSpPr txBox="1"/>
          <p:nvPr/>
        </p:nvSpPr>
        <p:spPr>
          <a:xfrm>
            <a:off x="6223406" y="1408176"/>
            <a:ext cx="260055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Are you frightened of heights?</a:t>
            </a:r>
            <a:endParaRPr lang="en-US" sz="1100" dirty="0"/>
          </a:p>
        </p:txBody>
      </p:sp>
      <p:sp>
        <p:nvSpPr>
          <p:cNvPr id="16" name="box_30"/>
          <p:cNvSpPr txBox="1"/>
          <p:nvPr/>
        </p:nvSpPr>
        <p:spPr>
          <a:xfrm>
            <a:off x="2788920" y="1941576"/>
            <a:ext cx="3379622"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"Clothes shopping – definitely! My feet hurt."</a:t>
            </a:r>
            <a:endParaRPr lang="en-US" sz="1150" dirty="0"/>
          </a:p>
        </p:txBody>
      </p:sp>
      <p:sp>
        <p:nvSpPr>
          <p:cNvPr id="17" name="R2_a1"/>
          <p:cNvSpPr txBox="1"/>
          <p:nvPr/>
        </p:nvSpPr>
        <p:spPr>
          <a:xfrm>
            <a:off x="6223406" y="1978152"/>
            <a:ext cx="260055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Which do you find more tiring, clothes or food shopping?</a:t>
            </a:r>
            <a:endParaRPr lang="en-US" sz="1000" dirty="0"/>
          </a:p>
        </p:txBody>
      </p:sp>
      <p:sp>
        <p:nvSpPr>
          <p:cNvPr id="18" name="box_31"/>
          <p:cNvSpPr txBox="1"/>
          <p:nvPr/>
        </p:nvSpPr>
        <p:spPr>
          <a:xfrm>
            <a:off x="2788920" y="2511552"/>
            <a:ext cx="3379622"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"Yes – a sweater. It was the wrong size!"</a:t>
            </a:r>
            <a:endParaRPr lang="en-US" sz="1200" dirty="0"/>
          </a:p>
        </p:txBody>
      </p:sp>
      <p:sp>
        <p:nvSpPr>
          <p:cNvPr id="19" name="R3_a2"/>
          <p:cNvSpPr txBox="1"/>
          <p:nvPr/>
        </p:nvSpPr>
        <p:spPr>
          <a:xfrm>
            <a:off x="6223406" y="2548128"/>
            <a:ext cx="260055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Have you ever been disappointed by a birthday present?</a:t>
            </a:r>
            <a:endParaRPr lang="en-US" sz="1000" dirty="0"/>
          </a:p>
        </p:txBody>
      </p:sp>
      <p:sp>
        <p:nvSpPr>
          <p:cNvPr id="20" name="box_32"/>
          <p:cNvSpPr txBox="1"/>
          <p:nvPr/>
        </p:nvSpPr>
        <p:spPr>
          <a:xfrm>
            <a:off x="2788920" y="3081528"/>
            <a:ext cx="3379622"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"Yes, all the time – my laptop is so slow."</a:t>
            </a:r>
            <a:endParaRPr lang="en-US" sz="1200" dirty="0"/>
          </a:p>
        </p:txBody>
      </p:sp>
      <p:sp>
        <p:nvSpPr>
          <p:cNvPr id="21" name="R4_a3"/>
          <p:cNvSpPr txBox="1"/>
          <p:nvPr/>
        </p:nvSpPr>
        <p:spPr>
          <a:xfrm>
            <a:off x="6223406" y="3118104"/>
            <a:ext cx="260055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Do you ever get frustrated by technology?</a:t>
            </a:r>
            <a:endParaRPr lang="en-US" sz="1000" dirty="0"/>
          </a:p>
        </p:txBody>
      </p:sp>
      <p:sp>
        <p:nvSpPr>
          <p:cNvPr id="22" name="box_33"/>
          <p:cNvSpPr txBox="1"/>
          <p:nvPr/>
        </p:nvSpPr>
        <p:spPr>
          <a:xfrm>
            <a:off x="2788920" y="3651504"/>
            <a:ext cx="3379622"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"Eleven."  (Alex Rawlings)</a:t>
            </a:r>
            <a:endParaRPr lang="en-US" sz="1200" dirty="0"/>
          </a:p>
        </p:txBody>
      </p:sp>
      <p:sp>
        <p:nvSpPr>
          <p:cNvPr id="23" name="R5_a4"/>
          <p:cNvSpPr txBox="1"/>
          <p:nvPr/>
        </p:nvSpPr>
        <p:spPr>
          <a:xfrm>
            <a:off x="6223406" y="3688080"/>
            <a:ext cx="260055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How many languages does he speak?</a:t>
            </a:r>
            <a:endParaRPr lang="en-US" sz="1100" dirty="0"/>
          </a:p>
        </p:txBody>
      </p:sp>
      <p:sp>
        <p:nvSpPr>
          <p:cNvPr id="24" name="box_34"/>
          <p:cNvSpPr txBox="1"/>
          <p:nvPr/>
        </p:nvSpPr>
        <p:spPr>
          <a:xfrm>
            <a:off x="2788920" y="4221480"/>
            <a:ext cx="3379622"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"Afrikaans – the grammar's very simple."</a:t>
            </a:r>
            <a:endParaRPr lang="en-US" sz="1200" dirty="0"/>
          </a:p>
        </p:txBody>
      </p:sp>
      <p:sp>
        <p:nvSpPr>
          <p:cNvPr id="25" name="R6_a5"/>
          <p:cNvSpPr txBox="1"/>
          <p:nvPr/>
        </p:nvSpPr>
        <p:spPr>
          <a:xfrm>
            <a:off x="6223406" y="4258056"/>
            <a:ext cx="260055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What was the easiest language for him to learn?</a:t>
            </a:r>
            <a:endParaRPr lang="en-US" sz="100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4B pp.44–45 · audio 4.19 · Video Listening 4B (Alex Rawlings)</a:t>
            </a:r>
            <a:endParaRPr lang="en-US" sz="1050" dirty="0"/>
          </a:p>
        </p:txBody>
      </p:sp>
      <p:pic>
        <p:nvPicPr>
          <p:cNvPr id="27"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8" name="atr_3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4.19</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7"/>
                                        </p:tgtEl>
                                      </p:cBhvr>
                                    </p:cmd>
                                  </p:childTnLst>
                                </p:cTn>
                              </p:par>
                            </p:childTnLst>
                          </p:cTn>
                        </p:par>
                      </p:childTnLst>
                    </p:cTn>
                  </p:par>
                </p:childTnLst>
              </p:cTn>
              <p:nextCondLst>
                <p:cond evt="onClick" delay="0">
                  <p:tgtEl>
                    <p:spTgt spid="27"/>
                  </p:tgtEl>
                </p:cond>
              </p:nextCondLst>
            </p:seq>
            <p:audio>
              <p:cMediaNode vol="80000">
                <p:cTn id="38" fill="hold" display="0">
                  <p:stCondLst>
                    <p:cond delay="indefinite"/>
                  </p:stCondLst>
                  <p:endCondLst>
                    <p:cond evt="onStopAudio" delay="0">
                      <p:tgtEl>
                        <p:sldTgt/>
                      </p:tgtEl>
                    </p:cond>
                  </p:endCondLst>
                </p:cTn>
                <p:tgtEl>
                  <p:spTgt spid="2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7"/>
          <p:cNvSpPr/>
          <p:nvPr/>
        </p:nvSpPr>
        <p:spPr>
          <a:xfrm>
            <a:off x="54864" y="54864"/>
            <a:ext cx="9034272" cy="5033772"/>
          </a:xfrm>
          <a:prstGeom prst="rect">
            <a:avLst/>
          </a:prstGeom>
          <a:ln w="114300">
            <a:solidFill>
              <a:srgbClr val="A8E6B4"/>
            </a:solidFill>
            <a:prstDash val="solid"/>
          </a:ln>
        </p:spPr>
      </p:sp>
      <p:pic>
        <p:nvPicPr>
          <p:cNvPr id="4" name="logo_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Sports quiz · audio 5.1</a:t>
            </a:r>
            <a:endParaRPr lang="en-US" sz="900" dirty="0"/>
          </a:p>
        </p:txBody>
      </p:sp>
      <p:sp>
        <p:nvSpPr>
          <p:cNvPr id="6" name="timer_4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4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42"/>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In which sport…?</a:t>
            </a:r>
            <a:endParaRPr lang="en-US" sz="1500" dirty="0"/>
          </a:p>
        </p:txBody>
      </p:sp>
      <p:sp>
        <p:nvSpPr>
          <p:cNvPr id="9" name="post_4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4"/>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4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Teams: answer as fast as you can! Then listen and check.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Squadre: rispondete il più velocemente possibile! Poi ascoltate.</a:t>
            </a:r>
            <a:endParaRPr lang="en-US" sz="1200" dirty="0"/>
          </a:p>
        </p:txBody>
      </p:sp>
      <p:sp>
        <p:nvSpPr>
          <p:cNvPr id="12" name="iconBack_4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47" descr="pi:PiFlagCheckered">    </p:cNvPr>
          <p:cNvPicPr>
            <a:picLocks noChangeAspect="1"/>
          </p:cNvPicPr>
          <p:nvPr/>
        </p:nvPicPr>
        <p:blipFill>
          <a:blip r:embed="rId3"/>
          <a:stretch>
            <a:fillRect/>
          </a:stretch>
        </p:blipFill>
        <p:spPr>
          <a:xfrm>
            <a:off x="914400" y="3474720"/>
            <a:ext cx="685800" cy="685800"/>
          </a:xfrm>
          <a:prstGeom prst="rect">
            <a:avLst/>
          </a:prstGeom>
        </p:spPr>
      </p:pic>
      <p:sp>
        <p:nvSpPr>
          <p:cNvPr id="14" name="box_48"/>
          <p:cNvSpPr txBox="1"/>
          <p:nvPr/>
        </p:nvSpPr>
        <p:spPr>
          <a:xfrm>
            <a:off x="2788920" y="1371600"/>
            <a:ext cx="1890248"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…can you do the butterfly?</a:t>
            </a:r>
            <a:endParaRPr lang="en-US" sz="1100" dirty="0"/>
          </a:p>
        </p:txBody>
      </p:sp>
      <p:sp>
        <p:nvSpPr>
          <p:cNvPr id="15" name="R1_a0"/>
          <p:cNvSpPr txBox="1"/>
          <p:nvPr/>
        </p:nvSpPr>
        <p:spPr>
          <a:xfrm>
            <a:off x="4734032" y="1408176"/>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swimming</a:t>
            </a:r>
            <a:endParaRPr lang="en-US" sz="1050" dirty="0"/>
          </a:p>
        </p:txBody>
      </p:sp>
      <p:sp>
        <p:nvSpPr>
          <p:cNvPr id="16" name="box_49"/>
          <p:cNvSpPr txBox="1"/>
          <p:nvPr/>
        </p:nvSpPr>
        <p:spPr>
          <a:xfrm>
            <a:off x="5870448" y="1371600"/>
            <a:ext cx="1890248"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…is there a shot called a slam dunk?</a:t>
            </a:r>
            <a:endParaRPr lang="en-US" sz="1100" dirty="0"/>
          </a:p>
        </p:txBody>
      </p:sp>
      <p:sp>
        <p:nvSpPr>
          <p:cNvPr id="17" name="R1_a1"/>
          <p:cNvSpPr txBox="1"/>
          <p:nvPr/>
        </p:nvSpPr>
        <p:spPr>
          <a:xfrm>
            <a:off x="7815560" y="1408176"/>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basketball</a:t>
            </a:r>
            <a:endParaRPr lang="en-US" sz="1050" dirty="0"/>
          </a:p>
        </p:txBody>
      </p:sp>
      <p:sp>
        <p:nvSpPr>
          <p:cNvPr id="18" name="box_50"/>
          <p:cNvSpPr txBox="1"/>
          <p:nvPr/>
        </p:nvSpPr>
        <p:spPr>
          <a:xfrm>
            <a:off x="2788920" y="2055571"/>
            <a:ext cx="1890248"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…is the person who throws the ball the pitcher?</a:t>
            </a:r>
            <a:endParaRPr lang="en-US" sz="1100" dirty="0"/>
          </a:p>
        </p:txBody>
      </p:sp>
      <p:sp>
        <p:nvSpPr>
          <p:cNvPr id="19" name="R1_a2"/>
          <p:cNvSpPr txBox="1"/>
          <p:nvPr/>
        </p:nvSpPr>
        <p:spPr>
          <a:xfrm>
            <a:off x="4734032" y="2092147"/>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baseball</a:t>
            </a:r>
            <a:endParaRPr lang="en-US" sz="1050" dirty="0"/>
          </a:p>
        </p:txBody>
      </p:sp>
      <p:sp>
        <p:nvSpPr>
          <p:cNvPr id="20" name="box_51"/>
          <p:cNvSpPr txBox="1"/>
          <p:nvPr/>
        </p:nvSpPr>
        <p:spPr>
          <a:xfrm>
            <a:off x="5870448" y="2055571"/>
            <a:ext cx="1890248"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4  …are there two teams of 15 people and a ball that isn't round?</a:t>
            </a:r>
            <a:endParaRPr lang="en-US" sz="850" dirty="0"/>
          </a:p>
        </p:txBody>
      </p:sp>
      <p:sp>
        <p:nvSpPr>
          <p:cNvPr id="21" name="R1_a3"/>
          <p:cNvSpPr txBox="1"/>
          <p:nvPr/>
        </p:nvSpPr>
        <p:spPr>
          <a:xfrm>
            <a:off x="7815560" y="2092147"/>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rugby</a:t>
            </a:r>
            <a:endParaRPr lang="en-US" sz="1050" dirty="0"/>
          </a:p>
        </p:txBody>
      </p:sp>
      <p:sp>
        <p:nvSpPr>
          <p:cNvPr id="22" name="box_52"/>
          <p:cNvSpPr txBox="1"/>
          <p:nvPr/>
        </p:nvSpPr>
        <p:spPr>
          <a:xfrm>
            <a:off x="2788920" y="2739542"/>
            <a:ext cx="1890248"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…do you hit the ball over a net on a table?</a:t>
            </a:r>
            <a:endParaRPr lang="en-US" sz="1100" dirty="0"/>
          </a:p>
        </p:txBody>
      </p:sp>
      <p:sp>
        <p:nvSpPr>
          <p:cNvPr id="23" name="R1_a4"/>
          <p:cNvSpPr txBox="1"/>
          <p:nvPr/>
        </p:nvSpPr>
        <p:spPr>
          <a:xfrm>
            <a:off x="4734032" y="2776118"/>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table tennis</a:t>
            </a:r>
            <a:endParaRPr lang="en-US" sz="1050" dirty="0"/>
          </a:p>
        </p:txBody>
      </p:sp>
      <p:sp>
        <p:nvSpPr>
          <p:cNvPr id="24" name="box_53"/>
          <p:cNvSpPr txBox="1"/>
          <p:nvPr/>
        </p:nvSpPr>
        <p:spPr>
          <a:xfrm>
            <a:off x="5870448" y="2739542"/>
            <a:ext cx="1890248" cy="55595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…do players walk about 8 km during a game, and never run?</a:t>
            </a:r>
            <a:endParaRPr lang="en-US" sz="900" dirty="0"/>
          </a:p>
        </p:txBody>
      </p:sp>
      <p:sp>
        <p:nvSpPr>
          <p:cNvPr id="25" name="R1_a5"/>
          <p:cNvSpPr txBox="1"/>
          <p:nvPr/>
        </p:nvSpPr>
        <p:spPr>
          <a:xfrm>
            <a:off x="7815560" y="2776118"/>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golf</a:t>
            </a:r>
            <a:endParaRPr lang="en-US" sz="1050" dirty="0"/>
          </a:p>
        </p:txBody>
      </p:sp>
      <p:sp>
        <p:nvSpPr>
          <p:cNvPr id="26" name="box_54"/>
          <p:cNvSpPr txBox="1"/>
          <p:nvPr/>
        </p:nvSpPr>
        <p:spPr>
          <a:xfrm>
            <a:off x="2788920" y="3423514"/>
            <a:ext cx="1890248"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7  …are there two teams of six, who play on ice?</a:t>
            </a:r>
            <a:endParaRPr lang="en-US" sz="1100" dirty="0"/>
          </a:p>
        </p:txBody>
      </p:sp>
      <p:sp>
        <p:nvSpPr>
          <p:cNvPr id="27" name="R1_a6"/>
          <p:cNvSpPr txBox="1"/>
          <p:nvPr/>
        </p:nvSpPr>
        <p:spPr>
          <a:xfrm>
            <a:off x="4734032" y="3460090"/>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ice hockey</a:t>
            </a:r>
            <a:endParaRPr lang="en-US" sz="1050" dirty="0"/>
          </a:p>
        </p:txBody>
      </p:sp>
      <p:sp>
        <p:nvSpPr>
          <p:cNvPr id="28" name="box_55"/>
          <p:cNvSpPr txBox="1"/>
          <p:nvPr/>
        </p:nvSpPr>
        <p:spPr>
          <a:xfrm>
            <a:off x="5870448" y="3423514"/>
            <a:ext cx="1890248"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8  …are there four main tournaments: in Melbourne, Paris, London, and New York?</a:t>
            </a:r>
            <a:endParaRPr lang="en-US" sz="800" dirty="0"/>
          </a:p>
        </p:txBody>
      </p:sp>
      <p:sp>
        <p:nvSpPr>
          <p:cNvPr id="29" name="R1_a7"/>
          <p:cNvSpPr txBox="1"/>
          <p:nvPr/>
        </p:nvSpPr>
        <p:spPr>
          <a:xfrm>
            <a:off x="7815560" y="3460090"/>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tennis</a:t>
            </a:r>
            <a:endParaRPr lang="en-US" sz="1050" dirty="0"/>
          </a:p>
        </p:txBody>
      </p:sp>
      <p:sp>
        <p:nvSpPr>
          <p:cNvPr id="30" name="box_56"/>
          <p:cNvSpPr txBox="1"/>
          <p:nvPr/>
        </p:nvSpPr>
        <p:spPr>
          <a:xfrm>
            <a:off x="2788920" y="4107485"/>
            <a:ext cx="1890248"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9  …can you do different activities, e.g. running, high jump, javelin?</a:t>
            </a:r>
            <a:endParaRPr lang="en-US" sz="800" dirty="0"/>
          </a:p>
        </p:txBody>
      </p:sp>
      <p:sp>
        <p:nvSpPr>
          <p:cNvPr id="31" name="R1_a8"/>
          <p:cNvSpPr txBox="1"/>
          <p:nvPr/>
        </p:nvSpPr>
        <p:spPr>
          <a:xfrm>
            <a:off x="4734032" y="4144061"/>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athletics</a:t>
            </a:r>
            <a:endParaRPr lang="en-US" sz="1050" dirty="0"/>
          </a:p>
        </p:txBody>
      </p:sp>
      <p:sp>
        <p:nvSpPr>
          <p:cNvPr id="32" name="box_57"/>
          <p:cNvSpPr txBox="1"/>
          <p:nvPr/>
        </p:nvSpPr>
        <p:spPr>
          <a:xfrm>
            <a:off x="5870448" y="4107485"/>
            <a:ext cx="1890248"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10  …have Brazil won more World Cups than any other country?</a:t>
            </a:r>
            <a:endParaRPr lang="en-US" sz="850" dirty="0"/>
          </a:p>
        </p:txBody>
      </p:sp>
      <p:sp>
        <p:nvSpPr>
          <p:cNvPr id="33" name="R1_a9"/>
          <p:cNvSpPr txBox="1"/>
          <p:nvPr/>
        </p:nvSpPr>
        <p:spPr>
          <a:xfrm>
            <a:off x="7815560" y="4144061"/>
            <a:ext cx="100840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football</a:t>
            </a:r>
            <a:endParaRPr lang="en-US" sz="1050" dirty="0"/>
          </a:p>
        </p:txBody>
      </p:sp>
      <p:sp>
        <p:nvSpPr>
          <p:cNvPr id="34" name="pageTag_5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p.46 · 1a, 1b · audio 5.1</a:t>
            </a:r>
            <a:endParaRPr lang="en-US" sz="1050" dirty="0"/>
          </a:p>
        </p:txBody>
      </p:sp>
      <p:pic>
        <p:nvPicPr>
          <p:cNvPr id="35"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36" name="atr_59"/>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5.1</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35"/>
                    </p:tgtEl>
                  </p:cond>
                </p:stCondLst>
                <p:endSync evt="end" delay="0">
                  <p:rtn val="all"/>
                </p:endSync>
                <p:childTnLst>
                  <p:par>
                    <p:cTn id="36" fill="hold">
                      <p:stCondLst>
                        <p:cond delay="0"/>
                      </p:stCondLst>
                      <p:childTnLst>
                        <p:par>
                          <p:cTn id="37" fill="hold">
                            <p:stCondLst>
                              <p:cond delay="0"/>
                            </p:stCondLst>
                            <p:childTnLst>
                              <p:par>
                                <p:cTn id="38" presetID="2" presetClass="mediacall" presetSubtype="0" fill="hold" nodeType="clickEffect">
                                  <p:stCondLst>
                                    <p:cond delay="0"/>
                                  </p:stCondLst>
                                  <p:childTnLst>
                                    <p:cmd type="call" cmd="togglePause">
                                      <p:cBhvr>
                                        <p:cTn id="39" dur="1" fill="hold"/>
                                        <p:tgtEl>
                                          <p:spTgt spid="35"/>
                                        </p:tgtEl>
                                      </p:cBhvr>
                                    </p:cmd>
                                  </p:childTnLst>
                                </p:cTn>
                              </p:par>
                            </p:childTnLst>
                          </p:cTn>
                        </p:par>
                      </p:childTnLst>
                    </p:cTn>
                  </p:par>
                </p:childTnLst>
              </p:cTn>
              <p:nextCondLst>
                <p:cond evt="onClick" delay="0">
                  <p:tgtEl>
                    <p:spTgt spid="35"/>
                  </p:tgtEl>
                </p:cond>
              </p:nextCondLst>
            </p:seq>
            <p:audio>
              <p:cMediaNode vol="80000">
                <p:cTn id="40" fill="hold" display="0">
                  <p:stCondLst>
                    <p:cond delay="indefinite"/>
                  </p:stCondLst>
                  <p:endCondLst>
                    <p:cond evt="onStopAudio" delay="0">
                      <p:tgtEl>
                        <p:sldTgt/>
                      </p:tgtEl>
                    </p:cond>
                  </p:endCondLst>
                </p:cTn>
                <p:tgtEl>
                  <p:spTgt spid="3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0"/>
          <p:cNvSpPr/>
          <p:nvPr/>
        </p:nvSpPr>
        <p:spPr>
          <a:xfrm>
            <a:off x="54864" y="54864"/>
            <a:ext cx="9034272" cy="5033772"/>
          </a:xfrm>
          <a:prstGeom prst="rect">
            <a:avLst/>
          </a:prstGeom>
          <a:ln w="114300">
            <a:solidFill>
              <a:srgbClr val="A8E6B4"/>
            </a:solidFill>
            <a:prstDash val="solid"/>
          </a:ln>
        </p:spPr>
      </p:sp>
      <p:pic>
        <p:nvPicPr>
          <p:cNvPr id="4" name="logo_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Vocabulary Bank Sport p.157</a:t>
            </a:r>
            <a:endParaRPr lang="en-US" sz="900" dirty="0"/>
          </a:p>
        </p:txBody>
      </p:sp>
      <p:sp>
        <p:nvSpPr>
          <p:cNvPr id="6" name="timer_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65"/>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People and places</a:t>
            </a:r>
            <a:endParaRPr lang="en-US" sz="1500" dirty="0"/>
          </a:p>
        </p:txBody>
      </p:sp>
      <p:sp>
        <p:nvSpPr>
          <p:cNvPr id="9" name="post_6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6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6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words. Which sport? Click for the Italian.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le parole. Quale sport? Clicca per l'italiano.</a:t>
            </a:r>
            <a:endParaRPr lang="en-US" sz="1250" dirty="0"/>
          </a:p>
        </p:txBody>
      </p:sp>
      <p:sp>
        <p:nvSpPr>
          <p:cNvPr id="12" name="tile_69"/>
          <p:cNvSpPr/>
          <p:nvPr/>
        </p:nvSpPr>
        <p:spPr>
          <a:xfrm>
            <a:off x="2788920" y="1371600"/>
            <a:ext cx="1426464" cy="745236"/>
          </a:xfrm>
          <a:prstGeom prst="roundRect">
            <a:avLst>
              <a:gd name="adj" fmla="val 9816"/>
            </a:avLst>
          </a:prstGeom>
          <a:solidFill>
            <a:srgbClr val="FFFFFF"/>
          </a:solidFill>
          <a:ln w="19050">
            <a:solidFill>
              <a:srgbClr val="111111"/>
            </a:solidFill>
            <a:prstDash val="solid"/>
          </a:ln>
        </p:spPr>
      </p:sp>
      <p:pic>
        <p:nvPicPr>
          <p:cNvPr id="13" name="ti_70" descr="captain">    </p:cNvPr>
          <p:cNvPicPr>
            <a:picLocks noChangeAspect="1"/>
          </p:cNvPicPr>
          <p:nvPr/>
        </p:nvPicPr>
        <p:blipFill>
          <a:blip r:embed="rId3"/>
          <a:stretch>
            <a:fillRect/>
          </a:stretch>
        </p:blipFill>
        <p:spPr>
          <a:xfrm>
            <a:off x="3353105" y="1426464"/>
            <a:ext cx="298094" cy="298094"/>
          </a:xfrm>
          <a:prstGeom prst="rect">
            <a:avLst/>
          </a:prstGeom>
        </p:spPr>
      </p:pic>
      <p:sp>
        <p:nvSpPr>
          <p:cNvPr id="14" name="tw_71"/>
          <p:cNvSpPr txBox="1"/>
          <p:nvPr/>
        </p:nvSpPr>
        <p:spPr>
          <a:xfrm>
            <a:off x="2825496"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captain</a:t>
            </a:r>
            <a:endParaRPr lang="en-US" sz="1250" dirty="0"/>
          </a:p>
        </p:txBody>
      </p:sp>
      <p:sp>
        <p:nvSpPr>
          <p:cNvPr id="15" name="R1_it0"/>
          <p:cNvSpPr txBox="1"/>
          <p:nvPr/>
        </p:nvSpPr>
        <p:spPr>
          <a:xfrm>
            <a:off x="2825496"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capitano</a:t>
            </a:r>
            <a:endParaRPr lang="en-US" sz="1050" dirty="0"/>
          </a:p>
        </p:txBody>
      </p:sp>
      <p:sp>
        <p:nvSpPr>
          <p:cNvPr id="16" name="tile_72"/>
          <p:cNvSpPr/>
          <p:nvPr/>
        </p:nvSpPr>
        <p:spPr>
          <a:xfrm>
            <a:off x="4325112" y="1371600"/>
            <a:ext cx="1426464" cy="745236"/>
          </a:xfrm>
          <a:prstGeom prst="roundRect">
            <a:avLst>
              <a:gd name="adj" fmla="val 9816"/>
            </a:avLst>
          </a:prstGeom>
          <a:solidFill>
            <a:srgbClr val="FFFFFF"/>
          </a:solidFill>
          <a:ln w="19050">
            <a:solidFill>
              <a:srgbClr val="111111"/>
            </a:solidFill>
            <a:prstDash val="solid"/>
          </a:ln>
        </p:spPr>
      </p:sp>
      <p:pic>
        <p:nvPicPr>
          <p:cNvPr id="17" name="ti_73" descr="coach">    </p:cNvPr>
          <p:cNvPicPr>
            <a:picLocks noChangeAspect="1"/>
          </p:cNvPicPr>
          <p:nvPr/>
        </p:nvPicPr>
        <p:blipFill>
          <a:blip r:embed="rId4"/>
          <a:stretch>
            <a:fillRect/>
          </a:stretch>
        </p:blipFill>
        <p:spPr>
          <a:xfrm>
            <a:off x="4889297" y="1426464"/>
            <a:ext cx="298094" cy="298094"/>
          </a:xfrm>
          <a:prstGeom prst="rect">
            <a:avLst/>
          </a:prstGeom>
        </p:spPr>
      </p:pic>
      <p:sp>
        <p:nvSpPr>
          <p:cNvPr id="18" name="tw_74"/>
          <p:cNvSpPr txBox="1"/>
          <p:nvPr/>
        </p:nvSpPr>
        <p:spPr>
          <a:xfrm>
            <a:off x="4361688"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coach</a:t>
            </a:r>
            <a:endParaRPr lang="en-US" sz="1250" dirty="0"/>
          </a:p>
        </p:txBody>
      </p:sp>
      <p:sp>
        <p:nvSpPr>
          <p:cNvPr id="19" name="R1_it1"/>
          <p:cNvSpPr txBox="1"/>
          <p:nvPr/>
        </p:nvSpPr>
        <p:spPr>
          <a:xfrm>
            <a:off x="4361688"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allenatore</a:t>
            </a:r>
            <a:endParaRPr lang="en-US" sz="1050" dirty="0"/>
          </a:p>
        </p:txBody>
      </p:sp>
      <p:sp>
        <p:nvSpPr>
          <p:cNvPr id="20" name="tile_75"/>
          <p:cNvSpPr/>
          <p:nvPr/>
        </p:nvSpPr>
        <p:spPr>
          <a:xfrm>
            <a:off x="5861304" y="1371600"/>
            <a:ext cx="1426464" cy="745236"/>
          </a:xfrm>
          <a:prstGeom prst="roundRect">
            <a:avLst>
              <a:gd name="adj" fmla="val 9816"/>
            </a:avLst>
          </a:prstGeom>
          <a:solidFill>
            <a:srgbClr val="FFFFFF"/>
          </a:solidFill>
          <a:ln w="19050">
            <a:solidFill>
              <a:srgbClr val="111111"/>
            </a:solidFill>
            <a:prstDash val="solid"/>
          </a:ln>
        </p:spPr>
      </p:sp>
      <p:pic>
        <p:nvPicPr>
          <p:cNvPr id="21" name="ti_76" descr="fans">    </p:cNvPr>
          <p:cNvPicPr>
            <a:picLocks noChangeAspect="1"/>
          </p:cNvPicPr>
          <p:nvPr/>
        </p:nvPicPr>
        <p:blipFill>
          <a:blip r:embed="rId5"/>
          <a:stretch>
            <a:fillRect/>
          </a:stretch>
        </p:blipFill>
        <p:spPr>
          <a:xfrm>
            <a:off x="6425489" y="1426464"/>
            <a:ext cx="298094" cy="298094"/>
          </a:xfrm>
          <a:prstGeom prst="rect">
            <a:avLst/>
          </a:prstGeom>
        </p:spPr>
      </p:pic>
      <p:sp>
        <p:nvSpPr>
          <p:cNvPr id="22" name="tw_77"/>
          <p:cNvSpPr txBox="1"/>
          <p:nvPr/>
        </p:nvSpPr>
        <p:spPr>
          <a:xfrm>
            <a:off x="5897880"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fans</a:t>
            </a:r>
            <a:endParaRPr lang="en-US" sz="1250" dirty="0"/>
          </a:p>
        </p:txBody>
      </p:sp>
      <p:sp>
        <p:nvSpPr>
          <p:cNvPr id="23" name="R1_it2"/>
          <p:cNvSpPr txBox="1"/>
          <p:nvPr/>
        </p:nvSpPr>
        <p:spPr>
          <a:xfrm>
            <a:off x="5897880"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tifosi</a:t>
            </a:r>
            <a:endParaRPr lang="en-US" sz="1050" dirty="0"/>
          </a:p>
        </p:txBody>
      </p:sp>
      <p:sp>
        <p:nvSpPr>
          <p:cNvPr id="24" name="tile_78"/>
          <p:cNvSpPr/>
          <p:nvPr/>
        </p:nvSpPr>
        <p:spPr>
          <a:xfrm>
            <a:off x="7397496" y="1371600"/>
            <a:ext cx="1426464" cy="745236"/>
          </a:xfrm>
          <a:prstGeom prst="roundRect">
            <a:avLst>
              <a:gd name="adj" fmla="val 9816"/>
            </a:avLst>
          </a:prstGeom>
          <a:solidFill>
            <a:srgbClr val="FFFFFF"/>
          </a:solidFill>
          <a:ln w="19050">
            <a:solidFill>
              <a:srgbClr val="111111"/>
            </a:solidFill>
            <a:prstDash val="solid"/>
          </a:ln>
        </p:spPr>
      </p:sp>
      <p:pic>
        <p:nvPicPr>
          <p:cNvPr id="25" name="ti_79" descr="referee /refəˈriː/">    </p:cNvPr>
          <p:cNvPicPr>
            <a:picLocks noChangeAspect="1"/>
          </p:cNvPicPr>
          <p:nvPr/>
        </p:nvPicPr>
        <p:blipFill>
          <a:blip r:embed="rId6"/>
          <a:stretch>
            <a:fillRect/>
          </a:stretch>
        </p:blipFill>
        <p:spPr>
          <a:xfrm>
            <a:off x="7961681" y="1426464"/>
            <a:ext cx="298094" cy="298094"/>
          </a:xfrm>
          <a:prstGeom prst="rect">
            <a:avLst/>
          </a:prstGeom>
        </p:spPr>
      </p:pic>
      <p:sp>
        <p:nvSpPr>
          <p:cNvPr id="26" name="tw_80"/>
          <p:cNvSpPr txBox="1"/>
          <p:nvPr/>
        </p:nvSpPr>
        <p:spPr>
          <a:xfrm>
            <a:off x="7434072"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referee /refəˈriː/</a:t>
            </a:r>
            <a:endParaRPr lang="en-US" sz="1250" dirty="0"/>
          </a:p>
        </p:txBody>
      </p:sp>
      <p:sp>
        <p:nvSpPr>
          <p:cNvPr id="27" name="R1_it3"/>
          <p:cNvSpPr txBox="1"/>
          <p:nvPr/>
        </p:nvSpPr>
        <p:spPr>
          <a:xfrm>
            <a:off x="7434072"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arbitro (calcio)</a:t>
            </a:r>
            <a:endParaRPr lang="en-US" sz="1050" dirty="0"/>
          </a:p>
        </p:txBody>
      </p:sp>
      <p:sp>
        <p:nvSpPr>
          <p:cNvPr id="28" name="tile_81"/>
          <p:cNvSpPr/>
          <p:nvPr/>
        </p:nvSpPr>
        <p:spPr>
          <a:xfrm>
            <a:off x="2788920" y="2226564"/>
            <a:ext cx="1426464" cy="745236"/>
          </a:xfrm>
          <a:prstGeom prst="roundRect">
            <a:avLst>
              <a:gd name="adj" fmla="val 9816"/>
            </a:avLst>
          </a:prstGeom>
          <a:solidFill>
            <a:srgbClr val="FFFFFF"/>
          </a:solidFill>
          <a:ln w="19050">
            <a:solidFill>
              <a:srgbClr val="111111"/>
            </a:solidFill>
            <a:prstDash val="solid"/>
          </a:ln>
        </p:spPr>
      </p:sp>
      <p:pic>
        <p:nvPicPr>
          <p:cNvPr id="29" name="ti_82" descr="umpire /ˈʌmpaɪə/">    </p:cNvPr>
          <p:cNvPicPr>
            <a:picLocks noChangeAspect="1"/>
          </p:cNvPicPr>
          <p:nvPr/>
        </p:nvPicPr>
        <p:blipFill>
          <a:blip r:embed="rId7"/>
          <a:stretch>
            <a:fillRect/>
          </a:stretch>
        </p:blipFill>
        <p:spPr>
          <a:xfrm>
            <a:off x="3353105" y="2281428"/>
            <a:ext cx="298094" cy="298094"/>
          </a:xfrm>
          <a:prstGeom prst="rect">
            <a:avLst/>
          </a:prstGeom>
        </p:spPr>
      </p:pic>
      <p:sp>
        <p:nvSpPr>
          <p:cNvPr id="30" name="tw_83"/>
          <p:cNvSpPr txBox="1"/>
          <p:nvPr/>
        </p:nvSpPr>
        <p:spPr>
          <a:xfrm>
            <a:off x="2825496"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umpire /ˈʌmpaɪə/</a:t>
            </a:r>
            <a:endParaRPr lang="en-US" sz="1250" dirty="0"/>
          </a:p>
        </p:txBody>
      </p:sp>
      <p:sp>
        <p:nvSpPr>
          <p:cNvPr id="31" name="R1_it4"/>
          <p:cNvSpPr txBox="1"/>
          <p:nvPr/>
        </p:nvSpPr>
        <p:spPr>
          <a:xfrm>
            <a:off x="2825496"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arbitro (tennis)</a:t>
            </a:r>
            <a:endParaRPr lang="en-US" sz="1050" dirty="0"/>
          </a:p>
        </p:txBody>
      </p:sp>
      <p:sp>
        <p:nvSpPr>
          <p:cNvPr id="32" name="tile_84"/>
          <p:cNvSpPr/>
          <p:nvPr/>
        </p:nvSpPr>
        <p:spPr>
          <a:xfrm>
            <a:off x="4325112" y="2226564"/>
            <a:ext cx="1426464" cy="745236"/>
          </a:xfrm>
          <a:prstGeom prst="roundRect">
            <a:avLst>
              <a:gd name="adj" fmla="val 9816"/>
            </a:avLst>
          </a:prstGeom>
          <a:solidFill>
            <a:srgbClr val="FFFFFF"/>
          </a:solidFill>
          <a:ln w="19050">
            <a:solidFill>
              <a:srgbClr val="111111"/>
            </a:solidFill>
            <a:prstDash val="solid"/>
          </a:ln>
        </p:spPr>
      </p:sp>
      <p:pic>
        <p:nvPicPr>
          <p:cNvPr id="33" name="ti_85" descr="spectators">    </p:cNvPr>
          <p:cNvPicPr>
            <a:picLocks noChangeAspect="1"/>
          </p:cNvPicPr>
          <p:nvPr/>
        </p:nvPicPr>
        <p:blipFill>
          <a:blip r:embed="rId8"/>
          <a:stretch>
            <a:fillRect/>
          </a:stretch>
        </p:blipFill>
        <p:spPr>
          <a:xfrm>
            <a:off x="4889297" y="2281428"/>
            <a:ext cx="298094" cy="298094"/>
          </a:xfrm>
          <a:prstGeom prst="rect">
            <a:avLst/>
          </a:prstGeom>
        </p:spPr>
      </p:pic>
      <p:sp>
        <p:nvSpPr>
          <p:cNvPr id="34" name="tw_86"/>
          <p:cNvSpPr txBox="1"/>
          <p:nvPr/>
        </p:nvSpPr>
        <p:spPr>
          <a:xfrm>
            <a:off x="4361688"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spectators</a:t>
            </a:r>
            <a:endParaRPr lang="en-US" sz="1250" dirty="0"/>
          </a:p>
        </p:txBody>
      </p:sp>
      <p:sp>
        <p:nvSpPr>
          <p:cNvPr id="35" name="R1_it5"/>
          <p:cNvSpPr txBox="1"/>
          <p:nvPr/>
        </p:nvSpPr>
        <p:spPr>
          <a:xfrm>
            <a:off x="4361688"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spettatori / il pubblico</a:t>
            </a:r>
            <a:endParaRPr lang="en-US" sz="1050" dirty="0"/>
          </a:p>
        </p:txBody>
      </p:sp>
      <p:sp>
        <p:nvSpPr>
          <p:cNvPr id="36" name="tile_87"/>
          <p:cNvSpPr/>
          <p:nvPr/>
        </p:nvSpPr>
        <p:spPr>
          <a:xfrm>
            <a:off x="5861304" y="2226564"/>
            <a:ext cx="1426464" cy="745236"/>
          </a:xfrm>
          <a:prstGeom prst="roundRect">
            <a:avLst>
              <a:gd name="adj" fmla="val 9816"/>
            </a:avLst>
          </a:prstGeom>
          <a:solidFill>
            <a:srgbClr val="FFFFFF"/>
          </a:solidFill>
          <a:ln w="19050">
            <a:solidFill>
              <a:srgbClr val="111111"/>
            </a:solidFill>
            <a:prstDash val="solid"/>
          </a:ln>
        </p:spPr>
      </p:sp>
      <p:pic>
        <p:nvPicPr>
          <p:cNvPr id="37" name="ti_88" descr="team · players">    </p:cNvPr>
          <p:cNvPicPr>
            <a:picLocks noChangeAspect="1"/>
          </p:cNvPicPr>
          <p:nvPr/>
        </p:nvPicPr>
        <p:blipFill>
          <a:blip r:embed="rId9"/>
          <a:stretch>
            <a:fillRect/>
          </a:stretch>
        </p:blipFill>
        <p:spPr>
          <a:xfrm>
            <a:off x="6425489" y="2281428"/>
            <a:ext cx="298094" cy="298094"/>
          </a:xfrm>
          <a:prstGeom prst="rect">
            <a:avLst/>
          </a:prstGeom>
        </p:spPr>
      </p:pic>
      <p:sp>
        <p:nvSpPr>
          <p:cNvPr id="38" name="tw_89"/>
          <p:cNvSpPr txBox="1"/>
          <p:nvPr/>
        </p:nvSpPr>
        <p:spPr>
          <a:xfrm>
            <a:off x="5897880"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team · players</a:t>
            </a:r>
            <a:endParaRPr lang="en-US" sz="1250" dirty="0"/>
          </a:p>
        </p:txBody>
      </p:sp>
      <p:sp>
        <p:nvSpPr>
          <p:cNvPr id="39" name="R1_it6"/>
          <p:cNvSpPr txBox="1"/>
          <p:nvPr/>
        </p:nvSpPr>
        <p:spPr>
          <a:xfrm>
            <a:off x="5897880"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squadra · giocatori</a:t>
            </a:r>
            <a:endParaRPr lang="en-US" sz="1050" dirty="0"/>
          </a:p>
        </p:txBody>
      </p:sp>
      <p:sp>
        <p:nvSpPr>
          <p:cNvPr id="40" name="tile_90"/>
          <p:cNvSpPr/>
          <p:nvPr/>
        </p:nvSpPr>
        <p:spPr>
          <a:xfrm>
            <a:off x="7397496" y="2226564"/>
            <a:ext cx="1426464" cy="745236"/>
          </a:xfrm>
          <a:prstGeom prst="roundRect">
            <a:avLst>
              <a:gd name="adj" fmla="val 9816"/>
            </a:avLst>
          </a:prstGeom>
          <a:solidFill>
            <a:srgbClr val="FFFFFF"/>
          </a:solidFill>
          <a:ln w="19050">
            <a:solidFill>
              <a:srgbClr val="111111"/>
            </a:solidFill>
            <a:prstDash val="solid"/>
          </a:ln>
        </p:spPr>
      </p:sp>
      <p:pic>
        <p:nvPicPr>
          <p:cNvPr id="41" name="ti_91" descr="stadium /ˈsteɪdiəm/">    </p:cNvPr>
          <p:cNvPicPr>
            <a:picLocks noChangeAspect="1"/>
          </p:cNvPicPr>
          <p:nvPr/>
        </p:nvPicPr>
        <p:blipFill>
          <a:blip r:embed="rId10"/>
          <a:stretch>
            <a:fillRect/>
          </a:stretch>
        </p:blipFill>
        <p:spPr>
          <a:xfrm>
            <a:off x="7961681" y="2281428"/>
            <a:ext cx="298094" cy="298094"/>
          </a:xfrm>
          <a:prstGeom prst="rect">
            <a:avLst/>
          </a:prstGeom>
        </p:spPr>
      </p:pic>
      <p:sp>
        <p:nvSpPr>
          <p:cNvPr id="42" name="tw_92"/>
          <p:cNvSpPr txBox="1"/>
          <p:nvPr/>
        </p:nvSpPr>
        <p:spPr>
          <a:xfrm>
            <a:off x="7434072" y="2597810"/>
            <a:ext cx="1353312"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stadium /ˈsteɪdiəm/</a:t>
            </a:r>
            <a:endParaRPr lang="en-US" sz="1100" dirty="0"/>
          </a:p>
        </p:txBody>
      </p:sp>
      <p:sp>
        <p:nvSpPr>
          <p:cNvPr id="43" name="R1_it7"/>
          <p:cNvSpPr txBox="1"/>
          <p:nvPr/>
        </p:nvSpPr>
        <p:spPr>
          <a:xfrm>
            <a:off x="7434072"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stadio</a:t>
            </a:r>
            <a:endParaRPr lang="en-US" sz="1050" dirty="0"/>
          </a:p>
        </p:txBody>
      </p:sp>
      <p:sp>
        <p:nvSpPr>
          <p:cNvPr id="44" name="tile_93"/>
          <p:cNvSpPr/>
          <p:nvPr/>
        </p:nvSpPr>
        <p:spPr>
          <a:xfrm>
            <a:off x="2788920" y="3081528"/>
            <a:ext cx="1426464" cy="745236"/>
          </a:xfrm>
          <a:prstGeom prst="roundRect">
            <a:avLst>
              <a:gd name="adj" fmla="val 9816"/>
            </a:avLst>
          </a:prstGeom>
          <a:solidFill>
            <a:srgbClr val="FFFFFF"/>
          </a:solidFill>
          <a:ln w="19050">
            <a:solidFill>
              <a:srgbClr val="111111"/>
            </a:solidFill>
            <a:prstDash val="solid"/>
          </a:ln>
        </p:spPr>
      </p:sp>
      <p:pic>
        <p:nvPicPr>
          <p:cNvPr id="45" name="ti_94" descr="sports hall">    </p:cNvPr>
          <p:cNvPicPr>
            <a:picLocks noChangeAspect="1"/>
          </p:cNvPicPr>
          <p:nvPr/>
        </p:nvPicPr>
        <p:blipFill>
          <a:blip r:embed="rId11"/>
          <a:stretch>
            <a:fillRect/>
          </a:stretch>
        </p:blipFill>
        <p:spPr>
          <a:xfrm>
            <a:off x="3353105" y="3136392"/>
            <a:ext cx="298094" cy="298094"/>
          </a:xfrm>
          <a:prstGeom prst="rect">
            <a:avLst/>
          </a:prstGeom>
        </p:spPr>
      </p:pic>
      <p:sp>
        <p:nvSpPr>
          <p:cNvPr id="46" name="tw_95"/>
          <p:cNvSpPr txBox="1"/>
          <p:nvPr/>
        </p:nvSpPr>
        <p:spPr>
          <a:xfrm>
            <a:off x="2825496"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sports hall</a:t>
            </a:r>
            <a:endParaRPr lang="en-US" sz="1250" dirty="0"/>
          </a:p>
        </p:txBody>
      </p:sp>
      <p:sp>
        <p:nvSpPr>
          <p:cNvPr id="47" name="R1_it8"/>
          <p:cNvSpPr txBox="1"/>
          <p:nvPr/>
        </p:nvSpPr>
        <p:spPr>
          <a:xfrm>
            <a:off x="2825496"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palazzetto</a:t>
            </a:r>
            <a:endParaRPr lang="en-US" sz="1050" dirty="0"/>
          </a:p>
        </p:txBody>
      </p:sp>
      <p:sp>
        <p:nvSpPr>
          <p:cNvPr id="48" name="tile_96"/>
          <p:cNvSpPr/>
          <p:nvPr/>
        </p:nvSpPr>
        <p:spPr>
          <a:xfrm>
            <a:off x="4325112" y="3081528"/>
            <a:ext cx="1426464" cy="745236"/>
          </a:xfrm>
          <a:prstGeom prst="roundRect">
            <a:avLst>
              <a:gd name="adj" fmla="val 9816"/>
            </a:avLst>
          </a:prstGeom>
          <a:solidFill>
            <a:srgbClr val="FFFFFF"/>
          </a:solidFill>
          <a:ln w="19050">
            <a:solidFill>
              <a:srgbClr val="111111"/>
            </a:solidFill>
            <a:prstDash val="solid"/>
          </a:ln>
        </p:spPr>
      </p:sp>
      <p:pic>
        <p:nvPicPr>
          <p:cNvPr id="49" name="ti_97" descr="court /kɔːt/">    </p:cNvPr>
          <p:cNvPicPr>
            <a:picLocks noChangeAspect="1"/>
          </p:cNvPicPr>
          <p:nvPr/>
        </p:nvPicPr>
        <p:blipFill>
          <a:blip r:embed="rId12"/>
          <a:stretch>
            <a:fillRect/>
          </a:stretch>
        </p:blipFill>
        <p:spPr>
          <a:xfrm>
            <a:off x="4889297" y="3136392"/>
            <a:ext cx="298094" cy="298094"/>
          </a:xfrm>
          <a:prstGeom prst="rect">
            <a:avLst/>
          </a:prstGeom>
        </p:spPr>
      </p:pic>
      <p:sp>
        <p:nvSpPr>
          <p:cNvPr id="50" name="tw_98"/>
          <p:cNvSpPr txBox="1"/>
          <p:nvPr/>
        </p:nvSpPr>
        <p:spPr>
          <a:xfrm>
            <a:off x="4361688"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court /kɔːt/</a:t>
            </a:r>
            <a:endParaRPr lang="en-US" sz="1250" dirty="0"/>
          </a:p>
        </p:txBody>
      </p:sp>
      <p:sp>
        <p:nvSpPr>
          <p:cNvPr id="51" name="R1_it9"/>
          <p:cNvSpPr txBox="1"/>
          <p:nvPr/>
        </p:nvSpPr>
        <p:spPr>
          <a:xfrm>
            <a:off x="4361688" y="3681374"/>
            <a:ext cx="1353312" cy="182880"/>
          </a:xfrm>
          <a:prstGeom prst="rect">
            <a:avLst/>
          </a:prstGeom>
          <a:noFill/>
          <a:ln/>
        </p:spPr>
        <p:txBody>
          <a:bodyPr wrap="square" lIns="0" tIns="0" rIns="0" bIns="0" rtlCol="0" anchor="t"/>
          <a:lstStyle/>
          <a:p>
            <a:pPr algn="ctr" indent="0" marL="0">
              <a:buNone/>
            </a:pPr>
            <a:r>
              <a:rPr lang="en-US" sz="1000" i="1" dirty="0">
                <a:solidFill>
                  <a:srgbClr val="6D3FC0"/>
                </a:solidFill>
                <a:latin typeface="Calibri" pitchFamily="34" charset="0"/>
                <a:ea typeface="Calibri" pitchFamily="34" charset="-122"/>
                <a:cs typeface="Calibri" pitchFamily="34" charset="-120"/>
              </a:rPr>
              <a:t>campo (tennis, basket)</a:t>
            </a:r>
            <a:endParaRPr lang="en-US" sz="1000" dirty="0"/>
          </a:p>
        </p:txBody>
      </p:sp>
      <p:sp>
        <p:nvSpPr>
          <p:cNvPr id="52" name="tile_99"/>
          <p:cNvSpPr/>
          <p:nvPr/>
        </p:nvSpPr>
        <p:spPr>
          <a:xfrm>
            <a:off x="5861304" y="3081528"/>
            <a:ext cx="1426464" cy="745236"/>
          </a:xfrm>
          <a:prstGeom prst="roundRect">
            <a:avLst>
              <a:gd name="adj" fmla="val 9816"/>
            </a:avLst>
          </a:prstGeom>
          <a:solidFill>
            <a:srgbClr val="FFFFFF"/>
          </a:solidFill>
          <a:ln w="19050">
            <a:solidFill>
              <a:srgbClr val="111111"/>
            </a:solidFill>
            <a:prstDash val="solid"/>
          </a:ln>
        </p:spPr>
      </p:sp>
      <p:pic>
        <p:nvPicPr>
          <p:cNvPr id="53" name="ti_100" descr="pitch">    </p:cNvPr>
          <p:cNvPicPr>
            <a:picLocks noChangeAspect="1"/>
          </p:cNvPicPr>
          <p:nvPr/>
        </p:nvPicPr>
        <p:blipFill>
          <a:blip r:embed="rId13"/>
          <a:stretch>
            <a:fillRect/>
          </a:stretch>
        </p:blipFill>
        <p:spPr>
          <a:xfrm>
            <a:off x="6425489" y="3136392"/>
            <a:ext cx="298094" cy="298094"/>
          </a:xfrm>
          <a:prstGeom prst="rect">
            <a:avLst/>
          </a:prstGeom>
        </p:spPr>
      </p:pic>
      <p:sp>
        <p:nvSpPr>
          <p:cNvPr id="54" name="tw_101"/>
          <p:cNvSpPr txBox="1"/>
          <p:nvPr/>
        </p:nvSpPr>
        <p:spPr>
          <a:xfrm>
            <a:off x="5897880"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pitch</a:t>
            </a:r>
            <a:endParaRPr lang="en-US" sz="1250" dirty="0"/>
          </a:p>
        </p:txBody>
      </p:sp>
      <p:sp>
        <p:nvSpPr>
          <p:cNvPr id="55" name="R1_it10"/>
          <p:cNvSpPr txBox="1"/>
          <p:nvPr/>
        </p:nvSpPr>
        <p:spPr>
          <a:xfrm>
            <a:off x="5897880"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campo (calcio, rugby)</a:t>
            </a:r>
            <a:endParaRPr lang="en-US" sz="1050" dirty="0"/>
          </a:p>
        </p:txBody>
      </p:sp>
      <p:sp>
        <p:nvSpPr>
          <p:cNvPr id="56" name="tile_102"/>
          <p:cNvSpPr/>
          <p:nvPr/>
        </p:nvSpPr>
        <p:spPr>
          <a:xfrm>
            <a:off x="7397496" y="3081528"/>
            <a:ext cx="1426464" cy="745236"/>
          </a:xfrm>
          <a:prstGeom prst="roundRect">
            <a:avLst>
              <a:gd name="adj" fmla="val 9816"/>
            </a:avLst>
          </a:prstGeom>
          <a:solidFill>
            <a:srgbClr val="FFFFFF"/>
          </a:solidFill>
          <a:ln w="19050">
            <a:solidFill>
              <a:srgbClr val="111111"/>
            </a:solidFill>
            <a:prstDash val="solid"/>
          </a:ln>
        </p:spPr>
      </p:sp>
      <p:pic>
        <p:nvPicPr>
          <p:cNvPr id="57" name="ti_103" descr="pool">    </p:cNvPr>
          <p:cNvPicPr>
            <a:picLocks noChangeAspect="1"/>
          </p:cNvPicPr>
          <p:nvPr/>
        </p:nvPicPr>
        <p:blipFill>
          <a:blip r:embed="rId14"/>
          <a:stretch>
            <a:fillRect/>
          </a:stretch>
        </p:blipFill>
        <p:spPr>
          <a:xfrm>
            <a:off x="7961681" y="3136392"/>
            <a:ext cx="298094" cy="298094"/>
          </a:xfrm>
          <a:prstGeom prst="rect">
            <a:avLst/>
          </a:prstGeom>
        </p:spPr>
      </p:pic>
      <p:sp>
        <p:nvSpPr>
          <p:cNvPr id="58" name="tw_104"/>
          <p:cNvSpPr txBox="1"/>
          <p:nvPr/>
        </p:nvSpPr>
        <p:spPr>
          <a:xfrm>
            <a:off x="7434072"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pool</a:t>
            </a:r>
            <a:endParaRPr lang="en-US" sz="1250" dirty="0"/>
          </a:p>
        </p:txBody>
      </p:sp>
      <p:sp>
        <p:nvSpPr>
          <p:cNvPr id="59" name="R1_it11"/>
          <p:cNvSpPr txBox="1"/>
          <p:nvPr/>
        </p:nvSpPr>
        <p:spPr>
          <a:xfrm>
            <a:off x="7434072"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piscina</a:t>
            </a:r>
            <a:endParaRPr lang="en-US" sz="1050" dirty="0"/>
          </a:p>
        </p:txBody>
      </p:sp>
      <p:sp>
        <p:nvSpPr>
          <p:cNvPr id="60" name="tile_105"/>
          <p:cNvSpPr/>
          <p:nvPr/>
        </p:nvSpPr>
        <p:spPr>
          <a:xfrm>
            <a:off x="2788920" y="3936492"/>
            <a:ext cx="1426464" cy="745236"/>
          </a:xfrm>
          <a:prstGeom prst="roundRect">
            <a:avLst>
              <a:gd name="adj" fmla="val 9816"/>
            </a:avLst>
          </a:prstGeom>
          <a:solidFill>
            <a:srgbClr val="FFFFFF"/>
          </a:solidFill>
          <a:ln w="19050">
            <a:solidFill>
              <a:srgbClr val="111111"/>
            </a:solidFill>
            <a:prstDash val="solid"/>
          </a:ln>
        </p:spPr>
      </p:sp>
      <p:pic>
        <p:nvPicPr>
          <p:cNvPr id="61" name="ti_106" descr="track">    </p:cNvPr>
          <p:cNvPicPr>
            <a:picLocks noChangeAspect="1"/>
          </p:cNvPicPr>
          <p:nvPr/>
        </p:nvPicPr>
        <p:blipFill>
          <a:blip r:embed="rId15"/>
          <a:stretch>
            <a:fillRect/>
          </a:stretch>
        </p:blipFill>
        <p:spPr>
          <a:xfrm>
            <a:off x="3353105" y="3991356"/>
            <a:ext cx="298094" cy="298094"/>
          </a:xfrm>
          <a:prstGeom prst="rect">
            <a:avLst/>
          </a:prstGeom>
        </p:spPr>
      </p:pic>
      <p:sp>
        <p:nvSpPr>
          <p:cNvPr id="62" name="tw_107"/>
          <p:cNvSpPr txBox="1"/>
          <p:nvPr/>
        </p:nvSpPr>
        <p:spPr>
          <a:xfrm>
            <a:off x="2825496"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track</a:t>
            </a:r>
            <a:endParaRPr lang="en-US" sz="1250" dirty="0"/>
          </a:p>
        </p:txBody>
      </p:sp>
      <p:sp>
        <p:nvSpPr>
          <p:cNvPr id="63" name="R1_it12"/>
          <p:cNvSpPr txBox="1"/>
          <p:nvPr/>
        </p:nvSpPr>
        <p:spPr>
          <a:xfrm>
            <a:off x="2825496"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pista (atletica)</a:t>
            </a:r>
            <a:endParaRPr lang="en-US" sz="1050" dirty="0"/>
          </a:p>
        </p:txBody>
      </p:sp>
      <p:sp>
        <p:nvSpPr>
          <p:cNvPr id="64" name="tile_108"/>
          <p:cNvSpPr/>
          <p:nvPr/>
        </p:nvSpPr>
        <p:spPr>
          <a:xfrm>
            <a:off x="4325112" y="3936492"/>
            <a:ext cx="1426464" cy="745236"/>
          </a:xfrm>
          <a:prstGeom prst="roundRect">
            <a:avLst>
              <a:gd name="adj" fmla="val 9816"/>
            </a:avLst>
          </a:prstGeom>
          <a:solidFill>
            <a:srgbClr val="FFFFFF"/>
          </a:solidFill>
          <a:ln w="19050">
            <a:solidFill>
              <a:srgbClr val="111111"/>
            </a:solidFill>
            <a:prstDash val="solid"/>
          </a:ln>
        </p:spPr>
      </p:sp>
      <p:pic>
        <p:nvPicPr>
          <p:cNvPr id="65" name="ti_109" descr="circuit /ˈsɜːkɪt/">    </p:cNvPr>
          <p:cNvPicPr>
            <a:picLocks noChangeAspect="1"/>
          </p:cNvPicPr>
          <p:nvPr/>
        </p:nvPicPr>
        <p:blipFill>
          <a:blip r:embed="rId16"/>
          <a:stretch>
            <a:fillRect/>
          </a:stretch>
        </p:blipFill>
        <p:spPr>
          <a:xfrm>
            <a:off x="4889297" y="3991356"/>
            <a:ext cx="298094" cy="298094"/>
          </a:xfrm>
          <a:prstGeom prst="rect">
            <a:avLst/>
          </a:prstGeom>
        </p:spPr>
      </p:pic>
      <p:sp>
        <p:nvSpPr>
          <p:cNvPr id="66" name="tw_110"/>
          <p:cNvSpPr txBox="1"/>
          <p:nvPr/>
        </p:nvSpPr>
        <p:spPr>
          <a:xfrm>
            <a:off x="4361688"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circuit /ˈsɜːkɪt/</a:t>
            </a:r>
            <a:endParaRPr lang="en-US" sz="1250" dirty="0"/>
          </a:p>
        </p:txBody>
      </p:sp>
      <p:sp>
        <p:nvSpPr>
          <p:cNvPr id="67" name="R1_it13"/>
          <p:cNvSpPr txBox="1"/>
          <p:nvPr/>
        </p:nvSpPr>
        <p:spPr>
          <a:xfrm>
            <a:off x="4361688"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circuito</a:t>
            </a:r>
            <a:endParaRPr lang="en-US" sz="1050" dirty="0"/>
          </a:p>
        </p:txBody>
      </p:sp>
      <p:sp>
        <p:nvSpPr>
          <p:cNvPr id="68" name="tile_111"/>
          <p:cNvSpPr/>
          <p:nvPr/>
        </p:nvSpPr>
        <p:spPr>
          <a:xfrm>
            <a:off x="5861304" y="3936492"/>
            <a:ext cx="1426464" cy="745236"/>
          </a:xfrm>
          <a:prstGeom prst="roundRect">
            <a:avLst>
              <a:gd name="adj" fmla="val 9816"/>
            </a:avLst>
          </a:prstGeom>
          <a:solidFill>
            <a:srgbClr val="FFFFFF"/>
          </a:solidFill>
          <a:ln w="19050">
            <a:solidFill>
              <a:srgbClr val="111111"/>
            </a:solidFill>
            <a:prstDash val="solid"/>
          </a:ln>
        </p:spPr>
      </p:sp>
      <p:pic>
        <p:nvPicPr>
          <p:cNvPr id="69" name="ti_112" descr="course">    </p:cNvPr>
          <p:cNvPicPr>
            <a:picLocks noChangeAspect="1"/>
          </p:cNvPicPr>
          <p:nvPr/>
        </p:nvPicPr>
        <p:blipFill>
          <a:blip r:embed="rId17"/>
          <a:stretch>
            <a:fillRect/>
          </a:stretch>
        </p:blipFill>
        <p:spPr>
          <a:xfrm>
            <a:off x="6425489" y="3991356"/>
            <a:ext cx="298094" cy="298094"/>
          </a:xfrm>
          <a:prstGeom prst="rect">
            <a:avLst/>
          </a:prstGeom>
        </p:spPr>
      </p:pic>
      <p:sp>
        <p:nvSpPr>
          <p:cNvPr id="70" name="tw_113"/>
          <p:cNvSpPr txBox="1"/>
          <p:nvPr/>
        </p:nvSpPr>
        <p:spPr>
          <a:xfrm>
            <a:off x="5897880"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course</a:t>
            </a:r>
            <a:endParaRPr lang="en-US" sz="1250" dirty="0"/>
          </a:p>
        </p:txBody>
      </p:sp>
      <p:sp>
        <p:nvSpPr>
          <p:cNvPr id="71" name="R1_it14"/>
          <p:cNvSpPr txBox="1"/>
          <p:nvPr/>
        </p:nvSpPr>
        <p:spPr>
          <a:xfrm>
            <a:off x="5897880"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campo (golf)</a:t>
            </a:r>
            <a:endParaRPr lang="en-US" sz="1050" dirty="0"/>
          </a:p>
        </p:txBody>
      </p:sp>
      <p:sp>
        <p:nvSpPr>
          <p:cNvPr id="72" name="tile_114"/>
          <p:cNvSpPr/>
          <p:nvPr/>
        </p:nvSpPr>
        <p:spPr>
          <a:xfrm>
            <a:off x="7397496" y="3936492"/>
            <a:ext cx="1426464" cy="745236"/>
          </a:xfrm>
          <a:prstGeom prst="roundRect">
            <a:avLst>
              <a:gd name="adj" fmla="val 9816"/>
            </a:avLst>
          </a:prstGeom>
          <a:solidFill>
            <a:srgbClr val="FFFFFF"/>
          </a:solidFill>
          <a:ln w="19050">
            <a:solidFill>
              <a:srgbClr val="111111"/>
            </a:solidFill>
            <a:prstDash val="solid"/>
          </a:ln>
        </p:spPr>
      </p:sp>
      <p:pic>
        <p:nvPicPr>
          <p:cNvPr id="73" name="ti_115" descr="slope">    </p:cNvPr>
          <p:cNvPicPr>
            <a:picLocks noChangeAspect="1"/>
          </p:cNvPicPr>
          <p:nvPr/>
        </p:nvPicPr>
        <p:blipFill>
          <a:blip r:embed="rId18"/>
          <a:stretch>
            <a:fillRect/>
          </a:stretch>
        </p:blipFill>
        <p:spPr>
          <a:xfrm>
            <a:off x="7961681" y="3991356"/>
            <a:ext cx="298094" cy="298094"/>
          </a:xfrm>
          <a:prstGeom prst="rect">
            <a:avLst/>
          </a:prstGeom>
        </p:spPr>
      </p:pic>
      <p:sp>
        <p:nvSpPr>
          <p:cNvPr id="74" name="tw_116"/>
          <p:cNvSpPr txBox="1"/>
          <p:nvPr/>
        </p:nvSpPr>
        <p:spPr>
          <a:xfrm>
            <a:off x="7434072"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slope</a:t>
            </a:r>
            <a:endParaRPr lang="en-US" sz="1250" dirty="0"/>
          </a:p>
        </p:txBody>
      </p:sp>
      <p:sp>
        <p:nvSpPr>
          <p:cNvPr id="75" name="R1_it15"/>
          <p:cNvSpPr txBox="1"/>
          <p:nvPr/>
        </p:nvSpPr>
        <p:spPr>
          <a:xfrm>
            <a:off x="7434072"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pista (sci)</a:t>
            </a:r>
            <a:endParaRPr lang="en-US" sz="1050" dirty="0"/>
          </a:p>
        </p:txBody>
      </p:sp>
      <p:sp>
        <p:nvSpPr>
          <p:cNvPr id="76" name="pageTag_11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Sport p.157 · 1 People and places · audio 5.2, 5.3</a:t>
            </a:r>
            <a:endParaRPr lang="en-US" sz="1050" dirty="0"/>
          </a:p>
        </p:txBody>
      </p:sp>
      <p:pic>
        <p:nvPicPr>
          <p:cNvPr id="77" name="Media 0">
            <a:hlinkClick r:id="" action="ppaction://media"/>
          </p:cNvPr>
          <p:cNvPicPr>
            <a:picLocks noChangeAspect="1"/>
          </p:cNvPicPr>
          <p:nvPr>
            <a:audioFile r:link="rId19"/>
            <p:extLst>
              <p:ext uri="{DAA4B4D4-6D71-4841-9C94-3DE7FCFB9230}">
                <p14:media xmlns:p14="http://schemas.microsoft.com/office/powerpoint/2010/main" r:embed="rId20"/>
              </p:ext>
            </p:extLst>
          </p:nvPr>
        </p:nvPicPr>
        <p:blipFill>
          <a:blip r:embed="rId21"/>
          <a:stretch>
            <a:fillRect/>
          </a:stretch>
        </p:blipFill>
        <p:spPr>
          <a:xfrm>
            <a:off x="5166360" y="155448"/>
            <a:ext cx="384048" cy="384048"/>
          </a:xfrm>
          <a:prstGeom prst="rect">
            <a:avLst/>
          </a:prstGeom>
        </p:spPr>
      </p:pic>
      <p:sp>
        <p:nvSpPr>
          <p:cNvPr id="78" name="atr_118"/>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a:t>
            </a:r>
            <a:endParaRPr lang="en-US" sz="800" dirty="0"/>
          </a:p>
        </p:txBody>
      </p:sp>
      <p:pic>
        <p:nvPicPr>
          <p:cNvPr id="79" name="Media 1">
            <a:hlinkClick r:id="" action="ppaction://media"/>
          </p:cNvPr>
          <p:cNvPicPr>
            <a:picLocks noChangeAspect="1"/>
          </p:cNvPicPr>
          <p:nvPr>
            <a:audioFile r:link="rId22"/>
            <p:extLst>
              <p:ext uri="{DAA4B4D4-6D71-4841-9C94-3DE7FCFB9230}">
                <p14:media xmlns:p14="http://schemas.microsoft.com/office/powerpoint/2010/main" r:embed="rId23"/>
              </p:ext>
            </p:extLst>
          </p:nvPr>
        </p:nvPicPr>
        <p:blipFill>
          <a:blip r:embed="rId24"/>
          <a:stretch>
            <a:fillRect/>
          </a:stretch>
        </p:blipFill>
        <p:spPr>
          <a:xfrm>
            <a:off x="5641848" y="155448"/>
            <a:ext cx="384048" cy="384048"/>
          </a:xfrm>
          <a:prstGeom prst="rect">
            <a:avLst/>
          </a:prstGeom>
        </p:spPr>
      </p:pic>
      <p:sp>
        <p:nvSpPr>
          <p:cNvPr id="80" name="atr_119"/>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5.3</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400"/>
                                        <p:tgtEl>
                                          <p:spTgt spid="27"/>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400"/>
                                        <p:tgtEl>
                                          <p:spTgt spid="35"/>
                                        </p:tgtEl>
                                      </p:cBhvr>
                                    </p:animEffect>
                                  </p:childTnLst>
                                </p:cTn>
                              </p:par>
                              <p:par>
                                <p:cTn id="23" presetID="10"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400"/>
                                        <p:tgtEl>
                                          <p:spTgt spid="39"/>
                                        </p:tgtEl>
                                      </p:cBhvr>
                                    </p:animEffect>
                                  </p:childTnLst>
                                </p:cTn>
                              </p:par>
                              <p:par>
                                <p:cTn id="26" presetID="10" presetClass="entr" presetSubtype="0"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400"/>
                                        <p:tgtEl>
                                          <p:spTgt spid="43"/>
                                        </p:tgtEl>
                                      </p:cBhvr>
                                    </p:animEffect>
                                  </p:childTnLst>
                                </p:cTn>
                              </p:par>
                              <p:par>
                                <p:cTn id="29" presetID="10" presetClass="entr" presetSubtype="0"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400"/>
                                        <p:tgtEl>
                                          <p:spTgt spid="47"/>
                                        </p:tgtEl>
                                      </p:cBhvr>
                                    </p:animEffect>
                                  </p:childTnLst>
                                </p:cTn>
                              </p:par>
                              <p:par>
                                <p:cTn id="32" presetID="10" presetClass="entr" presetSubtype="0" fill="hold"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400"/>
                                        <p:tgtEl>
                                          <p:spTgt spid="51"/>
                                        </p:tgtEl>
                                      </p:cBhvr>
                                    </p:animEffect>
                                  </p:childTnLst>
                                </p:cTn>
                              </p:par>
                              <p:par>
                                <p:cTn id="35" presetID="10"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400"/>
                                        <p:tgtEl>
                                          <p:spTgt spid="55"/>
                                        </p:tgtEl>
                                      </p:cBhvr>
                                    </p:animEffect>
                                  </p:childTnLst>
                                </p:cTn>
                              </p:par>
                              <p:par>
                                <p:cTn id="38" presetID="10" presetClass="entr" presetSubtype="0" fill="hold"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fade">
                                      <p:cBhvr>
                                        <p:cTn id="40" dur="400"/>
                                        <p:tgtEl>
                                          <p:spTgt spid="59"/>
                                        </p:tgtEl>
                                      </p:cBhvr>
                                    </p:animEffect>
                                  </p:childTnLst>
                                </p:cTn>
                              </p:par>
                              <p:par>
                                <p:cTn id="41" presetID="10" presetClass="entr" presetSubtype="0" fill="hold" nodeType="with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400"/>
                                        <p:tgtEl>
                                          <p:spTgt spid="63"/>
                                        </p:tgtEl>
                                      </p:cBhvr>
                                    </p:animEffect>
                                  </p:childTnLst>
                                </p:cTn>
                              </p:par>
                              <p:par>
                                <p:cTn id="44" presetID="10" presetClass="entr" presetSubtype="0" fill="hold" nodeType="withEffect">
                                  <p:stCondLst>
                                    <p:cond delay="0"/>
                                  </p:stCondLst>
                                  <p:childTnLst>
                                    <p:set>
                                      <p:cBhvr>
                                        <p:cTn id="45" dur="1" fill="hold">
                                          <p:stCondLst>
                                            <p:cond delay="0"/>
                                          </p:stCondLst>
                                        </p:cTn>
                                        <p:tgtEl>
                                          <p:spTgt spid="67"/>
                                        </p:tgtEl>
                                        <p:attrNameLst>
                                          <p:attrName>style.visibility</p:attrName>
                                        </p:attrNameLst>
                                      </p:cBhvr>
                                      <p:to>
                                        <p:strVal val="visible"/>
                                      </p:to>
                                    </p:set>
                                    <p:animEffect transition="in" filter="fade">
                                      <p:cBhvr>
                                        <p:cTn id="46" dur="400"/>
                                        <p:tgtEl>
                                          <p:spTgt spid="67"/>
                                        </p:tgtEl>
                                      </p:cBhvr>
                                    </p:animEffect>
                                  </p:childTnLst>
                                </p:cTn>
                              </p:par>
                              <p:par>
                                <p:cTn id="47" presetID="10" presetClass="entr" presetSubtype="0" fill="hold" nodeType="with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fade">
                                      <p:cBhvr>
                                        <p:cTn id="49" dur="400"/>
                                        <p:tgtEl>
                                          <p:spTgt spid="71"/>
                                        </p:tgtEl>
                                      </p:cBhvr>
                                    </p:animEffect>
                                  </p:childTnLst>
                                </p:cTn>
                              </p:par>
                              <p:par>
                                <p:cTn id="50" presetID="10" presetClass="entr" presetSubtype="0" fill="hold" nodeType="with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fade">
                                      <p:cBhvr>
                                        <p:cTn id="52"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3" restart="whenNotActive" fill="hold" evtFilter="cancelBubble" nodeType="interactiveSeq">
                <p:stCondLst>
                  <p:cond evt="onClick" delay="0">
                    <p:tgtEl>
                      <p:spTgt spid="77"/>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77"/>
                                        </p:tgtEl>
                                      </p:cBhvr>
                                    </p:cmd>
                                  </p:childTnLst>
                                </p:cTn>
                              </p:par>
                            </p:childTnLst>
                          </p:cTn>
                        </p:par>
                      </p:childTnLst>
                    </p:cTn>
                  </p:par>
                </p:childTnLst>
              </p:cTn>
              <p:nextCondLst>
                <p:cond evt="onClick" delay="0">
                  <p:tgtEl>
                    <p:spTgt spid="77"/>
                  </p:tgtEl>
                </p:cond>
              </p:nextCondLst>
            </p:seq>
            <p:seq concurrent="1" nextAc="seek">
              <p:cTn id="58" restart="whenNotActive" fill="hold" evtFilter="cancelBubble" nodeType="interactiveSeq">
                <p:stCondLst>
                  <p:cond evt="onClick" delay="0">
                    <p:tgtEl>
                      <p:spTgt spid="79"/>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79"/>
                                        </p:tgtEl>
                                      </p:cBhvr>
                                    </p:cmd>
                                  </p:childTnLst>
                                </p:cTn>
                              </p:par>
                            </p:childTnLst>
                          </p:cTn>
                        </p:par>
                      </p:childTnLst>
                    </p:cTn>
                  </p:par>
                </p:childTnLst>
              </p:cTn>
              <p:nextCondLst>
                <p:cond evt="onClick" delay="0">
                  <p:tgtEl>
                    <p:spTgt spid="79"/>
                  </p:tgtEl>
                </p:cond>
              </p:nextCondLst>
            </p:seq>
            <p:audio>
              <p:cMediaNode vol="80000">
                <p:cTn id="63" fill="hold" display="0">
                  <p:stCondLst>
                    <p:cond delay="indefinite"/>
                  </p:stCondLst>
                  <p:endCondLst>
                    <p:cond evt="onStopAudio" delay="0">
                      <p:tgtEl>
                        <p:sldTgt/>
                      </p:tgtEl>
                    </p:cond>
                  </p:endCondLst>
                </p:cTn>
                <p:tgtEl>
                  <p:spTgt spid="77"/>
                </p:tgtEl>
              </p:cMediaNode>
            </p:audio>
            <p:audio>
              <p:cMediaNode vol="80000">
                <p:cTn id="64" fill="hold" display="0">
                  <p:stCondLst>
                    <p:cond delay="indefinite"/>
                  </p:stCondLst>
                  <p:endCondLst>
                    <p:cond evt="onStopAudio" delay="0">
                      <p:tgtEl>
                        <p:sldTgt/>
                      </p:tgtEl>
                    </p:cond>
                  </p:endCondLst>
                </p:cTn>
                <p:tgtEl>
                  <p:spTgt spid="7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0"/>
          <p:cNvSpPr/>
          <p:nvPr/>
        </p:nvSpPr>
        <p:spPr>
          <a:xfrm>
            <a:off x="54864" y="54864"/>
            <a:ext cx="9034272" cy="5033772"/>
          </a:xfrm>
          <a:prstGeom prst="rect">
            <a:avLst/>
          </a:prstGeom>
          <a:ln w="114300">
            <a:solidFill>
              <a:srgbClr val="A8E6B4"/>
            </a:solidFill>
            <a:prstDash val="solid"/>
          </a:ln>
        </p:spPr>
      </p:sp>
      <p:pic>
        <p:nvPicPr>
          <p:cNvPr id="4" name="logo_12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Sport verbs · audio 5.4–5.6</a:t>
            </a:r>
            <a:endParaRPr lang="en-US" sz="900" dirty="0"/>
          </a:p>
        </p:txBody>
      </p:sp>
      <p:sp>
        <p:nvSpPr>
          <p:cNvPr id="6" name="timer_12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2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125"/>
          <p:cNvSpPr txBox="1"/>
          <p:nvPr/>
        </p:nvSpPr>
        <p:spPr>
          <a:xfrm rot="-120000">
            <a:off x="320040" y="676656"/>
            <a:ext cx="258775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Win or beat?</a:t>
            </a:r>
            <a:endParaRPr lang="en-US" sz="1500" dirty="0"/>
          </a:p>
        </p:txBody>
      </p:sp>
      <p:sp>
        <p:nvSpPr>
          <p:cNvPr id="9" name="post_12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2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Complete the sentence. Careful with win / beat!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Completa la frase. Attenzione a win / beat!</a:t>
            </a:r>
            <a:endParaRPr lang="en-US" sz="1250" dirty="0"/>
          </a:p>
        </p:txBody>
      </p:sp>
      <p:sp>
        <p:nvSpPr>
          <p:cNvPr id="12" name="box_129"/>
          <p:cNvSpPr txBox="1"/>
          <p:nvPr/>
        </p:nvSpPr>
        <p:spPr>
          <a:xfrm>
            <a:off x="2788920" y="1371600"/>
            <a:ext cx="2008388"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Milan ___ Chelsea 3–0.</a:t>
            </a:r>
            <a:endParaRPr lang="en-US" sz="1100" dirty="0"/>
          </a:p>
        </p:txBody>
      </p:sp>
      <p:sp>
        <p:nvSpPr>
          <p:cNvPr id="13" name="R1_a0"/>
          <p:cNvSpPr txBox="1"/>
          <p:nvPr/>
        </p:nvSpPr>
        <p:spPr>
          <a:xfrm>
            <a:off x="4852172" y="1408176"/>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beat</a:t>
            </a:r>
            <a:endParaRPr lang="en-US" sz="1150" dirty="0"/>
          </a:p>
        </p:txBody>
      </p:sp>
      <p:sp>
        <p:nvSpPr>
          <p:cNvPr id="14" name="box_130"/>
          <p:cNvSpPr txBox="1"/>
          <p:nvPr/>
        </p:nvSpPr>
        <p:spPr>
          <a:xfrm>
            <a:off x="5870448" y="1371600"/>
            <a:ext cx="2008388"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Milan ___ the match 3–0.</a:t>
            </a:r>
            <a:endParaRPr lang="en-US" sz="1100" dirty="0"/>
          </a:p>
        </p:txBody>
      </p:sp>
      <p:sp>
        <p:nvSpPr>
          <p:cNvPr id="15" name="R1_a1"/>
          <p:cNvSpPr txBox="1"/>
          <p:nvPr/>
        </p:nvSpPr>
        <p:spPr>
          <a:xfrm>
            <a:off x="7933700" y="1408176"/>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won</a:t>
            </a:r>
            <a:endParaRPr lang="en-US" sz="1150" dirty="0"/>
          </a:p>
        </p:txBody>
      </p:sp>
      <p:sp>
        <p:nvSpPr>
          <p:cNvPr id="16" name="box_131"/>
          <p:cNvSpPr txBox="1"/>
          <p:nvPr/>
        </p:nvSpPr>
        <p:spPr>
          <a:xfrm>
            <a:off x="2788920" y="2226564"/>
            <a:ext cx="2008388"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Spain ___ with Brazil 2–2.</a:t>
            </a:r>
            <a:endParaRPr lang="en-US" sz="1100" dirty="0"/>
          </a:p>
        </p:txBody>
      </p:sp>
      <p:sp>
        <p:nvSpPr>
          <p:cNvPr id="17" name="R1_a2"/>
          <p:cNvSpPr txBox="1"/>
          <p:nvPr/>
        </p:nvSpPr>
        <p:spPr>
          <a:xfrm>
            <a:off x="4852172" y="2263140"/>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drew</a:t>
            </a:r>
            <a:endParaRPr lang="en-US" sz="1150" dirty="0"/>
          </a:p>
        </p:txBody>
      </p:sp>
      <p:sp>
        <p:nvSpPr>
          <p:cNvPr id="18" name="box_132"/>
          <p:cNvSpPr txBox="1"/>
          <p:nvPr/>
        </p:nvSpPr>
        <p:spPr>
          <a:xfrm>
            <a:off x="5870448" y="2226564"/>
            <a:ext cx="2008388"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The Bulls ___ 78–91 to the Celtics.</a:t>
            </a:r>
            <a:endParaRPr lang="en-US" sz="1100" dirty="0"/>
          </a:p>
        </p:txBody>
      </p:sp>
      <p:sp>
        <p:nvSpPr>
          <p:cNvPr id="19" name="R1_a3"/>
          <p:cNvSpPr txBox="1"/>
          <p:nvPr/>
        </p:nvSpPr>
        <p:spPr>
          <a:xfrm>
            <a:off x="7933700" y="2263140"/>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lost</a:t>
            </a:r>
            <a:endParaRPr lang="en-US" sz="1150" dirty="0"/>
          </a:p>
        </p:txBody>
      </p:sp>
      <p:sp>
        <p:nvSpPr>
          <p:cNvPr id="20" name="box_133"/>
          <p:cNvSpPr txBox="1"/>
          <p:nvPr/>
        </p:nvSpPr>
        <p:spPr>
          <a:xfrm>
            <a:off x="2788920" y="3081528"/>
            <a:ext cx="2008388"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Professional sportspeople have to ___ every day.</a:t>
            </a:r>
            <a:endParaRPr lang="en-US" sz="1100" dirty="0"/>
          </a:p>
        </p:txBody>
      </p:sp>
      <p:sp>
        <p:nvSpPr>
          <p:cNvPr id="21" name="R1_a4"/>
          <p:cNvSpPr txBox="1"/>
          <p:nvPr/>
        </p:nvSpPr>
        <p:spPr>
          <a:xfrm>
            <a:off x="4852172" y="3118104"/>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train</a:t>
            </a:r>
            <a:endParaRPr lang="en-US" sz="1150" dirty="0"/>
          </a:p>
        </p:txBody>
      </p:sp>
      <p:sp>
        <p:nvSpPr>
          <p:cNvPr id="22" name="box_134"/>
          <p:cNvSpPr txBox="1"/>
          <p:nvPr/>
        </p:nvSpPr>
        <p:spPr>
          <a:xfrm>
            <a:off x="5870448" y="3081528"/>
            <a:ext cx="2008388"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Don't play on a wet court. You might ___ .</a:t>
            </a:r>
            <a:endParaRPr lang="en-US" sz="1100" dirty="0"/>
          </a:p>
        </p:txBody>
      </p:sp>
      <p:sp>
        <p:nvSpPr>
          <p:cNvPr id="23" name="R1_a5"/>
          <p:cNvSpPr txBox="1"/>
          <p:nvPr/>
        </p:nvSpPr>
        <p:spPr>
          <a:xfrm>
            <a:off x="7933700" y="3118104"/>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get injured</a:t>
            </a:r>
            <a:endParaRPr lang="en-US" sz="1150" dirty="0"/>
          </a:p>
        </p:txBody>
      </p:sp>
      <p:sp>
        <p:nvSpPr>
          <p:cNvPr id="24" name="box_135"/>
          <p:cNvSpPr txBox="1"/>
          <p:nvPr/>
        </p:nvSpPr>
        <p:spPr>
          <a:xfrm>
            <a:off x="2788920" y="3936492"/>
            <a:ext cx="2008388"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7  Our new striker is going to ___ a lot of goals.</a:t>
            </a:r>
            <a:endParaRPr lang="en-US" sz="1100" dirty="0"/>
          </a:p>
        </p:txBody>
      </p:sp>
      <p:sp>
        <p:nvSpPr>
          <p:cNvPr id="25" name="R1_a6"/>
          <p:cNvSpPr txBox="1"/>
          <p:nvPr/>
        </p:nvSpPr>
        <p:spPr>
          <a:xfrm>
            <a:off x="4852172" y="3973068"/>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score</a:t>
            </a:r>
            <a:endParaRPr lang="en-US" sz="1150" dirty="0"/>
          </a:p>
        </p:txBody>
      </p:sp>
      <p:sp>
        <p:nvSpPr>
          <p:cNvPr id="26" name="box_136"/>
          <p:cNvSpPr txBox="1"/>
          <p:nvPr/>
        </p:nvSpPr>
        <p:spPr>
          <a:xfrm>
            <a:off x="5870448" y="3936492"/>
            <a:ext cx="2008388"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8  He kicked another player and was sent ___ .</a:t>
            </a:r>
            <a:endParaRPr lang="en-US" sz="1100" dirty="0"/>
          </a:p>
        </p:txBody>
      </p:sp>
      <p:sp>
        <p:nvSpPr>
          <p:cNvPr id="27" name="R1_a7"/>
          <p:cNvSpPr txBox="1"/>
          <p:nvPr/>
        </p:nvSpPr>
        <p:spPr>
          <a:xfrm>
            <a:off x="7933700" y="3973068"/>
            <a:ext cx="890260"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off</a:t>
            </a:r>
            <a:endParaRPr lang="en-US" sz="1150" dirty="0"/>
          </a:p>
        </p:txBody>
      </p:sp>
      <p:sp>
        <p:nvSpPr>
          <p:cNvPr id="28" name="sticky_137"/>
          <p:cNvSpPr txBox="1"/>
          <p:nvPr/>
        </p:nvSpPr>
        <p:spPr>
          <a:xfrm rot="-120000">
            <a:off x="411480" y="3749040"/>
            <a:ext cx="2194560" cy="91440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win a match / a cup · beat a team / a person · 3–0 = three–nil · 15–0 = fifteen–love</a:t>
            </a:r>
            <a:endParaRPr lang="en-US" sz="1150" dirty="0"/>
          </a:p>
        </p:txBody>
      </p:sp>
      <p:sp>
        <p:nvSpPr>
          <p:cNvPr id="29" name="pageTag_13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Sport p.157 · 2 Verbs, 3 Phrasal verbs · audio 5.4, 5.5, 5.6</a:t>
            </a:r>
            <a:endParaRPr lang="en-US" sz="1050" dirty="0"/>
          </a:p>
        </p:txBody>
      </p:sp>
      <p:pic>
        <p:nvPicPr>
          <p:cNvPr id="30"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31" name="atr_139"/>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5.4</a:t>
            </a:r>
            <a:endParaRPr lang="en-US" sz="800" dirty="0"/>
          </a:p>
        </p:txBody>
      </p:sp>
      <p:pic>
        <p:nvPicPr>
          <p:cNvPr id="32" name="Media 1">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33" name="atr_140"/>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5.5</a:t>
            </a:r>
            <a:endParaRPr lang="en-US" sz="800" dirty="0"/>
          </a:p>
        </p:txBody>
      </p:sp>
      <p:pic>
        <p:nvPicPr>
          <p:cNvPr id="34" name="Media 2">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6117336" y="155448"/>
            <a:ext cx="384048" cy="384048"/>
          </a:xfrm>
          <a:prstGeom prst="rect">
            <a:avLst/>
          </a:prstGeom>
        </p:spPr>
      </p:pic>
      <p:sp>
        <p:nvSpPr>
          <p:cNvPr id="35" name="atr_141"/>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5.6</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9" restart="whenNotActive" fill="hold" evtFilter="cancelBubble" nodeType="interactiveSeq">
                <p:stCondLst>
                  <p:cond evt="onClick" delay="0">
                    <p:tgtEl>
                      <p:spTgt spid="30"/>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30"/>
                                        </p:tgtEl>
                                      </p:cBhvr>
                                    </p:cmd>
                                  </p:childTnLst>
                                </p:cTn>
                              </p:par>
                            </p:childTnLst>
                          </p:cTn>
                        </p:par>
                      </p:childTnLst>
                    </p:cTn>
                  </p:par>
                </p:childTnLst>
              </p:cTn>
              <p:nextCondLst>
                <p:cond evt="onClick" delay="0">
                  <p:tgtEl>
                    <p:spTgt spid="30"/>
                  </p:tgtEl>
                </p:cond>
              </p:nextCondLst>
            </p:seq>
            <p:seq concurrent="1" nextAc="seek">
              <p:cTn id="34" restart="whenNotActive" fill="hold" evtFilter="cancelBubble" nodeType="interactiveSeq">
                <p:stCondLst>
                  <p:cond evt="onClick" delay="0">
                    <p:tgtEl>
                      <p:spTgt spid="32"/>
                    </p:tgtEl>
                  </p:cond>
                </p:stCondLst>
                <p:endSync evt="end" delay="0">
                  <p:rtn val="all"/>
                </p:endSync>
                <p:childTnLst>
                  <p:par>
                    <p:cTn id="35" fill="hold">
                      <p:stCondLst>
                        <p:cond delay="0"/>
                      </p:stCondLst>
                      <p:childTnLst>
                        <p:par>
                          <p:cTn id="36" fill="hold">
                            <p:stCondLst>
                              <p:cond delay="0"/>
                            </p:stCondLst>
                            <p:childTnLst>
                              <p:par>
                                <p:cTn id="37" presetID="2" presetClass="mediacall" presetSubtype="0" fill="hold" nodeType="clickEffect">
                                  <p:stCondLst>
                                    <p:cond delay="0"/>
                                  </p:stCondLst>
                                  <p:childTnLst>
                                    <p:cmd type="call" cmd="togglePause">
                                      <p:cBhvr>
                                        <p:cTn id="38" dur="1" fill="hold"/>
                                        <p:tgtEl>
                                          <p:spTgt spid="32"/>
                                        </p:tgtEl>
                                      </p:cBhvr>
                                    </p:cmd>
                                  </p:childTnLst>
                                </p:cTn>
                              </p:par>
                            </p:childTnLst>
                          </p:cTn>
                        </p:par>
                      </p:childTnLst>
                    </p:cTn>
                  </p:par>
                </p:childTnLst>
              </p:cTn>
              <p:nextCondLst>
                <p:cond evt="onClick" delay="0">
                  <p:tgtEl>
                    <p:spTgt spid="32"/>
                  </p:tgtEl>
                </p:cond>
              </p:nextCondLst>
            </p:seq>
            <p:seq concurrent="1" nextAc="seek">
              <p:cTn id="39" restart="whenNotActive" fill="hold" evtFilter="cancelBubble" nodeType="interactiveSeq">
                <p:stCondLst>
                  <p:cond evt="onClick" delay="0">
                    <p:tgtEl>
                      <p:spTgt spid="34"/>
                    </p:tgtEl>
                  </p:cond>
                </p:stCondLst>
                <p:endSync evt="end" delay="0">
                  <p:rtn val="all"/>
                </p:endSync>
                <p:childTnLst>
                  <p:par>
                    <p:cTn id="40" fill="hold">
                      <p:stCondLst>
                        <p:cond delay="0"/>
                      </p:stCondLst>
                      <p:childTnLst>
                        <p:par>
                          <p:cTn id="41" fill="hold">
                            <p:stCondLst>
                              <p:cond delay="0"/>
                            </p:stCondLst>
                            <p:childTnLst>
                              <p:par>
                                <p:cTn id="42" presetID="2" presetClass="mediacall" presetSubtype="0" fill="hold" nodeType="clickEffect">
                                  <p:stCondLst>
                                    <p:cond delay="0"/>
                                  </p:stCondLst>
                                  <p:childTnLst>
                                    <p:cmd type="call" cmd="togglePause">
                                      <p:cBhvr>
                                        <p:cTn id="43" dur="1" fill="hold"/>
                                        <p:tgtEl>
                                          <p:spTgt spid="34"/>
                                        </p:tgtEl>
                                      </p:cBhvr>
                                    </p:cmd>
                                  </p:childTnLst>
                                </p:cTn>
                              </p:par>
                            </p:childTnLst>
                          </p:cTn>
                        </p:par>
                      </p:childTnLst>
                    </p:cTn>
                  </p:par>
                </p:childTnLst>
              </p:cTn>
              <p:nextCondLst>
                <p:cond evt="onClick" delay="0">
                  <p:tgtEl>
                    <p:spTgt spid="34"/>
                  </p:tgtEl>
                </p:cond>
              </p:nextCondLst>
            </p:seq>
            <p:audio>
              <p:cMediaNode vol="80000">
                <p:cTn id="44" fill="hold" display="0">
                  <p:stCondLst>
                    <p:cond delay="indefinite"/>
                  </p:stCondLst>
                  <p:endCondLst>
                    <p:cond evt="onStopAudio" delay="0">
                      <p:tgtEl>
                        <p:sldTgt/>
                      </p:tgtEl>
                    </p:cond>
                  </p:endCondLst>
                </p:cTn>
                <p:tgtEl>
                  <p:spTgt spid="30"/>
                </p:tgtEl>
              </p:cMediaNode>
            </p:audio>
            <p:audio>
              <p:cMediaNode vol="80000">
                <p:cTn id="45" fill="hold" display="0">
                  <p:stCondLst>
                    <p:cond delay="indefinite"/>
                  </p:stCondLst>
                  <p:endCondLst>
                    <p:cond evt="onStopAudio" delay="0">
                      <p:tgtEl>
                        <p:sldTgt/>
                      </p:tgtEl>
                    </p:cond>
                  </p:endCondLst>
                </p:cTn>
                <p:tgtEl>
                  <p:spTgt spid="32"/>
                </p:tgtEl>
              </p:cMediaNode>
            </p:audio>
            <p:audio>
              <p:cMediaNode vol="80000">
                <p:cTn id="46" fill="hold" display="0">
                  <p:stCondLst>
                    <p:cond delay="indefinite"/>
                  </p:stCondLst>
                  <p:endCondLst>
                    <p:cond evt="onStopAudio" delay="0">
                      <p:tgtEl>
                        <p:sldTgt/>
                      </p:tgtEl>
                    </p:cond>
                  </p:endCondLst>
                </p:cTn>
                <p:tgtEl>
                  <p:spTgt spid="3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2"/>
          <p:cNvSpPr/>
          <p:nvPr/>
        </p:nvSpPr>
        <p:spPr>
          <a:xfrm>
            <a:off x="54864" y="54864"/>
            <a:ext cx="9034272" cy="5033772"/>
          </a:xfrm>
          <a:prstGeom prst="rect">
            <a:avLst/>
          </a:prstGeom>
          <a:ln w="114300">
            <a:solidFill>
              <a:srgbClr val="A8E6B4"/>
            </a:solidFill>
            <a:prstDash val="solid"/>
          </a:ln>
        </p:spPr>
      </p:sp>
      <p:pic>
        <p:nvPicPr>
          <p:cNvPr id="4" name="logo_1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/ɔː/ and /ɜː/ · audio 5.7, 5.8</a:t>
            </a:r>
            <a:endParaRPr lang="en-US" sz="900" dirty="0"/>
          </a:p>
        </p:txBody>
      </p:sp>
      <p:sp>
        <p:nvSpPr>
          <p:cNvPr id="6" name="timer_14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147"/>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Horse or bird?</a:t>
            </a:r>
            <a:endParaRPr lang="en-US" sz="1500" dirty="0"/>
          </a:p>
        </p:txBody>
      </p:sp>
      <p:sp>
        <p:nvSpPr>
          <p:cNvPr id="9" name="post_14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49"/>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5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words. Horse or bird? Then listen and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le parole. Horse o bird? Poi ascolta e controlla.</a:t>
            </a:r>
            <a:endParaRPr lang="en-US" sz="1250" dirty="0"/>
          </a:p>
        </p:txBody>
      </p:sp>
      <p:sp>
        <p:nvSpPr>
          <p:cNvPr id="12" name="box_151"/>
          <p:cNvSpPr txBox="1"/>
          <p:nvPr/>
        </p:nvSpPr>
        <p:spPr>
          <a:xfrm>
            <a:off x="2788920" y="1371600"/>
            <a:ext cx="2172614"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horse  /ɔː/</a:t>
            </a:r>
            <a:endParaRPr lang="en-US" sz="1400" dirty="0"/>
          </a:p>
        </p:txBody>
      </p:sp>
      <p:sp>
        <p:nvSpPr>
          <p:cNvPr id="13" name="R1_a0"/>
          <p:cNvSpPr txBox="1"/>
          <p:nvPr/>
        </p:nvSpPr>
        <p:spPr>
          <a:xfrm>
            <a:off x="5016398" y="1408176"/>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ball · caught · course · court · draw · fought · score · sport · warm up</a:t>
            </a:r>
            <a:endParaRPr lang="en-US" sz="1250" dirty="0"/>
          </a:p>
        </p:txBody>
      </p:sp>
      <p:sp>
        <p:nvSpPr>
          <p:cNvPr id="14" name="box_152"/>
          <p:cNvSpPr txBox="1"/>
          <p:nvPr/>
        </p:nvSpPr>
        <p:spPr>
          <a:xfrm>
            <a:off x="2788920" y="2226564"/>
            <a:ext cx="2172614"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bird  /ɜː/</a:t>
            </a:r>
            <a:endParaRPr lang="en-US" sz="1400" dirty="0"/>
          </a:p>
        </p:txBody>
      </p:sp>
      <p:sp>
        <p:nvSpPr>
          <p:cNvPr id="15" name="R2_a1"/>
          <p:cNvSpPr txBox="1"/>
          <p:nvPr/>
        </p:nvSpPr>
        <p:spPr>
          <a:xfrm>
            <a:off x="5016398" y="2263140"/>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circuit · hurt · serve · shirt · work out · world · worse</a:t>
            </a:r>
            <a:endParaRPr lang="en-US" sz="1250" dirty="0"/>
          </a:p>
        </p:txBody>
      </p:sp>
      <p:sp>
        <p:nvSpPr>
          <p:cNvPr id="16" name="box_153"/>
          <p:cNvSpPr txBox="1"/>
          <p:nvPr/>
        </p:nvSpPr>
        <p:spPr>
          <a:xfrm>
            <a:off x="2788920" y="3081528"/>
            <a:ext cx="2172614"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caught = court?</a:t>
            </a:r>
            <a:endParaRPr lang="en-US" sz="1400" dirty="0"/>
          </a:p>
        </p:txBody>
      </p:sp>
      <p:sp>
        <p:nvSpPr>
          <p:cNvPr id="17" name="R3_a2"/>
          <p:cNvSpPr txBox="1"/>
          <p:nvPr/>
        </p:nvSpPr>
        <p:spPr>
          <a:xfrm>
            <a:off x="5016398" y="3118104"/>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Same sound, different spelling.</a:t>
            </a:r>
            <a:endParaRPr lang="en-US" sz="1250" dirty="0"/>
          </a:p>
        </p:txBody>
      </p:sp>
      <p:sp>
        <p:nvSpPr>
          <p:cNvPr id="18" name="box_154"/>
          <p:cNvSpPr txBox="1"/>
          <p:nvPr/>
        </p:nvSpPr>
        <p:spPr>
          <a:xfrm>
            <a:off x="2788920" y="3936492"/>
            <a:ext cx="2172614"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-or after w…</a:t>
            </a:r>
            <a:endParaRPr lang="en-US" sz="1400" dirty="0"/>
          </a:p>
        </p:txBody>
      </p:sp>
      <p:sp>
        <p:nvSpPr>
          <p:cNvPr id="19" name="R4_a3"/>
          <p:cNvSpPr txBox="1"/>
          <p:nvPr/>
        </p:nvSpPr>
        <p:spPr>
          <a:xfrm>
            <a:off x="5016398" y="3973068"/>
            <a:ext cx="3807562"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/ɜː/  work · world · worse</a:t>
            </a:r>
            <a:endParaRPr lang="en-US" sz="1250" dirty="0"/>
          </a:p>
        </p:txBody>
      </p:sp>
      <p:sp>
        <p:nvSpPr>
          <p:cNvPr id="20" name="sticky_155"/>
          <p:cNvSpPr txBox="1"/>
          <p:nvPr/>
        </p:nvSpPr>
        <p:spPr>
          <a:xfrm rot="-120000">
            <a:off x="411480" y="3611880"/>
            <a:ext cx="2194560" cy="105156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ball · caught · circuit · course · court · draw · fought · hurt · score · serve · shirt · sport · warm up · work out · world · worse</a:t>
            </a:r>
            <a:endParaRPr lang="en-US" sz="1150" dirty="0"/>
          </a:p>
        </p:txBody>
      </p:sp>
      <p:sp>
        <p:nvSpPr>
          <p:cNvPr id="21" name="pageTag_15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p.46 · 2a, 2b, 2c · audio 5.7, 5.8</a:t>
            </a:r>
            <a:endParaRPr lang="en-US" sz="1050" dirty="0"/>
          </a:p>
        </p:txBody>
      </p:sp>
      <p:pic>
        <p:nvPicPr>
          <p:cNvPr id="22"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23" name="atr_157"/>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5.7</a:t>
            </a:r>
            <a:endParaRPr lang="en-US" sz="800" dirty="0"/>
          </a:p>
        </p:txBody>
      </p:sp>
      <p:pic>
        <p:nvPicPr>
          <p:cNvPr id="24" name="Media 1">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25" name="atr_158"/>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5.8</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22"/>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22"/>
                                        </p:tgtEl>
                                      </p:cBhvr>
                                    </p:cmd>
                                  </p:childTnLst>
                                </p:cTn>
                              </p:par>
                            </p:childTnLst>
                          </p:cTn>
                        </p:par>
                      </p:childTnLst>
                    </p:cTn>
                  </p:par>
                </p:childTnLst>
              </p:cTn>
              <p:nextCondLst>
                <p:cond evt="onClick" delay="0">
                  <p:tgtEl>
                    <p:spTgt spid="22"/>
                  </p:tgtEl>
                </p:cond>
              </p:nextCondLst>
            </p:seq>
            <p:seq concurrent="1" nextAc="seek">
              <p:cTn id="28" restart="whenNotActive" fill="hold" evtFilter="cancelBubble" nodeType="interactiveSeq">
                <p:stCondLst>
                  <p:cond evt="onClick" delay="0">
                    <p:tgtEl>
                      <p:spTgt spid="24"/>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24"/>
                                        </p:tgtEl>
                                      </p:cBhvr>
                                    </p:cmd>
                                  </p:childTnLst>
                                </p:cTn>
                              </p:par>
                            </p:childTnLst>
                          </p:cTn>
                        </p:par>
                      </p:childTnLst>
                    </p:cTn>
                  </p:par>
                </p:childTnLst>
              </p:cTn>
              <p:nextCondLst>
                <p:cond evt="onClick" delay="0">
                  <p:tgtEl>
                    <p:spTgt spid="24"/>
                  </p:tgtEl>
                </p:cond>
              </p:nextCondLst>
            </p:seq>
            <p:audio>
              <p:cMediaNode vol="80000">
                <p:cTn id="33" fill="hold" display="0">
                  <p:stCondLst>
                    <p:cond delay="indefinite"/>
                  </p:stCondLst>
                  <p:endCondLst>
                    <p:cond evt="onStopAudio" delay="0">
                      <p:tgtEl>
                        <p:sldTgt/>
                      </p:tgtEl>
                    </p:cond>
                  </p:endCondLst>
                </p:cTn>
                <p:tgtEl>
                  <p:spTgt spid="22"/>
                </p:tgtEl>
              </p:cMediaNode>
            </p:audio>
            <p:audio>
              <p:cMediaNode vol="80000">
                <p:cTn id="34" fill="hold" display="0">
                  <p:stCondLst>
                    <p:cond delay="indefinite"/>
                  </p:stCondLst>
                  <p:endCondLst>
                    <p:cond evt="onStopAudio" delay="0">
                      <p:tgtEl>
                        <p:sldTgt/>
                      </p:tgtEl>
                    </p:cond>
                  </p:endCondLst>
                </p:cTn>
                <p:tgtEl>
                  <p:spTgt spid="2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9"/>
          <p:cNvSpPr/>
          <p:nvPr/>
        </p:nvSpPr>
        <p:spPr>
          <a:xfrm>
            <a:off x="54864" y="54864"/>
            <a:ext cx="9034272" cy="5033772"/>
          </a:xfrm>
          <a:prstGeom prst="rect">
            <a:avLst/>
          </a:prstGeom>
          <a:ln w="114300">
            <a:solidFill>
              <a:srgbClr val="A8E6B4"/>
            </a:solidFill>
            <a:prstDash val="solid"/>
          </a:ln>
        </p:spPr>
      </p:sp>
      <p:pic>
        <p:nvPicPr>
          <p:cNvPr id="4" name="logo_16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Do you like sport?</a:t>
            </a:r>
            <a:endParaRPr lang="en-US" sz="900" dirty="0"/>
          </a:p>
        </p:txBody>
      </p:sp>
      <p:sp>
        <p:nvSpPr>
          <p:cNvPr id="6" name="timer_16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164"/>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Choose your route!</a:t>
            </a:r>
            <a:endParaRPr lang="en-US" sz="1500" dirty="0"/>
          </a:p>
        </p:txBody>
      </p:sp>
      <p:sp>
        <p:nvSpPr>
          <p:cNvPr id="9" name="post_16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6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Interview a partner. YES or NO route? Ask for more information.</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Intervista un compagno. Percorso SÌ o NO? Chiedi altri dettagli.</a:t>
            </a:r>
            <a:endParaRPr lang="en-US" sz="1200" dirty="0"/>
          </a:p>
        </p:txBody>
      </p:sp>
      <p:sp>
        <p:nvSpPr>
          <p:cNvPr id="12" name="box_168"/>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YES ✓  What sport(s) do you do? · How often do you do sport? · Have you ever won a cup or a trophy? · Have you ever been injured doing sport?</a:t>
            </a:r>
            <a:endParaRPr lang="en-US" sz="1050" dirty="0"/>
          </a:p>
        </p:txBody>
      </p:sp>
      <p:sp>
        <p:nvSpPr>
          <p:cNvPr id="13" name="box_169"/>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NO ✗  What sports do / did you have to do at school? · Do / Did you enjoy them? · Do you do any kind of exercise? · Do you think you're fit? Would you like to get fitter?</a:t>
            </a:r>
            <a:endParaRPr lang="en-US" sz="1050" dirty="0"/>
          </a:p>
        </p:txBody>
      </p:sp>
      <p:sp>
        <p:nvSpPr>
          <p:cNvPr id="14" name="box_170"/>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YES ✓  Do you prefer doing sport or watching sport? · How many hours do you spend a week watching sport on TV, or following it online? · Do you go to watch a local sports team? · What's the most exciting sports event you have been to?</a:t>
            </a:r>
            <a:endParaRPr lang="en-US" sz="900" dirty="0"/>
          </a:p>
        </p:txBody>
      </p:sp>
      <p:sp>
        <p:nvSpPr>
          <p:cNvPr id="15" name="box_171"/>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NO ✗  Do your family and friends like sport? · Are there any sports you don't mind watching on TV? · What sport(s) do you hate watching on TV? · Have you ever found a sporting event exciting?</a:t>
            </a:r>
            <a:endParaRPr lang="en-US" sz="950" dirty="0"/>
          </a:p>
        </p:txBody>
      </p:sp>
      <p:sp>
        <p:nvSpPr>
          <p:cNvPr id="16" name="box_172"/>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EVERYBODY  Do you think that there are good sports facilities in your town?</a:t>
            </a:r>
            <a:endParaRPr lang="en-US" sz="1050" dirty="0"/>
          </a:p>
        </p:txBody>
      </p:sp>
      <p:sp>
        <p:nvSpPr>
          <p:cNvPr id="17" name="box_173"/>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EVERYBODY  Do you think physical education should be optional or compulsory at school? · Do you think there is too much (or not enough) sport on TV?</a:t>
            </a:r>
            <a:endParaRPr lang="en-US" sz="1050" dirty="0"/>
          </a:p>
        </p:txBody>
      </p:sp>
      <p:sp>
        <p:nvSpPr>
          <p:cNvPr id="18" name="pageTag_17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p.46 · 3</a:t>
            </a:r>
            <a:endParaRPr lang="en-US" sz="1050" dirty="0"/>
          </a:p>
        </p:txBody>
      </p:sp>
      <p:sp>
        <p:nvSpPr>
          <p:cNvPr id="19" name="pframe_175"/>
          <p:cNvSpPr/>
          <p:nvPr/>
        </p:nvSpPr>
        <p:spPr>
          <a:xfrm rot="-120000">
            <a:off x="411480" y="3657600"/>
            <a:ext cx="2194560" cy="768096"/>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0" name="pimg_176" descr="picture">    </p:cNvPr>
          <p:cNvPicPr>
            <a:picLocks noChangeAspect="1"/>
          </p:cNvPicPr>
          <p:nvPr/>
        </p:nvPicPr>
        <p:blipFill>
          <a:blip r:embed="rId3"/>
          <a:srcRect l="0" r="0" t="0" b="0"/>
          <a:stretch/>
        </p:blipFill>
        <p:spPr>
          <a:xfrm rot="-120000">
            <a:off x="484632" y="3730752"/>
            <a:ext cx="2048256" cy="548640"/>
          </a:xfrm>
          <a:prstGeom prst="rect">
            <a:avLst/>
          </a:prstGeom>
        </p:spPr>
      </p:pic>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7"/>
          <p:cNvSpPr/>
          <p:nvPr/>
        </p:nvSpPr>
        <p:spPr>
          <a:xfrm>
            <a:off x="54864" y="54864"/>
            <a:ext cx="9034272" cy="5033772"/>
          </a:xfrm>
          <a:prstGeom prst="rect">
            <a:avLst/>
          </a:prstGeom>
          <a:ln w="114300">
            <a:solidFill>
              <a:srgbClr val="A8E6B4"/>
            </a:solidFill>
            <a:prstDash val="solid"/>
          </a:ln>
        </p:spPr>
      </p:sp>
      <p:pic>
        <p:nvPicPr>
          <p:cNvPr id="4" name="logo_1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Do 'lucky socks' really work?</a:t>
            </a:r>
            <a:endParaRPr lang="en-US" sz="900" dirty="0"/>
          </a:p>
        </p:txBody>
      </p:sp>
      <p:sp>
        <p:nvSpPr>
          <p:cNvPr id="6" name="timer_18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8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182"/>
          <p:cNvSpPr txBox="1"/>
          <p:nvPr/>
        </p:nvSpPr>
        <p:spPr>
          <a:xfrm rot="-120000">
            <a:off x="320040" y="676656"/>
            <a:ext cx="241401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Lucky socks</a:t>
            </a:r>
            <a:endParaRPr lang="en-US" sz="1500" dirty="0"/>
          </a:p>
        </p:txBody>
      </p:sp>
      <p:sp>
        <p:nvSpPr>
          <p:cNvPr id="9" name="rsign_183"/>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p.47. Why does the writer give these examples?  </a:t>
            </a:r>
            <a:pPr indent="0" marL="0">
              <a:buNone/>
            </a:pPr>
            <a:r>
              <a:rPr lang="en-US" sz="950" i="1" dirty="0">
                <a:solidFill>
                  <a:srgbClr val="E2E8F0"/>
                </a:solidFill>
                <a:latin typeface="Calibri" pitchFamily="34" charset="0"/>
                <a:ea typeface="Calibri" pitchFamily="34" charset="-122"/>
                <a:cs typeface="Calibri" pitchFamily="34" charset="-120"/>
              </a:rPr>
              <a:t>Leggi p.47. Perché questi esempi?</a:t>
            </a:r>
            <a:endParaRPr lang="en-US" sz="1000" dirty="0"/>
          </a:p>
        </p:txBody>
      </p:sp>
      <p:sp>
        <p:nvSpPr>
          <p:cNvPr id="10" name="rtext_184"/>
          <p:cNvSpPr txBox="1"/>
          <p:nvPr/>
        </p:nvSpPr>
        <p:spPr>
          <a:xfrm rot="-30000">
            <a:off x="320040" y="1810512"/>
            <a:ext cx="448056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Do 'lucky socks' really work? (summary)</a:t>
            </a:r>
            <a:endParaRPr lang="en-US" sz="130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1 Sport is full of superstitions. Mo Farah always shaves his head before a race; Cristiano Ronaldo steps onto the pitch with his right foot first; Serena Williams bounces the ball five times before a first serve.</a:t>
            </a:r>
            <a:endParaRPr lang="en-US" sz="130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2 In a study at the University of Cologne, people with a 'lucky' golf ball played better.</a:t>
            </a:r>
            <a:endParaRPr lang="en-US" sz="130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3 Sports psychologist Dan Abrahams says rituals can release adrenaline and other chemicals which help athletes focus.</a:t>
            </a:r>
            <a:endParaRPr lang="en-US" sz="130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4 But superstitions can be bad, too: at one club, two players both had to be the last to leave the changing room!</a:t>
            </a:r>
            <a:endParaRPr lang="en-US" sz="1300" dirty="0"/>
          </a:p>
        </p:txBody>
      </p:sp>
      <p:sp>
        <p:nvSpPr>
          <p:cNvPr id="11" name="box_185"/>
          <p:cNvSpPr txBox="1"/>
          <p:nvPr/>
        </p:nvSpPr>
        <p:spPr>
          <a:xfrm>
            <a:off x="4965192" y="1810512"/>
            <a:ext cx="2238085"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Title: do lucky socks really work?</a:t>
            </a:r>
            <a:endParaRPr lang="en-US" sz="1150" dirty="0"/>
          </a:p>
        </p:txBody>
      </p:sp>
      <p:sp>
        <p:nvSpPr>
          <p:cNvPr id="12" name="R1_ra0"/>
          <p:cNvSpPr txBox="1"/>
          <p:nvPr/>
        </p:nvSpPr>
        <p:spPr>
          <a:xfrm>
            <a:off x="7248997" y="1837944"/>
            <a:ext cx="1574963"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Yes – they increase confidence and control</a:t>
            </a:r>
            <a:endParaRPr lang="en-US" sz="1050" dirty="0"/>
          </a:p>
        </p:txBody>
      </p:sp>
      <p:sp>
        <p:nvSpPr>
          <p:cNvPr id="13" name="box_186"/>
          <p:cNvSpPr txBox="1"/>
          <p:nvPr/>
        </p:nvSpPr>
        <p:spPr>
          <a:xfrm>
            <a:off x="4965192" y="2401214"/>
            <a:ext cx="2238085"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¶1 Ronaldo's right foot and Serena Williams's ball</a:t>
            </a:r>
            <a:endParaRPr lang="en-US" sz="1150" dirty="0"/>
          </a:p>
        </p:txBody>
      </p:sp>
      <p:sp>
        <p:nvSpPr>
          <p:cNvPr id="14" name="R1_ra1"/>
          <p:cNvSpPr txBox="1"/>
          <p:nvPr/>
        </p:nvSpPr>
        <p:spPr>
          <a:xfrm>
            <a:off x="7248997" y="2428646"/>
            <a:ext cx="1574963"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examples of sporting superstitions</a:t>
            </a:r>
            <a:endParaRPr lang="en-US" sz="1050" dirty="0"/>
          </a:p>
        </p:txBody>
      </p:sp>
      <p:sp>
        <p:nvSpPr>
          <p:cNvPr id="15" name="box_187"/>
          <p:cNvSpPr txBox="1"/>
          <p:nvPr/>
        </p:nvSpPr>
        <p:spPr>
          <a:xfrm>
            <a:off x="4965192" y="2991917"/>
            <a:ext cx="2238085"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¶2 lucky golf balls and lucky charms</a:t>
            </a:r>
            <a:endParaRPr lang="en-US" sz="1150" dirty="0"/>
          </a:p>
        </p:txBody>
      </p:sp>
      <p:sp>
        <p:nvSpPr>
          <p:cNvPr id="16" name="R1_ra2"/>
          <p:cNvSpPr txBox="1"/>
          <p:nvPr/>
        </p:nvSpPr>
        <p:spPr>
          <a:xfrm>
            <a:off x="7248997" y="3019349"/>
            <a:ext cx="1574963"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people perform better with 'lucky' things</a:t>
            </a:r>
            <a:endParaRPr lang="en-US" sz="1050" dirty="0"/>
          </a:p>
        </p:txBody>
      </p:sp>
      <p:sp>
        <p:nvSpPr>
          <p:cNvPr id="17" name="box_188"/>
          <p:cNvSpPr txBox="1"/>
          <p:nvPr/>
        </p:nvSpPr>
        <p:spPr>
          <a:xfrm>
            <a:off x="4965192" y="3582619"/>
            <a:ext cx="2238085"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¶3 adrenaline and other chemicals</a:t>
            </a:r>
            <a:endParaRPr lang="en-US" sz="1150" dirty="0"/>
          </a:p>
        </p:txBody>
      </p:sp>
      <p:sp>
        <p:nvSpPr>
          <p:cNvPr id="18" name="R1_ra3"/>
          <p:cNvSpPr txBox="1"/>
          <p:nvPr/>
        </p:nvSpPr>
        <p:spPr>
          <a:xfrm>
            <a:off x="7248997" y="3610051"/>
            <a:ext cx="1574963"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released by rituals → help athletes focus</a:t>
            </a:r>
            <a:endParaRPr lang="en-US" sz="1050" dirty="0"/>
          </a:p>
        </p:txBody>
      </p:sp>
      <p:sp>
        <p:nvSpPr>
          <p:cNvPr id="19" name="box_189"/>
          <p:cNvSpPr txBox="1"/>
          <p:nvPr/>
        </p:nvSpPr>
        <p:spPr>
          <a:xfrm>
            <a:off x="4965192" y="4173322"/>
            <a:ext cx="2238085"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¶4 two players with the same superstition</a:t>
            </a:r>
            <a:endParaRPr lang="en-US" sz="1150" dirty="0"/>
          </a:p>
        </p:txBody>
      </p:sp>
      <p:sp>
        <p:nvSpPr>
          <p:cNvPr id="20" name="R1_ra4"/>
          <p:cNvSpPr txBox="1"/>
          <p:nvPr/>
        </p:nvSpPr>
        <p:spPr>
          <a:xfrm>
            <a:off x="7248997" y="4200754"/>
            <a:ext cx="1574963"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superstitions can cause problems</a:t>
            </a:r>
            <a:endParaRPr lang="en-US" sz="1050" dirty="0"/>
          </a:p>
        </p:txBody>
      </p:sp>
      <p:sp>
        <p:nvSpPr>
          <p:cNvPr id="21" name="pageTag_19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p.47 · 4a–4d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1"/>
          <p:cNvSpPr/>
          <p:nvPr/>
        </p:nvSpPr>
        <p:spPr>
          <a:xfrm>
            <a:off x="54864" y="54864"/>
            <a:ext cx="9034272" cy="5033772"/>
          </a:xfrm>
          <a:prstGeom prst="rect">
            <a:avLst/>
          </a:prstGeom>
          <a:ln w="114300">
            <a:solidFill>
              <a:srgbClr val="A8E6B4"/>
            </a:solidFill>
            <a:prstDash val="solid"/>
          </a:ln>
        </p:spPr>
      </p:sp>
      <p:pic>
        <p:nvPicPr>
          <p:cNvPr id="4" name="logo_19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Mini debate</a:t>
            </a:r>
            <a:endParaRPr lang="en-US" sz="900" dirty="0"/>
          </a:p>
        </p:txBody>
      </p:sp>
      <p:sp>
        <p:nvSpPr>
          <p:cNvPr id="6" name="timer_19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9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196"/>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Lucky or silly?</a:t>
            </a:r>
            <a:endParaRPr lang="en-US" sz="1500" dirty="0"/>
          </a:p>
        </p:txBody>
      </p:sp>
      <p:sp>
        <p:nvSpPr>
          <p:cNvPr id="9" name="post_19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98"/>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9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motivo!</a:t>
            </a:r>
            <a:endParaRPr lang="en-US" sz="1250" dirty="0"/>
          </a:p>
        </p:txBody>
      </p:sp>
      <p:sp>
        <p:nvSpPr>
          <p:cNvPr id="12" name="box_200"/>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"Superstitions are harmless fun."</a:t>
            </a:r>
            <a:endParaRPr lang="en-US" sz="1350" dirty="0"/>
          </a:p>
        </p:txBody>
      </p:sp>
      <p:sp>
        <p:nvSpPr>
          <p:cNvPr id="13" name="stamp_201"/>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4" name="stamp_202"/>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5" name="box_203"/>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"A lucky object can really help you in an exam."</a:t>
            </a:r>
            <a:endParaRPr lang="en-US" sz="1350" dirty="0"/>
          </a:p>
        </p:txBody>
      </p:sp>
      <p:sp>
        <p:nvSpPr>
          <p:cNvPr id="16" name="stamp_204"/>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7" name="stamp_205"/>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8" name="box_206"/>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"Sportspeople with rituals are just showing off."</a:t>
            </a:r>
            <a:endParaRPr lang="en-US" sz="1350" dirty="0"/>
          </a:p>
        </p:txBody>
      </p:sp>
      <p:sp>
        <p:nvSpPr>
          <p:cNvPr id="19" name="stamp_207"/>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0" name="stamp_208"/>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1" name="box_209"/>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"Most people are a bit superstitious – even if they say they aren't."</a:t>
            </a:r>
            <a:endParaRPr lang="en-US" sz="1350" dirty="0"/>
          </a:p>
        </p:txBody>
      </p:sp>
      <p:sp>
        <p:nvSpPr>
          <p:cNvPr id="22" name="stamp_210"/>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3" name="stamp_211"/>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4" name="bubble_212"/>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Personally, I think… · That's true, but… · I don't agree at all, because…</a:t>
            </a:r>
            <a:endParaRPr lang="en-US" sz="1250" dirty="0"/>
          </a:p>
        </p:txBody>
      </p:sp>
      <p:sp>
        <p:nvSpPr>
          <p:cNvPr id="25" name="pageTag_21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p.47 · 4e</a:t>
            </a:r>
            <a:endParaRPr lang="en-US" sz="1050" dirty="0"/>
          </a:p>
        </p:txBody>
      </p:sp>
      <p:sp>
        <p:nvSpPr>
          <p:cNvPr id="26" name="pframe_214"/>
          <p:cNvSpPr/>
          <p:nvPr/>
        </p:nvSpPr>
        <p:spPr>
          <a:xfrm rot="-120000">
            <a:off x="685800" y="3154680"/>
            <a:ext cx="1325880" cy="1554480"/>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7" name="pimg_215" descr="Good luck!">    </p:cNvPr>
          <p:cNvPicPr>
            <a:picLocks noChangeAspect="1"/>
          </p:cNvPicPr>
          <p:nvPr/>
        </p:nvPicPr>
        <p:blipFill>
          <a:blip r:embed="rId3"/>
          <a:srcRect l="0" r="0" t="0" b="0"/>
          <a:stretch/>
        </p:blipFill>
        <p:spPr>
          <a:xfrm rot="-120000">
            <a:off x="758952" y="3227832"/>
            <a:ext cx="1179576" cy="1133856"/>
          </a:xfrm>
          <a:prstGeom prst="rect">
            <a:avLst/>
          </a:prstGeom>
        </p:spPr>
      </p:pic>
      <p:sp>
        <p:nvSpPr>
          <p:cNvPr id="28" name="pcap_216"/>
          <p:cNvSpPr txBox="1"/>
          <p:nvPr/>
        </p:nvSpPr>
        <p:spPr>
          <a:xfrm rot="-120000">
            <a:off x="685800" y="4370832"/>
            <a:ext cx="132588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Good luck!</a:t>
            </a:r>
            <a:endParaRPr lang="en-US" sz="110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7"/>
          <p:cNvSpPr/>
          <p:nvPr/>
        </p:nvSpPr>
        <p:spPr>
          <a:xfrm>
            <a:off x="54864" y="54864"/>
            <a:ext cx="9034272" cy="5033772"/>
          </a:xfrm>
          <a:prstGeom prst="rect">
            <a:avLst/>
          </a:prstGeom>
          <a:ln w="114300">
            <a:solidFill>
              <a:srgbClr val="A8E6B4"/>
            </a:solidFill>
            <a:prstDash val="solid"/>
          </a:ln>
        </p:spPr>
      </p:sp>
      <p:pic>
        <p:nvPicPr>
          <p:cNvPr id="4" name="logo_21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a:t>
            </a:r>
            <a:endParaRPr lang="en-US" sz="900" dirty="0"/>
          </a:p>
        </p:txBody>
      </p:sp>
      <p:sp>
        <p:nvSpPr>
          <p:cNvPr id="6" name="timer_22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8" name="title_222"/>
          <p:cNvSpPr txBox="1"/>
          <p:nvPr/>
        </p:nvSpPr>
        <p:spPr>
          <a:xfrm rot="-120000">
            <a:off x="320040" y="676656"/>
            <a:ext cx="241401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Sport Taboo</a:t>
            </a:r>
            <a:endParaRPr lang="en-US" sz="1500" dirty="0"/>
          </a:p>
        </p:txBody>
      </p:sp>
      <p:sp>
        <p:nvSpPr>
          <p:cNvPr id="9" name="post_22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24"/>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2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Describe the word – but don't say the red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Descrivi la parola – ma non dire le parole rosse!</a:t>
            </a:r>
            <a:endParaRPr lang="en-US" sz="1250" dirty="0"/>
          </a:p>
        </p:txBody>
      </p:sp>
      <p:sp>
        <p:nvSpPr>
          <p:cNvPr id="12" name="n_226"/>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227"/>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DESCRIBER stands with their back to the class, facing the screen.</a:t>
            </a:r>
            <a:endParaRPr lang="en-US" sz="1250" dirty="0"/>
          </a:p>
        </p:txBody>
      </p:sp>
      <p:sp>
        <p:nvSpPr>
          <p:cNvPr id="14" name="n_228"/>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229"/>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6" name="n_230"/>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231"/>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 → ONE card appears. 1 minute to describe it. Don't say the red words!</a:t>
            </a:r>
            <a:endParaRPr lang="en-US" sz="1250" dirty="0"/>
          </a:p>
        </p:txBody>
      </p:sp>
      <p:sp>
        <p:nvSpPr>
          <p:cNvPr id="18" name="n_232"/>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233"/>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describer's team guesses. Correct = 1 point. A red word = 0.</a:t>
            </a:r>
            <a:endParaRPr lang="en-US" sz="1400" dirty="0"/>
          </a:p>
        </p:txBody>
      </p:sp>
      <p:sp>
        <p:nvSpPr>
          <p:cNvPr id="20" name="n_234"/>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235"/>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Next slide = next card and a NEW describer from the other team.</a:t>
            </a:r>
            <a:endParaRPr lang="en-US" sz="1400" dirty="0"/>
          </a:p>
        </p:txBody>
      </p:sp>
      <p:sp>
        <p:nvSpPr>
          <p:cNvPr id="22" name="pageTag_2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Vocabulary Bank Sport p.157</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7"/>
          <p:cNvSpPr/>
          <p:nvPr/>
        </p:nvSpPr>
        <p:spPr>
          <a:xfrm>
            <a:off x="54864" y="54864"/>
            <a:ext cx="9034272" cy="5033772"/>
          </a:xfrm>
          <a:prstGeom prst="rect">
            <a:avLst/>
          </a:prstGeom>
          <a:ln w="114300">
            <a:solidFill>
              <a:srgbClr val="A8E6B4"/>
            </a:solidFill>
            <a:prstDash val="solid"/>
          </a:ln>
        </p:spPr>
      </p:sp>
      <p:pic>
        <p:nvPicPr>
          <p:cNvPr id="4" name="logo_2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1 of 8</a:t>
            </a:r>
            <a:endParaRPr lang="en-US" sz="900" dirty="0"/>
          </a:p>
        </p:txBody>
      </p:sp>
      <p:sp>
        <p:nvSpPr>
          <p:cNvPr id="6" name="footer_2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4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REFEREE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football · whistle · rules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2"/>
          <p:cNvSpPr/>
          <p:nvPr/>
        </p:nvSpPr>
        <p:spPr>
          <a:xfrm>
            <a:off x="54864" y="54864"/>
            <a:ext cx="9034272" cy="5033772"/>
          </a:xfrm>
          <a:prstGeom prst="rect">
            <a:avLst/>
          </a:prstGeom>
          <a:ln w="114300">
            <a:solidFill>
              <a:srgbClr val="A8E6B4"/>
            </a:solidFill>
            <a:prstDash val="solid"/>
          </a:ln>
        </p:spPr>
      </p:sp>
      <p:pic>
        <p:nvPicPr>
          <p:cNvPr id="4" name="logo_2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2 of 8</a:t>
            </a:r>
            <a:endParaRPr lang="en-US" sz="900" dirty="0"/>
          </a:p>
        </p:txBody>
      </p:sp>
      <p:sp>
        <p:nvSpPr>
          <p:cNvPr id="6" name="footer_24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4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STADIUM</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football · big · match</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7"/>
          <p:cNvSpPr/>
          <p:nvPr/>
        </p:nvSpPr>
        <p:spPr>
          <a:xfrm>
            <a:off x="54864" y="54864"/>
            <a:ext cx="9034272" cy="5033772"/>
          </a:xfrm>
          <a:prstGeom prst="rect">
            <a:avLst/>
          </a:prstGeom>
          <a:ln w="114300">
            <a:solidFill>
              <a:srgbClr val="A8E6B4"/>
            </a:solidFill>
            <a:prstDash val="solid"/>
          </a:ln>
        </p:spPr>
      </p:sp>
      <p:pic>
        <p:nvPicPr>
          <p:cNvPr id="4" name="logo_2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3 of 8</a:t>
            </a:r>
            <a:endParaRPr lang="en-US" sz="900" dirty="0"/>
          </a:p>
        </p:txBody>
      </p:sp>
      <p:sp>
        <p:nvSpPr>
          <p:cNvPr id="6" name="footer_25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5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COACH</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team · train · manager</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2"/>
          <p:cNvSpPr/>
          <p:nvPr/>
        </p:nvSpPr>
        <p:spPr>
          <a:xfrm>
            <a:off x="54864" y="54864"/>
            <a:ext cx="9034272" cy="5033772"/>
          </a:xfrm>
          <a:prstGeom prst="rect">
            <a:avLst/>
          </a:prstGeom>
          <a:ln w="114300">
            <a:solidFill>
              <a:srgbClr val="A8E6B4"/>
            </a:solidFill>
            <a:prstDash val="solid"/>
          </a:ln>
        </p:spPr>
      </p:sp>
      <p:pic>
        <p:nvPicPr>
          <p:cNvPr id="4" name="logo_25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4 of 8</a:t>
            </a:r>
            <a:endParaRPr lang="en-US" sz="900" dirty="0"/>
          </a:p>
        </p:txBody>
      </p:sp>
      <p:sp>
        <p:nvSpPr>
          <p:cNvPr id="6" name="footer_25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5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SPECTATORS</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watch · crowd · fans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7"/>
          <p:cNvSpPr/>
          <p:nvPr/>
        </p:nvSpPr>
        <p:spPr>
          <a:xfrm>
            <a:off x="54864" y="54864"/>
            <a:ext cx="9034272" cy="5033772"/>
          </a:xfrm>
          <a:prstGeom prst="rect">
            <a:avLst/>
          </a:prstGeom>
          <a:ln w="114300">
            <a:solidFill>
              <a:srgbClr val="A8E6B4"/>
            </a:solidFill>
            <a:prstDash val="solid"/>
          </a:ln>
        </p:spPr>
      </p:sp>
      <p:pic>
        <p:nvPicPr>
          <p:cNvPr id="4" name="logo_25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5 of 8</a:t>
            </a:r>
            <a:endParaRPr lang="en-US" sz="900" dirty="0"/>
          </a:p>
        </p:txBody>
      </p:sp>
      <p:sp>
        <p:nvSpPr>
          <p:cNvPr id="6" name="footer_26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6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WARM UP</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exercise · before · start</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2"/>
          <p:cNvSpPr/>
          <p:nvPr/>
        </p:nvSpPr>
        <p:spPr>
          <a:xfrm>
            <a:off x="54864" y="54864"/>
            <a:ext cx="9034272" cy="5033772"/>
          </a:xfrm>
          <a:prstGeom prst="rect">
            <a:avLst/>
          </a:prstGeom>
          <a:ln w="114300">
            <a:solidFill>
              <a:srgbClr val="A8E6B4"/>
            </a:solidFill>
            <a:prstDash val="solid"/>
          </a:ln>
        </p:spPr>
      </p:sp>
      <p:pic>
        <p:nvPicPr>
          <p:cNvPr id="4" name="logo_26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6 of 8</a:t>
            </a:r>
            <a:endParaRPr lang="en-US" sz="900" dirty="0"/>
          </a:p>
        </p:txBody>
      </p:sp>
      <p:sp>
        <p:nvSpPr>
          <p:cNvPr id="6" name="footer_2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6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SCORE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goal · point · win</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7"/>
          <p:cNvSpPr/>
          <p:nvPr/>
        </p:nvSpPr>
        <p:spPr>
          <a:xfrm>
            <a:off x="54864" y="54864"/>
            <a:ext cx="9034272" cy="5033772"/>
          </a:xfrm>
          <a:prstGeom prst="rect">
            <a:avLst/>
          </a:prstGeom>
          <a:ln w="114300">
            <a:solidFill>
              <a:srgbClr val="A8E6B4"/>
            </a:solidFill>
            <a:prstDash val="solid"/>
          </a:ln>
        </p:spPr>
      </p:sp>
      <p:pic>
        <p:nvPicPr>
          <p:cNvPr id="4" name="logo_26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7 of 8</a:t>
            </a:r>
            <a:endParaRPr lang="en-US" sz="900" dirty="0"/>
          </a:p>
        </p:txBody>
      </p:sp>
      <p:sp>
        <p:nvSpPr>
          <p:cNvPr id="6" name="footer_27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7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GOLF COURSE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ball · club · green</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2"/>
          <p:cNvSpPr/>
          <p:nvPr/>
        </p:nvSpPr>
        <p:spPr>
          <a:xfrm>
            <a:off x="54864" y="54864"/>
            <a:ext cx="9034272" cy="5033772"/>
          </a:xfrm>
          <a:prstGeom prst="rect">
            <a:avLst/>
          </a:prstGeom>
          <a:ln w="114300">
            <a:solidFill>
              <a:srgbClr val="A8E6B4"/>
            </a:solidFill>
            <a:prstDash val="solid"/>
          </a:ln>
        </p:spPr>
      </p:sp>
      <p:pic>
        <p:nvPicPr>
          <p:cNvPr id="4" name="logo_27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Sport Taboo · card 8 of 8</a:t>
            </a:r>
            <a:endParaRPr lang="en-US" sz="900" dirty="0"/>
          </a:p>
        </p:txBody>
      </p:sp>
      <p:sp>
        <p:nvSpPr>
          <p:cNvPr id="6" name="footer_2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7" name="warn_27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CAPTAIN</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team · leader · boss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7"/>
          <p:cNvSpPr/>
          <p:nvPr/>
        </p:nvSpPr>
        <p:spPr>
          <a:xfrm>
            <a:off x="54864" y="54864"/>
            <a:ext cx="9034272" cy="5033772"/>
          </a:xfrm>
          <a:prstGeom prst="rect">
            <a:avLst/>
          </a:prstGeom>
          <a:ln w="114300">
            <a:solidFill>
              <a:srgbClr val="A8E6B4"/>
            </a:solidFill>
            <a:prstDash val="solid"/>
          </a:ln>
        </p:spPr>
      </p:sp>
      <p:pic>
        <p:nvPicPr>
          <p:cNvPr id="4" name="logo_2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7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6" name="title_280"/>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81"/>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82"/>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about sport: people, places and verbs.</a:t>
            </a:r>
            <a:endParaRPr lang="en-US" sz="1350" dirty="0"/>
          </a:p>
        </p:txBody>
      </p:sp>
      <p:sp>
        <p:nvSpPr>
          <p:cNvPr id="9" name="faces_283"/>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84"/>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say /ɔː/ (court, sport) and /ɜː/ (world, shirt).</a:t>
            </a:r>
            <a:endParaRPr lang="en-US" sz="1350" dirty="0"/>
          </a:p>
        </p:txBody>
      </p:sp>
      <p:sp>
        <p:nvSpPr>
          <p:cNvPr id="11" name="faces_285"/>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86"/>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article about superstitions.</a:t>
            </a:r>
            <a:endParaRPr lang="en-US" sz="1350" dirty="0"/>
          </a:p>
        </p:txBody>
      </p:sp>
      <p:sp>
        <p:nvSpPr>
          <p:cNvPr id="13" name="faces_287"/>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88"/>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5A: 1a, 1b, 1c, 1d, 2a</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Vocabulary Bank p.157: test yourself</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5A-1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89"/>
          <p:cNvSpPr txBox="1"/>
          <p:nvPr/>
        </p:nvSpPr>
        <p:spPr>
          <a:xfrm>
            <a:off x="365760" y="3657600"/>
            <a:ext cx="530352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5A part 2 · Narrative tenses · Fair play</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0"/>
          <p:cNvSpPr/>
          <p:nvPr/>
        </p:nvSpPr>
        <p:spPr>
          <a:xfrm>
            <a:off x="54864" y="54864"/>
            <a:ext cx="9034272" cy="5033772"/>
          </a:xfrm>
          <a:prstGeom prst="rect">
            <a:avLst/>
          </a:prstGeom>
          <a:ln w="114300">
            <a:solidFill>
              <a:srgbClr val="A8E6B4"/>
            </a:solidFill>
            <a:prstDash val="solid"/>
          </a:ln>
        </p:spPr>
      </p:sp>
      <p:pic>
        <p:nvPicPr>
          <p:cNvPr id="4" name="logo_29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Vocabulary race</a:t>
            </a:r>
            <a:endParaRPr lang="en-US" sz="900" dirty="0"/>
          </a:p>
        </p:txBody>
      </p:sp>
      <p:sp>
        <p:nvSpPr>
          <p:cNvPr id="6" name="timer_29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9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9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9" name="title_296"/>
          <p:cNvSpPr txBox="1"/>
          <p:nvPr/>
        </p:nvSpPr>
        <p:spPr>
          <a:xfrm rot="-120000">
            <a:off x="320040" y="676656"/>
            <a:ext cx="258775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Sport A to Z</a:t>
            </a:r>
            <a:endParaRPr lang="en-US" sz="1500" dirty="0"/>
          </a:p>
        </p:txBody>
      </p:sp>
      <p:sp>
        <p:nvSpPr>
          <p:cNvPr id="10" name="post_297"/>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9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9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a sport word for every letter! 3 minutes.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Squadre: una parola di sport per ogni lettera! 3 minuti.</a:t>
            </a:r>
            <a:endParaRPr lang="en-US" sz="1250" dirty="0"/>
          </a:p>
        </p:txBody>
      </p:sp>
      <p:sp>
        <p:nvSpPr>
          <p:cNvPr id="13" name="iconBack_30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01"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5" name="num_302"/>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303"/>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Teams write A–Z down the side of a piece of paper.</a:t>
            </a:r>
            <a:endParaRPr lang="en-US" sz="1300" dirty="0"/>
          </a:p>
        </p:txBody>
      </p:sp>
      <p:sp>
        <p:nvSpPr>
          <p:cNvPr id="17" name="num_304"/>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305"/>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In 3 minutes, write a sport word for as many letters as possible: A athletics, B beat, C court…</a:t>
            </a:r>
            <a:endParaRPr lang="en-US" sz="950" dirty="0"/>
          </a:p>
        </p:txBody>
      </p:sp>
      <p:sp>
        <p:nvSpPr>
          <p:cNvPr id="19" name="num_306"/>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307"/>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Words can be sports, people, places or verbs.</a:t>
            </a:r>
            <a:endParaRPr lang="en-US" sz="1300" dirty="0"/>
          </a:p>
        </p:txBody>
      </p:sp>
      <p:sp>
        <p:nvSpPr>
          <p:cNvPr id="21" name="num_308"/>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309"/>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Read them out. A word no other team has = 2 points; same word = 1 point.</a:t>
            </a:r>
            <a:endParaRPr lang="en-US" sz="1200" dirty="0"/>
          </a:p>
        </p:txBody>
      </p:sp>
      <p:sp>
        <p:nvSpPr>
          <p:cNvPr id="23" name="num_310"/>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311"/>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Wrong spelling = 0 points!</a:t>
            </a:r>
            <a:endParaRPr lang="en-US" sz="1300" dirty="0"/>
          </a:p>
        </p:txBody>
      </p:sp>
      <p:sp>
        <p:nvSpPr>
          <p:cNvPr id="25" name="bubble_31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A athletics · B beat · C coach · D draw · F fans · G golf course · …</a:t>
            </a:r>
            <a:endParaRPr lang="en-US" sz="13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3"/>
          <p:cNvSpPr/>
          <p:nvPr/>
        </p:nvSpPr>
        <p:spPr>
          <a:xfrm>
            <a:off x="54864" y="54864"/>
            <a:ext cx="9034272" cy="5033772"/>
          </a:xfrm>
          <a:prstGeom prst="rect">
            <a:avLst/>
          </a:prstGeom>
          <a:ln w="114300">
            <a:solidFill>
              <a:srgbClr val="A8E6B4"/>
            </a:solidFill>
            <a:prstDash val="solid"/>
          </a:ln>
        </p:spPr>
      </p:sp>
      <p:pic>
        <p:nvPicPr>
          <p:cNvPr id="4" name="logo_31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Vocabulary photocopiable · Sport</a:t>
            </a:r>
            <a:endParaRPr lang="en-US" sz="900" dirty="0"/>
          </a:p>
        </p:txBody>
      </p:sp>
      <p:sp>
        <p:nvSpPr>
          <p:cNvPr id="6" name="timer_31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31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1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9" name="title_319"/>
          <p:cNvSpPr txBox="1"/>
          <p:nvPr/>
        </p:nvSpPr>
        <p:spPr>
          <a:xfrm rot="-120000">
            <a:off x="320040" y="676656"/>
            <a:ext cx="206654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Clue race</a:t>
            </a:r>
            <a:endParaRPr lang="en-US" sz="1500" dirty="0"/>
          </a:p>
        </p:txBody>
      </p:sp>
      <p:sp>
        <p:nvSpPr>
          <p:cNvPr id="10" name="post_32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21"/>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32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Pairs: read the clues and write the sport words. Be fast!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In coppia: leggete gli indizi e scrivete le parole. Veloci!</a:t>
            </a:r>
            <a:endParaRPr lang="en-US" sz="1200" dirty="0"/>
          </a:p>
        </p:txBody>
      </p:sp>
      <p:sp>
        <p:nvSpPr>
          <p:cNvPr id="13" name="iconBack_32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24"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5" name="num_325"/>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326"/>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one worksheet per pair.</a:t>
            </a:r>
            <a:endParaRPr lang="en-US" sz="1300" dirty="0"/>
          </a:p>
        </p:txBody>
      </p:sp>
      <p:sp>
        <p:nvSpPr>
          <p:cNvPr id="17" name="num_327"/>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328"/>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the 20 clues and write the words (1 = CAPTAIN).</a:t>
            </a:r>
            <a:endParaRPr lang="en-US" sz="1300" dirty="0"/>
          </a:p>
        </p:txBody>
      </p:sp>
      <p:sp>
        <p:nvSpPr>
          <p:cNvPr id="19" name="num_329"/>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330"/>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Time limit: 5 minutes.</a:t>
            </a:r>
            <a:endParaRPr lang="en-US" sz="1300" dirty="0"/>
          </a:p>
        </p:txBody>
      </p:sp>
      <p:sp>
        <p:nvSpPr>
          <p:cNvPr id="21" name="num_331"/>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332"/>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first pair with all the words correct wins.</a:t>
            </a:r>
            <a:endParaRPr lang="en-US" sz="1300" dirty="0"/>
          </a:p>
        </p:txBody>
      </p:sp>
      <p:sp>
        <p:nvSpPr>
          <p:cNvPr id="23" name="num_333"/>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334"/>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Then cover the words: read a clue, your partner says the word.</a:t>
            </a:r>
            <a:endParaRPr lang="en-US" sz="1300" dirty="0"/>
          </a:p>
        </p:txBody>
      </p:sp>
      <p:sp>
        <p:nvSpPr>
          <p:cNvPr id="25" name="bubble_335"/>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B1_5A_Photocopiables.pdf, page 3</a:t>
            </a:r>
            <a:endParaRPr lang="en-US" sz="1300" dirty="0"/>
          </a:p>
        </p:txBody>
      </p:sp>
      <p:sp>
        <p:nvSpPr>
          <p:cNvPr id="26" name="pageTag_3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photocopiable 5A Sport (TG p.209)</a:t>
            </a:r>
            <a:endParaRPr lang="en-US" sz="105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37"/>
          <p:cNvSpPr/>
          <p:nvPr/>
        </p:nvSpPr>
        <p:spPr>
          <a:xfrm>
            <a:off x="54864" y="54864"/>
            <a:ext cx="9034272" cy="5033772"/>
          </a:xfrm>
          <a:prstGeom prst="rect">
            <a:avLst/>
          </a:prstGeom>
          <a:ln w="114300">
            <a:solidFill>
              <a:srgbClr val="A8E6B4"/>
            </a:solidFill>
            <a:prstDash val="solid"/>
          </a:ln>
        </p:spPr>
      </p:sp>
      <p:pic>
        <p:nvPicPr>
          <p:cNvPr id="4" name="logo_3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Survey</a:t>
            </a:r>
            <a:endParaRPr lang="en-US" sz="900" dirty="0"/>
          </a:p>
        </p:txBody>
      </p:sp>
      <p:sp>
        <p:nvSpPr>
          <p:cNvPr id="6" name="timer_34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34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4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1</a:t>
            </a:r>
            <a:endParaRPr lang="en-US" sz="1000" dirty="0"/>
          </a:p>
        </p:txBody>
      </p:sp>
      <p:sp>
        <p:nvSpPr>
          <p:cNvPr id="9" name="title_343"/>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How superstitious are you?</a:t>
            </a:r>
            <a:endParaRPr lang="en-US" sz="1500" dirty="0"/>
          </a:p>
        </p:txBody>
      </p:sp>
      <p:sp>
        <p:nvSpPr>
          <p:cNvPr id="10" name="post_344"/>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4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34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Ask 3 people. Who is the most superstitious?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Chiedi a 3 persone. Chi è il più superstizioso?</a:t>
            </a:r>
            <a:endParaRPr lang="en-US" sz="1250" dirty="0"/>
          </a:p>
        </p:txBody>
      </p:sp>
      <p:sp>
        <p:nvSpPr>
          <p:cNvPr id="13" name="box_347"/>
          <p:cNvSpPr txBox="1"/>
          <p:nvPr/>
        </p:nvSpPr>
        <p:spPr>
          <a:xfrm>
            <a:off x="2788920" y="1371600"/>
            <a:ext cx="603504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Do you have a lucky number, colour or object?</a:t>
            </a:r>
            <a:endParaRPr lang="en-US" sz="1300" dirty="0"/>
          </a:p>
        </p:txBody>
      </p:sp>
      <p:sp>
        <p:nvSpPr>
          <p:cNvPr id="14" name="box_348"/>
          <p:cNvSpPr txBox="1"/>
          <p:nvPr/>
        </p:nvSpPr>
        <p:spPr>
          <a:xfrm>
            <a:off x="2788920" y="2055571"/>
            <a:ext cx="603504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Do you do anything special before an exam or a match?</a:t>
            </a:r>
            <a:endParaRPr lang="en-US" sz="1300" dirty="0"/>
          </a:p>
        </p:txBody>
      </p:sp>
      <p:sp>
        <p:nvSpPr>
          <p:cNvPr id="15" name="box_349"/>
          <p:cNvSpPr txBox="1"/>
          <p:nvPr/>
        </p:nvSpPr>
        <p:spPr>
          <a:xfrm>
            <a:off x="2788920" y="2739542"/>
            <a:ext cx="603504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Do you believe Friday 17th is unlucky?</a:t>
            </a:r>
            <a:endParaRPr lang="en-US" sz="1300" dirty="0"/>
          </a:p>
        </p:txBody>
      </p:sp>
      <p:sp>
        <p:nvSpPr>
          <p:cNvPr id="16" name="box_350"/>
          <p:cNvSpPr txBox="1"/>
          <p:nvPr/>
        </p:nvSpPr>
        <p:spPr>
          <a:xfrm>
            <a:off x="2788920" y="3423514"/>
            <a:ext cx="603504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Would you walk under a ladder?</a:t>
            </a:r>
            <a:endParaRPr lang="en-US" sz="1300" dirty="0"/>
          </a:p>
        </p:txBody>
      </p:sp>
      <p:sp>
        <p:nvSpPr>
          <p:cNvPr id="17" name="box_351"/>
          <p:cNvSpPr txBox="1"/>
          <p:nvPr/>
        </p:nvSpPr>
        <p:spPr>
          <a:xfrm>
            <a:off x="2788920" y="4107485"/>
            <a:ext cx="603504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Do you know a famous person with a superstition?</a:t>
            </a:r>
            <a:endParaRPr lang="en-US" sz="1300" dirty="0"/>
          </a:p>
        </p:txBody>
      </p:sp>
      <p:sp>
        <p:nvSpPr>
          <p:cNvPr id="18" name="sticky_352"/>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Never! · Sometimes… · Of course! I always…</a:t>
            </a:r>
            <a:endParaRPr lang="en-US" sz="11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5A-1 Sporting superstitions</dc:title>
  <dc:subject>PptxGenJS Presentation</dc:subject>
  <dc:creator>London Language School</dc:creator>
  <cp:lastModifiedBy>London Language School</cp:lastModifiedBy>
  <cp:revision>1</cp:revision>
  <dcterms:created xsi:type="dcterms:W3CDTF">2026-10-05T09:39:28Z</dcterms:created>
  <dcterms:modified xsi:type="dcterms:W3CDTF">2026-10-05T09:39:28Z</dcterms:modified>
</cp:coreProperties>
</file>