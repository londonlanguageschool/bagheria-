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8B PART 2 (60 min) · SB pp.82–83. Aims: read five short true stories about excellent customer service and predict the endings; the letters ai; listen to the story of Dave Carroll and United Airlines; make nouns from verbs (Vocabulary Bank Word-building p.164, part 1 only – part 2 is in 9A); complain politely (Communication I want to speak to the manager). Timing: cover 2 · revision 5 · reading 7 · ai 5 · 8.18 4 · 8.19 7 · nouns 6 · interview 4 · bingo 4 · role-play 8 · exit 3 = 55 min. The video 'How to complain' (SB p.83, 8a–d) is on two EXTRA slides with the video embedded (Part 1 1'40", Part 2 7'08") – if you have 10–14 extra minutes, show it BEFORE the role-play (it models the role-play), or at the start of the next lesson. Click 1: the question – ask the class first, then click 2.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8B part 1 (5 min). VARIATION: odd one out (vocabulary + grammar). Pairs, 3 minutes: find the odd one out in each line AND explain why – the reason is worth the point, not just the word (there may be other good reasons: accept them if they are logical). Click once per line for our answer. Items 1–3 = shopping vocabulary (SB 3a), 4–6 = typical reported-speech mistakes from the TG grammar notes (said me; did in reported questions; tense changes from Grammar Bank 8B). Quick follow-up (1 min): 'What did I ask you at the start of the last lesson?' → You asked us if we needed any help!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(7 min). 4a (1 min): read the introduction – why can stories about customer service affect a company so much? TG: because people can use social networks to tell millions of other people about good or bad service (click 1). 4b (3 min): explain 'going the extra mile' (= making a special effort to help someone). Students read the five stories and write how each story ends – not the exact words, just the idea. Pairs compare; elicit ideas but DON'T say if they're right. VARIATION: prediction + curiosity gap. 4c (1 min): Communication 'Going the extra mile' p.109 – check. Show of hands: who guessed most endings? ⚠ The endings are only on p.109 (not in our files) – read them before class; don't guess them. 4d (1 min): 'In which stories…? 1 does someone get what they wanted to buy without paying (B, D, E) · 2 does someone get something in the post (C, E) · 3 is someone hungry (B, D) · 4 is the problem solved on the same day (A, B, D)' (TG). 4e (1 min, whole class): 'Which example A–E do you think… is the funniest / cost the company most money / took the company most time / was the most difficult to organize / is the best customer service?' Vocabulary: crawl, starving, tweet, parcel, make an exception, refund.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(5 min). 5a: play 8.16 – students underline the stressed syllable in each word; then they put the words (yellow sticky) in the three columns, saying them aloud. 5b: play 8.17 to check – click once per group (answers from the audio script): /eɪ/ claim, complain, contain, email, explain, paid, waiter · /eə/ airline, fair, hair, repair · /ə/ bargain, certain. Then 5b questions (book): 1 How is ai usually pronounced a) when it's stressed, b) when it's unstressed? Which word is an exception? 2 How is air usually pronounced? 3 Is said pronounced /seɪd/ or /sed/? Answers (TG): 1 ai when stressed is usually /eɪ/ (main, complain); ai when unstressed is usually /ə/ (bargain /ˈbɑːɡən/) – email is the exception · 2 air = /eə/ · 3 said = /sed/. again can be /əˈɡen/ or /əˈɡeɪn/. Diphthongs were introduced in 6B. Play again for repetition. VARIATION: phonological branching – each pair adds one more word to a column (e.g. rain, wait / stairs / mountain ⚠ any correct word).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(4 min). 6a (1 min, whole class): 'Have you ever had a problem with luggage when you were travelling, e.g. on a train or flight? What happened?' (TG: tell them about your own experience if you have one.) 6b: play 8.18 (six short extracts) once; students complete the gaps. Click 1 for answers (audio script): 1 throwing · 2 complained · 3 claim · 4 produced · 5 contacted, offered · 6 reported, dropped. VARIATION: prediction – the six sentences ARE the story in order: ask pairs to predict the full story from them before 8.19 (30 seconds).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(7 min). 6c: give students time to read questions 1–2 (= slide items 1–2), play 8.19 once. TG answers: 1 To complain about the experience he'd had with United Airlines · 2 Because the video went viral on YouTube and was watched by millions of people, who found out about United Airlines' bad customer service. Items 3–6 = listening for numbers, from the audio script ($1,200 to repair the guitar; nine months; over 16 million views; the BBC reported the share price dropped by 10% within four weeks = $180 million). Click 1 for all answers. 6d: students order events 1–10 in the book (1 Dave and his band flew from Halifax to Chicago and 10 United Airlines lost a lot of money are given), then listen again to check. TG: 2 They saw the baggage handlers throwing their guitars, and complained to airline staff · 3 They got their connecting flight to Omaha · 4 Dave discovered that his guitar was broken · 5 He complained again by phone and email, but they didn't help · 6 He wrote a song · 7 He put a video of the song on YouTube · 8 United contacted him and offered him money · 9 He did lots of media interviews. Also from the script: he refused the money and suggested they gave it to charity; 'It would have been much cheaper to repair Dave's guitar!' (a preview of 9A's third conditional). 6e (1 min): whole class – any very good / bad customer service experiences? VARIATION: perspective change – 'You're United's manager. What should you have done?'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(6 min). 7a: the nouns compensation, complaint, payment are from the listening – elicit the verbs (TG: compensate, complain, pay). 7b: Vocabulary Bank Word-building p.164, 1 Making nouns from verbs, a: students write the nouns in the right column; play 8.20 to check (answers in the key). Then they underline the stressed syllable – it often moves: exPLAIN → explaNAtion, COMpensate → compenSAtion, deMONstrate → demonSTRAtion. This slide = 8 of the 23 verbs; click 1 for answers (audio 8.20). Spelling: argue → argument (no e), achieve → achievement. Activation (TG): A (book open) says a verb, B (book closed) says the noun, then swap. TG tip: link to Vocabulary Bank Work p.163: apply → application, promote → promotion, resign → resignation, retire → retirement. VARIATION: vocabulary branching – 'What other nouns end in -ation / -ment?' (pronunciation, information, government…).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(4 min). Vocabulary Bank 1c: students complete the questions with a noun (careful with singular / plural); 1d: play 8.21 to check. Click once per question (answers from the audio script; the slide has 5 of the 7 questions – the others: 1 Have you ever been on a demonstration? What were you protesting about? · 4 Do you prefer reading grammar explanations in your own language, or in English?). Activation: pairs interview each other. VARIATION: follow-up questions – every answer must get one more question (When? What happened? Why?). Question 2 'arguments with your family' – keep it light; students can talk about a funny argument. Tell students that part 2 of this Vocabulary Bank will be done in 9A (TG).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(4 min). VARIATION: change the energy + memory. Books open only to write the grid (1 minute), then closed. Read the verbs in random order and tick them on your list so you can check a winner's line: compensate, consider, demonstrate, explain, tempt, value · achieve, agree, argue, attach, improve, manage, pay, treat · choose, complain, deliver, fail, lose, respond, sell, serve, succeed (the 23 nouns from audio 8.20). The winner must say the three nouns with the correct stress (e.g. consideRAtion, imPROVEment, reSPONSE). Play a second round if there's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ROLE-PLAY (8 min). The lines on the slide are real lines from the video 'How to complain' (Part 2, Phil complaining the RIGHT way). 1 min: drill the polite phrases – the presenter's tips (video script): complain to the right person; know what solution you want and make it clear; complain as soon as you notice the problem; never be rude or aggressive – a smile helps. 7 min: pairs A / B, face to face, Communication 'I want to speak to the manager', A p.109, B p.113. Situation 1: A = customer, B = shop assistant – A starts 'Excuse me, I bought…'. Situation 2: A = restaurant manager, B = customer – B starts 'Good evening. Are you the manager?' (TG). Feedback: did the customers get what they wanted? VARIATION: perspective change – everyone is customer once and 'the person who has to deal with it' once. PHOTOCOPIABLE: the Communicative photocopiable 'I want to speak to the manager' (📄 B1_8B_Photocopiables.pdf, page 2 – one per pair, cut into A and B) has the same two situations as the procedure above (A: customer in a clothes shop / restaurant manager; B: clothes-shop manager / restaurant customer, aiming for a 50% discount) – print it if students don't have their books, or so they can write notes (⚠ compare it quickly with Communication p.109 / p.113). Official procedure (TG): give them time to read situation 1 and prepare (including what the shop assistant / waiter told them – reported speech: 'I asked the shop assistant if they would change it. He said there were no more in my size.'), role-play, then repeat for situation 2; feedback: who succeeded in their aims? Odd number: the extra student helps A or B with the complaint.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Students choose a face for each can-do. Homework: Workbook 8B 2b, 2c (nouns from verbs) and 3a (the letters ai; 3b is audio – optional at home) + Vocabulary Bank p.164 part 1 (cover and test yourself) + the 8B-2 homework sheet (easier version available). Optional: Writing 'An email of complaint' p.122 (TG: 15–20 minutes; the sheet's exercise 3 is a shorter version). Answers are in the teacher key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VIDEO PART 1 (4 min) – use before the role-play if you have time. The video is embedded (1 min 40 s). 8a (1 min): share experiences of complaining (Have you ever complained in a hotel or restaurant? What happened?). 8b (1 min): pairs guess the top five hotel complaints. 8c: play Part 1 to check; click 1 for the answers (TG / video script): 1 Air-conditioning (24% – 'nearly a quarter of all the complaints') · 2 Wi-fi (14%) · 3 Noise (11%) · 4 Rooms not being clean (10% – 'a similar number') · 5 Slow or bad service (9%, especially breakfasts or room service). VARIATION: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VIDEO PART 2 (10 min) – use before the role-play if you have time (it models it), or at the start of the next lesson. The video is embedded (7 min 08 s): pause after each 'wrong' situation and ask 'What did Phil do wrong?', then play how he should have complained. TG: Situation 1 – he complains to the wrong person (the chambermaid); the second time he goes to reception (better in person than by phone). Situation 2 – he complains to the right person (the waiter) but then accepts the wrong toast and coffee: there's no point complaining if you don't want a solution; the second time he asks for the right toast and coffee (brown toast and a cappuccino) as quickly as possible. Situation 3 – he complains when checking out, so it's too late, and he's rude and aggressive; the second time he complains politely and at the right time, gets a new room (overlooking the garden) and they look at the wi-fi. Most important tip (video script): never be rude or aggressive – a smile will always make people want to help you. EXTRA SUPPORT (TG): watch again with subtitles. VARIATION: prediction (pause and predict what Phil should 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min). VARIATION: ranking + forced choice. Pairs agree an order from the best to the least special customer service and explain why ('It's the best because they didn't have to…'). Then the class votes: the Extra Mile Award. Follow-up: Has a shop or restaurant in Bagheria / Palermo ever gone the extra mile for you? (No answer key – opinions.)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WRITING (8 min in class + homework). Writing 'An email of complaint' p.122. TG answers: a 1 Sandra Adams, the Head of Department of John Leavis Customer Service · 2 A coffee machine: he ordered it two weeks ago and it still hasn't arrived, but payment has been taken from his credit card · 3 The customer service line · 4 The person he spoke to was rude and could not give him any information. b: A an introduction that gives the context · B a detailed explanation of the problem · C something positive about the company (if possible) and that you expect them to do something. c: 1 Dear · 2 reference · 3 in stock · 4 delivered · 5 However · 6 unhelpful · 7 service · 8 forward · 9 Yours. d: write the email (TG: 15–20 minutes, or homework). VARIATION: student-generated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video" Target="../media/media-12-3.mp4"/><Relationship Id="rId4" Type="http://schemas.microsoft.com/office/2007/relationships/media" Target="../media/media-12-3.mp4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video" Target="../media/media-13-3.mp4"/><Relationship Id="rId4" Type="http://schemas.microsoft.com/office/2007/relationships/media" Target="../media/media-13-3.mp4"/><Relationship Id="rId5" Type="http://schemas.openxmlformats.org/officeDocument/2006/relationships/image" Target="../media/image-13-5.png"/><Relationship Id="rId6" Type="http://schemas.openxmlformats.org/officeDocument/2006/relationships/image" Target="../media/image-1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8B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8B · Part 2 · SB pp.82–83</a:t>
            </a:r>
            <a:endParaRPr lang="en-US" sz="1100" dirty="0"/>
          </a:p>
        </p:txBody>
      </p:sp>
      <p:sp>
        <p:nvSpPr>
          <p:cNvPr id="9" name="title_7"/>
          <p:cNvSpPr txBox="1"/>
          <p:nvPr/>
        </p:nvSpPr>
        <p:spPr>
          <a:xfrm rot="120000">
            <a:off x="411480" y="1325880"/>
            <a:ext cx="4590288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A NICE DAY!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42900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Going the extra mile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71703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United Breaks Guitars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3332988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nouns from verbs</a:t>
            </a:r>
            <a:endParaRPr lang="en-US" sz="1200" dirty="0"/>
          </a:p>
        </p:txBody>
      </p:sp>
      <p:sp>
        <p:nvSpPr>
          <p:cNvPr id="13" name="stamp_11"/>
          <p:cNvSpPr txBox="1"/>
          <p:nvPr/>
        </p:nvSpPr>
        <p:spPr>
          <a:xfrm>
            <a:off x="457200" y="3895344"/>
            <a:ext cx="3044952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How to complain</a:t>
            </a:r>
            <a:endParaRPr lang="en-US" sz="1200" dirty="0"/>
          </a:p>
        </p:txBody>
      </p:sp>
      <p:sp>
        <p:nvSpPr>
          <p:cNvPr id="14" name="iconBack_12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3" descr="pi:PiGui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6" name="iconBack_14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con_15" descr="pi:PiAirplaneTi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8" name="iconBack_16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9" name="icon_17" descr="pi:PiThumbsDow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20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airline breaks your guitar. What do you do?</a:t>
            </a:r>
            <a:endParaRPr lang="en-US" sz="1400" dirty="0"/>
          </a:p>
        </p:txBody>
      </p:sp>
      <p:sp>
        <p:nvSpPr>
          <p:cNvPr id="21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song about it!</a:t>
            </a:r>
            <a:endParaRPr lang="en-US" sz="1300" dirty="0"/>
          </a:p>
        </p:txBody>
      </p:sp>
      <p:sp>
        <p:nvSpPr>
          <p:cNvPr id="22" name="tnote_18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8B part 1 · Shopping + reported speech</a:t>
            </a:r>
            <a:endParaRPr lang="en-US" sz="900" dirty="0"/>
          </a:p>
        </p:txBody>
      </p:sp>
      <p:sp>
        <p:nvSpPr>
          <p:cNvPr id="6" name="timer_2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8" name="title_24"/>
          <p:cNvSpPr txBox="1"/>
          <p:nvPr/>
        </p:nvSpPr>
        <p:spPr>
          <a:xfrm rot="90000">
            <a:off x="320040" y="676656"/>
            <a:ext cx="2587752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Odd one out!</a:t>
            </a:r>
            <a:endParaRPr lang="en-US" sz="1500" dirty="0"/>
          </a:p>
        </p:txBody>
      </p:sp>
      <p:sp>
        <p:nvSpPr>
          <p:cNvPr id="9" name="tape_2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26"/>
          <p:cNvSpPr/>
          <p:nvPr/>
        </p:nvSpPr>
        <p:spPr>
          <a:xfrm rot="-720000">
            <a:off x="2340864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2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2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odd one out. Say WHY!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l'intruso. Spiega PERCHÉ!</a:t>
            </a:r>
            <a:endParaRPr lang="en-US" sz="1250" dirty="0"/>
          </a:p>
        </p:txBody>
      </p:sp>
      <p:sp>
        <p:nvSpPr>
          <p:cNvPr id="14" name="iconBack_3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31" descr="pi:PiPuzzlePie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box_32"/>
          <p:cNvSpPr txBox="1"/>
          <p:nvPr/>
        </p:nvSpPr>
        <p:spPr>
          <a:xfrm>
            <a:off x="2788920" y="1371600"/>
            <a:ext cx="3379622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basket · trolley · bag · refund</a:t>
            </a:r>
            <a:endParaRPr lang="en-US" sz="1250" dirty="0"/>
          </a:p>
        </p:txBody>
      </p:sp>
      <p:sp>
        <p:nvSpPr>
          <p:cNvPr id="17" name="R1_a0"/>
          <p:cNvSpPr txBox="1"/>
          <p:nvPr/>
        </p:nvSpPr>
        <p:spPr>
          <a:xfrm>
            <a:off x="6223406" y="1408176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– it's money, not something you carry things in</a:t>
            </a:r>
            <a:endParaRPr lang="en-US" sz="1000" dirty="0"/>
          </a:p>
        </p:txBody>
      </p:sp>
      <p:sp>
        <p:nvSpPr>
          <p:cNvPr id="18" name="box_33"/>
          <p:cNvSpPr txBox="1"/>
          <p:nvPr/>
        </p:nvSpPr>
        <p:spPr>
          <a:xfrm>
            <a:off x="2788920" y="1941576"/>
            <a:ext cx="3379622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library · bookshop · department store · chain store</a:t>
            </a:r>
            <a:endParaRPr lang="en-US" sz="1050" dirty="0"/>
          </a:p>
        </p:txBody>
      </p:sp>
      <p:sp>
        <p:nvSpPr>
          <p:cNvPr id="19" name="R2_a1"/>
          <p:cNvSpPr txBox="1"/>
          <p:nvPr/>
        </p:nvSpPr>
        <p:spPr>
          <a:xfrm>
            <a:off x="6223406" y="1978152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– you can't buy things there</a:t>
            </a:r>
            <a:endParaRPr lang="en-US" sz="1150" dirty="0"/>
          </a:p>
        </p:txBody>
      </p:sp>
      <p:sp>
        <p:nvSpPr>
          <p:cNvPr id="20" name="box_34"/>
          <p:cNvSpPr txBox="1"/>
          <p:nvPr/>
        </p:nvSpPr>
        <p:spPr>
          <a:xfrm>
            <a:off x="2788920" y="2511552"/>
            <a:ext cx="3379622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credit card · debit card · cash · discount</a:t>
            </a:r>
            <a:endParaRPr lang="en-US" sz="1250" dirty="0"/>
          </a:p>
        </p:txBody>
      </p:sp>
      <p:sp>
        <p:nvSpPr>
          <p:cNvPr id="21" name="R3_a2"/>
          <p:cNvSpPr txBox="1"/>
          <p:nvPr/>
        </p:nvSpPr>
        <p:spPr>
          <a:xfrm>
            <a:off x="6223406" y="2548128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– it isn't a way to pay</a:t>
            </a:r>
            <a:endParaRPr lang="en-US" sz="1150" dirty="0"/>
          </a:p>
        </p:txBody>
      </p:sp>
      <p:sp>
        <p:nvSpPr>
          <p:cNvPr id="22" name="box_35"/>
          <p:cNvSpPr txBox="1"/>
          <p:nvPr/>
        </p:nvSpPr>
        <p:spPr>
          <a:xfrm>
            <a:off x="2788920" y="3081528"/>
            <a:ext cx="3379622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She told me… · She said that… · She said me… · She told him…</a:t>
            </a:r>
            <a:endParaRPr lang="en-US" sz="850" dirty="0"/>
          </a:p>
        </p:txBody>
      </p:sp>
      <p:sp>
        <p:nvSpPr>
          <p:cNvPr id="23" name="R4_a3"/>
          <p:cNvSpPr txBox="1"/>
          <p:nvPr/>
        </p:nvSpPr>
        <p:spPr>
          <a:xfrm>
            <a:off x="6223406" y="3118104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said me ✗ → She told me / She said (that)</a:t>
            </a:r>
            <a:endParaRPr lang="en-US" sz="1000" dirty="0"/>
          </a:p>
        </p:txBody>
      </p:sp>
      <p:sp>
        <p:nvSpPr>
          <p:cNvPr id="24" name="box_36"/>
          <p:cNvSpPr txBox="1"/>
          <p:nvPr/>
        </p:nvSpPr>
        <p:spPr>
          <a:xfrm>
            <a:off x="2788920" y="3651504"/>
            <a:ext cx="3379622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He asked me… where I lived · if I was OK · where did I work · what my name was</a:t>
            </a:r>
            <a:endParaRPr lang="en-US" sz="850" dirty="0"/>
          </a:p>
        </p:txBody>
      </p:sp>
      <p:sp>
        <p:nvSpPr>
          <p:cNvPr id="25" name="R5_a4"/>
          <p:cNvSpPr txBox="1"/>
          <p:nvPr/>
        </p:nvSpPr>
        <p:spPr>
          <a:xfrm>
            <a:off x="6223406" y="3688080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I work ✗ → where I worked</a:t>
            </a:r>
            <a:endParaRPr lang="en-US" sz="1100" dirty="0"/>
          </a:p>
        </p:txBody>
      </p:sp>
      <p:sp>
        <p:nvSpPr>
          <p:cNvPr id="26" name="box_37"/>
          <p:cNvSpPr txBox="1"/>
          <p:nvPr/>
        </p:nvSpPr>
        <p:spPr>
          <a:xfrm>
            <a:off x="2788920" y="4221480"/>
            <a:ext cx="3379622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can → could · will → would · must → had to · may → can</a:t>
            </a:r>
            <a:endParaRPr lang="en-US" sz="950" dirty="0"/>
          </a:p>
        </p:txBody>
      </p:sp>
      <p:sp>
        <p:nvSpPr>
          <p:cNvPr id="27" name="R6_a5"/>
          <p:cNvSpPr txBox="1"/>
          <p:nvPr/>
        </p:nvSpPr>
        <p:spPr>
          <a:xfrm>
            <a:off x="6223406" y="4258056"/>
            <a:ext cx="260055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→ can ✗ → may → might</a:t>
            </a:r>
            <a:endParaRPr lang="en-US" sz="1150" dirty="0"/>
          </a:p>
        </p:txBody>
      </p:sp>
      <p:sp>
        <p:nvSpPr>
          <p:cNvPr id="28" name="pageTag_3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8B pp.80–81 · Grammar Bank 8B p.147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Going the extra mile</a:t>
            </a:r>
            <a:endParaRPr lang="en-US" sz="900" dirty="0"/>
          </a:p>
        </p:txBody>
      </p:sp>
      <p:sp>
        <p:nvSpPr>
          <p:cNvPr id="6" name="timer_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4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8" name="title_44"/>
          <p:cNvSpPr txBox="1"/>
          <p:nvPr/>
        </p:nvSpPr>
        <p:spPr>
          <a:xfrm rot="90000">
            <a:off x="320040" y="676656"/>
            <a:ext cx="328269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does it end?</a:t>
            </a:r>
            <a:endParaRPr lang="en-US" sz="1500" dirty="0"/>
          </a:p>
        </p:txBody>
      </p:sp>
      <p:sp>
        <p:nvSpPr>
          <p:cNvPr id="9" name="tape_4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46"/>
          <p:cNvSpPr/>
          <p:nvPr/>
        </p:nvSpPr>
        <p:spPr>
          <a:xfrm rot="-720000">
            <a:off x="303580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4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4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3" name="signB_4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stories on p.82. Guess the last sentence!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le storie a p.82. Indovina l'ultima frase!</a:t>
            </a:r>
            <a:endParaRPr lang="en-US" sz="1250" dirty="0"/>
          </a:p>
        </p:txBody>
      </p:sp>
      <p:sp>
        <p:nvSpPr>
          <p:cNvPr id="14" name="box_50"/>
          <p:cNvSpPr txBox="1"/>
          <p:nvPr/>
        </p:nvSpPr>
        <p:spPr>
          <a:xfrm>
            <a:off x="2788920" y="1371600"/>
            <a:ext cx="3621024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good customer service more important than it used to be?</a:t>
            </a:r>
            <a:endParaRPr lang="en-US" sz="900" dirty="0"/>
          </a:p>
        </p:txBody>
      </p:sp>
      <p:sp>
        <p:nvSpPr>
          <p:cNvPr id="15" name="R1_a0"/>
          <p:cNvSpPr txBox="1"/>
          <p:nvPr/>
        </p:nvSpPr>
        <p:spPr>
          <a:xfrm>
            <a:off x="6464808" y="1408176"/>
            <a:ext cx="235915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media: millions of people can read the stories</a:t>
            </a:r>
            <a:endParaRPr lang="en-US" sz="1000" dirty="0"/>
          </a:p>
        </p:txBody>
      </p:sp>
      <p:sp>
        <p:nvSpPr>
          <p:cNvPr id="16" name="box_51"/>
          <p:cNvSpPr txBox="1"/>
          <p:nvPr/>
        </p:nvSpPr>
        <p:spPr>
          <a:xfrm>
            <a:off x="2788920" y="1941576"/>
            <a:ext cx="6035040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Nordstrom: a woman loses a diamond from her ring…</a:t>
            </a:r>
            <a:endParaRPr lang="en-US" sz="1200" dirty="0"/>
          </a:p>
        </p:txBody>
      </p:sp>
      <p:sp>
        <p:nvSpPr>
          <p:cNvPr id="17" name="box_52"/>
          <p:cNvSpPr txBox="1"/>
          <p:nvPr/>
        </p:nvSpPr>
        <p:spPr>
          <a:xfrm>
            <a:off x="2788920" y="2511552"/>
            <a:ext cx="6035040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Morton's: 'Can you meet me at the airport with a steak?'</a:t>
            </a:r>
            <a:endParaRPr lang="en-US" sz="1200" dirty="0"/>
          </a:p>
        </p:txBody>
      </p:sp>
      <p:sp>
        <p:nvSpPr>
          <p:cNvPr id="18" name="box_53"/>
          <p:cNvSpPr txBox="1"/>
          <p:nvPr/>
        </p:nvSpPr>
        <p:spPr>
          <a:xfrm>
            <a:off x="2788920" y="3081528"/>
            <a:ext cx="6035040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Ritz-Carlton: a little boy leaves Joshie the giraffe at the hotel…</a:t>
            </a:r>
            <a:endParaRPr lang="en-US" sz="1200" dirty="0"/>
          </a:p>
        </p:txBody>
      </p:sp>
      <p:sp>
        <p:nvSpPr>
          <p:cNvPr id="19" name="box_54"/>
          <p:cNvSpPr txBox="1"/>
          <p:nvPr/>
        </p:nvSpPr>
        <p:spPr>
          <a:xfrm>
            <a:off x="2788920" y="3651504"/>
            <a:ext cx="6035040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Trader Joe's: an 89-year-old man can't leave his house in the snow…</a:t>
            </a:r>
            <a:endParaRPr lang="en-US" sz="1200" dirty="0"/>
          </a:p>
        </p:txBody>
      </p:sp>
      <p:sp>
        <p:nvSpPr>
          <p:cNvPr id="20" name="box_55"/>
          <p:cNvSpPr txBox="1"/>
          <p:nvPr/>
        </p:nvSpPr>
        <p:spPr>
          <a:xfrm>
            <a:off x="2788920" y="4221480"/>
            <a:ext cx="6035040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Apple: 'Wife said no'…</a:t>
            </a:r>
            <a:endParaRPr lang="en-US" sz="1200" dirty="0"/>
          </a:p>
        </p:txBody>
      </p:sp>
      <p:sp>
        <p:nvSpPr>
          <p:cNvPr id="21" name="sticky_56"/>
          <p:cNvSpPr txBox="1"/>
          <p:nvPr/>
        </p:nvSpPr>
        <p:spPr>
          <a:xfrm rot="-120000">
            <a:off x="411480" y="397764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endings: Communication p.109</a:t>
            </a:r>
            <a:endParaRPr lang="en-US" sz="1150" dirty="0"/>
          </a:p>
        </p:txBody>
      </p:sp>
      <p:sp>
        <p:nvSpPr>
          <p:cNvPr id="22" name="pageTag_57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p.82 · 4a, 4b, 4c, 4d, 4e · Communication p.109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5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5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6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The letters ai · audio 8.16, 8.17</a:t>
            </a:r>
            <a:endParaRPr lang="en-US" sz="900" dirty="0"/>
          </a:p>
        </p:txBody>
      </p:sp>
      <p:sp>
        <p:nvSpPr>
          <p:cNvPr id="6" name="timer_6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6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8" name="title_63"/>
          <p:cNvSpPr txBox="1"/>
          <p:nvPr/>
        </p:nvSpPr>
        <p:spPr>
          <a:xfrm rot="90000">
            <a:off x="320040" y="676656"/>
            <a:ext cx="484632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train, chair or computer?</a:t>
            </a:r>
            <a:endParaRPr lang="en-US" sz="1500" dirty="0"/>
          </a:p>
        </p:txBody>
      </p:sp>
      <p:sp>
        <p:nvSpPr>
          <p:cNvPr id="9" name="tape_6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65"/>
          <p:cNvSpPr/>
          <p:nvPr/>
        </p:nvSpPr>
        <p:spPr>
          <a:xfrm rot="-720000">
            <a:off x="459943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6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6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6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words. Which sound is ai?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le parole. Che suono fa ai?</a:t>
            </a:r>
            <a:endParaRPr lang="en-US" sz="1250" dirty="0"/>
          </a:p>
        </p:txBody>
      </p:sp>
      <p:sp>
        <p:nvSpPr>
          <p:cNvPr id="14" name="box_69"/>
          <p:cNvSpPr txBox="1"/>
          <p:nvPr/>
        </p:nvSpPr>
        <p:spPr>
          <a:xfrm>
            <a:off x="2788920" y="1371600"/>
            <a:ext cx="2172614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train  /eɪ/</a:t>
            </a:r>
            <a:endParaRPr lang="en-US" sz="1400" dirty="0"/>
          </a:p>
        </p:txBody>
      </p:sp>
      <p:sp>
        <p:nvSpPr>
          <p:cNvPr id="15" name="R1_a0"/>
          <p:cNvSpPr txBox="1"/>
          <p:nvPr/>
        </p:nvSpPr>
        <p:spPr>
          <a:xfrm>
            <a:off x="5016398" y="1408176"/>
            <a:ext cx="380756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· complain · contain · email · explain · paid · waiter</a:t>
            </a:r>
            <a:endParaRPr lang="en-US" sz="1250" dirty="0"/>
          </a:p>
        </p:txBody>
      </p:sp>
      <p:sp>
        <p:nvSpPr>
          <p:cNvPr id="16" name="box_70"/>
          <p:cNvSpPr txBox="1"/>
          <p:nvPr/>
        </p:nvSpPr>
        <p:spPr>
          <a:xfrm>
            <a:off x="2788920" y="2226564"/>
            <a:ext cx="2172614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chair  /eə/</a:t>
            </a:r>
            <a:endParaRPr lang="en-US" sz="1400" dirty="0"/>
          </a:p>
        </p:txBody>
      </p:sp>
      <p:sp>
        <p:nvSpPr>
          <p:cNvPr id="17" name="R2_a1"/>
          <p:cNvSpPr txBox="1"/>
          <p:nvPr/>
        </p:nvSpPr>
        <p:spPr>
          <a:xfrm>
            <a:off x="5016398" y="2263140"/>
            <a:ext cx="380756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· fair · hair · repair</a:t>
            </a:r>
            <a:endParaRPr lang="en-US" sz="1250" dirty="0"/>
          </a:p>
        </p:txBody>
      </p:sp>
      <p:sp>
        <p:nvSpPr>
          <p:cNvPr id="18" name="box_71"/>
          <p:cNvSpPr txBox="1"/>
          <p:nvPr/>
        </p:nvSpPr>
        <p:spPr>
          <a:xfrm>
            <a:off x="2788920" y="3081528"/>
            <a:ext cx="2172614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computer  /ə/</a:t>
            </a:r>
            <a:endParaRPr lang="en-US" sz="1400" dirty="0"/>
          </a:p>
        </p:txBody>
      </p:sp>
      <p:sp>
        <p:nvSpPr>
          <p:cNvPr id="19" name="R3_a2"/>
          <p:cNvSpPr txBox="1"/>
          <p:nvPr/>
        </p:nvSpPr>
        <p:spPr>
          <a:xfrm>
            <a:off x="5016398" y="3118104"/>
            <a:ext cx="380756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bargain · certain</a:t>
            </a:r>
            <a:endParaRPr lang="en-US" sz="1250" dirty="0"/>
          </a:p>
        </p:txBody>
      </p:sp>
      <p:sp>
        <p:nvSpPr>
          <p:cNvPr id="20" name="box_72"/>
          <p:cNvSpPr txBox="1"/>
          <p:nvPr/>
        </p:nvSpPr>
        <p:spPr>
          <a:xfrm>
            <a:off x="2788920" y="3936492"/>
            <a:ext cx="2172614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Is said /seɪd/ or /sed/?</a:t>
            </a:r>
            <a:endParaRPr lang="en-US" sz="1400" dirty="0"/>
          </a:p>
        </p:txBody>
      </p:sp>
      <p:sp>
        <p:nvSpPr>
          <p:cNvPr id="21" name="R4_a3"/>
          <p:cNvSpPr txBox="1"/>
          <p:nvPr/>
        </p:nvSpPr>
        <p:spPr>
          <a:xfrm>
            <a:off x="5016398" y="3973068"/>
            <a:ext cx="380756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/sed/ – irregular!</a:t>
            </a:r>
            <a:endParaRPr lang="en-US" sz="1250" dirty="0"/>
          </a:p>
        </p:txBody>
      </p:sp>
      <p:sp>
        <p:nvSpPr>
          <p:cNvPr id="22" name="sticky_73"/>
          <p:cNvSpPr txBox="1"/>
          <p:nvPr/>
        </p:nvSpPr>
        <p:spPr>
          <a:xfrm rot="-120000">
            <a:off x="411480" y="3794760"/>
            <a:ext cx="2240280" cy="8686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· bargain · certain · claim · complain · contain · email · explain · fair · hair · paid · repair · waiter</a:t>
            </a:r>
            <a:endParaRPr lang="en-US" sz="1150" dirty="0"/>
          </a:p>
        </p:txBody>
      </p:sp>
      <p:sp>
        <p:nvSpPr>
          <p:cNvPr id="23" name="pageTag_7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p.82 · 5a, 5b · audio 8.16, 8.17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7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7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audio 8.18</a:t>
            </a:r>
            <a:endParaRPr lang="en-US" sz="900" dirty="0"/>
          </a:p>
        </p:txBody>
      </p:sp>
      <p:sp>
        <p:nvSpPr>
          <p:cNvPr id="6" name="timer_7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7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8" name="title_80"/>
          <p:cNvSpPr txBox="1"/>
          <p:nvPr/>
        </p:nvSpPr>
        <p:spPr>
          <a:xfrm rot="90000">
            <a:off x="320040" y="676656"/>
            <a:ext cx="484632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They're throwing guitars!</a:t>
            </a:r>
            <a:endParaRPr lang="en-US" sz="1500" dirty="0"/>
          </a:p>
        </p:txBody>
      </p:sp>
      <p:sp>
        <p:nvSpPr>
          <p:cNvPr id="9" name="tape_8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82"/>
          <p:cNvSpPr/>
          <p:nvPr/>
        </p:nvSpPr>
        <p:spPr>
          <a:xfrm rot="-720000">
            <a:off x="459943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8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8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3" name="signB_8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claim · complained · contacted · dropped · offered · produced · reported · throwing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con i verbi della lista.</a:t>
            </a:r>
            <a:endParaRPr lang="en-US" sz="1100" dirty="0"/>
          </a:p>
        </p:txBody>
      </p:sp>
      <p:sp>
        <p:nvSpPr>
          <p:cNvPr id="14" name="iconBack_86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87" descr="pi:PiGui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tr_88"/>
          <p:cNvSpPr txBox="1"/>
          <p:nvPr/>
        </p:nvSpPr>
        <p:spPr>
          <a:xfrm>
            <a:off x="2788920" y="1371600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🎧 8.18</a:t>
            </a:r>
            <a:endParaRPr lang="en-US" sz="1400" dirty="0"/>
          </a:p>
        </p:txBody>
      </p:sp>
      <p:sp>
        <p:nvSpPr>
          <p:cNvPr id="17" name="box_89"/>
          <p:cNvSpPr txBox="1"/>
          <p:nvPr/>
        </p:nvSpPr>
        <p:spPr>
          <a:xfrm>
            <a:off x="2788920" y="2103120"/>
            <a:ext cx="3983126" cy="3657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My God! They're ___ guitars out there!</a:t>
            </a:r>
            <a:endParaRPr lang="en-US" sz="1250" dirty="0"/>
          </a:p>
        </p:txBody>
      </p:sp>
      <p:sp>
        <p:nvSpPr>
          <p:cNvPr id="18" name="R1_la0"/>
          <p:cNvSpPr txBox="1"/>
          <p:nvPr/>
        </p:nvSpPr>
        <p:spPr>
          <a:xfrm>
            <a:off x="6826910" y="2130552"/>
            <a:ext cx="199705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</a:t>
            </a:r>
            <a:endParaRPr lang="en-US" sz="1200" dirty="0"/>
          </a:p>
        </p:txBody>
      </p:sp>
      <p:sp>
        <p:nvSpPr>
          <p:cNvPr id="19" name="box_90"/>
          <p:cNvSpPr txBox="1"/>
          <p:nvPr/>
        </p:nvSpPr>
        <p:spPr>
          <a:xfrm>
            <a:off x="2788920" y="2542032"/>
            <a:ext cx="3983126" cy="3657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They immediately ___ to United Airlines.</a:t>
            </a:r>
            <a:endParaRPr lang="en-US" sz="1250" dirty="0"/>
          </a:p>
        </p:txBody>
      </p:sp>
      <p:sp>
        <p:nvSpPr>
          <p:cNvPr id="20" name="R1_la1"/>
          <p:cNvSpPr txBox="1"/>
          <p:nvPr/>
        </p:nvSpPr>
        <p:spPr>
          <a:xfrm>
            <a:off x="6826910" y="2569464"/>
            <a:ext cx="199705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complained</a:t>
            </a:r>
            <a:endParaRPr lang="en-US" sz="1200" dirty="0"/>
          </a:p>
        </p:txBody>
      </p:sp>
      <p:sp>
        <p:nvSpPr>
          <p:cNvPr id="21" name="box_91"/>
          <p:cNvSpPr txBox="1"/>
          <p:nvPr/>
        </p:nvSpPr>
        <p:spPr>
          <a:xfrm>
            <a:off x="2788920" y="2980944"/>
            <a:ext cx="3983126" cy="3657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For nine months, he tried to ___ compensation.</a:t>
            </a:r>
            <a:endParaRPr lang="en-US" sz="1250" dirty="0"/>
          </a:p>
        </p:txBody>
      </p:sp>
      <p:sp>
        <p:nvSpPr>
          <p:cNvPr id="22" name="R1_la2"/>
          <p:cNvSpPr txBox="1"/>
          <p:nvPr/>
        </p:nvSpPr>
        <p:spPr>
          <a:xfrm>
            <a:off x="6826910" y="3008376"/>
            <a:ext cx="199705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</p:txBody>
      </p:sp>
      <p:sp>
        <p:nvSpPr>
          <p:cNvPr id="23" name="box_92"/>
          <p:cNvSpPr txBox="1"/>
          <p:nvPr/>
        </p:nvSpPr>
        <p:spPr>
          <a:xfrm>
            <a:off x="2788920" y="3419856"/>
            <a:ext cx="3983126" cy="3657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Dave wrote a song about his experience, and ___ a video to go with it.</a:t>
            </a:r>
            <a:endParaRPr lang="en-US" sz="850" dirty="0"/>
          </a:p>
        </p:txBody>
      </p:sp>
      <p:sp>
        <p:nvSpPr>
          <p:cNvPr id="24" name="R1_la3"/>
          <p:cNvSpPr txBox="1"/>
          <p:nvPr/>
        </p:nvSpPr>
        <p:spPr>
          <a:xfrm>
            <a:off x="6826910" y="3447288"/>
            <a:ext cx="199705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</a:t>
            </a:r>
            <a:endParaRPr lang="en-US" sz="1200" dirty="0"/>
          </a:p>
        </p:txBody>
      </p:sp>
      <p:sp>
        <p:nvSpPr>
          <p:cNvPr id="25" name="box_93"/>
          <p:cNvSpPr txBox="1"/>
          <p:nvPr/>
        </p:nvSpPr>
        <p:spPr>
          <a:xfrm>
            <a:off x="2788920" y="3858768"/>
            <a:ext cx="3983126" cy="3657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United Airlines ___ Dave and ___ him a payment.</a:t>
            </a:r>
            <a:endParaRPr lang="en-US" sz="1250" dirty="0"/>
          </a:p>
        </p:txBody>
      </p:sp>
      <p:sp>
        <p:nvSpPr>
          <p:cNvPr id="26" name="R1_la4"/>
          <p:cNvSpPr txBox="1"/>
          <p:nvPr/>
        </p:nvSpPr>
        <p:spPr>
          <a:xfrm>
            <a:off x="6826910" y="3886200"/>
            <a:ext cx="199705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 · offered</a:t>
            </a:r>
            <a:endParaRPr lang="en-US" sz="1200" dirty="0"/>
          </a:p>
        </p:txBody>
      </p:sp>
      <p:sp>
        <p:nvSpPr>
          <p:cNvPr id="27" name="box_94"/>
          <p:cNvSpPr txBox="1"/>
          <p:nvPr/>
        </p:nvSpPr>
        <p:spPr>
          <a:xfrm>
            <a:off x="2788920" y="4297680"/>
            <a:ext cx="3983126" cy="3657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The BBC ___ that United Airlines' share price had ___ by 10%.</a:t>
            </a:r>
            <a:endParaRPr lang="en-US" sz="1000" dirty="0"/>
          </a:p>
        </p:txBody>
      </p:sp>
      <p:sp>
        <p:nvSpPr>
          <p:cNvPr id="28" name="R1_la5"/>
          <p:cNvSpPr txBox="1"/>
          <p:nvPr/>
        </p:nvSpPr>
        <p:spPr>
          <a:xfrm>
            <a:off x="6826910" y="4325112"/>
            <a:ext cx="199705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· dropped</a:t>
            </a:r>
            <a:endParaRPr lang="en-US" sz="1200" dirty="0"/>
          </a:p>
        </p:txBody>
      </p:sp>
      <p:sp>
        <p:nvSpPr>
          <p:cNvPr id="29" name="pageTag_9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p.83 · 6a, 6b · audio 8.18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9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audio 8.19 · How's Business?</a:t>
            </a:r>
            <a:endParaRPr lang="en-US" sz="900" dirty="0"/>
          </a:p>
        </p:txBody>
      </p:sp>
      <p:sp>
        <p:nvSpPr>
          <p:cNvPr id="6" name="timer_9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10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8" name="title_101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United Breaks Guitars</a:t>
            </a:r>
            <a:endParaRPr lang="en-US" sz="1500" dirty="0"/>
          </a:p>
        </p:txBody>
      </p:sp>
      <p:sp>
        <p:nvSpPr>
          <p:cNvPr id="9" name="tape_10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03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0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0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3" name="signB_10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the whole story. Answer the questions.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Ascolta tutta la storia. Rispondi alle domande.</a:t>
            </a:r>
            <a:endParaRPr lang="en-US" sz="1250" dirty="0"/>
          </a:p>
        </p:txBody>
      </p:sp>
      <p:sp>
        <p:nvSpPr>
          <p:cNvPr id="14" name="tr_107"/>
          <p:cNvSpPr txBox="1"/>
          <p:nvPr/>
        </p:nvSpPr>
        <p:spPr>
          <a:xfrm>
            <a:off x="2788920" y="1371600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🎧 8.19</a:t>
            </a:r>
            <a:endParaRPr lang="en-US" sz="1400" dirty="0"/>
          </a:p>
        </p:txBody>
      </p:sp>
      <p:sp>
        <p:nvSpPr>
          <p:cNvPr id="15" name="box_108"/>
          <p:cNvSpPr txBox="1"/>
          <p:nvPr/>
        </p:nvSpPr>
        <p:spPr>
          <a:xfrm>
            <a:off x="2788920" y="2103120"/>
            <a:ext cx="3500323" cy="3657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Why did Dave Carroll write a song?</a:t>
            </a:r>
            <a:endParaRPr lang="en-US" sz="1200" dirty="0"/>
          </a:p>
        </p:txBody>
      </p:sp>
      <p:sp>
        <p:nvSpPr>
          <p:cNvPr id="16" name="R1_la0"/>
          <p:cNvSpPr txBox="1"/>
          <p:nvPr/>
        </p:nvSpPr>
        <p:spPr>
          <a:xfrm>
            <a:off x="6344107" y="2130552"/>
            <a:ext cx="2479853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complain about United Airlines</a:t>
            </a:r>
            <a:endParaRPr lang="en-US" sz="1150" dirty="0"/>
          </a:p>
        </p:txBody>
      </p:sp>
      <p:sp>
        <p:nvSpPr>
          <p:cNvPr id="17" name="box_109"/>
          <p:cNvSpPr txBox="1"/>
          <p:nvPr/>
        </p:nvSpPr>
        <p:spPr>
          <a:xfrm>
            <a:off x="2788920" y="2542032"/>
            <a:ext cx="3500323" cy="3657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Why did it have such a dramatic effect?</a:t>
            </a:r>
            <a:endParaRPr lang="en-US" sz="1200" dirty="0"/>
          </a:p>
        </p:txBody>
      </p:sp>
      <p:sp>
        <p:nvSpPr>
          <p:cNvPr id="18" name="R1_la1"/>
          <p:cNvSpPr txBox="1"/>
          <p:nvPr/>
        </p:nvSpPr>
        <p:spPr>
          <a:xfrm>
            <a:off x="6344107" y="2569464"/>
            <a:ext cx="2479853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went viral – millions saw their bad service</a:t>
            </a:r>
            <a:endParaRPr lang="en-US" sz="900" dirty="0"/>
          </a:p>
        </p:txBody>
      </p:sp>
      <p:sp>
        <p:nvSpPr>
          <p:cNvPr id="19" name="box_110"/>
          <p:cNvSpPr txBox="1"/>
          <p:nvPr/>
        </p:nvSpPr>
        <p:spPr>
          <a:xfrm>
            <a:off x="2788920" y="2980944"/>
            <a:ext cx="3500323" cy="3657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How much did the repair cost?</a:t>
            </a:r>
            <a:endParaRPr lang="en-US" sz="1200" dirty="0"/>
          </a:p>
        </p:txBody>
      </p:sp>
      <p:sp>
        <p:nvSpPr>
          <p:cNvPr id="20" name="R1_la2"/>
          <p:cNvSpPr txBox="1"/>
          <p:nvPr/>
        </p:nvSpPr>
        <p:spPr>
          <a:xfrm>
            <a:off x="6344107" y="3008376"/>
            <a:ext cx="2479853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</a:t>
            </a:r>
            <a:endParaRPr lang="en-US" sz="1150" dirty="0"/>
          </a:p>
        </p:txBody>
      </p:sp>
      <p:sp>
        <p:nvSpPr>
          <p:cNvPr id="21" name="box_111"/>
          <p:cNvSpPr txBox="1"/>
          <p:nvPr/>
        </p:nvSpPr>
        <p:spPr>
          <a:xfrm>
            <a:off x="2788920" y="3419856"/>
            <a:ext cx="3500323" cy="3657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How long did he try to get compensation?</a:t>
            </a:r>
            <a:endParaRPr lang="en-US" sz="1200" dirty="0"/>
          </a:p>
        </p:txBody>
      </p:sp>
      <p:sp>
        <p:nvSpPr>
          <p:cNvPr id="22" name="R1_la3"/>
          <p:cNvSpPr txBox="1"/>
          <p:nvPr/>
        </p:nvSpPr>
        <p:spPr>
          <a:xfrm>
            <a:off x="6344107" y="3447288"/>
            <a:ext cx="2479853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months</a:t>
            </a:r>
            <a:endParaRPr lang="en-US" sz="1150" dirty="0"/>
          </a:p>
        </p:txBody>
      </p:sp>
      <p:sp>
        <p:nvSpPr>
          <p:cNvPr id="23" name="box_112"/>
          <p:cNvSpPr txBox="1"/>
          <p:nvPr/>
        </p:nvSpPr>
        <p:spPr>
          <a:xfrm>
            <a:off x="2788920" y="3858768"/>
            <a:ext cx="3500323" cy="3657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How many views has the video had?</a:t>
            </a:r>
            <a:endParaRPr lang="en-US" sz="1200" dirty="0"/>
          </a:p>
        </p:txBody>
      </p:sp>
      <p:sp>
        <p:nvSpPr>
          <p:cNvPr id="24" name="R1_la4"/>
          <p:cNvSpPr txBox="1"/>
          <p:nvPr/>
        </p:nvSpPr>
        <p:spPr>
          <a:xfrm>
            <a:off x="6344107" y="3886200"/>
            <a:ext cx="2479853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16 million</a:t>
            </a:r>
            <a:endParaRPr lang="en-US" sz="1150" dirty="0"/>
          </a:p>
        </p:txBody>
      </p:sp>
      <p:sp>
        <p:nvSpPr>
          <p:cNvPr id="25" name="box_113"/>
          <p:cNvSpPr txBox="1"/>
          <p:nvPr/>
        </p:nvSpPr>
        <p:spPr>
          <a:xfrm>
            <a:off x="2788920" y="4297680"/>
            <a:ext cx="3500323" cy="3657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How much did United lose?</a:t>
            </a:r>
            <a:endParaRPr lang="en-US" sz="1200" dirty="0"/>
          </a:p>
        </p:txBody>
      </p:sp>
      <p:sp>
        <p:nvSpPr>
          <p:cNvPr id="26" name="R1_la5"/>
          <p:cNvSpPr txBox="1"/>
          <p:nvPr/>
        </p:nvSpPr>
        <p:spPr>
          <a:xfrm>
            <a:off x="6344107" y="4325112"/>
            <a:ext cx="2479853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 million (share price −10%)</a:t>
            </a:r>
            <a:endParaRPr lang="en-US" sz="1150" dirty="0"/>
          </a:p>
        </p:txBody>
      </p:sp>
      <p:sp>
        <p:nvSpPr>
          <p:cNvPr id="27" name="pageTag_11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p.83 · 6c, 6d, 6e · audio 8.19</a:t>
            </a:r>
            <a:endParaRPr lang="en-US" sz="1050" dirty="0"/>
          </a:p>
        </p:txBody>
      </p:sp>
      <p:sp>
        <p:nvSpPr>
          <p:cNvPr id="28" name="pframe_115"/>
          <p:cNvSpPr/>
          <p:nvPr/>
        </p:nvSpPr>
        <p:spPr>
          <a:xfrm rot="-120000">
            <a:off x="411480" y="3200400"/>
            <a:ext cx="210312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9" name="pimg_116" descr="Dave Carrol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20000">
            <a:off x="484632" y="3273552"/>
            <a:ext cx="1956816" cy="1115568"/>
          </a:xfrm>
          <a:prstGeom prst="rect">
            <a:avLst/>
          </a:prstGeom>
        </p:spPr>
      </p:pic>
      <p:sp>
        <p:nvSpPr>
          <p:cNvPr id="30" name="pcap_117"/>
          <p:cNvSpPr txBox="1"/>
          <p:nvPr/>
        </p:nvSpPr>
        <p:spPr>
          <a:xfrm rot="-120000">
            <a:off x="411480" y="4398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Carroll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Vocabulary Bank Word-building p.164</a:t>
            </a:r>
            <a:endParaRPr lang="en-US" sz="900" dirty="0"/>
          </a:p>
        </p:txBody>
      </p:sp>
      <p:sp>
        <p:nvSpPr>
          <p:cNvPr id="6" name="timer_1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8" name="title_123"/>
          <p:cNvSpPr txBox="1"/>
          <p:nvPr/>
        </p:nvSpPr>
        <p:spPr>
          <a:xfrm rot="90000">
            <a:off x="320040" y="676656"/>
            <a:ext cx="328269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Nouns from verbs</a:t>
            </a:r>
            <a:endParaRPr lang="en-US" sz="1500" dirty="0"/>
          </a:p>
        </p:txBody>
      </p:sp>
      <p:sp>
        <p:nvSpPr>
          <p:cNvPr id="9" name="tape_1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25"/>
          <p:cNvSpPr/>
          <p:nvPr/>
        </p:nvSpPr>
        <p:spPr>
          <a:xfrm rot="-720000">
            <a:off x="303580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1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noun. Watch the stress – it can move!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il sostantivo. Attenzione all'accento: può cambiare!</a:t>
            </a:r>
            <a:endParaRPr lang="en-US" sz="1250" dirty="0"/>
          </a:p>
        </p:txBody>
      </p:sp>
      <p:sp>
        <p:nvSpPr>
          <p:cNvPr id="14" name="iconBack_129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30" descr="pi:PiL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box_131"/>
          <p:cNvSpPr txBox="1"/>
          <p:nvPr/>
        </p:nvSpPr>
        <p:spPr>
          <a:xfrm>
            <a:off x="2788920" y="1371600"/>
            <a:ext cx="2534717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compensate /ˈkɒmpenseɪt/</a:t>
            </a:r>
            <a:endParaRPr lang="en-US" sz="1250" dirty="0"/>
          </a:p>
        </p:txBody>
      </p:sp>
      <p:sp>
        <p:nvSpPr>
          <p:cNvPr id="17" name="R1_m0"/>
          <p:cNvSpPr txBox="1"/>
          <p:nvPr/>
        </p:nvSpPr>
        <p:spPr>
          <a:xfrm>
            <a:off x="5396789" y="138988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(-ation)</a:t>
            </a:r>
            <a:endParaRPr lang="en-US" sz="1200" dirty="0"/>
          </a:p>
        </p:txBody>
      </p:sp>
      <p:sp>
        <p:nvSpPr>
          <p:cNvPr id="18" name="box_132"/>
          <p:cNvSpPr txBox="1"/>
          <p:nvPr/>
        </p:nvSpPr>
        <p:spPr>
          <a:xfrm>
            <a:off x="2788920" y="1794510"/>
            <a:ext cx="2534717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explain</a:t>
            </a:r>
            <a:endParaRPr lang="en-US" sz="1250" dirty="0"/>
          </a:p>
        </p:txBody>
      </p:sp>
      <p:sp>
        <p:nvSpPr>
          <p:cNvPr id="19" name="R1_m1"/>
          <p:cNvSpPr txBox="1"/>
          <p:nvPr/>
        </p:nvSpPr>
        <p:spPr>
          <a:xfrm>
            <a:off x="5396789" y="181279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(-ation)</a:t>
            </a:r>
            <a:endParaRPr lang="en-US" sz="1200" dirty="0"/>
          </a:p>
        </p:txBody>
      </p:sp>
      <p:sp>
        <p:nvSpPr>
          <p:cNvPr id="20" name="box_133"/>
          <p:cNvSpPr txBox="1"/>
          <p:nvPr/>
        </p:nvSpPr>
        <p:spPr>
          <a:xfrm>
            <a:off x="2788920" y="2217420"/>
            <a:ext cx="2534717" cy="3497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argue</a:t>
            </a:r>
            <a:endParaRPr lang="en-US" sz="1250" dirty="0"/>
          </a:p>
        </p:txBody>
      </p:sp>
      <p:sp>
        <p:nvSpPr>
          <p:cNvPr id="21" name="R1_m2"/>
          <p:cNvSpPr txBox="1"/>
          <p:nvPr/>
        </p:nvSpPr>
        <p:spPr>
          <a:xfrm>
            <a:off x="5396789" y="223570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(-ment, no e!)</a:t>
            </a:r>
            <a:endParaRPr lang="en-US" sz="1200" dirty="0"/>
          </a:p>
        </p:txBody>
      </p:sp>
      <p:sp>
        <p:nvSpPr>
          <p:cNvPr id="22" name="box_134"/>
          <p:cNvSpPr txBox="1"/>
          <p:nvPr/>
        </p:nvSpPr>
        <p:spPr>
          <a:xfrm>
            <a:off x="2788920" y="2640330"/>
            <a:ext cx="2534717" cy="3497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pay</a:t>
            </a:r>
            <a:endParaRPr lang="en-US" sz="1250" dirty="0"/>
          </a:p>
        </p:txBody>
      </p:sp>
      <p:sp>
        <p:nvSpPr>
          <p:cNvPr id="23" name="R1_m3"/>
          <p:cNvSpPr txBox="1"/>
          <p:nvPr/>
        </p:nvSpPr>
        <p:spPr>
          <a:xfrm>
            <a:off x="5396789" y="265861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(-ment)</a:t>
            </a:r>
            <a:endParaRPr lang="en-US" sz="1200" dirty="0"/>
          </a:p>
        </p:txBody>
      </p:sp>
      <p:sp>
        <p:nvSpPr>
          <p:cNvPr id="24" name="box_135"/>
          <p:cNvSpPr txBox="1"/>
          <p:nvPr/>
        </p:nvSpPr>
        <p:spPr>
          <a:xfrm>
            <a:off x="2788920" y="3063240"/>
            <a:ext cx="2534717" cy="3497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achieve</a:t>
            </a:r>
            <a:endParaRPr lang="en-US" sz="1250" dirty="0"/>
          </a:p>
        </p:txBody>
      </p:sp>
      <p:sp>
        <p:nvSpPr>
          <p:cNvPr id="25" name="R1_m4"/>
          <p:cNvSpPr txBox="1"/>
          <p:nvPr/>
        </p:nvSpPr>
        <p:spPr>
          <a:xfrm>
            <a:off x="5396789" y="308152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(-ment)</a:t>
            </a:r>
            <a:endParaRPr lang="en-US" sz="1200" dirty="0"/>
          </a:p>
        </p:txBody>
      </p:sp>
      <p:sp>
        <p:nvSpPr>
          <p:cNvPr id="26" name="box_136"/>
          <p:cNvSpPr txBox="1"/>
          <p:nvPr/>
        </p:nvSpPr>
        <p:spPr>
          <a:xfrm>
            <a:off x="2788920" y="3486150"/>
            <a:ext cx="2534717" cy="3497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complain</a:t>
            </a:r>
            <a:endParaRPr lang="en-US" sz="1250" dirty="0"/>
          </a:p>
        </p:txBody>
      </p:sp>
      <p:sp>
        <p:nvSpPr>
          <p:cNvPr id="27" name="R1_m5"/>
          <p:cNvSpPr txBox="1"/>
          <p:nvPr/>
        </p:nvSpPr>
        <p:spPr>
          <a:xfrm>
            <a:off x="5396789" y="350443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(new word)</a:t>
            </a:r>
            <a:endParaRPr lang="en-US" sz="1200" dirty="0"/>
          </a:p>
        </p:txBody>
      </p:sp>
      <p:sp>
        <p:nvSpPr>
          <p:cNvPr id="28" name="box_137"/>
          <p:cNvSpPr txBox="1"/>
          <p:nvPr/>
        </p:nvSpPr>
        <p:spPr>
          <a:xfrm>
            <a:off x="2788920" y="3909060"/>
            <a:ext cx="2534717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choose</a:t>
            </a:r>
            <a:endParaRPr lang="en-US" sz="1250" dirty="0"/>
          </a:p>
        </p:txBody>
      </p:sp>
      <p:sp>
        <p:nvSpPr>
          <p:cNvPr id="29" name="R1_m6"/>
          <p:cNvSpPr txBox="1"/>
          <p:nvPr/>
        </p:nvSpPr>
        <p:spPr>
          <a:xfrm>
            <a:off x="5396789" y="392734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(new word)</a:t>
            </a:r>
            <a:endParaRPr lang="en-US" sz="1200" dirty="0"/>
          </a:p>
        </p:txBody>
      </p:sp>
      <p:sp>
        <p:nvSpPr>
          <p:cNvPr id="30" name="box_138"/>
          <p:cNvSpPr txBox="1"/>
          <p:nvPr/>
        </p:nvSpPr>
        <p:spPr>
          <a:xfrm>
            <a:off x="2788920" y="4331970"/>
            <a:ext cx="2534717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lose</a:t>
            </a:r>
            <a:endParaRPr lang="en-US" sz="1250" dirty="0"/>
          </a:p>
        </p:txBody>
      </p:sp>
      <p:sp>
        <p:nvSpPr>
          <p:cNvPr id="31" name="R1_m7"/>
          <p:cNvSpPr txBox="1"/>
          <p:nvPr/>
        </p:nvSpPr>
        <p:spPr>
          <a:xfrm>
            <a:off x="5396789" y="435025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(new word)</a:t>
            </a:r>
            <a:endParaRPr lang="en-US" sz="1200" dirty="0"/>
          </a:p>
        </p:txBody>
      </p:sp>
      <p:sp>
        <p:nvSpPr>
          <p:cNvPr id="32" name="pageTag_13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p.83 · 7a, 7b · Vocabulary Bank Word-building p.164, 1a, 1b · audio 8.20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4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Vocabulary Bank 1c, 1d · audio 8.21</a:t>
            </a:r>
            <a:endParaRPr lang="en-US" sz="900" dirty="0"/>
          </a:p>
        </p:txBody>
      </p:sp>
      <p:sp>
        <p:nvSpPr>
          <p:cNvPr id="6" name="timer_14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4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8" name="title_145"/>
          <p:cNvSpPr txBox="1"/>
          <p:nvPr/>
        </p:nvSpPr>
        <p:spPr>
          <a:xfrm rot="90000">
            <a:off x="320040" y="676656"/>
            <a:ext cx="328269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and ask</a:t>
            </a:r>
            <a:endParaRPr lang="en-US" sz="1500" dirty="0"/>
          </a:p>
        </p:txBody>
      </p:sp>
      <p:sp>
        <p:nvSpPr>
          <p:cNvPr id="9" name="tape_14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47"/>
          <p:cNvSpPr/>
          <p:nvPr/>
        </p:nvSpPr>
        <p:spPr>
          <a:xfrm rot="-720000">
            <a:off x="303580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4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4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15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 a noun. Then ask a partner – and ask one more question!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con un sostantivo. Poi chiedi al compagno – e fai un'altra domanda!</a:t>
            </a:r>
            <a:endParaRPr lang="en-US" sz="1000" dirty="0"/>
          </a:p>
        </p:txBody>
      </p:sp>
      <p:sp>
        <p:nvSpPr>
          <p:cNvPr id="14" name="box_151"/>
          <p:cNvSpPr txBox="1"/>
          <p:nvPr/>
        </p:nvSpPr>
        <p:spPr>
          <a:xfrm>
            <a:off x="2788920" y="1371600"/>
            <a:ext cx="446593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Have you ever opened an email ___ that contained a virus?</a:t>
            </a:r>
            <a:endParaRPr lang="en-US" sz="1200" dirty="0"/>
          </a:p>
        </p:txBody>
      </p:sp>
      <p:sp>
        <p:nvSpPr>
          <p:cNvPr id="15" name="R1_a0"/>
          <p:cNvSpPr txBox="1"/>
          <p:nvPr/>
        </p:nvSpPr>
        <p:spPr>
          <a:xfrm>
            <a:off x="7309714" y="1408176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</a:t>
            </a:r>
            <a:endParaRPr lang="en-US" sz="1150" dirty="0"/>
          </a:p>
        </p:txBody>
      </p:sp>
      <p:sp>
        <p:nvSpPr>
          <p:cNvPr id="16" name="box_152"/>
          <p:cNvSpPr txBox="1"/>
          <p:nvPr/>
        </p:nvSpPr>
        <p:spPr>
          <a:xfrm>
            <a:off x="2788920" y="2055571"/>
            <a:ext cx="446593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Do you often have ___ with your family? What about?</a:t>
            </a:r>
            <a:endParaRPr lang="en-US" sz="1200" dirty="0"/>
          </a:p>
        </p:txBody>
      </p:sp>
      <p:sp>
        <p:nvSpPr>
          <p:cNvPr id="17" name="R2_a1"/>
          <p:cNvSpPr txBox="1"/>
          <p:nvPr/>
        </p:nvSpPr>
        <p:spPr>
          <a:xfrm>
            <a:off x="7309714" y="2092147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sp>
        <p:nvSpPr>
          <p:cNvPr id="18" name="box_153"/>
          <p:cNvSpPr txBox="1"/>
          <p:nvPr/>
        </p:nvSpPr>
        <p:spPr>
          <a:xfrm>
            <a:off x="2788920" y="2739542"/>
            <a:ext cx="446593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Have you ever made a ___ to a company and got ___?</a:t>
            </a:r>
            <a:endParaRPr lang="en-US" sz="1200" dirty="0"/>
          </a:p>
        </p:txBody>
      </p:sp>
      <p:sp>
        <p:nvSpPr>
          <p:cNvPr id="19" name="R3_a2"/>
          <p:cNvSpPr txBox="1"/>
          <p:nvPr/>
        </p:nvSpPr>
        <p:spPr>
          <a:xfrm>
            <a:off x="7309714" y="2776118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· compensation</a:t>
            </a:r>
            <a:endParaRPr lang="en-US" sz="1150" dirty="0"/>
          </a:p>
        </p:txBody>
      </p:sp>
      <p:sp>
        <p:nvSpPr>
          <p:cNvPr id="20" name="box_154"/>
          <p:cNvSpPr txBox="1"/>
          <p:nvPr/>
        </p:nvSpPr>
        <p:spPr>
          <a:xfrm>
            <a:off x="2788920" y="3423514"/>
            <a:ext cx="446593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Is there too much ___ when you're shopping, e.g. for a new phone?</a:t>
            </a:r>
            <a:endParaRPr lang="en-US" sz="1200" dirty="0"/>
          </a:p>
        </p:txBody>
      </p:sp>
      <p:sp>
        <p:nvSpPr>
          <p:cNvPr id="21" name="R4_a3"/>
          <p:cNvSpPr txBox="1"/>
          <p:nvPr/>
        </p:nvSpPr>
        <p:spPr>
          <a:xfrm>
            <a:off x="7309714" y="3460090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150" dirty="0"/>
          </a:p>
        </p:txBody>
      </p:sp>
      <p:sp>
        <p:nvSpPr>
          <p:cNvPr id="22" name="box_155"/>
          <p:cNvSpPr txBox="1"/>
          <p:nvPr/>
        </p:nvSpPr>
        <p:spPr>
          <a:xfrm>
            <a:off x="2788920" y="4107485"/>
            <a:ext cx="446593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In a restaurant, what's more important: the food or the ___?</a:t>
            </a:r>
            <a:endParaRPr lang="en-US" sz="1200" dirty="0"/>
          </a:p>
        </p:txBody>
      </p:sp>
      <p:sp>
        <p:nvSpPr>
          <p:cNvPr id="23" name="R5_a4"/>
          <p:cNvSpPr txBox="1"/>
          <p:nvPr/>
        </p:nvSpPr>
        <p:spPr>
          <a:xfrm>
            <a:off x="7309714" y="4144061"/>
            <a:ext cx="15142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24" name="pageTag_15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Vocabulary Bank Word-building p.164 · 1c, 1d · audio 8.21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5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Word-building bingo</a:t>
            </a:r>
            <a:endParaRPr lang="en-US" sz="900" dirty="0"/>
          </a:p>
        </p:txBody>
      </p:sp>
      <p:sp>
        <p:nvSpPr>
          <p:cNvPr id="6" name="timer_16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6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8" name="title_162"/>
          <p:cNvSpPr txBox="1"/>
          <p:nvPr/>
        </p:nvSpPr>
        <p:spPr>
          <a:xfrm rot="90000">
            <a:off x="320040" y="676656"/>
            <a:ext cx="241401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Noun bingo!</a:t>
            </a:r>
            <a:endParaRPr lang="en-US" sz="1500" dirty="0"/>
          </a:p>
        </p:txBody>
      </p:sp>
      <p:sp>
        <p:nvSpPr>
          <p:cNvPr id="9" name="tape_163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64"/>
          <p:cNvSpPr/>
          <p:nvPr/>
        </p:nvSpPr>
        <p:spPr>
          <a:xfrm rot="-720000">
            <a:off x="216712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6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6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16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9 nouns in a 3×3 grid. Listen for the verbs!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9 sostantivi in una griglia 3×3. Ascolta i verbi!</a:t>
            </a:r>
            <a:endParaRPr lang="en-US" sz="1250" dirty="0"/>
          </a:p>
        </p:txBody>
      </p:sp>
      <p:sp>
        <p:nvSpPr>
          <p:cNvPr id="14" name="iconBack_168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69" descr="pi:PiSquaresFou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num_170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box_171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3 × 3 grid. Choose 9 nouns from Vocabulary Bank p.164 and write one in each square.</a:t>
            </a:r>
            <a:endParaRPr lang="en-US" sz="950" dirty="0"/>
          </a:p>
        </p:txBody>
      </p:sp>
      <p:sp>
        <p:nvSpPr>
          <p:cNvPr id="18" name="num_172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ox_173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your book! The teacher says a VERB, e.g. 'deliver'.</a:t>
            </a:r>
            <a:endParaRPr lang="en-US" sz="1250" dirty="0"/>
          </a:p>
        </p:txBody>
      </p:sp>
      <p:sp>
        <p:nvSpPr>
          <p:cNvPr id="20" name="num_174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175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the noun (delivery), cross it out.</a:t>
            </a:r>
            <a:endParaRPr lang="en-US" sz="1250" dirty="0"/>
          </a:p>
        </p:txBody>
      </p:sp>
      <p:sp>
        <p:nvSpPr>
          <p:cNvPr id="22" name="num_176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box_177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 a line? Shout BINGO! – and say your three nouns with the correct stress.</a:t>
            </a:r>
            <a:endParaRPr lang="en-US" sz="1100" dirty="0"/>
          </a:p>
        </p:txBody>
      </p:sp>
      <p:sp>
        <p:nvSpPr>
          <p:cNvPr id="24" name="num_178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box_179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spelling or stress = no bingo. The game continues!</a:t>
            </a:r>
            <a:endParaRPr lang="en-US" sz="1250" dirty="0"/>
          </a:p>
        </p:txBody>
      </p:sp>
      <p:sp>
        <p:nvSpPr>
          <p:cNvPr id="26" name="bubble_180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'fail' → You cross out: failure</a:t>
            </a:r>
            <a:endParaRPr lang="en-US" sz="1300" dirty="0"/>
          </a:p>
        </p:txBody>
      </p:sp>
      <p:sp>
        <p:nvSpPr>
          <p:cNvPr id="27" name="pageTag_18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Vocabulary Bank Word-building p.164 · 1 Making nouns from verbs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8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Communication pp.109, 113</a:t>
            </a:r>
            <a:endParaRPr lang="en-US" sz="900" dirty="0"/>
          </a:p>
        </p:txBody>
      </p:sp>
      <p:sp>
        <p:nvSpPr>
          <p:cNvPr id="6" name="timer_18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18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8" name="title_187"/>
          <p:cNvSpPr txBox="1"/>
          <p:nvPr/>
        </p:nvSpPr>
        <p:spPr>
          <a:xfrm rot="90000">
            <a:off x="320040" y="676656"/>
            <a:ext cx="363016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Complain politely!</a:t>
            </a:r>
            <a:endParaRPr lang="en-US" sz="1500" dirty="0"/>
          </a:p>
        </p:txBody>
      </p:sp>
      <p:sp>
        <p:nvSpPr>
          <p:cNvPr id="9" name="tape_188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89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9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9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19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p.109, B p.113. Role-play. Complain politely!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p.109, B p.113. Recita. Lamentati con gentilezza!</a:t>
            </a:r>
            <a:endParaRPr lang="en-US" sz="1250" dirty="0"/>
          </a:p>
        </p:txBody>
      </p:sp>
      <p:sp>
        <p:nvSpPr>
          <p:cNvPr id="14" name="iconBack_193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94" descr="pi:PiPhoneCa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line_195"/>
          <p:cNvSpPr txBox="1"/>
          <p:nvPr/>
        </p:nvSpPr>
        <p:spPr>
          <a:xfrm>
            <a:off x="2788920" y="13716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Receptionist: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morning. How can I help you?</a:t>
            </a:r>
            <a:endParaRPr lang="en-US" sz="1100" dirty="0"/>
          </a:p>
        </p:txBody>
      </p:sp>
      <p:sp>
        <p:nvSpPr>
          <p:cNvPr id="17" name="line_196"/>
          <p:cNvSpPr txBox="1"/>
          <p:nvPr/>
        </p:nvSpPr>
        <p:spPr>
          <a:xfrm>
            <a:off x="3108960" y="193548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Phil: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there's a problem with the air-conditioning in my room.</a:t>
            </a:r>
            <a:endParaRPr lang="en-US" sz="950" dirty="0"/>
          </a:p>
        </p:txBody>
      </p:sp>
      <p:sp>
        <p:nvSpPr>
          <p:cNvPr id="18" name="line_197"/>
          <p:cNvSpPr txBox="1"/>
          <p:nvPr/>
        </p:nvSpPr>
        <p:spPr>
          <a:xfrm>
            <a:off x="2788920" y="249936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Phil: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ask someone to have a look at it before this evening?</a:t>
            </a:r>
            <a:endParaRPr lang="en-US" sz="950" dirty="0"/>
          </a:p>
        </p:txBody>
      </p:sp>
      <p:sp>
        <p:nvSpPr>
          <p:cNvPr id="19" name="line_198"/>
          <p:cNvSpPr txBox="1"/>
          <p:nvPr/>
        </p:nvSpPr>
        <p:spPr>
          <a:xfrm>
            <a:off x="3108960" y="306324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Receptionist: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course, sir. I'll do it right away.</a:t>
            </a:r>
            <a:endParaRPr lang="en-US" sz="1200" dirty="0"/>
          </a:p>
        </p:txBody>
      </p:sp>
      <p:sp>
        <p:nvSpPr>
          <p:cNvPr id="20" name="line_199"/>
          <p:cNvSpPr txBox="1"/>
          <p:nvPr/>
        </p:nvSpPr>
        <p:spPr>
          <a:xfrm>
            <a:off x="2788920" y="362712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Phil: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it be possible to move to a different room?</a:t>
            </a:r>
            <a:endParaRPr lang="en-US" sz="1050" dirty="0"/>
          </a:p>
        </p:txBody>
      </p:sp>
      <p:sp>
        <p:nvSpPr>
          <p:cNvPr id="21" name="line_200"/>
          <p:cNvSpPr txBox="1"/>
          <p:nvPr/>
        </p:nvSpPr>
        <p:spPr>
          <a:xfrm>
            <a:off x="3108960" y="41910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Waiter: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very sorry, sir. The kitchen must have made a mistake.</a:t>
            </a:r>
            <a:endParaRPr lang="en-US" sz="950" dirty="0"/>
          </a:p>
        </p:txBody>
      </p:sp>
      <p:sp>
        <p:nvSpPr>
          <p:cNvPr id="22" name="phrases_201"/>
          <p:cNvSpPr txBox="1"/>
          <p:nvPr/>
        </p:nvSpPr>
        <p:spPr>
          <a:xfrm rot="90000">
            <a:off x="6858000" y="1371600"/>
            <a:ext cx="1965960" cy="3310128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phrases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Excuse me, I bought… and…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there's a problem with…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you…?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it be possible to…?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could…, that would be great.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like a refund / to change it.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speak to the manager?</a:t>
            </a:r>
            <a:endParaRPr lang="en-US" sz="1200" dirty="0"/>
          </a:p>
        </p:txBody>
      </p:sp>
      <p:sp>
        <p:nvSpPr>
          <p:cNvPr id="23" name="pageTag_20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Communication A p.109, B p.113 · or 📄 Print: B1_8B_Photocopiables.pdf, page 2 (cut A / B)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0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0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6" name="title_206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tape_207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8" name="tape_208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sub_209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10" name="box_210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understand stories about customer service.</a:t>
            </a:r>
            <a:endParaRPr lang="en-US" sz="1350" dirty="0"/>
          </a:p>
        </p:txBody>
      </p:sp>
      <p:sp>
        <p:nvSpPr>
          <p:cNvPr id="11" name="faces_211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12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make nouns from verbs and say them correctly.</a:t>
            </a:r>
            <a:endParaRPr lang="en-US" sz="1300" dirty="0"/>
          </a:p>
        </p:txBody>
      </p:sp>
      <p:sp>
        <p:nvSpPr>
          <p:cNvPr id="13" name="faces_213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box_214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complain politely in a shop or a restaurant.</a:t>
            </a:r>
            <a:endParaRPr lang="en-US" sz="1350" dirty="0"/>
          </a:p>
        </p:txBody>
      </p:sp>
      <p:sp>
        <p:nvSpPr>
          <p:cNvPr id="15" name="faces_215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6" name="hw_216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8B: 2b, 2c, 3a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Vocabulary Bank p.164: test yourself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8B-2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Optional: Writing p.122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7" name="stamp_217"/>
          <p:cNvSpPr txBox="1"/>
          <p:nvPr/>
        </p:nvSpPr>
        <p:spPr>
          <a:xfrm>
            <a:off x="365760" y="3657600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Revise and Check 7&amp;8 · games + video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Video listening · Part 1</a:t>
            </a:r>
            <a:endParaRPr lang="en-US" sz="900" dirty="0"/>
          </a:p>
        </p:txBody>
      </p:sp>
      <p:sp>
        <p:nvSpPr>
          <p:cNvPr id="6" name="timer_2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extra_222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2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9" name="title_224"/>
          <p:cNvSpPr txBox="1"/>
          <p:nvPr/>
        </p:nvSpPr>
        <p:spPr>
          <a:xfrm rot="90000">
            <a:off x="320040" y="676656"/>
            <a:ext cx="484632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five hotel complaints</a:t>
            </a:r>
            <a:endParaRPr lang="en-US" sz="1500" dirty="0"/>
          </a:p>
        </p:txBody>
      </p:sp>
      <p:sp>
        <p:nvSpPr>
          <p:cNvPr id="10" name="tape_22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26"/>
          <p:cNvSpPr/>
          <p:nvPr/>
        </p:nvSpPr>
        <p:spPr>
          <a:xfrm rot="-720000">
            <a:off x="459943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2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2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4" name="signB_22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top five hotel complaints. Then watch and check!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 i cinque reclami più comuni negli hotel. Poi guarda e controlla!</a:t>
            </a:r>
            <a:endParaRPr lang="en-US" sz="1050" dirty="0"/>
          </a:p>
        </p:txBody>
      </p:sp>
      <p:pic>
        <p:nvPicPr>
          <p:cNvPr id="1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88920" y="1371600"/>
            <a:ext cx="2926080" cy="1645920"/>
          </a:xfrm>
          <a:prstGeom prst="rect">
            <a:avLst/>
          </a:prstGeom>
        </p:spPr>
      </p:pic>
      <p:sp>
        <p:nvSpPr>
          <p:cNvPr id="16" name="vt_230"/>
          <p:cNvSpPr txBox="1"/>
          <p:nvPr/>
        </p:nvSpPr>
        <p:spPr>
          <a:xfrm>
            <a:off x="2788920" y="3090672"/>
            <a:ext cx="29260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complain · Part 1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Listening 8B · SB p.83 · 8b, 8c (1'40")</a:t>
            </a:r>
            <a:endParaRPr lang="en-US" sz="1250" dirty="0"/>
          </a:p>
        </p:txBody>
      </p:sp>
      <p:sp>
        <p:nvSpPr>
          <p:cNvPr id="17" name="wyw_231"/>
          <p:cNvSpPr txBox="1"/>
          <p:nvPr/>
        </p:nvSpPr>
        <p:spPr>
          <a:xfrm>
            <a:off x="5852160" y="1371600"/>
            <a:ext cx="297180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8" name="box_232"/>
          <p:cNvSpPr txBox="1"/>
          <p:nvPr/>
        </p:nvSpPr>
        <p:spPr>
          <a:xfrm>
            <a:off x="5852160" y="1810512"/>
            <a:ext cx="1783080" cy="51206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Number 1?</a:t>
            </a:r>
            <a:endParaRPr lang="en-US" sz="1250" dirty="0"/>
          </a:p>
        </p:txBody>
      </p:sp>
      <p:sp>
        <p:nvSpPr>
          <p:cNvPr id="19" name="R1_va0"/>
          <p:cNvSpPr txBox="1"/>
          <p:nvPr/>
        </p:nvSpPr>
        <p:spPr>
          <a:xfrm>
            <a:off x="7680960" y="1837944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air-conditioning (24%)</a:t>
            </a:r>
            <a:endParaRPr lang="en-US" sz="1050" dirty="0"/>
          </a:p>
        </p:txBody>
      </p:sp>
      <p:sp>
        <p:nvSpPr>
          <p:cNvPr id="20" name="box_233"/>
          <p:cNvSpPr txBox="1"/>
          <p:nvPr/>
        </p:nvSpPr>
        <p:spPr>
          <a:xfrm>
            <a:off x="5852160" y="2395728"/>
            <a:ext cx="1783080" cy="51206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Number 2?</a:t>
            </a:r>
            <a:endParaRPr lang="en-US" sz="1250" dirty="0"/>
          </a:p>
        </p:txBody>
      </p:sp>
      <p:sp>
        <p:nvSpPr>
          <p:cNvPr id="21" name="R1_va1"/>
          <p:cNvSpPr txBox="1"/>
          <p:nvPr/>
        </p:nvSpPr>
        <p:spPr>
          <a:xfrm>
            <a:off x="7680960" y="24231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(14%)</a:t>
            </a:r>
            <a:endParaRPr lang="en-US" sz="1050" dirty="0"/>
          </a:p>
        </p:txBody>
      </p:sp>
      <p:sp>
        <p:nvSpPr>
          <p:cNvPr id="22" name="box_234"/>
          <p:cNvSpPr txBox="1"/>
          <p:nvPr/>
        </p:nvSpPr>
        <p:spPr>
          <a:xfrm>
            <a:off x="5852160" y="2980944"/>
            <a:ext cx="1783080" cy="51206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Number 3?</a:t>
            </a:r>
            <a:endParaRPr lang="en-US" sz="1250" dirty="0"/>
          </a:p>
        </p:txBody>
      </p:sp>
      <p:sp>
        <p:nvSpPr>
          <p:cNvPr id="23" name="R1_va2"/>
          <p:cNvSpPr txBox="1"/>
          <p:nvPr/>
        </p:nvSpPr>
        <p:spPr>
          <a:xfrm>
            <a:off x="7680960" y="3008376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(11%)</a:t>
            </a:r>
            <a:endParaRPr lang="en-US" sz="1050" dirty="0"/>
          </a:p>
        </p:txBody>
      </p:sp>
      <p:sp>
        <p:nvSpPr>
          <p:cNvPr id="24" name="box_235"/>
          <p:cNvSpPr txBox="1"/>
          <p:nvPr/>
        </p:nvSpPr>
        <p:spPr>
          <a:xfrm>
            <a:off x="5852160" y="3566160"/>
            <a:ext cx="1783080" cy="51206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Number 4?</a:t>
            </a:r>
            <a:endParaRPr lang="en-US" sz="1250" dirty="0"/>
          </a:p>
        </p:txBody>
      </p:sp>
      <p:sp>
        <p:nvSpPr>
          <p:cNvPr id="25" name="R1_va3"/>
          <p:cNvSpPr txBox="1"/>
          <p:nvPr/>
        </p:nvSpPr>
        <p:spPr>
          <a:xfrm>
            <a:off x="7680960" y="3593592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not clean (10%)</a:t>
            </a:r>
            <a:endParaRPr lang="en-US" sz="1050" dirty="0"/>
          </a:p>
        </p:txBody>
      </p:sp>
      <p:sp>
        <p:nvSpPr>
          <p:cNvPr id="26" name="box_236"/>
          <p:cNvSpPr txBox="1"/>
          <p:nvPr/>
        </p:nvSpPr>
        <p:spPr>
          <a:xfrm>
            <a:off x="5852160" y="4151376"/>
            <a:ext cx="1783080" cy="51206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Number 5?</a:t>
            </a:r>
            <a:endParaRPr lang="en-US" sz="1250" dirty="0"/>
          </a:p>
        </p:txBody>
      </p:sp>
      <p:sp>
        <p:nvSpPr>
          <p:cNvPr id="27" name="R1_va4"/>
          <p:cNvSpPr txBox="1"/>
          <p:nvPr/>
        </p:nvSpPr>
        <p:spPr>
          <a:xfrm>
            <a:off x="7680960" y="4178808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/ bad service (9%)</a:t>
            </a:r>
            <a:endParaRPr lang="en-US" sz="1050" dirty="0"/>
          </a:p>
        </p:txBody>
      </p:sp>
      <p:sp>
        <p:nvSpPr>
          <p:cNvPr id="28" name="bubble_237"/>
          <p:cNvSpPr txBox="1"/>
          <p:nvPr/>
        </p:nvSpPr>
        <p:spPr>
          <a:xfrm>
            <a:off x="2788920" y="3931920"/>
            <a:ext cx="2926080" cy="7315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complained in a hotel or a restaurant?</a:t>
            </a:r>
            <a:endParaRPr lang="en-US" sz="1200" dirty="0"/>
          </a:p>
        </p:txBody>
      </p:sp>
      <p:sp>
        <p:nvSpPr>
          <p:cNvPr id="29" name="pageTag_23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p.83 · 8a, 8b, 8c · video How to complain Part 1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Video listening · Part 2</a:t>
            </a:r>
            <a:endParaRPr lang="en-US" sz="900" dirty="0"/>
          </a:p>
        </p:txBody>
      </p:sp>
      <p:sp>
        <p:nvSpPr>
          <p:cNvPr id="6" name="timer_2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7" name="extra_24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4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9" name="title_245"/>
          <p:cNvSpPr txBox="1"/>
          <p:nvPr/>
        </p:nvSpPr>
        <p:spPr>
          <a:xfrm rot="90000">
            <a:off x="320040" y="676656"/>
            <a:ext cx="31089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complain</a:t>
            </a:r>
            <a:endParaRPr lang="en-US" sz="1500" dirty="0"/>
          </a:p>
        </p:txBody>
      </p:sp>
      <p:sp>
        <p:nvSpPr>
          <p:cNvPr id="10" name="tape_24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47"/>
          <p:cNvSpPr/>
          <p:nvPr/>
        </p:nvSpPr>
        <p:spPr>
          <a:xfrm rot="-720000">
            <a:off x="286207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4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4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4" name="signB_25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Phil. What does he do wrong? How does he do it better?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Phil. Cosa sbaglia? Come fa meglio?</a:t>
            </a:r>
            <a:endParaRPr lang="en-US" sz="1200" dirty="0"/>
          </a:p>
        </p:txBody>
      </p:sp>
      <p:pic>
        <p:nvPicPr>
          <p:cNvPr id="1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88920" y="1371600"/>
            <a:ext cx="2926080" cy="1645920"/>
          </a:xfrm>
          <a:prstGeom prst="rect">
            <a:avLst/>
          </a:prstGeom>
        </p:spPr>
      </p:pic>
      <p:sp>
        <p:nvSpPr>
          <p:cNvPr id="16" name="vt_251"/>
          <p:cNvSpPr txBox="1"/>
          <p:nvPr/>
        </p:nvSpPr>
        <p:spPr>
          <a:xfrm>
            <a:off x="2788920" y="3090672"/>
            <a:ext cx="29260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complain · Part 2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Listening 8B · SB p.83 · 8d (7'08")</a:t>
            </a:r>
            <a:endParaRPr lang="en-US" sz="1250" dirty="0"/>
          </a:p>
        </p:txBody>
      </p:sp>
      <p:sp>
        <p:nvSpPr>
          <p:cNvPr id="17" name="wyw_252"/>
          <p:cNvSpPr txBox="1"/>
          <p:nvPr/>
        </p:nvSpPr>
        <p:spPr>
          <a:xfrm>
            <a:off x="5852160" y="1371600"/>
            <a:ext cx="297180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8" name="box_253"/>
          <p:cNvSpPr txBox="1"/>
          <p:nvPr/>
        </p:nvSpPr>
        <p:spPr>
          <a:xfrm>
            <a:off x="5852160" y="1810512"/>
            <a:ext cx="1783080" cy="65836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Air-con: who does he tell?</a:t>
            </a:r>
            <a:endParaRPr lang="en-US" sz="1250" dirty="0"/>
          </a:p>
        </p:txBody>
      </p:sp>
      <p:sp>
        <p:nvSpPr>
          <p:cNvPr id="19" name="R1_va0"/>
          <p:cNvSpPr txBox="1"/>
          <p:nvPr/>
        </p:nvSpPr>
        <p:spPr>
          <a:xfrm>
            <a:off x="7680960" y="1837944"/>
            <a:ext cx="11430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chambermaid ✗ → reception ✓</a:t>
            </a:r>
            <a:endParaRPr lang="en-US" sz="1050" dirty="0"/>
          </a:p>
        </p:txBody>
      </p:sp>
      <p:sp>
        <p:nvSpPr>
          <p:cNvPr id="20" name="box_254"/>
          <p:cNvSpPr txBox="1"/>
          <p:nvPr/>
        </p:nvSpPr>
        <p:spPr>
          <a:xfrm>
            <a:off x="5852160" y="2542032"/>
            <a:ext cx="1783080" cy="65836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Breakfast: what's wrong?</a:t>
            </a:r>
            <a:endParaRPr lang="en-US" sz="1250" dirty="0"/>
          </a:p>
        </p:txBody>
      </p:sp>
      <p:sp>
        <p:nvSpPr>
          <p:cNvPr id="21" name="R1_va1"/>
          <p:cNvSpPr txBox="1"/>
          <p:nvPr/>
        </p:nvSpPr>
        <p:spPr>
          <a:xfrm>
            <a:off x="7680960" y="2569464"/>
            <a:ext cx="11430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the wrong order ✗</a:t>
            </a:r>
            <a:endParaRPr lang="en-US" sz="1050" dirty="0"/>
          </a:p>
        </p:txBody>
      </p:sp>
      <p:sp>
        <p:nvSpPr>
          <p:cNvPr id="22" name="box_255"/>
          <p:cNvSpPr txBox="1"/>
          <p:nvPr/>
        </p:nvSpPr>
        <p:spPr>
          <a:xfrm>
            <a:off x="5852160" y="3273552"/>
            <a:ext cx="1783080" cy="65836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Noise + wi-fi: when?</a:t>
            </a:r>
            <a:endParaRPr lang="en-US" sz="1250" dirty="0"/>
          </a:p>
        </p:txBody>
      </p:sp>
      <p:sp>
        <p:nvSpPr>
          <p:cNvPr id="23" name="R1_va2"/>
          <p:cNvSpPr txBox="1"/>
          <p:nvPr/>
        </p:nvSpPr>
        <p:spPr>
          <a:xfrm>
            <a:off x="7680960" y="3300984"/>
            <a:ext cx="11430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check-out ✗ – too late, rude</a:t>
            </a:r>
            <a:endParaRPr lang="en-US" sz="1050" dirty="0"/>
          </a:p>
        </p:txBody>
      </p:sp>
      <p:sp>
        <p:nvSpPr>
          <p:cNvPr id="24" name="box_256"/>
          <p:cNvSpPr txBox="1"/>
          <p:nvPr/>
        </p:nvSpPr>
        <p:spPr>
          <a:xfrm>
            <a:off x="5852160" y="4005072"/>
            <a:ext cx="1783080" cy="65836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Most important tip?</a:t>
            </a:r>
            <a:endParaRPr lang="en-US" sz="1250" dirty="0"/>
          </a:p>
        </p:txBody>
      </p:sp>
      <p:sp>
        <p:nvSpPr>
          <p:cNvPr id="25" name="R1_va3"/>
          <p:cNvSpPr txBox="1"/>
          <p:nvPr/>
        </p:nvSpPr>
        <p:spPr>
          <a:xfrm>
            <a:off x="7680960" y="4032504"/>
            <a:ext cx="11430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be rude or aggressive</a:t>
            </a:r>
            <a:endParaRPr lang="en-US" sz="1050" dirty="0"/>
          </a:p>
        </p:txBody>
      </p:sp>
      <p:sp>
        <p:nvSpPr>
          <p:cNvPr id="26" name="bubble_257"/>
          <p:cNvSpPr txBox="1"/>
          <p:nvPr/>
        </p:nvSpPr>
        <p:spPr>
          <a:xfrm>
            <a:off x="2788920" y="3931920"/>
            <a:ext cx="2926080" cy="7315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good at complaining? Do you complain in Italian? In English?</a:t>
            </a:r>
            <a:endParaRPr lang="en-US" sz="1200" dirty="0"/>
          </a:p>
        </p:txBody>
      </p:sp>
      <p:sp>
        <p:nvSpPr>
          <p:cNvPr id="27" name="pageTag_25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p.83 · 8d · video How to complain Part 2</a:t>
            </a:r>
            <a:endParaRPr lang="en-US" sz="1050" dirty="0"/>
          </a:p>
        </p:txBody>
      </p:sp>
      <p:sp>
        <p:nvSpPr>
          <p:cNvPr id="28" name="pframe_259"/>
          <p:cNvSpPr/>
          <p:nvPr/>
        </p:nvSpPr>
        <p:spPr>
          <a:xfrm rot="120000">
            <a:off x="411480" y="3200400"/>
            <a:ext cx="2011680" cy="158191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9" name="pimg_260" descr="Phil, a hotel gues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120000">
            <a:off x="484632" y="3273552"/>
            <a:ext cx="1865376" cy="1161288"/>
          </a:xfrm>
          <a:prstGeom prst="rect">
            <a:avLst/>
          </a:prstGeom>
        </p:spPr>
      </p:pic>
      <p:sp>
        <p:nvSpPr>
          <p:cNvPr id="30" name="pcap_261"/>
          <p:cNvSpPr txBox="1"/>
          <p:nvPr/>
        </p:nvSpPr>
        <p:spPr>
          <a:xfrm rot="120000">
            <a:off x="411480" y="4443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Phil, a hotel guest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6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6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Ranking</a:t>
            </a:r>
            <a:endParaRPr lang="en-US" sz="900" dirty="0"/>
          </a:p>
        </p:txBody>
      </p:sp>
      <p:sp>
        <p:nvSpPr>
          <p:cNvPr id="6" name="timer_26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66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6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9" name="title_268"/>
          <p:cNvSpPr txBox="1"/>
          <p:nvPr/>
        </p:nvSpPr>
        <p:spPr>
          <a:xfrm rot="90000">
            <a:off x="320040" y="676656"/>
            <a:ext cx="397764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extra mile award</a:t>
            </a:r>
            <a:endParaRPr lang="en-US" sz="1500" dirty="0"/>
          </a:p>
        </p:txBody>
      </p:sp>
      <p:sp>
        <p:nvSpPr>
          <p:cNvPr id="10" name="tape_269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70"/>
          <p:cNvSpPr/>
          <p:nvPr/>
        </p:nvSpPr>
        <p:spPr>
          <a:xfrm rot="-720000">
            <a:off x="373075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7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7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4" name="signB_27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five stories. Who wins the award?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 in ordine le cinque storie. Chi vince il premio?</a:t>
            </a:r>
            <a:endParaRPr lang="en-US" sz="1250" dirty="0"/>
          </a:p>
        </p:txBody>
      </p:sp>
      <p:sp>
        <p:nvSpPr>
          <p:cNvPr id="15" name="rt_274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SERVICE</a:t>
            </a:r>
            <a:endParaRPr lang="en-US" sz="1100" dirty="0"/>
          </a:p>
        </p:txBody>
      </p:sp>
      <p:sp>
        <p:nvSpPr>
          <p:cNvPr id="16" name="rb_275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LEAST SPECIAL</a:t>
            </a:r>
            <a:endParaRPr lang="en-US" sz="1100" dirty="0"/>
          </a:p>
        </p:txBody>
      </p:sp>
      <p:sp>
        <p:nvSpPr>
          <p:cNvPr id="17" name="arrow_276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A8E6B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slot_277"/>
          <p:cNvSpPr txBox="1"/>
          <p:nvPr/>
        </p:nvSpPr>
        <p:spPr>
          <a:xfrm>
            <a:off x="4800600" y="13258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9" name="ri_278" descr="Nordstrom – the lost diamo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17320"/>
            <a:ext cx="411480" cy="411480"/>
          </a:xfrm>
          <a:prstGeom prst="rect">
            <a:avLst/>
          </a:prstGeom>
        </p:spPr>
      </p:pic>
      <p:sp>
        <p:nvSpPr>
          <p:cNvPr id="20" name="box_279"/>
          <p:cNvSpPr txBox="1"/>
          <p:nvPr/>
        </p:nvSpPr>
        <p:spPr>
          <a:xfrm>
            <a:off x="5788152" y="1325880"/>
            <a:ext cx="3035808" cy="5943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Nordstrom – the lost diamond</a:t>
            </a:r>
            <a:endParaRPr lang="en-US" sz="1300" dirty="0"/>
          </a:p>
        </p:txBody>
      </p:sp>
      <p:sp>
        <p:nvSpPr>
          <p:cNvPr id="21" name="slot_280"/>
          <p:cNvSpPr txBox="1"/>
          <p:nvPr/>
        </p:nvSpPr>
        <p:spPr>
          <a:xfrm>
            <a:off x="4800600" y="20116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2" name="ri_281" descr="Morton's – a steak at the airpo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103120"/>
            <a:ext cx="411480" cy="411480"/>
          </a:xfrm>
          <a:prstGeom prst="rect">
            <a:avLst/>
          </a:prstGeom>
        </p:spPr>
      </p:pic>
      <p:sp>
        <p:nvSpPr>
          <p:cNvPr id="23" name="box_282"/>
          <p:cNvSpPr txBox="1"/>
          <p:nvPr/>
        </p:nvSpPr>
        <p:spPr>
          <a:xfrm>
            <a:off x="5788152" y="2011680"/>
            <a:ext cx="3035808" cy="5943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Morton's – a steak at the airport</a:t>
            </a:r>
            <a:endParaRPr lang="en-US" sz="1300" dirty="0"/>
          </a:p>
        </p:txBody>
      </p:sp>
      <p:sp>
        <p:nvSpPr>
          <p:cNvPr id="24" name="slot_283"/>
          <p:cNvSpPr txBox="1"/>
          <p:nvPr/>
        </p:nvSpPr>
        <p:spPr>
          <a:xfrm>
            <a:off x="4800600" y="26974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5" name="ri_284" descr="Ritz-Carlton – Joshie the giraff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788920"/>
            <a:ext cx="411480" cy="411480"/>
          </a:xfrm>
          <a:prstGeom prst="rect">
            <a:avLst/>
          </a:prstGeom>
        </p:spPr>
      </p:pic>
      <p:sp>
        <p:nvSpPr>
          <p:cNvPr id="26" name="box_285"/>
          <p:cNvSpPr txBox="1"/>
          <p:nvPr/>
        </p:nvSpPr>
        <p:spPr>
          <a:xfrm>
            <a:off x="5788152" y="2697480"/>
            <a:ext cx="3035808" cy="5943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Ritz-Carlton – Joshie the giraffe</a:t>
            </a:r>
            <a:endParaRPr lang="en-US" sz="1300" dirty="0"/>
          </a:p>
        </p:txBody>
      </p:sp>
      <p:sp>
        <p:nvSpPr>
          <p:cNvPr id="27" name="slot_286"/>
          <p:cNvSpPr txBox="1"/>
          <p:nvPr/>
        </p:nvSpPr>
        <p:spPr>
          <a:xfrm>
            <a:off x="4800600" y="33832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8" name="ri_287" descr="Trader Joe's – food in the sn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474720"/>
            <a:ext cx="411480" cy="411480"/>
          </a:xfrm>
          <a:prstGeom prst="rect">
            <a:avLst/>
          </a:prstGeom>
        </p:spPr>
      </p:pic>
      <p:sp>
        <p:nvSpPr>
          <p:cNvPr id="29" name="box_288"/>
          <p:cNvSpPr txBox="1"/>
          <p:nvPr/>
        </p:nvSpPr>
        <p:spPr>
          <a:xfrm>
            <a:off x="5788152" y="3383280"/>
            <a:ext cx="3035808" cy="5943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Joe's – food in the snow</a:t>
            </a:r>
            <a:endParaRPr lang="en-US" sz="1300" dirty="0"/>
          </a:p>
        </p:txBody>
      </p:sp>
      <p:sp>
        <p:nvSpPr>
          <p:cNvPr id="30" name="slot_289"/>
          <p:cNvSpPr txBox="1"/>
          <p:nvPr/>
        </p:nvSpPr>
        <p:spPr>
          <a:xfrm>
            <a:off x="4800600" y="40690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1" name="ri_290" descr="Apple – 'Wife said no'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4160520"/>
            <a:ext cx="411480" cy="411480"/>
          </a:xfrm>
          <a:prstGeom prst="rect">
            <a:avLst/>
          </a:prstGeom>
        </p:spPr>
      </p:pic>
      <p:sp>
        <p:nvSpPr>
          <p:cNvPr id="32" name="box_291"/>
          <p:cNvSpPr txBox="1"/>
          <p:nvPr/>
        </p:nvSpPr>
        <p:spPr>
          <a:xfrm>
            <a:off x="5788152" y="4069080"/>
            <a:ext cx="3035808" cy="5943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– 'Wife said no'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9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9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9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Writing · p.122</a:t>
            </a:r>
            <a:endParaRPr lang="en-US" sz="900" dirty="0"/>
          </a:p>
        </p:txBody>
      </p:sp>
      <p:sp>
        <p:nvSpPr>
          <p:cNvPr id="6" name="timer_29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96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9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· Part 2</a:t>
            </a:r>
            <a:endParaRPr lang="en-US" sz="1000" dirty="0"/>
          </a:p>
        </p:txBody>
      </p:sp>
      <p:sp>
        <p:nvSpPr>
          <p:cNvPr id="9" name="title_298"/>
          <p:cNvSpPr txBox="1"/>
          <p:nvPr/>
        </p:nvSpPr>
        <p:spPr>
          <a:xfrm rot="90000">
            <a:off x="320040" y="676656"/>
            <a:ext cx="484632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your complaint email</a:t>
            </a:r>
            <a:endParaRPr lang="en-US" sz="1500" dirty="0"/>
          </a:p>
        </p:txBody>
      </p:sp>
      <p:sp>
        <p:nvSpPr>
          <p:cNvPr id="10" name="tape_299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300"/>
          <p:cNvSpPr/>
          <p:nvPr/>
        </p:nvSpPr>
        <p:spPr>
          <a:xfrm rot="-720000">
            <a:off x="459943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30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30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4" name="signB_30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 email of complaint in pairs. Then write it at home.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Pianificate in coppia un'email di reclamo. Poi scrivetela a casa.</a:t>
            </a:r>
            <a:endParaRPr lang="en-US" sz="1200" dirty="0"/>
          </a:p>
        </p:txBody>
      </p:sp>
      <p:sp>
        <p:nvSpPr>
          <p:cNvPr id="15" name="iconBack_304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305" descr="pi:PiEnvel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num_306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box_307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email on p.122 and answer the four questions.</a:t>
            </a:r>
            <a:endParaRPr lang="en-US" sz="1300" dirty="0"/>
          </a:p>
        </p:txBody>
      </p:sp>
      <p:sp>
        <p:nvSpPr>
          <p:cNvPr id="19" name="num_308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box_309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paragraphs A–C to what they are about. Complete the gaps.</a:t>
            </a:r>
            <a:endParaRPr lang="en-US" sz="1300" dirty="0"/>
          </a:p>
        </p:txBody>
      </p:sp>
      <p:sp>
        <p:nvSpPr>
          <p:cNvPr id="21" name="num_310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box_311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something you bought online that went wrong (invent it!).</a:t>
            </a:r>
            <a:endParaRPr lang="en-US" sz="1300" dirty="0"/>
          </a:p>
        </p:txBody>
      </p:sp>
      <p:sp>
        <p:nvSpPr>
          <p:cNvPr id="23" name="num_312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box_313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3 paragraphs: A the context · B the problem · C something positive + what you want.</a:t>
            </a:r>
            <a:endParaRPr lang="en-US" sz="950" dirty="0"/>
          </a:p>
        </p:txBody>
      </p:sp>
      <p:sp>
        <p:nvSpPr>
          <p:cNvPr id="25" name="num_314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box_315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'A formal email' box on p.121: Dear Sir or Madam… Yours faithfully</a:t>
            </a:r>
            <a:endParaRPr lang="en-US" sz="1200" dirty="0"/>
          </a:p>
        </p:txBody>
      </p:sp>
      <p:sp>
        <p:nvSpPr>
          <p:cNvPr id="27" name="bubble_316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writing to complain about an order I placed on…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8B-2 Have a nice day!</dc:title>
  <dc:subject>PptxGenJS Presentation</dc:subject>
  <dc:creator>London Language School</dc:creator>
  <cp:lastModifiedBy>London Language School</cp:lastModifiedBy>
  <cp:revision>1</cp:revision>
  <dcterms:created xsi:type="dcterms:W3CDTF">2026-10-05T09:39:33Z</dcterms:created>
  <dcterms:modified xsi:type="dcterms:W3CDTF">2026-10-05T09:39:33Z</dcterms:modified>
</cp:coreProperties>
</file>