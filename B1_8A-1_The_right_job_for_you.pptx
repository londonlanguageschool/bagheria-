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8A PART 1 (60 min) · SB pp.76–77. Aims: vocabulary of work (Vocabulary Bank Work p.163); word stress; choosing between gerunds and infinitives (Grammar Bank 8A p.146) through a 'what job suits your personality?' questionnaire; Communicative photocopiable 'I think…' (📄 B1_8A_Photocopiables.pdf, page 3). Timing: cover 2 · revision 5 · Clare's story 5 · work phrases 6 · word-building 5 · word stress 3 · talk about a job 4 · questionnaire 6 · rule 6 · practice 5 · 'I think…' 7 · exit 3 = 57 min. The writing (Writing A covering email p.121) is in 8A part 2 homework / EXTRA. OPTIONAL LEAD-IN (TG jobs quiz, books closed): can you name two jobs in a restaurant, connected with transport, in a hospital, outside, in entertainment? Click 1: the question — what happened? Click 2.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REVISION of Practical English 4 (5 min). VARIATION: beat your partner (speed race) — pairs write the sentence and stand up when they've finished; the first pair to stand up AND say it with good intonation gets the point. Click once per item. All sentences are from audio 7.25 and 7.28. Follow-up (1 min): who said each one? (1 Paul · 2 Paul · 3 Jenny · 4 Jenny · 5 Paul · 6 Rob) and quick reply practice: T says 'Let's go dancing!', students reply with a polite refusal + alternative.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(5 min). SB 1a: pairs match pictures 1–9 and sentences A–I (E1 is done). 1b: play 8.1 to check: 2 I · 3 G · 4 D · 5 C · 6 F · 7 H · 8 A · 9 B (TG). The slide gaps the bold words from the audio script (sentences 2–9; 1 = Clare worked for a marketing company). Click 1 for the words. Vocabulary notes (TG): set up = start (a business); apply for = send a letter / form to a company to ask for a job; CV = Curriculum Vitae (always the abbreviation); overtime = extra hours; sacked with be or get = lose your job. job (countable) vs work (uncountable): ✗ a work → ✓ a job. Then pairs cover the sentences and retell the story from the pictures. VARIATION: memory disruption.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(6 min). Vocabulary Bank Work p.163, 1 Verb phrases: students match; play 8.2 to check (Dan has to do overtime · Matt got promoted · nurses work shifts · a man was sacked · Colin was made redundant · the director is going to resign · Lilian is going to retire · Angela has set up a business · everyone has to do a training course · Mandy applied for a job online · my parents run a language school). Silent g in resign. 2 Saying what you do: play 8.3 (I'm unemployed · He's self-employed · a freelance designer · a temporary job · a part-time job · I work for a multinational company · I'm in charge of the Marketing Department · I'm responsible for customer loans · I'm at school · I'm in my third year at university). Silent syllable in temporary /ˈtemprəri/. Also teach permanent / full-time (the opposites on the tiles). Difference (TG / VB): sacked = because of you; made redundant = the company doesn't need you. Click 1 shows the Italian. ACTIVATION: cover the first sentences in the VB and remember the verb. VARIATION: personalisation — 'Which of these has happened to someone in your family? (no names!)'.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WORD-BUILDING (5 min). Vocabulary Bank p.163, 3 Word-building: pairs make the nouns (left: -ion / -ment; right: jobs with -ist, -er, -ian, -or); play 8.4 to check. Click 1 for all answers (words from audio 8.4; stress from the TG — capitals = stressed syllable). Note how the stress moves: QUALify → qualifiCAtion, apPLY → appliCAtion. Activation (TG): pairs think of two more jobs for each ending — possible answers: -er hairdresser, banker · -or actor, director · -ian electrician, optician · -ist pianist, receptionist. VARIATION: phonological branching.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PRONUNCIATION (3 min). 2a: remind students that in phonetics the stressed syllable comes after the apostrophe (ˈ). Pairs underline the stressed syllable (the book shows the phonetics). 2b: play 8.5, pausing after each word; ask students to say each word just BEFORE you play it. Click once per word. Stress (standard British pronunciation / book phonetics): apPLY · SAlary · reDUNdant · exPErience · Overtime · PERmanent · qualifiCAtions · reSIGN · reSPONsible · TEMporary. VARIATION: change the energy — class stands up on the stressed syllable. Italian traps: salary (not saLAry), permanent (not perMAnent).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(4 min). SB 2c–2d: students think of a person they know who has a job; B says who it is, A asks the questions, then swap. The questions on the slide are the book's (p.77, 2c); students prepare answers first, then A interviews B and asks more questions (2d). EXTRA SUPPORT (TG): tell them about a real person you know first. VARIATION: follow-up questions — every answer must get one more question (Really? Does she like it?). Listen for word stress on the words from 2a.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PRESENTATION (6 min). 3a (2 min): students complete the questionnaire with the verbs in the right form, individually or in pairs — they can do it by instinct; if they ask why, say the rules are coming. Click once per group (TG): 2 helping · 3 not earning · 4 listening · 5 making · 6 Taking · 7 to work · 8 managing · 9 expressing · 10 to follow · 11 to be · 12 improvising · 13 Doing · 14 solving · 15 to understand · 16 to calculate. Check instincts, improvise. 3b (2 min): students tick the sentences they strongly agree with and compare with a partner. 3c (2 min): Communication 'Match your personality to the job' p.108 — read the paragraph for the section with most ticks (both if equal). Feedback: is that the job you'd like? VARIATION: personalisation + curiosity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(6 min). First SB 3d: students look at the questionnaire sentences and complete the rules with 'the gerund' or 'to + infinitive': 1 After some verbs, e.g. enjoy and don't mind, use … the gerund · 2 After some verbs, e.g. would like, use … to + infinitive · 3 After adjectives, use … to + infinitive · 4 After prepositions, use … the gerund · 5 As the subject of a phrase or sentence, use … the gerund (TG). Then Grammar Bank 8A p.146: play 8.6, 8.7, 8.8 to listen and repeat (all slide examples are from these tracks). Rules (TG notes + Grammar Bank): there are three verb forms: to go, go, going. Gerund (-ing) after prepositions and phrasal verbs, as the subject of a sentence, and after certain verbs (enjoy, hate, like, love, don't mind, spend time, feel like, give up, finish, keep, stop, go on…); to + infinitive after adjectives, to express a reason / purpose, and after certain verbs (want, need, would like, decide, hope, plan, learn, try, forget, remember, promise, offer, pretend…); infinitive without to after modal verbs (can, must, should…) and after make and let + object. Negatives: not + -ing / not to + infinitive. ⚠ The verb lists are summarised — check the full lists in the Grammar Bank boxes. TG note: like + -ing = enjoy; like to (British English) = I think it's a good idea (I like to get up early). Tell students to LEARN which form follows each verb; practice makes it instinctive.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 (5 min). Students do Grammar Bank 8A a 1–5 and b 1–5 in the book. Click 1 for the answers (TG key): a 1 to spend · 2 Applying · 3 to do · 4 to open · 5 not to ask. b 1 My parents are planning to retire before they are 65. 2 Rob spends three hours commuting to work and back every day. 3 Mark and his wife agreed not to worry about the problems he had at work. 4 Did you remember to lock the door? 5 In the end I decided not to buy the shoes because they were very expensive. The b sentences on the slide are gapped from the key — ⚠ check the exact task format in the book (the b exercise prompts are not in our files). The rest (a 6–10, b 6–9) is homework. VARIATION: student as teacher — after each answer, a student says WHICH rule it is (after a preposition? after an adjective?).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COMMUNICATIVE PHOTOCOPIABLE (7 min). 📄 Print: B1_8A_Photocopiables.pdf, page 3 (page 4 = the same sheet in an editable layout) – one per pair, cut into Student A / Student B. Official procedure (TG): demonstrate first – write on the board 'When you go on holiday, you love…', elicit that it needs a gerund, let the class guess what YOU love doing on holiday, then tell them. Pairs sit face to face and must not see what their partner writes; many stems could take a noun, but they MUST use a verb (phrase) in the gerund or infinitive. a (3 min): each student completes 10 sentences about their PARTNER with a verb phrase in the gerund or infinitive, e.g. A: 'When you were young, your parents didn't use to let you ___' (infinitive without to), 'You're not very good at ___' (gerund), 'You would like to learn ___' (to + infinitive); B: 'In the future, you hope ___', 'You're really looking forward to ___' (gerund – to is a preposition here!). Monitor and check the verb forms before they speak. b (4 min): they read their sentences ('I think…'); the partner says if it's true. 1 point for each correct guess with the correct form. Encourage them to react and contradict (TG): 'No, I don't. I hate sunbathing! But I love walking.' Feedback: who had more correct guesses in each pair? EXTRA IDEA (TG): swap roles and partners and repeat. VARIATION: curiosity gap + personalisation with boundaries (no sensitive topics — they can say 'pass').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(3 min). Students choose a face for each can-do. Homework: Workbook 8A 1a, 1b (work vocabulary), 3a, 3b (gerunds and infinitives) + Grammar Bank 8A a 6–10, b 6–9 + the 8A-1 homework sheet (easier version available). Word-building, words with different meanings, word stress and 3c are in part 2's homework. Answers are in the teacher key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GRAMMAR (10 min). 📄 Print: B1_8A_Photocopiables.pdf, page 1 (page 2 = the same sheet in an editable layout), one per student. Students complete sentences 2–20 with the gerund, to + infinitive or infinitive without to (1 = example: to run), writing the answers in the right-hand column. Pairs compare; click once per group. Official answers (TG photocopiable key; the rule in brackets is ours): 2 calling (mind + -ing) · 3 to speak (want) · 4 not to buy (decide) · 5 going (preposition of) · 6 to look after (offer) · 7 do (let) · 8 Doing (subject) · 9 to study (would like + object) · 10 drawing (good at) · 11 to work (would like) · 12 to go (hope) · 13 doing (about) · 14 to hear (adjective) · 15 studying (go on) · 16 arriving (keep) · 17 cooking (feel like) · 18 to like (pretend) · 19 Eating, sleep (subject; make) · 20 to give (ask + object). ACTIVATION: cover the column and read the sentences aloud with the correct forms. VARIATION: memory challenge.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VOCABULARY (5 min) — SB 1d, if not done in class (it's in part 2's Workbook homework, 1d). Go through the 'Words with different meanings' box; pairs discuss the difference between a and b in sentences 1–5. Click once per word (TG answers): 1 a running = in charge of, managing; b running = as a sport · 2 a was fired = lost her job; b fired = shot · 3 a work = it's my job; b doesn't work = is broken · 4 a market = the number of people who want to buy sth; b market = an open area for shopping · 5 a company = business; b good company = a nice person to be with. VARIATION: student-generated content — pairs write one new sentence for each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SPEAKING (8 min) — SB 3f–3g, if there's time (or do it instead of the photocopiable). 3f: students write something for FIVE of the ten prompts (book wording; the bold verb patterns in the book: planning to do, you'd like to visit, wouldn't like to go, you'd love to do, hate doing, easy to talk to, afraid of doing, love doing, enjoy doing, must do / buy). 3g: groups of 3–4 tell each other what they have written and answer questions (model in the book: 'I'd love to be an architect.' – 'Why?' – 'Because I think it would be great to…'). VARIATION: curiosity gap — the others guess which prompt each answer goes with before the speaker explains. Personalisation with boundaries: 'somebody you wouldn't like to go on holiday with' → a type of person, no names of classmates.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WRITING (8 min) — or start of the part-2 homework. a: the job advertisement (World Athletics Championships): which position could you apply for and why? What's a CV? b: a covering email = the email you send with your CV, explaining what you are sending and why; it's formal — students circle the more formal expression in each pair. Click once per item (TG): 1 I am writing · 2 I have been working · 3 I speak English very well · 4 attach (enclose = for a letter) · 5 I look forward to hearing from you. · 6 Yours faithfully, Go through the box 'A formal email' (no contractions; Dear Sir / Madam → Yours faithfully). c (homework in 8A-2): write a covering email for one of the jobs, using Ricardo's email as a model; they can invent work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VOCABULARY PHOTOCOPIABLE (8 min) – or homework. 📄 Print: B1_8A_Photocopiables.pdf, page 5, one per pair. Official procedure (TG): a pairwork vocabulary race – set a time limit; pairs read the clues and write as many words as they can; each word begins with (or, for X, includes) a different letter of the alphabet (A = example: apply). The first pair to complete all the words correctly wins, or the pair with the most correct answers when the time is up. Official answers: boss · charge · do · employees · freelance · gardener · hairdresser · interview · job · kitchen · look for · made · night · overtime · part-time · quit · retire · self-employed · temporary · up · vet · work · extra · year. Click once per group of letters. VARIATION: beat the clock.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sp>
        <p:nvSpPr>
          <p:cNvPr id="4" name="logoBack_2"/>
          <p:cNvSpPr/>
          <p:nvPr/>
        </p:nvSpPr>
        <p:spPr>
          <a:xfrm>
            <a:off x="8229600" y="155448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8E6B4"/>
            </a:solidFill>
            <a:prstDash val="solid"/>
          </a:ln>
        </p:spPr>
      </p:sp>
      <p:pic>
        <p:nvPicPr>
          <p:cNvPr id="5" name="logo_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6" name="footer_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062F6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8A · Part 1</a:t>
            </a:r>
            <a:endParaRPr lang="en-US" sz="1000" dirty="0"/>
          </a:p>
        </p:txBody>
      </p:sp>
      <p:sp>
        <p:nvSpPr>
          <p:cNvPr id="7" name="unit_5"/>
          <p:cNvSpPr txBox="1"/>
          <p:nvPr/>
        </p:nvSpPr>
        <p:spPr>
          <a:xfrm>
            <a:off x="411480" y="3200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600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8A</a:t>
            </a:r>
            <a:endParaRPr lang="en-US" sz="4600" dirty="0"/>
          </a:p>
        </p:txBody>
      </p:sp>
      <p:sp>
        <p:nvSpPr>
          <p:cNvPr id="8" name="course_6"/>
          <p:cNvSpPr txBox="1"/>
          <p:nvPr/>
        </p:nvSpPr>
        <p:spPr>
          <a:xfrm>
            <a:off x="2103120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2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ENGLISH FILE B1 · 8A · Part 1 · SB pp.76–77</a:t>
            </a:r>
            <a:endParaRPr lang="en-US" sz="1100" dirty="0"/>
          </a:p>
        </p:txBody>
      </p:sp>
      <p:sp>
        <p:nvSpPr>
          <p:cNvPr id="9" name="title_7"/>
          <p:cNvSpPr txBox="1"/>
          <p:nvPr/>
        </p:nvSpPr>
        <p:spPr>
          <a:xfrm rot="-180000">
            <a:off x="411480" y="1325880"/>
            <a:ext cx="5120640" cy="777240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RIGHT JOB FOR YOU</a:t>
            </a:r>
            <a:endParaRPr lang="en-US" sz="2200" dirty="0"/>
          </a:p>
        </p:txBody>
      </p:sp>
      <p:sp>
        <p:nvSpPr>
          <p:cNvPr id="10" name="stamp_8"/>
          <p:cNvSpPr txBox="1"/>
          <p:nvPr/>
        </p:nvSpPr>
        <p:spPr>
          <a:xfrm>
            <a:off x="457200" y="2468880"/>
            <a:ext cx="2180844" cy="384048"/>
          </a:xfrm>
          <a:prstGeom prst="roundRect">
            <a:avLst>
              <a:gd name="adj" fmla="val 14286"/>
            </a:avLst>
          </a:prstGeom>
          <a:solidFill>
            <a:srgbClr val="062F67"/>
          </a:solidFill>
          <a:ln w="38100">
            <a:solidFill>
              <a:srgbClr val="48BD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work</a:t>
            </a:r>
            <a:endParaRPr lang="en-US" sz="1200" dirty="0"/>
          </a:p>
        </p:txBody>
      </p:sp>
      <p:sp>
        <p:nvSpPr>
          <p:cNvPr id="11" name="stamp_9"/>
          <p:cNvSpPr txBox="1"/>
          <p:nvPr/>
        </p:nvSpPr>
        <p:spPr>
          <a:xfrm>
            <a:off x="457200" y="2944368"/>
            <a:ext cx="3140964" cy="384048"/>
          </a:xfrm>
          <a:prstGeom prst="roundRect">
            <a:avLst>
              <a:gd name="adj" fmla="val 14286"/>
            </a:avLst>
          </a:prstGeom>
          <a:solidFill>
            <a:srgbClr val="062F67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PRONUNCIATION · word stress</a:t>
            </a:r>
            <a:endParaRPr lang="en-US" sz="1200" dirty="0"/>
          </a:p>
        </p:txBody>
      </p:sp>
      <p:sp>
        <p:nvSpPr>
          <p:cNvPr id="12" name="stamp_10"/>
          <p:cNvSpPr txBox="1"/>
          <p:nvPr/>
        </p:nvSpPr>
        <p:spPr>
          <a:xfrm>
            <a:off x="457200" y="3419856"/>
            <a:ext cx="3717036" cy="384048"/>
          </a:xfrm>
          <a:prstGeom prst="roundRect">
            <a:avLst>
              <a:gd name="adj" fmla="val 14286"/>
            </a:avLst>
          </a:prstGeom>
          <a:solidFill>
            <a:srgbClr val="062F67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gerunds and infinitives</a:t>
            </a:r>
            <a:endParaRPr lang="en-US" sz="1200" dirty="0"/>
          </a:p>
        </p:txBody>
      </p:sp>
      <p:sp>
        <p:nvSpPr>
          <p:cNvPr id="13" name="iconBack_11"/>
          <p:cNvSpPr/>
          <p:nvPr/>
        </p:nvSpPr>
        <p:spPr>
          <a:xfrm>
            <a:off x="5669280" y="685800"/>
            <a:ext cx="1737360" cy="1737360"/>
          </a:xfrm>
          <a:prstGeom prst="ellipse">
            <a:avLst/>
          </a:prstGeom>
          <a:solidFill>
            <a:srgbClr val="FFD84D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12" descr="pi:PiBriefc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033272"/>
            <a:ext cx="1042416" cy="1042416"/>
          </a:xfrm>
          <a:prstGeom prst="rect">
            <a:avLst/>
          </a:prstGeom>
        </p:spPr>
      </p:pic>
      <p:sp>
        <p:nvSpPr>
          <p:cNvPr id="15" name="iconBack_13"/>
          <p:cNvSpPr/>
          <p:nvPr/>
        </p:nvSpPr>
        <p:spPr>
          <a:xfrm>
            <a:off x="7315200" y="1508760"/>
            <a:ext cx="1097280" cy="10972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6" name="icon_14" descr="pi:PiCak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1728216"/>
            <a:ext cx="658368" cy="658368"/>
          </a:xfrm>
          <a:prstGeom prst="rect">
            <a:avLst/>
          </a:prstGeom>
        </p:spPr>
      </p:pic>
      <p:sp>
        <p:nvSpPr>
          <p:cNvPr id="17" name="iconBack_15"/>
          <p:cNvSpPr/>
          <p:nvPr/>
        </p:nvSpPr>
        <p:spPr>
          <a:xfrm>
            <a:off x="5486400" y="2514600"/>
            <a:ext cx="960120" cy="960120"/>
          </a:xfrm>
          <a:prstGeom prst="ellipse">
            <a:avLst/>
          </a:prstGeom>
          <a:solidFill>
            <a:srgbClr val="A8E6B4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8" name="icon_16" descr="pi:PiTrendU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424" y="2706624"/>
            <a:ext cx="576072" cy="576072"/>
          </a:xfrm>
          <a:prstGeom prst="rect">
            <a:avLst/>
          </a:prstGeom>
        </p:spPr>
      </p:pic>
      <p:sp>
        <p:nvSpPr>
          <p:cNvPr id="19" name="R1_q"/>
          <p:cNvSpPr txBox="1"/>
          <p:nvPr/>
        </p:nvSpPr>
        <p:spPr>
          <a:xfrm>
            <a:off x="5120640" y="3337560"/>
            <a:ext cx="2377440" cy="777240"/>
          </a:xfrm>
          <a:prstGeom prst="wedgeRoundRectCallout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Sacked on Monday…</a:t>
            </a:r>
            <a:endParaRPr lang="en-US" sz="1400" dirty="0"/>
          </a:p>
        </p:txBody>
      </p:sp>
      <p:sp>
        <p:nvSpPr>
          <p:cNvPr id="20" name="R2_a"/>
          <p:cNvSpPr txBox="1"/>
          <p:nvPr/>
        </p:nvSpPr>
        <p:spPr>
          <a:xfrm>
            <a:off x="6629400" y="4069080"/>
            <a:ext cx="2148840" cy="594360"/>
          </a:xfrm>
          <a:prstGeom prst="wedgeRoundRectCallou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…her own business by Friday!</a:t>
            </a:r>
            <a:endParaRPr lang="en-US" sz="1300" dirty="0"/>
          </a:p>
        </p:txBody>
      </p:sp>
      <p:sp>
        <p:nvSpPr>
          <p:cNvPr id="21" name="tnote_17"/>
          <p:cNvSpPr txBox="1"/>
          <p:nvPr/>
        </p:nvSpPr>
        <p:spPr>
          <a:xfrm>
            <a:off x="411480" y="477316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timings, answers and tips are in the slide notes.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REVISION · Practical English 4 · Suggestions</a:t>
            </a:r>
            <a:endParaRPr lang="en-US" sz="900" dirty="0"/>
          </a:p>
        </p:txBody>
      </p:sp>
      <p:sp>
        <p:nvSpPr>
          <p:cNvPr id="6" name="timer_2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2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8A · Part 1</a:t>
            </a:r>
            <a:endParaRPr lang="en-US" sz="1000" dirty="0"/>
          </a:p>
        </p:txBody>
      </p:sp>
      <p:sp>
        <p:nvSpPr>
          <p:cNvPr id="8" name="title_23"/>
          <p:cNvSpPr txBox="1"/>
          <p:nvPr/>
        </p:nvSpPr>
        <p:spPr>
          <a:xfrm rot="-120000">
            <a:off x="320040" y="676656"/>
            <a:ext cx="380390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Unjumble it – fast!</a:t>
            </a:r>
            <a:endParaRPr lang="en-US" sz="1500" dirty="0"/>
          </a:p>
        </p:txBody>
      </p:sp>
      <p:sp>
        <p:nvSpPr>
          <p:cNvPr id="9" name="post_24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25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1" name="signB_26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Pairs: put the words in order. First pair to stand up wins!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coppia: mettete le parole in ordine. Vince la prima coppia in piedi!</a:t>
            </a:r>
            <a:endParaRPr lang="en-US" sz="1250" dirty="0"/>
          </a:p>
        </p:txBody>
      </p:sp>
      <p:sp>
        <p:nvSpPr>
          <p:cNvPr id="12" name="iconBack_27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28" descr="pi:PiShuff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box_29"/>
          <p:cNvSpPr txBox="1"/>
          <p:nvPr/>
        </p:nvSpPr>
        <p:spPr>
          <a:xfrm>
            <a:off x="2788920" y="1371600"/>
            <a:ext cx="3017520" cy="4419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shall / do / what / now / we</a:t>
            </a:r>
            <a:endParaRPr lang="en-US" sz="1300" dirty="0"/>
          </a:p>
        </p:txBody>
      </p:sp>
      <p:sp>
        <p:nvSpPr>
          <p:cNvPr id="15" name="R1_a0"/>
          <p:cNvSpPr txBox="1"/>
          <p:nvPr/>
        </p:nvSpPr>
        <p:spPr>
          <a:xfrm>
            <a:off x="5861304" y="1408176"/>
            <a:ext cx="296265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shall we do now?</a:t>
            </a:r>
            <a:endParaRPr lang="en-US" sz="1250" dirty="0"/>
          </a:p>
        </p:txBody>
      </p:sp>
      <p:sp>
        <p:nvSpPr>
          <p:cNvPr id="16" name="box_30"/>
          <p:cNvSpPr txBox="1"/>
          <p:nvPr/>
        </p:nvSpPr>
        <p:spPr>
          <a:xfrm>
            <a:off x="2788920" y="1941576"/>
            <a:ext cx="3017520" cy="4419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go / let's / dancing</a:t>
            </a:r>
            <a:endParaRPr lang="en-US" sz="1300" dirty="0"/>
          </a:p>
        </p:txBody>
      </p:sp>
      <p:sp>
        <p:nvSpPr>
          <p:cNvPr id="17" name="R2_a1"/>
          <p:cNvSpPr txBox="1"/>
          <p:nvPr/>
        </p:nvSpPr>
        <p:spPr>
          <a:xfrm>
            <a:off x="5861304" y="1978152"/>
            <a:ext cx="296265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go dancing!</a:t>
            </a:r>
            <a:endParaRPr lang="en-US" sz="1250" dirty="0"/>
          </a:p>
        </p:txBody>
      </p:sp>
      <p:sp>
        <p:nvSpPr>
          <p:cNvPr id="18" name="box_31"/>
          <p:cNvSpPr txBox="1"/>
          <p:nvPr/>
        </p:nvSpPr>
        <p:spPr>
          <a:xfrm>
            <a:off x="2788920" y="2511552"/>
            <a:ext cx="3017520" cy="4419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don't / you / why / me / join</a:t>
            </a:r>
            <a:endParaRPr lang="en-US" sz="1300" dirty="0"/>
          </a:p>
        </p:txBody>
      </p:sp>
      <p:sp>
        <p:nvSpPr>
          <p:cNvPr id="19" name="R3_a2"/>
          <p:cNvSpPr txBox="1"/>
          <p:nvPr/>
        </p:nvSpPr>
        <p:spPr>
          <a:xfrm>
            <a:off x="5861304" y="2548128"/>
            <a:ext cx="296265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don't you join me?</a:t>
            </a:r>
            <a:endParaRPr lang="en-US" sz="1250" dirty="0"/>
          </a:p>
        </p:txBody>
      </p:sp>
      <p:sp>
        <p:nvSpPr>
          <p:cNvPr id="20" name="box_32"/>
          <p:cNvSpPr txBox="1"/>
          <p:nvPr/>
        </p:nvSpPr>
        <p:spPr>
          <a:xfrm>
            <a:off x="2788920" y="3081528"/>
            <a:ext cx="3017520" cy="4419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about / staying / what / in</a:t>
            </a:r>
            <a:endParaRPr lang="en-US" sz="1300" dirty="0"/>
          </a:p>
        </p:txBody>
      </p:sp>
      <p:sp>
        <p:nvSpPr>
          <p:cNvPr id="21" name="R4_a3"/>
          <p:cNvSpPr txBox="1"/>
          <p:nvPr/>
        </p:nvSpPr>
        <p:spPr>
          <a:xfrm>
            <a:off x="5861304" y="3118104"/>
            <a:ext cx="296265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about staying in?</a:t>
            </a:r>
            <a:endParaRPr lang="en-US" sz="1250" dirty="0"/>
          </a:p>
        </p:txBody>
      </p:sp>
      <p:sp>
        <p:nvSpPr>
          <p:cNvPr id="22" name="box_33"/>
          <p:cNvSpPr txBox="1"/>
          <p:nvPr/>
        </p:nvSpPr>
        <p:spPr>
          <a:xfrm>
            <a:off x="2788920" y="3651504"/>
            <a:ext cx="3017520" cy="4419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keen / I'm / on / very / not / running</a:t>
            </a:r>
            <a:endParaRPr lang="en-US" sz="1300" dirty="0"/>
          </a:p>
        </p:txBody>
      </p:sp>
      <p:sp>
        <p:nvSpPr>
          <p:cNvPr id="23" name="R5_a4"/>
          <p:cNvSpPr txBox="1"/>
          <p:nvPr/>
        </p:nvSpPr>
        <p:spPr>
          <a:xfrm>
            <a:off x="5861304" y="3688080"/>
            <a:ext cx="296265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not very keen on running.</a:t>
            </a:r>
            <a:endParaRPr lang="en-US" sz="1250" dirty="0"/>
          </a:p>
        </p:txBody>
      </p:sp>
      <p:sp>
        <p:nvSpPr>
          <p:cNvPr id="24" name="box_34"/>
          <p:cNvSpPr txBox="1"/>
          <p:nvPr/>
        </p:nvSpPr>
        <p:spPr>
          <a:xfrm>
            <a:off x="2788920" y="4221480"/>
            <a:ext cx="3017520" cy="4419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happen / won't / again / it</a:t>
            </a:r>
            <a:endParaRPr lang="en-US" sz="1300" dirty="0"/>
          </a:p>
        </p:txBody>
      </p:sp>
      <p:sp>
        <p:nvSpPr>
          <p:cNvPr id="25" name="R6_a5"/>
          <p:cNvSpPr txBox="1"/>
          <p:nvPr/>
        </p:nvSpPr>
        <p:spPr>
          <a:xfrm>
            <a:off x="5861304" y="4258056"/>
            <a:ext cx="296265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won't happen again.</a:t>
            </a:r>
            <a:endParaRPr lang="en-US" sz="1250" dirty="0"/>
          </a:p>
        </p:txBody>
      </p:sp>
      <p:sp>
        <p:nvSpPr>
          <p:cNvPr id="26" name="pageTag_35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revision of Practical English 4 · audio 7.25, 7.28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36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37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38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Clare's story · audio 8.1</a:t>
            </a:r>
            <a:endParaRPr lang="en-US" sz="900" dirty="0"/>
          </a:p>
        </p:txBody>
      </p:sp>
      <p:sp>
        <p:nvSpPr>
          <p:cNvPr id="6" name="timer_39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4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8A · Part 1</a:t>
            </a:r>
            <a:endParaRPr lang="en-US" sz="1000" dirty="0"/>
          </a:p>
        </p:txBody>
      </p:sp>
      <p:sp>
        <p:nvSpPr>
          <p:cNvPr id="8" name="title_41"/>
          <p:cNvSpPr txBox="1"/>
          <p:nvPr/>
        </p:nvSpPr>
        <p:spPr>
          <a:xfrm rot="-120000">
            <a:off x="320040" y="676656"/>
            <a:ext cx="2761488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Clare's story</a:t>
            </a:r>
            <a:endParaRPr lang="en-US" sz="1500" dirty="0"/>
          </a:p>
        </p:txBody>
      </p:sp>
      <p:sp>
        <p:nvSpPr>
          <p:cNvPr id="9" name="post_42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43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1" name="signB_44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Clare's story. Then cover it and retell it!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la storia di Clare. Poi coprila e raccontala!</a:t>
            </a:r>
            <a:endParaRPr lang="en-US" sz="1250" dirty="0"/>
          </a:p>
        </p:txBody>
      </p:sp>
      <p:sp>
        <p:nvSpPr>
          <p:cNvPr id="12" name="box_45"/>
          <p:cNvSpPr txBox="1"/>
          <p:nvPr/>
        </p:nvSpPr>
        <p:spPr>
          <a:xfrm>
            <a:off x="2788920" y="1371600"/>
            <a:ext cx="4345229" cy="34975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She had to work very long hours and do ___.</a:t>
            </a:r>
            <a:endParaRPr lang="en-US" sz="1200" dirty="0"/>
          </a:p>
        </p:txBody>
      </p:sp>
      <p:sp>
        <p:nvSpPr>
          <p:cNvPr id="13" name="R1_m0"/>
          <p:cNvSpPr txBox="1"/>
          <p:nvPr/>
        </p:nvSpPr>
        <p:spPr>
          <a:xfrm>
            <a:off x="7207301" y="1389888"/>
            <a:ext cx="1616659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</a:t>
            </a:r>
            <a:endParaRPr lang="en-US" sz="1250" dirty="0"/>
          </a:p>
        </p:txBody>
      </p:sp>
      <p:sp>
        <p:nvSpPr>
          <p:cNvPr id="14" name="box_46"/>
          <p:cNvSpPr txBox="1"/>
          <p:nvPr/>
        </p:nvSpPr>
        <p:spPr>
          <a:xfrm>
            <a:off x="2788920" y="1794510"/>
            <a:ext cx="4345229" cy="34975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She had a good ___, but she didn't like her boss.</a:t>
            </a:r>
            <a:endParaRPr lang="en-US" sz="1200" dirty="0"/>
          </a:p>
        </p:txBody>
      </p:sp>
      <p:sp>
        <p:nvSpPr>
          <p:cNvPr id="15" name="R1_m1"/>
          <p:cNvSpPr txBox="1"/>
          <p:nvPr/>
        </p:nvSpPr>
        <p:spPr>
          <a:xfrm>
            <a:off x="7207301" y="1812798"/>
            <a:ext cx="1616659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1250" dirty="0"/>
          </a:p>
        </p:txBody>
      </p:sp>
      <p:sp>
        <p:nvSpPr>
          <p:cNvPr id="16" name="box_47"/>
          <p:cNvSpPr txBox="1"/>
          <p:nvPr/>
        </p:nvSpPr>
        <p:spPr>
          <a:xfrm>
            <a:off x="2788920" y="2217420"/>
            <a:ext cx="4345229" cy="349758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They had an argument, and Clare was ___.</a:t>
            </a:r>
            <a:endParaRPr lang="en-US" sz="1200" dirty="0"/>
          </a:p>
        </p:txBody>
      </p:sp>
      <p:sp>
        <p:nvSpPr>
          <p:cNvPr id="17" name="R1_m2"/>
          <p:cNvSpPr txBox="1"/>
          <p:nvPr/>
        </p:nvSpPr>
        <p:spPr>
          <a:xfrm>
            <a:off x="7207301" y="2235708"/>
            <a:ext cx="1616659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sacked</a:t>
            </a:r>
            <a:endParaRPr lang="en-US" sz="1250" dirty="0"/>
          </a:p>
        </p:txBody>
      </p:sp>
      <p:sp>
        <p:nvSpPr>
          <p:cNvPr id="18" name="box_48"/>
          <p:cNvSpPr txBox="1"/>
          <p:nvPr/>
        </p:nvSpPr>
        <p:spPr>
          <a:xfrm>
            <a:off x="2788920" y="2640330"/>
            <a:ext cx="4345229" cy="349758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She was ___, and had to look for a job.</a:t>
            </a:r>
            <a:endParaRPr lang="en-US" sz="1200" dirty="0"/>
          </a:p>
        </p:txBody>
      </p:sp>
      <p:sp>
        <p:nvSpPr>
          <p:cNvPr id="19" name="R1_m3"/>
          <p:cNvSpPr txBox="1"/>
          <p:nvPr/>
        </p:nvSpPr>
        <p:spPr>
          <a:xfrm>
            <a:off x="7207301" y="2658618"/>
            <a:ext cx="1616659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unemployed</a:t>
            </a:r>
            <a:endParaRPr lang="en-US" sz="1250" dirty="0"/>
          </a:p>
        </p:txBody>
      </p:sp>
      <p:sp>
        <p:nvSpPr>
          <p:cNvPr id="20" name="box_49"/>
          <p:cNvSpPr txBox="1"/>
          <p:nvPr/>
        </p:nvSpPr>
        <p:spPr>
          <a:xfrm>
            <a:off x="2788920" y="3063240"/>
            <a:ext cx="4345229" cy="349758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She ___ for a lot of jobs, and sent in CVs.</a:t>
            </a:r>
            <a:endParaRPr lang="en-US" sz="1200" dirty="0"/>
          </a:p>
        </p:txBody>
      </p:sp>
      <p:sp>
        <p:nvSpPr>
          <p:cNvPr id="21" name="R1_m4"/>
          <p:cNvSpPr txBox="1"/>
          <p:nvPr/>
        </p:nvSpPr>
        <p:spPr>
          <a:xfrm>
            <a:off x="7207301" y="3081528"/>
            <a:ext cx="1616659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1250" dirty="0"/>
          </a:p>
        </p:txBody>
      </p:sp>
      <p:sp>
        <p:nvSpPr>
          <p:cNvPr id="22" name="box_50"/>
          <p:cNvSpPr txBox="1"/>
          <p:nvPr/>
        </p:nvSpPr>
        <p:spPr>
          <a:xfrm>
            <a:off x="2788920" y="3486150"/>
            <a:ext cx="4345229" cy="349758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She had some ___, but didn't get the jobs.</a:t>
            </a:r>
            <a:endParaRPr lang="en-US" sz="1200" dirty="0"/>
          </a:p>
        </p:txBody>
      </p:sp>
      <p:sp>
        <p:nvSpPr>
          <p:cNvPr id="23" name="R1_m5"/>
          <p:cNvSpPr txBox="1"/>
          <p:nvPr/>
        </p:nvSpPr>
        <p:spPr>
          <a:xfrm>
            <a:off x="7207301" y="3504438"/>
            <a:ext cx="1616659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</a:t>
            </a:r>
            <a:endParaRPr lang="en-US" sz="1250" dirty="0"/>
          </a:p>
        </p:txBody>
      </p:sp>
      <p:sp>
        <p:nvSpPr>
          <p:cNvPr id="24" name="box_51"/>
          <p:cNvSpPr txBox="1"/>
          <p:nvPr/>
        </p:nvSpPr>
        <p:spPr>
          <a:xfrm>
            <a:off x="2788920" y="3909060"/>
            <a:ext cx="4345229" cy="34975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She decided to ___ an online business selling birthday cakes.</a:t>
            </a:r>
            <a:endParaRPr lang="en-US" sz="1100" dirty="0"/>
          </a:p>
        </p:txBody>
      </p:sp>
      <p:sp>
        <p:nvSpPr>
          <p:cNvPr id="25" name="R1_m6"/>
          <p:cNvSpPr txBox="1"/>
          <p:nvPr/>
        </p:nvSpPr>
        <p:spPr>
          <a:xfrm>
            <a:off x="7207301" y="3927348"/>
            <a:ext cx="1616659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</a:t>
            </a:r>
            <a:endParaRPr lang="en-US" sz="1250" dirty="0"/>
          </a:p>
        </p:txBody>
      </p:sp>
      <p:sp>
        <p:nvSpPr>
          <p:cNvPr id="26" name="box_52"/>
          <p:cNvSpPr txBox="1"/>
          <p:nvPr/>
        </p:nvSpPr>
        <p:spPr>
          <a:xfrm>
            <a:off x="2788920" y="4331970"/>
            <a:ext cx="4345229" cy="34975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Her business is ___. Clare is a success!</a:t>
            </a:r>
            <a:endParaRPr lang="en-US" sz="1200" dirty="0"/>
          </a:p>
        </p:txBody>
      </p:sp>
      <p:sp>
        <p:nvSpPr>
          <p:cNvPr id="27" name="R1_m7"/>
          <p:cNvSpPr txBox="1"/>
          <p:nvPr/>
        </p:nvSpPr>
        <p:spPr>
          <a:xfrm>
            <a:off x="7207301" y="4350258"/>
            <a:ext cx="1616659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very well</a:t>
            </a:r>
            <a:endParaRPr lang="en-US" sz="1250" dirty="0"/>
          </a:p>
        </p:txBody>
      </p:sp>
      <p:sp>
        <p:nvSpPr>
          <p:cNvPr id="28" name="pageTag_53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p.76 · 1a, 1b · audio 8.1</a:t>
            </a:r>
            <a:endParaRPr lang="en-US" sz="1050" dirty="0"/>
          </a:p>
        </p:txBody>
      </p:sp>
      <p:sp>
        <p:nvSpPr>
          <p:cNvPr id="29" name="pframe_54"/>
          <p:cNvSpPr/>
          <p:nvPr/>
        </p:nvSpPr>
        <p:spPr>
          <a:xfrm rot="-120000">
            <a:off x="365760" y="3291840"/>
            <a:ext cx="2240280" cy="1216152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30" name="pimg_55" descr="Picture 1 … picture 9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 rot="-120000">
            <a:off x="438912" y="3364992"/>
            <a:ext cx="2093976" cy="795528"/>
          </a:xfrm>
          <a:prstGeom prst="rect">
            <a:avLst/>
          </a:prstGeom>
        </p:spPr>
      </p:pic>
      <p:sp>
        <p:nvSpPr>
          <p:cNvPr id="31" name="pcap_56"/>
          <p:cNvSpPr txBox="1"/>
          <p:nvPr/>
        </p:nvSpPr>
        <p:spPr>
          <a:xfrm rot="-120000">
            <a:off x="365760" y="416966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1 … picture 9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5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5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59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Vocabulary Bank Work p.163</a:t>
            </a:r>
            <a:endParaRPr lang="en-US" sz="900" dirty="0"/>
          </a:p>
        </p:txBody>
      </p:sp>
      <p:sp>
        <p:nvSpPr>
          <p:cNvPr id="6" name="timer_60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61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8A · Part 1</a:t>
            </a:r>
            <a:endParaRPr lang="en-US" sz="1000" dirty="0"/>
          </a:p>
        </p:txBody>
      </p:sp>
      <p:sp>
        <p:nvSpPr>
          <p:cNvPr id="8" name="title_62"/>
          <p:cNvSpPr txBox="1"/>
          <p:nvPr/>
        </p:nvSpPr>
        <p:spPr>
          <a:xfrm rot="-120000">
            <a:off x="320040" y="676656"/>
            <a:ext cx="4498848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Work: verbs and phrases</a:t>
            </a:r>
            <a:endParaRPr lang="en-US" sz="1500" dirty="0"/>
          </a:p>
        </p:txBody>
      </p:sp>
      <p:sp>
        <p:nvSpPr>
          <p:cNvPr id="9" name="post_63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64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1" name="signB_65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phrases. Click for the Italian.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Di' le espressioni. Clicca per l'italiano.</a:t>
            </a:r>
            <a:endParaRPr lang="en-US" sz="1250" dirty="0"/>
          </a:p>
        </p:txBody>
      </p:sp>
      <p:sp>
        <p:nvSpPr>
          <p:cNvPr id="12" name="tile_66"/>
          <p:cNvSpPr/>
          <p:nvPr/>
        </p:nvSpPr>
        <p:spPr>
          <a:xfrm>
            <a:off x="2788920" y="1371600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3" name="ti_67" descr="do overtim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105" y="1426464"/>
            <a:ext cx="298094" cy="298094"/>
          </a:xfrm>
          <a:prstGeom prst="rect">
            <a:avLst/>
          </a:prstGeom>
        </p:spPr>
      </p:pic>
      <p:sp>
        <p:nvSpPr>
          <p:cNvPr id="14" name="tw_68"/>
          <p:cNvSpPr txBox="1"/>
          <p:nvPr/>
        </p:nvSpPr>
        <p:spPr>
          <a:xfrm>
            <a:off x="2825496" y="17428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overtime</a:t>
            </a:r>
            <a:endParaRPr lang="en-US" sz="1200" dirty="0"/>
          </a:p>
        </p:txBody>
      </p:sp>
      <p:sp>
        <p:nvSpPr>
          <p:cNvPr id="15" name="R1_it0"/>
          <p:cNvSpPr txBox="1"/>
          <p:nvPr/>
        </p:nvSpPr>
        <p:spPr>
          <a:xfrm>
            <a:off x="2825496" y="197144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straordinari</a:t>
            </a:r>
            <a:endParaRPr lang="en-US" sz="1050" dirty="0"/>
          </a:p>
        </p:txBody>
      </p:sp>
      <p:sp>
        <p:nvSpPr>
          <p:cNvPr id="16" name="tile_69"/>
          <p:cNvSpPr/>
          <p:nvPr/>
        </p:nvSpPr>
        <p:spPr>
          <a:xfrm>
            <a:off x="4325112" y="1371600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7" name="ti_70" descr="get promote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9297" y="1426464"/>
            <a:ext cx="298094" cy="298094"/>
          </a:xfrm>
          <a:prstGeom prst="rect">
            <a:avLst/>
          </a:prstGeom>
        </p:spPr>
      </p:pic>
      <p:sp>
        <p:nvSpPr>
          <p:cNvPr id="18" name="tw_71"/>
          <p:cNvSpPr txBox="1"/>
          <p:nvPr/>
        </p:nvSpPr>
        <p:spPr>
          <a:xfrm>
            <a:off x="4361688" y="17428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promoted</a:t>
            </a:r>
            <a:endParaRPr lang="en-US" sz="1200" dirty="0"/>
          </a:p>
        </p:txBody>
      </p:sp>
      <p:sp>
        <p:nvSpPr>
          <p:cNvPr id="19" name="R1_it1"/>
          <p:cNvSpPr txBox="1"/>
          <p:nvPr/>
        </p:nvSpPr>
        <p:spPr>
          <a:xfrm>
            <a:off x="4361688" y="197144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essere promosso</a:t>
            </a:r>
            <a:endParaRPr lang="en-US" sz="1050" dirty="0"/>
          </a:p>
        </p:txBody>
      </p:sp>
      <p:sp>
        <p:nvSpPr>
          <p:cNvPr id="20" name="tile_72"/>
          <p:cNvSpPr/>
          <p:nvPr/>
        </p:nvSpPr>
        <p:spPr>
          <a:xfrm>
            <a:off x="5861304" y="1371600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1" name="ti_73" descr="work shift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5489" y="1426464"/>
            <a:ext cx="298094" cy="298094"/>
          </a:xfrm>
          <a:prstGeom prst="rect">
            <a:avLst/>
          </a:prstGeom>
        </p:spPr>
      </p:pic>
      <p:sp>
        <p:nvSpPr>
          <p:cNvPr id="22" name="tw_74"/>
          <p:cNvSpPr txBox="1"/>
          <p:nvPr/>
        </p:nvSpPr>
        <p:spPr>
          <a:xfrm>
            <a:off x="5897880" y="17428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shifts</a:t>
            </a:r>
            <a:endParaRPr lang="en-US" sz="1200" dirty="0"/>
          </a:p>
        </p:txBody>
      </p:sp>
      <p:sp>
        <p:nvSpPr>
          <p:cNvPr id="23" name="R1_it2"/>
          <p:cNvSpPr txBox="1"/>
          <p:nvPr/>
        </p:nvSpPr>
        <p:spPr>
          <a:xfrm>
            <a:off x="5897880" y="197144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i turni</a:t>
            </a:r>
            <a:endParaRPr lang="en-US" sz="1050" dirty="0"/>
          </a:p>
        </p:txBody>
      </p:sp>
      <p:sp>
        <p:nvSpPr>
          <p:cNvPr id="24" name="tile_75"/>
          <p:cNvSpPr/>
          <p:nvPr/>
        </p:nvSpPr>
        <p:spPr>
          <a:xfrm>
            <a:off x="7397496" y="1371600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5" name="ti_76" descr="be sacked / fire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1681" y="1426464"/>
            <a:ext cx="298094" cy="298094"/>
          </a:xfrm>
          <a:prstGeom prst="rect">
            <a:avLst/>
          </a:prstGeom>
        </p:spPr>
      </p:pic>
      <p:sp>
        <p:nvSpPr>
          <p:cNvPr id="26" name="tw_77"/>
          <p:cNvSpPr txBox="1"/>
          <p:nvPr/>
        </p:nvSpPr>
        <p:spPr>
          <a:xfrm>
            <a:off x="7434072" y="17428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sacked / fired</a:t>
            </a:r>
            <a:endParaRPr lang="en-US" sz="1200" dirty="0"/>
          </a:p>
        </p:txBody>
      </p:sp>
      <p:sp>
        <p:nvSpPr>
          <p:cNvPr id="27" name="R1_it3"/>
          <p:cNvSpPr txBox="1"/>
          <p:nvPr/>
        </p:nvSpPr>
        <p:spPr>
          <a:xfrm>
            <a:off x="7434072" y="197144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essere licenziato</a:t>
            </a:r>
            <a:endParaRPr lang="en-US" sz="1050" dirty="0"/>
          </a:p>
        </p:txBody>
      </p:sp>
      <p:sp>
        <p:nvSpPr>
          <p:cNvPr id="28" name="tile_78"/>
          <p:cNvSpPr/>
          <p:nvPr/>
        </p:nvSpPr>
        <p:spPr>
          <a:xfrm>
            <a:off x="2788920" y="2226564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9" name="ti_79" descr="be made redundan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3105" y="2281428"/>
            <a:ext cx="298094" cy="298094"/>
          </a:xfrm>
          <a:prstGeom prst="rect">
            <a:avLst/>
          </a:prstGeom>
        </p:spPr>
      </p:pic>
      <p:sp>
        <p:nvSpPr>
          <p:cNvPr id="30" name="tw_80"/>
          <p:cNvSpPr txBox="1"/>
          <p:nvPr/>
        </p:nvSpPr>
        <p:spPr>
          <a:xfrm>
            <a:off x="2825496" y="259781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made redundant</a:t>
            </a:r>
            <a:endParaRPr lang="en-US" sz="1100" dirty="0"/>
          </a:p>
        </p:txBody>
      </p:sp>
      <p:sp>
        <p:nvSpPr>
          <p:cNvPr id="31" name="R1_it4"/>
          <p:cNvSpPr txBox="1"/>
          <p:nvPr/>
        </p:nvSpPr>
        <p:spPr>
          <a:xfrm>
            <a:off x="2825496" y="282641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essere licenziato per esubero</a:t>
            </a:r>
            <a:endParaRPr lang="en-US" sz="750" dirty="0"/>
          </a:p>
        </p:txBody>
      </p:sp>
      <p:sp>
        <p:nvSpPr>
          <p:cNvPr id="32" name="tile_81"/>
          <p:cNvSpPr/>
          <p:nvPr/>
        </p:nvSpPr>
        <p:spPr>
          <a:xfrm>
            <a:off x="4325112" y="2226564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33" name="ti_82" descr="resign (silent g!)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9297" y="2281428"/>
            <a:ext cx="298094" cy="298094"/>
          </a:xfrm>
          <a:prstGeom prst="rect">
            <a:avLst/>
          </a:prstGeom>
        </p:spPr>
      </p:pic>
      <p:sp>
        <p:nvSpPr>
          <p:cNvPr id="34" name="tw_83"/>
          <p:cNvSpPr txBox="1"/>
          <p:nvPr/>
        </p:nvSpPr>
        <p:spPr>
          <a:xfrm>
            <a:off x="4361688" y="259781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resign (silent g!)</a:t>
            </a:r>
            <a:endParaRPr lang="en-US" sz="1200" dirty="0"/>
          </a:p>
        </p:txBody>
      </p:sp>
      <p:sp>
        <p:nvSpPr>
          <p:cNvPr id="35" name="R1_it5"/>
          <p:cNvSpPr txBox="1"/>
          <p:nvPr/>
        </p:nvSpPr>
        <p:spPr>
          <a:xfrm>
            <a:off x="4361688" y="282641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dimettersi</a:t>
            </a:r>
            <a:endParaRPr lang="en-US" sz="1050" dirty="0"/>
          </a:p>
        </p:txBody>
      </p:sp>
      <p:sp>
        <p:nvSpPr>
          <p:cNvPr id="36" name="tile_84"/>
          <p:cNvSpPr/>
          <p:nvPr/>
        </p:nvSpPr>
        <p:spPr>
          <a:xfrm>
            <a:off x="5861304" y="2226564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37" name="ti_85" descr="retir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5489" y="2281428"/>
            <a:ext cx="298094" cy="298094"/>
          </a:xfrm>
          <a:prstGeom prst="rect">
            <a:avLst/>
          </a:prstGeom>
        </p:spPr>
      </p:pic>
      <p:sp>
        <p:nvSpPr>
          <p:cNvPr id="38" name="tw_86"/>
          <p:cNvSpPr txBox="1"/>
          <p:nvPr/>
        </p:nvSpPr>
        <p:spPr>
          <a:xfrm>
            <a:off x="5897880" y="259781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</a:t>
            </a:r>
            <a:endParaRPr lang="en-US" sz="1200" dirty="0"/>
          </a:p>
        </p:txBody>
      </p:sp>
      <p:sp>
        <p:nvSpPr>
          <p:cNvPr id="39" name="R1_it6"/>
          <p:cNvSpPr txBox="1"/>
          <p:nvPr/>
        </p:nvSpPr>
        <p:spPr>
          <a:xfrm>
            <a:off x="5897880" y="282641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andare in pensione</a:t>
            </a:r>
            <a:endParaRPr lang="en-US" sz="1050" dirty="0"/>
          </a:p>
        </p:txBody>
      </p:sp>
      <p:sp>
        <p:nvSpPr>
          <p:cNvPr id="40" name="tile_87"/>
          <p:cNvSpPr/>
          <p:nvPr/>
        </p:nvSpPr>
        <p:spPr>
          <a:xfrm>
            <a:off x="7397496" y="2226564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41" name="ti_88" descr="set up a business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61681" y="2281428"/>
            <a:ext cx="298094" cy="298094"/>
          </a:xfrm>
          <a:prstGeom prst="rect">
            <a:avLst/>
          </a:prstGeom>
        </p:spPr>
      </p:pic>
      <p:sp>
        <p:nvSpPr>
          <p:cNvPr id="42" name="tw_89"/>
          <p:cNvSpPr txBox="1"/>
          <p:nvPr/>
        </p:nvSpPr>
        <p:spPr>
          <a:xfrm>
            <a:off x="7434072" y="259781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business</a:t>
            </a:r>
            <a:endParaRPr lang="en-US" sz="1200" dirty="0"/>
          </a:p>
        </p:txBody>
      </p:sp>
      <p:sp>
        <p:nvSpPr>
          <p:cNvPr id="43" name="R1_it7"/>
          <p:cNvSpPr txBox="1"/>
          <p:nvPr/>
        </p:nvSpPr>
        <p:spPr>
          <a:xfrm>
            <a:off x="7434072" y="282641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avviare un'attività</a:t>
            </a:r>
            <a:endParaRPr lang="en-US" sz="1050" dirty="0"/>
          </a:p>
        </p:txBody>
      </p:sp>
      <p:sp>
        <p:nvSpPr>
          <p:cNvPr id="44" name="tile_90"/>
          <p:cNvSpPr/>
          <p:nvPr/>
        </p:nvSpPr>
        <p:spPr>
          <a:xfrm>
            <a:off x="2788920" y="3081528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45" name="ti_91" descr="do a training course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53105" y="3136392"/>
            <a:ext cx="298094" cy="298094"/>
          </a:xfrm>
          <a:prstGeom prst="rect">
            <a:avLst/>
          </a:prstGeom>
        </p:spPr>
      </p:pic>
      <p:sp>
        <p:nvSpPr>
          <p:cNvPr id="46" name="tw_92"/>
          <p:cNvSpPr txBox="1"/>
          <p:nvPr/>
        </p:nvSpPr>
        <p:spPr>
          <a:xfrm>
            <a:off x="2825496" y="345277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 training course</a:t>
            </a:r>
            <a:endParaRPr lang="en-US" sz="1050" dirty="0"/>
          </a:p>
        </p:txBody>
      </p:sp>
      <p:sp>
        <p:nvSpPr>
          <p:cNvPr id="47" name="R1_it8"/>
          <p:cNvSpPr txBox="1"/>
          <p:nvPr/>
        </p:nvSpPr>
        <p:spPr>
          <a:xfrm>
            <a:off x="2825496" y="368137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di formazione</a:t>
            </a:r>
            <a:endParaRPr lang="en-US" sz="1050" dirty="0"/>
          </a:p>
        </p:txBody>
      </p:sp>
      <p:sp>
        <p:nvSpPr>
          <p:cNvPr id="48" name="tile_93"/>
          <p:cNvSpPr/>
          <p:nvPr/>
        </p:nvSpPr>
        <p:spPr>
          <a:xfrm>
            <a:off x="4325112" y="3081528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49" name="ti_94" descr="apply for a job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89297" y="3136392"/>
            <a:ext cx="298094" cy="298094"/>
          </a:xfrm>
          <a:prstGeom prst="rect">
            <a:avLst/>
          </a:prstGeom>
        </p:spPr>
      </p:pic>
      <p:sp>
        <p:nvSpPr>
          <p:cNvPr id="50" name="tw_95"/>
          <p:cNvSpPr txBox="1"/>
          <p:nvPr/>
        </p:nvSpPr>
        <p:spPr>
          <a:xfrm>
            <a:off x="4361688" y="345277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a job</a:t>
            </a:r>
            <a:endParaRPr lang="en-US" sz="1200" dirty="0"/>
          </a:p>
        </p:txBody>
      </p:sp>
      <p:sp>
        <p:nvSpPr>
          <p:cNvPr id="51" name="R1_it9"/>
          <p:cNvSpPr txBox="1"/>
          <p:nvPr/>
        </p:nvSpPr>
        <p:spPr>
          <a:xfrm>
            <a:off x="4361688" y="368137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candidarsi</a:t>
            </a:r>
            <a:endParaRPr lang="en-US" sz="1050" dirty="0"/>
          </a:p>
        </p:txBody>
      </p:sp>
      <p:sp>
        <p:nvSpPr>
          <p:cNvPr id="52" name="tile_96"/>
          <p:cNvSpPr/>
          <p:nvPr/>
        </p:nvSpPr>
        <p:spPr>
          <a:xfrm>
            <a:off x="5861304" y="3081528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53" name="ti_97" descr="run a business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5489" y="3136392"/>
            <a:ext cx="298094" cy="298094"/>
          </a:xfrm>
          <a:prstGeom prst="rect">
            <a:avLst/>
          </a:prstGeom>
        </p:spPr>
      </p:pic>
      <p:sp>
        <p:nvSpPr>
          <p:cNvPr id="54" name="tw_98"/>
          <p:cNvSpPr txBox="1"/>
          <p:nvPr/>
        </p:nvSpPr>
        <p:spPr>
          <a:xfrm>
            <a:off x="5897880" y="345277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business</a:t>
            </a:r>
            <a:endParaRPr lang="en-US" sz="1200" dirty="0"/>
          </a:p>
        </p:txBody>
      </p:sp>
      <p:sp>
        <p:nvSpPr>
          <p:cNvPr id="55" name="R1_it10"/>
          <p:cNvSpPr txBox="1"/>
          <p:nvPr/>
        </p:nvSpPr>
        <p:spPr>
          <a:xfrm>
            <a:off x="5897880" y="368137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gestire</a:t>
            </a:r>
            <a:endParaRPr lang="en-US" sz="1050" dirty="0"/>
          </a:p>
        </p:txBody>
      </p:sp>
      <p:sp>
        <p:nvSpPr>
          <p:cNvPr id="56" name="tile_99"/>
          <p:cNvSpPr/>
          <p:nvPr/>
        </p:nvSpPr>
        <p:spPr>
          <a:xfrm>
            <a:off x="7397496" y="3081528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57" name="ti_100" descr="be in charge of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61681" y="3136392"/>
            <a:ext cx="298094" cy="298094"/>
          </a:xfrm>
          <a:prstGeom prst="rect">
            <a:avLst/>
          </a:prstGeom>
        </p:spPr>
      </p:pic>
      <p:sp>
        <p:nvSpPr>
          <p:cNvPr id="58" name="tw_101"/>
          <p:cNvSpPr txBox="1"/>
          <p:nvPr/>
        </p:nvSpPr>
        <p:spPr>
          <a:xfrm>
            <a:off x="7434072" y="345277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in charge of</a:t>
            </a:r>
            <a:endParaRPr lang="en-US" sz="1200" dirty="0"/>
          </a:p>
        </p:txBody>
      </p:sp>
      <p:sp>
        <p:nvSpPr>
          <p:cNvPr id="59" name="R1_it11"/>
          <p:cNvSpPr txBox="1"/>
          <p:nvPr/>
        </p:nvSpPr>
        <p:spPr>
          <a:xfrm>
            <a:off x="7434072" y="368137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essere a capo di</a:t>
            </a:r>
            <a:endParaRPr lang="en-US" sz="1050" dirty="0"/>
          </a:p>
        </p:txBody>
      </p:sp>
      <p:sp>
        <p:nvSpPr>
          <p:cNvPr id="60" name="tile_102"/>
          <p:cNvSpPr/>
          <p:nvPr/>
        </p:nvSpPr>
        <p:spPr>
          <a:xfrm>
            <a:off x="2788920" y="3936492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61" name="ti_103" descr="self-employed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53105" y="3991356"/>
            <a:ext cx="298094" cy="298094"/>
          </a:xfrm>
          <a:prstGeom prst="rect">
            <a:avLst/>
          </a:prstGeom>
        </p:spPr>
      </p:pic>
      <p:sp>
        <p:nvSpPr>
          <p:cNvPr id="62" name="tw_104"/>
          <p:cNvSpPr txBox="1"/>
          <p:nvPr/>
        </p:nvSpPr>
        <p:spPr>
          <a:xfrm>
            <a:off x="2825496" y="430773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self-employed</a:t>
            </a:r>
            <a:endParaRPr lang="en-US" sz="1200" dirty="0"/>
          </a:p>
        </p:txBody>
      </p:sp>
      <p:sp>
        <p:nvSpPr>
          <p:cNvPr id="63" name="R1_it12"/>
          <p:cNvSpPr txBox="1"/>
          <p:nvPr/>
        </p:nvSpPr>
        <p:spPr>
          <a:xfrm>
            <a:off x="2825496" y="453633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</a:t>
            </a:r>
            <a:endParaRPr lang="en-US" sz="1050" dirty="0"/>
          </a:p>
        </p:txBody>
      </p:sp>
      <p:sp>
        <p:nvSpPr>
          <p:cNvPr id="64" name="tile_105"/>
          <p:cNvSpPr/>
          <p:nvPr/>
        </p:nvSpPr>
        <p:spPr>
          <a:xfrm>
            <a:off x="4325112" y="3936492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65" name="ti_106" descr="freelance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89297" y="3991356"/>
            <a:ext cx="298094" cy="298094"/>
          </a:xfrm>
          <a:prstGeom prst="rect">
            <a:avLst/>
          </a:prstGeom>
        </p:spPr>
      </p:pic>
      <p:sp>
        <p:nvSpPr>
          <p:cNvPr id="66" name="tw_107"/>
          <p:cNvSpPr txBox="1"/>
          <p:nvPr/>
        </p:nvSpPr>
        <p:spPr>
          <a:xfrm>
            <a:off x="4361688" y="430773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</a:t>
            </a:r>
            <a:endParaRPr lang="en-US" sz="1200" dirty="0"/>
          </a:p>
        </p:txBody>
      </p:sp>
      <p:sp>
        <p:nvSpPr>
          <p:cNvPr id="67" name="R1_it13"/>
          <p:cNvSpPr txBox="1"/>
          <p:nvPr/>
        </p:nvSpPr>
        <p:spPr>
          <a:xfrm>
            <a:off x="4361688" y="453633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libero professionista</a:t>
            </a:r>
            <a:endParaRPr lang="en-US" sz="1050" dirty="0"/>
          </a:p>
        </p:txBody>
      </p:sp>
      <p:sp>
        <p:nvSpPr>
          <p:cNvPr id="68" name="tile_108"/>
          <p:cNvSpPr/>
          <p:nvPr/>
        </p:nvSpPr>
        <p:spPr>
          <a:xfrm>
            <a:off x="5861304" y="3936492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69" name="ti_109" descr="temporary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25489" y="3991356"/>
            <a:ext cx="298094" cy="298094"/>
          </a:xfrm>
          <a:prstGeom prst="rect">
            <a:avLst/>
          </a:prstGeom>
        </p:spPr>
      </p:pic>
      <p:sp>
        <p:nvSpPr>
          <p:cNvPr id="70" name="tw_110"/>
          <p:cNvSpPr txBox="1"/>
          <p:nvPr/>
        </p:nvSpPr>
        <p:spPr>
          <a:xfrm>
            <a:off x="5897880" y="430773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</a:t>
            </a:r>
            <a:endParaRPr lang="en-US" sz="1200" dirty="0"/>
          </a:p>
        </p:txBody>
      </p:sp>
      <p:sp>
        <p:nvSpPr>
          <p:cNvPr id="71" name="R1_it14"/>
          <p:cNvSpPr txBox="1"/>
          <p:nvPr/>
        </p:nvSpPr>
        <p:spPr>
          <a:xfrm>
            <a:off x="5897880" y="453633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tempo determinato</a:t>
            </a:r>
            <a:endParaRPr lang="en-US" sz="1050" dirty="0"/>
          </a:p>
        </p:txBody>
      </p:sp>
      <p:sp>
        <p:nvSpPr>
          <p:cNvPr id="72" name="tile_111"/>
          <p:cNvSpPr/>
          <p:nvPr/>
        </p:nvSpPr>
        <p:spPr>
          <a:xfrm>
            <a:off x="7397496" y="3936492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73" name="ti_112" descr="part-time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61681" y="3991356"/>
            <a:ext cx="298094" cy="298094"/>
          </a:xfrm>
          <a:prstGeom prst="rect">
            <a:avLst/>
          </a:prstGeom>
        </p:spPr>
      </p:pic>
      <p:sp>
        <p:nvSpPr>
          <p:cNvPr id="74" name="tw_113"/>
          <p:cNvSpPr txBox="1"/>
          <p:nvPr/>
        </p:nvSpPr>
        <p:spPr>
          <a:xfrm>
            <a:off x="7434072" y="430773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part-time</a:t>
            </a:r>
            <a:endParaRPr lang="en-US" sz="1200" dirty="0"/>
          </a:p>
        </p:txBody>
      </p:sp>
      <p:sp>
        <p:nvSpPr>
          <p:cNvPr id="75" name="R1_it15"/>
          <p:cNvSpPr txBox="1"/>
          <p:nvPr/>
        </p:nvSpPr>
        <p:spPr>
          <a:xfrm>
            <a:off x="7434072" y="453633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tempo parziale</a:t>
            </a:r>
            <a:endParaRPr lang="en-US" sz="1050" dirty="0"/>
          </a:p>
        </p:txBody>
      </p:sp>
      <p:sp>
        <p:nvSpPr>
          <p:cNvPr id="76" name="pageTag_114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Vocabulary Bank Work p.163 · 1 Verb phrases · 2 Saying what you do · audio 8.2, 8.3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15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16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17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Word-building · audio 8.4</a:t>
            </a:r>
            <a:endParaRPr lang="en-US" sz="900" dirty="0"/>
          </a:p>
        </p:txBody>
      </p:sp>
      <p:sp>
        <p:nvSpPr>
          <p:cNvPr id="6" name="timer_118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119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8A · Part 1</a:t>
            </a:r>
            <a:endParaRPr lang="en-US" sz="1000" dirty="0"/>
          </a:p>
        </p:txBody>
      </p:sp>
      <p:sp>
        <p:nvSpPr>
          <p:cNvPr id="8" name="title_120"/>
          <p:cNvSpPr txBox="1"/>
          <p:nvPr/>
        </p:nvSpPr>
        <p:spPr>
          <a:xfrm rot="-120000">
            <a:off x="320040" y="676656"/>
            <a:ext cx="293522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Make the word!</a:t>
            </a:r>
            <a:endParaRPr lang="en-US" sz="1500" dirty="0"/>
          </a:p>
        </p:txBody>
      </p:sp>
      <p:sp>
        <p:nvSpPr>
          <p:cNvPr id="9" name="post_121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22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1" name="signB_123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noun / the job. Which syllable is stressed?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il nome / il mestiere. Dov'è l'accento?</a:t>
            </a:r>
            <a:endParaRPr lang="en-US" sz="1250" dirty="0"/>
          </a:p>
        </p:txBody>
      </p:sp>
      <p:sp>
        <p:nvSpPr>
          <p:cNvPr id="12" name="iconBack_124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125" descr="pi:PiTextA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box_126"/>
          <p:cNvSpPr txBox="1"/>
          <p:nvPr/>
        </p:nvSpPr>
        <p:spPr>
          <a:xfrm>
            <a:off x="2788920" y="1371600"/>
            <a:ext cx="1240475" cy="4419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promote →</a:t>
            </a:r>
            <a:endParaRPr lang="en-US" sz="1300" dirty="0"/>
          </a:p>
        </p:txBody>
      </p:sp>
      <p:sp>
        <p:nvSpPr>
          <p:cNvPr id="15" name="R1_a0"/>
          <p:cNvSpPr txBox="1"/>
          <p:nvPr/>
        </p:nvSpPr>
        <p:spPr>
          <a:xfrm>
            <a:off x="4084259" y="1408176"/>
            <a:ext cx="1658173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</a:t>
            </a:r>
            <a:endParaRPr lang="en-US" sz="1250" dirty="0"/>
          </a:p>
        </p:txBody>
      </p:sp>
      <p:sp>
        <p:nvSpPr>
          <p:cNvPr id="16" name="box_127"/>
          <p:cNvSpPr txBox="1"/>
          <p:nvPr/>
        </p:nvSpPr>
        <p:spPr>
          <a:xfrm>
            <a:off x="5870448" y="1371600"/>
            <a:ext cx="1240475" cy="4419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science →</a:t>
            </a:r>
            <a:endParaRPr lang="en-US" sz="1300" dirty="0"/>
          </a:p>
        </p:txBody>
      </p:sp>
      <p:sp>
        <p:nvSpPr>
          <p:cNvPr id="17" name="R1_a1"/>
          <p:cNvSpPr txBox="1"/>
          <p:nvPr/>
        </p:nvSpPr>
        <p:spPr>
          <a:xfrm>
            <a:off x="7165787" y="1408176"/>
            <a:ext cx="1658173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</a:t>
            </a:r>
            <a:endParaRPr lang="en-US" sz="1250" dirty="0"/>
          </a:p>
        </p:txBody>
      </p:sp>
      <p:sp>
        <p:nvSpPr>
          <p:cNvPr id="18" name="box_128"/>
          <p:cNvSpPr txBox="1"/>
          <p:nvPr/>
        </p:nvSpPr>
        <p:spPr>
          <a:xfrm>
            <a:off x="2788920" y="1941576"/>
            <a:ext cx="1240475" cy="4419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apply →</a:t>
            </a:r>
            <a:endParaRPr lang="en-US" sz="1300" dirty="0"/>
          </a:p>
        </p:txBody>
      </p:sp>
      <p:sp>
        <p:nvSpPr>
          <p:cNvPr id="19" name="R1_a2"/>
          <p:cNvSpPr txBox="1"/>
          <p:nvPr/>
        </p:nvSpPr>
        <p:spPr>
          <a:xfrm>
            <a:off x="4084259" y="1978152"/>
            <a:ext cx="1658173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50" dirty="0"/>
          </a:p>
        </p:txBody>
      </p:sp>
      <p:sp>
        <p:nvSpPr>
          <p:cNvPr id="20" name="box_129"/>
          <p:cNvSpPr txBox="1"/>
          <p:nvPr/>
        </p:nvSpPr>
        <p:spPr>
          <a:xfrm>
            <a:off x="5870448" y="1941576"/>
            <a:ext cx="1240475" cy="4419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law →</a:t>
            </a:r>
            <a:endParaRPr lang="en-US" sz="1300" dirty="0"/>
          </a:p>
        </p:txBody>
      </p:sp>
      <p:sp>
        <p:nvSpPr>
          <p:cNvPr id="21" name="R1_a3"/>
          <p:cNvSpPr txBox="1"/>
          <p:nvPr/>
        </p:nvSpPr>
        <p:spPr>
          <a:xfrm>
            <a:off x="7165787" y="1978152"/>
            <a:ext cx="1658173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</a:t>
            </a:r>
            <a:endParaRPr lang="en-US" sz="1250" dirty="0"/>
          </a:p>
        </p:txBody>
      </p:sp>
      <p:sp>
        <p:nvSpPr>
          <p:cNvPr id="22" name="box_130"/>
          <p:cNvSpPr txBox="1"/>
          <p:nvPr/>
        </p:nvSpPr>
        <p:spPr>
          <a:xfrm>
            <a:off x="2788920" y="2511552"/>
            <a:ext cx="1240475" cy="4419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retire →</a:t>
            </a:r>
            <a:endParaRPr lang="en-US" sz="1300" dirty="0"/>
          </a:p>
        </p:txBody>
      </p:sp>
      <p:sp>
        <p:nvSpPr>
          <p:cNvPr id="23" name="R1_a4"/>
          <p:cNvSpPr txBox="1"/>
          <p:nvPr/>
        </p:nvSpPr>
        <p:spPr>
          <a:xfrm>
            <a:off x="4084259" y="2548128"/>
            <a:ext cx="1658173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</a:t>
            </a:r>
            <a:endParaRPr lang="en-US" sz="1250" dirty="0"/>
          </a:p>
        </p:txBody>
      </p:sp>
      <p:sp>
        <p:nvSpPr>
          <p:cNvPr id="24" name="box_131"/>
          <p:cNvSpPr txBox="1"/>
          <p:nvPr/>
        </p:nvSpPr>
        <p:spPr>
          <a:xfrm>
            <a:off x="5870448" y="2511552"/>
            <a:ext cx="1240475" cy="4419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music →</a:t>
            </a:r>
            <a:endParaRPr lang="en-US" sz="1300" dirty="0"/>
          </a:p>
        </p:txBody>
      </p:sp>
      <p:sp>
        <p:nvSpPr>
          <p:cNvPr id="25" name="R1_a5"/>
          <p:cNvSpPr txBox="1"/>
          <p:nvPr/>
        </p:nvSpPr>
        <p:spPr>
          <a:xfrm>
            <a:off x="7165787" y="2548128"/>
            <a:ext cx="1658173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muSIcian</a:t>
            </a:r>
            <a:endParaRPr lang="en-US" sz="1250" dirty="0"/>
          </a:p>
        </p:txBody>
      </p:sp>
      <p:sp>
        <p:nvSpPr>
          <p:cNvPr id="26" name="box_132"/>
          <p:cNvSpPr txBox="1"/>
          <p:nvPr/>
        </p:nvSpPr>
        <p:spPr>
          <a:xfrm>
            <a:off x="2788920" y="3081528"/>
            <a:ext cx="1240475" cy="4419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employ →</a:t>
            </a:r>
            <a:endParaRPr lang="en-US" sz="1300" dirty="0"/>
          </a:p>
        </p:txBody>
      </p:sp>
      <p:sp>
        <p:nvSpPr>
          <p:cNvPr id="27" name="R1_a6"/>
          <p:cNvSpPr txBox="1"/>
          <p:nvPr/>
        </p:nvSpPr>
        <p:spPr>
          <a:xfrm>
            <a:off x="4084259" y="3118104"/>
            <a:ext cx="1658173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</a:t>
            </a:r>
            <a:endParaRPr lang="en-US" sz="1250" dirty="0"/>
          </a:p>
        </p:txBody>
      </p:sp>
      <p:sp>
        <p:nvSpPr>
          <p:cNvPr id="28" name="box_133"/>
          <p:cNvSpPr txBox="1"/>
          <p:nvPr/>
        </p:nvSpPr>
        <p:spPr>
          <a:xfrm>
            <a:off x="5870448" y="3081528"/>
            <a:ext cx="1240475" cy="4419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pharmacy →</a:t>
            </a:r>
            <a:endParaRPr lang="en-US" sz="1200" dirty="0"/>
          </a:p>
        </p:txBody>
      </p:sp>
      <p:sp>
        <p:nvSpPr>
          <p:cNvPr id="29" name="R1_a7"/>
          <p:cNvSpPr txBox="1"/>
          <p:nvPr/>
        </p:nvSpPr>
        <p:spPr>
          <a:xfrm>
            <a:off x="7165787" y="3118104"/>
            <a:ext cx="1658173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</a:t>
            </a:r>
            <a:endParaRPr lang="en-US" sz="1250" dirty="0"/>
          </a:p>
        </p:txBody>
      </p:sp>
      <p:sp>
        <p:nvSpPr>
          <p:cNvPr id="30" name="box_134"/>
          <p:cNvSpPr txBox="1"/>
          <p:nvPr/>
        </p:nvSpPr>
        <p:spPr>
          <a:xfrm>
            <a:off x="2788920" y="3651504"/>
            <a:ext cx="1240475" cy="4419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qualify →</a:t>
            </a:r>
            <a:endParaRPr lang="en-US" sz="1300" dirty="0"/>
          </a:p>
        </p:txBody>
      </p:sp>
      <p:sp>
        <p:nvSpPr>
          <p:cNvPr id="31" name="R1_a8"/>
          <p:cNvSpPr txBox="1"/>
          <p:nvPr/>
        </p:nvSpPr>
        <p:spPr>
          <a:xfrm>
            <a:off x="4084259" y="3688080"/>
            <a:ext cx="1658173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</a:t>
            </a:r>
            <a:endParaRPr lang="en-US" sz="1250" dirty="0"/>
          </a:p>
        </p:txBody>
      </p:sp>
      <p:sp>
        <p:nvSpPr>
          <p:cNvPr id="32" name="box_135"/>
          <p:cNvSpPr txBox="1"/>
          <p:nvPr/>
        </p:nvSpPr>
        <p:spPr>
          <a:xfrm>
            <a:off x="5870448" y="3651504"/>
            <a:ext cx="1240475" cy="4419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farm →</a:t>
            </a:r>
            <a:endParaRPr lang="en-US" sz="1300" dirty="0"/>
          </a:p>
        </p:txBody>
      </p:sp>
      <p:sp>
        <p:nvSpPr>
          <p:cNvPr id="33" name="R1_a9"/>
          <p:cNvSpPr txBox="1"/>
          <p:nvPr/>
        </p:nvSpPr>
        <p:spPr>
          <a:xfrm>
            <a:off x="7165787" y="3688080"/>
            <a:ext cx="1658173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250" dirty="0"/>
          </a:p>
        </p:txBody>
      </p:sp>
      <p:sp>
        <p:nvSpPr>
          <p:cNvPr id="34" name="box_136"/>
          <p:cNvSpPr txBox="1"/>
          <p:nvPr/>
        </p:nvSpPr>
        <p:spPr>
          <a:xfrm>
            <a:off x="2788920" y="4221480"/>
            <a:ext cx="1240475" cy="4419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resign →</a:t>
            </a:r>
            <a:endParaRPr lang="en-US" sz="1300" dirty="0"/>
          </a:p>
        </p:txBody>
      </p:sp>
      <p:sp>
        <p:nvSpPr>
          <p:cNvPr id="35" name="R1_a10"/>
          <p:cNvSpPr txBox="1"/>
          <p:nvPr/>
        </p:nvSpPr>
        <p:spPr>
          <a:xfrm>
            <a:off x="4084259" y="4258056"/>
            <a:ext cx="1658173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resigNAtion</a:t>
            </a:r>
            <a:endParaRPr lang="en-US" sz="1250" dirty="0"/>
          </a:p>
        </p:txBody>
      </p:sp>
      <p:sp>
        <p:nvSpPr>
          <p:cNvPr id="36" name="box_137"/>
          <p:cNvSpPr txBox="1"/>
          <p:nvPr/>
        </p:nvSpPr>
        <p:spPr>
          <a:xfrm>
            <a:off x="5870448" y="4221480"/>
            <a:ext cx="1240475" cy="4419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translate →</a:t>
            </a:r>
            <a:endParaRPr lang="en-US" sz="1200" dirty="0"/>
          </a:p>
        </p:txBody>
      </p:sp>
      <p:sp>
        <p:nvSpPr>
          <p:cNvPr id="37" name="R1_a11"/>
          <p:cNvSpPr txBox="1"/>
          <p:nvPr/>
        </p:nvSpPr>
        <p:spPr>
          <a:xfrm>
            <a:off x="7165787" y="4258056"/>
            <a:ext cx="1658173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transLAtor</a:t>
            </a:r>
            <a:endParaRPr lang="en-US" sz="1250" dirty="0"/>
          </a:p>
        </p:txBody>
      </p:sp>
      <p:sp>
        <p:nvSpPr>
          <p:cNvPr id="38" name="pageTag_138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Vocabulary Bank Work p.163 · 3 Word-building · audio 8.4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39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40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41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PRONUNCIATION · Word stress · audio 8.5</a:t>
            </a:r>
            <a:endParaRPr lang="en-US" sz="900" dirty="0"/>
          </a:p>
        </p:txBody>
      </p:sp>
      <p:sp>
        <p:nvSpPr>
          <p:cNvPr id="6" name="timer_142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 min</a:t>
            </a:r>
            <a:endParaRPr lang="en-US" sz="1200" dirty="0"/>
          </a:p>
        </p:txBody>
      </p:sp>
      <p:sp>
        <p:nvSpPr>
          <p:cNvPr id="7" name="footer_143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8A · Part 1</a:t>
            </a:r>
            <a:endParaRPr lang="en-US" sz="1000" dirty="0"/>
          </a:p>
        </p:txBody>
      </p:sp>
      <p:sp>
        <p:nvSpPr>
          <p:cNvPr id="8" name="title_144"/>
          <p:cNvSpPr txBox="1"/>
          <p:nvPr/>
        </p:nvSpPr>
        <p:spPr>
          <a:xfrm rot="-120000">
            <a:off x="320040" y="676656"/>
            <a:ext cx="2240280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Stress it!</a:t>
            </a:r>
            <a:endParaRPr lang="en-US" sz="1500" dirty="0"/>
          </a:p>
        </p:txBody>
      </p:sp>
      <p:sp>
        <p:nvSpPr>
          <p:cNvPr id="9" name="post_145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46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1" name="signB_147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Underline the stressed syllable. Then listen and check.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Sottolinea la sillaba accentata. Poi ascolta e controlla.</a:t>
            </a:r>
            <a:endParaRPr lang="en-US" sz="1200" dirty="0"/>
          </a:p>
        </p:txBody>
      </p:sp>
      <p:sp>
        <p:nvSpPr>
          <p:cNvPr id="12" name="iconBack_148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149" descr="pi:PiSpeakerHig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box_150"/>
          <p:cNvSpPr txBox="1"/>
          <p:nvPr/>
        </p:nvSpPr>
        <p:spPr>
          <a:xfrm>
            <a:off x="2788920" y="1371600"/>
            <a:ext cx="1476756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apply</a:t>
            </a:r>
            <a:endParaRPr lang="en-US" sz="1350" dirty="0"/>
          </a:p>
        </p:txBody>
      </p:sp>
      <p:sp>
        <p:nvSpPr>
          <p:cNvPr id="15" name="R1_a0"/>
          <p:cNvSpPr txBox="1"/>
          <p:nvPr/>
        </p:nvSpPr>
        <p:spPr>
          <a:xfrm>
            <a:off x="4320540" y="1408176"/>
            <a:ext cx="1421892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300" dirty="0"/>
          </a:p>
        </p:txBody>
      </p:sp>
      <p:sp>
        <p:nvSpPr>
          <p:cNvPr id="16" name="box_151"/>
          <p:cNvSpPr txBox="1"/>
          <p:nvPr/>
        </p:nvSpPr>
        <p:spPr>
          <a:xfrm>
            <a:off x="5870448" y="1371600"/>
            <a:ext cx="1476756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salary</a:t>
            </a:r>
            <a:endParaRPr lang="en-US" sz="1350" dirty="0"/>
          </a:p>
        </p:txBody>
      </p:sp>
      <p:sp>
        <p:nvSpPr>
          <p:cNvPr id="17" name="R2_a1"/>
          <p:cNvSpPr txBox="1"/>
          <p:nvPr/>
        </p:nvSpPr>
        <p:spPr>
          <a:xfrm>
            <a:off x="7402068" y="1408176"/>
            <a:ext cx="1421892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1300" dirty="0"/>
          </a:p>
        </p:txBody>
      </p:sp>
      <p:sp>
        <p:nvSpPr>
          <p:cNvPr id="18" name="box_152"/>
          <p:cNvSpPr txBox="1"/>
          <p:nvPr/>
        </p:nvSpPr>
        <p:spPr>
          <a:xfrm>
            <a:off x="2788920" y="2055571"/>
            <a:ext cx="1476756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redundant</a:t>
            </a:r>
            <a:endParaRPr lang="en-US" sz="1350" dirty="0"/>
          </a:p>
        </p:txBody>
      </p:sp>
      <p:sp>
        <p:nvSpPr>
          <p:cNvPr id="19" name="R3_a2"/>
          <p:cNvSpPr txBox="1"/>
          <p:nvPr/>
        </p:nvSpPr>
        <p:spPr>
          <a:xfrm>
            <a:off x="4320540" y="2092147"/>
            <a:ext cx="1421892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</a:t>
            </a:r>
            <a:endParaRPr lang="en-US" sz="1300" dirty="0"/>
          </a:p>
        </p:txBody>
      </p:sp>
      <p:sp>
        <p:nvSpPr>
          <p:cNvPr id="20" name="box_153"/>
          <p:cNvSpPr txBox="1"/>
          <p:nvPr/>
        </p:nvSpPr>
        <p:spPr>
          <a:xfrm>
            <a:off x="5870448" y="2055571"/>
            <a:ext cx="1476756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experience</a:t>
            </a:r>
            <a:endParaRPr lang="en-US" sz="1350" dirty="0"/>
          </a:p>
        </p:txBody>
      </p:sp>
      <p:sp>
        <p:nvSpPr>
          <p:cNvPr id="21" name="R4_a3"/>
          <p:cNvSpPr txBox="1"/>
          <p:nvPr/>
        </p:nvSpPr>
        <p:spPr>
          <a:xfrm>
            <a:off x="7402068" y="2092147"/>
            <a:ext cx="1421892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300" dirty="0"/>
          </a:p>
        </p:txBody>
      </p:sp>
      <p:sp>
        <p:nvSpPr>
          <p:cNvPr id="22" name="box_154"/>
          <p:cNvSpPr txBox="1"/>
          <p:nvPr/>
        </p:nvSpPr>
        <p:spPr>
          <a:xfrm>
            <a:off x="2788920" y="2739542"/>
            <a:ext cx="1476756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overtime</a:t>
            </a:r>
            <a:endParaRPr lang="en-US" sz="1350" dirty="0"/>
          </a:p>
        </p:txBody>
      </p:sp>
      <p:sp>
        <p:nvSpPr>
          <p:cNvPr id="23" name="R5_a4"/>
          <p:cNvSpPr txBox="1"/>
          <p:nvPr/>
        </p:nvSpPr>
        <p:spPr>
          <a:xfrm>
            <a:off x="4320540" y="2776118"/>
            <a:ext cx="1421892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</a:t>
            </a:r>
            <a:endParaRPr lang="en-US" sz="1300" dirty="0"/>
          </a:p>
        </p:txBody>
      </p:sp>
      <p:sp>
        <p:nvSpPr>
          <p:cNvPr id="24" name="box_155"/>
          <p:cNvSpPr txBox="1"/>
          <p:nvPr/>
        </p:nvSpPr>
        <p:spPr>
          <a:xfrm>
            <a:off x="5870448" y="2739542"/>
            <a:ext cx="1476756" cy="555955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permanent</a:t>
            </a:r>
            <a:endParaRPr lang="en-US" sz="1350" dirty="0"/>
          </a:p>
        </p:txBody>
      </p:sp>
      <p:sp>
        <p:nvSpPr>
          <p:cNvPr id="25" name="R6_a5"/>
          <p:cNvSpPr txBox="1"/>
          <p:nvPr/>
        </p:nvSpPr>
        <p:spPr>
          <a:xfrm>
            <a:off x="7402068" y="2776118"/>
            <a:ext cx="1421892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</a:t>
            </a:r>
            <a:endParaRPr lang="en-US" sz="1300" dirty="0"/>
          </a:p>
        </p:txBody>
      </p:sp>
      <p:sp>
        <p:nvSpPr>
          <p:cNvPr id="26" name="box_156"/>
          <p:cNvSpPr txBox="1"/>
          <p:nvPr/>
        </p:nvSpPr>
        <p:spPr>
          <a:xfrm>
            <a:off x="2788920" y="3423514"/>
            <a:ext cx="1476756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qualifications</a:t>
            </a:r>
            <a:endParaRPr lang="en-US" sz="1350" dirty="0"/>
          </a:p>
        </p:txBody>
      </p:sp>
      <p:sp>
        <p:nvSpPr>
          <p:cNvPr id="27" name="R7_a6"/>
          <p:cNvSpPr txBox="1"/>
          <p:nvPr/>
        </p:nvSpPr>
        <p:spPr>
          <a:xfrm>
            <a:off x="4320540" y="3460090"/>
            <a:ext cx="1421892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qualifiCAtions</a:t>
            </a:r>
            <a:endParaRPr lang="en-US" sz="1300" dirty="0"/>
          </a:p>
        </p:txBody>
      </p:sp>
      <p:sp>
        <p:nvSpPr>
          <p:cNvPr id="28" name="box_157"/>
          <p:cNvSpPr txBox="1"/>
          <p:nvPr/>
        </p:nvSpPr>
        <p:spPr>
          <a:xfrm>
            <a:off x="5870448" y="3423514"/>
            <a:ext cx="1476756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resign</a:t>
            </a:r>
            <a:endParaRPr lang="en-US" sz="1350" dirty="0"/>
          </a:p>
        </p:txBody>
      </p:sp>
      <p:sp>
        <p:nvSpPr>
          <p:cNvPr id="29" name="R8_a7"/>
          <p:cNvSpPr txBox="1"/>
          <p:nvPr/>
        </p:nvSpPr>
        <p:spPr>
          <a:xfrm>
            <a:off x="7402068" y="3460090"/>
            <a:ext cx="1421892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reSIGN</a:t>
            </a:r>
            <a:endParaRPr lang="en-US" sz="1300" dirty="0"/>
          </a:p>
        </p:txBody>
      </p:sp>
      <p:sp>
        <p:nvSpPr>
          <p:cNvPr id="30" name="box_158"/>
          <p:cNvSpPr txBox="1"/>
          <p:nvPr/>
        </p:nvSpPr>
        <p:spPr>
          <a:xfrm>
            <a:off x="2788920" y="4107485"/>
            <a:ext cx="1476756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responsible</a:t>
            </a:r>
            <a:endParaRPr lang="en-US" sz="1350" dirty="0"/>
          </a:p>
        </p:txBody>
      </p:sp>
      <p:sp>
        <p:nvSpPr>
          <p:cNvPr id="31" name="R9_a8"/>
          <p:cNvSpPr txBox="1"/>
          <p:nvPr/>
        </p:nvSpPr>
        <p:spPr>
          <a:xfrm>
            <a:off x="4320540" y="4144061"/>
            <a:ext cx="1421892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</a:t>
            </a:r>
            <a:endParaRPr lang="en-US" sz="1300" dirty="0"/>
          </a:p>
        </p:txBody>
      </p:sp>
      <p:sp>
        <p:nvSpPr>
          <p:cNvPr id="32" name="box_159"/>
          <p:cNvSpPr txBox="1"/>
          <p:nvPr/>
        </p:nvSpPr>
        <p:spPr>
          <a:xfrm>
            <a:off x="5870448" y="4107485"/>
            <a:ext cx="1476756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temporary</a:t>
            </a:r>
            <a:endParaRPr lang="en-US" sz="1350" dirty="0"/>
          </a:p>
        </p:txBody>
      </p:sp>
      <p:sp>
        <p:nvSpPr>
          <p:cNvPr id="33" name="R10_a9"/>
          <p:cNvSpPr txBox="1"/>
          <p:nvPr/>
        </p:nvSpPr>
        <p:spPr>
          <a:xfrm>
            <a:off x="7402068" y="4144061"/>
            <a:ext cx="1421892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</a:t>
            </a:r>
            <a:endParaRPr lang="en-US" sz="1300" dirty="0"/>
          </a:p>
        </p:txBody>
      </p:sp>
      <p:sp>
        <p:nvSpPr>
          <p:cNvPr id="34" name="pageTag_160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p.77 · 2a, 2b · audio 8.5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6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62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63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Someone you know</a:t>
            </a:r>
            <a:endParaRPr lang="en-US" sz="900" dirty="0"/>
          </a:p>
        </p:txBody>
      </p:sp>
      <p:sp>
        <p:nvSpPr>
          <p:cNvPr id="6" name="timer_164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</a:t>
            </a:r>
            <a:endParaRPr lang="en-US" sz="1200" dirty="0"/>
          </a:p>
        </p:txBody>
      </p:sp>
      <p:sp>
        <p:nvSpPr>
          <p:cNvPr id="7" name="footer_165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8A · Part 1</a:t>
            </a:r>
            <a:endParaRPr lang="en-US" sz="1000" dirty="0"/>
          </a:p>
        </p:txBody>
      </p:sp>
      <p:sp>
        <p:nvSpPr>
          <p:cNvPr id="8" name="title_166"/>
          <p:cNvSpPr txBox="1"/>
          <p:nvPr/>
        </p:nvSpPr>
        <p:spPr>
          <a:xfrm rot="-120000">
            <a:off x="320040" y="676656"/>
            <a:ext cx="4498848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Tell me about their job</a:t>
            </a:r>
            <a:endParaRPr lang="en-US" sz="1500" dirty="0"/>
          </a:p>
        </p:txBody>
      </p:sp>
      <p:sp>
        <p:nvSpPr>
          <p:cNvPr id="9" name="post_167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68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1" name="signB_169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person you know with a job. Your partner asks!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 a una persona che conosci che lavora. Il compagno fa domande!</a:t>
            </a:r>
            <a:endParaRPr lang="en-US" sz="1200" dirty="0"/>
          </a:p>
        </p:txBody>
      </p:sp>
      <p:sp>
        <p:nvSpPr>
          <p:cNvPr id="12" name="box_170"/>
          <p:cNvSpPr txBox="1"/>
          <p:nvPr/>
        </p:nvSpPr>
        <p:spPr>
          <a:xfrm>
            <a:off x="2788920" y="1371600"/>
            <a:ext cx="2953512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What does he / she do?</a:t>
            </a:r>
            <a:endParaRPr lang="en-US" sz="1100" dirty="0"/>
          </a:p>
        </p:txBody>
      </p:sp>
      <p:sp>
        <p:nvSpPr>
          <p:cNvPr id="13" name="box_171"/>
          <p:cNvSpPr txBox="1"/>
          <p:nvPr/>
        </p:nvSpPr>
        <p:spPr>
          <a:xfrm>
            <a:off x="5870448" y="1371600"/>
            <a:ext cx="2953512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What qualifications does he / she have?</a:t>
            </a:r>
            <a:endParaRPr lang="en-US" sz="1100" dirty="0"/>
          </a:p>
        </p:txBody>
      </p:sp>
      <p:sp>
        <p:nvSpPr>
          <p:cNvPr id="14" name="box_172"/>
          <p:cNvSpPr txBox="1"/>
          <p:nvPr/>
        </p:nvSpPr>
        <p:spPr>
          <a:xfrm>
            <a:off x="2788920" y="2055571"/>
            <a:ext cx="2953512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Is his / her job full time or part time? Temporary or permanent?</a:t>
            </a:r>
            <a:endParaRPr lang="en-US" sz="1100" dirty="0"/>
          </a:p>
        </p:txBody>
      </p:sp>
      <p:sp>
        <p:nvSpPr>
          <p:cNvPr id="15" name="box_173"/>
          <p:cNvSpPr txBox="1"/>
          <p:nvPr/>
        </p:nvSpPr>
        <p:spPr>
          <a:xfrm>
            <a:off x="5870448" y="2055571"/>
            <a:ext cx="2953512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Where does he / she work (in an office, at home, etc.)?</a:t>
            </a:r>
            <a:endParaRPr lang="en-US" sz="1100" dirty="0"/>
          </a:p>
        </p:txBody>
      </p:sp>
      <p:sp>
        <p:nvSpPr>
          <p:cNvPr id="16" name="box_174"/>
          <p:cNvSpPr txBox="1"/>
          <p:nvPr/>
        </p:nvSpPr>
        <p:spPr>
          <a:xfrm>
            <a:off x="2788920" y="2739542"/>
            <a:ext cx="2953512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What hours does he / she work?</a:t>
            </a:r>
            <a:endParaRPr lang="en-US" sz="1100" dirty="0"/>
          </a:p>
        </p:txBody>
      </p:sp>
      <p:sp>
        <p:nvSpPr>
          <p:cNvPr id="17" name="box_175"/>
          <p:cNvSpPr txBox="1"/>
          <p:nvPr/>
        </p:nvSpPr>
        <p:spPr>
          <a:xfrm>
            <a:off x="5870448" y="2739542"/>
            <a:ext cx="2953512" cy="555955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Does he / she have to do overtime?</a:t>
            </a:r>
            <a:endParaRPr lang="en-US" sz="1100" dirty="0"/>
          </a:p>
        </p:txBody>
      </p:sp>
      <p:sp>
        <p:nvSpPr>
          <p:cNvPr id="18" name="box_176"/>
          <p:cNvSpPr txBox="1"/>
          <p:nvPr/>
        </p:nvSpPr>
        <p:spPr>
          <a:xfrm>
            <a:off x="2788920" y="3423514"/>
            <a:ext cx="2953512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Does he / she get a good salary?</a:t>
            </a:r>
            <a:endParaRPr lang="en-US" sz="1100" dirty="0"/>
          </a:p>
        </p:txBody>
      </p:sp>
      <p:sp>
        <p:nvSpPr>
          <p:cNvPr id="19" name="box_177"/>
          <p:cNvSpPr txBox="1"/>
          <p:nvPr/>
        </p:nvSpPr>
        <p:spPr>
          <a:xfrm>
            <a:off x="5870448" y="3423514"/>
            <a:ext cx="2953512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Does he / she like the job? Why (not)?</a:t>
            </a:r>
            <a:endParaRPr lang="en-US" sz="1100" dirty="0"/>
          </a:p>
        </p:txBody>
      </p:sp>
      <p:sp>
        <p:nvSpPr>
          <p:cNvPr id="20" name="box_178"/>
          <p:cNvSpPr txBox="1"/>
          <p:nvPr/>
        </p:nvSpPr>
        <p:spPr>
          <a:xfrm>
            <a:off x="2788920" y="4107485"/>
            <a:ext cx="2953512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Would you like to do his / her job? Why (not)?</a:t>
            </a:r>
            <a:endParaRPr lang="en-US" sz="1100" dirty="0"/>
          </a:p>
        </p:txBody>
      </p:sp>
      <p:sp>
        <p:nvSpPr>
          <p:cNvPr id="21" name="sticky_179"/>
          <p:cNvSpPr txBox="1"/>
          <p:nvPr/>
        </p:nvSpPr>
        <p:spPr>
          <a:xfrm rot="-120000">
            <a:off x="411480" y="3931920"/>
            <a:ext cx="2194560" cy="640080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going to tell you about my cousin. Her name's Corinne. – What does she do?</a:t>
            </a:r>
            <a:endParaRPr lang="en-US" sz="1000" dirty="0"/>
          </a:p>
        </p:txBody>
      </p:sp>
      <p:sp>
        <p:nvSpPr>
          <p:cNvPr id="22" name="pageTag_180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p.77 · 2c, 2d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8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82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83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Presentation · Questionnaire</a:t>
            </a:r>
            <a:endParaRPr lang="en-US" sz="900" dirty="0"/>
          </a:p>
        </p:txBody>
      </p:sp>
      <p:sp>
        <p:nvSpPr>
          <p:cNvPr id="6" name="timer_184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185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8A · Part 1</a:t>
            </a:r>
            <a:endParaRPr lang="en-US" sz="1000" dirty="0"/>
          </a:p>
        </p:txBody>
      </p:sp>
      <p:sp>
        <p:nvSpPr>
          <p:cNvPr id="8" name="title_186"/>
          <p:cNvSpPr txBox="1"/>
          <p:nvPr/>
        </p:nvSpPr>
        <p:spPr>
          <a:xfrm rot="-120000">
            <a:off x="320040" y="676656"/>
            <a:ext cx="380390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job suits you?</a:t>
            </a:r>
            <a:endParaRPr lang="en-US" sz="1500" dirty="0"/>
          </a:p>
        </p:txBody>
      </p:sp>
      <p:sp>
        <p:nvSpPr>
          <p:cNvPr id="9" name="post_187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88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LEGGI!</a:t>
            </a:r>
            <a:endParaRPr lang="en-US" sz="1500" dirty="0"/>
          </a:p>
        </p:txBody>
      </p:sp>
      <p:sp>
        <p:nvSpPr>
          <p:cNvPr id="11" name="signB_189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questionnaire on p.77. Tick what's true for you!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il questionario a p.77. Spunta ciò che è vero per te!</a:t>
            </a:r>
            <a:endParaRPr lang="en-US" sz="1200" dirty="0"/>
          </a:p>
        </p:txBody>
      </p:sp>
      <p:sp>
        <p:nvSpPr>
          <p:cNvPr id="12" name="iconBack_190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191" descr="pi:PiListCheck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box_192"/>
          <p:cNvSpPr txBox="1"/>
          <p:nvPr/>
        </p:nvSpPr>
        <p:spPr>
          <a:xfrm>
            <a:off x="2788920" y="1371600"/>
            <a:ext cx="1448410" cy="72694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2–6</a:t>
            </a:r>
            <a:endParaRPr lang="en-US" sz="1300" dirty="0"/>
          </a:p>
        </p:txBody>
      </p:sp>
      <p:sp>
        <p:nvSpPr>
          <p:cNvPr id="15" name="R1_a0"/>
          <p:cNvSpPr txBox="1"/>
          <p:nvPr/>
        </p:nvSpPr>
        <p:spPr>
          <a:xfrm>
            <a:off x="4292194" y="1408176"/>
            <a:ext cx="4531766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helping · 3 not earning · 4 listening · 5 making · 6 Taking</a:t>
            </a:r>
            <a:endParaRPr lang="en-US" sz="1250" dirty="0"/>
          </a:p>
        </p:txBody>
      </p:sp>
      <p:sp>
        <p:nvSpPr>
          <p:cNvPr id="16" name="box_193"/>
          <p:cNvSpPr txBox="1"/>
          <p:nvPr/>
        </p:nvSpPr>
        <p:spPr>
          <a:xfrm>
            <a:off x="2788920" y="2226564"/>
            <a:ext cx="1448410" cy="72694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7–11</a:t>
            </a:r>
            <a:endParaRPr lang="en-US" sz="1300" dirty="0"/>
          </a:p>
        </p:txBody>
      </p:sp>
      <p:sp>
        <p:nvSpPr>
          <p:cNvPr id="17" name="R2_a1"/>
          <p:cNvSpPr txBox="1"/>
          <p:nvPr/>
        </p:nvSpPr>
        <p:spPr>
          <a:xfrm>
            <a:off x="4292194" y="2263140"/>
            <a:ext cx="4531766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to work · 8 managing · 9 expressing · 10 to follow · 11 to be</a:t>
            </a:r>
            <a:endParaRPr lang="en-US" sz="1250" dirty="0"/>
          </a:p>
        </p:txBody>
      </p:sp>
      <p:sp>
        <p:nvSpPr>
          <p:cNvPr id="18" name="box_194"/>
          <p:cNvSpPr txBox="1"/>
          <p:nvPr/>
        </p:nvSpPr>
        <p:spPr>
          <a:xfrm>
            <a:off x="2788920" y="3081528"/>
            <a:ext cx="1448410" cy="726948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12–16</a:t>
            </a:r>
            <a:endParaRPr lang="en-US" sz="1300" dirty="0"/>
          </a:p>
        </p:txBody>
      </p:sp>
      <p:sp>
        <p:nvSpPr>
          <p:cNvPr id="19" name="R3_a2"/>
          <p:cNvSpPr txBox="1"/>
          <p:nvPr/>
        </p:nvSpPr>
        <p:spPr>
          <a:xfrm>
            <a:off x="4292194" y="3118104"/>
            <a:ext cx="4531766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improvising · 13 Doing · 14 solving · 15 to understand · 16 to calculate</a:t>
            </a:r>
            <a:endParaRPr lang="en-US" sz="1250" dirty="0"/>
          </a:p>
        </p:txBody>
      </p:sp>
      <p:sp>
        <p:nvSpPr>
          <p:cNvPr id="20" name="box_195"/>
          <p:cNvSpPr txBox="1"/>
          <p:nvPr/>
        </p:nvSpPr>
        <p:spPr>
          <a:xfrm>
            <a:off x="2788920" y="3936492"/>
            <a:ext cx="1448410" cy="726948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ticks?</a:t>
            </a:r>
            <a:endParaRPr lang="en-US" sz="1300" dirty="0"/>
          </a:p>
        </p:txBody>
      </p:sp>
      <p:sp>
        <p:nvSpPr>
          <p:cNvPr id="21" name="R4_a3"/>
          <p:cNvSpPr txBox="1"/>
          <p:nvPr/>
        </p:nvSpPr>
        <p:spPr>
          <a:xfrm>
            <a:off x="4292194" y="3973068"/>
            <a:ext cx="4531766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Communication p.108: read YOUR answer paragraph</a:t>
            </a:r>
            <a:endParaRPr lang="en-US" sz="1250" dirty="0"/>
          </a:p>
        </p:txBody>
      </p:sp>
      <p:sp>
        <p:nvSpPr>
          <p:cNvPr id="22" name="pageTag_196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p.77 · 3a, 3b, 3c · Communication Match your personality to the job p.108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9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9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99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Grammar Bank 8A p.146</a:t>
            </a:r>
            <a:endParaRPr lang="en-US" sz="900" dirty="0"/>
          </a:p>
        </p:txBody>
      </p:sp>
      <p:sp>
        <p:nvSpPr>
          <p:cNvPr id="6" name="timer_200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201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8A · Part 1</a:t>
            </a:r>
            <a:endParaRPr lang="en-US" sz="1000" dirty="0"/>
          </a:p>
        </p:txBody>
      </p:sp>
      <p:sp>
        <p:nvSpPr>
          <p:cNvPr id="8" name="title_202"/>
          <p:cNvSpPr txBox="1"/>
          <p:nvPr/>
        </p:nvSpPr>
        <p:spPr>
          <a:xfrm rot="-120000">
            <a:off x="320040" y="676656"/>
            <a:ext cx="467258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-ing, to + inf. or inf.?</a:t>
            </a:r>
            <a:endParaRPr lang="en-US" sz="1500" dirty="0"/>
          </a:p>
        </p:txBody>
      </p:sp>
      <p:sp>
        <p:nvSpPr>
          <p:cNvPr id="9" name="rh_203"/>
          <p:cNvSpPr txBox="1"/>
          <p:nvPr/>
        </p:nvSpPr>
        <p:spPr>
          <a:xfrm>
            <a:off x="320040" y="1371600"/>
            <a:ext cx="2749296" cy="384048"/>
          </a:xfrm>
          <a:prstGeom prst="rect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-ing (gerund)</a:t>
            </a:r>
            <a:endParaRPr lang="en-US" sz="1300" dirty="0"/>
          </a:p>
        </p:txBody>
      </p:sp>
      <p:sp>
        <p:nvSpPr>
          <p:cNvPr id="10" name="rb_204"/>
          <p:cNvSpPr txBox="1"/>
          <p:nvPr/>
        </p:nvSpPr>
        <p:spPr>
          <a:xfrm>
            <a:off x="320040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prepositions: I'm not very good at working in a team.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subject: Looking for a job can be depressing.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enjoy, mind, hate, give up…: I don't mind getting up early.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negative: not being</a:t>
            </a:r>
            <a:endParaRPr lang="en-US" sz="1200" dirty="0"/>
          </a:p>
        </p:txBody>
      </p:sp>
      <p:sp>
        <p:nvSpPr>
          <p:cNvPr id="11" name="rh_205"/>
          <p:cNvSpPr txBox="1"/>
          <p:nvPr/>
        </p:nvSpPr>
        <p:spPr>
          <a:xfrm>
            <a:off x="3197352" y="1371600"/>
            <a:ext cx="2749296" cy="384048"/>
          </a:xfrm>
          <a:prstGeom prst="rect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 + infinitive</a:t>
            </a:r>
            <a:endParaRPr lang="en-US" sz="1300" dirty="0"/>
          </a:p>
        </p:txBody>
      </p:sp>
      <p:sp>
        <p:nvSpPr>
          <p:cNvPr id="12" name="rb_206"/>
          <p:cNvSpPr txBox="1"/>
          <p:nvPr/>
        </p:nvSpPr>
        <p:spPr>
          <a:xfrm>
            <a:off x="3197352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adjectives: My flat is very easy to find.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purpose: Liam is saving money to buy a car.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want, decide, learn, try…: She has never learned to drive.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negative: Try not to make a noise.</a:t>
            </a:r>
            <a:endParaRPr lang="en-US" sz="1200" dirty="0"/>
          </a:p>
        </p:txBody>
      </p:sp>
      <p:sp>
        <p:nvSpPr>
          <p:cNvPr id="13" name="rh_207"/>
          <p:cNvSpPr txBox="1"/>
          <p:nvPr/>
        </p:nvSpPr>
        <p:spPr>
          <a:xfrm>
            <a:off x="6074664" y="1371600"/>
            <a:ext cx="2749296" cy="384048"/>
          </a:xfrm>
          <a:prstGeom prst="rect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infinitive (no to)</a:t>
            </a:r>
            <a:endParaRPr lang="en-US" sz="1300" dirty="0"/>
          </a:p>
        </p:txBody>
      </p:sp>
      <p:sp>
        <p:nvSpPr>
          <p:cNvPr id="14" name="rb_208"/>
          <p:cNvSpPr txBox="1"/>
          <p:nvPr/>
        </p:nvSpPr>
        <p:spPr>
          <a:xfrm>
            <a:off x="6074664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modals: I can't drive. We must hurry.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make + person: She always makes me laugh.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let + person: My parents didn't let me go out.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+ -ing (= enjoy) in British English</a:t>
            </a:r>
            <a:endParaRPr lang="en-US" sz="1200" dirty="0"/>
          </a:p>
        </p:txBody>
      </p:sp>
      <p:sp>
        <p:nvSpPr>
          <p:cNvPr id="15" name="watch_209"/>
          <p:cNvSpPr txBox="1"/>
          <p:nvPr/>
        </p:nvSpPr>
        <p:spPr>
          <a:xfrm>
            <a:off x="320040" y="4133088"/>
            <a:ext cx="8503920" cy="530352"/>
          </a:xfrm>
          <a:prstGeom prst="rect">
            <a:avLst/>
          </a:prstGeom>
          <a:solidFill>
            <a:srgbClr val="FFE4E6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out!  </a:t>
            </a:r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I enjoy to cook → ✓ I enjoy cooking   ✗ It's easy finding → ✓ It's easy to find   ✗ She made me to laugh → ✓ She made me laugh</a:t>
            </a:r>
            <a:endParaRPr lang="en-US" sz="1000" dirty="0"/>
          </a:p>
        </p:txBody>
      </p:sp>
      <p:sp>
        <p:nvSpPr>
          <p:cNvPr id="16" name="pageTag_210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Grammar Bank 8A p.146 · 3d · audio 8.6, 8.7, 8.8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1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12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13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Grammar Bank 8A · practice</a:t>
            </a:r>
            <a:endParaRPr lang="en-US" sz="900" dirty="0"/>
          </a:p>
        </p:txBody>
      </p:sp>
      <p:sp>
        <p:nvSpPr>
          <p:cNvPr id="6" name="timer_214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215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8A · Part 1</a:t>
            </a:r>
            <a:endParaRPr lang="en-US" sz="1000" dirty="0"/>
          </a:p>
        </p:txBody>
      </p:sp>
      <p:sp>
        <p:nvSpPr>
          <p:cNvPr id="8" name="title_216"/>
          <p:cNvSpPr txBox="1"/>
          <p:nvPr/>
        </p:nvSpPr>
        <p:spPr>
          <a:xfrm rot="-120000">
            <a:off x="320040" y="676656"/>
            <a:ext cx="3108960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Choose the form</a:t>
            </a:r>
            <a:endParaRPr lang="en-US" sz="1500" dirty="0"/>
          </a:p>
        </p:txBody>
      </p:sp>
      <p:sp>
        <p:nvSpPr>
          <p:cNvPr id="9" name="post_217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218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6D3FC0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SCRIVI!</a:t>
            </a:r>
            <a:endParaRPr lang="en-US" sz="1500" dirty="0"/>
          </a:p>
        </p:txBody>
      </p:sp>
      <p:sp>
        <p:nvSpPr>
          <p:cNvPr id="11" name="signB_219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Bank 8A: a 1–5 and b 1–5. Then check!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Bank 8A: a 1–5 e b 1–5. Poi controlla!</a:t>
            </a:r>
            <a:endParaRPr lang="en-US" sz="1250" dirty="0"/>
          </a:p>
        </p:txBody>
      </p:sp>
      <p:sp>
        <p:nvSpPr>
          <p:cNvPr id="12" name="iconBack_220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221" descr="pi:PiPencilSimp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box_222"/>
          <p:cNvSpPr txBox="1"/>
          <p:nvPr/>
        </p:nvSpPr>
        <p:spPr>
          <a:xfrm>
            <a:off x="2788920" y="1371600"/>
            <a:ext cx="3862426" cy="4419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1–5  (in your book, p.146)</a:t>
            </a:r>
            <a:endParaRPr lang="en-US" sz="1200" dirty="0"/>
          </a:p>
        </p:txBody>
      </p:sp>
      <p:sp>
        <p:nvSpPr>
          <p:cNvPr id="15" name="R1_a0"/>
          <p:cNvSpPr txBox="1"/>
          <p:nvPr/>
        </p:nvSpPr>
        <p:spPr>
          <a:xfrm>
            <a:off x="6706210" y="1408176"/>
            <a:ext cx="211775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 spend · 2 Applying · 3 to do · 4 to open · 5 not to ask</a:t>
            </a:r>
            <a:endParaRPr lang="en-US" sz="950" dirty="0"/>
          </a:p>
        </p:txBody>
      </p:sp>
      <p:sp>
        <p:nvSpPr>
          <p:cNvPr id="16" name="box_223"/>
          <p:cNvSpPr txBox="1"/>
          <p:nvPr/>
        </p:nvSpPr>
        <p:spPr>
          <a:xfrm>
            <a:off x="2788920" y="1941576"/>
            <a:ext cx="3862426" cy="4419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 My parents are planning ___ before they're 65. (retire)</a:t>
            </a:r>
            <a:endParaRPr lang="en-US" sz="1100" dirty="0"/>
          </a:p>
        </p:txBody>
      </p:sp>
      <p:sp>
        <p:nvSpPr>
          <p:cNvPr id="17" name="R1_a1"/>
          <p:cNvSpPr txBox="1"/>
          <p:nvPr/>
        </p:nvSpPr>
        <p:spPr>
          <a:xfrm>
            <a:off x="6706210" y="1978152"/>
            <a:ext cx="211775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retire</a:t>
            </a:r>
            <a:endParaRPr lang="en-US" sz="1200" dirty="0"/>
          </a:p>
        </p:txBody>
      </p:sp>
      <p:sp>
        <p:nvSpPr>
          <p:cNvPr id="18" name="box_224"/>
          <p:cNvSpPr txBox="1"/>
          <p:nvPr/>
        </p:nvSpPr>
        <p:spPr>
          <a:xfrm>
            <a:off x="2788920" y="2511552"/>
            <a:ext cx="3862426" cy="4419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 Rob spends three hours ___ to work and back. (commute)</a:t>
            </a:r>
            <a:endParaRPr lang="en-US" sz="1000" dirty="0"/>
          </a:p>
        </p:txBody>
      </p:sp>
      <p:sp>
        <p:nvSpPr>
          <p:cNvPr id="19" name="R1_a2"/>
          <p:cNvSpPr txBox="1"/>
          <p:nvPr/>
        </p:nvSpPr>
        <p:spPr>
          <a:xfrm>
            <a:off x="6706210" y="2548128"/>
            <a:ext cx="211775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commuting</a:t>
            </a:r>
            <a:endParaRPr lang="en-US" sz="1200" dirty="0"/>
          </a:p>
        </p:txBody>
      </p:sp>
      <p:sp>
        <p:nvSpPr>
          <p:cNvPr id="20" name="box_225"/>
          <p:cNvSpPr txBox="1"/>
          <p:nvPr/>
        </p:nvSpPr>
        <p:spPr>
          <a:xfrm>
            <a:off x="2788920" y="3081528"/>
            <a:ext cx="3862426" cy="4419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 Mark and his wife agreed ___ about the problems. (not worry)</a:t>
            </a:r>
            <a:endParaRPr lang="en-US" sz="950" dirty="0"/>
          </a:p>
        </p:txBody>
      </p:sp>
      <p:sp>
        <p:nvSpPr>
          <p:cNvPr id="21" name="R1_a3"/>
          <p:cNvSpPr txBox="1"/>
          <p:nvPr/>
        </p:nvSpPr>
        <p:spPr>
          <a:xfrm>
            <a:off x="6706210" y="3118104"/>
            <a:ext cx="211775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to worry</a:t>
            </a:r>
            <a:endParaRPr lang="en-US" sz="1200" dirty="0"/>
          </a:p>
        </p:txBody>
      </p:sp>
      <p:sp>
        <p:nvSpPr>
          <p:cNvPr id="22" name="box_226"/>
          <p:cNvSpPr txBox="1"/>
          <p:nvPr/>
        </p:nvSpPr>
        <p:spPr>
          <a:xfrm>
            <a:off x="2788920" y="3651504"/>
            <a:ext cx="3862426" cy="4419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 Did you remember ___ the door? (lock)</a:t>
            </a:r>
            <a:endParaRPr lang="en-US" sz="1200" dirty="0"/>
          </a:p>
        </p:txBody>
      </p:sp>
      <p:sp>
        <p:nvSpPr>
          <p:cNvPr id="23" name="R1_a4"/>
          <p:cNvSpPr txBox="1"/>
          <p:nvPr/>
        </p:nvSpPr>
        <p:spPr>
          <a:xfrm>
            <a:off x="6706210" y="3688080"/>
            <a:ext cx="211775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lock</a:t>
            </a:r>
            <a:endParaRPr lang="en-US" sz="1200" dirty="0"/>
          </a:p>
        </p:txBody>
      </p:sp>
      <p:sp>
        <p:nvSpPr>
          <p:cNvPr id="24" name="box_227"/>
          <p:cNvSpPr txBox="1"/>
          <p:nvPr/>
        </p:nvSpPr>
        <p:spPr>
          <a:xfrm>
            <a:off x="2788920" y="4221480"/>
            <a:ext cx="3862426" cy="4419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  In the end I decided ___ the shoes. (not buy)</a:t>
            </a:r>
            <a:endParaRPr lang="en-US" sz="1200" dirty="0"/>
          </a:p>
        </p:txBody>
      </p:sp>
      <p:sp>
        <p:nvSpPr>
          <p:cNvPr id="25" name="R1_a5"/>
          <p:cNvSpPr txBox="1"/>
          <p:nvPr/>
        </p:nvSpPr>
        <p:spPr>
          <a:xfrm>
            <a:off x="6706210" y="4258056"/>
            <a:ext cx="211775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to buy</a:t>
            </a:r>
            <a:endParaRPr lang="en-US" sz="1200" dirty="0"/>
          </a:p>
        </p:txBody>
      </p:sp>
      <p:sp>
        <p:nvSpPr>
          <p:cNvPr id="26" name="pageTag_228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Grammar Bank 8A p.146 · a 1–5, b 1–5 (a 6–10, b 6–9 = homework)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29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30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31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Communicative photocopiable 8A</a:t>
            </a:r>
            <a:endParaRPr lang="en-US" sz="900" dirty="0"/>
          </a:p>
        </p:txBody>
      </p:sp>
      <p:sp>
        <p:nvSpPr>
          <p:cNvPr id="6" name="timer_232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7 min</a:t>
            </a:r>
            <a:endParaRPr lang="en-US" sz="1200" dirty="0"/>
          </a:p>
        </p:txBody>
      </p:sp>
      <p:sp>
        <p:nvSpPr>
          <p:cNvPr id="7" name="footer_233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8A · Part 1</a:t>
            </a:r>
            <a:endParaRPr lang="en-US" sz="1000" dirty="0"/>
          </a:p>
        </p:txBody>
      </p:sp>
      <p:sp>
        <p:nvSpPr>
          <p:cNvPr id="8" name="title_234"/>
          <p:cNvSpPr txBox="1"/>
          <p:nvPr/>
        </p:nvSpPr>
        <p:spPr>
          <a:xfrm rot="-120000">
            <a:off x="320040" y="676656"/>
            <a:ext cx="2587752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 think you…</a:t>
            </a:r>
            <a:endParaRPr lang="en-US" sz="1500" dirty="0"/>
          </a:p>
        </p:txBody>
      </p:sp>
      <p:sp>
        <p:nvSpPr>
          <p:cNvPr id="9" name="post_235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236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1" name="signB_237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Handout page 3: guess things about your partner!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Fotocopia pag. 3: indovina cose sul compagno!</a:t>
            </a:r>
            <a:endParaRPr lang="en-US" sz="1250" dirty="0"/>
          </a:p>
        </p:txBody>
      </p:sp>
      <p:sp>
        <p:nvSpPr>
          <p:cNvPr id="12" name="iconBack_238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239" descr="pi:PiUserCircle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num_240"/>
          <p:cNvSpPr txBox="1"/>
          <p:nvPr/>
        </p:nvSpPr>
        <p:spPr>
          <a:xfrm>
            <a:off x="2788920" y="1412748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box_241"/>
          <p:cNvSpPr txBox="1"/>
          <p:nvPr/>
        </p:nvSpPr>
        <p:spPr>
          <a:xfrm>
            <a:off x="3264408" y="1371600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Pairs: A gets the A sheet, B gets the B sheet. Don't show your partner!</a:t>
            </a:r>
            <a:endParaRPr lang="en-US" sz="1250" dirty="0"/>
          </a:p>
        </p:txBody>
      </p:sp>
      <p:sp>
        <p:nvSpPr>
          <p:cNvPr id="16" name="num_242"/>
          <p:cNvSpPr txBox="1"/>
          <p:nvPr/>
        </p:nvSpPr>
        <p:spPr>
          <a:xfrm>
            <a:off x="2788920" y="1970532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box_243"/>
          <p:cNvSpPr txBox="1"/>
          <p:nvPr/>
        </p:nvSpPr>
        <p:spPr>
          <a:xfrm>
            <a:off x="3264408" y="1929384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10 sentences about your PARTNER with a gerund or infinitive. Guess!</a:t>
            </a:r>
            <a:endParaRPr lang="en-US" sz="1050" dirty="0"/>
          </a:p>
        </p:txBody>
      </p:sp>
      <p:sp>
        <p:nvSpPr>
          <p:cNvPr id="18" name="num_244"/>
          <p:cNvSpPr txBox="1"/>
          <p:nvPr/>
        </p:nvSpPr>
        <p:spPr>
          <a:xfrm>
            <a:off x="2788920" y="252831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box_245"/>
          <p:cNvSpPr txBox="1"/>
          <p:nvPr/>
        </p:nvSpPr>
        <p:spPr>
          <a:xfrm>
            <a:off x="3264408" y="2487168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them to your partner: I think when you go on holiday, you love…</a:t>
            </a:r>
            <a:endParaRPr lang="en-US" sz="1250" dirty="0"/>
          </a:p>
        </p:txBody>
      </p:sp>
      <p:sp>
        <p:nvSpPr>
          <p:cNvPr id="20" name="num_246"/>
          <p:cNvSpPr txBox="1"/>
          <p:nvPr/>
        </p:nvSpPr>
        <p:spPr>
          <a:xfrm>
            <a:off x="2788920" y="3086100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box_247"/>
          <p:cNvSpPr txBox="1"/>
          <p:nvPr/>
        </p:nvSpPr>
        <p:spPr>
          <a:xfrm>
            <a:off x="3264408" y="3044952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Partner: That's true! / Not really – I hate… Correct form + true = 1 point.</a:t>
            </a:r>
            <a:endParaRPr lang="en-US" sz="1250" dirty="0"/>
          </a:p>
        </p:txBody>
      </p:sp>
      <p:sp>
        <p:nvSpPr>
          <p:cNvPr id="22" name="num_248"/>
          <p:cNvSpPr txBox="1"/>
          <p:nvPr/>
        </p:nvSpPr>
        <p:spPr>
          <a:xfrm>
            <a:off x="2788920" y="3643884"/>
            <a:ext cx="384048" cy="384048"/>
          </a:xfrm>
          <a:prstGeom prst="ellipse">
            <a:avLst/>
          </a:prstGeom>
          <a:solidFill>
            <a:srgbClr val="6D3FC0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box_249"/>
          <p:cNvSpPr txBox="1"/>
          <p:nvPr/>
        </p:nvSpPr>
        <p:spPr>
          <a:xfrm>
            <a:off x="3264408" y="3602736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knows their partner better?</a:t>
            </a:r>
            <a:endParaRPr lang="en-US" sz="1250" dirty="0"/>
          </a:p>
        </p:txBody>
      </p:sp>
      <p:sp>
        <p:nvSpPr>
          <p:cNvPr id="24" name="bubble_250"/>
          <p:cNvSpPr txBox="1"/>
          <p:nvPr/>
        </p:nvSpPr>
        <p:spPr>
          <a:xfrm>
            <a:off x="3246120" y="4160520"/>
            <a:ext cx="5577840" cy="5029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 on Sunday mornings you really like staying in bed. – That's true!</a:t>
            </a:r>
            <a:endParaRPr lang="en-US" sz="1200" dirty="0"/>
          </a:p>
        </p:txBody>
      </p:sp>
      <p:sp>
        <p:nvSpPr>
          <p:cNvPr id="25" name="pageTag_251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📄 Print: B1_8A_Photocopiables.pdf, page 3 (cut into A / B) · Communicative 8A 'I think…'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52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5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footer_25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8A · Part 1</a:t>
            </a:r>
            <a:endParaRPr lang="en-US" sz="1000" dirty="0"/>
          </a:p>
        </p:txBody>
      </p:sp>
      <p:sp>
        <p:nvSpPr>
          <p:cNvPr id="6" name="title_255"/>
          <p:cNvSpPr txBox="1"/>
          <p:nvPr/>
        </p:nvSpPr>
        <p:spPr>
          <a:xfrm rot="-120000">
            <a:off x="320040" y="676656"/>
            <a:ext cx="415137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what you can do!</a:t>
            </a:r>
            <a:endParaRPr lang="en-US" sz="1500" dirty="0"/>
          </a:p>
        </p:txBody>
      </p:sp>
      <p:sp>
        <p:nvSpPr>
          <p:cNvPr id="7" name="sub_256"/>
          <p:cNvSpPr txBox="1"/>
          <p:nvPr/>
        </p:nvSpPr>
        <p:spPr>
          <a:xfrm>
            <a:off x="365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cosa sai fare adesso!</a:t>
            </a:r>
            <a:endParaRPr lang="en-US" sz="1200" dirty="0"/>
          </a:p>
        </p:txBody>
      </p:sp>
      <p:sp>
        <p:nvSpPr>
          <p:cNvPr id="8" name="box_257"/>
          <p:cNvSpPr txBox="1"/>
          <p:nvPr/>
        </p:nvSpPr>
        <p:spPr>
          <a:xfrm>
            <a:off x="365760" y="1600200"/>
            <a:ext cx="4846320" cy="54864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talk about work and jobs.</a:t>
            </a:r>
            <a:endParaRPr lang="en-US" sz="1350" dirty="0"/>
          </a:p>
        </p:txBody>
      </p:sp>
      <p:sp>
        <p:nvSpPr>
          <p:cNvPr id="9" name="faces_258"/>
          <p:cNvSpPr txBox="1"/>
          <p:nvPr/>
        </p:nvSpPr>
        <p:spPr>
          <a:xfrm>
            <a:off x="5230368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0" name="box_259"/>
          <p:cNvSpPr txBox="1"/>
          <p:nvPr/>
        </p:nvSpPr>
        <p:spPr>
          <a:xfrm>
            <a:off x="365760" y="2240280"/>
            <a:ext cx="4846320" cy="54864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stress work words correctly.</a:t>
            </a:r>
            <a:endParaRPr lang="en-US" sz="1350" dirty="0"/>
          </a:p>
        </p:txBody>
      </p:sp>
      <p:sp>
        <p:nvSpPr>
          <p:cNvPr id="11" name="faces_260"/>
          <p:cNvSpPr txBox="1"/>
          <p:nvPr/>
        </p:nvSpPr>
        <p:spPr>
          <a:xfrm>
            <a:off x="5230368" y="22402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2" name="box_261"/>
          <p:cNvSpPr txBox="1"/>
          <p:nvPr/>
        </p:nvSpPr>
        <p:spPr>
          <a:xfrm>
            <a:off x="365760" y="2880360"/>
            <a:ext cx="4846320" cy="54864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choose between -ing, to + infinitive and the infinitive.</a:t>
            </a:r>
            <a:endParaRPr lang="en-US" sz="1200" dirty="0"/>
          </a:p>
        </p:txBody>
      </p:sp>
      <p:sp>
        <p:nvSpPr>
          <p:cNvPr id="13" name="faces_262"/>
          <p:cNvSpPr txBox="1"/>
          <p:nvPr/>
        </p:nvSpPr>
        <p:spPr>
          <a:xfrm>
            <a:off x="5230368" y="28803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4" name="hw_263"/>
          <p:cNvSpPr txBox="1"/>
          <p:nvPr/>
        </p:nvSpPr>
        <p:spPr>
          <a:xfrm rot="90000">
            <a:off x="6446520" y="1325880"/>
            <a:ext cx="2377440" cy="2651760"/>
          </a:xfrm>
          <a:prstGeom prst="rect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HOMEWORK · COMPITI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Workbook 8A: 1a, 1b, 3a, 3b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Grammar Bank 8A: a 6–10, b 6–9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Homework sheet 8A-1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Hand it in on the LLS app · Consegna nell'app LLS</a:t>
            </a:r>
            <a:endParaRPr lang="en-US" sz="1250" dirty="0"/>
          </a:p>
        </p:txBody>
      </p:sp>
      <p:sp>
        <p:nvSpPr>
          <p:cNvPr id="15" name="stamp_264"/>
          <p:cNvSpPr txBox="1"/>
          <p:nvPr/>
        </p:nvSpPr>
        <p:spPr>
          <a:xfrm>
            <a:off x="365760" y="3657600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6D3F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8A part 2 · Dragons' Den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65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66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67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Grammar · Photocopiable 8A</a:t>
            </a:r>
            <a:endParaRPr lang="en-US" sz="900" dirty="0"/>
          </a:p>
        </p:txBody>
      </p:sp>
      <p:sp>
        <p:nvSpPr>
          <p:cNvPr id="6" name="timer_268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10 min</a:t>
            </a:r>
            <a:endParaRPr lang="en-US" sz="1200" dirty="0"/>
          </a:p>
        </p:txBody>
      </p:sp>
      <p:sp>
        <p:nvSpPr>
          <p:cNvPr id="7" name="extra_269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7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8A · Part 1</a:t>
            </a:r>
            <a:endParaRPr lang="en-US" sz="1000" dirty="0"/>
          </a:p>
        </p:txBody>
      </p:sp>
      <p:sp>
        <p:nvSpPr>
          <p:cNvPr id="9" name="title_271"/>
          <p:cNvSpPr txBox="1"/>
          <p:nvPr/>
        </p:nvSpPr>
        <p:spPr>
          <a:xfrm rot="-120000">
            <a:off x="320040" y="676656"/>
            <a:ext cx="4846320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Gerund or infinitive race</a:t>
            </a:r>
            <a:endParaRPr lang="en-US" sz="1500" dirty="0"/>
          </a:p>
        </p:txBody>
      </p:sp>
      <p:sp>
        <p:nvSpPr>
          <p:cNvPr id="10" name="post_272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273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6D3FC0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SCRIVI!</a:t>
            </a:r>
            <a:endParaRPr lang="en-US" sz="1500" dirty="0"/>
          </a:p>
        </p:txBody>
      </p:sp>
      <p:sp>
        <p:nvSpPr>
          <p:cNvPr id="12" name="signB_274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Handout page 1: complete 2–20. Then check!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Fotocopia pag. 1: completa 2–20. Poi controlla!</a:t>
            </a:r>
            <a:endParaRPr lang="en-US" sz="1250" dirty="0"/>
          </a:p>
        </p:txBody>
      </p:sp>
      <p:sp>
        <p:nvSpPr>
          <p:cNvPr id="13" name="iconBack_275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276" descr="pi:PiCheckSqua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5" name="box_277"/>
          <p:cNvSpPr txBox="1"/>
          <p:nvPr/>
        </p:nvSpPr>
        <p:spPr>
          <a:xfrm>
            <a:off x="2788920" y="1371600"/>
            <a:ext cx="1810512" cy="86868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2–7</a:t>
            </a:r>
            <a:endParaRPr lang="en-US" sz="1300" dirty="0"/>
          </a:p>
        </p:txBody>
      </p:sp>
      <p:sp>
        <p:nvSpPr>
          <p:cNvPr id="16" name="R1_a0"/>
          <p:cNvSpPr txBox="1"/>
          <p:nvPr/>
        </p:nvSpPr>
        <p:spPr>
          <a:xfrm>
            <a:off x="4654296" y="1408176"/>
            <a:ext cx="4169664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calling · 3 to speak · 4 not to buy · 5 going · 6 to look after · 7 do</a:t>
            </a:r>
            <a:endParaRPr lang="en-US" sz="1200" dirty="0"/>
          </a:p>
        </p:txBody>
      </p:sp>
      <p:sp>
        <p:nvSpPr>
          <p:cNvPr id="17" name="box_278"/>
          <p:cNvSpPr txBox="1"/>
          <p:nvPr/>
        </p:nvSpPr>
        <p:spPr>
          <a:xfrm>
            <a:off x="2788920" y="2368296"/>
            <a:ext cx="1810512" cy="86868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8–13</a:t>
            </a:r>
            <a:endParaRPr lang="en-US" sz="1300" dirty="0"/>
          </a:p>
        </p:txBody>
      </p:sp>
      <p:sp>
        <p:nvSpPr>
          <p:cNvPr id="18" name="R2_a1"/>
          <p:cNvSpPr txBox="1"/>
          <p:nvPr/>
        </p:nvSpPr>
        <p:spPr>
          <a:xfrm>
            <a:off x="4654296" y="2404872"/>
            <a:ext cx="4169664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Doing · 9 to study · 10 drawing · 11 to work · 12 to go · 13 doing</a:t>
            </a:r>
            <a:endParaRPr lang="en-US" sz="1200" dirty="0"/>
          </a:p>
        </p:txBody>
      </p:sp>
      <p:sp>
        <p:nvSpPr>
          <p:cNvPr id="19" name="box_279"/>
          <p:cNvSpPr txBox="1"/>
          <p:nvPr/>
        </p:nvSpPr>
        <p:spPr>
          <a:xfrm>
            <a:off x="2788920" y="3364992"/>
            <a:ext cx="1810512" cy="86868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14–20</a:t>
            </a:r>
            <a:endParaRPr lang="en-US" sz="1300" dirty="0"/>
          </a:p>
        </p:txBody>
      </p:sp>
      <p:sp>
        <p:nvSpPr>
          <p:cNvPr id="20" name="R3_a2"/>
          <p:cNvSpPr txBox="1"/>
          <p:nvPr/>
        </p:nvSpPr>
        <p:spPr>
          <a:xfrm>
            <a:off x="4654296" y="3401568"/>
            <a:ext cx="4169664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to hear · 15 studying · 16 arriving · 17 cooking · 18 to like · 19 Eating, sleep · 20 to give</a:t>
            </a:r>
            <a:endParaRPr lang="en-US" sz="1200" dirty="0"/>
          </a:p>
        </p:txBody>
      </p:sp>
      <p:sp>
        <p:nvSpPr>
          <p:cNvPr id="21" name="pageTag_280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📄 Print: B1_8A_Photocopiables.pdf, page 1 · Grammar 8A choosing between gerunds and infinitives</a:t>
            </a:r>
            <a:endParaRPr lang="en-US" sz="9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8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82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83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Vocabulary · Words with different meanings</a:t>
            </a:r>
            <a:endParaRPr lang="en-US" sz="900" dirty="0"/>
          </a:p>
        </p:txBody>
      </p:sp>
      <p:sp>
        <p:nvSpPr>
          <p:cNvPr id="6" name="timer_284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extra_285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86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8A · Part 1</a:t>
            </a:r>
            <a:endParaRPr lang="en-US" sz="1000" dirty="0"/>
          </a:p>
        </p:txBody>
      </p:sp>
      <p:sp>
        <p:nvSpPr>
          <p:cNvPr id="9" name="title_287"/>
          <p:cNvSpPr txBox="1"/>
          <p:nvPr/>
        </p:nvSpPr>
        <p:spPr>
          <a:xfrm rot="-120000">
            <a:off x="320040" y="676656"/>
            <a:ext cx="4325112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Same word, new meaning</a:t>
            </a:r>
            <a:endParaRPr lang="en-US" sz="1500" dirty="0"/>
          </a:p>
        </p:txBody>
      </p:sp>
      <p:sp>
        <p:nvSpPr>
          <p:cNvPr id="10" name="post_288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289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2" name="signB_290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difference between a and b.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Spiega la differenza tra a e b.</a:t>
            </a:r>
            <a:endParaRPr lang="en-US" sz="1250" dirty="0"/>
          </a:p>
        </p:txBody>
      </p:sp>
      <p:sp>
        <p:nvSpPr>
          <p:cNvPr id="13" name="iconBack_291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292" descr="pi:PiArrowsClockwi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5" name="box_293"/>
          <p:cNvSpPr txBox="1"/>
          <p:nvPr/>
        </p:nvSpPr>
        <p:spPr>
          <a:xfrm>
            <a:off x="2788920" y="1371600"/>
            <a:ext cx="3379622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 He's running a business. · b He's running a marathon.</a:t>
            </a:r>
            <a:endParaRPr lang="en-US" sz="1100" dirty="0"/>
          </a:p>
        </p:txBody>
      </p:sp>
      <p:sp>
        <p:nvSpPr>
          <p:cNvPr id="16" name="R1_a0"/>
          <p:cNvSpPr txBox="1"/>
          <p:nvPr/>
        </p:nvSpPr>
        <p:spPr>
          <a:xfrm>
            <a:off x="6223406" y="1408176"/>
            <a:ext cx="2600554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in charge of, managing · b = as a sport</a:t>
            </a:r>
            <a:endParaRPr lang="en-US" sz="1050" dirty="0"/>
          </a:p>
        </p:txBody>
      </p:sp>
      <p:sp>
        <p:nvSpPr>
          <p:cNvPr id="17" name="box_294"/>
          <p:cNvSpPr txBox="1"/>
          <p:nvPr/>
        </p:nvSpPr>
        <p:spPr>
          <a:xfrm>
            <a:off x="2788920" y="2055571"/>
            <a:ext cx="3379622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 Marion was fired last week. · b When the man fired the gun, everyone screamed.</a:t>
            </a:r>
            <a:endParaRPr lang="en-US" sz="1100" dirty="0"/>
          </a:p>
        </p:txBody>
      </p:sp>
      <p:sp>
        <p:nvSpPr>
          <p:cNvPr id="18" name="R2_a1"/>
          <p:cNvSpPr txBox="1"/>
          <p:nvPr/>
        </p:nvSpPr>
        <p:spPr>
          <a:xfrm>
            <a:off x="6223406" y="2092147"/>
            <a:ext cx="2600554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lost her job · b = shot</a:t>
            </a:r>
            <a:endParaRPr lang="en-US" sz="1050" dirty="0"/>
          </a:p>
        </p:txBody>
      </p:sp>
      <p:sp>
        <p:nvSpPr>
          <p:cNvPr id="19" name="box_295"/>
          <p:cNvSpPr txBox="1"/>
          <p:nvPr/>
        </p:nvSpPr>
        <p:spPr>
          <a:xfrm>
            <a:off x="2788920" y="2739542"/>
            <a:ext cx="3379622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 I work in a shop. · b My laptop doesn't work.</a:t>
            </a:r>
            <a:endParaRPr lang="en-US" sz="1100" dirty="0"/>
          </a:p>
        </p:txBody>
      </p:sp>
      <p:sp>
        <p:nvSpPr>
          <p:cNvPr id="20" name="R3_a2"/>
          <p:cNvSpPr txBox="1"/>
          <p:nvPr/>
        </p:nvSpPr>
        <p:spPr>
          <a:xfrm>
            <a:off x="6223406" y="2776118"/>
            <a:ext cx="2600554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it's my job · b = is broken</a:t>
            </a:r>
            <a:endParaRPr lang="en-US" sz="1050" dirty="0"/>
          </a:p>
        </p:txBody>
      </p:sp>
      <p:sp>
        <p:nvSpPr>
          <p:cNvPr id="21" name="box_296"/>
          <p:cNvSpPr txBox="1"/>
          <p:nvPr/>
        </p:nvSpPr>
        <p:spPr>
          <a:xfrm>
            <a:off x="2788920" y="3423514"/>
            <a:ext cx="3379622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 There's a market for this product. · b There's a market where you can buy vegetables.</a:t>
            </a:r>
            <a:endParaRPr lang="en-US" sz="1100" dirty="0"/>
          </a:p>
        </p:txBody>
      </p:sp>
      <p:sp>
        <p:nvSpPr>
          <p:cNvPr id="22" name="R4_a3"/>
          <p:cNvSpPr txBox="1"/>
          <p:nvPr/>
        </p:nvSpPr>
        <p:spPr>
          <a:xfrm>
            <a:off x="6223406" y="3460090"/>
            <a:ext cx="2600554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people who want to buy it · b = an open area for shopping</a:t>
            </a:r>
            <a:endParaRPr lang="en-US" sz="1050" dirty="0"/>
          </a:p>
        </p:txBody>
      </p:sp>
      <p:sp>
        <p:nvSpPr>
          <p:cNvPr id="23" name="box_297"/>
          <p:cNvSpPr txBox="1"/>
          <p:nvPr/>
        </p:nvSpPr>
        <p:spPr>
          <a:xfrm>
            <a:off x="2788920" y="4107485"/>
            <a:ext cx="3379622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 Steve has set up a company. · b Steve is very good company.</a:t>
            </a:r>
            <a:endParaRPr lang="en-US" sz="1100" dirty="0"/>
          </a:p>
        </p:txBody>
      </p:sp>
      <p:sp>
        <p:nvSpPr>
          <p:cNvPr id="24" name="R5_a4"/>
          <p:cNvSpPr txBox="1"/>
          <p:nvPr/>
        </p:nvSpPr>
        <p:spPr>
          <a:xfrm>
            <a:off x="6223406" y="4144061"/>
            <a:ext cx="2600554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a business · b = a nice person to be with</a:t>
            </a:r>
            <a:endParaRPr lang="en-US" sz="1050" dirty="0"/>
          </a:p>
        </p:txBody>
      </p:sp>
      <p:sp>
        <p:nvSpPr>
          <p:cNvPr id="25" name="pageTag_298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p.76 · 1d · Words with different meanings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99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300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301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Speaking · SB p.77 3f, 3g</a:t>
            </a:r>
            <a:endParaRPr lang="en-US" sz="900" dirty="0"/>
          </a:p>
        </p:txBody>
      </p:sp>
      <p:sp>
        <p:nvSpPr>
          <p:cNvPr id="6" name="timer_302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7" name="extra_303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30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8A · Part 1</a:t>
            </a:r>
            <a:endParaRPr lang="en-US" sz="1000" dirty="0"/>
          </a:p>
        </p:txBody>
      </p:sp>
      <p:sp>
        <p:nvSpPr>
          <p:cNvPr id="9" name="title_305"/>
          <p:cNvSpPr txBox="1"/>
          <p:nvPr/>
        </p:nvSpPr>
        <p:spPr>
          <a:xfrm rot="-120000">
            <a:off x="320040" y="676656"/>
            <a:ext cx="3977640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Five things about me</a:t>
            </a:r>
            <a:endParaRPr lang="en-US" sz="1500" dirty="0"/>
          </a:p>
        </p:txBody>
      </p:sp>
      <p:sp>
        <p:nvSpPr>
          <p:cNvPr id="10" name="post_306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307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2" name="signB_308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something for FIVE of these. Then tell your group!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Scrivi qualcosa per CINQUE di questi. Poi racconta al gruppo!</a:t>
            </a:r>
            <a:endParaRPr lang="en-US" sz="1250" dirty="0"/>
          </a:p>
        </p:txBody>
      </p:sp>
      <p:sp>
        <p:nvSpPr>
          <p:cNvPr id="13" name="box_309"/>
          <p:cNvSpPr txBox="1"/>
          <p:nvPr/>
        </p:nvSpPr>
        <p:spPr>
          <a:xfrm>
            <a:off x="2788920" y="1371600"/>
            <a:ext cx="2953512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something you are planning to do in the summer</a:t>
            </a:r>
            <a:endParaRPr lang="en-US" sz="1050" dirty="0"/>
          </a:p>
        </p:txBody>
      </p:sp>
      <p:sp>
        <p:nvSpPr>
          <p:cNvPr id="14" name="box_310"/>
          <p:cNvSpPr txBox="1"/>
          <p:nvPr/>
        </p:nvSpPr>
        <p:spPr>
          <a:xfrm>
            <a:off x="5870448" y="1371600"/>
            <a:ext cx="2953512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 country you'd like to visit in the future</a:t>
            </a:r>
            <a:endParaRPr lang="en-US" sz="1050" dirty="0"/>
          </a:p>
        </p:txBody>
      </p:sp>
      <p:sp>
        <p:nvSpPr>
          <p:cNvPr id="15" name="box_311"/>
          <p:cNvSpPr txBox="1"/>
          <p:nvPr/>
        </p:nvSpPr>
        <p:spPr>
          <a:xfrm>
            <a:off x="2788920" y="2055571"/>
            <a:ext cx="2953512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somebody you wouldn't like to go on holiday with</a:t>
            </a:r>
            <a:endParaRPr lang="en-US" sz="1050" dirty="0"/>
          </a:p>
        </p:txBody>
      </p:sp>
      <p:sp>
        <p:nvSpPr>
          <p:cNvPr id="16" name="box_312"/>
          <p:cNvSpPr txBox="1"/>
          <p:nvPr/>
        </p:nvSpPr>
        <p:spPr>
          <a:xfrm>
            <a:off x="5870448" y="2055571"/>
            <a:ext cx="2953512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 job you'd love to do</a:t>
            </a:r>
            <a:endParaRPr lang="en-US" sz="1050" dirty="0"/>
          </a:p>
        </p:txBody>
      </p:sp>
      <p:sp>
        <p:nvSpPr>
          <p:cNvPr id="17" name="box_313"/>
          <p:cNvSpPr txBox="1"/>
          <p:nvPr/>
        </p:nvSpPr>
        <p:spPr>
          <a:xfrm>
            <a:off x="2788920" y="2739542"/>
            <a:ext cx="2953512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 job you hate doing in the house</a:t>
            </a:r>
            <a:endParaRPr lang="en-US" sz="1050" dirty="0"/>
          </a:p>
        </p:txBody>
      </p:sp>
      <p:sp>
        <p:nvSpPr>
          <p:cNvPr id="18" name="box_314"/>
          <p:cNvSpPr txBox="1"/>
          <p:nvPr/>
        </p:nvSpPr>
        <p:spPr>
          <a:xfrm>
            <a:off x="5870448" y="2739542"/>
            <a:ext cx="2953512" cy="555955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somebody you find very easy to talk to</a:t>
            </a:r>
            <a:endParaRPr lang="en-US" sz="1050" dirty="0"/>
          </a:p>
        </p:txBody>
      </p:sp>
      <p:sp>
        <p:nvSpPr>
          <p:cNvPr id="19" name="box_315"/>
          <p:cNvSpPr txBox="1"/>
          <p:nvPr/>
        </p:nvSpPr>
        <p:spPr>
          <a:xfrm>
            <a:off x="2788920" y="3423514"/>
            <a:ext cx="2953512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something you're afraid of doing</a:t>
            </a:r>
            <a:endParaRPr lang="en-US" sz="1050" dirty="0"/>
          </a:p>
        </p:txBody>
      </p:sp>
      <p:sp>
        <p:nvSpPr>
          <p:cNvPr id="20" name="box_316"/>
          <p:cNvSpPr txBox="1"/>
          <p:nvPr/>
        </p:nvSpPr>
        <p:spPr>
          <a:xfrm>
            <a:off x="5870448" y="3423514"/>
            <a:ext cx="2953512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a sport, activity, or hobby you love doing</a:t>
            </a:r>
            <a:endParaRPr lang="en-US" sz="1050" dirty="0"/>
          </a:p>
        </p:txBody>
      </p:sp>
      <p:sp>
        <p:nvSpPr>
          <p:cNvPr id="21" name="box_317"/>
          <p:cNvSpPr txBox="1"/>
          <p:nvPr/>
        </p:nvSpPr>
        <p:spPr>
          <a:xfrm>
            <a:off x="2788920" y="4107485"/>
            <a:ext cx="2953512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something you enjoy doing on Sunday mornings</a:t>
            </a:r>
            <a:endParaRPr lang="en-US" sz="1050" dirty="0"/>
          </a:p>
        </p:txBody>
      </p:sp>
      <p:sp>
        <p:nvSpPr>
          <p:cNvPr id="22" name="box_318"/>
          <p:cNvSpPr txBox="1"/>
          <p:nvPr/>
        </p:nvSpPr>
        <p:spPr>
          <a:xfrm>
            <a:off x="5870448" y="4107485"/>
            <a:ext cx="2953512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something you must do or buy urgently</a:t>
            </a:r>
            <a:endParaRPr lang="en-US" sz="1050" dirty="0"/>
          </a:p>
        </p:txBody>
      </p:sp>
      <p:sp>
        <p:nvSpPr>
          <p:cNvPr id="23" name="sticky_319"/>
          <p:cNvSpPr txBox="1"/>
          <p:nvPr/>
        </p:nvSpPr>
        <p:spPr>
          <a:xfrm rot="-120000">
            <a:off x="411480" y="3931920"/>
            <a:ext cx="2194560" cy="640080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love to be an architect. – Why? – Because I think it would be great to…</a:t>
            </a:r>
            <a:endParaRPr lang="en-US" sz="1000" dirty="0"/>
          </a:p>
        </p:txBody>
      </p:sp>
      <p:sp>
        <p:nvSpPr>
          <p:cNvPr id="24" name="pageTag_320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p.77 · 3f, 3g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32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322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323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Writing · Writing p.121</a:t>
            </a:r>
            <a:endParaRPr lang="en-US" sz="900" dirty="0"/>
          </a:p>
        </p:txBody>
      </p:sp>
      <p:sp>
        <p:nvSpPr>
          <p:cNvPr id="6" name="timer_324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7" name="extra_325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326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8A · Part 1</a:t>
            </a:r>
            <a:endParaRPr lang="en-US" sz="1000" dirty="0"/>
          </a:p>
        </p:txBody>
      </p:sp>
      <p:sp>
        <p:nvSpPr>
          <p:cNvPr id="9" name="title_327"/>
          <p:cNvSpPr txBox="1"/>
          <p:nvPr/>
        </p:nvSpPr>
        <p:spPr>
          <a:xfrm rot="-120000">
            <a:off x="320040" y="676656"/>
            <a:ext cx="328269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covering email</a:t>
            </a:r>
            <a:endParaRPr lang="en-US" sz="1500" dirty="0"/>
          </a:p>
        </p:txBody>
      </p:sp>
      <p:sp>
        <p:nvSpPr>
          <p:cNvPr id="10" name="post_328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329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6D3FC0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SCRIVI!</a:t>
            </a:r>
            <a:endParaRPr lang="en-US" sz="1500" dirty="0"/>
          </a:p>
        </p:txBody>
      </p:sp>
      <p:sp>
        <p:nvSpPr>
          <p:cNvPr id="12" name="signB_330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expression is more formal? Circle it in Ricardo's email.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Quale espressione è più formale? Cerchiala nell'email di Ricardo.</a:t>
            </a:r>
            <a:endParaRPr lang="en-US" sz="1200" dirty="0"/>
          </a:p>
        </p:txBody>
      </p:sp>
      <p:sp>
        <p:nvSpPr>
          <p:cNvPr id="13" name="iconBack_331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332" descr="pi:PiEnvelopeSimp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5" name="box_333"/>
          <p:cNvSpPr txBox="1"/>
          <p:nvPr/>
        </p:nvSpPr>
        <p:spPr>
          <a:xfrm>
            <a:off x="2788920" y="1371600"/>
            <a:ext cx="590702" cy="86868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6" name="R1_a0"/>
          <p:cNvSpPr txBox="1"/>
          <p:nvPr/>
        </p:nvSpPr>
        <p:spPr>
          <a:xfrm>
            <a:off x="3434486" y="1408176"/>
            <a:ext cx="2307946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writing</a:t>
            </a:r>
            <a:endParaRPr lang="en-US" sz="1150" dirty="0"/>
          </a:p>
        </p:txBody>
      </p:sp>
      <p:sp>
        <p:nvSpPr>
          <p:cNvPr id="17" name="box_334"/>
          <p:cNvSpPr txBox="1"/>
          <p:nvPr/>
        </p:nvSpPr>
        <p:spPr>
          <a:xfrm>
            <a:off x="5870448" y="1371600"/>
            <a:ext cx="590702" cy="86868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8" name="R2_a1"/>
          <p:cNvSpPr txBox="1"/>
          <p:nvPr/>
        </p:nvSpPr>
        <p:spPr>
          <a:xfrm>
            <a:off x="6516014" y="1408176"/>
            <a:ext cx="2307946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been working</a:t>
            </a:r>
            <a:endParaRPr lang="en-US" sz="1150" dirty="0"/>
          </a:p>
        </p:txBody>
      </p:sp>
      <p:sp>
        <p:nvSpPr>
          <p:cNvPr id="19" name="box_335"/>
          <p:cNvSpPr txBox="1"/>
          <p:nvPr/>
        </p:nvSpPr>
        <p:spPr>
          <a:xfrm>
            <a:off x="2788920" y="2368296"/>
            <a:ext cx="590702" cy="86868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20" name="R3_a2"/>
          <p:cNvSpPr txBox="1"/>
          <p:nvPr/>
        </p:nvSpPr>
        <p:spPr>
          <a:xfrm>
            <a:off x="3434486" y="2404872"/>
            <a:ext cx="2307946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speak English very well</a:t>
            </a:r>
            <a:endParaRPr lang="en-US" sz="1150" dirty="0"/>
          </a:p>
        </p:txBody>
      </p:sp>
      <p:sp>
        <p:nvSpPr>
          <p:cNvPr id="21" name="box_336"/>
          <p:cNvSpPr txBox="1"/>
          <p:nvPr/>
        </p:nvSpPr>
        <p:spPr>
          <a:xfrm>
            <a:off x="5870448" y="2368296"/>
            <a:ext cx="590702" cy="86868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R4_a3"/>
          <p:cNvSpPr txBox="1"/>
          <p:nvPr/>
        </p:nvSpPr>
        <p:spPr>
          <a:xfrm>
            <a:off x="6516014" y="2404872"/>
            <a:ext cx="2307946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</a:t>
            </a:r>
            <a:endParaRPr lang="en-US" sz="1150" dirty="0"/>
          </a:p>
        </p:txBody>
      </p:sp>
      <p:sp>
        <p:nvSpPr>
          <p:cNvPr id="23" name="box_337"/>
          <p:cNvSpPr txBox="1"/>
          <p:nvPr/>
        </p:nvSpPr>
        <p:spPr>
          <a:xfrm>
            <a:off x="2788920" y="3364992"/>
            <a:ext cx="590702" cy="86868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4" name="R5_a4"/>
          <p:cNvSpPr txBox="1"/>
          <p:nvPr/>
        </p:nvSpPr>
        <p:spPr>
          <a:xfrm>
            <a:off x="3434486" y="3401568"/>
            <a:ext cx="2307946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look forward to hearing from you.</a:t>
            </a:r>
            <a:endParaRPr lang="en-US" sz="1150" dirty="0"/>
          </a:p>
        </p:txBody>
      </p:sp>
      <p:sp>
        <p:nvSpPr>
          <p:cNvPr id="25" name="box_338"/>
          <p:cNvSpPr txBox="1"/>
          <p:nvPr/>
        </p:nvSpPr>
        <p:spPr>
          <a:xfrm>
            <a:off x="5870448" y="3364992"/>
            <a:ext cx="590702" cy="86868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0" dirty="0"/>
          </a:p>
        </p:txBody>
      </p:sp>
      <p:sp>
        <p:nvSpPr>
          <p:cNvPr id="26" name="R6_a5"/>
          <p:cNvSpPr txBox="1"/>
          <p:nvPr/>
        </p:nvSpPr>
        <p:spPr>
          <a:xfrm>
            <a:off x="6516014" y="3401568"/>
            <a:ext cx="2307946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Yours faithfully,</a:t>
            </a:r>
            <a:endParaRPr lang="en-US" sz="1150" dirty="0"/>
          </a:p>
        </p:txBody>
      </p:sp>
      <p:sp>
        <p:nvSpPr>
          <p:cNvPr id="27" name="pageTag_339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Writing A covering email p.121 · a, b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34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341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342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Vocabulary · Photocopiable 8A</a:t>
            </a:r>
            <a:endParaRPr lang="en-US" sz="900" dirty="0"/>
          </a:p>
        </p:txBody>
      </p:sp>
      <p:sp>
        <p:nvSpPr>
          <p:cNvPr id="6" name="timer_343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7" name="extra_344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345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8A · Part 1</a:t>
            </a:r>
            <a:endParaRPr lang="en-US" sz="1000" dirty="0"/>
          </a:p>
        </p:txBody>
      </p:sp>
      <p:sp>
        <p:nvSpPr>
          <p:cNvPr id="9" name="title_346"/>
          <p:cNvSpPr txBox="1"/>
          <p:nvPr/>
        </p:nvSpPr>
        <p:spPr>
          <a:xfrm rot="-120000">
            <a:off x="320040" y="676656"/>
            <a:ext cx="328269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 from A to Z</a:t>
            </a:r>
            <a:endParaRPr lang="en-US" sz="1500" dirty="0"/>
          </a:p>
        </p:txBody>
      </p:sp>
      <p:sp>
        <p:nvSpPr>
          <p:cNvPr id="10" name="post_347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348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2" name="signB_349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Handout page 5. Pairs: read the clues – fast!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Fotocopia pag. 5. In coppia: leggete gli indizi – veloci!</a:t>
            </a:r>
            <a:endParaRPr lang="en-US" sz="1250" dirty="0"/>
          </a:p>
        </p:txBody>
      </p:sp>
      <p:sp>
        <p:nvSpPr>
          <p:cNvPr id="13" name="iconBack_350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351" descr="pi:PiPrint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5" name="box_352"/>
          <p:cNvSpPr txBox="1"/>
          <p:nvPr/>
        </p:nvSpPr>
        <p:spPr>
          <a:xfrm>
            <a:off x="2788920" y="1371600"/>
            <a:ext cx="886054" cy="86868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B–F</a:t>
            </a:r>
            <a:endParaRPr lang="en-US" sz="1200" dirty="0"/>
          </a:p>
        </p:txBody>
      </p:sp>
      <p:sp>
        <p:nvSpPr>
          <p:cNvPr id="16" name="R1_a0"/>
          <p:cNvSpPr txBox="1"/>
          <p:nvPr/>
        </p:nvSpPr>
        <p:spPr>
          <a:xfrm>
            <a:off x="3729838" y="1408176"/>
            <a:ext cx="2012594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· charge · do · employees · freelance</a:t>
            </a:r>
            <a:endParaRPr lang="en-US" sz="1200" dirty="0"/>
          </a:p>
        </p:txBody>
      </p:sp>
      <p:sp>
        <p:nvSpPr>
          <p:cNvPr id="17" name="box_353"/>
          <p:cNvSpPr txBox="1"/>
          <p:nvPr/>
        </p:nvSpPr>
        <p:spPr>
          <a:xfrm>
            <a:off x="5870448" y="1371600"/>
            <a:ext cx="886054" cy="86868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G–K</a:t>
            </a:r>
            <a:endParaRPr lang="en-US" sz="1200" dirty="0"/>
          </a:p>
        </p:txBody>
      </p:sp>
      <p:sp>
        <p:nvSpPr>
          <p:cNvPr id="18" name="R2_a1"/>
          <p:cNvSpPr txBox="1"/>
          <p:nvPr/>
        </p:nvSpPr>
        <p:spPr>
          <a:xfrm>
            <a:off x="6811366" y="1408176"/>
            <a:ext cx="2012594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gardener · hairdresser · interview · job · kitchen</a:t>
            </a:r>
            <a:endParaRPr lang="en-US" sz="1200" dirty="0"/>
          </a:p>
        </p:txBody>
      </p:sp>
      <p:sp>
        <p:nvSpPr>
          <p:cNvPr id="19" name="box_354"/>
          <p:cNvSpPr txBox="1"/>
          <p:nvPr/>
        </p:nvSpPr>
        <p:spPr>
          <a:xfrm>
            <a:off x="2788920" y="2368296"/>
            <a:ext cx="886054" cy="86868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L–P</a:t>
            </a:r>
            <a:endParaRPr lang="en-US" sz="1200" dirty="0"/>
          </a:p>
        </p:txBody>
      </p:sp>
      <p:sp>
        <p:nvSpPr>
          <p:cNvPr id="20" name="R3_a2"/>
          <p:cNvSpPr txBox="1"/>
          <p:nvPr/>
        </p:nvSpPr>
        <p:spPr>
          <a:xfrm>
            <a:off x="3729838" y="2404872"/>
            <a:ext cx="2012594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· made · night · overtime · part-time</a:t>
            </a:r>
            <a:endParaRPr lang="en-US" sz="1200" dirty="0"/>
          </a:p>
        </p:txBody>
      </p:sp>
      <p:sp>
        <p:nvSpPr>
          <p:cNvPr id="21" name="box_355"/>
          <p:cNvSpPr txBox="1"/>
          <p:nvPr/>
        </p:nvSpPr>
        <p:spPr>
          <a:xfrm>
            <a:off x="5870448" y="2368296"/>
            <a:ext cx="886054" cy="86868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Q–U</a:t>
            </a:r>
            <a:endParaRPr lang="en-US" sz="1200" dirty="0"/>
          </a:p>
        </p:txBody>
      </p:sp>
      <p:sp>
        <p:nvSpPr>
          <p:cNvPr id="22" name="R4_a3"/>
          <p:cNvSpPr txBox="1"/>
          <p:nvPr/>
        </p:nvSpPr>
        <p:spPr>
          <a:xfrm>
            <a:off x="6811366" y="2404872"/>
            <a:ext cx="2012594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 · retire · self-employed · temporary · up</a:t>
            </a:r>
            <a:endParaRPr lang="en-US" sz="1200" dirty="0"/>
          </a:p>
        </p:txBody>
      </p:sp>
      <p:sp>
        <p:nvSpPr>
          <p:cNvPr id="23" name="box_356"/>
          <p:cNvSpPr txBox="1"/>
          <p:nvPr/>
        </p:nvSpPr>
        <p:spPr>
          <a:xfrm>
            <a:off x="2788920" y="3364992"/>
            <a:ext cx="886054" cy="86868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V–Y</a:t>
            </a:r>
            <a:endParaRPr lang="en-US" sz="1200" dirty="0"/>
          </a:p>
        </p:txBody>
      </p:sp>
      <p:sp>
        <p:nvSpPr>
          <p:cNvPr id="24" name="R5_a4"/>
          <p:cNvSpPr txBox="1"/>
          <p:nvPr/>
        </p:nvSpPr>
        <p:spPr>
          <a:xfrm>
            <a:off x="3729838" y="3401568"/>
            <a:ext cx="2012594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 · work · extra (X) · year</a:t>
            </a:r>
            <a:endParaRPr lang="en-US" sz="1200" dirty="0"/>
          </a:p>
        </p:txBody>
      </p:sp>
      <p:sp>
        <p:nvSpPr>
          <p:cNvPr id="25" name="pageTag_357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📄 Print: B1_8A_Photocopiables.pdf, page 5 · Vocabulary 8A Work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London Language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B1 8A-1 The right job for you</dc:title>
  <dc:subject>PptxGenJS Presentation</dc:subject>
  <dc:creator>London Language School</dc:creator>
  <cp:lastModifiedBy>London Language School</cp:lastModifiedBy>
  <cp:revision>1</cp:revision>
  <dcterms:created xsi:type="dcterms:W3CDTF">2026-10-05T09:39:32Z</dcterms:created>
  <dcterms:modified xsi:type="dcterms:W3CDTF">2026-10-05T09:39:32Z</dcterms:modified>
</cp:coreProperties>
</file>