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 AND CHECK 5 &amp; 6 (60 min) · SB pp.64–65. A retrieval lesson: students should NOT open the book at the start — they retrieve first, then use the book to check. Teams of 3–4 for the whole lesson; keep a running score on the board. Timing: cover 2 · vocabulary tennis 5 · sentence auction 9 · transformation relay 8 · quickfire 3 · error hunt 6 · feelings 7 · pronunciation 4 · reading 7 · listening 5 · exit 3 = 59 min. Unit 5 grammar (third and second conditionals, wish) is revised from the book page only (we don't have the Unit 5 pages here). Click 1: question; let 2–3 students answer before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TENNIS (5 min). VARIATION: timed retrieval, head-to-head. Change players every rally. Last category ('verbs followed by -ing') bridges to grammar. Accept only accurate words and pronunciations (choir /ˈkwaɪə/, duvet /ˈduːveɪ/). Includes SB Vocabulary d (conductor, choir, cello, soprano, keyboard) — if nobody says them, give the definitions from SB p.64 d as 'serves'.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AUCTION (9 min incl. next slide). VARIATION: auction (risk + accuracy). Appoint a banker in each team (writes the budget). Be a lively auctioneer. Correct sentences are worth having; teams lose money on wrong ones but can get €100 back by correcting them. Debrief the wrong ones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AUCTION LOTS. Show one sentence at a time (cover the others with your hand / mention the number) and click to reveal ✓/✗ after each sale. Italian-L1 traps: 2 'vorrei poter' → wish + could; 4 'would' in the if-clause (very common); 5 'abituato a' + infinitive; 6 suggest + -ing; 7 bored (feeling) vs boring (cause).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TRANSFORMATION RELAY (8 min) · SB p.64 Grammar a. VARIATION: relay race. Teams sit in a line; the first person writes sentence 1 on the team paper and passes it on; the next person does sentence 2, and so on (teammates may whisper help). First team to bring 10 correct sentences wins 3 points; then check, one click per answer. Then focus on WHY: 1, 3 = third conditional (past, imagined) · 2, 4 = second conditional (present) · 5 wish + past (present wish) · 6 wish + past perfect (regret) · 7 wish + would (annoying habit of another person) · 8, 10 get / be used to + -ing · 9 used to + infinitive.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QUICKFIRE (3 min) · SB p.64 Grammar b. Books closed; read each sentence aloud; first team with the right form AND the reason (memory / passive meaning / manage + to / effort / be used to + -ing) gets the point. Click one per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HUNT (6 min). VARIATION: spot the error + explain (student as teacher). Every sentence has ONE mistake. Teams write the correction AND a reason; 1 point for the correction, 1 for a clear reason. Click one by one. These are typical fossilised Italian errors: -ed/-ing confusion, 'would' in the if-clause, wish + wrong tense, remember + -ing/to, preposition + -ing, would with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(7 min). VARIATION: 'mime it first' — before you click each answer, a volunteer from the next team mimes the feeling and their team guesses (extra point); then click. The slide shows a selection; do the rest of SB p.64 Vocabulary a–c in pairs from the book. Full answers: a 1 proud · 2 homesick · 3 grateful · 4 guilty · 5 stunned · b 1 exhausting · 2 shocked · 3 embarrassed · 4 stressful · 5 annoys · 6 disappointing · 7 amazes · 8 horrified · 9 offensive · 10 scary · c 1 pillow · 2 snore · 3 nap · 4 nightmare · 5 set. Precision push: 'stunned' is stronger than 'surprised'; 'homesick' ≠ 'nostalgico' in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(4 min). Teams say the words aloud (in a whisper!) and decide; click one per answer. Answers: a 1 delighted (/aɪ/) · 2 yawn (/ɔː/) · 3 eyes (/z/) · 4 homesick (/s/) · 5 chic (/ʃ/) · b ABsolutely · DEvastated · inFUriating · inSOMnia · SLEEPwalk. Item 4: 'miserable' has /z/ — Italians often say /s/.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(7 min). Prediction first (30 sec): 'A sleep doctor's advice on music before bed — what will he say?' Then SB a: read once — 'According to Dr Breus, what kinds of music should you listen to before going to sleep?' (slow music, about 60–80 beats per minute, without lyrics, not emotionally triggering; classical is popular, but jazz, new age or folk are fine — whatever makes you feel calm). Then b: choose the best words (3 min), pairs compare, click one per answer: 1 b while · 2 a effective · 3 c alert · 4 a adjust · 5 b excitement · 6 a advise · 7 b first · 8 b likely · 9 c uncomfortable · 10 c if. Ask why the distractors are wrong (8: 'you're not likely to' is the only one that fits the structure be + ___ + 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(5 min) · audio/video 6.20. PREDICTION COMPETITION: before listening, teams bet on a, b or c for each person (looking at the options in the book); 1 point per correct prediction, then listen and check. ⚠ ANSWERS: check with audio 6.20 / TG — not available here. Follow-up: 'Which of the four is most like you?'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Announce the winning team. Each student writes on a slip: the one thing from Units 5–6 they still find hardest — use the slips to plan the next revision. Homework: homework sheet (standard or easier, given privately).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Hidden-card describe game for the vocabulary of Units 5–6. IMPORTANT: guessers must not see the screen. Check they have turned round BEFORE you click each card. Every card is on its own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1.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2.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3.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4.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5.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6.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(5 min). VARIATION: chain story (student-generated content). Keep it absurd and fast. Recycles sleep vocabulary + wish + third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A3F5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E106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R5–6</a:t>
            </a:r>
            <a:endParaRPr lang="en-US" sz="3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B2 · R5–6 · Part 1 · SB pp.64–65</a:t>
            </a:r>
            <a:endParaRPr lang="en-US" sz="105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512064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 AND CHECK 5 &amp; 6</a:t>
            </a:r>
            <a:endParaRPr lang="en-US" sz="22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conditionals · wish · used to · -ing / to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101084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feelings · sleep · music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4101084" cy="384048"/>
          </a:xfrm>
          <a:prstGeom prst="roundRect">
            <a:avLst>
              <a:gd name="adj" fmla="val 14286"/>
            </a:avLst>
          </a:prstGeom>
          <a:solidFill>
            <a:srgbClr val="2E1065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GAMES · auction · tennis · error hunt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Gav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B9A3F5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change one thing about this year, what would it be?</a:t>
            </a:r>
            <a:endParaRPr lang="en-US" sz="125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I'd…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WARM-UP · Vocabulary tennis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tennis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players. Hit words back and forth!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giocatori. Rimandate le parole come a tennis!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TennisB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9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30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stand up, one from each team. Teacher calls a category.</a:t>
            </a:r>
            <a:endParaRPr lang="en-US" sz="1300" dirty="0"/>
          </a:p>
        </p:txBody>
      </p:sp>
      <p:sp>
        <p:nvSpPr>
          <p:cNvPr id="16" name="num_31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32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'hit' a word in turn: 5 seconds each. No repeats!</a:t>
            </a:r>
            <a:endParaRPr lang="en-US" sz="1300" dirty="0"/>
          </a:p>
        </p:txBody>
      </p:sp>
      <p:sp>
        <p:nvSpPr>
          <p:cNvPr id="18" name="num_33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34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Hesitate, repeat or say a wrong word = point to the other team.</a:t>
            </a:r>
            <a:endParaRPr lang="en-US" sz="1300" dirty="0"/>
          </a:p>
        </p:txBody>
      </p:sp>
      <p:sp>
        <p:nvSpPr>
          <p:cNvPr id="20" name="num_35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36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feelings adjectives · sleep · instruments &amp; musicians · words from Italian · -ing verbs (enjoy…)</a:t>
            </a:r>
            <a:endParaRPr lang="en-US" sz="1300" dirty="0"/>
          </a:p>
        </p:txBody>
      </p:sp>
      <p:sp>
        <p:nvSpPr>
          <p:cNvPr id="22" name="bubble_3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Sleep: 'pillow' – 'snore' – 'nap' – 'fast asleep' – 'oversleep' – … 'er…' → POINT!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3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Sentence auction · rules</a:t>
            </a:r>
            <a:endParaRPr lang="en-US" sz="900" dirty="0"/>
          </a:p>
        </p:txBody>
      </p:sp>
      <p:sp>
        <p:nvSpPr>
          <p:cNvPr id="6" name="timer_4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4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43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Sentence auction</a:t>
            </a:r>
            <a:endParaRPr lang="en-US" sz="1500" dirty="0"/>
          </a:p>
        </p:txBody>
      </p:sp>
      <p:sp>
        <p:nvSpPr>
          <p:cNvPr id="9" name="post_4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4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only the CORRECT sentences!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Comprate solo le frasi CORRETTE!</a:t>
            </a:r>
            <a:endParaRPr lang="en-US" sz="1250" dirty="0"/>
          </a:p>
        </p:txBody>
      </p:sp>
      <p:sp>
        <p:nvSpPr>
          <p:cNvPr id="12" name="iconBack_4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48" descr="pi:Pi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49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50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€1,000. Minimum bid: €50.</a:t>
            </a:r>
            <a:endParaRPr lang="en-US" sz="1300" dirty="0"/>
          </a:p>
        </p:txBody>
      </p:sp>
      <p:sp>
        <p:nvSpPr>
          <p:cNvPr id="16" name="num_51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52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shows a sentence. Teams bid if they think it's correct.</a:t>
            </a:r>
            <a:endParaRPr lang="en-US" sz="1300" dirty="0"/>
          </a:p>
        </p:txBody>
      </p:sp>
      <p:sp>
        <p:nvSpPr>
          <p:cNvPr id="18" name="num_53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54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bid buys it. Then click: ✓ or ✗?</a:t>
            </a:r>
            <a:endParaRPr lang="en-US" sz="1300" dirty="0"/>
          </a:p>
        </p:txBody>
      </p:sp>
      <p:sp>
        <p:nvSpPr>
          <p:cNvPr id="20" name="num_55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56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sentence bought? Correct it for €100 back.</a:t>
            </a:r>
            <a:endParaRPr lang="en-US" sz="1300" dirty="0"/>
          </a:p>
        </p:txBody>
      </p:sp>
      <p:sp>
        <p:nvSpPr>
          <p:cNvPr id="22" name="num_57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58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Winners: most correct sentences. Money left = tie-break.</a:t>
            </a:r>
            <a:endParaRPr lang="en-US" sz="1300" dirty="0"/>
          </a:p>
        </p:txBody>
      </p:sp>
      <p:sp>
        <p:nvSpPr>
          <p:cNvPr id="24" name="bubble_59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'€200 for number 1!' – '€250!' – 'Sold to Team B for €250!'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6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Sentence auction · lots</a:t>
            </a:r>
            <a:endParaRPr lang="en-US" sz="900" dirty="0"/>
          </a:p>
        </p:txBody>
      </p:sp>
      <p:sp>
        <p:nvSpPr>
          <p:cNvPr id="6" name="footer_6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7" name="title_64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Lots for sale!</a:t>
            </a:r>
            <a:endParaRPr lang="en-US" sz="1500" dirty="0"/>
          </a:p>
        </p:txBody>
      </p:sp>
      <p:sp>
        <p:nvSpPr>
          <p:cNvPr id="8" name="box_65"/>
          <p:cNvSpPr txBox="1"/>
          <p:nvPr/>
        </p:nvSpPr>
        <p:spPr>
          <a:xfrm>
            <a:off x="320040" y="1371600"/>
            <a:ext cx="259653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If I had known about the party, I would have come.</a:t>
            </a:r>
            <a:endParaRPr lang="en-US" sz="1250" dirty="0"/>
          </a:p>
        </p:txBody>
      </p:sp>
      <p:sp>
        <p:nvSpPr>
          <p:cNvPr id="9" name="R1_a0"/>
          <p:cNvSpPr txBox="1"/>
          <p:nvPr/>
        </p:nvSpPr>
        <p:spPr>
          <a:xfrm>
            <a:off x="2971434" y="1408176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box_66"/>
          <p:cNvSpPr txBox="1"/>
          <p:nvPr/>
        </p:nvSpPr>
        <p:spPr>
          <a:xfrm>
            <a:off x="4636008" y="1371600"/>
            <a:ext cx="259653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 wish I can speak French.</a:t>
            </a:r>
            <a:endParaRPr lang="en-US" sz="1250" dirty="0"/>
          </a:p>
        </p:txBody>
      </p:sp>
      <p:sp>
        <p:nvSpPr>
          <p:cNvPr id="11" name="R2_a1"/>
          <p:cNvSpPr txBox="1"/>
          <p:nvPr/>
        </p:nvSpPr>
        <p:spPr>
          <a:xfrm>
            <a:off x="7287402" y="1408176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could speak</a:t>
            </a:r>
            <a:endParaRPr lang="en-US" sz="1100" dirty="0"/>
          </a:p>
        </p:txBody>
      </p:sp>
      <p:sp>
        <p:nvSpPr>
          <p:cNvPr id="12" name="box_67"/>
          <p:cNvSpPr txBox="1"/>
          <p:nvPr/>
        </p:nvSpPr>
        <p:spPr>
          <a:xfrm>
            <a:off x="320040" y="2226564"/>
            <a:ext cx="2596530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wish my brother would stop borrowing my clothes.</a:t>
            </a:r>
            <a:endParaRPr lang="en-US" sz="1250" dirty="0"/>
          </a:p>
        </p:txBody>
      </p:sp>
      <p:sp>
        <p:nvSpPr>
          <p:cNvPr id="13" name="R3_a2"/>
          <p:cNvSpPr txBox="1"/>
          <p:nvPr/>
        </p:nvSpPr>
        <p:spPr>
          <a:xfrm>
            <a:off x="2971434" y="2263140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box_68"/>
          <p:cNvSpPr txBox="1"/>
          <p:nvPr/>
        </p:nvSpPr>
        <p:spPr>
          <a:xfrm>
            <a:off x="4636008" y="2226564"/>
            <a:ext cx="2596530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If I would have left earlier, I wouldn't have missed the bus.</a:t>
            </a:r>
            <a:endParaRPr lang="en-US" sz="1250" dirty="0"/>
          </a:p>
        </p:txBody>
      </p:sp>
      <p:sp>
        <p:nvSpPr>
          <p:cNvPr id="15" name="R4_a3"/>
          <p:cNvSpPr txBox="1"/>
          <p:nvPr/>
        </p:nvSpPr>
        <p:spPr>
          <a:xfrm>
            <a:off x="7287402" y="2263140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If I had left</a:t>
            </a:r>
            <a:endParaRPr lang="en-US" sz="1100" dirty="0"/>
          </a:p>
        </p:txBody>
      </p:sp>
      <p:sp>
        <p:nvSpPr>
          <p:cNvPr id="16" name="box_69"/>
          <p:cNvSpPr txBox="1"/>
          <p:nvPr/>
        </p:nvSpPr>
        <p:spPr>
          <a:xfrm>
            <a:off x="320040" y="3081528"/>
            <a:ext cx="2596530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I'm not used to get up so early.</a:t>
            </a:r>
            <a:endParaRPr lang="en-US" sz="1250" dirty="0"/>
          </a:p>
        </p:txBody>
      </p:sp>
      <p:sp>
        <p:nvSpPr>
          <p:cNvPr id="17" name="R5_a4"/>
          <p:cNvSpPr txBox="1"/>
          <p:nvPr/>
        </p:nvSpPr>
        <p:spPr>
          <a:xfrm>
            <a:off x="2971434" y="3118104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getting up</a:t>
            </a:r>
            <a:endParaRPr lang="en-US" sz="1100" dirty="0"/>
          </a:p>
        </p:txBody>
      </p:sp>
      <p:sp>
        <p:nvSpPr>
          <p:cNvPr id="18" name="box_70"/>
          <p:cNvSpPr txBox="1"/>
          <p:nvPr/>
        </p:nvSpPr>
        <p:spPr>
          <a:xfrm>
            <a:off x="4636008" y="3081528"/>
            <a:ext cx="2596530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She suggested to go to the concert.</a:t>
            </a:r>
            <a:endParaRPr lang="en-US" sz="1250" dirty="0"/>
          </a:p>
        </p:txBody>
      </p:sp>
      <p:sp>
        <p:nvSpPr>
          <p:cNvPr id="19" name="R6_a5"/>
          <p:cNvSpPr txBox="1"/>
          <p:nvPr/>
        </p:nvSpPr>
        <p:spPr>
          <a:xfrm>
            <a:off x="7287402" y="3118104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suggested going</a:t>
            </a:r>
            <a:endParaRPr lang="en-US" sz="1100" dirty="0"/>
          </a:p>
        </p:txBody>
      </p:sp>
      <p:sp>
        <p:nvSpPr>
          <p:cNvPr id="20" name="box_71"/>
          <p:cNvSpPr txBox="1"/>
          <p:nvPr/>
        </p:nvSpPr>
        <p:spPr>
          <a:xfrm>
            <a:off x="320040" y="3936492"/>
            <a:ext cx="259653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The film was so bored that I fell asleep.</a:t>
            </a:r>
            <a:endParaRPr lang="en-US" sz="1250" dirty="0"/>
          </a:p>
        </p:txBody>
      </p:sp>
      <p:sp>
        <p:nvSpPr>
          <p:cNvPr id="21" name="R7_a6"/>
          <p:cNvSpPr txBox="1"/>
          <p:nvPr/>
        </p:nvSpPr>
        <p:spPr>
          <a:xfrm>
            <a:off x="2971434" y="3973068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boring</a:t>
            </a:r>
            <a:endParaRPr lang="en-US" sz="1100" dirty="0"/>
          </a:p>
        </p:txBody>
      </p:sp>
      <p:sp>
        <p:nvSpPr>
          <p:cNvPr id="22" name="box_72"/>
          <p:cNvSpPr txBox="1"/>
          <p:nvPr/>
        </p:nvSpPr>
        <p:spPr>
          <a:xfrm>
            <a:off x="4636008" y="3936492"/>
            <a:ext cx="259653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 regret not learning the guitar when I was younger.</a:t>
            </a:r>
            <a:endParaRPr lang="en-US" sz="1250" dirty="0"/>
          </a:p>
        </p:txBody>
      </p:sp>
      <p:sp>
        <p:nvSpPr>
          <p:cNvPr id="23" name="R8_a7"/>
          <p:cNvSpPr txBox="1"/>
          <p:nvPr/>
        </p:nvSpPr>
        <p:spPr>
          <a:xfrm>
            <a:off x="7287402" y="3973068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7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SB p.64 a · Relay</a:t>
            </a:r>
            <a:endParaRPr lang="en-US" sz="900" dirty="0"/>
          </a:p>
        </p:txBody>
      </p:sp>
      <p:sp>
        <p:nvSpPr>
          <p:cNvPr id="6" name="timer_7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7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78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Transformation relay</a:t>
            </a:r>
            <a:endParaRPr lang="en-US" sz="1500" dirty="0"/>
          </a:p>
        </p:txBody>
      </p:sp>
      <p:sp>
        <p:nvSpPr>
          <p:cNvPr id="9" name="box_79"/>
          <p:cNvSpPr txBox="1"/>
          <p:nvPr/>
        </p:nvSpPr>
        <p:spPr>
          <a:xfrm>
            <a:off x="320040" y="1371600"/>
            <a:ext cx="2177735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They wouldn't have escaped… if they ___ the river.</a:t>
            </a:r>
            <a:endParaRPr lang="en-US" sz="1100" dirty="0"/>
          </a:p>
        </p:txBody>
      </p:sp>
      <p:sp>
        <p:nvSpPr>
          <p:cNvPr id="10" name="R1_a0"/>
          <p:cNvSpPr txBox="1"/>
          <p:nvPr/>
        </p:nvSpPr>
        <p:spPr>
          <a:xfrm>
            <a:off x="2552639" y="1408176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hadn't found</a:t>
            </a:r>
            <a:endParaRPr lang="en-US" sz="1150" dirty="0"/>
          </a:p>
        </p:txBody>
      </p:sp>
      <p:sp>
        <p:nvSpPr>
          <p:cNvPr id="11" name="box_80"/>
          <p:cNvSpPr txBox="1"/>
          <p:nvPr/>
        </p:nvSpPr>
        <p:spPr>
          <a:xfrm>
            <a:off x="4636008" y="1371600"/>
            <a:ext cx="217773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 would be able to go… if I ___ in the evening.</a:t>
            </a:r>
            <a:endParaRPr lang="en-US" sz="1150" dirty="0"/>
          </a:p>
        </p:txBody>
      </p:sp>
      <p:sp>
        <p:nvSpPr>
          <p:cNvPr id="12" name="R2_a1"/>
          <p:cNvSpPr txBox="1"/>
          <p:nvPr/>
        </p:nvSpPr>
        <p:spPr>
          <a:xfrm>
            <a:off x="6868607" y="1408176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work</a:t>
            </a:r>
            <a:endParaRPr lang="en-US" sz="1150" dirty="0"/>
          </a:p>
        </p:txBody>
      </p:sp>
      <p:sp>
        <p:nvSpPr>
          <p:cNvPr id="13" name="box_81"/>
          <p:cNvSpPr txBox="1"/>
          <p:nvPr/>
        </p:nvSpPr>
        <p:spPr>
          <a:xfrm>
            <a:off x="320040" y="2055571"/>
            <a:ext cx="2177735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 ___ to that restaurant if you hadn't…</a:t>
            </a:r>
            <a:endParaRPr lang="en-US" sz="1150" dirty="0"/>
          </a:p>
        </p:txBody>
      </p:sp>
      <p:sp>
        <p:nvSpPr>
          <p:cNvPr id="14" name="R3_a2"/>
          <p:cNvSpPr txBox="1"/>
          <p:nvPr/>
        </p:nvSpPr>
        <p:spPr>
          <a:xfrm>
            <a:off x="2552639" y="2092147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wouldn't have gone</a:t>
            </a:r>
            <a:endParaRPr lang="en-US" sz="1150" dirty="0"/>
          </a:p>
        </p:txBody>
      </p:sp>
      <p:sp>
        <p:nvSpPr>
          <p:cNvPr id="15" name="box_82"/>
          <p:cNvSpPr txBox="1"/>
          <p:nvPr/>
        </p:nvSpPr>
        <p:spPr>
          <a:xfrm>
            <a:off x="4636008" y="2055571"/>
            <a:ext cx="217773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If Marta didn't go to bed late, she ___ so tired.</a:t>
            </a:r>
            <a:endParaRPr lang="en-US" sz="1150" dirty="0"/>
          </a:p>
        </p:txBody>
      </p:sp>
      <p:sp>
        <p:nvSpPr>
          <p:cNvPr id="16" name="R4_a3"/>
          <p:cNvSpPr txBox="1"/>
          <p:nvPr/>
        </p:nvSpPr>
        <p:spPr>
          <a:xfrm>
            <a:off x="6868607" y="2092147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wouldn't be</a:t>
            </a:r>
            <a:endParaRPr lang="en-US" sz="1150" dirty="0"/>
          </a:p>
        </p:txBody>
      </p:sp>
      <p:sp>
        <p:nvSpPr>
          <p:cNvPr id="17" name="box_83"/>
          <p:cNvSpPr txBox="1"/>
          <p:nvPr/>
        </p:nvSpPr>
        <p:spPr>
          <a:xfrm>
            <a:off x="320040" y="2739542"/>
            <a:ext cx="2177735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 wish ___ French.</a:t>
            </a:r>
            <a:endParaRPr lang="en-US" sz="1150" dirty="0"/>
          </a:p>
        </p:txBody>
      </p:sp>
      <p:sp>
        <p:nvSpPr>
          <p:cNvPr id="18" name="R5_a4"/>
          <p:cNvSpPr txBox="1"/>
          <p:nvPr/>
        </p:nvSpPr>
        <p:spPr>
          <a:xfrm>
            <a:off x="2552639" y="2776118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speak</a:t>
            </a:r>
            <a:endParaRPr lang="en-US" sz="1150" dirty="0"/>
          </a:p>
        </p:txBody>
      </p:sp>
      <p:sp>
        <p:nvSpPr>
          <p:cNvPr id="19" name="box_84"/>
          <p:cNvSpPr txBox="1"/>
          <p:nvPr/>
        </p:nvSpPr>
        <p:spPr>
          <a:xfrm>
            <a:off x="4636008" y="2739542"/>
            <a:ext cx="2177735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 wish I ___ the piano…</a:t>
            </a:r>
            <a:endParaRPr lang="en-US" sz="1150" dirty="0"/>
          </a:p>
        </p:txBody>
      </p:sp>
      <p:sp>
        <p:nvSpPr>
          <p:cNvPr id="20" name="R6_a5"/>
          <p:cNvSpPr txBox="1"/>
          <p:nvPr/>
        </p:nvSpPr>
        <p:spPr>
          <a:xfrm>
            <a:off x="6868607" y="2776118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learned / learnt to play</a:t>
            </a:r>
            <a:endParaRPr lang="en-US" sz="1150" dirty="0"/>
          </a:p>
        </p:txBody>
      </p:sp>
      <p:sp>
        <p:nvSpPr>
          <p:cNvPr id="21" name="box_85"/>
          <p:cNvSpPr txBox="1"/>
          <p:nvPr/>
        </p:nvSpPr>
        <p:spPr>
          <a:xfrm>
            <a:off x="320040" y="3423514"/>
            <a:ext cx="2177735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 wish ___ your dirty clothes on the floor.</a:t>
            </a:r>
            <a:endParaRPr lang="en-US" sz="1150" dirty="0"/>
          </a:p>
        </p:txBody>
      </p:sp>
      <p:sp>
        <p:nvSpPr>
          <p:cNvPr id="22" name="R7_a6"/>
          <p:cNvSpPr txBox="1"/>
          <p:nvPr/>
        </p:nvSpPr>
        <p:spPr>
          <a:xfrm>
            <a:off x="2552639" y="3460090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wouldn't leave</a:t>
            </a:r>
            <a:endParaRPr lang="en-US" sz="1150" dirty="0"/>
          </a:p>
        </p:txBody>
      </p:sp>
      <p:sp>
        <p:nvSpPr>
          <p:cNvPr id="23" name="box_86"/>
          <p:cNvSpPr txBox="1"/>
          <p:nvPr/>
        </p:nvSpPr>
        <p:spPr>
          <a:xfrm>
            <a:off x="4636008" y="3423514"/>
            <a:ext cx="217773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 still can't get ___ on the left.</a:t>
            </a:r>
            <a:endParaRPr lang="en-US" sz="1150" dirty="0"/>
          </a:p>
        </p:txBody>
      </p:sp>
      <p:sp>
        <p:nvSpPr>
          <p:cNvPr id="24" name="R8_a7"/>
          <p:cNvSpPr txBox="1"/>
          <p:nvPr/>
        </p:nvSpPr>
        <p:spPr>
          <a:xfrm>
            <a:off x="6868607" y="3460090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driving</a:t>
            </a:r>
            <a:endParaRPr lang="en-US" sz="1150" dirty="0"/>
          </a:p>
        </p:txBody>
      </p:sp>
      <p:sp>
        <p:nvSpPr>
          <p:cNvPr id="25" name="box_87"/>
          <p:cNvSpPr txBox="1"/>
          <p:nvPr/>
        </p:nvSpPr>
        <p:spPr>
          <a:xfrm>
            <a:off x="320040" y="4107485"/>
            <a:ext cx="2177735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When I was a child, I used ___ very long hair.</a:t>
            </a:r>
            <a:endParaRPr lang="en-US" sz="1150" dirty="0"/>
          </a:p>
        </p:txBody>
      </p:sp>
      <p:sp>
        <p:nvSpPr>
          <p:cNvPr id="26" name="R9_a8"/>
          <p:cNvSpPr txBox="1"/>
          <p:nvPr/>
        </p:nvSpPr>
        <p:spPr>
          <a:xfrm>
            <a:off x="2552639" y="4144061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</a:t>
            </a:r>
            <a:endParaRPr lang="en-US" sz="1150" dirty="0"/>
          </a:p>
        </p:txBody>
      </p:sp>
      <p:sp>
        <p:nvSpPr>
          <p:cNvPr id="27" name="box_88"/>
          <p:cNvSpPr txBox="1"/>
          <p:nvPr/>
        </p:nvSpPr>
        <p:spPr>
          <a:xfrm>
            <a:off x="4636008" y="4107485"/>
            <a:ext cx="217773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I'm used ___ very early.</a:t>
            </a:r>
            <a:endParaRPr lang="en-US" sz="1150" dirty="0"/>
          </a:p>
        </p:txBody>
      </p:sp>
      <p:sp>
        <p:nvSpPr>
          <p:cNvPr id="28" name="R10_a9"/>
          <p:cNvSpPr txBox="1"/>
          <p:nvPr/>
        </p:nvSpPr>
        <p:spPr>
          <a:xfrm>
            <a:off x="6868607" y="4144061"/>
            <a:ext cx="1955353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getting up</a:t>
            </a:r>
            <a:endParaRPr lang="en-US" sz="1150" dirty="0"/>
          </a:p>
        </p:txBody>
      </p:sp>
      <p:sp>
        <p:nvSpPr>
          <p:cNvPr id="29" name="pageTag_8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p.64 · Grammar 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9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SB p.64 b · Quickfire</a:t>
            </a:r>
            <a:endParaRPr lang="en-US" sz="900" dirty="0"/>
          </a:p>
        </p:txBody>
      </p:sp>
      <p:sp>
        <p:nvSpPr>
          <p:cNvPr id="6" name="timer_9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9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95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Quickfire: -ing or to?</a:t>
            </a:r>
            <a:endParaRPr lang="en-US" sz="1500" dirty="0"/>
          </a:p>
        </p:txBody>
      </p:sp>
      <p:sp>
        <p:nvSpPr>
          <p:cNvPr id="9" name="post_9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9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9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team to shout the right form wins!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squadra che grida la forma giusta vince!</a:t>
            </a:r>
            <a:endParaRPr lang="en-US" sz="1250" dirty="0"/>
          </a:p>
        </p:txBody>
      </p:sp>
      <p:sp>
        <p:nvSpPr>
          <p:cNvPr id="12" name="iconBack_9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00" descr="pi:PiLight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01"/>
          <p:cNvSpPr txBox="1"/>
          <p:nvPr/>
        </p:nvSpPr>
        <p:spPr>
          <a:xfrm>
            <a:off x="2788920" y="1371600"/>
            <a:ext cx="3983126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don't remember ___ you before. (meet)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6826910" y="1408176"/>
            <a:ext cx="199705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300" dirty="0"/>
          </a:p>
        </p:txBody>
      </p:sp>
      <p:sp>
        <p:nvSpPr>
          <p:cNvPr id="16" name="box_102"/>
          <p:cNvSpPr txBox="1"/>
          <p:nvPr/>
        </p:nvSpPr>
        <p:spPr>
          <a:xfrm>
            <a:off x="2788920" y="2055571"/>
            <a:ext cx="3983126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My hair needs ___. I'm going to the hairdresser's. (cut)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6826910" y="2092147"/>
            <a:ext cx="199705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300" dirty="0"/>
          </a:p>
        </p:txBody>
      </p:sp>
      <p:sp>
        <p:nvSpPr>
          <p:cNvPr id="18" name="box_103"/>
          <p:cNvSpPr txBox="1"/>
          <p:nvPr/>
        </p:nvSpPr>
        <p:spPr>
          <a:xfrm>
            <a:off x="2788920" y="2739542"/>
            <a:ext cx="3983126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 managed ___ to the airport on time. (get)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6826910" y="2776118"/>
            <a:ext cx="199705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</a:t>
            </a:r>
            <a:endParaRPr lang="en-US" sz="1300" dirty="0"/>
          </a:p>
        </p:txBody>
      </p:sp>
      <p:sp>
        <p:nvSpPr>
          <p:cNvPr id="20" name="box_104"/>
          <p:cNvSpPr txBox="1"/>
          <p:nvPr/>
        </p:nvSpPr>
        <p:spPr>
          <a:xfrm>
            <a:off x="2788920" y="3423514"/>
            <a:ext cx="3983126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Please try ___ late tomorrow. (not be)</a:t>
            </a:r>
            <a:endParaRPr lang="en-US" sz="1300" dirty="0"/>
          </a:p>
        </p:txBody>
      </p:sp>
      <p:sp>
        <p:nvSpPr>
          <p:cNvPr id="21" name="R4_a3"/>
          <p:cNvSpPr txBox="1"/>
          <p:nvPr/>
        </p:nvSpPr>
        <p:spPr>
          <a:xfrm>
            <a:off x="6826910" y="3460090"/>
            <a:ext cx="199705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be</a:t>
            </a:r>
            <a:endParaRPr lang="en-US" sz="1300" dirty="0"/>
          </a:p>
        </p:txBody>
      </p:sp>
      <p:sp>
        <p:nvSpPr>
          <p:cNvPr id="22" name="box_105"/>
          <p:cNvSpPr txBox="1"/>
          <p:nvPr/>
        </p:nvSpPr>
        <p:spPr>
          <a:xfrm>
            <a:off x="2788920" y="4107485"/>
            <a:ext cx="3983126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My sister isn't used to ___ in such a big company. (work)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6826910" y="4144061"/>
            <a:ext cx="199705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300" dirty="0"/>
          </a:p>
        </p:txBody>
      </p:sp>
      <p:sp>
        <p:nvSpPr>
          <p:cNvPr id="24" name="pageTag_10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p.64 · Grammar b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0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Error hunt</a:t>
            </a:r>
            <a:endParaRPr lang="en-US" sz="900" dirty="0"/>
          </a:p>
        </p:txBody>
      </p:sp>
      <p:sp>
        <p:nvSpPr>
          <p:cNvPr id="6" name="timer_11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1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112"/>
          <p:cNvSpPr txBox="1"/>
          <p:nvPr/>
        </p:nvSpPr>
        <p:spPr>
          <a:xfrm rot="-120000">
            <a:off x="320040" y="676656"/>
            <a:ext cx="536752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hunt: one mistake each</a:t>
            </a:r>
            <a:endParaRPr lang="en-US" sz="1500" dirty="0"/>
          </a:p>
        </p:txBody>
      </p:sp>
      <p:sp>
        <p:nvSpPr>
          <p:cNvPr id="9" name="post_11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1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mistake. Explain WHY it's wrong.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l'errore. Spiega PERCHÉ è sbagliato.</a:t>
            </a:r>
            <a:endParaRPr lang="en-US" sz="1250" dirty="0"/>
          </a:p>
        </p:txBody>
      </p:sp>
      <p:sp>
        <p:nvSpPr>
          <p:cNvPr id="12" name="iconBack_11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17" descr="pi:PiB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18"/>
          <p:cNvSpPr txBox="1"/>
          <p:nvPr/>
        </p:nvSpPr>
        <p:spPr>
          <a:xfrm>
            <a:off x="2788920" y="1371600"/>
            <a:ext cx="3379622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I'm really exciting about the concert tonight.</a:t>
            </a:r>
            <a:endParaRPr lang="en-US" sz="1150" dirty="0"/>
          </a:p>
        </p:txBody>
      </p:sp>
      <p:sp>
        <p:nvSpPr>
          <p:cNvPr id="15" name="R1_a0"/>
          <p:cNvSpPr txBox="1"/>
          <p:nvPr/>
        </p:nvSpPr>
        <p:spPr>
          <a:xfrm>
            <a:off x="6223406" y="1408176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(how I feel)</a:t>
            </a:r>
            <a:endParaRPr lang="en-US" sz="1200" dirty="0"/>
          </a:p>
        </p:txBody>
      </p:sp>
      <p:sp>
        <p:nvSpPr>
          <p:cNvPr id="16" name="box_119"/>
          <p:cNvSpPr txBox="1"/>
          <p:nvPr/>
        </p:nvSpPr>
        <p:spPr>
          <a:xfrm>
            <a:off x="2788920" y="1941576"/>
            <a:ext cx="3379622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If I wouldn't be so tired, I'd come with you.</a:t>
            </a:r>
            <a:endParaRPr lang="en-US" sz="1250" dirty="0"/>
          </a:p>
        </p:txBody>
      </p:sp>
      <p:sp>
        <p:nvSpPr>
          <p:cNvPr id="17" name="R2_a1"/>
          <p:cNvSpPr txBox="1"/>
          <p:nvPr/>
        </p:nvSpPr>
        <p:spPr>
          <a:xfrm>
            <a:off x="6223406" y="1978152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weren't / wasn't</a:t>
            </a:r>
            <a:endParaRPr lang="en-US" sz="1200" dirty="0"/>
          </a:p>
        </p:txBody>
      </p:sp>
      <p:sp>
        <p:nvSpPr>
          <p:cNvPr id="18" name="box_120"/>
          <p:cNvSpPr txBox="1"/>
          <p:nvPr/>
        </p:nvSpPr>
        <p:spPr>
          <a:xfrm>
            <a:off x="2788920" y="2511552"/>
            <a:ext cx="3379622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wish I didn't eat so much last night.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6223406" y="2548128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hadn't eaten (past regret)</a:t>
            </a:r>
            <a:endParaRPr lang="en-US" sz="1200" dirty="0"/>
          </a:p>
        </p:txBody>
      </p:sp>
      <p:sp>
        <p:nvSpPr>
          <p:cNvPr id="20" name="box_121"/>
          <p:cNvSpPr txBox="1"/>
          <p:nvPr/>
        </p:nvSpPr>
        <p:spPr>
          <a:xfrm>
            <a:off x="2788920" y="3081528"/>
            <a:ext cx="3379622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Remember locking the door when you leave!</a:t>
            </a:r>
            <a:endParaRPr lang="en-US" sz="1150" dirty="0"/>
          </a:p>
        </p:txBody>
      </p:sp>
      <p:sp>
        <p:nvSpPr>
          <p:cNvPr id="21" name="R4_a3"/>
          <p:cNvSpPr txBox="1"/>
          <p:nvPr/>
        </p:nvSpPr>
        <p:spPr>
          <a:xfrm>
            <a:off x="6223406" y="3118104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lock (a task)</a:t>
            </a:r>
            <a:endParaRPr lang="en-US" sz="1200" dirty="0"/>
          </a:p>
        </p:txBody>
      </p:sp>
      <p:sp>
        <p:nvSpPr>
          <p:cNvPr id="22" name="box_122"/>
          <p:cNvSpPr txBox="1"/>
          <p:nvPr/>
        </p:nvSpPr>
        <p:spPr>
          <a:xfrm>
            <a:off x="2788920" y="3651504"/>
            <a:ext cx="3379622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I'm interested to learn the drums.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6223406" y="3688080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learning</a:t>
            </a:r>
            <a:endParaRPr lang="en-US" sz="1200" dirty="0"/>
          </a:p>
        </p:txBody>
      </p:sp>
      <p:sp>
        <p:nvSpPr>
          <p:cNvPr id="24" name="box_123"/>
          <p:cNvSpPr txBox="1"/>
          <p:nvPr/>
        </p:nvSpPr>
        <p:spPr>
          <a:xfrm>
            <a:off x="2788920" y="4221480"/>
            <a:ext cx="3379622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When I was young I would be very shy.</a:t>
            </a:r>
            <a:endParaRPr lang="en-US" sz="1300" dirty="0"/>
          </a:p>
        </p:txBody>
      </p:sp>
      <p:sp>
        <p:nvSpPr>
          <p:cNvPr id="25" name="R6_a5"/>
          <p:cNvSpPr txBox="1"/>
          <p:nvPr/>
        </p:nvSpPr>
        <p:spPr>
          <a:xfrm>
            <a:off x="6223406" y="4258056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be (state)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2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SB p.64 a–c · Feelings &amp; sleep</a:t>
            </a:r>
            <a:endParaRPr lang="en-US" sz="900" dirty="0"/>
          </a:p>
        </p:txBody>
      </p:sp>
      <p:sp>
        <p:nvSpPr>
          <p:cNvPr id="6" name="timer_12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2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129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 they feel?</a:t>
            </a:r>
            <a:endParaRPr lang="en-US" sz="1500" dirty="0"/>
          </a:p>
        </p:txBody>
      </p:sp>
      <p:sp>
        <p:nvSpPr>
          <p:cNvPr id="9" name="box_130"/>
          <p:cNvSpPr txBox="1"/>
          <p:nvPr/>
        </p:nvSpPr>
        <p:spPr>
          <a:xfrm>
            <a:off x="320040" y="1371600"/>
            <a:ext cx="25965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Our son played brilliantly! We felt very pr___.</a:t>
            </a:r>
            <a:endParaRPr lang="en-US" sz="1150" dirty="0"/>
          </a:p>
        </p:txBody>
      </p:sp>
      <p:sp>
        <p:nvSpPr>
          <p:cNvPr id="10" name="R1_a0"/>
          <p:cNvSpPr txBox="1"/>
          <p:nvPr/>
        </p:nvSpPr>
        <p:spPr>
          <a:xfrm>
            <a:off x="2971434" y="1408176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</a:t>
            </a:r>
            <a:endParaRPr lang="en-US" sz="1200" dirty="0"/>
          </a:p>
        </p:txBody>
      </p:sp>
      <p:sp>
        <p:nvSpPr>
          <p:cNvPr id="11" name="box_131"/>
          <p:cNvSpPr txBox="1"/>
          <p:nvPr/>
        </p:nvSpPr>
        <p:spPr>
          <a:xfrm>
            <a:off x="4636008" y="1371600"/>
            <a:ext cx="25965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I'm a bit h___. I really miss my family.</a:t>
            </a:r>
            <a:endParaRPr lang="en-US" sz="1150" dirty="0"/>
          </a:p>
        </p:txBody>
      </p:sp>
      <p:sp>
        <p:nvSpPr>
          <p:cNvPr id="12" name="R2_a1"/>
          <p:cNvSpPr txBox="1"/>
          <p:nvPr/>
        </p:nvSpPr>
        <p:spPr>
          <a:xfrm>
            <a:off x="7287402" y="1408176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homesick</a:t>
            </a:r>
            <a:endParaRPr lang="en-US" sz="1200" dirty="0"/>
          </a:p>
        </p:txBody>
      </p:sp>
      <p:sp>
        <p:nvSpPr>
          <p:cNvPr id="13" name="box_132"/>
          <p:cNvSpPr txBox="1"/>
          <p:nvPr/>
        </p:nvSpPr>
        <p:spPr>
          <a:xfrm>
            <a:off x="320040" y="2055571"/>
            <a:ext cx="25965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Thanks for lending me the money. I'm very gr___.</a:t>
            </a:r>
            <a:endParaRPr lang="en-US" sz="1150" dirty="0"/>
          </a:p>
        </p:txBody>
      </p:sp>
      <p:sp>
        <p:nvSpPr>
          <p:cNvPr id="14" name="R3_a2"/>
          <p:cNvSpPr txBox="1"/>
          <p:nvPr/>
        </p:nvSpPr>
        <p:spPr>
          <a:xfrm>
            <a:off x="2971434" y="2092147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</a:t>
            </a:r>
            <a:endParaRPr lang="en-US" sz="1200" dirty="0"/>
          </a:p>
        </p:txBody>
      </p:sp>
      <p:sp>
        <p:nvSpPr>
          <p:cNvPr id="15" name="box_133"/>
          <p:cNvSpPr txBox="1"/>
          <p:nvPr/>
        </p:nvSpPr>
        <p:spPr>
          <a:xfrm>
            <a:off x="4636008" y="2055571"/>
            <a:ext cx="25965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shouldn't have bought that bag. I feel g___.</a:t>
            </a:r>
            <a:endParaRPr lang="en-US" sz="1150" dirty="0"/>
          </a:p>
        </p:txBody>
      </p:sp>
      <p:sp>
        <p:nvSpPr>
          <p:cNvPr id="16" name="R4_a3"/>
          <p:cNvSpPr txBox="1"/>
          <p:nvPr/>
        </p:nvSpPr>
        <p:spPr>
          <a:xfrm>
            <a:off x="7287402" y="2092147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guilty</a:t>
            </a:r>
            <a:endParaRPr lang="en-US" sz="1200" dirty="0"/>
          </a:p>
        </p:txBody>
      </p:sp>
      <p:sp>
        <p:nvSpPr>
          <p:cNvPr id="17" name="box_134"/>
          <p:cNvSpPr txBox="1"/>
          <p:nvPr/>
        </p:nvSpPr>
        <p:spPr>
          <a:xfrm>
            <a:off x="320040" y="2739542"/>
            <a:ext cx="25965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 won the prize – I was completely st___.</a:t>
            </a:r>
            <a:endParaRPr lang="en-US" sz="1150" dirty="0"/>
          </a:p>
        </p:txBody>
      </p:sp>
      <p:sp>
        <p:nvSpPr>
          <p:cNvPr id="18" name="R5_a4"/>
          <p:cNvSpPr txBox="1"/>
          <p:nvPr/>
        </p:nvSpPr>
        <p:spPr>
          <a:xfrm>
            <a:off x="2971434" y="2776118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stunned</a:t>
            </a:r>
            <a:endParaRPr lang="en-US" sz="1200" dirty="0"/>
          </a:p>
        </p:txBody>
      </p:sp>
      <p:sp>
        <p:nvSpPr>
          <p:cNvPr id="19" name="box_135"/>
          <p:cNvSpPr txBox="1"/>
          <p:nvPr/>
        </p:nvSpPr>
        <p:spPr>
          <a:xfrm>
            <a:off x="4636008" y="2739542"/>
            <a:ext cx="2596530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That walk was ___. I need a rest. (exhaust)</a:t>
            </a:r>
            <a:endParaRPr lang="en-US" sz="1150" dirty="0"/>
          </a:p>
        </p:txBody>
      </p:sp>
      <p:sp>
        <p:nvSpPr>
          <p:cNvPr id="20" name="R6_a5"/>
          <p:cNvSpPr txBox="1"/>
          <p:nvPr/>
        </p:nvSpPr>
        <p:spPr>
          <a:xfrm>
            <a:off x="7287402" y="2776118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exhausting</a:t>
            </a:r>
            <a:endParaRPr lang="en-US" sz="1200" dirty="0"/>
          </a:p>
        </p:txBody>
      </p:sp>
      <p:sp>
        <p:nvSpPr>
          <p:cNvPr id="21" name="box_136"/>
          <p:cNvSpPr txBox="1"/>
          <p:nvPr/>
        </p:nvSpPr>
        <p:spPr>
          <a:xfrm>
            <a:off x="320040" y="3423514"/>
            <a:ext cx="25965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You really ___ me at the party! (embarrass)</a:t>
            </a:r>
            <a:endParaRPr lang="en-US" sz="1150" dirty="0"/>
          </a:p>
        </p:txBody>
      </p:sp>
      <p:sp>
        <p:nvSpPr>
          <p:cNvPr id="22" name="R7_a6"/>
          <p:cNvSpPr txBox="1"/>
          <p:nvPr/>
        </p:nvSpPr>
        <p:spPr>
          <a:xfrm>
            <a:off x="2971434" y="3460090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embarrassed</a:t>
            </a:r>
            <a:endParaRPr lang="en-US" sz="1200" dirty="0"/>
          </a:p>
        </p:txBody>
      </p:sp>
      <p:sp>
        <p:nvSpPr>
          <p:cNvPr id="23" name="box_137"/>
          <p:cNvSpPr txBox="1"/>
          <p:nvPr/>
        </p:nvSpPr>
        <p:spPr>
          <a:xfrm>
            <a:off x="4636008" y="3423514"/>
            <a:ext cx="25965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It ___ me when strangers use my first name. (annoy)</a:t>
            </a:r>
            <a:endParaRPr lang="en-US" sz="1150" dirty="0"/>
          </a:p>
        </p:txBody>
      </p:sp>
      <p:sp>
        <p:nvSpPr>
          <p:cNvPr id="24" name="R8_a7"/>
          <p:cNvSpPr txBox="1"/>
          <p:nvPr/>
        </p:nvSpPr>
        <p:spPr>
          <a:xfrm>
            <a:off x="7287402" y="3460090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annoys</a:t>
            </a:r>
            <a:endParaRPr lang="en-US" sz="1200" dirty="0"/>
          </a:p>
        </p:txBody>
      </p:sp>
      <p:sp>
        <p:nvSpPr>
          <p:cNvPr id="25" name="box_138"/>
          <p:cNvSpPr txBox="1"/>
          <p:nvPr/>
        </p:nvSpPr>
        <p:spPr>
          <a:xfrm>
            <a:off x="320040" y="4107485"/>
            <a:ext cx="25965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What you said was rather ___. Apologise! (offend)</a:t>
            </a:r>
            <a:endParaRPr lang="en-US" sz="1150" dirty="0"/>
          </a:p>
        </p:txBody>
      </p:sp>
      <p:sp>
        <p:nvSpPr>
          <p:cNvPr id="26" name="R9_a8"/>
          <p:cNvSpPr txBox="1"/>
          <p:nvPr/>
        </p:nvSpPr>
        <p:spPr>
          <a:xfrm>
            <a:off x="2971434" y="4144061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</a:t>
            </a:r>
            <a:endParaRPr lang="en-US" sz="1200" dirty="0"/>
          </a:p>
        </p:txBody>
      </p:sp>
      <p:sp>
        <p:nvSpPr>
          <p:cNvPr id="27" name="box_139"/>
          <p:cNvSpPr txBox="1"/>
          <p:nvPr/>
        </p:nvSpPr>
        <p:spPr>
          <a:xfrm>
            <a:off x="4636008" y="4107485"/>
            <a:ext cx="25965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Could I have an extra p___ for my bed?</a:t>
            </a:r>
            <a:endParaRPr lang="en-US" sz="1150" dirty="0"/>
          </a:p>
        </p:txBody>
      </p:sp>
      <p:sp>
        <p:nvSpPr>
          <p:cNvPr id="28" name="R10_a9"/>
          <p:cNvSpPr txBox="1"/>
          <p:nvPr/>
        </p:nvSpPr>
        <p:spPr>
          <a:xfrm>
            <a:off x="7287402" y="4144061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200" dirty="0"/>
          </a:p>
        </p:txBody>
      </p:sp>
      <p:sp>
        <p:nvSpPr>
          <p:cNvPr id="29" name="pageTag_14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p.64 · Vocabulary a, b, c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4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SB p.65</a:t>
            </a:r>
            <a:endParaRPr lang="en-US" sz="900" dirty="0"/>
          </a:p>
        </p:txBody>
      </p:sp>
      <p:sp>
        <p:nvSpPr>
          <p:cNvPr id="6" name="timer_14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4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146"/>
          <p:cNvSpPr txBox="1"/>
          <p:nvPr/>
        </p:nvSpPr>
        <p:spPr>
          <a:xfrm rot="-120000">
            <a:off x="320040" y="676656"/>
            <a:ext cx="467258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intruders &amp; stress</a:t>
            </a:r>
            <a:endParaRPr lang="en-US" sz="1500" dirty="0"/>
          </a:p>
        </p:txBody>
      </p:sp>
      <p:sp>
        <p:nvSpPr>
          <p:cNvPr id="9" name="box_147"/>
          <p:cNvSpPr txBox="1"/>
          <p:nvPr/>
        </p:nvSpPr>
        <p:spPr>
          <a:xfrm>
            <a:off x="320040" y="1371600"/>
            <a:ext cx="259653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/iː/ sleepy · delighted · relieved · keyboard</a:t>
            </a:r>
            <a:endParaRPr lang="en-US" sz="1200" dirty="0"/>
          </a:p>
        </p:txBody>
      </p:sp>
      <p:sp>
        <p:nvSpPr>
          <p:cNvPr id="10" name="R1_a0"/>
          <p:cNvSpPr txBox="1"/>
          <p:nvPr/>
        </p:nvSpPr>
        <p:spPr>
          <a:xfrm>
            <a:off x="2971434" y="1408176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delighted</a:t>
            </a:r>
            <a:endParaRPr lang="en-US" sz="1200" dirty="0"/>
          </a:p>
        </p:txBody>
      </p:sp>
      <p:sp>
        <p:nvSpPr>
          <p:cNvPr id="11" name="box_148"/>
          <p:cNvSpPr txBox="1"/>
          <p:nvPr/>
        </p:nvSpPr>
        <p:spPr>
          <a:xfrm>
            <a:off x="4636008" y="1371600"/>
            <a:ext cx="259653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/ɑː/ alarm · yawn · soprano · guitar</a:t>
            </a:r>
            <a:endParaRPr lang="en-US" sz="1200" dirty="0"/>
          </a:p>
        </p:txBody>
      </p:sp>
      <p:sp>
        <p:nvSpPr>
          <p:cNvPr id="12" name="R2_a1"/>
          <p:cNvSpPr txBox="1"/>
          <p:nvPr/>
        </p:nvSpPr>
        <p:spPr>
          <a:xfrm>
            <a:off x="7287402" y="1408176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</a:t>
            </a:r>
            <a:endParaRPr lang="en-US" sz="1200" dirty="0"/>
          </a:p>
        </p:txBody>
      </p:sp>
      <p:sp>
        <p:nvSpPr>
          <p:cNvPr id="13" name="box_149"/>
          <p:cNvSpPr txBox="1"/>
          <p:nvPr/>
        </p:nvSpPr>
        <p:spPr>
          <a:xfrm>
            <a:off x="320040" y="2226564"/>
            <a:ext cx="2596530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/s/ loose · place · eyes · course</a:t>
            </a:r>
            <a:endParaRPr lang="en-US" sz="1200" dirty="0"/>
          </a:p>
        </p:txBody>
      </p:sp>
      <p:sp>
        <p:nvSpPr>
          <p:cNvPr id="14" name="R3_a2"/>
          <p:cNvSpPr txBox="1"/>
          <p:nvPr/>
        </p:nvSpPr>
        <p:spPr>
          <a:xfrm>
            <a:off x="2971434" y="2263140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200" dirty="0"/>
          </a:p>
        </p:txBody>
      </p:sp>
      <p:sp>
        <p:nvSpPr>
          <p:cNvPr id="15" name="box_150"/>
          <p:cNvSpPr txBox="1"/>
          <p:nvPr/>
        </p:nvSpPr>
        <p:spPr>
          <a:xfrm>
            <a:off x="4636008" y="2226564"/>
            <a:ext cx="2596530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/z/ raise · miserable · lose · homesick</a:t>
            </a:r>
            <a:endParaRPr lang="en-US" sz="1200" dirty="0"/>
          </a:p>
        </p:txBody>
      </p:sp>
      <p:sp>
        <p:nvSpPr>
          <p:cNvPr id="16" name="R4_a3"/>
          <p:cNvSpPr txBox="1"/>
          <p:nvPr/>
        </p:nvSpPr>
        <p:spPr>
          <a:xfrm>
            <a:off x="7287402" y="2263140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homesick</a:t>
            </a:r>
            <a:endParaRPr lang="en-US" sz="1200" dirty="0"/>
          </a:p>
        </p:txBody>
      </p:sp>
      <p:sp>
        <p:nvSpPr>
          <p:cNvPr id="17" name="box_151"/>
          <p:cNvSpPr txBox="1"/>
          <p:nvPr/>
        </p:nvSpPr>
        <p:spPr>
          <a:xfrm>
            <a:off x="320040" y="3081528"/>
            <a:ext cx="2596530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/k/ orchestra · chorus · psychology · chic</a:t>
            </a:r>
            <a:endParaRPr lang="en-US" sz="1200" dirty="0"/>
          </a:p>
        </p:txBody>
      </p:sp>
      <p:sp>
        <p:nvSpPr>
          <p:cNvPr id="18" name="R5_a4"/>
          <p:cNvSpPr txBox="1"/>
          <p:nvPr/>
        </p:nvSpPr>
        <p:spPr>
          <a:xfrm>
            <a:off x="2971434" y="3118104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</a:t>
            </a:r>
            <a:endParaRPr lang="en-US" sz="1200" dirty="0"/>
          </a:p>
        </p:txBody>
      </p:sp>
      <p:sp>
        <p:nvSpPr>
          <p:cNvPr id="19" name="box_152"/>
          <p:cNvSpPr txBox="1"/>
          <p:nvPr/>
        </p:nvSpPr>
        <p:spPr>
          <a:xfrm>
            <a:off x="4636008" y="3081528"/>
            <a:ext cx="2596530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absolutely · devastated · infuriating</a:t>
            </a:r>
            <a:endParaRPr lang="en-US" sz="1200" dirty="0"/>
          </a:p>
        </p:txBody>
      </p:sp>
      <p:sp>
        <p:nvSpPr>
          <p:cNvPr id="20" name="R6_a5"/>
          <p:cNvSpPr txBox="1"/>
          <p:nvPr/>
        </p:nvSpPr>
        <p:spPr>
          <a:xfrm>
            <a:off x="7287402" y="3118104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absoLUTEly · DEvastated · inFUriating</a:t>
            </a:r>
            <a:endParaRPr lang="en-US" sz="1200" dirty="0"/>
          </a:p>
        </p:txBody>
      </p:sp>
      <p:sp>
        <p:nvSpPr>
          <p:cNvPr id="21" name="box_153"/>
          <p:cNvSpPr txBox="1"/>
          <p:nvPr/>
        </p:nvSpPr>
        <p:spPr>
          <a:xfrm>
            <a:off x="320040" y="3936492"/>
            <a:ext cx="259653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insomnia · sleepwalk</a:t>
            </a:r>
            <a:endParaRPr lang="en-US" sz="1200" dirty="0"/>
          </a:p>
        </p:txBody>
      </p:sp>
      <p:sp>
        <p:nvSpPr>
          <p:cNvPr id="22" name="R7_a6"/>
          <p:cNvSpPr txBox="1"/>
          <p:nvPr/>
        </p:nvSpPr>
        <p:spPr>
          <a:xfrm>
            <a:off x="2971434" y="3973068"/>
            <a:ext cx="153655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· SLEEPwalk</a:t>
            </a:r>
            <a:endParaRPr lang="en-US" sz="1200" dirty="0"/>
          </a:p>
        </p:txBody>
      </p:sp>
      <p:sp>
        <p:nvSpPr>
          <p:cNvPr id="23" name="pageTag_15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p.65 · Pronunciation a–b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5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SB p.65 · Can you understand this text?</a:t>
            </a:r>
            <a:endParaRPr lang="en-US" sz="900" dirty="0"/>
          </a:p>
        </p:txBody>
      </p:sp>
      <p:sp>
        <p:nvSpPr>
          <p:cNvPr id="6" name="timer_15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5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16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Music to sleep better</a:t>
            </a:r>
            <a:endParaRPr lang="en-US" sz="1500" dirty="0"/>
          </a:p>
        </p:txBody>
      </p:sp>
      <p:sp>
        <p:nvSpPr>
          <p:cNvPr id="9" name="box_161"/>
          <p:cNvSpPr txBox="1"/>
          <p:nvPr/>
        </p:nvSpPr>
        <p:spPr>
          <a:xfrm>
            <a:off x="320040" y="1371600"/>
            <a:ext cx="25965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Which music before sleep?</a:t>
            </a:r>
            <a:endParaRPr lang="en-US" sz="1200" dirty="0"/>
          </a:p>
        </p:txBody>
      </p:sp>
      <p:sp>
        <p:nvSpPr>
          <p:cNvPr id="10" name="R1_a0"/>
          <p:cNvSpPr txBox="1"/>
          <p:nvPr/>
        </p:nvSpPr>
        <p:spPr>
          <a:xfrm>
            <a:off x="2971434" y="1408176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calm, no lyrics</a:t>
            </a:r>
            <a:endParaRPr lang="en-US" sz="1200" dirty="0"/>
          </a:p>
        </p:txBody>
      </p:sp>
      <p:sp>
        <p:nvSpPr>
          <p:cNvPr id="11" name="box_162"/>
          <p:cNvSpPr txBox="1"/>
          <p:nvPr/>
        </p:nvSpPr>
        <p:spPr>
          <a:xfrm>
            <a:off x="4636008" y="1371600"/>
            <a:ext cx="25965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after / while / between</a:t>
            </a:r>
            <a:endParaRPr lang="en-US" sz="1200" dirty="0"/>
          </a:p>
        </p:txBody>
      </p:sp>
      <p:sp>
        <p:nvSpPr>
          <p:cNvPr id="12" name="R2_a1"/>
          <p:cNvSpPr txBox="1"/>
          <p:nvPr/>
        </p:nvSpPr>
        <p:spPr>
          <a:xfrm>
            <a:off x="7287402" y="1408176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200" dirty="0"/>
          </a:p>
        </p:txBody>
      </p:sp>
      <p:sp>
        <p:nvSpPr>
          <p:cNvPr id="13" name="box_163"/>
          <p:cNvSpPr txBox="1"/>
          <p:nvPr/>
        </p:nvSpPr>
        <p:spPr>
          <a:xfrm>
            <a:off x="320040" y="2055571"/>
            <a:ext cx="25965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effective / affectionate / harmful</a:t>
            </a:r>
            <a:endParaRPr lang="en-US" sz="1200" dirty="0"/>
          </a:p>
        </p:txBody>
      </p:sp>
      <p:sp>
        <p:nvSpPr>
          <p:cNvPr id="14" name="R3_a2"/>
          <p:cNvSpPr txBox="1"/>
          <p:nvPr/>
        </p:nvSpPr>
        <p:spPr>
          <a:xfrm>
            <a:off x="2971434" y="2092147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200" dirty="0"/>
          </a:p>
        </p:txBody>
      </p:sp>
      <p:sp>
        <p:nvSpPr>
          <p:cNvPr id="15" name="box_164"/>
          <p:cNvSpPr txBox="1"/>
          <p:nvPr/>
        </p:nvSpPr>
        <p:spPr>
          <a:xfrm>
            <a:off x="4636008" y="2055571"/>
            <a:ext cx="25965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/ relaxed / alert</a:t>
            </a:r>
            <a:endParaRPr lang="en-US" sz="1200" dirty="0"/>
          </a:p>
        </p:txBody>
      </p:sp>
      <p:sp>
        <p:nvSpPr>
          <p:cNvPr id="16" name="R4_a3"/>
          <p:cNvSpPr txBox="1"/>
          <p:nvPr/>
        </p:nvSpPr>
        <p:spPr>
          <a:xfrm>
            <a:off x="7287402" y="2092147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7" name="box_165"/>
          <p:cNvSpPr txBox="1"/>
          <p:nvPr/>
        </p:nvSpPr>
        <p:spPr>
          <a:xfrm>
            <a:off x="320040" y="2739542"/>
            <a:ext cx="25965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adjust / increase / stop</a:t>
            </a:r>
            <a:endParaRPr lang="en-US" sz="1200" dirty="0"/>
          </a:p>
        </p:txBody>
      </p:sp>
      <p:sp>
        <p:nvSpPr>
          <p:cNvPr id="18" name="R5_a4"/>
          <p:cNvSpPr txBox="1"/>
          <p:nvPr/>
        </p:nvSpPr>
        <p:spPr>
          <a:xfrm>
            <a:off x="2971434" y="2776118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</a:t>
            </a:r>
            <a:endParaRPr lang="en-US" sz="1200" dirty="0"/>
          </a:p>
        </p:txBody>
      </p:sp>
      <p:sp>
        <p:nvSpPr>
          <p:cNvPr id="19" name="box_166"/>
          <p:cNvSpPr txBox="1"/>
          <p:nvPr/>
        </p:nvSpPr>
        <p:spPr>
          <a:xfrm>
            <a:off x="4636008" y="2739542"/>
            <a:ext cx="2596530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pride / excitement / boredom</a:t>
            </a:r>
            <a:endParaRPr lang="en-US" sz="1200" dirty="0"/>
          </a:p>
        </p:txBody>
      </p:sp>
      <p:sp>
        <p:nvSpPr>
          <p:cNvPr id="20" name="R6_a5"/>
          <p:cNvSpPr txBox="1"/>
          <p:nvPr/>
        </p:nvSpPr>
        <p:spPr>
          <a:xfrm>
            <a:off x="7287402" y="2776118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excitement</a:t>
            </a:r>
            <a:endParaRPr lang="en-US" sz="1200" dirty="0"/>
          </a:p>
        </p:txBody>
      </p:sp>
      <p:sp>
        <p:nvSpPr>
          <p:cNvPr id="21" name="box_167"/>
          <p:cNvSpPr txBox="1"/>
          <p:nvPr/>
        </p:nvSpPr>
        <p:spPr>
          <a:xfrm>
            <a:off x="320040" y="3423514"/>
            <a:ext cx="25965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advise / forbid / order</a:t>
            </a:r>
            <a:endParaRPr lang="en-US" sz="1200" dirty="0"/>
          </a:p>
        </p:txBody>
      </p:sp>
      <p:sp>
        <p:nvSpPr>
          <p:cNvPr id="22" name="R7_a6"/>
          <p:cNvSpPr txBox="1"/>
          <p:nvPr/>
        </p:nvSpPr>
        <p:spPr>
          <a:xfrm>
            <a:off x="2971434" y="3460090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200" dirty="0"/>
          </a:p>
        </p:txBody>
      </p:sp>
      <p:sp>
        <p:nvSpPr>
          <p:cNvPr id="23" name="box_168"/>
          <p:cNvSpPr txBox="1"/>
          <p:nvPr/>
        </p:nvSpPr>
        <p:spPr>
          <a:xfrm>
            <a:off x="4636008" y="3423514"/>
            <a:ext cx="25965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last / first / next</a:t>
            </a:r>
            <a:endParaRPr lang="en-US" sz="1200" dirty="0"/>
          </a:p>
        </p:txBody>
      </p:sp>
      <p:sp>
        <p:nvSpPr>
          <p:cNvPr id="24" name="R8_a7"/>
          <p:cNvSpPr txBox="1"/>
          <p:nvPr/>
        </p:nvSpPr>
        <p:spPr>
          <a:xfrm>
            <a:off x="7287402" y="3460090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200" dirty="0"/>
          </a:p>
        </p:txBody>
      </p:sp>
      <p:sp>
        <p:nvSpPr>
          <p:cNvPr id="25" name="box_169"/>
          <p:cNvSpPr txBox="1"/>
          <p:nvPr/>
        </p:nvSpPr>
        <p:spPr>
          <a:xfrm>
            <a:off x="320040" y="4107485"/>
            <a:ext cx="25965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possibly / likely / probably</a:t>
            </a:r>
            <a:endParaRPr lang="en-US" sz="1200" dirty="0"/>
          </a:p>
        </p:txBody>
      </p:sp>
      <p:sp>
        <p:nvSpPr>
          <p:cNvPr id="26" name="R9_a8"/>
          <p:cNvSpPr txBox="1"/>
          <p:nvPr/>
        </p:nvSpPr>
        <p:spPr>
          <a:xfrm>
            <a:off x="2971434" y="4144061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1200" dirty="0"/>
          </a:p>
        </p:txBody>
      </p:sp>
      <p:sp>
        <p:nvSpPr>
          <p:cNvPr id="27" name="box_170"/>
          <p:cNvSpPr txBox="1"/>
          <p:nvPr/>
        </p:nvSpPr>
        <p:spPr>
          <a:xfrm>
            <a:off x="4636008" y="4107485"/>
            <a:ext cx="25965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deeper / comfortable / uncomfortable · 10 as / because / if</a:t>
            </a:r>
            <a:endParaRPr lang="en-US" sz="1150" dirty="0"/>
          </a:p>
        </p:txBody>
      </p:sp>
      <p:sp>
        <p:nvSpPr>
          <p:cNvPr id="28" name="R10_a9"/>
          <p:cNvSpPr txBox="1"/>
          <p:nvPr/>
        </p:nvSpPr>
        <p:spPr>
          <a:xfrm>
            <a:off x="7287402" y="4144061"/>
            <a:ext cx="1536558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 · if</a:t>
            </a:r>
            <a:endParaRPr lang="en-US" sz="1200" dirty="0"/>
          </a:p>
        </p:txBody>
      </p:sp>
      <p:sp>
        <p:nvSpPr>
          <p:cNvPr id="29" name="pageTag_17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p.65 · Can you understand this text? a–b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7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SB p.65 · Can you understand these people?</a:t>
            </a:r>
            <a:endParaRPr lang="en-US" sz="900" dirty="0"/>
          </a:p>
        </p:txBody>
      </p:sp>
      <p:sp>
        <p:nvSpPr>
          <p:cNvPr id="6" name="timer_17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7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title_177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people, four answers</a:t>
            </a:r>
            <a:endParaRPr lang="en-US" sz="1500" dirty="0"/>
          </a:p>
        </p:txBody>
      </p:sp>
      <p:sp>
        <p:nvSpPr>
          <p:cNvPr id="9" name="post_17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7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8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first! Then listen: a, b or c?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prevedi! Poi ascolta: a, b o c?</a:t>
            </a:r>
            <a:endParaRPr lang="en-US" sz="1250" dirty="0"/>
          </a:p>
        </p:txBody>
      </p:sp>
      <p:sp>
        <p:nvSpPr>
          <p:cNvPr id="12" name="tr_181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6.20</a:t>
            </a:r>
            <a:endParaRPr lang="en-US" sz="1400" dirty="0"/>
          </a:p>
        </p:txBody>
      </p:sp>
      <p:sp>
        <p:nvSpPr>
          <p:cNvPr id="13" name="box_182"/>
          <p:cNvSpPr txBox="1"/>
          <p:nvPr/>
        </p:nvSpPr>
        <p:spPr>
          <a:xfrm>
            <a:off x="2788920" y="2103120"/>
            <a:ext cx="6035040" cy="5669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Christopher alone on a desert island: what does he think?</a:t>
            </a:r>
            <a:endParaRPr lang="en-US" sz="1250" dirty="0"/>
          </a:p>
        </p:txBody>
      </p:sp>
      <p:sp>
        <p:nvSpPr>
          <p:cNvPr id="14" name="box_183"/>
          <p:cNvSpPr txBox="1"/>
          <p:nvPr/>
        </p:nvSpPr>
        <p:spPr>
          <a:xfrm>
            <a:off x="2788920" y="2743200"/>
            <a:ext cx="6035040" cy="5669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does Lemuel find annoying?</a:t>
            </a:r>
            <a:endParaRPr lang="en-US" sz="1250" dirty="0"/>
          </a:p>
        </p:txBody>
      </p:sp>
      <p:sp>
        <p:nvSpPr>
          <p:cNvPr id="15" name="box_184"/>
          <p:cNvSpPr txBox="1"/>
          <p:nvPr/>
        </p:nvSpPr>
        <p:spPr>
          <a:xfrm>
            <a:off x="2788920" y="3383280"/>
            <a:ext cx="6035040" cy="5669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When does Mary sometimes have problems sleeping?</a:t>
            </a:r>
            <a:endParaRPr lang="en-US" sz="1250" dirty="0"/>
          </a:p>
        </p:txBody>
      </p:sp>
      <p:sp>
        <p:nvSpPr>
          <p:cNvPr id="16" name="box_185"/>
          <p:cNvSpPr txBox="1"/>
          <p:nvPr/>
        </p:nvSpPr>
        <p:spPr>
          <a:xfrm>
            <a:off x="2788920" y="4023360"/>
            <a:ext cx="6035040" cy="56692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Why does Martina listen to country music?</a:t>
            </a:r>
            <a:endParaRPr lang="en-US" sz="1250" dirty="0"/>
          </a:p>
        </p:txBody>
      </p:sp>
      <p:sp>
        <p:nvSpPr>
          <p:cNvPr id="17" name="pageTag_18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p.65 · audio / video 6.20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18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8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6" name="title_19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191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192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conditionals, wish and used to accurately.</a:t>
            </a:r>
            <a:endParaRPr lang="en-US" sz="1300" dirty="0"/>
          </a:p>
        </p:txBody>
      </p:sp>
      <p:sp>
        <p:nvSpPr>
          <p:cNvPr id="9" name="faces_193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194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choose -ing or to, and -ed or -ing adjectives.</a:t>
            </a:r>
            <a:endParaRPr lang="en-US" sz="1350" dirty="0"/>
          </a:p>
        </p:txBody>
      </p:sp>
      <p:sp>
        <p:nvSpPr>
          <p:cNvPr id="11" name="faces_195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96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feelings, sleep and music vocabulary precisely.</a:t>
            </a:r>
            <a:endParaRPr lang="en-US" sz="1200" dirty="0"/>
          </a:p>
        </p:txBody>
      </p:sp>
      <p:sp>
        <p:nvSpPr>
          <p:cNvPr id="13" name="faces_197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198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(units 5–6)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Revise the Grammar Banks 5A, 5B, 6A, 6B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199"/>
          <p:cNvSpPr txBox="1"/>
          <p:nvPr/>
        </p:nvSpPr>
        <p:spPr>
          <a:xfrm>
            <a:off x="365760" y="3657600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Unit 7 · well done, everyone!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0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</a:t>
            </a:r>
            <a:endParaRPr lang="en-US" sz="900" dirty="0"/>
          </a:p>
        </p:txBody>
      </p:sp>
      <p:sp>
        <p:nvSpPr>
          <p:cNvPr id="6" name="timer_20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0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0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9" name="title_206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Feelings taboo</a:t>
            </a:r>
            <a:endParaRPr lang="en-US" sz="1500" dirty="0"/>
          </a:p>
        </p:txBody>
      </p:sp>
      <p:sp>
        <p:nvSpPr>
          <p:cNvPr id="10" name="post_20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0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0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 two teams.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Giocate in due squadre.</a:t>
            </a:r>
            <a:endParaRPr lang="en-US" sz="1250" dirty="0"/>
          </a:p>
        </p:txBody>
      </p:sp>
      <p:sp>
        <p:nvSpPr>
          <p:cNvPr id="13" name="n_210"/>
          <p:cNvSpPr txBox="1"/>
          <p:nvPr/>
        </p:nvSpPr>
        <p:spPr>
          <a:xfrm>
            <a:off x="2834640" y="139903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t_211"/>
          <p:cNvSpPr txBox="1"/>
          <p:nvPr/>
        </p:nvSpPr>
        <p:spPr>
          <a:xfrm>
            <a:off x="3310128" y="1325880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DESCRIBER stands with their back to the class, facing the screen.</a:t>
            </a:r>
            <a:endParaRPr lang="en-US" sz="1250" dirty="0"/>
          </a:p>
        </p:txBody>
      </p:sp>
      <p:sp>
        <p:nvSpPr>
          <p:cNvPr id="15" name="n_212"/>
          <p:cNvSpPr txBox="1"/>
          <p:nvPr/>
        </p:nvSpPr>
        <p:spPr>
          <a:xfrm>
            <a:off x="2834640" y="202082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t_213"/>
          <p:cNvSpPr txBox="1"/>
          <p:nvPr/>
        </p:nvSpPr>
        <p:spPr>
          <a:xfrm>
            <a:off x="3310128" y="1947672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else: you must NOT see the screen – turn round or close your eyes!</a:t>
            </a:r>
            <a:endParaRPr lang="en-US" sz="1250" dirty="0"/>
          </a:p>
        </p:txBody>
      </p:sp>
      <p:sp>
        <p:nvSpPr>
          <p:cNvPr id="17" name="n_214"/>
          <p:cNvSpPr txBox="1"/>
          <p:nvPr/>
        </p:nvSpPr>
        <p:spPr>
          <a:xfrm>
            <a:off x="2834640" y="26426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t_215"/>
          <p:cNvSpPr txBox="1"/>
          <p:nvPr/>
        </p:nvSpPr>
        <p:spPr>
          <a:xfrm>
            <a:off x="3310128" y="2569464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click → ONE card appears. 1 minute to describe it. Don't say the red words!</a:t>
            </a:r>
            <a:endParaRPr lang="en-US" sz="1250" dirty="0"/>
          </a:p>
        </p:txBody>
      </p:sp>
      <p:sp>
        <p:nvSpPr>
          <p:cNvPr id="19" name="n_216"/>
          <p:cNvSpPr txBox="1"/>
          <p:nvPr/>
        </p:nvSpPr>
        <p:spPr>
          <a:xfrm>
            <a:off x="2834640" y="326440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t_217"/>
          <p:cNvSpPr txBox="1"/>
          <p:nvPr/>
        </p:nvSpPr>
        <p:spPr>
          <a:xfrm>
            <a:off x="3310128" y="3191256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describer's team guesses. Correct = 1 point. A red word = 0.</a:t>
            </a:r>
            <a:endParaRPr lang="en-US" sz="1400" dirty="0"/>
          </a:p>
        </p:txBody>
      </p:sp>
      <p:sp>
        <p:nvSpPr>
          <p:cNvPr id="21" name="n_218"/>
          <p:cNvSpPr txBox="1"/>
          <p:nvPr/>
        </p:nvSpPr>
        <p:spPr>
          <a:xfrm>
            <a:off x="2834640" y="3886200"/>
            <a:ext cx="384048" cy="384048"/>
          </a:xfrm>
          <a:prstGeom prst="ellipse">
            <a:avLst/>
          </a:prstGeom>
          <a:solidFill>
            <a:srgbClr val="062F67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t_219"/>
          <p:cNvSpPr txBox="1"/>
          <p:nvPr/>
        </p:nvSpPr>
        <p:spPr>
          <a:xfrm>
            <a:off x="3310128" y="3813048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 = next card and a NEW describer from the other team.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2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 · card 1 of 6</a:t>
            </a:r>
            <a:endParaRPr lang="en-US" sz="900" dirty="0"/>
          </a:p>
        </p:txBody>
      </p:sp>
      <p:sp>
        <p:nvSpPr>
          <p:cNvPr id="6" name="extra_22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2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warn_225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HOMESICK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· home · family · sad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2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 · card 2 of 6</a:t>
            </a:r>
            <a:endParaRPr lang="en-US" sz="900" dirty="0"/>
          </a:p>
        </p:txBody>
      </p:sp>
      <p:sp>
        <p:nvSpPr>
          <p:cNvPr id="6" name="extra_22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warn_231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GUILTY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· feel · bad · sorry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3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 · card 3 of 6</a:t>
            </a:r>
            <a:endParaRPr lang="en-US" sz="900" dirty="0"/>
          </a:p>
        </p:txBody>
      </p:sp>
      <p:sp>
        <p:nvSpPr>
          <p:cNvPr id="6" name="extra_23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3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warn_237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STUNNED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 · shocked · speechless · very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3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 · card 4 of 6</a:t>
            </a:r>
            <a:endParaRPr lang="en-US" sz="900" dirty="0"/>
          </a:p>
        </p:txBody>
      </p:sp>
      <p:sp>
        <p:nvSpPr>
          <p:cNvPr id="6" name="extra_241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4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warn_243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INFURIATING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· annoying · very · mad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4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 · card 5 of 6</a:t>
            </a:r>
            <a:endParaRPr lang="en-US" sz="900" dirty="0"/>
          </a:p>
        </p:txBody>
      </p:sp>
      <p:sp>
        <p:nvSpPr>
          <p:cNvPr id="6" name="extra_24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4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warn_249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OVERSLEEP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· late · wake · too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Taboo: feelings &amp; music · card 6 of 6</a:t>
            </a:r>
            <a:endParaRPr lang="en-US" sz="900" dirty="0"/>
          </a:p>
        </p:txBody>
      </p:sp>
      <p:sp>
        <p:nvSpPr>
          <p:cNvPr id="6" name="extra_25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8" name="warn_255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9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ENCORE</a:t>
            </a:r>
            <a:endParaRPr lang="en-US" sz="4000" dirty="0"/>
          </a:p>
        </p:txBody>
      </p:sp>
      <p:sp>
        <p:nvSpPr>
          <p:cNvPr id="11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say:</a:t>
            </a:r>
            <a:endParaRPr lang="en-US" sz="1600" dirty="0"/>
          </a:p>
        </p:txBody>
      </p:sp>
      <p:sp>
        <p:nvSpPr>
          <p:cNvPr id="12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 · again · end · more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B9A3F5"/>
            </a:solidFill>
            <a:prstDash val="solid"/>
          </a:ln>
        </p:spPr>
      </p:sp>
      <p:pic>
        <p:nvPicPr>
          <p:cNvPr id="4" name="logo_2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Regrets and wishes</a:t>
            </a:r>
            <a:endParaRPr lang="en-US" sz="900" dirty="0"/>
          </a:p>
        </p:txBody>
      </p:sp>
      <p:sp>
        <p:nvSpPr>
          <p:cNvPr id="6" name="timer_2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6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R5–6 · Part 1</a:t>
            </a:r>
            <a:endParaRPr lang="en-US" sz="1000" dirty="0"/>
          </a:p>
        </p:txBody>
      </p:sp>
      <p:sp>
        <p:nvSpPr>
          <p:cNvPr id="9" name="title_262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'I wish' chain</a:t>
            </a:r>
            <a:endParaRPr lang="en-US" sz="1500" dirty="0"/>
          </a:p>
        </p:txBody>
      </p:sp>
      <p:sp>
        <p:nvSpPr>
          <p:cNvPr id="10" name="post_26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6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6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story with wish / if…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la storia con wish / if…</a:t>
            </a:r>
            <a:endParaRPr lang="en-US" sz="1250" dirty="0"/>
          </a:p>
        </p:txBody>
      </p:sp>
      <p:sp>
        <p:nvSpPr>
          <p:cNvPr id="13" name="iconBack_26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67" descr="pi:PiLink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68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69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starts: 'Yesterday I overslept and missed the bus.'</a:t>
            </a:r>
            <a:endParaRPr lang="en-US" sz="1300" dirty="0"/>
          </a:p>
        </p:txBody>
      </p:sp>
      <p:sp>
        <p:nvSpPr>
          <p:cNvPr id="17" name="num_270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71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student: a wish or regret: 'I wish I'd set the alarm!'</a:t>
            </a:r>
            <a:endParaRPr lang="en-US" sz="1300" dirty="0"/>
          </a:p>
        </p:txBody>
      </p:sp>
      <p:sp>
        <p:nvSpPr>
          <p:cNvPr id="19" name="num_272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73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third conditional: 'If I'd set the alarm, I wouldn't have…'</a:t>
            </a:r>
            <a:endParaRPr lang="en-US" sz="1300" dirty="0"/>
          </a:p>
        </p:txBody>
      </p:sp>
      <p:sp>
        <p:nvSpPr>
          <p:cNvPr id="21" name="num_274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75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what happened next – and the chain continues.</a:t>
            </a:r>
            <a:endParaRPr lang="en-US" sz="1300" dirty="0"/>
          </a:p>
        </p:txBody>
      </p:sp>
      <p:sp>
        <p:nvSpPr>
          <p:cNvPr id="23" name="bubble_276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overslept → I wish I'd set two alarms → If I hadn't overslept, I wouldn't have missed the test → 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 R5-6 Revise and Check 5 &amp; 6</dc:title>
  <dc:subject>PptxGenJS Presentation</dc:subject>
  <dc:creator>London Language School</dc:creator>
  <cp:lastModifiedBy>London Language School</cp:lastModifiedBy>
  <cp:revision>1</cp:revision>
  <dcterms:created xsi:type="dcterms:W3CDTF">2026-10-06T10:45:06Z</dcterms:created>
  <dcterms:modified xsi:type="dcterms:W3CDTF">2026-10-06T10:45:06Z</dcterms:modified>
</cp:coreProperties>
</file>