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(1 min). Point to the picture: Who's this? (Cameron) What's in the box? (a fish – we'll meet him today!).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OF LESSON 1 (3 min). GAME PLAN · SEE: the 4 rounds (no day cards – from memory!) · TEACHER: Time each team with a stopwatch (or count aloud). Listen for Wednesday (WENZ-day) and 'th' in Thursday. · STUDENTS: Round 1: the whole team chants the days. Round 2: backwards. Round 3: learners in a line each say one day in turn. Boss level: start from Thursday and go round (Thursday … Wednesday) · GROUPING: 2–3 teams · SCORE/WIN: Fastest correct time wins the round; +3 seconds penalty for 'Tursday' or 'Wed-nes-day' · TIME: 3 min · LANGUAGE: the 7 days in and out of order · REVEAL: the teacher writes each team's time on the board; winning team chosen at the 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ROUTINES (7 min). TB presentation: mime and say 'Look! I'm sleeping. It's seven o'clock… It's eight o'clock… Oh, no!' Mime waking up, point to a clock: 'It's time for school! I'm late!' Then the cards: picture first – learners guess (Italian is OK), click 1 word, click 2 Italian, click 3 TPR. 'clean your teeth' = lavarsi i denti (with a toothbrush and toothpaste). Italian trap: 'have breakfast' (NOT 'make breakfast' – fare colazione) and 'have a shower' (NOT 'make a shower'). TPR: Open your eyes! Stretch! 'It's 7 o'clock!' 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ROUTINES (7 min). TB presentation: mime and say 'Look! I'm sleeping. It's seven o'clock… It's eight o'clock… Oh, no!' Mime waking up, point to a clock: 'It's time for school! I'm late!' Then the cards: picture first – learners guess (Italian is OK), click 1 word, click 2 Italian, click 3 TPR. 'clean your teeth' = lavarsi i denti (with a toothbrush and toothpaste). Italian trap: 'have breakfast' (NOT 'make breakfast' – fare colazione) and 'have a shower' (NOT 'make a shower'). TPR: Jump out of bed! Stand up! 🛏️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ROUTINES (7 min). TB presentation: mime and say 'Look! I'm sleeping. It's seven o'clock… It's eight o'clock… Oh, no!' Mime waking up, point to a clock: 'It's time for school! I'm late!' Then the cards: picture first – learners guess (Italian is OK), click 1 word, click 2 Italian, click 3 TPR. 'clean your teeth' = lavarsi i denti (with a toothbrush and toothpaste). Italian trap: 'have breakfast' (NOT 'make breakfast' – fare colazione) and 'have a shower' (NOT 'make a shower'). TPR: Wash your hair! Shhhh! 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ROUTINES (7 min). TB presentation: mime and say 'Look! I'm sleeping. It's seven o'clock… It's eight o'clock… Oh, no!' Mime waking up, point to a clock: 'It's time for school! I'm late!' Then the cards: picture first – learners guess (Italian is OK), click 1 word, click 2 Italian, click 3 TPR. 'clean your teeth' = lavarsi i denti (with a toothbrush and toothpaste). Italian trap: 'have breakfast' (NOT 'make breakfast' – fare colazione) and 'have a shower' (NOT 'make a shower'). TPR: Eat your cereal! Yum! 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ROUTINES (7 min). TB presentation: mime and say 'Look! I'm sleeping. It's seven o'clock… It's eight o'clock… Oh, no!' Mime waking up, point to a clock: 'It's time for school! I'm late!' Then the cards: picture first – learners guess (Italian is OK), click 1 word, click 2 Italian, click 3 TPR. 'clean your teeth' = lavarsi i denti (with a toothbrush and toothpaste). Italian trap: 'have breakfast' (NOT 'make breakfast' – fare colazione) and 'have a shower' (NOT 'make a shower'). TPR: Clean your teeth! Up and down! 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ROUTINES (7 min). TB presentation: mime and say 'Look! I'm sleeping. It's seven o'clock… It's eight o'clock… Oh, no!' Mime waking up, point to a clock: 'It's time for school! I'm late!' Then the cards: picture first – learners guess (Italian is OK), click 1 word, click 2 Italian, click 3 TPR. 'clean your teeth' = lavarsi i denti (with a toothbrush and toothpaste). Italian trap: 'have breakfast' (NOT 'make breakfast' – fare colazione) and 'have a shower' (NOT 'make a shower'). TPR: Squeeze the toothpaste! 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DAILY ROUTINES (7 min). TB presentation: mime and say 'Look! I'm sleeping. It's seven o'clock… It's eight o'clock… Oh, no!' Mime waking up, point to a clock: 'It's time for school! I'm late!' Then the cards: picture first – learners guess (Italian is OK), click 1 word, click 2 Italian, click 3 TPR. 'clean your teeth' = lavarsi i denti (with a toothbrush and toothpaste). Italian trap: 'have breakfast' (NOT 'make breakfast' – fare colazione) and 'have a shower' (NOT 'make a shower'). TPR: Dry your face with a towel!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(3 min). Model the two examples, clapping the syllables and making the STRESSED clap louder. Then for each practice item: say it once; pairs clap and agree on the number (commit: show fingers 1–5!); click to reveal. Everyone says it 3 ways: whisper → normal → monster voice. Italian learners often stress the end (brek-FAST) and add a vowel at the end (wake-uppa) – catch it! Also: 'shower' = SHOW-er (rhymes with 'flower').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TPR MORNING RUSH (4 min). Round 1: click and do each action together. Round 2: say a time + routine ('It's 7 o'clock! Wake up!'), faster and faster, mixed order. Round 3 (retrieval): YOU mime, learners shout the phrase. 'Oh no! I'm late!' = everybody runs on the spot. Then a learner calls the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ADVERBS (3 min) – TB presentation. Say: 'I brush my hair on Monday, Tuesday, Wednesday… every day. I ALWAYS brush my hair. I walk to school four days a week. I OFTEN walk to school.' Present sometimes and never the same way. Learners guess the Italian before you show it. Pronunciation: often = OF-en (silent t is fine). ITALIAN TRAP (word order): Italian says 'Mi lavo SEMPRE i denti', so learners say 'I clean always…'. In English the adverb goes BEFORE the verb: I ALWAYS clean. Practice: learners say the correct sentence in pairs (commit) → click → reveal. Gesture: put your hand between 'I' and the verb – 'the adverb lives HERE!'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WALLS (5 min). GAME PLAN · SEE: the four words (stick 4 A4 signs on 4 walls before the lesson) · TEACHER: Say a sentence: I get up late. / I have a shower in the morning. / I eat pizza for breakfast. / I clean my teeth after lunch. / I watch TV on Saturdays. / I play football on Mondays. · STUDENTS: Decide how often THEY do it and walk to that wall; one learner at each wall says the full sentence ('I sometimes get up late.') · GROUPING: whole class, individual choice · SCORE/WIN: no winners – personal answers; bonus clap for a perfect sentence with the adverb in the right place · TIME: 5 min · LANGUAGE: I always / often / sometimes / never + verb · REVEAL: the teacher repeats a correct sentence from each wall; correct 'I clean always' → 'I always clean'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part 1 (pictures 1–2) (≈ 9 min for the 3 story slides). PREDICT: 'Does the fish talk? Yes or no? Hands up!' (write the votes on the board). Play the Friendly Farm song (start of track 1.24 / video). Ask: Where are they? (In the living room) Where's Cameron? (on a chair) – teach SHELF. What's this? (a fish) What's his name? (Fred). Play the audio/video. Picture 1: Which day is it? (Friday) Is it the morning? (No, the afternoon) Why can't they put Fred on the table? (Because Cameron can get on the table – and he loves eating fish!) Picture 2: When does Fred need food? (every day).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part 2 (pictures 3–4). Picture 3: When do Jim and Jenny feed Fred? (Once a day / in the evening) When do they feed the other animals? (Twice a day / in the morning and the evening). once a day = una volta al giorno, twice a day = due volte. Picture 4: Does the fish wash its face? (No – it lives in water). Everyone mimes washing their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part 3 (pictures 5–6). Picture 5: Do birds talk? (Yes, often) Picture 6: Does the fish talk? (Yes, sometimes!) Check the predictions on the board – who was right? Why doesn't Fred talk to cats? (Because cats want to eat him!) Teach EVER: Do you ever talk? = Parli mai?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p.20 ex.1 (part 1). Play track 1.25 and PAUSE after each sentence: pairs whisper the name (commit), then a volunteer says it, then click to reveal. KEY (TB audioscript): 1 Henrietta 2 Fred/fish 3 Harry 4 Jim.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p.20 ex.1 (part 2). KEY (TB audioscript): 5 Gracie 6 Cameron 7 Shelly 8 Rocky. Extension (TB): learners role-play picture 1 in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GRACIE'S GRAMMAR (4 min). Play 1.26 and pause for learners to repeat (rising intonation on 'Do you ever get up late?'). NOTICE: 'They're ALWAYS in water' – with 'be' the adverb goes AFTER (they're always), with other verbs BEFORE (I always clean). Practice: learners write the word (commit) → click. More (oral): 'I ___ talk, but I never talk to cats.' (sometimes) 'How ___ do they feed it?' (often).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PB p.21 ex.1 (5 min). Play 1.27: learners point to the correct sticker (or draw quick pictures: swimming, fish, shower, burger). Play again: learners stick/draw. Then 'look, read and write' – learners write first, then click for each answer. KEY: 1 often (example) 2 always 3 sometimes 4 never. Audio details: Peter swims with his class on Mondays, Wednesdays and Fridays and with his parents on Saturdays; Clare feeds her fish once a day, every day; Peter sometimes has a shower at night; Clare never has burgers for breakfast – she always has cake and milk!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STAGE 1 (5 min). MODEL → SUPPORTED → INDEPENDENT. Write on the board: activities (play football, ride a bike, swim, play basketball, watch TV…) + the frames 'How often do you …?' / 'I always / often / sometimes / never …' / 'I … on Tuesdays.' Model with one learner (you ask, write the answer in a 3-column table on the board). Then groups of four (two pairs): pairs choose activities and write the names of the other pair, then take turns to ask and answer. Challenge: add a day ('I play basketball on Tuesdays and Thursdays'). KEEP the tables for Lesson 3! AB p.18: smiley face for 'My mission diary 1'.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challenge: each learner tells a partner ONE true sentence with an adverb about their morning ('I never have a shower in the morning'). Partner checks the word order. Thumbs for each 'I can'. Add a tick to Stage 1 on the Mission poster. TIMING (core ≈ 57 min): cover 1 · days race 3 · flashcards 7 · clap 3 · TPR 4 · adverbs 3 · four walls 5 · story 9 · who says it 5 · grammar 4 · Peter &amp; Clare 5 · mission 5 · exit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FIND SOMEONE WHO (6 min). GAME PLAN · SEE: 5 'find someone who' sentences · TEACHER: Model one exchange with a strong learner: 'Do you ever get up late?' – 'No, never!' – write the name. · STUDENTS: Copy the 5 lines, walk around, ask Do you ever…? / How often do you…?, write a classmate's name next to a true sentence · GROUPING: individual mingle; only ONE name per classmate · SCORE/WIN: first with 5 names shouts 'Bingo!' and must report: 'Marco never gets up late.' (correct sentence = win) · TIME: 6 min · LANGUAGE: Do you ever…? How often do you…? Yes, I do / No, never. He/She always… · REVEAL: the winner reads their sentences; the named classmates confirm (yes/no)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HOT SEAT (5 min). GAME PLAN · SEE: the 6 Friendly Farm characters · TEACHER: Go first: sit in the hot seat as Cameron and answer ('I always eat fish!'). · STUDENTS: One learner secretly picks a character and sits facing the class; teams take turns to ask ONE question (How often do you eat fish? Do you ever talk? Do you ever swim?) and may then guess · GROUPING: 2 teams · SCORE/WIN: correct guess = 1 point; a wrong guess passes the turn; the guesser takes the hot seat · TIME: 5 min · LANGUAGE: How often do you…? Do you ever…? I always / never… · REVEAL: the hot-seat learner says 'Yes! I'm Cameron!'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2 · LESSON 2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often?</a:t>
            </a:r>
            <a:endParaRPr lang="en-US" sz="32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my day &amp; How often…? ⏰🪥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la mia giornata e 'Quanto spesso…?'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words for your day.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Impara le parole della giornata.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READ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Friendly Farm story.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 la storia della Friendly Farm.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How often do you…?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Chiedi: Quanto spesso…?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2-p20-panel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732970"/>
            <a:ext cx="3246120" cy="2340500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camer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toothbru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ever talk?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Parli mai?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20166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pp.20–21 · 🎧 1.24–1.27 · 🎬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REMEMBER?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Days: beat the clock!</a:t>
            </a:r>
            <a:endParaRPr lang="en-US" sz="2400" dirty="0"/>
          </a:p>
        </p:txBody>
      </p:sp>
      <p:sp>
        <p:nvSpPr>
          <p:cNvPr id="5" name="in_2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the days – forwards, then BACKWARDS! Beat the clock!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Di' i giorni – in avanti, poi AL CONTRARIO! Batti il tempo!</a:t>
            </a:r>
            <a:endParaRPr lang="en-US" sz="11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3 MIN</a:t>
            </a:r>
            <a:endParaRPr lang="en-US" sz="1000" dirty="0"/>
          </a:p>
        </p:txBody>
      </p:sp>
      <p:sp>
        <p:nvSpPr>
          <p:cNvPr id="7" name="st_28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29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30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0" name="se_31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says the 7 days. Go!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squadra dice i 7 giorni. Via!</a:t>
            </a:r>
            <a:endParaRPr lang="en-US" sz="1050" dirty="0"/>
          </a:p>
        </p:txBody>
      </p:sp>
      <p:sp>
        <p:nvSpPr>
          <p:cNvPr id="11" name="st_32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33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34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35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BACKWARDS: Sunday, Saturday…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 AL CONTRARIO: Sunday, Saturday…</a:t>
            </a:r>
            <a:endParaRPr lang="en-US" sz="1050" dirty="0"/>
          </a:p>
        </p:txBody>
      </p:sp>
      <p:sp>
        <p:nvSpPr>
          <p:cNvPr id="15" name="st_36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37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38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8" name="se_39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team wins!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 la squadra più veloce!</a:t>
            </a:r>
            <a:endParaRPr lang="en-US" sz="1050" dirty="0"/>
          </a:p>
        </p:txBody>
      </p:sp>
      <p:sp>
        <p:nvSpPr>
          <p:cNvPr id="19" name="gl_40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Round 1: forwards ➡️  Monday … Sunday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Round 2: backwards ⬅️  Sunday … Monday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Round 3: one word each – pass it on!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Boss level: start from Thursday!</a:t>
            </a:r>
            <a:endParaRPr lang="en-US" sz="1400" dirty="0"/>
          </a:p>
        </p:txBody>
      </p:sp>
      <p:sp>
        <p:nvSpPr>
          <p:cNvPr id="20" name="bk_41"/>
          <p:cNvSpPr/>
          <p:nvPr/>
        </p:nvSpPr>
        <p:spPr>
          <a:xfrm>
            <a:off x="228600" y="4681728"/>
            <a:ext cx="342442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Retrieval · Lesson 1 days of the week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43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day</a:t>
            </a:r>
            <a:endParaRPr lang="en-US" sz="3200" dirty="0"/>
          </a:p>
        </p:txBody>
      </p:sp>
      <p:sp>
        <p:nvSpPr>
          <p:cNvPr id="5" name="in_4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45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46" descr="/home/claude/movers/img/fc/wake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415" y="1234440"/>
            <a:ext cx="1969170" cy="2651760"/>
          </a:xfrm>
          <a:prstGeom prst="rect">
            <a:avLst/>
          </a:prstGeom>
        </p:spPr>
      </p:pic>
      <p:sp>
        <p:nvSpPr>
          <p:cNvPr id="8" name="R1_w47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wake up</a:t>
            </a:r>
            <a:endParaRPr lang="en-US" sz="3600" dirty="0"/>
          </a:p>
        </p:txBody>
      </p:sp>
      <p:sp>
        <p:nvSpPr>
          <p:cNvPr id="9" name="R2_it48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svegliarsi</a:t>
            </a:r>
            <a:endParaRPr lang="en-US" sz="1600" dirty="0"/>
          </a:p>
        </p:txBody>
      </p:sp>
      <p:sp>
        <p:nvSpPr>
          <p:cNvPr id="10" name="R3_tpr49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your eyes! Stretch! 'It's 7 o'clock!' ⏰</a:t>
            </a:r>
            <a:endParaRPr lang="en-US" sz="1300" dirty="0"/>
          </a:p>
        </p:txBody>
      </p:sp>
      <p:sp>
        <p:nvSpPr>
          <p:cNvPr id="11" name="n_50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7</a:t>
            </a:r>
            <a:endParaRPr lang="en-US" sz="1200" dirty="0"/>
          </a:p>
        </p:txBody>
      </p:sp>
      <p:sp>
        <p:nvSpPr>
          <p:cNvPr id="12" name="bk_51"/>
          <p:cNvSpPr/>
          <p:nvPr/>
        </p:nvSpPr>
        <p:spPr>
          <a:xfrm>
            <a:off x="228600" y="4681728"/>
            <a:ext cx="249174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Daily routines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53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day</a:t>
            </a:r>
            <a:endParaRPr lang="en-US" sz="3200" dirty="0"/>
          </a:p>
        </p:txBody>
      </p:sp>
      <p:sp>
        <p:nvSpPr>
          <p:cNvPr id="5" name="in_5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55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56" descr="/home/claude/movers/img/fc/get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616" y="1234440"/>
            <a:ext cx="2058768" cy="2651760"/>
          </a:xfrm>
          <a:prstGeom prst="rect">
            <a:avLst/>
          </a:prstGeom>
        </p:spPr>
      </p:pic>
      <p:sp>
        <p:nvSpPr>
          <p:cNvPr id="8" name="R1_w57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up</a:t>
            </a:r>
            <a:endParaRPr lang="en-US" sz="3600" dirty="0"/>
          </a:p>
        </p:txBody>
      </p:sp>
      <p:sp>
        <p:nvSpPr>
          <p:cNvPr id="9" name="R2_it58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alzarsi</a:t>
            </a:r>
            <a:endParaRPr lang="en-US" sz="1600" dirty="0"/>
          </a:p>
        </p:txBody>
      </p:sp>
      <p:sp>
        <p:nvSpPr>
          <p:cNvPr id="10" name="R3_tpr59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Jump out of bed! Stand up! 🛏️</a:t>
            </a:r>
            <a:endParaRPr lang="en-US" sz="1300" dirty="0"/>
          </a:p>
        </p:txBody>
      </p:sp>
      <p:sp>
        <p:nvSpPr>
          <p:cNvPr id="11" name="n_60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7</a:t>
            </a:r>
            <a:endParaRPr lang="en-US" sz="1200" dirty="0"/>
          </a:p>
        </p:txBody>
      </p:sp>
      <p:sp>
        <p:nvSpPr>
          <p:cNvPr id="12" name="bk_61"/>
          <p:cNvSpPr/>
          <p:nvPr/>
        </p:nvSpPr>
        <p:spPr>
          <a:xfrm>
            <a:off x="228600" y="4681728"/>
            <a:ext cx="249174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Daily routines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63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day</a:t>
            </a:r>
            <a:endParaRPr lang="en-US" sz="3200" dirty="0"/>
          </a:p>
        </p:txBody>
      </p:sp>
      <p:sp>
        <p:nvSpPr>
          <p:cNvPr id="5" name="in_6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65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66" descr="/home/claude/movers/img/fc/have-a-sh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426" y="1234440"/>
            <a:ext cx="2189148" cy="2651760"/>
          </a:xfrm>
          <a:prstGeom prst="rect">
            <a:avLst/>
          </a:prstGeom>
        </p:spPr>
      </p:pic>
      <p:sp>
        <p:nvSpPr>
          <p:cNvPr id="8" name="R1_w67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a shower</a:t>
            </a:r>
            <a:endParaRPr lang="en-US" sz="3600" dirty="0"/>
          </a:p>
        </p:txBody>
      </p:sp>
      <p:sp>
        <p:nvSpPr>
          <p:cNvPr id="9" name="R2_it68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la doccia</a:t>
            </a:r>
            <a:endParaRPr lang="en-US" sz="1600" dirty="0"/>
          </a:p>
        </p:txBody>
      </p:sp>
      <p:sp>
        <p:nvSpPr>
          <p:cNvPr id="10" name="R3_tpr69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Wash your hair! Shhhh! 🚿</a:t>
            </a:r>
            <a:endParaRPr lang="en-US" sz="1300" dirty="0"/>
          </a:p>
        </p:txBody>
      </p:sp>
      <p:sp>
        <p:nvSpPr>
          <p:cNvPr id="11" name="n_70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7</a:t>
            </a:r>
            <a:endParaRPr lang="en-US" sz="1200" dirty="0"/>
          </a:p>
        </p:txBody>
      </p:sp>
      <p:sp>
        <p:nvSpPr>
          <p:cNvPr id="12" name="bk_71"/>
          <p:cNvSpPr/>
          <p:nvPr/>
        </p:nvSpPr>
        <p:spPr>
          <a:xfrm>
            <a:off x="228600" y="4681728"/>
            <a:ext cx="249174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Daily routines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3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day</a:t>
            </a:r>
            <a:endParaRPr lang="en-US" sz="3200" dirty="0"/>
          </a:p>
        </p:txBody>
      </p:sp>
      <p:sp>
        <p:nvSpPr>
          <p:cNvPr id="5" name="in_7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75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6" descr="/home/claude/movers/img/fc/have-breakfa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014" y="1234440"/>
            <a:ext cx="1961972" cy="2651760"/>
          </a:xfrm>
          <a:prstGeom prst="rect">
            <a:avLst/>
          </a:prstGeom>
        </p:spPr>
      </p:pic>
      <p:sp>
        <p:nvSpPr>
          <p:cNvPr id="8" name="R1_w77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have breakfast</a:t>
            </a:r>
            <a:endParaRPr lang="en-US" sz="3600" dirty="0"/>
          </a:p>
        </p:txBody>
      </p:sp>
      <p:sp>
        <p:nvSpPr>
          <p:cNvPr id="9" name="R2_it78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colazione</a:t>
            </a:r>
            <a:endParaRPr lang="en-US" sz="1600" dirty="0"/>
          </a:p>
        </p:txBody>
      </p:sp>
      <p:sp>
        <p:nvSpPr>
          <p:cNvPr id="10" name="R3_tpr79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Eat your cereal! Yum! 🥣</a:t>
            </a:r>
            <a:endParaRPr lang="en-US" sz="1300" dirty="0"/>
          </a:p>
        </p:txBody>
      </p:sp>
      <p:sp>
        <p:nvSpPr>
          <p:cNvPr id="11" name="n_80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7</a:t>
            </a:r>
            <a:endParaRPr lang="en-US" sz="1200" dirty="0"/>
          </a:p>
        </p:txBody>
      </p:sp>
      <p:sp>
        <p:nvSpPr>
          <p:cNvPr id="12" name="bk_81"/>
          <p:cNvSpPr/>
          <p:nvPr/>
        </p:nvSpPr>
        <p:spPr>
          <a:xfrm>
            <a:off x="228600" y="4681728"/>
            <a:ext cx="249174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Daily routines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3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day</a:t>
            </a:r>
            <a:endParaRPr lang="en-US" sz="3200" dirty="0"/>
          </a:p>
        </p:txBody>
      </p:sp>
      <p:sp>
        <p:nvSpPr>
          <p:cNvPr id="5" name="in_8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85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6" descr="/home/claude/movers/img/fc/toothbru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036" y="1234440"/>
            <a:ext cx="1953928" cy="2651760"/>
          </a:xfrm>
          <a:prstGeom prst="rect">
            <a:avLst/>
          </a:prstGeom>
        </p:spPr>
      </p:pic>
      <p:sp>
        <p:nvSpPr>
          <p:cNvPr id="8" name="R1_w87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toothbrush</a:t>
            </a:r>
            <a:endParaRPr lang="en-US" sz="3600" dirty="0"/>
          </a:p>
        </p:txBody>
      </p:sp>
      <p:sp>
        <p:nvSpPr>
          <p:cNvPr id="9" name="R2_it88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spazzolino</a:t>
            </a:r>
            <a:endParaRPr lang="en-US" sz="1600" dirty="0"/>
          </a:p>
        </p:txBody>
      </p:sp>
      <p:sp>
        <p:nvSpPr>
          <p:cNvPr id="10" name="R3_tpr89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Clean your teeth! Up and down! 🪥</a:t>
            </a:r>
            <a:endParaRPr lang="en-US" sz="1300" dirty="0"/>
          </a:p>
        </p:txBody>
      </p:sp>
      <p:sp>
        <p:nvSpPr>
          <p:cNvPr id="11" name="n_90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7</a:t>
            </a:r>
            <a:endParaRPr lang="en-US" sz="1200" dirty="0"/>
          </a:p>
        </p:txBody>
      </p:sp>
      <p:sp>
        <p:nvSpPr>
          <p:cNvPr id="12" name="bk_91"/>
          <p:cNvSpPr/>
          <p:nvPr/>
        </p:nvSpPr>
        <p:spPr>
          <a:xfrm>
            <a:off x="228600" y="4681728"/>
            <a:ext cx="249174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Daily routines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3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day</a:t>
            </a:r>
            <a:endParaRPr lang="en-US" sz="3200" dirty="0"/>
          </a:p>
        </p:txBody>
      </p:sp>
      <p:sp>
        <p:nvSpPr>
          <p:cNvPr id="5" name="in_9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95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6" descr="/home/claude/movers/img/fc/toothpas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731" y="1234440"/>
            <a:ext cx="2010539" cy="2651760"/>
          </a:xfrm>
          <a:prstGeom prst="rect">
            <a:avLst/>
          </a:prstGeom>
        </p:spPr>
      </p:pic>
      <p:sp>
        <p:nvSpPr>
          <p:cNvPr id="8" name="R1_w97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toothpaste</a:t>
            </a:r>
            <a:endParaRPr lang="en-US" sz="3600" dirty="0"/>
          </a:p>
        </p:txBody>
      </p:sp>
      <p:sp>
        <p:nvSpPr>
          <p:cNvPr id="9" name="R2_it98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dentifricio</a:t>
            </a:r>
            <a:endParaRPr lang="en-US" sz="1600" dirty="0"/>
          </a:p>
        </p:txBody>
      </p:sp>
      <p:sp>
        <p:nvSpPr>
          <p:cNvPr id="10" name="R3_tpr99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Squeeze the toothpaste! 🧴</a:t>
            </a:r>
            <a:endParaRPr lang="en-US" sz="1300" dirty="0"/>
          </a:p>
        </p:txBody>
      </p:sp>
      <p:sp>
        <p:nvSpPr>
          <p:cNvPr id="11" name="n_100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7</a:t>
            </a:r>
            <a:endParaRPr lang="en-US" sz="1200" dirty="0"/>
          </a:p>
        </p:txBody>
      </p:sp>
      <p:sp>
        <p:nvSpPr>
          <p:cNvPr id="12" name="bk_101"/>
          <p:cNvSpPr/>
          <p:nvPr/>
        </p:nvSpPr>
        <p:spPr>
          <a:xfrm>
            <a:off x="228600" y="4681728"/>
            <a:ext cx="249174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Daily routines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3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day</a:t>
            </a:r>
            <a:endParaRPr lang="en-US" sz="3200" dirty="0"/>
          </a:p>
        </p:txBody>
      </p:sp>
      <p:sp>
        <p:nvSpPr>
          <p:cNvPr id="5" name="in_10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05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6" descr="/home/claude/movers/img/fc/tow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878" y="1234440"/>
            <a:ext cx="2208244" cy="2651760"/>
          </a:xfrm>
          <a:prstGeom prst="rect">
            <a:avLst/>
          </a:prstGeom>
        </p:spPr>
      </p:pic>
      <p:sp>
        <p:nvSpPr>
          <p:cNvPr id="8" name="R1_w107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towel</a:t>
            </a:r>
            <a:endParaRPr lang="en-US" sz="3600" dirty="0"/>
          </a:p>
        </p:txBody>
      </p:sp>
      <p:sp>
        <p:nvSpPr>
          <p:cNvPr id="9" name="R2_it108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asciugamano</a:t>
            </a:r>
            <a:endParaRPr lang="en-US" sz="1600" dirty="0"/>
          </a:p>
        </p:txBody>
      </p:sp>
      <p:sp>
        <p:nvSpPr>
          <p:cNvPr id="10" name="R3_tpr109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Dry your face with a towel!</a:t>
            </a:r>
            <a:endParaRPr lang="en-US" sz="1300" dirty="0"/>
          </a:p>
        </p:txBody>
      </p:sp>
      <p:sp>
        <p:nvSpPr>
          <p:cNvPr id="11" name="n_110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/ 7</a:t>
            </a:r>
            <a:endParaRPr lang="en-US" sz="1200" dirty="0"/>
          </a:p>
        </p:txBody>
      </p:sp>
      <p:sp>
        <p:nvSpPr>
          <p:cNvPr id="12" name="bk_111"/>
          <p:cNvSpPr/>
          <p:nvPr/>
        </p:nvSpPr>
        <p:spPr>
          <a:xfrm>
            <a:off x="228600" y="4681728"/>
            <a:ext cx="249174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Daily routines flashcards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SOUNDS 👏</a:t>
            </a:r>
            <a:endParaRPr lang="en-US" sz="1600" dirty="0"/>
          </a:p>
        </p:txBody>
      </p:sp>
      <p:sp>
        <p:nvSpPr>
          <p:cNvPr id="4" name="bm_11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Clap it!</a:t>
            </a:r>
            <a:endParaRPr lang="en-US" sz="3200" dirty="0"/>
          </a:p>
        </p:txBody>
      </p:sp>
      <p:sp>
        <p:nvSpPr>
          <p:cNvPr id="5" name="in_11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many claps? Clap and count – then check!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Quanti battiti? Batti e conta – poi controlla!</a:t>
            </a:r>
            <a:endParaRPr lang="en-US" sz="1400" dirty="0"/>
          </a:p>
        </p:txBody>
      </p:sp>
      <p:sp>
        <p:nvSpPr>
          <p:cNvPr id="6" name="mode_11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👏 CLAP</a:t>
            </a:r>
            <a:endParaRPr lang="en-US" sz="1000" dirty="0"/>
          </a:p>
        </p:txBody>
      </p:sp>
      <p:sp>
        <p:nvSpPr>
          <p:cNvPr id="7" name="gb_116"/>
          <p:cNvSpPr/>
          <p:nvPr/>
        </p:nvSpPr>
        <p:spPr>
          <a:xfrm>
            <a:off x="320040" y="1280160"/>
            <a:ext cx="8503920" cy="1225296"/>
          </a:xfrm>
          <a:prstGeom prst="roundRect">
            <a:avLst>
              <a:gd name="adj" fmla="val 8955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117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TOOTH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-brush 👏👏</a:t>
            </a:r>
            <a:endParaRPr lang="en-US" sz="1500" dirty="0"/>
          </a:p>
        </p:txBody>
      </p:sp>
      <p:sp>
        <p:nvSpPr>
          <p:cNvPr id="9" name="gl_118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BREAK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-fast 👏👏👏 (not brek-FAST!)</a:t>
            </a:r>
            <a:endParaRPr lang="en-US" sz="1500" dirty="0"/>
          </a:p>
        </p:txBody>
      </p:sp>
      <p:sp>
        <p:nvSpPr>
          <p:cNvPr id="10" name="pq_119"/>
          <p:cNvSpPr/>
          <p:nvPr/>
        </p:nvSpPr>
        <p:spPr>
          <a:xfrm>
            <a:off x="365760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shower</a:t>
            </a:r>
            <a:endParaRPr lang="en-US" sz="1300" dirty="0"/>
          </a:p>
        </p:txBody>
      </p:sp>
      <p:sp>
        <p:nvSpPr>
          <p:cNvPr id="11" name="R1_pa120"/>
          <p:cNvSpPr/>
          <p:nvPr/>
        </p:nvSpPr>
        <p:spPr>
          <a:xfrm>
            <a:off x="6126480" y="2642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👏👏👏👏 have-a-SHOW-er</a:t>
            </a:r>
            <a:endParaRPr lang="en-US" sz="1300" dirty="0"/>
          </a:p>
        </p:txBody>
      </p:sp>
      <p:sp>
        <p:nvSpPr>
          <p:cNvPr id="12" name="pq_121"/>
          <p:cNvSpPr/>
          <p:nvPr/>
        </p:nvSpPr>
        <p:spPr>
          <a:xfrm>
            <a:off x="365760" y="30998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toothpaste</a:t>
            </a:r>
            <a:endParaRPr lang="en-US" sz="1300" dirty="0"/>
          </a:p>
        </p:txBody>
      </p:sp>
      <p:sp>
        <p:nvSpPr>
          <p:cNvPr id="13" name="R2_pa122"/>
          <p:cNvSpPr/>
          <p:nvPr/>
        </p:nvSpPr>
        <p:spPr>
          <a:xfrm>
            <a:off x="6126480" y="30998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👏👏 TOOTH-paste</a:t>
            </a:r>
            <a:endParaRPr lang="en-US" sz="1300" dirty="0"/>
          </a:p>
        </p:txBody>
      </p:sp>
      <p:sp>
        <p:nvSpPr>
          <p:cNvPr id="14" name="pq_123"/>
          <p:cNvSpPr/>
          <p:nvPr/>
        </p:nvSpPr>
        <p:spPr>
          <a:xfrm>
            <a:off x="365760" y="35570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towel</a:t>
            </a:r>
            <a:endParaRPr lang="en-US" sz="1300" dirty="0"/>
          </a:p>
        </p:txBody>
      </p:sp>
      <p:sp>
        <p:nvSpPr>
          <p:cNvPr id="15" name="R3_pa124"/>
          <p:cNvSpPr/>
          <p:nvPr/>
        </p:nvSpPr>
        <p:spPr>
          <a:xfrm>
            <a:off x="6126480" y="35570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👏👏 TOW-el</a:t>
            </a:r>
            <a:endParaRPr lang="en-US" sz="1300" dirty="0"/>
          </a:p>
        </p:txBody>
      </p:sp>
      <p:sp>
        <p:nvSpPr>
          <p:cNvPr id="16" name="pq_125"/>
          <p:cNvSpPr/>
          <p:nvPr/>
        </p:nvSpPr>
        <p:spPr>
          <a:xfrm>
            <a:off x="365760" y="40142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wake up</a:t>
            </a:r>
            <a:endParaRPr lang="en-US" sz="1300" dirty="0"/>
          </a:p>
        </p:txBody>
      </p:sp>
      <p:sp>
        <p:nvSpPr>
          <p:cNvPr id="17" name="R4_pa126"/>
          <p:cNvSpPr/>
          <p:nvPr/>
        </p:nvSpPr>
        <p:spPr>
          <a:xfrm>
            <a:off x="6126480" y="40142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👏👏 wake UP</a:t>
            </a:r>
            <a:endParaRPr lang="en-US" sz="1300" dirty="0"/>
          </a:p>
        </p:txBody>
      </p:sp>
      <p:sp>
        <p:nvSpPr>
          <p:cNvPr id="18" name="bk_127"/>
          <p:cNvSpPr/>
          <p:nvPr/>
        </p:nvSpPr>
        <p:spPr>
          <a:xfrm>
            <a:off x="228600" y="4681728"/>
            <a:ext cx="357987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Pronunciation · syllables + word stress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2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Morning rush!</a:t>
            </a:r>
            <a:endParaRPr lang="en-US" sz="2700" dirty="0"/>
          </a:p>
        </p:txBody>
      </p:sp>
      <p:sp>
        <p:nvSpPr>
          <p:cNvPr id="5" name="in_13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7 o'clock! Listen and do it – fast!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Sono le 7! Ascolta e fallo – veloce!</a:t>
            </a:r>
            <a:endParaRPr lang="en-US" sz="1400" dirty="0"/>
          </a:p>
        </p:txBody>
      </p:sp>
      <p:sp>
        <p:nvSpPr>
          <p:cNvPr id="6" name="mode_13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 · ⏱ 4 MIN</a:t>
            </a:r>
            <a:endParaRPr lang="en-US" sz="1000" dirty="0"/>
          </a:p>
        </p:txBody>
      </p:sp>
      <p:sp>
        <p:nvSpPr>
          <p:cNvPr id="7" name="cd_132"/>
          <p:cNvSpPr/>
          <p:nvPr/>
        </p:nvSpPr>
        <p:spPr>
          <a:xfrm>
            <a:off x="27432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133" descr="/home/claude/movers/img/fc/wake-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905256" cy="905256"/>
          </a:xfrm>
          <a:prstGeom prst="rect">
            <a:avLst/>
          </a:prstGeom>
        </p:spPr>
      </p:pic>
      <p:sp>
        <p:nvSpPr>
          <p:cNvPr id="9" name="R1_a134"/>
          <p:cNvSpPr/>
          <p:nvPr/>
        </p:nvSpPr>
        <p:spPr>
          <a:xfrm>
            <a:off x="139903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Wake up! Yawn!</a:t>
            </a:r>
            <a:endParaRPr lang="en-US" sz="1250" dirty="0"/>
          </a:p>
        </p:txBody>
      </p:sp>
      <p:sp>
        <p:nvSpPr>
          <p:cNvPr id="10" name="cd_135"/>
          <p:cNvSpPr/>
          <p:nvPr/>
        </p:nvSpPr>
        <p:spPr>
          <a:xfrm>
            <a:off x="242316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136" descr="/home/claude/movers/img/fc/get-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1399032"/>
            <a:ext cx="905256" cy="905256"/>
          </a:xfrm>
          <a:prstGeom prst="rect">
            <a:avLst/>
          </a:prstGeom>
        </p:spPr>
      </p:pic>
      <p:sp>
        <p:nvSpPr>
          <p:cNvPr id="12" name="R2_a137"/>
          <p:cNvSpPr/>
          <p:nvPr/>
        </p:nvSpPr>
        <p:spPr>
          <a:xfrm>
            <a:off x="354787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Get up! Jump!</a:t>
            </a:r>
            <a:endParaRPr lang="en-US" sz="1250" dirty="0"/>
          </a:p>
        </p:txBody>
      </p:sp>
      <p:sp>
        <p:nvSpPr>
          <p:cNvPr id="13" name="cd_138"/>
          <p:cNvSpPr/>
          <p:nvPr/>
        </p:nvSpPr>
        <p:spPr>
          <a:xfrm>
            <a:off x="457200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139" descr="/home/claude/movers/img/fc/have-a-show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399032"/>
            <a:ext cx="905256" cy="905256"/>
          </a:xfrm>
          <a:prstGeom prst="rect">
            <a:avLst/>
          </a:prstGeom>
        </p:spPr>
      </p:pic>
      <p:sp>
        <p:nvSpPr>
          <p:cNvPr id="15" name="R3_a140"/>
          <p:cNvSpPr/>
          <p:nvPr/>
        </p:nvSpPr>
        <p:spPr>
          <a:xfrm>
            <a:off x="569671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a shower!</a:t>
            </a:r>
            <a:endParaRPr lang="en-US" sz="1250" dirty="0"/>
          </a:p>
        </p:txBody>
      </p:sp>
      <p:sp>
        <p:nvSpPr>
          <p:cNvPr id="16" name="cd_141"/>
          <p:cNvSpPr/>
          <p:nvPr/>
        </p:nvSpPr>
        <p:spPr>
          <a:xfrm>
            <a:off x="672084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142" descr="/home/claude/movers/img/fc/toothbr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1399032"/>
            <a:ext cx="905256" cy="905256"/>
          </a:xfrm>
          <a:prstGeom prst="rect">
            <a:avLst/>
          </a:prstGeom>
        </p:spPr>
      </p:pic>
      <p:sp>
        <p:nvSpPr>
          <p:cNvPr id="18" name="R4_a143"/>
          <p:cNvSpPr/>
          <p:nvPr/>
        </p:nvSpPr>
        <p:spPr>
          <a:xfrm>
            <a:off x="784555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Clean your teeth!</a:t>
            </a:r>
            <a:endParaRPr lang="en-US" sz="1250" dirty="0"/>
          </a:p>
        </p:txBody>
      </p:sp>
      <p:sp>
        <p:nvSpPr>
          <p:cNvPr id="19" name="cd_144"/>
          <p:cNvSpPr/>
          <p:nvPr/>
        </p:nvSpPr>
        <p:spPr>
          <a:xfrm>
            <a:off x="27432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145" descr="/home/claude/movers/img/fc/towe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999232"/>
            <a:ext cx="905256" cy="905256"/>
          </a:xfrm>
          <a:prstGeom prst="rect">
            <a:avLst/>
          </a:prstGeom>
        </p:spPr>
      </p:pic>
      <p:sp>
        <p:nvSpPr>
          <p:cNvPr id="21" name="R5_a146"/>
          <p:cNvSpPr/>
          <p:nvPr/>
        </p:nvSpPr>
        <p:spPr>
          <a:xfrm>
            <a:off x="139903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Dry your face!</a:t>
            </a:r>
            <a:endParaRPr lang="en-US" sz="1250" dirty="0"/>
          </a:p>
        </p:txBody>
      </p:sp>
      <p:sp>
        <p:nvSpPr>
          <p:cNvPr id="22" name="cd_147"/>
          <p:cNvSpPr/>
          <p:nvPr/>
        </p:nvSpPr>
        <p:spPr>
          <a:xfrm>
            <a:off x="242316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148" descr="/home/claude/movers/img/fc/have-breakfa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6312" y="2999232"/>
            <a:ext cx="905256" cy="905256"/>
          </a:xfrm>
          <a:prstGeom prst="rect">
            <a:avLst/>
          </a:prstGeom>
        </p:spPr>
      </p:pic>
      <p:sp>
        <p:nvSpPr>
          <p:cNvPr id="24" name="R6_a149"/>
          <p:cNvSpPr/>
          <p:nvPr/>
        </p:nvSpPr>
        <p:spPr>
          <a:xfrm>
            <a:off x="354787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Have breakfast!</a:t>
            </a:r>
            <a:endParaRPr lang="en-US" sz="1250" dirty="0"/>
          </a:p>
        </p:txBody>
      </p:sp>
      <p:sp>
        <p:nvSpPr>
          <p:cNvPr id="25" name="cd_150"/>
          <p:cNvSpPr/>
          <p:nvPr/>
        </p:nvSpPr>
        <p:spPr>
          <a:xfrm>
            <a:off x="457200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151" descr="/home/claude/movers/img/e-u2c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2999232"/>
            <a:ext cx="905256" cy="905256"/>
          </a:xfrm>
          <a:prstGeom prst="rect">
            <a:avLst/>
          </a:prstGeom>
        </p:spPr>
      </p:pic>
      <p:sp>
        <p:nvSpPr>
          <p:cNvPr id="27" name="R7_a152"/>
          <p:cNvSpPr/>
          <p:nvPr/>
        </p:nvSpPr>
        <p:spPr>
          <a:xfrm>
            <a:off x="569671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Oh no! I'm late! Run!</a:t>
            </a:r>
            <a:endParaRPr lang="en-US" sz="1250" dirty="0"/>
          </a:p>
        </p:txBody>
      </p:sp>
      <p:sp>
        <p:nvSpPr>
          <p:cNvPr id="28" name="bk_153"/>
          <p:cNvSpPr/>
          <p:nvPr/>
        </p:nvSpPr>
        <p:spPr>
          <a:xfrm>
            <a:off x="228600" y="4681728"/>
            <a:ext cx="163677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Daily routines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5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NEW!</a:t>
            </a:r>
            <a:endParaRPr lang="en-US" sz="1600" dirty="0"/>
          </a:p>
        </p:txBody>
      </p:sp>
      <p:sp>
        <p:nvSpPr>
          <p:cNvPr id="4" name="bm_15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often?</a:t>
            </a:r>
            <a:endParaRPr lang="en-US" sz="3200" dirty="0"/>
          </a:p>
        </p:txBody>
      </p:sp>
      <p:sp>
        <p:nvSpPr>
          <p:cNvPr id="5" name="in_15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at the ticks. What do the words mean?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le spunte. Cosa significano le parole?</a:t>
            </a:r>
            <a:endParaRPr lang="en-US" sz="1400" dirty="0"/>
          </a:p>
        </p:txBody>
      </p:sp>
      <p:sp>
        <p:nvSpPr>
          <p:cNvPr id="6" name="mode_15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 · 🗣 SPEAK</a:t>
            </a:r>
            <a:endParaRPr lang="en-US" sz="1000" dirty="0"/>
          </a:p>
        </p:txBody>
      </p:sp>
      <p:sp>
        <p:nvSpPr>
          <p:cNvPr id="7" name="gb_158"/>
          <p:cNvSpPr/>
          <p:nvPr/>
        </p:nvSpPr>
        <p:spPr>
          <a:xfrm>
            <a:off x="320040" y="1280160"/>
            <a:ext cx="8503920" cy="1993392"/>
          </a:xfrm>
          <a:prstGeom prst="roundRect">
            <a:avLst>
              <a:gd name="adj" fmla="val 5505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159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always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✓✓✓✓✓✓✓ = sempre</a:t>
            </a:r>
            <a:endParaRPr lang="en-US" sz="1500" dirty="0"/>
          </a:p>
        </p:txBody>
      </p:sp>
      <p:sp>
        <p:nvSpPr>
          <p:cNvPr id="9" name="gl_160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often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✓✓✓✓✓ = spesso (OF-en, no 't'!)</a:t>
            </a:r>
            <a:endParaRPr lang="en-US" sz="1500" dirty="0"/>
          </a:p>
        </p:txBody>
      </p:sp>
      <p:sp>
        <p:nvSpPr>
          <p:cNvPr id="10" name="gl_161"/>
          <p:cNvSpPr/>
          <p:nvPr/>
        </p:nvSpPr>
        <p:spPr>
          <a:xfrm>
            <a:off x="548640" y="21854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sometimes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✓✓ = a volte</a:t>
            </a:r>
            <a:endParaRPr lang="en-US" sz="1500" dirty="0"/>
          </a:p>
        </p:txBody>
      </p:sp>
      <p:sp>
        <p:nvSpPr>
          <p:cNvPr id="11" name="gl_162"/>
          <p:cNvSpPr/>
          <p:nvPr/>
        </p:nvSpPr>
        <p:spPr>
          <a:xfrm>
            <a:off x="548640" y="25694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never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✗ = mai</a:t>
            </a:r>
            <a:endParaRPr lang="en-US" sz="1500" dirty="0"/>
          </a:p>
        </p:txBody>
      </p:sp>
      <p:sp>
        <p:nvSpPr>
          <p:cNvPr id="12" name="pq_163"/>
          <p:cNvSpPr/>
          <p:nvPr/>
        </p:nvSpPr>
        <p:spPr>
          <a:xfrm>
            <a:off x="365760" y="3410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clean always my teeth. ✗</a:t>
            </a:r>
            <a:endParaRPr lang="en-US" sz="1300" dirty="0"/>
          </a:p>
        </p:txBody>
      </p:sp>
      <p:sp>
        <p:nvSpPr>
          <p:cNvPr id="13" name="R1_pa164"/>
          <p:cNvSpPr/>
          <p:nvPr/>
        </p:nvSpPr>
        <p:spPr>
          <a:xfrm>
            <a:off x="6126480" y="3410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always clean my teeth.</a:t>
            </a:r>
            <a:endParaRPr lang="en-US" sz="1300" dirty="0"/>
          </a:p>
        </p:txBody>
      </p:sp>
      <p:sp>
        <p:nvSpPr>
          <p:cNvPr id="14" name="pq_165"/>
          <p:cNvSpPr/>
          <p:nvPr/>
        </p:nvSpPr>
        <p:spPr>
          <a:xfrm>
            <a:off x="365760" y="38679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get up never late. ✗</a:t>
            </a:r>
            <a:endParaRPr lang="en-US" sz="1300" dirty="0"/>
          </a:p>
        </p:txBody>
      </p:sp>
      <p:sp>
        <p:nvSpPr>
          <p:cNvPr id="15" name="R2_pa166"/>
          <p:cNvSpPr/>
          <p:nvPr/>
        </p:nvSpPr>
        <p:spPr>
          <a:xfrm>
            <a:off x="6126480" y="3867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never get up late.</a:t>
            </a:r>
            <a:endParaRPr lang="en-US" sz="1300" dirty="0"/>
          </a:p>
        </p:txBody>
      </p:sp>
      <p:sp>
        <p:nvSpPr>
          <p:cNvPr id="16" name="bk_167"/>
          <p:cNvSpPr/>
          <p:nvPr/>
        </p:nvSpPr>
        <p:spPr>
          <a:xfrm>
            <a:off x="228600" y="4681728"/>
            <a:ext cx="319125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always · often · sometimes · never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6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16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walls: How often?</a:t>
            </a:r>
            <a:endParaRPr lang="en-US" sz="2400" dirty="0"/>
          </a:p>
        </p:txBody>
      </p:sp>
      <p:sp>
        <p:nvSpPr>
          <p:cNvPr id="5" name="in_17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How often do YOU do it? Run to the wall!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Quanto spesso lo fai TU? Corri alla parete giusta!</a:t>
            </a:r>
            <a:endParaRPr lang="en-US" sz="1100" dirty="0"/>
          </a:p>
        </p:txBody>
      </p:sp>
      <p:sp>
        <p:nvSpPr>
          <p:cNvPr id="6" name="mode_17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 · ⏱ 5 MIN</a:t>
            </a:r>
            <a:endParaRPr lang="en-US" sz="1000" dirty="0"/>
          </a:p>
        </p:txBody>
      </p:sp>
      <p:sp>
        <p:nvSpPr>
          <p:cNvPr id="7" name="diff_172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 always / often / … + verb</a:t>
            </a:r>
            <a:endParaRPr lang="en-US" sz="950" dirty="0"/>
          </a:p>
        </p:txBody>
      </p:sp>
      <p:sp>
        <p:nvSpPr>
          <p:cNvPr id="8" name="diff_173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Add a day: on Sundays!</a:t>
            </a:r>
            <a:endParaRPr lang="en-US" sz="950" dirty="0"/>
          </a:p>
        </p:txBody>
      </p:sp>
      <p:sp>
        <p:nvSpPr>
          <p:cNvPr id="9" name="st_174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175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176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2" name="se_177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says: I get up late.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 dice un'attività.</a:t>
            </a:r>
            <a:endParaRPr lang="en-US" sz="1050" dirty="0"/>
          </a:p>
        </p:txBody>
      </p:sp>
      <p:sp>
        <p:nvSpPr>
          <p:cNvPr id="13" name="st_178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179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180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6" name="se_181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your wall!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alla tua parete!</a:t>
            </a:r>
            <a:endParaRPr lang="en-US" sz="1050" dirty="0"/>
          </a:p>
        </p:txBody>
      </p:sp>
      <p:sp>
        <p:nvSpPr>
          <p:cNvPr id="17" name="st_182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183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184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20" name="se_185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I sometimes get up late.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Di': I sometimes get up late.</a:t>
            </a:r>
            <a:endParaRPr lang="en-US" sz="1050" dirty="0"/>
          </a:p>
        </p:txBody>
      </p:sp>
      <p:sp>
        <p:nvSpPr>
          <p:cNvPr id="21" name="gl_186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🧱 ALWAYS · 🧱 OFTEN · 🧱 SOMETIMES · 🧱 NEVER</a:t>
            </a:r>
            <a:endParaRPr lang="en-US" sz="1400" dirty="0"/>
          </a:p>
        </p:txBody>
      </p:sp>
      <p:sp>
        <p:nvSpPr>
          <p:cNvPr id="22" name="bk_187"/>
          <p:cNvSpPr/>
          <p:nvPr/>
        </p:nvSpPr>
        <p:spPr>
          <a:xfrm>
            <a:off x="228600" y="4681728"/>
            <a:ext cx="319125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always · often · sometimes · never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18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</a:t>
            </a:r>
            <a:endParaRPr lang="en-US" sz="2700" dirty="0"/>
          </a:p>
        </p:txBody>
      </p:sp>
      <p:sp>
        <p:nvSpPr>
          <p:cNvPr id="5" name="in_19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read. Does the fish talk? Guess!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leggi. Il pesce parla? Indovina!</a:t>
            </a:r>
            <a:endParaRPr lang="en-US" sz="1400" dirty="0"/>
          </a:p>
        </p:txBody>
      </p:sp>
      <p:sp>
        <p:nvSpPr>
          <p:cNvPr id="6" name="mode_19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👀 LOOK</a:t>
            </a:r>
            <a:endParaRPr lang="en-US" sz="1000" dirty="0"/>
          </a:p>
        </p:txBody>
      </p:sp>
      <p:sp>
        <p:nvSpPr>
          <p:cNvPr id="7" name="pf_192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93" descr="/home/claude/movers/img/crop/u2-p20-row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20" y="1325880"/>
            <a:ext cx="7787960" cy="3246120"/>
          </a:xfrm>
          <a:prstGeom prst="rect">
            <a:avLst/>
          </a:prstGeom>
        </p:spPr>
      </p:pic>
      <p:sp>
        <p:nvSpPr>
          <p:cNvPr id="9" name="bk_194"/>
          <p:cNvSpPr/>
          <p:nvPr/>
        </p:nvSpPr>
        <p:spPr>
          <a:xfrm>
            <a:off x="228600" y="4681728"/>
            <a:ext cx="350215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p.20 · 🎧 1.24 · 🎬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9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19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</a:t>
            </a:r>
            <a:endParaRPr lang="en-US" sz="2700" dirty="0"/>
          </a:p>
        </p:txBody>
      </p:sp>
      <p:sp>
        <p:nvSpPr>
          <p:cNvPr id="5" name="in_19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often do they feed the fish?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Quanto spesso danno da mangiare al pesce?</a:t>
            </a:r>
            <a:endParaRPr lang="en-US" sz="1400" dirty="0"/>
          </a:p>
        </p:txBody>
      </p:sp>
      <p:sp>
        <p:nvSpPr>
          <p:cNvPr id="6" name="pf_198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99" descr="/home/claude/movers/img/crop/u2-p20-row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43055"/>
            <a:ext cx="8412480" cy="3211770"/>
          </a:xfrm>
          <a:prstGeom prst="rect">
            <a:avLst/>
          </a:prstGeom>
        </p:spPr>
      </p:pic>
      <p:sp>
        <p:nvSpPr>
          <p:cNvPr id="8" name="bk_200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p.20 · 🎧 1.24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202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</a:t>
            </a:r>
            <a:endParaRPr lang="en-US" sz="2700" dirty="0"/>
          </a:p>
        </p:txBody>
      </p:sp>
      <p:sp>
        <p:nvSpPr>
          <p:cNvPr id="5" name="in_203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birds talk? Does Fred talk? Were you right?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Gli uccelli parlano? Fred parla? Avevi ragione?</a:t>
            </a:r>
            <a:endParaRPr lang="en-US" sz="1400" dirty="0"/>
          </a:p>
        </p:txBody>
      </p:sp>
      <p:sp>
        <p:nvSpPr>
          <p:cNvPr id="6" name="pf_204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205" descr="/home/claude/movers/img/crop/u2-p20-row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24086"/>
            <a:ext cx="8412480" cy="3049708"/>
          </a:xfrm>
          <a:prstGeom prst="rect">
            <a:avLst/>
          </a:prstGeom>
        </p:spPr>
      </p:pic>
      <p:sp>
        <p:nvSpPr>
          <p:cNvPr id="8" name="bk_20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p.20 · 🎧 1.24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0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says it? (1)</a:t>
            </a:r>
            <a:endParaRPr lang="en-US" sz="2700" dirty="0"/>
          </a:p>
        </p:txBody>
      </p:sp>
      <p:sp>
        <p:nvSpPr>
          <p:cNvPr id="5" name="in_20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Who says it? Whisper to your partner!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Chi lo dice? Sussurralo al compagno!</a:t>
            </a:r>
            <a:endParaRPr lang="en-US" sz="1400" dirty="0"/>
          </a:p>
        </p:txBody>
      </p:sp>
      <p:sp>
        <p:nvSpPr>
          <p:cNvPr id="6" name="mode_21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👂 LISTEN</a:t>
            </a:r>
            <a:endParaRPr lang="en-US" sz="1000" dirty="0"/>
          </a:p>
        </p:txBody>
      </p:sp>
      <p:sp>
        <p:nvSpPr>
          <p:cNvPr id="7" name="pf_211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12" descr="/home/claude/movers/img/crop/u2-p20-sto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624" y="1325880"/>
            <a:ext cx="2778912" cy="3246120"/>
          </a:xfrm>
          <a:prstGeom prst="rect">
            <a:avLst/>
          </a:prstGeom>
        </p:spPr>
      </p:pic>
      <p:sp>
        <p:nvSpPr>
          <p:cNvPr id="9" name="q_213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often do they feed it?</a:t>
            </a:r>
            <a:endParaRPr lang="en-US" sz="1250" dirty="0"/>
          </a:p>
        </p:txBody>
      </p:sp>
      <p:sp>
        <p:nvSpPr>
          <p:cNvPr id="10" name="R1_a214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Henrietta 🐔</a:t>
            </a:r>
            <a:endParaRPr lang="en-US" sz="1250" dirty="0"/>
          </a:p>
        </p:txBody>
      </p:sp>
      <p:sp>
        <p:nvSpPr>
          <p:cNvPr id="11" name="q_215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sometimes talk, but I never talk to cats.</a:t>
            </a:r>
            <a:endParaRPr lang="en-US" sz="1250" dirty="0"/>
          </a:p>
        </p:txBody>
      </p:sp>
      <p:sp>
        <p:nvSpPr>
          <p:cNvPr id="12" name="R2_a216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Fred (the fish) 🐟</a:t>
            </a:r>
            <a:endParaRPr lang="en-US" sz="1250" dirty="0"/>
          </a:p>
        </p:txBody>
      </p:sp>
      <p:sp>
        <p:nvSpPr>
          <p:cNvPr id="13" name="q_217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Fish are always in water. Can they talk?</a:t>
            </a:r>
            <a:endParaRPr lang="en-US" sz="1250" dirty="0"/>
          </a:p>
        </p:txBody>
      </p:sp>
      <p:sp>
        <p:nvSpPr>
          <p:cNvPr id="14" name="R3_a218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 🐴</a:t>
            </a:r>
            <a:endParaRPr lang="en-US" sz="1250" dirty="0"/>
          </a:p>
        </p:txBody>
      </p:sp>
      <p:sp>
        <p:nvSpPr>
          <p:cNvPr id="15" name="q_219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Cameron can get on the table!</a:t>
            </a:r>
            <a:endParaRPr lang="en-US" sz="1250" dirty="0"/>
          </a:p>
        </p:txBody>
      </p:sp>
      <p:sp>
        <p:nvSpPr>
          <p:cNvPr id="16" name="R4_a220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 👦</a:t>
            </a:r>
            <a:endParaRPr lang="en-US" sz="1250" dirty="0"/>
          </a:p>
        </p:txBody>
      </p:sp>
      <p:sp>
        <p:nvSpPr>
          <p:cNvPr id="17" name="bk_221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p.20 · 🎧 1.25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2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2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says it? (2)</a:t>
            </a:r>
            <a:endParaRPr lang="en-US" sz="2700" dirty="0"/>
          </a:p>
        </p:txBody>
      </p:sp>
      <p:sp>
        <p:nvSpPr>
          <p:cNvPr id="5" name="in_22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Who says it? Whisper to your partner!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Chi lo dice? Sussurralo al compagno!</a:t>
            </a:r>
            <a:endParaRPr lang="en-US" sz="1400" dirty="0"/>
          </a:p>
        </p:txBody>
      </p:sp>
      <p:sp>
        <p:nvSpPr>
          <p:cNvPr id="6" name="mode_22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👂 LISTEN</a:t>
            </a:r>
            <a:endParaRPr lang="en-US" sz="1000" dirty="0"/>
          </a:p>
        </p:txBody>
      </p:sp>
      <p:sp>
        <p:nvSpPr>
          <p:cNvPr id="7" name="pf_22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27" descr="/home/claude/movers/img/crop/u2-p20-sto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624" y="1325880"/>
            <a:ext cx="2778912" cy="3246120"/>
          </a:xfrm>
          <a:prstGeom prst="rect">
            <a:avLst/>
          </a:prstGeom>
        </p:spPr>
      </p:pic>
      <p:sp>
        <p:nvSpPr>
          <p:cNvPr id="9" name="q_228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Fish live in water, Shelly. They're always in water.</a:t>
            </a:r>
            <a:endParaRPr lang="en-US" sz="1250" dirty="0"/>
          </a:p>
        </p:txBody>
      </p:sp>
      <p:sp>
        <p:nvSpPr>
          <p:cNvPr id="10" name="R1_a229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Gracie 🐐</a:t>
            </a:r>
            <a:endParaRPr lang="en-US" sz="1250" dirty="0"/>
          </a:p>
        </p:txBody>
      </p:sp>
      <p:sp>
        <p:nvSpPr>
          <p:cNvPr id="11" name="q_230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the school fish, but it needs food on Saturdays and Sundays too.</a:t>
            </a:r>
            <a:endParaRPr lang="en-US" sz="1250" dirty="0"/>
          </a:p>
        </p:txBody>
      </p:sp>
      <p:sp>
        <p:nvSpPr>
          <p:cNvPr id="12" name="R2_a231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Cameron 🐱</a:t>
            </a:r>
            <a:endParaRPr lang="en-US" sz="1250" dirty="0"/>
          </a:p>
        </p:txBody>
      </p:sp>
      <p:sp>
        <p:nvSpPr>
          <p:cNvPr id="13" name="q_232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often does this fish wash its face?</a:t>
            </a:r>
            <a:endParaRPr lang="en-US" sz="1250" dirty="0"/>
          </a:p>
        </p:txBody>
      </p:sp>
      <p:sp>
        <p:nvSpPr>
          <p:cNvPr id="14" name="R3_a233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Shelly 🐑</a:t>
            </a:r>
            <a:endParaRPr lang="en-US" sz="1250" dirty="0"/>
          </a:p>
        </p:txBody>
      </p:sp>
      <p:sp>
        <p:nvSpPr>
          <p:cNvPr id="15" name="q_234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Birds often talk. Cameron, does the fish ever talk?</a:t>
            </a:r>
            <a:endParaRPr lang="en-US" sz="1250" dirty="0"/>
          </a:p>
        </p:txBody>
      </p:sp>
      <p:sp>
        <p:nvSpPr>
          <p:cNvPr id="16" name="R4_a235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Rocky 🐓</a:t>
            </a:r>
            <a:endParaRPr lang="en-US" sz="1250" dirty="0"/>
          </a:p>
        </p:txBody>
      </p:sp>
      <p:sp>
        <p:nvSpPr>
          <p:cNvPr id="17" name="bk_236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p.20 · 🎧 1.25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3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</a:t>
            </a:r>
            <a:endParaRPr lang="en-US" sz="1600" dirty="0"/>
          </a:p>
        </p:txBody>
      </p:sp>
      <p:sp>
        <p:nvSpPr>
          <p:cNvPr id="4" name="bm_23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Gracie's Grammar</a:t>
            </a:r>
            <a:endParaRPr lang="en-US" sz="2700" dirty="0"/>
          </a:p>
        </p:txBody>
      </p:sp>
      <p:sp>
        <p:nvSpPr>
          <p:cNvPr id="5" name="mode_23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✍ WRITE</a:t>
            </a:r>
            <a:endParaRPr lang="en-US" sz="1000" dirty="0"/>
          </a:p>
        </p:txBody>
      </p:sp>
      <p:sp>
        <p:nvSpPr>
          <p:cNvPr id="6" name="gb_240"/>
          <p:cNvSpPr/>
          <p:nvPr/>
        </p:nvSpPr>
        <p:spPr>
          <a:xfrm>
            <a:off x="320040" y="1280160"/>
            <a:ext cx="8503920" cy="1993392"/>
          </a:xfrm>
          <a:prstGeom prst="roundRect">
            <a:avLst>
              <a:gd name="adj" fmla="val 5505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pic>
        <p:nvPicPr>
          <p:cNvPr id="7" name="pic_241" descr="/home/claude/movers/img/fc/grac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46311"/>
            <a:ext cx="868680" cy="1042803"/>
          </a:xfrm>
          <a:prstGeom prst="rect">
            <a:avLst/>
          </a:prstGeom>
        </p:spPr>
      </p:pic>
      <p:sp>
        <p:nvSpPr>
          <p:cNvPr id="8" name="gl_242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often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do you clean your teeth?</a:t>
            </a:r>
            <a:endParaRPr lang="en-US" sz="1500" dirty="0"/>
          </a:p>
        </p:txBody>
      </p:sp>
      <p:sp>
        <p:nvSpPr>
          <p:cNvPr id="9" name="gl_243"/>
          <p:cNvSpPr/>
          <p:nvPr/>
        </p:nvSpPr>
        <p:spPr>
          <a:xfrm>
            <a:off x="548640" y="18013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always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clean them after breakfast, lunch and dinner.</a:t>
            </a:r>
            <a:endParaRPr lang="en-US" sz="1500" dirty="0"/>
          </a:p>
        </p:txBody>
      </p:sp>
      <p:sp>
        <p:nvSpPr>
          <p:cNvPr id="10" name="gl_244"/>
          <p:cNvSpPr/>
          <p:nvPr/>
        </p:nvSpPr>
        <p:spPr>
          <a:xfrm>
            <a:off x="548640" y="21854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ever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get up late?</a:t>
            </a:r>
            <a:endParaRPr lang="en-US" sz="1500" dirty="0"/>
          </a:p>
        </p:txBody>
      </p:sp>
      <p:sp>
        <p:nvSpPr>
          <p:cNvPr id="11" name="gl_245"/>
          <p:cNvSpPr/>
          <p:nvPr/>
        </p:nvSpPr>
        <p:spPr>
          <a:xfrm>
            <a:off x="548640" y="25694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No, I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never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get up late.</a:t>
            </a:r>
            <a:endParaRPr lang="en-US" sz="1500" dirty="0"/>
          </a:p>
        </p:txBody>
      </p:sp>
      <p:sp>
        <p:nvSpPr>
          <p:cNvPr id="12" name="pq_246"/>
          <p:cNvSpPr/>
          <p:nvPr/>
        </p:nvSpPr>
        <p:spPr>
          <a:xfrm>
            <a:off x="365760" y="341071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Fish live in water. They're ___ in water.</a:t>
            </a:r>
            <a:endParaRPr lang="en-US" sz="1300" dirty="0"/>
          </a:p>
        </p:txBody>
      </p:sp>
      <p:sp>
        <p:nvSpPr>
          <p:cNvPr id="13" name="R1_pa247"/>
          <p:cNvSpPr/>
          <p:nvPr/>
        </p:nvSpPr>
        <p:spPr>
          <a:xfrm>
            <a:off x="6126480" y="341071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always</a:t>
            </a:r>
            <a:endParaRPr lang="en-US" sz="1300" dirty="0"/>
          </a:p>
        </p:txBody>
      </p:sp>
      <p:sp>
        <p:nvSpPr>
          <p:cNvPr id="14" name="pq_248"/>
          <p:cNvSpPr/>
          <p:nvPr/>
        </p:nvSpPr>
        <p:spPr>
          <a:xfrm>
            <a:off x="365760" y="3813048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Birds ___ talk. (✓✓✓✓✓)</a:t>
            </a:r>
            <a:endParaRPr lang="en-US" sz="1300" dirty="0"/>
          </a:p>
        </p:txBody>
      </p:sp>
      <p:sp>
        <p:nvSpPr>
          <p:cNvPr id="15" name="R2_pa249"/>
          <p:cNvSpPr/>
          <p:nvPr/>
        </p:nvSpPr>
        <p:spPr>
          <a:xfrm>
            <a:off x="6126480" y="38130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often</a:t>
            </a:r>
            <a:endParaRPr lang="en-US" sz="1300" dirty="0"/>
          </a:p>
        </p:txBody>
      </p:sp>
      <p:sp>
        <p:nvSpPr>
          <p:cNvPr id="16" name="pq_250"/>
          <p:cNvSpPr/>
          <p:nvPr/>
        </p:nvSpPr>
        <p:spPr>
          <a:xfrm>
            <a:off x="365760" y="421538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This fish ___ washes its face. (✗)</a:t>
            </a:r>
            <a:endParaRPr lang="en-US" sz="1300" dirty="0"/>
          </a:p>
        </p:txBody>
      </p:sp>
      <p:sp>
        <p:nvSpPr>
          <p:cNvPr id="17" name="R3_pa251"/>
          <p:cNvSpPr/>
          <p:nvPr/>
        </p:nvSpPr>
        <p:spPr>
          <a:xfrm>
            <a:off x="6126480" y="421538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never</a:t>
            </a:r>
            <a:endParaRPr lang="en-US" sz="1300" dirty="0"/>
          </a:p>
        </p:txBody>
      </p:sp>
      <p:sp>
        <p:nvSpPr>
          <p:cNvPr id="18" name="bk_252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p.21 · 🎧 1.26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5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</a:t>
            </a:r>
            <a:endParaRPr lang="en-US" sz="1600" dirty="0"/>
          </a:p>
        </p:txBody>
      </p:sp>
      <p:sp>
        <p:nvSpPr>
          <p:cNvPr id="4" name="bm_254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Peter and Clare</a:t>
            </a:r>
            <a:endParaRPr lang="en-US" sz="2700" dirty="0"/>
          </a:p>
        </p:txBody>
      </p:sp>
      <p:sp>
        <p:nvSpPr>
          <p:cNvPr id="5" name="in_25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Draw (or stick) the activity in the right box. Then read and write.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Disegna (o attacca) l'attività nel riquadro giusto. Poi leggi e scrivi.</a:t>
            </a:r>
            <a:endParaRPr lang="en-US" sz="1100" dirty="0"/>
          </a:p>
        </p:txBody>
      </p:sp>
      <p:sp>
        <p:nvSpPr>
          <p:cNvPr id="6" name="mode_25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👤 ALONE · 👂 LISTEN</a:t>
            </a:r>
            <a:endParaRPr lang="en-US" sz="1000" dirty="0"/>
          </a:p>
        </p:txBody>
      </p:sp>
      <p:sp>
        <p:nvSpPr>
          <p:cNvPr id="7" name="pf_257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58" descr="/home/claude/movers/img/crop/u2-p21-ex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2120"/>
            <a:ext cx="5120640" cy="2453640"/>
          </a:xfrm>
          <a:prstGeom prst="rect">
            <a:avLst/>
          </a:prstGeom>
        </p:spPr>
      </p:pic>
      <p:sp>
        <p:nvSpPr>
          <p:cNvPr id="9" name="q_259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Peter ___ goes for a swim.</a:t>
            </a:r>
            <a:endParaRPr lang="en-US" sz="1250" dirty="0"/>
          </a:p>
        </p:txBody>
      </p:sp>
      <p:sp>
        <p:nvSpPr>
          <p:cNvPr id="10" name="R1_a260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often</a:t>
            </a:r>
            <a:endParaRPr lang="en-US" sz="1250" dirty="0"/>
          </a:p>
        </p:txBody>
      </p:sp>
      <p:sp>
        <p:nvSpPr>
          <p:cNvPr id="11" name="q_261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Clare ___ feeds her fish.</a:t>
            </a:r>
            <a:endParaRPr lang="en-US" sz="1250" dirty="0"/>
          </a:p>
        </p:txBody>
      </p:sp>
      <p:sp>
        <p:nvSpPr>
          <p:cNvPr id="12" name="R2_a262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always</a:t>
            </a:r>
            <a:endParaRPr lang="en-US" sz="1250" dirty="0"/>
          </a:p>
        </p:txBody>
      </p:sp>
      <p:sp>
        <p:nvSpPr>
          <p:cNvPr id="13" name="q_263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Peter ___ has a shower at night.</a:t>
            </a:r>
            <a:endParaRPr lang="en-US" sz="1250" dirty="0"/>
          </a:p>
        </p:txBody>
      </p:sp>
      <p:sp>
        <p:nvSpPr>
          <p:cNvPr id="14" name="R3_a264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sometimes</a:t>
            </a:r>
            <a:endParaRPr lang="en-US" sz="1250" dirty="0"/>
          </a:p>
        </p:txBody>
      </p:sp>
      <p:sp>
        <p:nvSpPr>
          <p:cNvPr id="15" name="q_265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Clare ___ has burgers for breakfast.</a:t>
            </a:r>
            <a:endParaRPr lang="en-US" sz="1250" dirty="0"/>
          </a:p>
        </p:txBody>
      </p:sp>
      <p:sp>
        <p:nvSpPr>
          <p:cNvPr id="16" name="R4_a266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never</a:t>
            </a:r>
            <a:endParaRPr lang="en-US" sz="1250" dirty="0"/>
          </a:p>
        </p:txBody>
      </p:sp>
      <p:sp>
        <p:nvSpPr>
          <p:cNvPr id="17" name="bk_267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p.21 · 🎧 1.27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6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26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Stage 1</a:t>
            </a:r>
            <a:endParaRPr lang="en-US" sz="2700" dirty="0"/>
          </a:p>
        </p:txBody>
      </p:sp>
      <p:sp>
        <p:nvSpPr>
          <p:cNvPr id="5" name="in_27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 with a partner. Ask two friends how often they do free time activities.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Lavora con un compagno. Chiedi a due amici quanto spesso fanno attività nel tempo libero.</a:t>
            </a:r>
            <a:endParaRPr lang="en-US" sz="1100" dirty="0"/>
          </a:p>
        </p:txBody>
      </p:sp>
      <p:sp>
        <p:nvSpPr>
          <p:cNvPr id="6" name="mode_27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5 MIN</a:t>
            </a:r>
            <a:endParaRPr lang="en-US" sz="1000" dirty="0"/>
          </a:p>
        </p:txBody>
      </p:sp>
      <p:sp>
        <p:nvSpPr>
          <p:cNvPr id="7" name="pf_272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73" descr="/home/claude/movers/img/crop/u2-p21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726" y="1325880"/>
            <a:ext cx="7110549" cy="3246120"/>
          </a:xfrm>
          <a:prstGeom prst="rect">
            <a:avLst/>
          </a:prstGeom>
        </p:spPr>
      </p:pic>
      <p:sp>
        <p:nvSpPr>
          <p:cNvPr id="9" name="bk_274"/>
          <p:cNvSpPr/>
          <p:nvPr/>
        </p:nvSpPr>
        <p:spPr>
          <a:xfrm>
            <a:off x="228600" y="4681728"/>
            <a:ext cx="3268980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p.21 · Mission Stage 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7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276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27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278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my morning routine.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la mia routine del mattino.</a:t>
            </a:r>
            <a:endParaRPr lang="en-US" sz="1300" dirty="0"/>
          </a:p>
        </p:txBody>
      </p:sp>
      <p:sp>
        <p:nvSpPr>
          <p:cNvPr id="7" name="can_279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ask and answer: How often…?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chiedere e rispondere: Quanto spesso…?</a:t>
            </a:r>
            <a:endParaRPr lang="en-US" sz="1300" dirty="0"/>
          </a:p>
        </p:txBody>
      </p:sp>
      <p:sp>
        <p:nvSpPr>
          <p:cNvPr id="8" name="can_280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put always / never in the right place.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mettere always / never al posto giusto.</a:t>
            </a:r>
            <a:endParaRPr lang="en-US" sz="1300" dirty="0"/>
          </a:p>
        </p:txBody>
      </p:sp>
      <p:sp>
        <p:nvSpPr>
          <p:cNvPr id="9" name="hw_281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p.20: ex.1 and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p.21: ex.1 and 2</a:t>
            </a:r>
            <a:endParaRPr lang="en-US" sz="1250" dirty="0"/>
          </a:p>
        </p:txBody>
      </p:sp>
      <p:sp>
        <p:nvSpPr>
          <p:cNvPr id="10" name="nx_282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a song about free time activities!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8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8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Find a friend!</a:t>
            </a:r>
            <a:endParaRPr lang="en-US" sz="2400" dirty="0"/>
          </a:p>
        </p:txBody>
      </p:sp>
      <p:sp>
        <p:nvSpPr>
          <p:cNvPr id="5" name="in_28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Walk and ask: Do you ever…? Write a name!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Cammina e chiedi: Do you ever…? Scrivi un nome!</a:t>
            </a:r>
            <a:endParaRPr lang="en-US" sz="1250" dirty="0"/>
          </a:p>
        </p:txBody>
      </p:sp>
      <p:sp>
        <p:nvSpPr>
          <p:cNvPr id="6" name="mode_28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MINGLE · ⏱ 6 MIN</a:t>
            </a:r>
            <a:endParaRPr lang="en-US" sz="1000" dirty="0"/>
          </a:p>
        </p:txBody>
      </p:sp>
      <p:sp>
        <p:nvSpPr>
          <p:cNvPr id="7" name="diff_287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Do you ever …? Yes, I do.</a:t>
            </a:r>
            <a:endParaRPr lang="en-US" sz="950" dirty="0"/>
          </a:p>
        </p:txBody>
      </p:sp>
      <p:sp>
        <p:nvSpPr>
          <p:cNvPr id="8" name="st_288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289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290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📖 READ</a:t>
            </a:r>
            <a:endParaRPr lang="en-US" sz="1300" dirty="0"/>
          </a:p>
        </p:txBody>
      </p:sp>
      <p:sp>
        <p:nvSpPr>
          <p:cNvPr id="11" name="se_291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5 sentences.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le 5 frasi.</a:t>
            </a:r>
            <a:endParaRPr lang="en-US" sz="1050" dirty="0"/>
          </a:p>
        </p:txBody>
      </p:sp>
      <p:sp>
        <p:nvSpPr>
          <p:cNvPr id="12" name="st_292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293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294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295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Do you ever get up late?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Chiedi: Do you ever…?</a:t>
            </a:r>
            <a:endParaRPr lang="en-US" sz="1050" dirty="0"/>
          </a:p>
        </p:txBody>
      </p:sp>
      <p:sp>
        <p:nvSpPr>
          <p:cNvPr id="16" name="st_296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297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298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✏️ WRITE</a:t>
            </a:r>
            <a:endParaRPr lang="en-US" sz="1300" dirty="0"/>
          </a:p>
        </p:txBody>
      </p:sp>
      <p:sp>
        <p:nvSpPr>
          <p:cNvPr id="19" name="se_299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Yes? Write the name!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Sì? Scrivi il nome!</a:t>
            </a:r>
            <a:endParaRPr lang="en-US" sz="1050" dirty="0"/>
          </a:p>
        </p:txBody>
      </p:sp>
      <p:sp>
        <p:nvSpPr>
          <p:cNvPr id="20" name="gl_300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 someone who… never gets up late.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…always has breakfast at home.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…sometimes has a shower in the evening.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…often plays football.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…never watches TV in the morning.</a:t>
            </a:r>
            <a:endParaRPr lang="en-US" sz="1400" dirty="0"/>
          </a:p>
        </p:txBody>
      </p:sp>
      <p:sp>
        <p:nvSpPr>
          <p:cNvPr id="21" name="bk_301"/>
          <p:cNvSpPr/>
          <p:nvPr/>
        </p:nvSpPr>
        <p:spPr>
          <a:xfrm>
            <a:off x="228600" y="4681728"/>
            <a:ext cx="26471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How often…? · Do you ever…?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0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03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Hot seat!</a:t>
            </a:r>
            <a:endParaRPr lang="en-US" sz="2700" dirty="0"/>
          </a:p>
        </p:txBody>
      </p:sp>
      <p:sp>
        <p:nvSpPr>
          <p:cNvPr id="5" name="in_304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are a Friendly Farm animal! The class asks. Answer!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Sei un animale della Friendly Farm! La classe chiede. Rispondi!</a:t>
            </a:r>
            <a:endParaRPr lang="en-US" sz="1200" dirty="0"/>
          </a:p>
        </p:txBody>
      </p:sp>
      <p:sp>
        <p:nvSpPr>
          <p:cNvPr id="6" name="mode_30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st_306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307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308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0" name="se_309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character. Don't tell!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 un personaggio. Non dirlo!</a:t>
            </a:r>
            <a:endParaRPr lang="en-US" sz="1050" dirty="0"/>
          </a:p>
        </p:txBody>
      </p:sp>
      <p:sp>
        <p:nvSpPr>
          <p:cNvPr id="11" name="st_310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311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312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313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asks: How often do you…?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classe chiede: How often do you…?</a:t>
            </a:r>
            <a:endParaRPr lang="en-US" sz="1050" dirty="0"/>
          </a:p>
        </p:txBody>
      </p:sp>
      <p:sp>
        <p:nvSpPr>
          <p:cNvPr id="15" name="st_314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315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316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🎲 PLAY</a:t>
            </a:r>
            <a:endParaRPr lang="en-US" sz="1300" dirty="0"/>
          </a:p>
        </p:txBody>
      </p:sp>
      <p:sp>
        <p:nvSpPr>
          <p:cNvPr id="18" name="se_317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the character!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Indovina il personaggio!</a:t>
            </a:r>
            <a:endParaRPr lang="en-US" sz="1050" dirty="0"/>
          </a:p>
        </p:txBody>
      </p:sp>
      <p:sp>
        <p:nvSpPr>
          <p:cNvPr id="19" name="cd_318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19" descr="/home/claude/movers/img/fc/camer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76" y="1399032"/>
            <a:ext cx="834847" cy="834847"/>
          </a:xfrm>
          <a:prstGeom prst="rect">
            <a:avLst/>
          </a:prstGeom>
        </p:spPr>
      </p:pic>
      <p:sp>
        <p:nvSpPr>
          <p:cNvPr id="21" name="lb_320"/>
          <p:cNvSpPr/>
          <p:nvPr/>
        </p:nvSpPr>
        <p:spPr>
          <a:xfrm>
            <a:off x="314553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cameron</a:t>
            </a:r>
            <a:endParaRPr lang="en-US" sz="1100" dirty="0"/>
          </a:p>
        </p:txBody>
      </p:sp>
      <p:sp>
        <p:nvSpPr>
          <p:cNvPr id="22" name="cd_321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322" descr="/home/claude/movers/img/fc/har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16" y="1399032"/>
            <a:ext cx="834847" cy="834847"/>
          </a:xfrm>
          <a:prstGeom prst="rect">
            <a:avLst/>
          </a:prstGeom>
        </p:spPr>
      </p:pic>
      <p:sp>
        <p:nvSpPr>
          <p:cNvPr id="24" name="lb_323"/>
          <p:cNvSpPr/>
          <p:nvPr/>
        </p:nvSpPr>
        <p:spPr>
          <a:xfrm>
            <a:off x="460857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harry</a:t>
            </a:r>
            <a:endParaRPr lang="en-US" sz="1100" dirty="0"/>
          </a:p>
        </p:txBody>
      </p:sp>
      <p:sp>
        <p:nvSpPr>
          <p:cNvPr id="25" name="cd_324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25" descr="/home/claude/movers/img/fc/shel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6" y="1399032"/>
            <a:ext cx="834847" cy="834847"/>
          </a:xfrm>
          <a:prstGeom prst="rect">
            <a:avLst/>
          </a:prstGeom>
        </p:spPr>
      </p:pic>
      <p:sp>
        <p:nvSpPr>
          <p:cNvPr id="27" name="lb_326"/>
          <p:cNvSpPr/>
          <p:nvPr/>
        </p:nvSpPr>
        <p:spPr>
          <a:xfrm>
            <a:off x="607161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shelly</a:t>
            </a:r>
            <a:endParaRPr lang="en-US" sz="1100" dirty="0"/>
          </a:p>
        </p:txBody>
      </p:sp>
      <p:sp>
        <p:nvSpPr>
          <p:cNvPr id="28" name="cd_327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328" descr="/home/claude/movers/img/fc/grac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596" y="1399032"/>
            <a:ext cx="834847" cy="834847"/>
          </a:xfrm>
          <a:prstGeom prst="rect">
            <a:avLst/>
          </a:prstGeom>
        </p:spPr>
      </p:pic>
      <p:sp>
        <p:nvSpPr>
          <p:cNvPr id="30" name="lb_329"/>
          <p:cNvSpPr/>
          <p:nvPr/>
        </p:nvSpPr>
        <p:spPr>
          <a:xfrm>
            <a:off x="753465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</a:t>
            </a:r>
            <a:endParaRPr lang="en-US" sz="1100" dirty="0"/>
          </a:p>
        </p:txBody>
      </p:sp>
      <p:sp>
        <p:nvSpPr>
          <p:cNvPr id="31" name="cd_330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331" descr="/home/claude/movers/img/fc/rock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476" y="2834640"/>
            <a:ext cx="834847" cy="834847"/>
          </a:xfrm>
          <a:prstGeom prst="rect">
            <a:avLst/>
          </a:prstGeom>
        </p:spPr>
      </p:pic>
      <p:sp>
        <p:nvSpPr>
          <p:cNvPr id="33" name="lb_332"/>
          <p:cNvSpPr/>
          <p:nvPr/>
        </p:nvSpPr>
        <p:spPr>
          <a:xfrm>
            <a:off x="314553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</a:t>
            </a:r>
            <a:endParaRPr lang="en-US" sz="1100" dirty="0"/>
          </a:p>
        </p:txBody>
      </p:sp>
      <p:sp>
        <p:nvSpPr>
          <p:cNvPr id="34" name="cd_333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334" descr="/home/claude/movers/img/fc/henriett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516" y="2834640"/>
            <a:ext cx="834847" cy="834847"/>
          </a:xfrm>
          <a:prstGeom prst="rect">
            <a:avLst/>
          </a:prstGeom>
        </p:spPr>
      </p:pic>
      <p:sp>
        <p:nvSpPr>
          <p:cNvPr id="36" name="lb_335"/>
          <p:cNvSpPr/>
          <p:nvPr/>
        </p:nvSpPr>
        <p:spPr>
          <a:xfrm>
            <a:off x="460857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henrietta</a:t>
            </a:r>
            <a:endParaRPr lang="en-US" sz="1100" dirty="0"/>
          </a:p>
        </p:txBody>
      </p:sp>
      <p:sp>
        <p:nvSpPr>
          <p:cNvPr id="37" name="bk_336"/>
          <p:cNvSpPr/>
          <p:nvPr/>
        </p:nvSpPr>
        <p:spPr>
          <a:xfrm>
            <a:off x="228600" y="4681728"/>
            <a:ext cx="272491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The Friendly Farm characters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2 · LESSON 2 · How often?</dc:title>
  <dc:subject>PptxGenJS Presentation</dc:subject>
  <dc:creator>PptxGenJS</dc:creator>
  <cp:lastModifiedBy>PptxGenJS</cp:lastModifiedBy>
  <cp:revision>1</cp:revision>
  <dcterms:created xsi:type="dcterms:W3CDTF">2026-10-06T10:51:24Z</dcterms:created>
  <dcterms:modified xsi:type="dcterms:W3CDTF">2026-10-06T10:51:24Z</dcterms:modified>
</cp:coreProperties>
</file>