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7A part 2 (Student's Book pp.68–69). Aims: first conditional and future time clauses; reading about university; giving opinions. Click 1–2: the bubbles. Ask: When will YOU get your next results?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5-MINUTE REVISION of part 1 (every lesson after the first starts like this). VARIATION: odd one out + phonological branching — students must SAY the words aloud and explain. Click 1: answers. Sounds: /uː/ boot · /ʌ/ up · /ʊ/ bull · /juː/ music. Fast finishers: give me 3 more words with the /juː/ sound (student, university, uniform…). More than one answer can be right in the WORDS column if they justify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5a. Click to bring in each question. 5 minutes in pairs, then 2–3 students tell the class about their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5b (audio 7.10) and 5c (7.11). Teach 'marks' vs 'grades' and A* (A star) first. Listen (7.10), pairs compare, click 1: answers (checked against the audioscript): 1 yes, sure she's passed but worried about grades (esp. maths); 2 tomorrow – as soon as she wakes up she'll go to school and pick up the envelope; 3 she doesn't want to plan any celebrations until she knows; 4 study Medicine at Cambridge (needs at least two A*s and an A); 5 do another year at school and take the exams again. Click 2: part 2 question (7.11). Click 3: answer – A* biology, A chemistry and physics, B maths; when she feels more positive she'll try another university, or might retake her A levels next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5d (audio 7.12). Pairs try to remember, then listen and check. Click 1–5: answers (from the Student's Book page). Ask: what tense after unless / as soon as / until / when? → present. Then go to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Elicit from the pictures: What will happen if she revises? (Evidence A). Click 1–2: model sentences (blue = condition, green = result). Click 3: the rule + the classic Italian mistake (Se pioverà → If it rains). Grammar Bank 7A for extra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Toolkit of time words. Clicks 1–3: examples (blue = present tense after the time word). Click 4: rule. Italian speakers often use future after 'quando/appena' — highlight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BANK (6 min). Students open the Grammar Bank 7A page (rules + exercises) — read the rules box together first (audio 7.13–7.14 if you have it). Exercise a: students do 1–5 in pairs; click 1–5 to show each answer (official answers). Items 6–10 and exercise b are on the homework sheet. Typical mistake: future after when / unless (I'll call you when I'll arrive ✗).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5f. Model with the sticky note. Students must answer in full sentences (time clause + will). Monitor for 'as soon as I will…'.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6a. Each student answers the questions that match their situation. For teens, the third circle is the main one. Click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6b: what does 'Is it really worth…?' mean? (È davvero utile / vale la pena?) 6c: students mark each comment. Click 1: answers (official key): 1 S, 2 ✓, 3 ✗, 4 ✗, 5 ✓. 6d: which comments are true about university in Italy?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6e (predict: who is happier?), 6f (information gap: Student A p.108, Student B p.112), 6g (opinion). Click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7a–b. Groups of 3–4; each student takes a different statement, prepares 3 reasons (5 min), presents; the group votes. Click 1: useful language for organising opinions.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Individual, then pairs. Click 1–6 reveals each answer. Accept contractions or full forms (will not / won't).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(8 min) — replaces the If chain so no game type repeats in unit 7. VARIATION: spot the deliberate error + competition. Two teams (or two students). Read each sentence and auction it: teams bid €10–€50. After all 8 are sold, click 1: green = correct (team keeps its money and gets the same again), red = wrong (money lost). Then the team must correct the wrong sentences they bought to win back half. Richest team wins. Key mistake for Italians: will after if / when / unless / until.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Workbook 7A ex. 3a–3d (the grammar exercises that match today) + LLS homework sheet part 2. Attach the PDF in the portal (Lesson page → Homework → 📎 Attach files). Students hand in a photo in the app; you mark it under 📥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 (8–10 min). Official 7A photocopiable. Two teams, X and O (or pairs with the printed grids). A team chooses a square and finishes the sentence: correct grammar (present after the time word, will in the other clause) wins the square. Three in a row wins. Then play grid 2 and 3 from the worksheet. Teacher is the referee.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 (speaking). Mingle activity, 6–8 minutes. Feedback: the funniest answer. Error-correct 'if' + 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4114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1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7A</a:t>
            </a:r>
            <a:endParaRPr lang="en-US" sz="5100" dirty="0"/>
          </a:p>
        </p:txBody>
      </p:sp>
      <p:sp>
        <p:nvSpPr>
          <p:cNvPr id="8" name="title_6"/>
          <p:cNvSpPr txBox="1"/>
          <p:nvPr/>
        </p:nvSpPr>
        <p:spPr>
          <a:xfrm rot="120000">
            <a:off x="411480" y="1417320"/>
            <a:ext cx="493776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AND LEARN 2</a:t>
            </a:r>
            <a:endParaRPr lang="en-US" sz="2700" dirty="0"/>
          </a:p>
        </p:txBody>
      </p:sp>
      <p:sp>
        <p:nvSpPr>
          <p:cNvPr id="9" name="stamp_7"/>
          <p:cNvSpPr txBox="1"/>
          <p:nvPr/>
        </p:nvSpPr>
        <p:spPr>
          <a:xfrm>
            <a:off x="457200" y="25146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FFD84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first conditional + when, until…</a:t>
            </a:r>
            <a:endParaRPr lang="en-US" sz="12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990088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Is it really worth going to uni?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3465576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give your opinion</a:t>
            </a:r>
            <a:endParaRPr lang="en-US" sz="1200" dirty="0"/>
          </a:p>
        </p:txBody>
      </p:sp>
      <p:sp>
        <p:nvSpPr>
          <p:cNvPr id="12" name="polaroid_10"/>
          <p:cNvSpPr/>
          <p:nvPr/>
        </p:nvSpPr>
        <p:spPr>
          <a:xfrm rot="-240000">
            <a:off x="5852160" y="502920"/>
            <a:ext cx="2011680" cy="305409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photo_11" descr="A student reading her exam result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240000">
            <a:off x="5943600" y="594360"/>
            <a:ext cx="1828800" cy="2560320"/>
          </a:xfrm>
          <a:prstGeom prst="rect">
            <a:avLst/>
          </a:prstGeom>
        </p:spPr>
      </p:pic>
      <p:sp>
        <p:nvSpPr>
          <p:cNvPr id="14" name="caption_12"/>
          <p:cNvSpPr txBox="1"/>
          <p:nvPr/>
        </p:nvSpPr>
        <p:spPr>
          <a:xfrm rot="-240000">
            <a:off x="5852160" y="31729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day…</a:t>
            </a:r>
            <a:endParaRPr lang="en-US" sz="1200" dirty="0"/>
          </a:p>
        </p:txBody>
      </p:sp>
      <p:sp>
        <p:nvSpPr>
          <p:cNvPr id="15" name="R1_q"/>
          <p:cNvSpPr txBox="1"/>
          <p:nvPr/>
        </p:nvSpPr>
        <p:spPr>
          <a:xfrm>
            <a:off x="5120640" y="3611880"/>
            <a:ext cx="2194560" cy="68580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you get your results?</a:t>
            </a:r>
            <a:endParaRPr lang="en-US" sz="1400" dirty="0"/>
          </a:p>
        </p:txBody>
      </p:sp>
      <p:sp>
        <p:nvSpPr>
          <p:cNvPr id="16" name="R2_a"/>
          <p:cNvSpPr txBox="1"/>
          <p:nvPr/>
        </p:nvSpPr>
        <p:spPr>
          <a:xfrm>
            <a:off x="6583680" y="4206240"/>
            <a:ext cx="2286000" cy="59436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I get them, I'll call you!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7A part 1 · 5 minutes</a:t>
            </a:r>
            <a:endParaRPr lang="en-US" sz="900" dirty="0"/>
          </a:p>
        </p:txBody>
      </p:sp>
      <p:sp>
        <p:nvSpPr>
          <p:cNvPr id="6" name="footer_16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7"/>
          <p:cNvSpPr txBox="1"/>
          <p:nvPr/>
        </p:nvSpPr>
        <p:spPr>
          <a:xfrm rot="90000">
            <a:off x="320040" y="658368"/>
            <a:ext cx="3630168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the intruder!</a:t>
            </a:r>
            <a:endParaRPr lang="en-US" sz="1600" dirty="0"/>
          </a:p>
        </p:txBody>
      </p:sp>
      <p:sp>
        <p:nvSpPr>
          <p:cNvPr id="8" name="tape_18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9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instr_20"/>
          <p:cNvSpPr txBox="1"/>
          <p:nvPr/>
        </p:nvSpPr>
        <p:spPr>
          <a:xfrm>
            <a:off x="411480" y="1298448"/>
            <a:ext cx="832104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pairs: find the word that doesn't belong. Say WHY!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coppia: trova l'intruso. Spiega PERCHÉ!</a:t>
            </a:r>
            <a:endParaRPr lang="en-US" sz="1250" dirty="0"/>
          </a:p>
        </p:txBody>
      </p:sp>
      <p:sp>
        <p:nvSpPr>
          <p:cNvPr id="11" name="h1_21"/>
          <p:cNvSpPr txBox="1"/>
          <p:nvPr/>
        </p:nvSpPr>
        <p:spPr>
          <a:xfrm>
            <a:off x="411480" y="1938528"/>
            <a:ext cx="4023360" cy="347472"/>
          </a:xfrm>
          <a:prstGeom prst="rec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🔊 SOUNDS · the letter u</a:t>
            </a:r>
            <a:endParaRPr lang="en-US" sz="1200" dirty="0"/>
          </a:p>
        </p:txBody>
      </p:sp>
      <p:sp>
        <p:nvSpPr>
          <p:cNvPr id="12" name="h2_22"/>
          <p:cNvSpPr txBox="1"/>
          <p:nvPr/>
        </p:nvSpPr>
        <p:spPr>
          <a:xfrm>
            <a:off x="4709160" y="1938528"/>
            <a:ext cx="4023360" cy="347472"/>
          </a:xfrm>
          <a:prstGeom prst="rect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WORDS · education</a:t>
            </a:r>
            <a:endParaRPr lang="en-US" sz="1200" dirty="0"/>
          </a:p>
        </p:txBody>
      </p:sp>
      <p:sp>
        <p:nvSpPr>
          <p:cNvPr id="13" name="q_23"/>
          <p:cNvSpPr txBox="1"/>
          <p:nvPr/>
        </p:nvSpPr>
        <p:spPr>
          <a:xfrm>
            <a:off x="411480" y="2377440"/>
            <a:ext cx="251460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fruit · lunch · true · June</a:t>
            </a:r>
            <a:endParaRPr lang="en-US" sz="1250" dirty="0"/>
          </a:p>
        </p:txBody>
      </p:sp>
      <p:sp>
        <p:nvSpPr>
          <p:cNvPr id="14" name="R1_as0"/>
          <p:cNvSpPr txBox="1"/>
          <p:nvPr/>
        </p:nvSpPr>
        <p:spPr>
          <a:xfrm>
            <a:off x="2990088" y="24231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/ʌ/</a:t>
            </a:r>
            <a:endParaRPr lang="en-US" sz="1100" dirty="0"/>
          </a:p>
        </p:txBody>
      </p:sp>
      <p:sp>
        <p:nvSpPr>
          <p:cNvPr id="15" name="q_24"/>
          <p:cNvSpPr txBox="1"/>
          <p:nvPr/>
        </p:nvSpPr>
        <p:spPr>
          <a:xfrm>
            <a:off x="411480" y="2944368"/>
            <a:ext cx="2514600" cy="475488"/>
          </a:xfrm>
          <a:prstGeom prst="rect">
            <a:avLst/>
          </a:prstGeom>
          <a:solidFill>
            <a:srgbClr val="F1F5F9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up · cut · mussels · put</a:t>
            </a:r>
            <a:endParaRPr lang="en-US" sz="1250" dirty="0"/>
          </a:p>
        </p:txBody>
      </p:sp>
      <p:sp>
        <p:nvSpPr>
          <p:cNvPr id="16" name="R1_as1"/>
          <p:cNvSpPr txBox="1"/>
          <p:nvPr/>
        </p:nvSpPr>
        <p:spPr>
          <a:xfrm>
            <a:off x="2990088" y="2990088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/ʊ/</a:t>
            </a:r>
            <a:endParaRPr lang="en-US" sz="1100" dirty="0"/>
          </a:p>
        </p:txBody>
      </p:sp>
      <p:sp>
        <p:nvSpPr>
          <p:cNvPr id="17" name="q_25"/>
          <p:cNvSpPr txBox="1"/>
          <p:nvPr/>
        </p:nvSpPr>
        <p:spPr>
          <a:xfrm>
            <a:off x="411480" y="3511296"/>
            <a:ext cx="251460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push · full · bull · fun</a:t>
            </a:r>
            <a:endParaRPr lang="en-US" sz="1250" dirty="0"/>
          </a:p>
        </p:txBody>
      </p:sp>
      <p:sp>
        <p:nvSpPr>
          <p:cNvPr id="18" name="R1_as2"/>
          <p:cNvSpPr txBox="1"/>
          <p:nvPr/>
        </p:nvSpPr>
        <p:spPr>
          <a:xfrm>
            <a:off x="2990088" y="3557016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/ʌ/</a:t>
            </a:r>
            <a:endParaRPr lang="en-US" sz="1100" dirty="0"/>
          </a:p>
        </p:txBody>
      </p:sp>
      <p:sp>
        <p:nvSpPr>
          <p:cNvPr id="19" name="q_26"/>
          <p:cNvSpPr txBox="1"/>
          <p:nvPr/>
        </p:nvSpPr>
        <p:spPr>
          <a:xfrm>
            <a:off x="411480" y="4078224"/>
            <a:ext cx="2514600" cy="475488"/>
          </a:xfrm>
          <a:prstGeom prst="rect">
            <a:avLst/>
          </a:prstGeom>
          <a:solidFill>
            <a:srgbClr val="F1F5F9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music · tuna · stupid · rubber</a:t>
            </a:r>
            <a:endParaRPr lang="en-US" sz="1250" dirty="0"/>
          </a:p>
        </p:txBody>
      </p:sp>
      <p:sp>
        <p:nvSpPr>
          <p:cNvPr id="20" name="R1_as3"/>
          <p:cNvSpPr txBox="1"/>
          <p:nvPr/>
        </p:nvSpPr>
        <p:spPr>
          <a:xfrm>
            <a:off x="2990088" y="4123944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/ʌ/</a:t>
            </a:r>
            <a:endParaRPr lang="en-US" sz="1100" dirty="0"/>
          </a:p>
        </p:txBody>
      </p:sp>
      <p:sp>
        <p:nvSpPr>
          <p:cNvPr id="21" name="q_27"/>
          <p:cNvSpPr txBox="1"/>
          <p:nvPr/>
        </p:nvSpPr>
        <p:spPr>
          <a:xfrm>
            <a:off x="4709160" y="2377440"/>
            <a:ext cx="251460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state · private · boarding · degree</a:t>
            </a:r>
            <a:endParaRPr lang="en-US" sz="1100" dirty="0"/>
          </a:p>
        </p:txBody>
      </p:sp>
      <p:sp>
        <p:nvSpPr>
          <p:cNvPr id="22" name="R1_aw0"/>
          <p:cNvSpPr txBox="1"/>
          <p:nvPr/>
        </p:nvSpPr>
        <p:spPr>
          <a:xfrm>
            <a:off x="7287768" y="2423160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– not a school</a:t>
            </a:r>
            <a:endParaRPr lang="en-US" sz="1100" dirty="0"/>
          </a:p>
        </p:txBody>
      </p:sp>
      <p:sp>
        <p:nvSpPr>
          <p:cNvPr id="23" name="q_28"/>
          <p:cNvSpPr txBox="1"/>
          <p:nvPr/>
        </p:nvSpPr>
        <p:spPr>
          <a:xfrm>
            <a:off x="4709160" y="2944368"/>
            <a:ext cx="2514600" cy="475488"/>
          </a:xfrm>
          <a:prstGeom prst="rect">
            <a:avLst/>
          </a:prstGeom>
          <a:solidFill>
            <a:srgbClr val="F1F5F9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pupil · student · head · term</a:t>
            </a:r>
            <a:endParaRPr lang="en-US" sz="1250" dirty="0"/>
          </a:p>
        </p:txBody>
      </p:sp>
      <p:sp>
        <p:nvSpPr>
          <p:cNvPr id="24" name="R1_aw1"/>
          <p:cNvSpPr txBox="1"/>
          <p:nvPr/>
        </p:nvSpPr>
        <p:spPr>
          <a:xfrm>
            <a:off x="7287768" y="2990088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– not a person</a:t>
            </a:r>
            <a:endParaRPr lang="en-US" sz="1100" dirty="0"/>
          </a:p>
        </p:txBody>
      </p:sp>
      <p:sp>
        <p:nvSpPr>
          <p:cNvPr id="25" name="q_29"/>
          <p:cNvSpPr txBox="1"/>
          <p:nvPr/>
        </p:nvSpPr>
        <p:spPr>
          <a:xfrm>
            <a:off x="4709160" y="3511296"/>
            <a:ext cx="251460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History · Physics · Chemistry · Biology</a:t>
            </a:r>
            <a:endParaRPr lang="en-US" sz="1050" dirty="0"/>
          </a:p>
        </p:txBody>
      </p:sp>
      <p:sp>
        <p:nvSpPr>
          <p:cNvPr id="26" name="R1_aw2"/>
          <p:cNvSpPr txBox="1"/>
          <p:nvPr/>
        </p:nvSpPr>
        <p:spPr>
          <a:xfrm>
            <a:off x="7287768" y="3557016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– not a science</a:t>
            </a:r>
            <a:endParaRPr lang="en-US" sz="1050" dirty="0"/>
          </a:p>
        </p:txBody>
      </p:sp>
      <p:sp>
        <p:nvSpPr>
          <p:cNvPr id="27" name="q_30"/>
          <p:cNvSpPr txBox="1"/>
          <p:nvPr/>
        </p:nvSpPr>
        <p:spPr>
          <a:xfrm>
            <a:off x="4709160" y="4078224"/>
            <a:ext cx="2514600" cy="475488"/>
          </a:xfrm>
          <a:prstGeom prst="rect">
            <a:avLst/>
          </a:prstGeom>
          <a:solidFill>
            <a:srgbClr val="F1F5F9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fail · pass · revise · expel</a:t>
            </a:r>
            <a:endParaRPr lang="en-US" sz="1250" dirty="0"/>
          </a:p>
        </p:txBody>
      </p:sp>
      <p:sp>
        <p:nvSpPr>
          <p:cNvPr id="28" name="R1_aw3"/>
          <p:cNvSpPr txBox="1"/>
          <p:nvPr/>
        </p:nvSpPr>
        <p:spPr>
          <a:xfrm>
            <a:off x="7287768" y="4123944"/>
            <a:ext cx="144475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expel – not about exams</a:t>
            </a:r>
            <a:endParaRPr lang="en-US" sz="1050" dirty="0"/>
          </a:p>
        </p:txBody>
      </p:sp>
      <p:sp>
        <p:nvSpPr>
          <p:cNvPr id="29" name="pageTag_31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7A part 1 (SB p.66–67 · 1–4) · 5 minutes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4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Exams</a:t>
            </a:r>
            <a:endParaRPr lang="en-US" sz="900" dirty="0"/>
          </a:p>
        </p:txBody>
      </p:sp>
      <p:sp>
        <p:nvSpPr>
          <p:cNvPr id="6" name="footer_35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36"/>
          <p:cNvSpPr txBox="1"/>
          <p:nvPr/>
        </p:nvSpPr>
        <p:spPr>
          <a:xfrm rot="90000">
            <a:off x="320040" y="658368"/>
            <a:ext cx="3456432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Exams: you and me</a:t>
            </a:r>
            <a:endParaRPr lang="en-US" sz="1600" dirty="0"/>
          </a:p>
        </p:txBody>
      </p:sp>
      <p:sp>
        <p:nvSpPr>
          <p:cNvPr id="8" name="tape_37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38"/>
          <p:cNvSpPr/>
          <p:nvPr/>
        </p:nvSpPr>
        <p:spPr>
          <a:xfrm rot="-720000">
            <a:off x="320954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st_39"/>
          <p:cNvSpPr/>
          <p:nvPr/>
        </p:nvSpPr>
        <p:spPr>
          <a:xfrm>
            <a:off x="429768" y="1554480"/>
            <a:ext cx="128016" cy="237744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40"/>
          <p:cNvSpPr txBox="1"/>
          <p:nvPr/>
        </p:nvSpPr>
        <p:spPr>
          <a:xfrm rot="-180000">
            <a:off x="320040" y="1371600"/>
            <a:ext cx="210312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600" dirty="0"/>
          </a:p>
        </p:txBody>
      </p:sp>
      <p:sp>
        <p:nvSpPr>
          <p:cNvPr id="12" name="signB_41"/>
          <p:cNvSpPr txBox="1"/>
          <p:nvPr/>
        </p:nvSpPr>
        <p:spPr>
          <a:xfrm rot="120000">
            <a:off x="365760" y="1938528"/>
            <a:ext cx="237744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answer the questions.</a:t>
            </a:r>
            <a:endParaRPr lang="en-US" sz="12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coppia, rispondete alle domande.</a:t>
            </a:r>
            <a:endParaRPr lang="en-US" sz="1250" dirty="0"/>
          </a:p>
        </p:txBody>
      </p:sp>
      <p:sp>
        <p:nvSpPr>
          <p:cNvPr id="13" name="R1_q0"/>
          <p:cNvSpPr txBox="1"/>
          <p:nvPr/>
        </p:nvSpPr>
        <p:spPr>
          <a:xfrm rot="-60000">
            <a:off x="2880360" y="1280160"/>
            <a:ext cx="5577840" cy="566928"/>
          </a:xfrm>
          <a:prstGeom prst="wedge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When was the last time you did an exam? Did you pass or fail?</a:t>
            </a:r>
            <a:endParaRPr lang="en-US" sz="1400" dirty="0"/>
          </a:p>
        </p:txBody>
      </p:sp>
      <p:sp>
        <p:nvSpPr>
          <p:cNvPr id="14" name="R2_q1"/>
          <p:cNvSpPr txBox="1"/>
          <p:nvPr/>
        </p:nvSpPr>
        <p:spPr>
          <a:xfrm rot="60000">
            <a:off x="3154680" y="1965960"/>
            <a:ext cx="5577840" cy="566928"/>
          </a:xfrm>
          <a:prstGeom prst="wedgeRectCallou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What's the next exam you're going to do? How do you feel about it?</a:t>
            </a:r>
            <a:endParaRPr lang="en-US" sz="1350" dirty="0"/>
          </a:p>
        </p:txBody>
      </p:sp>
      <p:sp>
        <p:nvSpPr>
          <p:cNvPr id="15" name="R3_q2"/>
          <p:cNvSpPr txBox="1"/>
          <p:nvPr/>
        </p:nvSpPr>
        <p:spPr>
          <a:xfrm rot="-60000">
            <a:off x="2880360" y="2651760"/>
            <a:ext cx="5577840" cy="566928"/>
          </a:xfrm>
          <a:prstGeom prst="wedgeRectCallou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 do you usually do the night before an exam?</a:t>
            </a:r>
            <a:endParaRPr lang="en-US" sz="1400" dirty="0"/>
          </a:p>
        </p:txBody>
      </p:sp>
      <p:sp>
        <p:nvSpPr>
          <p:cNvPr id="16" name="R4_q3"/>
          <p:cNvSpPr txBox="1"/>
          <p:nvPr/>
        </p:nvSpPr>
        <p:spPr>
          <a:xfrm rot="60000">
            <a:off x="3154680" y="3337560"/>
            <a:ext cx="5577840" cy="566928"/>
          </a:xfrm>
          <a:prstGeom prst="wedgeRectCallou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do you usually feel just before you do an exam?</a:t>
            </a:r>
            <a:endParaRPr lang="en-US" sz="1400" dirty="0"/>
          </a:p>
        </p:txBody>
      </p:sp>
      <p:sp>
        <p:nvSpPr>
          <p:cNvPr id="17" name="R5_q4"/>
          <p:cNvSpPr txBox="1"/>
          <p:nvPr/>
        </p:nvSpPr>
        <p:spPr>
          <a:xfrm rot="-60000">
            <a:off x="2880360" y="4023360"/>
            <a:ext cx="5577840" cy="566928"/>
          </a:xfrm>
          <a:prstGeom prst="wedgeRectCallout">
            <a:avLst/>
          </a:prstGeom>
          <a:solidFill>
            <a:srgbClr val="FEF9C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Have you ever failed an exam you thought you'd passed (or vice versa)?</a:t>
            </a:r>
            <a:endParaRPr lang="en-US" sz="1250" dirty="0"/>
          </a:p>
        </p:txBody>
      </p:sp>
      <p:sp>
        <p:nvSpPr>
          <p:cNvPr id="18" name="iconBack_42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icon_43" descr="exam 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41648"/>
            <a:ext cx="329184" cy="329184"/>
          </a:xfrm>
          <a:prstGeom prst="rect">
            <a:avLst/>
          </a:prstGeom>
        </p:spPr>
      </p:pic>
      <p:sp>
        <p:nvSpPr>
          <p:cNvPr id="20" name="pageTag_44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p.68 · 5a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4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4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7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Waiting for results</a:t>
            </a:r>
            <a:endParaRPr lang="en-US" sz="900" dirty="0"/>
          </a:p>
        </p:txBody>
      </p:sp>
      <p:sp>
        <p:nvSpPr>
          <p:cNvPr id="6" name="footer_48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49"/>
          <p:cNvSpPr txBox="1"/>
          <p:nvPr/>
        </p:nvSpPr>
        <p:spPr>
          <a:xfrm rot="90000">
            <a:off x="320040" y="658368"/>
            <a:ext cx="4672584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Olivia's A level results</a:t>
            </a:r>
            <a:endParaRPr lang="en-US" sz="1600" dirty="0"/>
          </a:p>
        </p:txBody>
      </p:sp>
      <p:sp>
        <p:nvSpPr>
          <p:cNvPr id="8" name="tape_50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51"/>
          <p:cNvSpPr/>
          <p:nvPr/>
        </p:nvSpPr>
        <p:spPr>
          <a:xfrm rot="-720000">
            <a:off x="442569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laroid_52"/>
          <p:cNvSpPr/>
          <p:nvPr/>
        </p:nvSpPr>
        <p:spPr>
          <a:xfrm rot="-180000">
            <a:off x="411480" y="1325880"/>
            <a:ext cx="1920240" cy="287121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photo_53" descr="Olivia waiting for her result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80000">
            <a:off x="502920" y="1417320"/>
            <a:ext cx="1737360" cy="2377440"/>
          </a:xfrm>
          <a:prstGeom prst="rect">
            <a:avLst/>
          </a:prstGeom>
        </p:spPr>
      </p:pic>
      <p:sp>
        <p:nvSpPr>
          <p:cNvPr id="12" name="caption_54"/>
          <p:cNvSpPr txBox="1"/>
          <p:nvPr/>
        </p:nvSpPr>
        <p:spPr>
          <a:xfrm rot="-180000">
            <a:off x="411480" y="38130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</a:t>
            </a:r>
            <a:endParaRPr lang="en-US" sz="1200" dirty="0"/>
          </a:p>
        </p:txBody>
      </p:sp>
      <p:sp>
        <p:nvSpPr>
          <p:cNvPr id="13" name="instr_55"/>
          <p:cNvSpPr txBox="1"/>
          <p:nvPr/>
        </p:nvSpPr>
        <p:spPr>
          <a:xfrm>
            <a:off x="2651760" y="1325880"/>
            <a:ext cx="3657600" cy="566928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(7.10). Answer the questions.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e rispondi alle domande.</a:t>
            </a:r>
            <a:endParaRPr lang="en-US" sz="1400" dirty="0"/>
          </a:p>
        </p:txBody>
      </p:sp>
      <p:sp>
        <p:nvSpPr>
          <p:cNvPr id="14" name="q_56"/>
          <p:cNvSpPr txBox="1"/>
          <p:nvPr/>
        </p:nvSpPr>
        <p:spPr>
          <a:xfrm>
            <a:off x="2651760" y="2011680"/>
            <a:ext cx="365760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Does she think she's passed?</a:t>
            </a:r>
            <a:endParaRPr lang="en-US" sz="1300" dirty="0"/>
          </a:p>
        </p:txBody>
      </p:sp>
      <p:sp>
        <p:nvSpPr>
          <p:cNvPr id="15" name="R1_oa0"/>
          <p:cNvSpPr txBox="1"/>
          <p:nvPr/>
        </p:nvSpPr>
        <p:spPr>
          <a:xfrm>
            <a:off x="2651760" y="2011680"/>
            <a:ext cx="365760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– she's sure, but worried about grades</a:t>
            </a:r>
            <a:endParaRPr lang="en-US" sz="1200" dirty="0"/>
          </a:p>
        </p:txBody>
      </p:sp>
      <p:sp>
        <p:nvSpPr>
          <p:cNvPr id="16" name="q_57"/>
          <p:cNvSpPr txBox="1"/>
          <p:nvPr/>
        </p:nvSpPr>
        <p:spPr>
          <a:xfrm>
            <a:off x="2651760" y="2441448"/>
            <a:ext cx="365760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When and how will she get her exam results?</a:t>
            </a:r>
            <a:endParaRPr lang="en-US" sz="1250" dirty="0"/>
          </a:p>
        </p:txBody>
      </p:sp>
      <p:sp>
        <p:nvSpPr>
          <p:cNvPr id="17" name="R1_oa1"/>
          <p:cNvSpPr txBox="1"/>
          <p:nvPr/>
        </p:nvSpPr>
        <p:spPr>
          <a:xfrm>
            <a:off x="2651760" y="2441448"/>
            <a:ext cx="365760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– she'll pick up an envelope at school</a:t>
            </a:r>
            <a:endParaRPr lang="en-US" sz="1150" dirty="0"/>
          </a:p>
        </p:txBody>
      </p:sp>
      <p:sp>
        <p:nvSpPr>
          <p:cNvPr id="18" name="q_58"/>
          <p:cNvSpPr txBox="1"/>
          <p:nvPr/>
        </p:nvSpPr>
        <p:spPr>
          <a:xfrm>
            <a:off x="2651760" y="2871216"/>
            <a:ext cx="365760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will she celebrate if she gets good results?</a:t>
            </a:r>
            <a:endParaRPr lang="en-US" sz="1150" dirty="0"/>
          </a:p>
        </p:txBody>
      </p:sp>
      <p:sp>
        <p:nvSpPr>
          <p:cNvPr id="19" name="R1_oa2"/>
          <p:cNvSpPr txBox="1"/>
          <p:nvPr/>
        </p:nvSpPr>
        <p:spPr>
          <a:xfrm>
            <a:off x="2651760" y="2871216"/>
            <a:ext cx="365760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plans until she knows the results</a:t>
            </a:r>
            <a:endParaRPr lang="en-US" sz="1200" dirty="0"/>
          </a:p>
        </p:txBody>
      </p:sp>
      <p:sp>
        <p:nvSpPr>
          <p:cNvPr id="20" name="q_59"/>
          <p:cNvSpPr txBox="1"/>
          <p:nvPr/>
        </p:nvSpPr>
        <p:spPr>
          <a:xfrm>
            <a:off x="2651760" y="3300984"/>
            <a:ext cx="365760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does she want to do if she gets good results?</a:t>
            </a:r>
            <a:endParaRPr lang="en-US" sz="1100" dirty="0"/>
          </a:p>
        </p:txBody>
      </p:sp>
      <p:sp>
        <p:nvSpPr>
          <p:cNvPr id="21" name="R1_oa3"/>
          <p:cNvSpPr txBox="1"/>
          <p:nvPr/>
        </p:nvSpPr>
        <p:spPr>
          <a:xfrm>
            <a:off x="2651760" y="3300984"/>
            <a:ext cx="365760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at Cambridge (needs 2 A*s + an A)</a:t>
            </a:r>
            <a:endParaRPr lang="en-US" sz="1200" dirty="0"/>
          </a:p>
        </p:txBody>
      </p:sp>
      <p:sp>
        <p:nvSpPr>
          <p:cNvPr id="22" name="q_60"/>
          <p:cNvSpPr txBox="1"/>
          <p:nvPr/>
        </p:nvSpPr>
        <p:spPr>
          <a:xfrm>
            <a:off x="2651760" y="3730752"/>
            <a:ext cx="365760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will she do if she doesn't get the results that she needs?</a:t>
            </a:r>
            <a:endParaRPr lang="en-US" sz="900" dirty="0"/>
          </a:p>
        </p:txBody>
      </p:sp>
      <p:sp>
        <p:nvSpPr>
          <p:cNvPr id="23" name="R1_oa4"/>
          <p:cNvSpPr txBox="1"/>
          <p:nvPr/>
        </p:nvSpPr>
        <p:spPr>
          <a:xfrm>
            <a:off x="2651760" y="3730752"/>
            <a:ext cx="3657600" cy="384048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another year at school and retake</a:t>
            </a:r>
            <a:endParaRPr lang="en-US" sz="1200" dirty="0"/>
          </a:p>
        </p:txBody>
      </p:sp>
      <p:sp>
        <p:nvSpPr>
          <p:cNvPr id="24" name="sticky_61"/>
          <p:cNvSpPr txBox="1"/>
          <p:nvPr/>
        </p:nvSpPr>
        <p:spPr>
          <a:xfrm rot="180000">
            <a:off x="6537960" y="1371600"/>
            <a:ext cx="2240280" cy="12344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results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marks: 7/10, 85/100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grades: A, B, C…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(A star) = better than A!</a:t>
            </a:r>
            <a:endParaRPr lang="en-US" sz="1300" dirty="0"/>
          </a:p>
        </p:txBody>
      </p:sp>
      <p:sp>
        <p:nvSpPr>
          <p:cNvPr id="25" name="R2_part2"/>
          <p:cNvSpPr txBox="1"/>
          <p:nvPr/>
        </p:nvSpPr>
        <p:spPr>
          <a:xfrm>
            <a:off x="6492240" y="2926080"/>
            <a:ext cx="2331720" cy="118872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(7.11): What grades did she get? What's she going to do?</a:t>
            </a:r>
            <a:endParaRPr lang="en-US" sz="1300" dirty="0"/>
          </a:p>
        </p:txBody>
      </p:sp>
      <p:sp>
        <p:nvSpPr>
          <p:cNvPr id="26" name="R3_p2ans"/>
          <p:cNvSpPr txBox="1"/>
          <p:nvPr/>
        </p:nvSpPr>
        <p:spPr>
          <a:xfrm rot="-120000">
            <a:off x="6537960" y="4206240"/>
            <a:ext cx="22402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biology · A chemistry · A physics · B maths → try another uni, or retake next year</a:t>
            </a:r>
            <a:endParaRPr lang="en-US" sz="950" dirty="0"/>
          </a:p>
        </p:txBody>
      </p:sp>
      <p:sp>
        <p:nvSpPr>
          <p:cNvPr id="27" name="pageTag_62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p.68 · 5b–c · audio 7.10–7.11 · answers checked against the audioscript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6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5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Noticing</a:t>
            </a:r>
            <a:endParaRPr lang="en-US" sz="900" dirty="0"/>
          </a:p>
        </p:txBody>
      </p:sp>
      <p:sp>
        <p:nvSpPr>
          <p:cNvPr id="6" name="footer_66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67"/>
          <p:cNvSpPr txBox="1"/>
          <p:nvPr/>
        </p:nvSpPr>
        <p:spPr>
          <a:xfrm rot="90000">
            <a:off x="320040" y="658368"/>
            <a:ext cx="6409944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you remember what Olivia said?</a:t>
            </a:r>
            <a:endParaRPr lang="en-US" sz="1600" dirty="0"/>
          </a:p>
        </p:txBody>
      </p:sp>
      <p:sp>
        <p:nvSpPr>
          <p:cNvPr id="8" name="tape_68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69"/>
          <p:cNvSpPr/>
          <p:nvPr/>
        </p:nvSpPr>
        <p:spPr>
          <a:xfrm rot="-720000">
            <a:off x="616305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s_70"/>
          <p:cNvSpPr txBox="1"/>
          <p:nvPr/>
        </p:nvSpPr>
        <p:spPr>
          <a:xfrm>
            <a:off x="411480" y="1325880"/>
            <a:ext cx="566928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They won't give me a place unless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least two A*s and an A.</a:t>
            </a:r>
            <a:endParaRPr lang="en-US" sz="1250" dirty="0"/>
          </a:p>
        </p:txBody>
      </p:sp>
      <p:sp>
        <p:nvSpPr>
          <p:cNvPr id="11" name="R1_g0"/>
          <p:cNvSpPr txBox="1"/>
          <p:nvPr/>
        </p:nvSpPr>
        <p:spPr>
          <a:xfrm rot="-90000">
            <a:off x="6217920" y="1399032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get</a:t>
            </a:r>
            <a:endParaRPr lang="en-US" sz="1400" dirty="0"/>
          </a:p>
        </p:txBody>
      </p:sp>
      <p:sp>
        <p:nvSpPr>
          <p:cNvPr id="12" name="s_71"/>
          <p:cNvSpPr txBox="1"/>
          <p:nvPr/>
        </p:nvSpPr>
        <p:spPr>
          <a:xfrm>
            <a:off x="411480" y="1929384"/>
            <a:ext cx="566928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As soon as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I'll go to school and pick up the envelope.</a:t>
            </a:r>
            <a:endParaRPr lang="en-US" sz="1400" dirty="0"/>
          </a:p>
        </p:txBody>
      </p:sp>
      <p:sp>
        <p:nvSpPr>
          <p:cNvPr id="13" name="R2_g1"/>
          <p:cNvSpPr txBox="1"/>
          <p:nvPr/>
        </p:nvSpPr>
        <p:spPr>
          <a:xfrm rot="90000">
            <a:off x="6217920" y="2002536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wake up</a:t>
            </a:r>
            <a:endParaRPr lang="en-US" sz="1400" dirty="0"/>
          </a:p>
        </p:txBody>
      </p:sp>
      <p:sp>
        <p:nvSpPr>
          <p:cNvPr id="14" name="s_72"/>
          <p:cNvSpPr txBox="1"/>
          <p:nvPr/>
        </p:nvSpPr>
        <p:spPr>
          <a:xfrm>
            <a:off x="411480" y="2532888"/>
            <a:ext cx="566928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don't want to plan any celebrations until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results.</a:t>
            </a:r>
            <a:endParaRPr lang="en-US" sz="1400" dirty="0"/>
          </a:p>
        </p:txBody>
      </p:sp>
      <p:sp>
        <p:nvSpPr>
          <p:cNvPr id="15" name="R3_g2"/>
          <p:cNvSpPr txBox="1"/>
          <p:nvPr/>
        </p:nvSpPr>
        <p:spPr>
          <a:xfrm rot="-90000">
            <a:off x="6217920" y="260604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</a:t>
            </a:r>
            <a:endParaRPr lang="en-US" sz="1400" dirty="0"/>
          </a:p>
        </p:txBody>
      </p:sp>
      <p:sp>
        <p:nvSpPr>
          <p:cNvPr id="16" name="s_73"/>
          <p:cNvSpPr txBox="1"/>
          <p:nvPr/>
        </p:nvSpPr>
        <p:spPr>
          <a:xfrm>
            <a:off x="411480" y="3136392"/>
            <a:ext cx="566928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If I don't get into Cambridge,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R4_g3"/>
          <p:cNvSpPr txBox="1"/>
          <p:nvPr/>
        </p:nvSpPr>
        <p:spPr>
          <a:xfrm rot="90000">
            <a:off x="6217920" y="3209544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parents will kill me</a:t>
            </a:r>
            <a:endParaRPr lang="en-US" sz="1400" dirty="0"/>
          </a:p>
        </p:txBody>
      </p:sp>
      <p:sp>
        <p:nvSpPr>
          <p:cNvPr id="18" name="s_74"/>
          <p:cNvSpPr txBox="1"/>
          <p:nvPr/>
        </p:nvSpPr>
        <p:spPr>
          <a:xfrm>
            <a:off x="411480" y="3739896"/>
            <a:ext cx="566928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When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bit more positive, I'll try to get a place at another university.</a:t>
            </a:r>
            <a:endParaRPr lang="en-US" sz="1100" dirty="0"/>
          </a:p>
        </p:txBody>
      </p:sp>
      <p:sp>
        <p:nvSpPr>
          <p:cNvPr id="19" name="R5_g4"/>
          <p:cNvSpPr txBox="1"/>
          <p:nvPr/>
        </p:nvSpPr>
        <p:spPr>
          <a:xfrm rot="-90000">
            <a:off x="6217920" y="3813048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feel</a:t>
            </a:r>
            <a:endParaRPr lang="en-US" sz="1400" dirty="0"/>
          </a:p>
        </p:txBody>
      </p:sp>
      <p:sp>
        <p:nvSpPr>
          <p:cNvPr id="20" name="notice_75"/>
          <p:cNvSpPr txBox="1"/>
          <p:nvPr/>
        </p:nvSpPr>
        <p:spPr>
          <a:xfrm>
            <a:off x="411480" y="44074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tense comes after unless / as soon as / until / when?  ·  Che tempo verbale c'è dopo?</a:t>
            </a:r>
            <a:endParaRPr lang="en-US" sz="1200" dirty="0"/>
          </a:p>
        </p:txBody>
      </p:sp>
      <p:sp>
        <p:nvSpPr>
          <p:cNvPr id="21" name="pageTag_76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p.68 · 5d · audio 7.12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7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9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First conditional</a:t>
            </a:r>
            <a:endParaRPr lang="en-US" sz="900" dirty="0"/>
          </a:p>
        </p:txBody>
      </p:sp>
      <p:sp>
        <p:nvSpPr>
          <p:cNvPr id="6" name="footer_80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81"/>
          <p:cNvSpPr txBox="1"/>
          <p:nvPr/>
        </p:nvSpPr>
        <p:spPr>
          <a:xfrm rot="90000">
            <a:off x="320040" y="658368"/>
            <a:ext cx="3456432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If…, … will …  🔍</a:t>
            </a:r>
            <a:endParaRPr lang="en-US" sz="1600" dirty="0"/>
          </a:p>
        </p:txBody>
      </p:sp>
      <p:sp>
        <p:nvSpPr>
          <p:cNvPr id="8" name="tape_82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83"/>
          <p:cNvSpPr/>
          <p:nvPr/>
        </p:nvSpPr>
        <p:spPr>
          <a:xfrm rot="-720000">
            <a:off x="320954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laroid_84"/>
          <p:cNvSpPr/>
          <p:nvPr/>
        </p:nvSpPr>
        <p:spPr>
          <a:xfrm rot="-180000">
            <a:off x="411480" y="1325880"/>
            <a:ext cx="2743200" cy="181965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photo_85" descr="A girl studying for exam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80000">
            <a:off x="502920" y="1417320"/>
            <a:ext cx="2560320" cy="1325880"/>
          </a:xfrm>
          <a:prstGeom prst="rect">
            <a:avLst/>
          </a:prstGeom>
        </p:spPr>
      </p:pic>
      <p:sp>
        <p:nvSpPr>
          <p:cNvPr id="12" name="caption_86"/>
          <p:cNvSpPr txBox="1"/>
          <p:nvPr/>
        </p:nvSpPr>
        <p:spPr>
          <a:xfrm rot="-180000">
            <a:off x="411480" y="27614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</a:t>
            </a:r>
            <a:endParaRPr lang="en-US" sz="1200" dirty="0"/>
          </a:p>
        </p:txBody>
      </p:sp>
      <p:sp>
        <p:nvSpPr>
          <p:cNvPr id="13" name="polaroid_87"/>
          <p:cNvSpPr/>
          <p:nvPr/>
        </p:nvSpPr>
        <p:spPr>
          <a:xfrm rot="180000">
            <a:off x="685800" y="3154680"/>
            <a:ext cx="2377440" cy="149961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photo_88" descr="Boys in school uniform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180000">
            <a:off x="777240" y="3246120"/>
            <a:ext cx="2194560" cy="1005840"/>
          </a:xfrm>
          <a:prstGeom prst="rect">
            <a:avLst/>
          </a:prstGeom>
        </p:spPr>
      </p:pic>
      <p:sp>
        <p:nvSpPr>
          <p:cNvPr id="15" name="caption_89"/>
          <p:cNvSpPr txBox="1"/>
          <p:nvPr/>
        </p:nvSpPr>
        <p:spPr>
          <a:xfrm rot="180000">
            <a:off x="685800" y="42702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</a:t>
            </a:r>
            <a:endParaRPr lang="en-US" sz="1200" dirty="0"/>
          </a:p>
        </p:txBody>
      </p:sp>
      <p:sp>
        <p:nvSpPr>
          <p:cNvPr id="16" name="R1_ex1"/>
          <p:cNvSpPr txBox="1"/>
          <p:nvPr/>
        </p:nvSpPr>
        <p:spPr>
          <a:xfrm>
            <a:off x="3474720" y="1417320"/>
            <a:ext cx="530352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revises,</a:t>
            </a:r>
            <a:pPr indent="0" marL="0">
              <a:buNone/>
            </a:pPr>
            <a:r>
              <a:rPr lang="en-US" sz="18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she'll pass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exams.</a:t>
            </a:r>
            <a:endParaRPr lang="en-US" sz="1800" dirty="0"/>
          </a:p>
        </p:txBody>
      </p:sp>
      <p:sp>
        <p:nvSpPr>
          <p:cNvPr id="17" name="R2_ex2"/>
          <p:cNvSpPr txBox="1"/>
          <p:nvPr/>
        </p:nvSpPr>
        <p:spPr>
          <a:xfrm>
            <a:off x="3474720" y="2103120"/>
            <a:ext cx="530352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wear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uniform, </a:t>
            </a:r>
            <a:pPr indent="0" marL="0">
              <a:buNone/>
            </a:pPr>
            <a:r>
              <a:rPr lang="en-US" sz="16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punished.</a:t>
            </a:r>
            <a:endParaRPr lang="en-US" sz="1600" dirty="0"/>
          </a:p>
        </p:txBody>
      </p:sp>
      <p:sp>
        <p:nvSpPr>
          <p:cNvPr id="18" name="R3_rule"/>
          <p:cNvSpPr txBox="1"/>
          <p:nvPr/>
        </p:nvSpPr>
        <p:spPr>
          <a:xfrm rot="-60000">
            <a:off x="3474720" y="2880360"/>
            <a:ext cx="5303520" cy="128016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present simple,   </a:t>
            </a:r>
            <a:pPr indent="0" marL="0">
              <a:buNone/>
            </a:pPr>
            <a:r>
              <a:rPr lang="en-US" sz="17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/ won't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infinitive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+ presente, futuro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will after if:  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</a:t>
            </a:r>
            <a:pPr indent="0" marL="0">
              <a:buNone/>
            </a:pPr>
            <a:r>
              <a:rPr lang="en-US" sz="1700" strike="sngStrike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rain</a:t>
            </a:r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rains…</a:t>
            </a:r>
            <a:endParaRPr lang="en-US" sz="1700" dirty="0"/>
          </a:p>
        </p:txBody>
      </p:sp>
      <p:sp>
        <p:nvSpPr>
          <p:cNvPr id="19" name="pageTag_90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7A p.144 for extra practice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3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Future time clauses</a:t>
            </a:r>
            <a:endParaRPr lang="en-US" sz="900" dirty="0"/>
          </a:p>
        </p:txBody>
      </p:sp>
      <p:sp>
        <p:nvSpPr>
          <p:cNvPr id="6" name="footer_94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95"/>
          <p:cNvSpPr txBox="1"/>
          <p:nvPr/>
        </p:nvSpPr>
        <p:spPr>
          <a:xfrm rot="90000">
            <a:off x="320040" y="658368"/>
            <a:ext cx="6409944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· as soon as · until · unless</a:t>
            </a:r>
            <a:endParaRPr lang="en-US" sz="1600" dirty="0"/>
          </a:p>
        </p:txBody>
      </p:sp>
      <p:sp>
        <p:nvSpPr>
          <p:cNvPr id="8" name="tape_96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97"/>
          <p:cNvSpPr/>
          <p:nvPr/>
        </p:nvSpPr>
        <p:spPr>
          <a:xfrm rot="-720000">
            <a:off x="616305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stamp_98"/>
          <p:cNvSpPr txBox="1"/>
          <p:nvPr/>
        </p:nvSpPr>
        <p:spPr>
          <a:xfrm rot="-120000">
            <a:off x="365760" y="137160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BD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</a:t>
            </a:r>
            <a:endParaRPr lang="en-US" sz="1400" dirty="0"/>
          </a:p>
        </p:txBody>
      </p:sp>
      <p:sp>
        <p:nvSpPr>
          <p:cNvPr id="11" name="tkit_99"/>
          <p:cNvSpPr txBox="1"/>
          <p:nvPr/>
        </p:nvSpPr>
        <p:spPr>
          <a:xfrm>
            <a:off x="365760" y="1801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100" dirty="0"/>
          </a:p>
        </p:txBody>
      </p:sp>
      <p:sp>
        <p:nvSpPr>
          <p:cNvPr id="12" name="stamp_100"/>
          <p:cNvSpPr txBox="1"/>
          <p:nvPr/>
        </p:nvSpPr>
        <p:spPr>
          <a:xfrm rot="120000">
            <a:off x="1783080" y="137160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A4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soon as</a:t>
            </a:r>
            <a:endParaRPr lang="en-US" sz="1400" dirty="0"/>
          </a:p>
        </p:txBody>
      </p:sp>
      <p:sp>
        <p:nvSpPr>
          <p:cNvPr id="13" name="tkit_101"/>
          <p:cNvSpPr txBox="1"/>
          <p:nvPr/>
        </p:nvSpPr>
        <p:spPr>
          <a:xfrm>
            <a:off x="1783080" y="1801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appena</a:t>
            </a:r>
            <a:endParaRPr lang="en-US" sz="1100" dirty="0"/>
          </a:p>
        </p:txBody>
      </p:sp>
      <p:sp>
        <p:nvSpPr>
          <p:cNvPr id="14" name="stamp_102"/>
          <p:cNvSpPr txBox="1"/>
          <p:nvPr/>
        </p:nvSpPr>
        <p:spPr>
          <a:xfrm rot="-120000">
            <a:off x="3200400" y="137160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until</a:t>
            </a:r>
            <a:endParaRPr lang="en-US" sz="1400" dirty="0"/>
          </a:p>
        </p:txBody>
      </p:sp>
      <p:sp>
        <p:nvSpPr>
          <p:cNvPr id="15" name="tkit_103"/>
          <p:cNvSpPr txBox="1"/>
          <p:nvPr/>
        </p:nvSpPr>
        <p:spPr>
          <a:xfrm>
            <a:off x="3200400" y="1801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finché non</a:t>
            </a:r>
            <a:endParaRPr lang="en-US" sz="1100" dirty="0"/>
          </a:p>
        </p:txBody>
      </p:sp>
      <p:sp>
        <p:nvSpPr>
          <p:cNvPr id="16" name="stamp_104"/>
          <p:cNvSpPr txBox="1"/>
          <p:nvPr/>
        </p:nvSpPr>
        <p:spPr>
          <a:xfrm rot="120000">
            <a:off x="365760" y="22402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062F6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400" dirty="0"/>
          </a:p>
        </p:txBody>
      </p:sp>
      <p:sp>
        <p:nvSpPr>
          <p:cNvPr id="17" name="tkit_105"/>
          <p:cNvSpPr txBox="1"/>
          <p:nvPr/>
        </p:nvSpPr>
        <p:spPr>
          <a:xfrm>
            <a:off x="365760" y="26700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che</a:t>
            </a:r>
            <a:endParaRPr lang="en-US" sz="1100" dirty="0"/>
          </a:p>
        </p:txBody>
      </p:sp>
      <p:sp>
        <p:nvSpPr>
          <p:cNvPr id="18" name="stamp_106"/>
          <p:cNvSpPr txBox="1"/>
          <p:nvPr/>
        </p:nvSpPr>
        <p:spPr>
          <a:xfrm rot="-120000">
            <a:off x="1783080" y="22402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400" dirty="0"/>
          </a:p>
        </p:txBody>
      </p:sp>
      <p:sp>
        <p:nvSpPr>
          <p:cNvPr id="19" name="tkit_107"/>
          <p:cNvSpPr txBox="1"/>
          <p:nvPr/>
        </p:nvSpPr>
        <p:spPr>
          <a:xfrm>
            <a:off x="1783080" y="26700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che</a:t>
            </a:r>
            <a:endParaRPr lang="en-US" sz="1100" dirty="0"/>
          </a:p>
        </p:txBody>
      </p:sp>
      <p:sp>
        <p:nvSpPr>
          <p:cNvPr id="20" name="stamp_108"/>
          <p:cNvSpPr txBox="1"/>
          <p:nvPr/>
        </p:nvSpPr>
        <p:spPr>
          <a:xfrm rot="120000">
            <a:off x="3200400" y="22402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unless</a:t>
            </a:r>
            <a:endParaRPr lang="en-US" sz="1400" dirty="0"/>
          </a:p>
        </p:txBody>
      </p:sp>
      <p:sp>
        <p:nvSpPr>
          <p:cNvPr id="21" name="tkit_109"/>
          <p:cNvSpPr txBox="1"/>
          <p:nvPr/>
        </p:nvSpPr>
        <p:spPr>
          <a:xfrm>
            <a:off x="3200400" y="26700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 che (= if not)</a:t>
            </a:r>
            <a:endParaRPr lang="en-US" sz="900" dirty="0"/>
          </a:p>
        </p:txBody>
      </p:sp>
      <p:sp>
        <p:nvSpPr>
          <p:cNvPr id="22" name="R1_tex0"/>
          <p:cNvSpPr txBox="1"/>
          <p:nvPr/>
        </p:nvSpPr>
        <p:spPr>
          <a:xfrm>
            <a:off x="4800600" y="1371600"/>
            <a:ext cx="40233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call you </a:t>
            </a:r>
            <a:pPr indent="0" marL="0">
              <a:buNone/>
            </a:pPr>
            <a:r>
              <a:rPr lang="en-US" sz="16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home.</a:t>
            </a:r>
            <a:endParaRPr lang="en-US" sz="1600" dirty="0"/>
          </a:p>
        </p:txBody>
      </p:sp>
      <p:sp>
        <p:nvSpPr>
          <p:cNvPr id="23" name="R2_tex1"/>
          <p:cNvSpPr txBox="1"/>
          <p:nvPr/>
        </p:nvSpPr>
        <p:spPr>
          <a:xfrm>
            <a:off x="4800600" y="2029968"/>
            <a:ext cx="40233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won't start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everybody </a:t>
            </a:r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R3_tex2"/>
          <p:cNvSpPr txBox="1"/>
          <p:nvPr/>
        </p:nvSpPr>
        <p:spPr>
          <a:xfrm>
            <a:off x="4800600" y="2688336"/>
            <a:ext cx="40233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</a:t>
            </a:r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won't pass.</a:t>
            </a:r>
            <a:endParaRPr lang="en-US" sz="1600" dirty="0"/>
          </a:p>
        </p:txBody>
      </p:sp>
      <p:sp>
        <p:nvSpPr>
          <p:cNvPr id="25" name="R4_rule"/>
          <p:cNvSpPr txBox="1"/>
          <p:nvPr/>
        </p:nvSpPr>
        <p:spPr>
          <a:xfrm rot="-60000">
            <a:off x="365760" y="3337560"/>
            <a:ext cx="8458200" cy="86868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as if: </a:t>
            </a:r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when / until / as soon as…, NOT will.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Appena arrivo (NON: as soon as I will arrive)</a:t>
            </a:r>
            <a:endParaRPr lang="en-US" sz="1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2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 · Grammar Bank 7A</a:t>
            </a:r>
            <a:endParaRPr lang="en-US" sz="900" dirty="0"/>
          </a:p>
        </p:txBody>
      </p:sp>
      <p:sp>
        <p:nvSpPr>
          <p:cNvPr id="6" name="footer_113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14"/>
          <p:cNvSpPr txBox="1"/>
          <p:nvPr/>
        </p:nvSpPr>
        <p:spPr>
          <a:xfrm rot="90000">
            <a:off x="320040" y="658368"/>
            <a:ext cx="5193792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Bank: if or unless?</a:t>
            </a:r>
            <a:endParaRPr lang="en-US" sz="1600" dirty="0"/>
          </a:p>
        </p:txBody>
      </p:sp>
      <p:sp>
        <p:nvSpPr>
          <p:cNvPr id="8" name="tape_115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16"/>
          <p:cNvSpPr/>
          <p:nvPr/>
        </p:nvSpPr>
        <p:spPr>
          <a:xfrm rot="-720000">
            <a:off x="494690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st_11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18"/>
          <p:cNvSpPr txBox="1"/>
          <p:nvPr/>
        </p:nvSpPr>
        <p:spPr>
          <a:xfrm rot="-180000">
            <a:off x="320040" y="1371600"/>
            <a:ext cx="210312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600" dirty="0"/>
          </a:p>
        </p:txBody>
      </p:sp>
      <p:sp>
        <p:nvSpPr>
          <p:cNvPr id="12" name="signB_119"/>
          <p:cNvSpPr txBox="1"/>
          <p:nvPr/>
        </p:nvSpPr>
        <p:spPr>
          <a:xfrm rot="120000">
            <a:off x="365760" y="1938528"/>
            <a:ext cx="237744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book: Grammar Bank 7A, exercise a. Do 1–5 now.</a:t>
            </a:r>
            <a:endParaRPr lang="en-US" sz="12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il libro: Grammar Bank 7A, esercizio a. Fai 1–5 adesso.</a:t>
            </a:r>
            <a:endParaRPr lang="en-US" sz="1250" dirty="0"/>
          </a:p>
        </p:txBody>
      </p:sp>
      <p:sp>
        <p:nvSpPr>
          <p:cNvPr id="13" name="n_120"/>
          <p:cNvSpPr txBox="1"/>
          <p:nvPr/>
        </p:nvSpPr>
        <p:spPr>
          <a:xfrm>
            <a:off x="2834640" y="1435608"/>
            <a:ext cx="365760" cy="365760"/>
          </a:xfrm>
          <a:prstGeom prst="ellips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R1_gb0"/>
          <p:cNvSpPr txBox="1"/>
          <p:nvPr/>
        </p:nvSpPr>
        <p:spPr>
          <a:xfrm>
            <a:off x="3291840" y="1371600"/>
            <a:ext cx="5486400" cy="493776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girl will get into trouble if she doesn't wear her uniform.</a:t>
            </a:r>
            <a:endParaRPr lang="en-US" sz="1300" dirty="0"/>
          </a:p>
        </p:txBody>
      </p:sp>
      <p:sp>
        <p:nvSpPr>
          <p:cNvPr id="15" name="n_121"/>
          <p:cNvSpPr txBox="1"/>
          <p:nvPr/>
        </p:nvSpPr>
        <p:spPr>
          <a:xfrm>
            <a:off x="2834640" y="2002536"/>
            <a:ext cx="365760" cy="365760"/>
          </a:xfrm>
          <a:prstGeom prst="ellips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R2_gb1"/>
          <p:cNvSpPr txBox="1"/>
          <p:nvPr/>
        </p:nvSpPr>
        <p:spPr>
          <a:xfrm>
            <a:off x="3291840" y="1938528"/>
            <a:ext cx="5486400" cy="493776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give in your homework late, the teacher won't mark it.</a:t>
            </a:r>
            <a:endParaRPr lang="en-US" sz="1300" dirty="0"/>
          </a:p>
        </p:txBody>
      </p:sp>
      <p:sp>
        <p:nvSpPr>
          <p:cNvPr id="17" name="n_122"/>
          <p:cNvSpPr txBox="1"/>
          <p:nvPr/>
        </p:nvSpPr>
        <p:spPr>
          <a:xfrm>
            <a:off x="2834640" y="2569464"/>
            <a:ext cx="365760" cy="365760"/>
          </a:xfrm>
          <a:prstGeom prst="ellips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R3_gb2"/>
          <p:cNvSpPr txBox="1"/>
          <p:nvPr/>
        </p:nvSpPr>
        <p:spPr>
          <a:xfrm>
            <a:off x="3291840" y="2505456"/>
            <a:ext cx="5486400" cy="493776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write anything unless you're sure of the answer.</a:t>
            </a:r>
            <a:endParaRPr lang="en-US" sz="1300" dirty="0"/>
          </a:p>
        </p:txBody>
      </p:sp>
      <p:sp>
        <p:nvSpPr>
          <p:cNvPr id="19" name="n_123"/>
          <p:cNvSpPr txBox="1"/>
          <p:nvPr/>
        </p:nvSpPr>
        <p:spPr>
          <a:xfrm>
            <a:off x="2834640" y="3136392"/>
            <a:ext cx="365760" cy="365760"/>
          </a:xfrm>
          <a:prstGeom prst="ellips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R4_gb3"/>
          <p:cNvSpPr txBox="1"/>
          <p:nvPr/>
        </p:nvSpPr>
        <p:spPr>
          <a:xfrm>
            <a:off x="3291840" y="3072384"/>
            <a:ext cx="5486400" cy="493776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 will be expelled if his behaviour doesn't improve.</a:t>
            </a:r>
            <a:endParaRPr lang="en-US" sz="1300" dirty="0"/>
          </a:p>
        </p:txBody>
      </p:sp>
      <p:sp>
        <p:nvSpPr>
          <p:cNvPr id="21" name="n_124"/>
          <p:cNvSpPr txBox="1"/>
          <p:nvPr/>
        </p:nvSpPr>
        <p:spPr>
          <a:xfrm>
            <a:off x="2834640" y="3703320"/>
            <a:ext cx="365760" cy="365760"/>
          </a:xfrm>
          <a:prstGeom prst="ellips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R5_gb4"/>
          <p:cNvSpPr txBox="1"/>
          <p:nvPr/>
        </p:nvSpPr>
        <p:spPr>
          <a:xfrm>
            <a:off x="3291840" y="3639312"/>
            <a:ext cx="5486400" cy="493776"/>
          </a:xfrm>
          <a:prstGeom prst="rect">
            <a:avLst/>
          </a:prstGeom>
          <a:solidFill>
            <a:srgbClr val="DCFCE7"/>
          </a:solidFill>
          <a:ln w="19050">
            <a:solidFill>
              <a:srgbClr val="1FA463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They'll be late for school unless they hurry.</a:t>
            </a:r>
            <a:endParaRPr lang="en-US" sz="1300" dirty="0"/>
          </a:p>
        </p:txBody>
      </p:sp>
      <p:sp>
        <p:nvSpPr>
          <p:cNvPr id="23" name="sticky_125"/>
          <p:cNvSpPr txBox="1"/>
          <p:nvPr/>
        </p:nvSpPr>
        <p:spPr>
          <a:xfrm rot="-120000">
            <a:off x="411480" y="4069080"/>
            <a:ext cx="2194560" cy="5486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6–10 + b = homework</a:t>
            </a:r>
            <a:endParaRPr lang="en-US" sz="1200" dirty="0"/>
          </a:p>
        </p:txBody>
      </p:sp>
      <p:sp>
        <p:nvSpPr>
          <p:cNvPr id="24" name="pageTag_126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Grammar Bank 7A p.144 · answers from the Teacher's Guide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9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Grammar in action</a:t>
            </a:r>
            <a:endParaRPr lang="en-US" sz="900" dirty="0"/>
          </a:p>
        </p:txBody>
      </p:sp>
      <p:sp>
        <p:nvSpPr>
          <p:cNvPr id="6" name="footer_130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31"/>
          <p:cNvSpPr txBox="1"/>
          <p:nvPr/>
        </p:nvSpPr>
        <p:spPr>
          <a:xfrm rot="90000">
            <a:off x="320040" y="658368"/>
            <a:ext cx="3630168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will you do…?</a:t>
            </a:r>
            <a:endParaRPr lang="en-US" sz="1600" dirty="0"/>
          </a:p>
        </p:txBody>
      </p:sp>
      <p:sp>
        <p:nvSpPr>
          <p:cNvPr id="8" name="tape_132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33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st_134"/>
          <p:cNvSpPr/>
          <p:nvPr/>
        </p:nvSpPr>
        <p:spPr>
          <a:xfrm>
            <a:off x="429768" y="1554480"/>
            <a:ext cx="128016" cy="237744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35"/>
          <p:cNvSpPr txBox="1"/>
          <p:nvPr/>
        </p:nvSpPr>
        <p:spPr>
          <a:xfrm rot="-180000">
            <a:off x="320040" y="1371600"/>
            <a:ext cx="210312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600" dirty="0"/>
          </a:p>
        </p:txBody>
      </p:sp>
      <p:sp>
        <p:nvSpPr>
          <p:cNvPr id="12" name="signB_136"/>
          <p:cNvSpPr txBox="1"/>
          <p:nvPr/>
        </p:nvSpPr>
        <p:spPr>
          <a:xfrm rot="120000">
            <a:off x="365760" y="1938528"/>
            <a:ext cx="2377440" cy="960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and answer with a partner. Make full sentences.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 domande al compagno. Rispondi con frasi complete.</a:t>
            </a:r>
            <a:endParaRPr lang="en-US" sz="1300" dirty="0"/>
          </a:p>
        </p:txBody>
      </p:sp>
      <p:sp>
        <p:nvSpPr>
          <p:cNvPr id="13" name="bubble_137"/>
          <p:cNvSpPr txBox="1"/>
          <p:nvPr/>
        </p:nvSpPr>
        <p:spPr>
          <a:xfrm rot="-120000">
            <a:off x="2926080" y="1371600"/>
            <a:ext cx="2697480" cy="91440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…as soon as you get home?</a:t>
            </a:r>
            <a:endParaRPr lang="en-US" sz="1500" dirty="0"/>
          </a:p>
        </p:txBody>
      </p:sp>
      <p:sp>
        <p:nvSpPr>
          <p:cNvPr id="14" name="bubble_138"/>
          <p:cNvSpPr txBox="1"/>
          <p:nvPr/>
        </p:nvSpPr>
        <p:spPr>
          <a:xfrm rot="120000">
            <a:off x="5852160" y="1371600"/>
            <a:ext cx="2697480" cy="91440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…if you don't get a good mark in your next test?</a:t>
            </a:r>
            <a:endParaRPr lang="en-US" sz="1500" dirty="0"/>
          </a:p>
        </p:txBody>
      </p:sp>
      <p:sp>
        <p:nvSpPr>
          <p:cNvPr id="15" name="bubble_139"/>
          <p:cNvSpPr txBox="1"/>
          <p:nvPr/>
        </p:nvSpPr>
        <p:spPr>
          <a:xfrm rot="-120000">
            <a:off x="2926080" y="2606040"/>
            <a:ext cx="2697480" cy="914400"/>
          </a:xfrm>
          <a:prstGeom prst="wedgeRoundRectCallou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…when this course finishes?</a:t>
            </a:r>
            <a:endParaRPr lang="en-US" sz="1500" dirty="0"/>
          </a:p>
        </p:txBody>
      </p:sp>
      <p:sp>
        <p:nvSpPr>
          <p:cNvPr id="16" name="bubble_140"/>
          <p:cNvSpPr txBox="1"/>
          <p:nvPr/>
        </p:nvSpPr>
        <p:spPr>
          <a:xfrm rot="120000">
            <a:off x="5852160" y="2606040"/>
            <a:ext cx="2697480" cy="914400"/>
          </a:xfrm>
          <a:prstGeom prst="wedgeRoundRectCallou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…if it rains at the weekend?</a:t>
            </a:r>
            <a:endParaRPr lang="en-US" sz="1500" dirty="0"/>
          </a:p>
        </p:txBody>
      </p:sp>
      <p:sp>
        <p:nvSpPr>
          <p:cNvPr id="17" name="sticky_141"/>
          <p:cNvSpPr txBox="1"/>
          <p:nvPr/>
        </p:nvSpPr>
        <p:spPr>
          <a:xfrm rot="-120000">
            <a:off x="5760720" y="388620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I get home, I'll have a snack!</a:t>
            </a:r>
            <a:endParaRPr lang="en-US" sz="1300" dirty="0"/>
          </a:p>
        </p:txBody>
      </p:sp>
      <p:sp>
        <p:nvSpPr>
          <p:cNvPr id="18" name="pageTag_142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p.68 · 5f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5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&amp; SPEAKING · University</a:t>
            </a:r>
            <a:endParaRPr lang="en-US" sz="900" dirty="0"/>
          </a:p>
        </p:txBody>
      </p:sp>
      <p:sp>
        <p:nvSpPr>
          <p:cNvPr id="6" name="footer_146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47"/>
          <p:cNvSpPr txBox="1"/>
          <p:nvPr/>
        </p:nvSpPr>
        <p:spPr>
          <a:xfrm rot="90000">
            <a:off x="320040" y="658368"/>
            <a:ext cx="4325112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University: you and me</a:t>
            </a:r>
            <a:endParaRPr lang="en-US" sz="1600" dirty="0"/>
          </a:p>
        </p:txBody>
      </p:sp>
      <p:sp>
        <p:nvSpPr>
          <p:cNvPr id="8" name="tape_148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49"/>
          <p:cNvSpPr/>
          <p:nvPr/>
        </p:nvSpPr>
        <p:spPr>
          <a:xfrm rot="-720000">
            <a:off x="407822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laroid_150"/>
          <p:cNvSpPr/>
          <p:nvPr/>
        </p:nvSpPr>
        <p:spPr>
          <a:xfrm rot="180000">
            <a:off x="5715000" y="1325880"/>
            <a:ext cx="3063240" cy="264261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photo_151" descr="Students on a university campu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180000">
            <a:off x="5806440" y="1417320"/>
            <a:ext cx="2880360" cy="2148840"/>
          </a:xfrm>
          <a:prstGeom prst="rect">
            <a:avLst/>
          </a:prstGeom>
        </p:spPr>
      </p:pic>
      <p:sp>
        <p:nvSpPr>
          <p:cNvPr id="12" name="caption_152"/>
          <p:cNvSpPr txBox="1"/>
          <p:nvPr/>
        </p:nvSpPr>
        <p:spPr>
          <a:xfrm rot="180000">
            <a:off x="5715000" y="3584448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university</a:t>
            </a:r>
            <a:endParaRPr lang="en-US" sz="1200" dirty="0"/>
          </a:p>
        </p:txBody>
      </p:sp>
      <p:sp>
        <p:nvSpPr>
          <p:cNvPr id="13" name="R1_u0"/>
          <p:cNvSpPr txBox="1"/>
          <p:nvPr/>
        </p:nvSpPr>
        <p:spPr>
          <a:xfrm rot="-60000">
            <a:off x="411480" y="1325880"/>
            <a:ext cx="4937760" cy="932688"/>
          </a:xfrm>
          <a:prstGeom prst="roundRect">
            <a:avLst>
              <a:gd name="adj" fmla="val 14706"/>
            </a:avLst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at university now?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studying? Are you enjoying it? What are you planning to do when you graduate?</a:t>
            </a:r>
            <a:endParaRPr lang="en-US" sz="1300" dirty="0"/>
          </a:p>
        </p:txBody>
      </p:sp>
      <p:sp>
        <p:nvSpPr>
          <p:cNvPr id="14" name="R2_u1"/>
          <p:cNvSpPr txBox="1"/>
          <p:nvPr/>
        </p:nvSpPr>
        <p:spPr>
          <a:xfrm rot="60000">
            <a:off x="731520" y="2404872"/>
            <a:ext cx="4937760" cy="932688"/>
          </a:xfrm>
          <a:prstGeom prst="roundRect">
            <a:avLst>
              <a:gd name="adj" fmla="val 14706"/>
            </a:avLst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been to university?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What did you study? Did you enjoy it?  No: Are you happy you didn't go?</a:t>
            </a:r>
            <a:endParaRPr lang="en-US" sz="1300" dirty="0"/>
          </a:p>
        </p:txBody>
      </p:sp>
      <p:sp>
        <p:nvSpPr>
          <p:cNvPr id="15" name="R3_u2"/>
          <p:cNvSpPr txBox="1"/>
          <p:nvPr/>
        </p:nvSpPr>
        <p:spPr>
          <a:xfrm rot="-60000">
            <a:off x="411480" y="3483864"/>
            <a:ext cx="4937760" cy="932688"/>
          </a:xfrm>
          <a:prstGeom prst="roundRect">
            <a:avLst>
              <a:gd name="adj" fmla="val 14706"/>
            </a:avLst>
          </a:prstGeom>
          <a:solidFill>
            <a:srgbClr val="FEF9C3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to go to university?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What would you like to study? Why?  No: What would you like to do instead?</a:t>
            </a:r>
            <a:endParaRPr lang="en-US" sz="1300" dirty="0"/>
          </a:p>
        </p:txBody>
      </p:sp>
      <p:sp>
        <p:nvSpPr>
          <p:cNvPr id="16" name="pageTag_153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p.69 · 6a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6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The UK student site</a:t>
            </a:r>
            <a:endParaRPr lang="en-US" sz="900" dirty="0"/>
          </a:p>
        </p:txBody>
      </p:sp>
      <p:sp>
        <p:nvSpPr>
          <p:cNvPr id="6" name="footer_157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58"/>
          <p:cNvSpPr txBox="1"/>
          <p:nvPr/>
        </p:nvSpPr>
        <p:spPr>
          <a:xfrm rot="90000">
            <a:off x="320040" y="658368"/>
            <a:ext cx="6062472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it really worth going to uni?</a:t>
            </a:r>
            <a:endParaRPr lang="en-US" sz="1600" dirty="0"/>
          </a:p>
        </p:txBody>
      </p:sp>
      <p:sp>
        <p:nvSpPr>
          <p:cNvPr id="8" name="tape_159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60"/>
          <p:cNvSpPr/>
          <p:nvPr/>
        </p:nvSpPr>
        <p:spPr>
          <a:xfrm rot="-720000">
            <a:off x="581558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key_161"/>
          <p:cNvSpPr txBox="1"/>
          <p:nvPr/>
        </p:nvSpPr>
        <p:spPr>
          <a:xfrm>
            <a:off x="411480" y="1280160"/>
            <a:ext cx="832104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yes, it's worth it    ✗ = no, it isn't    S = sometimes worth it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 commenti e segnali: ✓ sì · ✗ no · S a volte</a:t>
            </a:r>
            <a:endParaRPr lang="en-US" sz="1400" dirty="0"/>
          </a:p>
        </p:txBody>
      </p:sp>
      <p:sp>
        <p:nvSpPr>
          <p:cNvPr id="11" name="c_162"/>
          <p:cNvSpPr txBox="1"/>
          <p:nvPr/>
        </p:nvSpPr>
        <p:spPr>
          <a:xfrm>
            <a:off x="411480" y="1920240"/>
            <a:ext cx="7635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It depends what you want to do. Some degrees are worth it, like medicine. Media studies? A waste of time.</a:t>
            </a:r>
            <a:endParaRPr lang="en-US" sz="1100" dirty="0"/>
          </a:p>
        </p:txBody>
      </p:sp>
      <p:sp>
        <p:nvSpPr>
          <p:cNvPr id="12" name="R1_m0"/>
          <p:cNvSpPr txBox="1"/>
          <p:nvPr/>
        </p:nvSpPr>
        <p:spPr>
          <a:xfrm>
            <a:off x="8138160" y="1956816"/>
            <a:ext cx="548640" cy="402336"/>
          </a:xfrm>
          <a:prstGeom prst="ellips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c_163"/>
          <p:cNvSpPr txBox="1"/>
          <p:nvPr/>
        </p:nvSpPr>
        <p:spPr>
          <a:xfrm>
            <a:off x="411480" y="2468880"/>
            <a:ext cx="7635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Uni gives you the time and space to find out what you really want to do in life — and friends, clubs…</a:t>
            </a:r>
            <a:endParaRPr lang="en-US" sz="1250" dirty="0"/>
          </a:p>
        </p:txBody>
      </p:sp>
      <p:sp>
        <p:nvSpPr>
          <p:cNvPr id="14" name="R1_m1"/>
          <p:cNvSpPr txBox="1"/>
          <p:nvPr/>
        </p:nvSpPr>
        <p:spPr>
          <a:xfrm>
            <a:off x="8138160" y="2505456"/>
            <a:ext cx="548640" cy="402336"/>
          </a:xfrm>
          <a:prstGeom prst="ellips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c_164"/>
          <p:cNvSpPr txBox="1"/>
          <p:nvPr/>
        </p:nvSpPr>
        <p:spPr>
          <a:xfrm>
            <a:off x="411480" y="3017520"/>
            <a:ext cx="7635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There are better alternatives. I chose an apprenticeship: I'm 20, earning money and learning on the job.</a:t>
            </a:r>
            <a:endParaRPr lang="en-US" sz="1200" dirty="0"/>
          </a:p>
        </p:txBody>
      </p:sp>
      <p:sp>
        <p:nvSpPr>
          <p:cNvPr id="16" name="R1_m2"/>
          <p:cNvSpPr txBox="1"/>
          <p:nvPr/>
        </p:nvSpPr>
        <p:spPr>
          <a:xfrm>
            <a:off x="8138160" y="3054096"/>
            <a:ext cx="548640" cy="402336"/>
          </a:xfrm>
          <a:prstGeom prst="ellips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500" dirty="0"/>
          </a:p>
        </p:txBody>
      </p:sp>
      <p:sp>
        <p:nvSpPr>
          <p:cNvPr id="17" name="c_165"/>
          <p:cNvSpPr txBox="1"/>
          <p:nvPr/>
        </p:nvSpPr>
        <p:spPr>
          <a:xfrm>
            <a:off x="411480" y="3566160"/>
            <a:ext cx="76352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Everyone thinks uni is the only solution. Trust me, it isn't. Some people aren't made for uni.</a:t>
            </a:r>
            <a:endParaRPr lang="en-US" sz="1250" dirty="0"/>
          </a:p>
        </p:txBody>
      </p:sp>
      <p:sp>
        <p:nvSpPr>
          <p:cNvPr id="18" name="R1_m3"/>
          <p:cNvSpPr txBox="1"/>
          <p:nvPr/>
        </p:nvSpPr>
        <p:spPr>
          <a:xfrm>
            <a:off x="8138160" y="3602736"/>
            <a:ext cx="548640" cy="402336"/>
          </a:xfrm>
          <a:prstGeom prst="ellips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500" dirty="0"/>
          </a:p>
        </p:txBody>
      </p:sp>
      <p:sp>
        <p:nvSpPr>
          <p:cNvPr id="19" name="c_166"/>
          <p:cNvSpPr txBox="1"/>
          <p:nvPr/>
        </p:nvSpPr>
        <p:spPr>
          <a:xfrm>
            <a:off x="411480" y="4114800"/>
            <a:ext cx="7635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degree is preferred, but not essential… but often they ask for a degree AND experience.</a:t>
            </a:r>
            <a:endParaRPr lang="en-US" sz="1250" dirty="0"/>
          </a:p>
        </p:txBody>
      </p:sp>
      <p:sp>
        <p:nvSpPr>
          <p:cNvPr id="20" name="R1_m4"/>
          <p:cNvSpPr txBox="1"/>
          <p:nvPr/>
        </p:nvSpPr>
        <p:spPr>
          <a:xfrm>
            <a:off x="8138160" y="4151376"/>
            <a:ext cx="548640" cy="402336"/>
          </a:xfrm>
          <a:prstGeom prst="ellips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pageTag_167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p.69 · 6b–d (comments shortened)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6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0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Who made a better decision?</a:t>
            </a:r>
            <a:endParaRPr lang="en-US" sz="900" dirty="0"/>
          </a:p>
        </p:txBody>
      </p:sp>
      <p:sp>
        <p:nvSpPr>
          <p:cNvPr id="6" name="footer_171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72"/>
          <p:cNvSpPr txBox="1"/>
          <p:nvPr/>
        </p:nvSpPr>
        <p:spPr>
          <a:xfrm rot="90000">
            <a:off x="320040" y="658368"/>
            <a:ext cx="397764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Jack or Emily-Fleur?</a:t>
            </a:r>
            <a:endParaRPr lang="en-US" sz="1600" dirty="0"/>
          </a:p>
        </p:txBody>
      </p:sp>
      <p:sp>
        <p:nvSpPr>
          <p:cNvPr id="8" name="tape_173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74"/>
          <p:cNvSpPr/>
          <p:nvPr/>
        </p:nvSpPr>
        <p:spPr>
          <a:xfrm rot="-720000">
            <a:off x="373075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laroid_175"/>
          <p:cNvSpPr/>
          <p:nvPr/>
        </p:nvSpPr>
        <p:spPr>
          <a:xfrm rot="-240000">
            <a:off x="548640" y="1325880"/>
            <a:ext cx="2103120" cy="236829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photo_176" descr="Jack Turne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240000">
            <a:off x="640080" y="1417320"/>
            <a:ext cx="1920240" cy="1874520"/>
          </a:xfrm>
          <a:prstGeom prst="rect">
            <a:avLst/>
          </a:prstGeom>
        </p:spPr>
      </p:pic>
      <p:sp>
        <p:nvSpPr>
          <p:cNvPr id="12" name="caption_177"/>
          <p:cNvSpPr txBox="1"/>
          <p:nvPr/>
        </p:nvSpPr>
        <p:spPr>
          <a:xfrm rot="-240000">
            <a:off x="548640" y="33101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Jack, 23</a:t>
            </a:r>
            <a:endParaRPr lang="en-US" sz="1200" dirty="0"/>
          </a:p>
        </p:txBody>
      </p:sp>
      <p:sp>
        <p:nvSpPr>
          <p:cNvPr id="13" name="polaroid_178"/>
          <p:cNvSpPr/>
          <p:nvPr/>
        </p:nvSpPr>
        <p:spPr>
          <a:xfrm rot="240000">
            <a:off x="6492240" y="1325880"/>
            <a:ext cx="2103120" cy="2368296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photo_179" descr="Emily-Fleur Sizmu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240000">
            <a:off x="6583680" y="1417320"/>
            <a:ext cx="1920240" cy="1874520"/>
          </a:xfrm>
          <a:prstGeom prst="rect">
            <a:avLst/>
          </a:prstGeom>
        </p:spPr>
      </p:pic>
      <p:sp>
        <p:nvSpPr>
          <p:cNvPr id="15" name="caption_180"/>
          <p:cNvSpPr txBox="1"/>
          <p:nvPr/>
        </p:nvSpPr>
        <p:spPr>
          <a:xfrm rot="240000">
            <a:off x="6492240" y="33101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Emily-Fleur</a:t>
            </a:r>
            <a:endParaRPr lang="en-US" sz="1200" dirty="0"/>
          </a:p>
        </p:txBody>
      </p:sp>
      <p:sp>
        <p:nvSpPr>
          <p:cNvPr id="16" name="sticky_181"/>
          <p:cNvSpPr txBox="1"/>
          <p:nvPr/>
        </p:nvSpPr>
        <p:spPr>
          <a:xfrm rot="-180000">
            <a:off x="685800" y="3794760"/>
            <a:ext cx="1920240" cy="50292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degree · is unemployed</a:t>
            </a:r>
            <a:endParaRPr lang="en-US" sz="1200" dirty="0"/>
          </a:p>
        </p:txBody>
      </p:sp>
      <p:sp>
        <p:nvSpPr>
          <p:cNvPr id="17" name="sticky_182"/>
          <p:cNvSpPr txBox="1"/>
          <p:nvPr/>
        </p:nvSpPr>
        <p:spPr>
          <a:xfrm rot="180000">
            <a:off x="6583680" y="3794760"/>
            <a:ext cx="2011680" cy="548640"/>
          </a:xfrm>
          <a:prstGeom prst="rect">
            <a:avLst/>
          </a:prstGeom>
          <a:solidFill>
            <a:srgbClr val="BAE6F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go to university · runs her own business</a:t>
            </a:r>
            <a:endParaRPr lang="en-US" sz="1200" dirty="0"/>
          </a:p>
        </p:txBody>
      </p:sp>
      <p:sp>
        <p:nvSpPr>
          <p:cNvPr id="18" name="R1_e"/>
          <p:cNvSpPr txBox="1"/>
          <p:nvPr/>
        </p:nvSpPr>
        <p:spPr>
          <a:xfrm>
            <a:off x="2926080" y="1463040"/>
            <a:ext cx="3291840" cy="73152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them do you think is happier? Why?</a:t>
            </a:r>
            <a:endParaRPr lang="en-US" sz="1500" dirty="0"/>
          </a:p>
        </p:txBody>
      </p:sp>
      <p:sp>
        <p:nvSpPr>
          <p:cNvPr id="19" name="R2_f"/>
          <p:cNvSpPr txBox="1"/>
          <p:nvPr/>
        </p:nvSpPr>
        <p:spPr>
          <a:xfrm>
            <a:off x="2926080" y="2377440"/>
            <a:ext cx="3291840" cy="868680"/>
          </a:xfrm>
          <a:prstGeom prst="wedgeRoundRectCallou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Student A p.108 · Student B p.112 — ask and answer about Jack and Emily-Fleur.</a:t>
            </a:r>
            <a:endParaRPr lang="en-US" sz="1300" dirty="0"/>
          </a:p>
        </p:txBody>
      </p:sp>
      <p:sp>
        <p:nvSpPr>
          <p:cNvPr id="20" name="R3_g"/>
          <p:cNvSpPr txBox="1"/>
          <p:nvPr/>
        </p:nvSpPr>
        <p:spPr>
          <a:xfrm>
            <a:off x="2926080" y="3429000"/>
            <a:ext cx="3291840" cy="731520"/>
          </a:xfrm>
          <a:prstGeom prst="wedgeRoundRectCallou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opinion, who made a better decision? Why?</a:t>
            </a:r>
            <a:endParaRPr lang="en-US" sz="1500" dirty="0"/>
          </a:p>
        </p:txBody>
      </p:sp>
      <p:sp>
        <p:nvSpPr>
          <p:cNvPr id="21" name="pageTag_183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p.69 · 6e–g · Communication A p.108, B p.112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6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Give your opinion</a:t>
            </a:r>
            <a:endParaRPr lang="en-US" sz="900" dirty="0"/>
          </a:p>
        </p:txBody>
      </p:sp>
      <p:sp>
        <p:nvSpPr>
          <p:cNvPr id="6" name="footer_187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188"/>
          <p:cNvSpPr txBox="1"/>
          <p:nvPr/>
        </p:nvSpPr>
        <p:spPr>
          <a:xfrm rot="90000">
            <a:off x="320040" y="658368"/>
            <a:ext cx="3630168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Agree or disagree?</a:t>
            </a:r>
            <a:endParaRPr lang="en-US" sz="1600" dirty="0"/>
          </a:p>
        </p:txBody>
      </p:sp>
      <p:sp>
        <p:nvSpPr>
          <p:cNvPr id="8" name="tape_189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190"/>
          <p:cNvSpPr/>
          <p:nvPr/>
        </p:nvSpPr>
        <p:spPr>
          <a:xfrm rot="-720000">
            <a:off x="338328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st_191"/>
          <p:cNvSpPr/>
          <p:nvPr/>
        </p:nvSpPr>
        <p:spPr>
          <a:xfrm>
            <a:off x="429768" y="1508760"/>
            <a:ext cx="128016" cy="26517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192"/>
          <p:cNvSpPr txBox="1"/>
          <p:nvPr/>
        </p:nvSpPr>
        <p:spPr>
          <a:xfrm rot="-180000">
            <a:off x="320040" y="1325880"/>
            <a:ext cx="210312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600" dirty="0"/>
          </a:p>
        </p:txBody>
      </p:sp>
      <p:sp>
        <p:nvSpPr>
          <p:cNvPr id="12" name="signB_193"/>
          <p:cNvSpPr txBox="1"/>
          <p:nvPr/>
        </p:nvSpPr>
        <p:spPr>
          <a:xfrm rot="120000">
            <a:off x="365760" y="1892808"/>
            <a:ext cx="2377440" cy="9144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topic. Agree or disagree? Write 3 reasons.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un tema. Sei d'accordo? Scrivi 3 motivi.</a:t>
            </a:r>
            <a:endParaRPr lang="en-US" sz="1300" dirty="0"/>
          </a:p>
        </p:txBody>
      </p:sp>
      <p:sp>
        <p:nvSpPr>
          <p:cNvPr id="13" name="school_194"/>
          <p:cNvSpPr txBox="1"/>
          <p:nvPr/>
        </p:nvSpPr>
        <p:spPr>
          <a:xfrm rot="-60000">
            <a:off x="2834640" y="1325880"/>
            <a:ext cx="2971800" cy="219456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SCHOOL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 should teach practical things, like cooking.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 should be optional.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pupils shouldn't get homework.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Schools should focus on maths, science and IT, not history.</a:t>
            </a:r>
            <a:endParaRPr lang="en-US" sz="1250" dirty="0"/>
          </a:p>
        </p:txBody>
      </p:sp>
      <p:sp>
        <p:nvSpPr>
          <p:cNvPr id="14" name="uni_195"/>
          <p:cNvSpPr txBox="1"/>
          <p:nvPr/>
        </p:nvSpPr>
        <p:spPr>
          <a:xfrm rot="60000">
            <a:off x="5943600" y="1325880"/>
            <a:ext cx="2880360" cy="2194560"/>
          </a:xfrm>
          <a:prstGeom prst="rec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UNIVERSITY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University courses are too long: max 2 years!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shouldn't have jobs during term-time.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Study a subject you love, not one for a good job.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University students should live away from their parents.</a:t>
            </a:r>
            <a:endParaRPr lang="en-US" sz="1250" dirty="0"/>
          </a:p>
        </p:txBody>
      </p:sp>
      <p:sp>
        <p:nvSpPr>
          <p:cNvPr id="15" name="R1_l0"/>
          <p:cNvSpPr txBox="1"/>
          <p:nvPr/>
        </p:nvSpPr>
        <p:spPr>
          <a:xfrm>
            <a:off x="2834640" y="3703320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 I've chosen is…</a:t>
            </a:r>
            <a:endParaRPr lang="en-US" sz="1300" dirty="0"/>
          </a:p>
        </p:txBody>
      </p:sp>
      <p:sp>
        <p:nvSpPr>
          <p:cNvPr id="16" name="R1_l1"/>
          <p:cNvSpPr txBox="1"/>
          <p:nvPr/>
        </p:nvSpPr>
        <p:spPr>
          <a:xfrm>
            <a:off x="5852160" y="3703320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completely / partly agree that…</a:t>
            </a:r>
            <a:endParaRPr lang="en-US" sz="1300" dirty="0"/>
          </a:p>
        </p:txBody>
      </p:sp>
      <p:sp>
        <p:nvSpPr>
          <p:cNvPr id="17" name="R1_l2"/>
          <p:cNvSpPr txBox="1"/>
          <p:nvPr/>
        </p:nvSpPr>
        <p:spPr>
          <a:xfrm>
            <a:off x="2834640" y="4160520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completely disagree that…</a:t>
            </a:r>
            <a:endParaRPr lang="en-US" sz="1300" dirty="0"/>
          </a:p>
        </p:txBody>
      </p:sp>
      <p:sp>
        <p:nvSpPr>
          <p:cNvPr id="18" name="R1_l3"/>
          <p:cNvSpPr txBox="1"/>
          <p:nvPr/>
        </p:nvSpPr>
        <p:spPr>
          <a:xfrm>
            <a:off x="5852160" y="4160520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 all, … · Finally, …</a:t>
            </a:r>
            <a:endParaRPr lang="en-US" sz="1300" dirty="0"/>
          </a:p>
        </p:txBody>
      </p:sp>
      <p:sp>
        <p:nvSpPr>
          <p:cNvPr id="19" name="pageTag_196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p.69 · 7a–b (statements shortened)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9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footer_200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201"/>
          <p:cNvSpPr txBox="1"/>
          <p:nvPr/>
        </p:nvSpPr>
        <p:spPr>
          <a:xfrm rot="90000">
            <a:off x="320040" y="658368"/>
            <a:ext cx="6236208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turn! Complete the sentences</a:t>
            </a:r>
            <a:endParaRPr lang="en-US" sz="1600" dirty="0"/>
          </a:p>
        </p:txBody>
      </p:sp>
      <p:sp>
        <p:nvSpPr>
          <p:cNvPr id="8" name="tape_202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203"/>
          <p:cNvSpPr/>
          <p:nvPr/>
        </p:nvSpPr>
        <p:spPr>
          <a:xfrm rot="-720000">
            <a:off x="598932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q_204"/>
          <p:cNvSpPr txBox="1"/>
          <p:nvPr/>
        </p:nvSpPr>
        <p:spPr>
          <a:xfrm>
            <a:off x="365760" y="1371600"/>
            <a:ext cx="4069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If it ___ (rain) tomorrow, we ___ (not go) to the beach.</a:t>
            </a:r>
            <a:endParaRPr lang="en-US" sz="1150" dirty="0"/>
          </a:p>
        </p:txBody>
      </p:sp>
      <p:sp>
        <p:nvSpPr>
          <p:cNvPr id="11" name="R1_a0"/>
          <p:cNvSpPr txBox="1"/>
          <p:nvPr/>
        </p:nvSpPr>
        <p:spPr>
          <a:xfrm rot="-60000">
            <a:off x="548640" y="1920240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rains · won't go</a:t>
            </a:r>
            <a:endParaRPr lang="en-US" sz="1200" dirty="0"/>
          </a:p>
        </p:txBody>
      </p:sp>
      <p:sp>
        <p:nvSpPr>
          <p:cNvPr id="12" name="q_205"/>
          <p:cNvSpPr txBox="1"/>
          <p:nvPr/>
        </p:nvSpPr>
        <p:spPr>
          <a:xfrm>
            <a:off x="4617720" y="1371600"/>
            <a:ext cx="4069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I'll phone you as soon as I ___ (get) home.</a:t>
            </a:r>
            <a:endParaRPr lang="en-US" sz="1300" dirty="0"/>
          </a:p>
        </p:txBody>
      </p:sp>
      <p:sp>
        <p:nvSpPr>
          <p:cNvPr id="13" name="R2_a1"/>
          <p:cNvSpPr txBox="1"/>
          <p:nvPr/>
        </p:nvSpPr>
        <p:spPr>
          <a:xfrm rot="-60000">
            <a:off x="4800600" y="1920240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4" name="q_206"/>
          <p:cNvSpPr txBox="1"/>
          <p:nvPr/>
        </p:nvSpPr>
        <p:spPr>
          <a:xfrm>
            <a:off x="365760" y="2359152"/>
            <a:ext cx="4069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She won't pass ___ she studies harder. (if / unless)</a:t>
            </a:r>
            <a:endParaRPr lang="en-US" sz="1250" dirty="0"/>
          </a:p>
        </p:txBody>
      </p:sp>
      <p:sp>
        <p:nvSpPr>
          <p:cNvPr id="15" name="R3_a2"/>
          <p:cNvSpPr txBox="1"/>
          <p:nvPr/>
        </p:nvSpPr>
        <p:spPr>
          <a:xfrm rot="-60000">
            <a:off x="548640" y="2907792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</a:t>
            </a:r>
            <a:endParaRPr lang="en-US" sz="1200" dirty="0"/>
          </a:p>
        </p:txBody>
      </p:sp>
      <p:sp>
        <p:nvSpPr>
          <p:cNvPr id="16" name="q_207"/>
          <p:cNvSpPr txBox="1"/>
          <p:nvPr/>
        </p:nvSpPr>
        <p:spPr>
          <a:xfrm>
            <a:off x="4617720" y="2359152"/>
            <a:ext cx="4069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We can't start the test until everybody ___ (arrive).</a:t>
            </a:r>
            <a:endParaRPr lang="en-US" sz="1250" dirty="0"/>
          </a:p>
        </p:txBody>
      </p:sp>
      <p:sp>
        <p:nvSpPr>
          <p:cNvPr id="17" name="R4_a3"/>
          <p:cNvSpPr txBox="1"/>
          <p:nvPr/>
        </p:nvSpPr>
        <p:spPr>
          <a:xfrm rot="-60000">
            <a:off x="4800600" y="2907792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200" dirty="0"/>
          </a:p>
        </p:txBody>
      </p:sp>
      <p:sp>
        <p:nvSpPr>
          <p:cNvPr id="18" name="q_208"/>
          <p:cNvSpPr txBox="1"/>
          <p:nvPr/>
        </p:nvSpPr>
        <p:spPr>
          <a:xfrm>
            <a:off x="365760" y="3346704"/>
            <a:ext cx="4069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When you ___ (finish) school, what ___ you ___ (study)?</a:t>
            </a:r>
            <a:endParaRPr lang="en-US" sz="1150" dirty="0"/>
          </a:p>
        </p:txBody>
      </p:sp>
      <p:sp>
        <p:nvSpPr>
          <p:cNvPr id="19" name="R5_a4"/>
          <p:cNvSpPr txBox="1"/>
          <p:nvPr/>
        </p:nvSpPr>
        <p:spPr>
          <a:xfrm rot="-60000">
            <a:off x="548640" y="3895344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· will … study</a:t>
            </a:r>
            <a:endParaRPr lang="en-US" sz="1200" dirty="0"/>
          </a:p>
        </p:txBody>
      </p:sp>
      <p:sp>
        <p:nvSpPr>
          <p:cNvPr id="20" name="q_209"/>
          <p:cNvSpPr txBox="1"/>
          <p:nvPr/>
        </p:nvSpPr>
        <p:spPr>
          <a:xfrm>
            <a:off x="4617720" y="3346704"/>
            <a:ext cx="40690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If I ___ (not understand), I ___ (ask) the teacher.</a:t>
            </a:r>
            <a:endParaRPr lang="en-US" sz="1300" dirty="0"/>
          </a:p>
        </p:txBody>
      </p:sp>
      <p:sp>
        <p:nvSpPr>
          <p:cNvPr id="21" name="R6_a5"/>
          <p:cNvSpPr txBox="1"/>
          <p:nvPr/>
        </p:nvSpPr>
        <p:spPr>
          <a:xfrm rot="-60000">
            <a:off x="4800600" y="3895344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understand · 'll ask</a:t>
            </a:r>
            <a:endParaRPr lang="en-US" sz="1200" dirty="0"/>
          </a:p>
        </p:txBody>
      </p:sp>
      <p:sp>
        <p:nvSpPr>
          <p:cNvPr id="22" name="instr_210"/>
          <p:cNvSpPr txBox="1"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answers, then check with your partner.  ·  Scrivi le risposte e controlla con il compagno.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1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3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Game</a:t>
            </a:r>
            <a:endParaRPr lang="en-US" sz="900" dirty="0"/>
          </a:p>
        </p:txBody>
      </p:sp>
      <p:sp>
        <p:nvSpPr>
          <p:cNvPr id="6" name="footer_214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215"/>
          <p:cNvSpPr txBox="1"/>
          <p:nvPr/>
        </p:nvSpPr>
        <p:spPr>
          <a:xfrm rot="90000">
            <a:off x="320040" y="658368"/>
            <a:ext cx="3803904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grammar auction</a:t>
            </a:r>
            <a:endParaRPr lang="en-US" sz="1600" dirty="0"/>
          </a:p>
        </p:txBody>
      </p:sp>
      <p:sp>
        <p:nvSpPr>
          <p:cNvPr id="8" name="tape_216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217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post_218"/>
          <p:cNvSpPr/>
          <p:nvPr/>
        </p:nvSpPr>
        <p:spPr>
          <a:xfrm>
            <a:off x="429768" y="1554480"/>
            <a:ext cx="128016" cy="237744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19"/>
          <p:cNvSpPr txBox="1"/>
          <p:nvPr/>
        </p:nvSpPr>
        <p:spPr>
          <a:xfrm rot="-180000">
            <a:off x="320040" y="1371600"/>
            <a:ext cx="210312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600" dirty="0"/>
          </a:p>
        </p:txBody>
      </p:sp>
      <p:sp>
        <p:nvSpPr>
          <p:cNvPr id="12" name="signB_220"/>
          <p:cNvSpPr txBox="1"/>
          <p:nvPr/>
        </p:nvSpPr>
        <p:spPr>
          <a:xfrm rot="120000">
            <a:off x="365760" y="1938528"/>
            <a:ext cx="2377440" cy="1143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have €100. Buy the CORRECT sentences! Min. bid €10.</a:t>
            </a:r>
            <a:endParaRPr lang="en-US" sz="11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squadra ha 100 €. Compra le frasi GIUSTE! Offerta minima 10 €.</a:t>
            </a:r>
            <a:endParaRPr lang="en-US" sz="1100" dirty="0"/>
          </a:p>
        </p:txBody>
      </p:sp>
      <p:sp>
        <p:nvSpPr>
          <p:cNvPr id="13" name="q_221"/>
          <p:cNvSpPr txBox="1"/>
          <p:nvPr/>
        </p:nvSpPr>
        <p:spPr>
          <a:xfrm>
            <a:off x="2788920" y="1325880"/>
            <a:ext cx="2926080" cy="512064"/>
          </a:xfrm>
          <a:prstGeom prst="rect">
            <a:avLst/>
          </a:prstGeom>
          <a:solidFill>
            <a:srgbClr val="FFD84D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If I'll pass my exams, I'll go to university.</a:t>
            </a:r>
            <a:endParaRPr lang="en-US" sz="1250" dirty="0"/>
          </a:p>
        </p:txBody>
      </p:sp>
      <p:sp>
        <p:nvSpPr>
          <p:cNvPr id="14" name="R1_a0"/>
          <p:cNvSpPr txBox="1"/>
          <p:nvPr/>
        </p:nvSpPr>
        <p:spPr>
          <a:xfrm>
            <a:off x="3337560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If I pass</a:t>
            </a:r>
            <a:endParaRPr lang="en-US" sz="1100" dirty="0"/>
          </a:p>
        </p:txBody>
      </p:sp>
      <p:sp>
        <p:nvSpPr>
          <p:cNvPr id="15" name="q_222"/>
          <p:cNvSpPr txBox="1"/>
          <p:nvPr/>
        </p:nvSpPr>
        <p:spPr>
          <a:xfrm>
            <a:off x="5833872" y="1325880"/>
            <a:ext cx="2926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I'll call you as soon as I get my results.</a:t>
            </a:r>
            <a:endParaRPr lang="en-US" sz="1250" dirty="0"/>
          </a:p>
        </p:txBody>
      </p:sp>
      <p:sp>
        <p:nvSpPr>
          <p:cNvPr id="16" name="R1_a1"/>
          <p:cNvSpPr txBox="1"/>
          <p:nvPr/>
        </p:nvSpPr>
        <p:spPr>
          <a:xfrm>
            <a:off x="6382512" y="185623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q_223"/>
          <p:cNvSpPr txBox="1"/>
          <p:nvPr/>
        </p:nvSpPr>
        <p:spPr>
          <a:xfrm>
            <a:off x="2788920" y="2167128"/>
            <a:ext cx="2926080" cy="512064"/>
          </a:xfrm>
          <a:prstGeom prst="rect">
            <a:avLst/>
          </a:prstGeom>
          <a:solidFill>
            <a:srgbClr val="FEE2E2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Unless you don't study, you'll fail.</a:t>
            </a:r>
            <a:endParaRPr lang="en-US" sz="1250" dirty="0"/>
          </a:p>
        </p:txBody>
      </p:sp>
      <p:sp>
        <p:nvSpPr>
          <p:cNvPr id="18" name="R1_a2"/>
          <p:cNvSpPr txBox="1"/>
          <p:nvPr/>
        </p:nvSpPr>
        <p:spPr>
          <a:xfrm>
            <a:off x="3337560" y="269748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Unless you study</a:t>
            </a:r>
            <a:endParaRPr lang="en-US" sz="1100" dirty="0"/>
          </a:p>
        </p:txBody>
      </p:sp>
      <p:sp>
        <p:nvSpPr>
          <p:cNvPr id="19" name="q_224"/>
          <p:cNvSpPr txBox="1"/>
          <p:nvPr/>
        </p:nvSpPr>
        <p:spPr>
          <a:xfrm>
            <a:off x="5833872" y="2167128"/>
            <a:ext cx="2926080" cy="512064"/>
          </a:xfrm>
          <a:prstGeom prst="rect">
            <a:avLst/>
          </a:prstGeom>
          <a:solidFill>
            <a:srgbClr val="FFD84D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We won't start until everybody arrives.</a:t>
            </a:r>
            <a:endParaRPr lang="en-US" sz="1250" dirty="0"/>
          </a:p>
        </p:txBody>
      </p:sp>
      <p:sp>
        <p:nvSpPr>
          <p:cNvPr id="20" name="R1_a3"/>
          <p:cNvSpPr txBox="1"/>
          <p:nvPr/>
        </p:nvSpPr>
        <p:spPr>
          <a:xfrm>
            <a:off x="6382512" y="269748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q_225"/>
          <p:cNvSpPr txBox="1"/>
          <p:nvPr/>
        </p:nvSpPr>
        <p:spPr>
          <a:xfrm>
            <a:off x="2788920" y="3008376"/>
            <a:ext cx="2926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When I will finish school, I'll travel.</a:t>
            </a:r>
            <a:endParaRPr lang="en-US" sz="1250" dirty="0"/>
          </a:p>
        </p:txBody>
      </p:sp>
      <p:sp>
        <p:nvSpPr>
          <p:cNvPr id="22" name="R1_a4"/>
          <p:cNvSpPr txBox="1"/>
          <p:nvPr/>
        </p:nvSpPr>
        <p:spPr>
          <a:xfrm>
            <a:off x="3337560" y="353872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When I finish</a:t>
            </a:r>
            <a:endParaRPr lang="en-US" sz="1100" dirty="0"/>
          </a:p>
        </p:txBody>
      </p:sp>
      <p:sp>
        <p:nvSpPr>
          <p:cNvPr id="23" name="q_226"/>
          <p:cNvSpPr txBox="1"/>
          <p:nvPr/>
        </p:nvSpPr>
        <p:spPr>
          <a:xfrm>
            <a:off x="5833872" y="3008376"/>
            <a:ext cx="2926080" cy="512064"/>
          </a:xfrm>
          <a:prstGeom prst="rect">
            <a:avLst/>
          </a:prstGeom>
          <a:solidFill>
            <a:srgbClr val="FEE2E2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If it rains tomorrow, we won't play.</a:t>
            </a:r>
            <a:endParaRPr lang="en-US" sz="1250" dirty="0"/>
          </a:p>
        </p:txBody>
      </p:sp>
      <p:sp>
        <p:nvSpPr>
          <p:cNvPr id="24" name="R1_a5"/>
          <p:cNvSpPr txBox="1"/>
          <p:nvPr/>
        </p:nvSpPr>
        <p:spPr>
          <a:xfrm>
            <a:off x="6382512" y="353872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q_227"/>
          <p:cNvSpPr txBox="1"/>
          <p:nvPr/>
        </p:nvSpPr>
        <p:spPr>
          <a:xfrm>
            <a:off x="2788920" y="3849624"/>
            <a:ext cx="2926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She'll be furious if she won't get an A.</a:t>
            </a:r>
            <a:endParaRPr lang="en-US" sz="1250" dirty="0"/>
          </a:p>
        </p:txBody>
      </p:sp>
      <p:sp>
        <p:nvSpPr>
          <p:cNvPr id="26" name="R1_a6"/>
          <p:cNvSpPr txBox="1"/>
          <p:nvPr/>
        </p:nvSpPr>
        <p:spPr>
          <a:xfrm>
            <a:off x="3337560" y="4379976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if she doesn't get</a:t>
            </a:r>
            <a:endParaRPr lang="en-US" sz="1100" dirty="0"/>
          </a:p>
        </p:txBody>
      </p:sp>
      <p:sp>
        <p:nvSpPr>
          <p:cNvPr id="27" name="q_228"/>
          <p:cNvSpPr txBox="1"/>
          <p:nvPr/>
        </p:nvSpPr>
        <p:spPr>
          <a:xfrm>
            <a:off x="5833872" y="3849624"/>
            <a:ext cx="2926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I'll do my homework before I go out.</a:t>
            </a:r>
            <a:endParaRPr lang="en-US" sz="1250" dirty="0"/>
          </a:p>
        </p:txBody>
      </p:sp>
      <p:sp>
        <p:nvSpPr>
          <p:cNvPr id="28" name="R1_a7"/>
          <p:cNvSpPr txBox="1"/>
          <p:nvPr/>
        </p:nvSpPr>
        <p:spPr>
          <a:xfrm>
            <a:off x="6382512" y="4379976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ticky_229"/>
          <p:cNvSpPr txBox="1"/>
          <p:nvPr/>
        </p:nvSpPr>
        <p:spPr>
          <a:xfrm rot="-180000">
            <a:off x="457200" y="3931920"/>
            <a:ext cx="2103120" cy="50292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 · €20 · €30… SOLD!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2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· Can you…?</a:t>
            </a:r>
            <a:endParaRPr lang="en-US" sz="900" dirty="0"/>
          </a:p>
        </p:txBody>
      </p:sp>
      <p:sp>
        <p:nvSpPr>
          <p:cNvPr id="6" name="footer_233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title_234"/>
          <p:cNvSpPr txBox="1"/>
          <p:nvPr/>
        </p:nvSpPr>
        <p:spPr>
          <a:xfrm rot="90000">
            <a:off x="320040" y="658368"/>
            <a:ext cx="4498848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you…? ✓  + Homework</a:t>
            </a:r>
            <a:endParaRPr lang="en-US" sz="1600" dirty="0"/>
          </a:p>
        </p:txBody>
      </p:sp>
      <p:sp>
        <p:nvSpPr>
          <p:cNvPr id="8" name="tape_235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tape_236"/>
          <p:cNvSpPr/>
          <p:nvPr/>
        </p:nvSpPr>
        <p:spPr>
          <a:xfrm rot="-720000">
            <a:off x="425196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can_237"/>
          <p:cNvSpPr txBox="1"/>
          <p:nvPr/>
        </p:nvSpPr>
        <p:spPr>
          <a:xfrm>
            <a:off x="365760" y="1371600"/>
            <a:ext cx="420624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+ present, will + infinitive?</a:t>
            </a:r>
            <a:endParaRPr lang="en-US" sz="1400" dirty="0"/>
          </a:p>
        </p:txBody>
      </p:sp>
      <p:sp>
        <p:nvSpPr>
          <p:cNvPr id="11" name="can_238"/>
          <p:cNvSpPr txBox="1"/>
          <p:nvPr/>
        </p:nvSpPr>
        <p:spPr>
          <a:xfrm>
            <a:off x="365760" y="1874520"/>
            <a:ext cx="420624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/ until / as soon as / unless + present?</a:t>
            </a:r>
            <a:endParaRPr lang="en-US" sz="1250" dirty="0"/>
          </a:p>
        </p:txBody>
      </p:sp>
      <p:sp>
        <p:nvSpPr>
          <p:cNvPr id="12" name="can_239"/>
          <p:cNvSpPr txBox="1"/>
          <p:nvPr/>
        </p:nvSpPr>
        <p:spPr>
          <a:xfrm>
            <a:off x="365760" y="2377440"/>
            <a:ext cx="420624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exams and results?</a:t>
            </a:r>
            <a:endParaRPr lang="en-US" sz="1400" dirty="0"/>
          </a:p>
        </p:txBody>
      </p:sp>
      <p:sp>
        <p:nvSpPr>
          <p:cNvPr id="13" name="can_240"/>
          <p:cNvSpPr txBox="1"/>
          <p:nvPr/>
        </p:nvSpPr>
        <p:spPr>
          <a:xfrm>
            <a:off x="365760" y="2880360"/>
            <a:ext cx="420624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opinion about school and university?</a:t>
            </a:r>
            <a:endParaRPr lang="en-US" sz="1350" dirty="0"/>
          </a:p>
        </p:txBody>
      </p:sp>
      <p:sp>
        <p:nvSpPr>
          <p:cNvPr id="14" name="hw_241"/>
          <p:cNvSpPr txBox="1"/>
          <p:nvPr/>
        </p:nvSpPr>
        <p:spPr>
          <a:xfrm rot="-120000">
            <a:off x="4846320" y="1325880"/>
            <a:ext cx="397764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📗 HOMEWORK · COMPITI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7A: exercises 3a, 3b, 3c, 3d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Grammar Bank 7A: a 6–10 and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homework sheet: 6 sentences about YOUR future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Take a photo and hand it in on the LLS app.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 una foto e consegnala nell'app LLS.</a:t>
            </a:r>
            <a:endParaRPr lang="en-US" sz="1400" dirty="0"/>
          </a:p>
        </p:txBody>
      </p:sp>
      <p:sp>
        <p:nvSpPr>
          <p:cNvPr id="15" name="bubble_242"/>
          <p:cNvSpPr txBox="1"/>
          <p:nvPr/>
        </p:nvSpPr>
        <p:spPr>
          <a:xfrm>
            <a:off x="4937760" y="3657600"/>
            <a:ext cx="3749040" cy="68580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do my homework, I'll be ready for the test! 😉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5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EXTENSION · Grammar game</a:t>
            </a:r>
            <a:endParaRPr lang="en-US" sz="900" dirty="0"/>
          </a:p>
        </p:txBody>
      </p:sp>
      <p:sp>
        <p:nvSpPr>
          <p:cNvPr id="6" name="footer_246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extra_247"/>
          <p:cNvSpPr txBox="1"/>
          <p:nvPr/>
        </p:nvSpPr>
        <p:spPr>
          <a:xfrm rot="360000">
            <a:off x="6995160" y="2286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title_248"/>
          <p:cNvSpPr txBox="1"/>
          <p:nvPr/>
        </p:nvSpPr>
        <p:spPr>
          <a:xfrm rot="90000">
            <a:off x="320040" y="658368"/>
            <a:ext cx="2935224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in a row</a:t>
            </a:r>
            <a:endParaRPr lang="en-US" sz="1600" dirty="0"/>
          </a:p>
        </p:txBody>
      </p:sp>
      <p:sp>
        <p:nvSpPr>
          <p:cNvPr id="9" name="tape_249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50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51"/>
          <p:cNvSpPr/>
          <p:nvPr/>
        </p:nvSpPr>
        <p:spPr>
          <a:xfrm>
            <a:off x="429768" y="1554480"/>
            <a:ext cx="128016" cy="146304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52"/>
          <p:cNvSpPr txBox="1"/>
          <p:nvPr/>
        </p:nvSpPr>
        <p:spPr>
          <a:xfrm rot="-180000">
            <a:off x="320040" y="1371600"/>
            <a:ext cx="210312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600" dirty="0"/>
          </a:p>
        </p:txBody>
      </p:sp>
      <p:sp>
        <p:nvSpPr>
          <p:cNvPr id="13" name="signB_253"/>
          <p:cNvSpPr txBox="1"/>
          <p:nvPr/>
        </p:nvSpPr>
        <p:spPr>
          <a:xfrm rot="120000">
            <a:off x="365760" y="1938528"/>
            <a:ext cx="237744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square. Finish the sentence correctly to win it!</a:t>
            </a:r>
            <a:endParaRPr lang="en-US" sz="11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una casella. Completa la frase in modo corretto per vincerla!</a:t>
            </a:r>
            <a:endParaRPr lang="en-US" sz="1150" dirty="0"/>
          </a:p>
        </p:txBody>
      </p:sp>
      <p:sp>
        <p:nvSpPr>
          <p:cNvPr id="14" name="sq_254"/>
          <p:cNvSpPr txBox="1"/>
          <p:nvPr/>
        </p:nvSpPr>
        <p:spPr>
          <a:xfrm>
            <a:off x="3017520" y="1298448"/>
            <a:ext cx="1508760" cy="10058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won't move house until…</a:t>
            </a:r>
            <a:endParaRPr lang="en-US" sz="1250" dirty="0"/>
          </a:p>
        </p:txBody>
      </p:sp>
      <p:sp>
        <p:nvSpPr>
          <p:cNvPr id="15" name="sq_255"/>
          <p:cNvSpPr txBox="1"/>
          <p:nvPr/>
        </p:nvSpPr>
        <p:spPr>
          <a:xfrm>
            <a:off x="4617720" y="1298448"/>
            <a:ext cx="1508760" cy="100584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finish this course…</a:t>
            </a:r>
            <a:endParaRPr lang="en-US" sz="1250" dirty="0"/>
          </a:p>
        </p:txBody>
      </p:sp>
      <p:sp>
        <p:nvSpPr>
          <p:cNvPr id="16" name="sq_256"/>
          <p:cNvSpPr txBox="1"/>
          <p:nvPr/>
        </p:nvSpPr>
        <p:spPr>
          <a:xfrm>
            <a:off x="6217920" y="1298448"/>
            <a:ext cx="1508760" cy="100584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never get better at football unless…</a:t>
            </a:r>
            <a:endParaRPr lang="en-US" sz="1250" dirty="0"/>
          </a:p>
        </p:txBody>
      </p:sp>
      <p:sp>
        <p:nvSpPr>
          <p:cNvPr id="17" name="sq_257"/>
          <p:cNvSpPr txBox="1"/>
          <p:nvPr/>
        </p:nvSpPr>
        <p:spPr>
          <a:xfrm>
            <a:off x="3017520" y="2395728"/>
            <a:ext cx="1508760" cy="100584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see Mark…</a:t>
            </a:r>
            <a:endParaRPr lang="en-US" sz="1250" dirty="0"/>
          </a:p>
        </p:txBody>
      </p:sp>
      <p:sp>
        <p:nvSpPr>
          <p:cNvPr id="18" name="sq_258"/>
          <p:cNvSpPr txBox="1"/>
          <p:nvPr/>
        </p:nvSpPr>
        <p:spPr>
          <a:xfrm>
            <a:off x="4617720" y="2395728"/>
            <a:ext cx="1508760" cy="100584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they get here quickly…</a:t>
            </a:r>
            <a:endParaRPr lang="en-US" sz="1250" dirty="0"/>
          </a:p>
        </p:txBody>
      </p:sp>
      <p:sp>
        <p:nvSpPr>
          <p:cNvPr id="19" name="sq_259"/>
          <p:cNvSpPr txBox="1"/>
          <p:nvPr/>
        </p:nvSpPr>
        <p:spPr>
          <a:xfrm>
            <a:off x="6217920" y="2395728"/>
            <a:ext cx="1508760" cy="10058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soon as you finish your coffee…</a:t>
            </a:r>
            <a:endParaRPr lang="en-US" sz="1250" dirty="0"/>
          </a:p>
        </p:txBody>
      </p:sp>
      <p:sp>
        <p:nvSpPr>
          <p:cNvPr id="20" name="sq_260"/>
          <p:cNvSpPr txBox="1"/>
          <p:nvPr/>
        </p:nvSpPr>
        <p:spPr>
          <a:xfrm>
            <a:off x="3017520" y="3493008"/>
            <a:ext cx="1508760" cy="1005840"/>
          </a:xfrm>
          <a:prstGeom prst="rec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won't get that job if…</a:t>
            </a:r>
            <a:endParaRPr lang="en-US" sz="1250" dirty="0"/>
          </a:p>
        </p:txBody>
      </p:sp>
      <p:sp>
        <p:nvSpPr>
          <p:cNvPr id="21" name="sq_261"/>
          <p:cNvSpPr txBox="1"/>
          <p:nvPr/>
        </p:nvSpPr>
        <p:spPr>
          <a:xfrm>
            <a:off x="4617720" y="3493008"/>
            <a:ext cx="1508760" cy="10058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he gets here…</a:t>
            </a:r>
            <a:endParaRPr lang="en-US" sz="1250" dirty="0"/>
          </a:p>
        </p:txBody>
      </p:sp>
      <p:sp>
        <p:nvSpPr>
          <p:cNvPr id="22" name="sq_262"/>
          <p:cNvSpPr txBox="1"/>
          <p:nvPr/>
        </p:nvSpPr>
        <p:spPr>
          <a:xfrm>
            <a:off x="6217920" y="3493008"/>
            <a:ext cx="1508760" cy="1005840"/>
          </a:xfrm>
          <a:prstGeom prst="rec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 a text when…</a:t>
            </a:r>
            <a:endParaRPr lang="en-US" sz="1250" dirty="0"/>
          </a:p>
        </p:txBody>
      </p:sp>
      <p:sp>
        <p:nvSpPr>
          <p:cNvPr id="23" name="print_263"/>
          <p:cNvSpPr txBox="1"/>
          <p:nvPr/>
        </p:nvSpPr>
        <p:spPr>
          <a:xfrm>
            <a:off x="365760" y="3566160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Print: official worksheet 7A Three in a row (3 grids) – in the lesson handouts</a:t>
            </a:r>
            <a:endParaRPr lang="en-US" sz="1050" dirty="0"/>
          </a:p>
        </p:txBody>
      </p:sp>
      <p:sp>
        <p:nvSpPr>
          <p:cNvPr id="24" name="pageTag_264"/>
          <p:cNvSpPr txBox="1"/>
          <p:nvPr/>
        </p:nvSpPr>
        <p:spPr>
          <a:xfrm>
            <a:off x="320040" y="4773168"/>
            <a:ext cx="67665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photocopiable 7A Communicative 'Three in a row' (p.190)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7"/>
          <p:cNvSpPr txBox="1"/>
          <p:nvPr/>
        </p:nvSpPr>
        <p:spPr>
          <a:xfrm>
            <a:off x="320040" y="182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EXTENSION · Speaking</a:t>
            </a:r>
            <a:endParaRPr lang="en-US" sz="900" dirty="0"/>
          </a:p>
        </p:txBody>
      </p:sp>
      <p:sp>
        <p:nvSpPr>
          <p:cNvPr id="6" name="footer_268"/>
          <p:cNvSpPr txBox="1"/>
          <p:nvPr/>
        </p:nvSpPr>
        <p:spPr>
          <a:xfrm>
            <a:off x="7315200" y="4818888"/>
            <a:ext cx="15544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 · Part 2</a:t>
            </a:r>
            <a:endParaRPr lang="en-US" sz="1000" dirty="0"/>
          </a:p>
        </p:txBody>
      </p:sp>
      <p:sp>
        <p:nvSpPr>
          <p:cNvPr id="7" name="extra_269"/>
          <p:cNvSpPr txBox="1"/>
          <p:nvPr/>
        </p:nvSpPr>
        <p:spPr>
          <a:xfrm rot="360000">
            <a:off x="6995160" y="22860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title_270"/>
          <p:cNvSpPr txBox="1"/>
          <p:nvPr/>
        </p:nvSpPr>
        <p:spPr>
          <a:xfrm rot="90000">
            <a:off x="320040" y="658368"/>
            <a:ext cx="4151376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will you do if…?</a:t>
            </a:r>
            <a:endParaRPr lang="en-US" sz="1600" dirty="0"/>
          </a:p>
        </p:txBody>
      </p:sp>
      <p:sp>
        <p:nvSpPr>
          <p:cNvPr id="9" name="tape_271"/>
          <p:cNvSpPr/>
          <p:nvPr/>
        </p:nvSpPr>
        <p:spPr>
          <a:xfrm rot="-720000">
            <a:off x="210312" y="56692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72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73"/>
          <p:cNvSpPr/>
          <p:nvPr/>
        </p:nvSpPr>
        <p:spPr>
          <a:xfrm>
            <a:off x="429768" y="1554480"/>
            <a:ext cx="128016" cy="201168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4"/>
          <p:cNvSpPr txBox="1"/>
          <p:nvPr/>
        </p:nvSpPr>
        <p:spPr>
          <a:xfrm rot="-180000">
            <a:off x="320040" y="1371600"/>
            <a:ext cx="210312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1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600" dirty="0"/>
          </a:p>
        </p:txBody>
      </p:sp>
      <p:sp>
        <p:nvSpPr>
          <p:cNvPr id="13" name="signB_275"/>
          <p:cNvSpPr txBox="1"/>
          <p:nvPr/>
        </p:nvSpPr>
        <p:spPr>
          <a:xfrm rot="120000">
            <a:off x="365760" y="1938528"/>
            <a:ext cx="237744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around. Ask 3 people. Note their answers.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per la classe. Chiedi a 3 persone e annota le risposte.</a:t>
            </a:r>
            <a:endParaRPr lang="en-US" sz="1300" dirty="0"/>
          </a:p>
        </p:txBody>
      </p:sp>
      <p:sp>
        <p:nvSpPr>
          <p:cNvPr id="14" name="bubble_276"/>
          <p:cNvSpPr txBox="1"/>
          <p:nvPr/>
        </p:nvSpPr>
        <p:spPr>
          <a:xfrm rot="-90000">
            <a:off x="2880360" y="1325880"/>
            <a:ext cx="2743200" cy="82296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…you fail an exam?</a:t>
            </a:r>
            <a:endParaRPr lang="en-US" sz="1300" dirty="0"/>
          </a:p>
        </p:txBody>
      </p:sp>
      <p:sp>
        <p:nvSpPr>
          <p:cNvPr id="15" name="bubble_277"/>
          <p:cNvSpPr txBox="1"/>
          <p:nvPr/>
        </p:nvSpPr>
        <p:spPr>
          <a:xfrm rot="90000">
            <a:off x="5852160" y="1325880"/>
            <a:ext cx="2743200" cy="8229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…your teacher gives you 3 hours of homework?</a:t>
            </a:r>
            <a:endParaRPr lang="en-US" sz="1300" dirty="0"/>
          </a:p>
        </p:txBody>
      </p:sp>
      <p:sp>
        <p:nvSpPr>
          <p:cNvPr id="16" name="bubble_278"/>
          <p:cNvSpPr txBox="1"/>
          <p:nvPr/>
        </p:nvSpPr>
        <p:spPr>
          <a:xfrm rot="-90000">
            <a:off x="2880360" y="2377440"/>
            <a:ext cx="2743200" cy="822960"/>
          </a:xfrm>
          <a:prstGeom prst="wedgeRoundRectCallout">
            <a:avLst/>
          </a:prstGeom>
          <a:solidFill>
            <a:srgbClr val="DCFCE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…your school bans mobile phones?</a:t>
            </a:r>
            <a:endParaRPr lang="en-US" sz="1300" dirty="0"/>
          </a:p>
        </p:txBody>
      </p:sp>
      <p:sp>
        <p:nvSpPr>
          <p:cNvPr id="17" name="bubble_279"/>
          <p:cNvSpPr txBox="1"/>
          <p:nvPr/>
        </p:nvSpPr>
        <p:spPr>
          <a:xfrm rot="90000">
            <a:off x="5852160" y="2377440"/>
            <a:ext cx="2743200" cy="822960"/>
          </a:xfrm>
          <a:prstGeom prst="wedgeRoundRectCallout">
            <a:avLst/>
          </a:prstGeom>
          <a:solidFill>
            <a:srgbClr val="FEE2E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…it snows tomorrow?</a:t>
            </a:r>
            <a:endParaRPr lang="en-US" sz="1300" dirty="0"/>
          </a:p>
        </p:txBody>
      </p:sp>
      <p:sp>
        <p:nvSpPr>
          <p:cNvPr id="18" name="bubble_280"/>
          <p:cNvSpPr txBox="1"/>
          <p:nvPr/>
        </p:nvSpPr>
        <p:spPr>
          <a:xfrm rot="-90000">
            <a:off x="2880360" y="3429000"/>
            <a:ext cx="2743200" cy="822960"/>
          </a:xfrm>
          <a:prstGeom prst="wedgeRoundRectCallout">
            <a:avLst/>
          </a:prstGeom>
          <a:solidFill>
            <a:srgbClr val="E0F2FE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…you finish this course?</a:t>
            </a:r>
            <a:endParaRPr lang="en-US" sz="1300" dirty="0"/>
          </a:p>
        </p:txBody>
      </p:sp>
      <p:sp>
        <p:nvSpPr>
          <p:cNvPr id="19" name="bubble_281"/>
          <p:cNvSpPr txBox="1"/>
          <p:nvPr/>
        </p:nvSpPr>
        <p:spPr>
          <a:xfrm rot="90000">
            <a:off x="5852160" y="3429000"/>
            <a:ext cx="2743200" cy="822960"/>
          </a:xfrm>
          <a:prstGeom prst="wedgeRoundRectCallout">
            <a:avLst/>
          </a:prstGeom>
          <a:solidFill>
            <a:srgbClr val="FEF9C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do if …you don't understand the teacher?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7A Live and learn</dc:title>
  <dc:subject>PptxGenJS Presentation</dc:subject>
  <dc:creator>London Language School</dc:creator>
  <cp:lastModifiedBy>London Language School</cp:lastModifiedBy>
  <cp:revision>1</cp:revision>
  <dcterms:created xsi:type="dcterms:W3CDTF">2026-10-05T06:58:34Z</dcterms:created>
  <dcterms:modified xsi:type="dcterms:W3CDTF">2026-10-05T06:58:34Z</dcterms:modified>
</cp:coreProperties>
</file>