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min). TB warm-up: write 'My week' on the board. Learners have 30 seconds to think of four things they do in their free time every week (Italian is OK for now – you give the English). Write 3–4 ideas on the board. Ask: What's your favourite day? (accept Italian, then: 'Let's learn the days in English!').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UNIT 1 (3 min). GAME PLAN · SEE: 4 Unit 1 countryside cards with labels (lake, river, tractor, rock) · TEACHER: Say the 4 words with the class first (choral). Then: 'Which one is different? Why? Teams, 20 seconds – go!' Count down. · STUDENTS: Each team agrees on ONE odd one out and a reason; a team speaker says it · GROUPING: 2–3 teams · SCORE/WIN: Any logical answer with a reason = 1 point; a reason no other team said = 2 points · TIME: 3 min (round 2 orally: field, forest, mountain, leaves) · LANGUAGE: The tractor is different. It's a machine. / You can't swim in it. / The rock isn't water. · REVEAL: No single right answer – the teacher accepts/rejects each reason. Possible: tractor (not nature / you drive it), rock (not water), river/lake (water)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p.18 ex.1 (5 min). Say: In this unit we're talking about activities. Play the video. Then ask question 1: learners THINK, whisper to a partner, a volunteer answers, THEN click to reveal (TB: reading / listening to music / watching television / shopping). Box 4: learners draw an activity they like (book or paper). Monitor and give each learner the English name of their activity. Fast finishers: write 'I like … in my free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(2 min). Say: Our Mission is: Plan a fun activities timetable for two friends. A timetable has days – 'Look! On Tuesday I play tennis.' Show the 4 stages quickly (talk to two friends; make a timetable; write important information; give it to your friends). One quick Italian check: 'Cosa faremo alla fine dell'unità?'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FLASHCARDS (7 min). TB: 'There are seven days in a week.' Picture first – the red arrow and the letter show which day: learners GUESS (Italian is fine: 'lunedì!'). Click 1: English word. Click 2: Italian. Click 3: TPR action – everybody does it while saying the day. Say each word 3 ways: whisper → normal → MONSTER voice. Then put the paper cards on the board in order and ask: Which is the first day? The last? Which day comes BEFORE Wednesday? (Tuesday) AFTER Thursday? (Friday) – teach 'before' and 'after' with gestures (point left / right). TPR: Monday: sleepy! Stretch and YAWN! 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FLASHCARDS (7 min). TB: 'There are seven days in a week.' Picture first – the red arrow and the letter show which day: learners GUESS (Italian is fine: 'lunedì!'). Click 1: English word. Click 2: Italian. Click 3: TPR action – everybody does it while saying the day. Say each word 3 ways: whisper → normal → MONSTER voice. Then put the paper cards on the board in order and ask: Which is the first day? The last? Which day comes BEFORE Wednesday? (Tuesday) AFTER Thursday? (Friday) – teach 'before' and 'after' with gestures (point left / right). TPR: Tuesday: TWO fingers up! ✌️ (Tues = two!)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FLASHCARDS (7 min). TB: 'There are seven days in a week.' Picture first – the red arrow and the letter show which day: learners GUESS (Italian is fine: 'lunedì!'). Click 1: English word. Click 2: Italian. Click 3: TPR action – everybody does it while saying the day. Say each word 3 ways: whisper → normal → MONSTER voice. Then put the paper cards on the board in order and ask: Which is the first day? The last? Which day comes BEFORE Wednesday? (Tuesday) AFTER Thursday? (Friday) – teach 'before' and 'after' with gestures (point left / right). TPR: Wednesday: Wet day! Swim! 🏊 (say WENZ-day)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FLASHCARDS (7 min). TB: 'There are seven days in a week.' Picture first – the red arrow and the letter show which day: learners GUESS (Italian is fine: 'lunedì!'). Click 1: English word. Click 2: Italian. Click 3: TPR action – everybody does it while saying the day. Say each word 3 ways: whisper → normal → MONSTER voice. Then put the paper cards on the board in order and ask: Which is the first day? The last? Which day comes BEFORE Wednesday? (Tuesday) AFTER Thursday? (Friday) – teach 'before' and 'after' with gestures (point left / right). TPR: Thursday: tongue out – th! THUMBS up! 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FLASHCARDS (7 min). TB: 'There are seven days in a week.' Picture first – the red arrow and the letter show which day: learners GUESS (Italian is fine: 'lunedì!'). Click 1: English word. Click 2: Italian. Click 3: TPR action – everybody does it while saying the day. Say each word 3 ways: whisper → normal → MONSTER voice. Then put the paper cards on the board in order and ask: Which is the first day? The last? Which day comes BEFORE Wednesday? (Tuesday) AFTER Thursday? (Friday) – teach 'before' and 'after' with gestures (point left / right). TPR: Friday: FRY an egg in a pan! 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FLASHCARDS (7 min). TB: 'There are seven days in a week.' Picture first – the red arrow and the letter show which day: learners GUESS (Italian is fine: 'lunedì!'). Click 1: English word. Click 2: Italian. Click 3: TPR action – everybody does it while saying the day. Say each word 3 ways: whisper → normal → MONSTER voice. Then put the paper cards on the board in order and ask: Which is the first day? The last? Which day comes BEFORE Wednesday? (Tuesday) AFTER Thursday? (Friday) – teach 'before' and 'after' with gestures (point left / right). TPR: Saturday: SIT down on the floor! 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FLASHCARDS (7 min). TB: 'There are seven days in a week.' Picture first – the red arrow and the letter show which day: learners GUESS (Italian is fine: 'lunedì!'). Click 1: English word. Click 2: Italian. Click 3: TPR action – everybody does it while saying the day. Say each word 3 ways: whisper → normal → MONSTER voice. Then put the paper cards on the board in order and ask: Which is the first day? The last? Which day comes BEFORE Wednesday? (Tuesday) AFTER Thursday? (Friday) – teach 'before' and 'after' with gestures (point left / right). TPR: Sunday: SUNglasses on! Relax! 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FOR ITALIAN LEARNERS (3 min). Model each day; learners repeat. Mouth tips: Wednesday has a silent 'd' and only 2 claps (WENZ-day); 'th' = tongue between the teeth (Italians often say 't'); stress is on the FIRST part: MON-day, TUES-day, FRI-day. Then 'Catch the teacher': say each practice item exactly as written (some deliberately wrong!). Learners commit with thumbs BEFORE you click. Click = the correct version; everybody says it right 3 times. Extra round: say days with Italian stress (fri-DAY) – learners catch you. Bonus: clap the syllables (Sat-ur-day = 3, Wednes-day = 2!).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(10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(3 min in total) 1 point per team for the right day + 1 bonus for a perfect 'th'.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p.19 ex.1 (6 min). Ask questions 1–3 BEFORE listening; learners answer, then click to confirm (TB). Who's in the small picture? (Cameron and a fish). Where's the small tractor? (learners find it – recycles Unit 1!). Read the caption. 'Where's Monday?' Learners point. Play 1.21: learners listen and point to the days. Explain 'favourite day = the day you like more than the other days'. PREDICT first: 'Which are Jim's favourite days? Guess!' (hands up for each day). Play again: learners draw happy faces. Then click Q4 to reveal: Monday and Friday (TB key). Point to the swimming pool: What do the children need on Wednesday? (a towel, a swimsuit).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p.19 ex.2 CHANT (4 min). GAME PLAN · SEE: the chant words · TEACHER: Play 1.22 (or the video). Then lead the chant 3 times: whisper → normal → monster voice. Then give each learner a day (count round the class Monday…Sunday). · STUDENTS: Point and chant; then stand up and sit down quickly when they hear THEIR day · GROUPING: whole class, then 2 groups as a round (TB) · SCORE/WIN: Last round: anyone who stands up on the wrong day sits out for one verse (no points – keep it light) · TIME: 4 min · LANGUAGE: the 7 days with correct stress (WENZ-day, th-) · REVEAL: n/a – the teacher models and corrects pronunciation immediately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p.19 ex.3 (5 min). Focus on the timetable: 'When do they swim?' (Wednesday). Play 1.23 and PAUSE after each sentence: learners whisper the day to a partner (commit), a volunteer says it, then click to reveal. KEY (TB): 1 Tuesday, Thursday 2 Friday 3 Saturday, Sunday 4 Wednesday 5 Monday 6 Wednesday.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ITALIAN → ENGLISH TRAPS (3 min). NOTICE first: show the rule box and ask 'What's different from Italian?' (Italian: lunedì with a small letter, 'il lunedì'; English: capital letter + ON). Then practice: learners copy and correct each sentence on paper / mini-whiteboard (commit), 'Show me!', then click to reveal. Answers: 1 I go swimming on Wednesday. 2 On 3 We play basketball on Tuesday. Fast finishers: write your own sentence 'On … I …'.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THE BALL (5 min). GAME PLAN · SEE: 4 model questions (no answers on screen) · TEACHER: Ask a question and throw a soft ball. Model the first 2 rounds yourself so learners hear the pattern. · STUDENTS: Catch → answer within 5 seconds → ask a NEW question (using the slide) and throw to someone who hasn't had the ball · GROUPING: whole class in a circle or standing at desks · SCORE/WIN: Too slow / wrong = sit down for one round, then back in. Last 2 rounds = challenge: 'Say the days BACKWARDS!' (Sunday, Saturday…) in 10 seconds · TIME: 5 min · LANGUAGE: What day comes after/before…? It's … / My favourite day is … because … · REVEAL: Answers: Wednesday · Thursday · Sunday · open. The teacher confirms each answer; the class repeats the correct answer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'MY BUSY WEEK' (4 min) – recycles the timetable from p.19. Click to show each action and practise. Then call days in random order, faster and faster. Variation 1: call TWO days ('Tuesday and Sunday!'). Variation 2 (retrieval): do the ACTION only – learners shout the day. Then a learner is the teacher (good pronunciation = a point for their team).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each learner whispers the 7 days to a partner in under 10 seconds (the partner checks Wednesday/Thursday!). Then thumbs up/middle/down for each 'I can'. Give out the homework sheet. AB p.18 'My unit goals': help learners complete the unit goals. TIMING CHECK (core ≈ 57 min): cover 2 · odd one out 3 · video 5 · mission 2 · flashcards 7 · sounds 3 · what's missing 3 · listen 6 · chant 4 · when 5 · trap 3 · pass the ball 5 · TPR 4 · exit 3 (+ transitions).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LINE-UP (5 min). GAME PLAN · SEE: 7 day cards, mixed up · TEACHER: Give the paper flashcards (mixed) to 7 learners; start the stopwatch: 'Go!' · STUDENTS: Run to the front and stand in order; then each says their day aloud in order (and BACKWARDS for a bonus) · GROUPING: two teams take turns (with fewer learners some hold 2 cards) · SCORE/WIN: Fastest correct line-up wins; +5 seconds for each mispronounced day · TIME: 5 min · LANGUAGE: the 7 days; 'Which day comes before Thursday?' → that learner steps forward · REVEAL: the class checks the order aloud together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2 · LESSON 1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week</a:t>
            </a:r>
            <a:endParaRPr lang="en-US" sz="32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the days of the week 📅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i giorni della settimana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2545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2545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WATCH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video.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il video.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days of the week.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 i giorni della settimana.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and move!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Gioca e muoviti!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2-p19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42585"/>
            <a:ext cx="3246120" cy="3121269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mon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fri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your favourite day?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Qual è il tuo giorno preferito?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20166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pp.18–19 · 🎬 video · 🎧 1.21–1.23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Odd one out!</a:t>
            </a:r>
            <a:endParaRPr lang="en-US" sz="32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one is different? Why? Team answers!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Quale è diverso? Perché? Risponde la squadra!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3 MIN</a:t>
            </a:r>
            <a:endParaRPr lang="en-US" sz="100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The ___ is different.</a:t>
            </a:r>
            <a:endParaRPr lang="en-US" sz="950" dirty="0"/>
          </a:p>
        </p:txBody>
      </p:sp>
      <p:sp>
        <p:nvSpPr>
          <p:cNvPr id="8" name="diff_2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Find TWO answers!</a:t>
            </a:r>
            <a:endParaRPr lang="en-US" sz="950" dirty="0"/>
          </a:p>
        </p:txBody>
      </p:sp>
      <p:sp>
        <p:nvSpPr>
          <p:cNvPr id="9" name="st_3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3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3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2" name="se_3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4 pictures.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le 4 immagini.</a:t>
            </a:r>
            <a:endParaRPr lang="en-US" sz="1050" dirty="0"/>
          </a:p>
        </p:txBody>
      </p:sp>
      <p:sp>
        <p:nvSpPr>
          <p:cNvPr id="13" name="st_3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3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3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6" name="se_3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choose one + say why.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Squadra: scegline uno + di' perché.</a:t>
            </a:r>
            <a:endParaRPr lang="en-US" sz="1050" dirty="0"/>
          </a:p>
        </p:txBody>
      </p:sp>
      <p:sp>
        <p:nvSpPr>
          <p:cNvPr id="17" name="st_3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3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4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20" name="se_4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reason = 1 point!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Buona ragione = 1 punto!</a:t>
            </a:r>
            <a:endParaRPr lang="en-US" sz="1050" dirty="0"/>
          </a:p>
        </p:txBody>
      </p:sp>
      <p:sp>
        <p:nvSpPr>
          <p:cNvPr id="21" name="cd_42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43" descr="/home/claude/movers/img/fc/l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3" name="lb_44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100" dirty="0"/>
          </a:p>
        </p:txBody>
      </p:sp>
      <p:sp>
        <p:nvSpPr>
          <p:cNvPr id="24" name="cd_45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46" descr="/home/claude/movers/img/fc/ri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6" name="lb_47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100" dirty="0"/>
          </a:p>
        </p:txBody>
      </p:sp>
      <p:sp>
        <p:nvSpPr>
          <p:cNvPr id="27" name="cd_48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49" descr="/home/claude/movers/img/fc/tra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9" name="lb_50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100" dirty="0"/>
          </a:p>
        </p:txBody>
      </p:sp>
      <p:sp>
        <p:nvSpPr>
          <p:cNvPr id="30" name="cd_51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52" descr="/home/claude/movers/img/fc/r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2" name="lb_53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100" dirty="0"/>
          </a:p>
        </p:txBody>
      </p:sp>
      <p:sp>
        <p:nvSpPr>
          <p:cNvPr id="33" name="bk_54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Retrieval · Unit 1 countryside words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</a:t>
            </a:r>
            <a:endParaRPr lang="en-US" sz="1600" dirty="0"/>
          </a:p>
        </p:txBody>
      </p:sp>
      <p:sp>
        <p:nvSpPr>
          <p:cNvPr id="4" name="bm_5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5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 the video. What are they doing?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il video. Cosa fanno?</a:t>
            </a:r>
            <a:endParaRPr lang="en-US" sz="1400" dirty="0"/>
          </a:p>
        </p:txBody>
      </p:sp>
      <p:sp>
        <p:nvSpPr>
          <p:cNvPr id="6" name="mode_5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 · 🗣 SPEAK</a:t>
            </a:r>
            <a:endParaRPr lang="en-US" sz="1000" dirty="0"/>
          </a:p>
        </p:txBody>
      </p:sp>
      <p:sp>
        <p:nvSpPr>
          <p:cNvPr id="7" name="pf_59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60" descr="/home/claude/movers/img/crop/u2-p18-phot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8434"/>
            <a:ext cx="5120640" cy="3141011"/>
          </a:xfrm>
          <a:prstGeom prst="rect">
            <a:avLst/>
          </a:prstGeom>
        </p:spPr>
      </p:pic>
      <p:sp>
        <p:nvSpPr>
          <p:cNvPr id="9" name="q_61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1: What are they doing?</a:t>
            </a:r>
            <a:endParaRPr lang="en-US" sz="1250" dirty="0"/>
          </a:p>
        </p:txBody>
      </p:sp>
      <p:sp>
        <p:nvSpPr>
          <p:cNvPr id="10" name="R1_a62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Reading and listening to music 📱🎧</a:t>
            </a:r>
            <a:endParaRPr lang="en-US" sz="1200" dirty="0"/>
          </a:p>
        </p:txBody>
      </p:sp>
      <p:sp>
        <p:nvSpPr>
          <p:cNvPr id="11" name="q_63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2: What's he doing?</a:t>
            </a:r>
            <a:endParaRPr lang="en-US" sz="1250" dirty="0"/>
          </a:p>
        </p:txBody>
      </p:sp>
      <p:sp>
        <p:nvSpPr>
          <p:cNvPr id="12" name="R2_a64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Shopping (talking on the phone) 🛍️</a:t>
            </a:r>
            <a:endParaRPr lang="en-US" sz="1200" dirty="0"/>
          </a:p>
        </p:txBody>
      </p:sp>
      <p:sp>
        <p:nvSpPr>
          <p:cNvPr id="13" name="q_65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3: What are they doing?</a:t>
            </a:r>
            <a:endParaRPr lang="en-US" sz="1250" dirty="0"/>
          </a:p>
        </p:txBody>
      </p:sp>
      <p:sp>
        <p:nvSpPr>
          <p:cNvPr id="14" name="R3_a66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Watching television 📺</a:t>
            </a:r>
            <a:endParaRPr lang="en-US" sz="1250" dirty="0"/>
          </a:p>
        </p:txBody>
      </p:sp>
      <p:sp>
        <p:nvSpPr>
          <p:cNvPr id="15" name="q_67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Box 4: What do YOU like doing?</a:t>
            </a:r>
            <a:endParaRPr lang="en-US" sz="1250" dirty="0"/>
          </a:p>
        </p:txBody>
      </p:sp>
      <p:sp>
        <p:nvSpPr>
          <p:cNvPr id="16" name="R4_a68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Draw it! e.g. riding my bike 🚲</a:t>
            </a:r>
            <a:endParaRPr lang="en-US" sz="1250" dirty="0"/>
          </a:p>
        </p:txBody>
      </p:sp>
      <p:sp>
        <p:nvSpPr>
          <p:cNvPr id="17" name="bk_69"/>
          <p:cNvSpPr/>
          <p:nvPr/>
        </p:nvSpPr>
        <p:spPr>
          <a:xfrm>
            <a:off x="228600" y="4681728"/>
            <a:ext cx="326898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p.18 · 🎬 video · ex.1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7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mission!</a:t>
            </a:r>
            <a:endParaRPr lang="en-US" sz="3200" dirty="0"/>
          </a:p>
        </p:txBody>
      </p:sp>
      <p:sp>
        <p:nvSpPr>
          <p:cNvPr id="5" name="in_7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a fun activities timetable for two friends.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Prepara un programma di attività divertenti per due amici.</a:t>
            </a:r>
            <a:endParaRPr lang="en-US" sz="1400" dirty="0"/>
          </a:p>
        </p:txBody>
      </p:sp>
      <p:sp>
        <p:nvSpPr>
          <p:cNvPr id="6" name="pf_73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4" descr="/home/claude/movers/img/crop/u2-p18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4772"/>
            <a:ext cx="8412480" cy="3168337"/>
          </a:xfrm>
          <a:prstGeom prst="rect">
            <a:avLst/>
          </a:prstGeom>
        </p:spPr>
      </p:pic>
      <p:sp>
        <p:nvSpPr>
          <p:cNvPr id="8" name="bk_75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p.18 · Mission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7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9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0" descr="/home/claude/movers/img/fc/mon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406" y="1234440"/>
            <a:ext cx="2187188" cy="2651760"/>
          </a:xfrm>
          <a:prstGeom prst="rect">
            <a:avLst/>
          </a:prstGeom>
        </p:spPr>
      </p:pic>
      <p:sp>
        <p:nvSpPr>
          <p:cNvPr id="8" name="R1_w81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3600" dirty="0"/>
          </a:p>
        </p:txBody>
      </p:sp>
      <p:sp>
        <p:nvSpPr>
          <p:cNvPr id="9" name="R2_it82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lunedì</a:t>
            </a:r>
            <a:endParaRPr lang="en-US" sz="1600" dirty="0"/>
          </a:p>
        </p:txBody>
      </p:sp>
      <p:sp>
        <p:nvSpPr>
          <p:cNvPr id="10" name="R3_tpr83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Monday: sleepy! Stretch and YAWN! 🥱</a:t>
            </a:r>
            <a:endParaRPr lang="en-US" sz="1300" dirty="0"/>
          </a:p>
        </p:txBody>
      </p:sp>
      <p:sp>
        <p:nvSpPr>
          <p:cNvPr id="11" name="n_84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7</a:t>
            </a:r>
            <a:endParaRPr lang="en-US" sz="1200" dirty="0"/>
          </a:p>
        </p:txBody>
      </p:sp>
      <p:sp>
        <p:nvSpPr>
          <p:cNvPr id="12" name="bk_85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8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9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0" descr="/home/claude/movers/img/fc/tues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854" y="1234440"/>
            <a:ext cx="2006293" cy="2651760"/>
          </a:xfrm>
          <a:prstGeom prst="rect">
            <a:avLst/>
          </a:prstGeom>
        </p:spPr>
      </p:pic>
      <p:sp>
        <p:nvSpPr>
          <p:cNvPr id="8" name="R1_w91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Tuesday</a:t>
            </a:r>
            <a:endParaRPr lang="en-US" sz="3600" dirty="0"/>
          </a:p>
        </p:txBody>
      </p:sp>
      <p:sp>
        <p:nvSpPr>
          <p:cNvPr id="9" name="R2_it92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martedì</a:t>
            </a:r>
            <a:endParaRPr lang="en-US" sz="1600" dirty="0"/>
          </a:p>
        </p:txBody>
      </p:sp>
      <p:sp>
        <p:nvSpPr>
          <p:cNvPr id="10" name="R3_tpr93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Tuesday: TWO fingers up! ✌️ (Tues = two!)</a:t>
            </a:r>
            <a:endParaRPr lang="en-US" sz="1300" dirty="0"/>
          </a:p>
        </p:txBody>
      </p:sp>
      <p:sp>
        <p:nvSpPr>
          <p:cNvPr id="11" name="n_94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7</a:t>
            </a:r>
            <a:endParaRPr lang="en-US" sz="1200" dirty="0"/>
          </a:p>
        </p:txBody>
      </p:sp>
      <p:sp>
        <p:nvSpPr>
          <p:cNvPr id="12" name="bk_95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9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9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0" descr="/home/claude/movers/img/fc/wednes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862" y="1234440"/>
            <a:ext cx="2204276" cy="2651760"/>
          </a:xfrm>
          <a:prstGeom prst="rect">
            <a:avLst/>
          </a:prstGeom>
        </p:spPr>
      </p:pic>
      <p:sp>
        <p:nvSpPr>
          <p:cNvPr id="8" name="R1_w101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Wednesday</a:t>
            </a:r>
            <a:endParaRPr lang="en-US" sz="3600" dirty="0"/>
          </a:p>
        </p:txBody>
      </p:sp>
      <p:sp>
        <p:nvSpPr>
          <p:cNvPr id="9" name="R2_it102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mercoledì</a:t>
            </a:r>
            <a:endParaRPr lang="en-US" sz="1600" dirty="0"/>
          </a:p>
        </p:txBody>
      </p:sp>
      <p:sp>
        <p:nvSpPr>
          <p:cNvPr id="10" name="R3_tpr103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Wednesday: Wet day! Swim! 🏊 (say WENZ-day)</a:t>
            </a:r>
            <a:endParaRPr lang="en-US" sz="1300" dirty="0"/>
          </a:p>
        </p:txBody>
      </p:sp>
      <p:sp>
        <p:nvSpPr>
          <p:cNvPr id="11" name="n_104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7</a:t>
            </a:r>
            <a:endParaRPr lang="en-US" sz="1200" dirty="0"/>
          </a:p>
        </p:txBody>
      </p:sp>
      <p:sp>
        <p:nvSpPr>
          <p:cNvPr id="12" name="bk_105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0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9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0" descr="/home/claude/movers/img/fc/thurs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658" y="1234440"/>
            <a:ext cx="2042684" cy="2651760"/>
          </a:xfrm>
          <a:prstGeom prst="rect">
            <a:avLst/>
          </a:prstGeom>
        </p:spPr>
      </p:pic>
      <p:sp>
        <p:nvSpPr>
          <p:cNvPr id="8" name="R1_w111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Thursday</a:t>
            </a:r>
            <a:endParaRPr lang="en-US" sz="3600" dirty="0"/>
          </a:p>
        </p:txBody>
      </p:sp>
      <p:sp>
        <p:nvSpPr>
          <p:cNvPr id="9" name="R2_it112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giovedì</a:t>
            </a:r>
            <a:endParaRPr lang="en-US" sz="1600" dirty="0"/>
          </a:p>
        </p:txBody>
      </p:sp>
      <p:sp>
        <p:nvSpPr>
          <p:cNvPr id="10" name="R3_tpr113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Thursday: tongue out – th! THUMBS up! 👍</a:t>
            </a:r>
            <a:endParaRPr lang="en-US" sz="1300" dirty="0"/>
          </a:p>
        </p:txBody>
      </p:sp>
      <p:sp>
        <p:nvSpPr>
          <p:cNvPr id="11" name="n_114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7</a:t>
            </a:r>
            <a:endParaRPr lang="en-US" sz="1200" dirty="0"/>
          </a:p>
        </p:txBody>
      </p:sp>
      <p:sp>
        <p:nvSpPr>
          <p:cNvPr id="12" name="bk_115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1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9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0" descr="/home/claude/movers/img/fc/fri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198" y="1234440"/>
            <a:ext cx="2119604" cy="2651760"/>
          </a:xfrm>
          <a:prstGeom prst="rect">
            <a:avLst/>
          </a:prstGeom>
        </p:spPr>
      </p:pic>
      <p:sp>
        <p:nvSpPr>
          <p:cNvPr id="8" name="R1_w121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Friday</a:t>
            </a:r>
            <a:endParaRPr lang="en-US" sz="3600" dirty="0"/>
          </a:p>
        </p:txBody>
      </p:sp>
      <p:sp>
        <p:nvSpPr>
          <p:cNvPr id="9" name="R2_it122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venerdì</a:t>
            </a:r>
            <a:endParaRPr lang="en-US" sz="1600" dirty="0"/>
          </a:p>
        </p:txBody>
      </p:sp>
      <p:sp>
        <p:nvSpPr>
          <p:cNvPr id="10" name="R3_tpr123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Friday: FRY an egg in a pan! 🍳</a:t>
            </a:r>
            <a:endParaRPr lang="en-US" sz="1300" dirty="0"/>
          </a:p>
        </p:txBody>
      </p:sp>
      <p:sp>
        <p:nvSpPr>
          <p:cNvPr id="11" name="n_124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7</a:t>
            </a:r>
            <a:endParaRPr lang="en-US" sz="1200" dirty="0"/>
          </a:p>
        </p:txBody>
      </p:sp>
      <p:sp>
        <p:nvSpPr>
          <p:cNvPr id="12" name="bk_125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2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9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30" descr="/home/claude/movers/img/fc/satur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939" y="1234440"/>
            <a:ext cx="2134122" cy="2651760"/>
          </a:xfrm>
          <a:prstGeom prst="rect">
            <a:avLst/>
          </a:prstGeom>
        </p:spPr>
      </p:pic>
      <p:sp>
        <p:nvSpPr>
          <p:cNvPr id="8" name="R1_w131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3600" dirty="0"/>
          </a:p>
        </p:txBody>
      </p:sp>
      <p:sp>
        <p:nvSpPr>
          <p:cNvPr id="9" name="R2_it132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sabato</a:t>
            </a:r>
            <a:endParaRPr lang="en-US" sz="1600" dirty="0"/>
          </a:p>
        </p:txBody>
      </p:sp>
      <p:sp>
        <p:nvSpPr>
          <p:cNvPr id="10" name="R3_tpr133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Saturday: SIT down on the floor! 🪑</a:t>
            </a:r>
            <a:endParaRPr lang="en-US" sz="1300" dirty="0"/>
          </a:p>
        </p:txBody>
      </p:sp>
      <p:sp>
        <p:nvSpPr>
          <p:cNvPr id="11" name="n_134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7</a:t>
            </a:r>
            <a:endParaRPr lang="en-US" sz="1200" dirty="0"/>
          </a:p>
        </p:txBody>
      </p:sp>
      <p:sp>
        <p:nvSpPr>
          <p:cNvPr id="12" name="bk_135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3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3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39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40" descr="/home/claude/movers/img/fc/sun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234440"/>
            <a:ext cx="2121408" cy="2651760"/>
          </a:xfrm>
          <a:prstGeom prst="rect">
            <a:avLst/>
          </a:prstGeom>
        </p:spPr>
      </p:pic>
      <p:sp>
        <p:nvSpPr>
          <p:cNvPr id="8" name="R1_w141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Sunday</a:t>
            </a:r>
            <a:endParaRPr lang="en-US" sz="3600" dirty="0"/>
          </a:p>
        </p:txBody>
      </p:sp>
      <p:sp>
        <p:nvSpPr>
          <p:cNvPr id="9" name="R2_it142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domenica</a:t>
            </a:r>
            <a:endParaRPr lang="en-US" sz="1600" dirty="0"/>
          </a:p>
        </p:txBody>
      </p:sp>
      <p:sp>
        <p:nvSpPr>
          <p:cNvPr id="10" name="R3_tpr143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Sunday: SUNglasses on! Relax! 😎</a:t>
            </a:r>
            <a:endParaRPr lang="en-US" sz="1300" dirty="0"/>
          </a:p>
        </p:txBody>
      </p:sp>
      <p:sp>
        <p:nvSpPr>
          <p:cNvPr id="11" name="n_144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7</a:t>
            </a:r>
            <a:endParaRPr lang="en-US" sz="1200" dirty="0"/>
          </a:p>
        </p:txBody>
      </p:sp>
      <p:sp>
        <p:nvSpPr>
          <p:cNvPr id="12" name="bk_145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👄</a:t>
            </a:r>
            <a:endParaRPr lang="en-US" sz="1600" dirty="0"/>
          </a:p>
        </p:txBody>
      </p:sp>
      <p:sp>
        <p:nvSpPr>
          <p:cNvPr id="4" name="bm_147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Catch the teacher!</a:t>
            </a:r>
            <a:endParaRPr lang="en-US" sz="2700" dirty="0"/>
          </a:p>
        </p:txBody>
      </p:sp>
      <p:sp>
        <p:nvSpPr>
          <p:cNvPr id="5" name="in_148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Is the teacher right or wrong? 👍 or 👎?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L'insegnante ha ragione o sbaglia? Pollice su o giù!</a:t>
            </a:r>
            <a:endParaRPr lang="en-US" sz="1100" dirty="0"/>
          </a:p>
        </p:txBody>
      </p:sp>
      <p:sp>
        <p:nvSpPr>
          <p:cNvPr id="6" name="mode_14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👍👎</a:t>
            </a:r>
            <a:endParaRPr lang="en-US" sz="1000" dirty="0"/>
          </a:p>
        </p:txBody>
      </p:sp>
      <p:sp>
        <p:nvSpPr>
          <p:cNvPr id="7" name="gb_150"/>
          <p:cNvSpPr/>
          <p:nvPr/>
        </p:nvSpPr>
        <p:spPr>
          <a:xfrm>
            <a:off x="320040" y="1280160"/>
            <a:ext cx="8503920" cy="1609344"/>
          </a:xfrm>
          <a:prstGeom prst="roundRect">
            <a:avLst>
              <a:gd name="adj" fmla="val 6818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151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Wednesday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WENZ-day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(no 'd'! 🤫)</a:t>
            </a:r>
            <a:endParaRPr lang="en-US" sz="1500" dirty="0"/>
          </a:p>
        </p:txBody>
      </p:sp>
      <p:sp>
        <p:nvSpPr>
          <p:cNvPr id="9" name="gl_152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Thursday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– tongue out! 👅</a:t>
            </a:r>
            <a:endParaRPr lang="en-US" sz="1500" dirty="0"/>
          </a:p>
        </p:txBody>
      </p:sp>
      <p:sp>
        <p:nvSpPr>
          <p:cNvPr id="10" name="gl_153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-day ·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TUES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-day ·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-ur-day</a:t>
            </a:r>
            <a:endParaRPr lang="en-US" sz="1500" dirty="0"/>
          </a:p>
        </p:txBody>
      </p:sp>
      <p:sp>
        <p:nvSpPr>
          <p:cNvPr id="11" name="pq_154"/>
          <p:cNvSpPr/>
          <p:nvPr/>
        </p:nvSpPr>
        <p:spPr>
          <a:xfrm>
            <a:off x="365760" y="3026664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'Wed-nes-day'</a:t>
            </a:r>
            <a:endParaRPr lang="en-US" sz="1300" dirty="0"/>
          </a:p>
        </p:txBody>
      </p:sp>
      <p:sp>
        <p:nvSpPr>
          <p:cNvPr id="12" name="R1_pa155"/>
          <p:cNvSpPr/>
          <p:nvPr/>
        </p:nvSpPr>
        <p:spPr>
          <a:xfrm>
            <a:off x="6126480" y="3026664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👎 WENZ-day</a:t>
            </a:r>
            <a:endParaRPr lang="en-US" sz="1300" dirty="0"/>
          </a:p>
        </p:txBody>
      </p:sp>
      <p:sp>
        <p:nvSpPr>
          <p:cNvPr id="13" name="pq_156"/>
          <p:cNvSpPr/>
          <p:nvPr/>
        </p:nvSpPr>
        <p:spPr>
          <a:xfrm>
            <a:off x="365760" y="3424428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'Tursday'</a:t>
            </a:r>
            <a:endParaRPr lang="en-US" sz="1300" dirty="0"/>
          </a:p>
        </p:txBody>
      </p:sp>
      <p:sp>
        <p:nvSpPr>
          <p:cNvPr id="14" name="R2_pa157"/>
          <p:cNvSpPr/>
          <p:nvPr/>
        </p:nvSpPr>
        <p:spPr>
          <a:xfrm>
            <a:off x="6126480" y="3424428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👎 th – Thursday</a:t>
            </a:r>
            <a:endParaRPr lang="en-US" sz="1300" dirty="0"/>
          </a:p>
        </p:txBody>
      </p:sp>
      <p:sp>
        <p:nvSpPr>
          <p:cNvPr id="15" name="pq_158"/>
          <p:cNvSpPr/>
          <p:nvPr/>
        </p:nvSpPr>
        <p:spPr>
          <a:xfrm>
            <a:off x="365760" y="3822192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'SAT-ur-day'</a:t>
            </a:r>
            <a:endParaRPr lang="en-US" sz="1300" dirty="0"/>
          </a:p>
        </p:txBody>
      </p:sp>
      <p:sp>
        <p:nvSpPr>
          <p:cNvPr id="16" name="R3_pa159"/>
          <p:cNvSpPr/>
          <p:nvPr/>
        </p:nvSpPr>
        <p:spPr>
          <a:xfrm>
            <a:off x="6126480" y="3822192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right!</a:t>
            </a:r>
            <a:endParaRPr lang="en-US" sz="1300" dirty="0"/>
          </a:p>
        </p:txBody>
      </p:sp>
      <p:sp>
        <p:nvSpPr>
          <p:cNvPr id="17" name="pq_160"/>
          <p:cNvSpPr/>
          <p:nvPr/>
        </p:nvSpPr>
        <p:spPr>
          <a:xfrm>
            <a:off x="365760" y="4219956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'mon-DAY'</a:t>
            </a:r>
            <a:endParaRPr lang="en-US" sz="1300" dirty="0"/>
          </a:p>
        </p:txBody>
      </p:sp>
      <p:sp>
        <p:nvSpPr>
          <p:cNvPr id="18" name="R4_pa161"/>
          <p:cNvSpPr/>
          <p:nvPr/>
        </p:nvSpPr>
        <p:spPr>
          <a:xfrm>
            <a:off x="6126480" y="4219956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👎 MON-day</a:t>
            </a:r>
            <a:endParaRPr lang="en-US" sz="1300" dirty="0"/>
          </a:p>
        </p:txBody>
      </p:sp>
      <p:sp>
        <p:nvSpPr>
          <p:cNvPr id="19" name="bk_162"/>
          <p:cNvSpPr/>
          <p:nvPr/>
        </p:nvSpPr>
        <p:spPr>
          <a:xfrm>
            <a:off x="228600" y="4681728"/>
            <a:ext cx="303580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Pronunciation ·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6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16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10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166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167" descr="/home/claude/movers/img/fc/mon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168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200" dirty="0"/>
          </a:p>
        </p:txBody>
      </p:sp>
      <p:sp>
        <p:nvSpPr>
          <p:cNvPr id="9" name="cd_169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170" descr="/home/claude/movers/img/fc/tues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1" name="lb_171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tuesday</a:t>
            </a:r>
            <a:endParaRPr lang="en-US" sz="1200" dirty="0"/>
          </a:p>
        </p:txBody>
      </p:sp>
      <p:sp>
        <p:nvSpPr>
          <p:cNvPr id="12" name="cd_172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173" descr="/home/claude/movers/img/fc/wednes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4" name="lb_174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wednesday</a:t>
            </a:r>
            <a:endParaRPr lang="en-US" sz="1200" dirty="0"/>
          </a:p>
        </p:txBody>
      </p:sp>
      <p:sp>
        <p:nvSpPr>
          <p:cNvPr id="15" name="cd_175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176" descr="/home/claude/movers/img/fc/thursd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353312"/>
            <a:ext cx="1298448" cy="1298448"/>
          </a:xfrm>
          <a:prstGeom prst="rect">
            <a:avLst/>
          </a:prstGeom>
        </p:spPr>
      </p:pic>
      <p:sp>
        <p:nvSpPr>
          <p:cNvPr id="17" name="lb_177"/>
          <p:cNvSpPr/>
          <p:nvPr/>
        </p:nvSpPr>
        <p:spPr>
          <a:xfrm>
            <a:off x="691743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thursday</a:t>
            </a:r>
            <a:endParaRPr lang="en-US" sz="1200" dirty="0"/>
          </a:p>
        </p:txBody>
      </p:sp>
      <p:sp>
        <p:nvSpPr>
          <p:cNvPr id="18" name="cd_178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179" descr="/home/claude/movers/img/fc/fri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20" name="lb_180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friday</a:t>
            </a:r>
            <a:endParaRPr lang="en-US" sz="1200" dirty="0"/>
          </a:p>
        </p:txBody>
      </p:sp>
      <p:sp>
        <p:nvSpPr>
          <p:cNvPr id="21" name="cd_181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182" descr="/home/claude/movers/img/fc/saturd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3" name="lb_183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1200" dirty="0"/>
          </a:p>
        </p:txBody>
      </p:sp>
      <p:sp>
        <p:nvSpPr>
          <p:cNvPr id="24" name="cd_184"/>
          <p:cNvSpPr/>
          <p:nvPr/>
        </p:nvSpPr>
        <p:spPr>
          <a:xfrm>
            <a:off x="473202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185" descr="/home/claude/movers/img/fc/sund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196" y="3291840"/>
            <a:ext cx="1298448" cy="1298448"/>
          </a:xfrm>
          <a:prstGeom prst="rect">
            <a:avLst/>
          </a:prstGeom>
        </p:spPr>
      </p:pic>
      <p:sp>
        <p:nvSpPr>
          <p:cNvPr id="26" name="lb_186"/>
          <p:cNvSpPr/>
          <p:nvPr/>
        </p:nvSpPr>
        <p:spPr>
          <a:xfrm>
            <a:off x="476859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sunday</a:t>
            </a:r>
            <a:endParaRPr lang="en-US" sz="1200" dirty="0"/>
          </a:p>
        </p:txBody>
      </p:sp>
      <p:sp>
        <p:nvSpPr>
          <p:cNvPr id="27" name="bk_187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Days of the week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8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19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eyes! What's missing? Write it or whisper it to your partner.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Apri gli occhi! Cosa manca? Scrivilo o dillo al compagno.</a:t>
            </a:r>
            <a:endParaRPr lang="en-US" sz="1350" dirty="0"/>
          </a:p>
        </p:txBody>
      </p:sp>
      <p:sp>
        <p:nvSpPr>
          <p:cNvPr id="6" name="cd_191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192" descr="/home/claude/movers/img/fc/mon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193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200" dirty="0"/>
          </a:p>
        </p:txBody>
      </p:sp>
      <p:sp>
        <p:nvSpPr>
          <p:cNvPr id="9" name="cd_194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195" descr="/home/claude/movers/img/fc/tues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1" name="lb_196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tuesday</a:t>
            </a:r>
            <a:endParaRPr lang="en-US" sz="1200" dirty="0"/>
          </a:p>
        </p:txBody>
      </p:sp>
      <p:sp>
        <p:nvSpPr>
          <p:cNvPr id="12" name="cd_197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198" descr="/home/claude/movers/img/fc/wednes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4" name="lb_199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wednesday</a:t>
            </a:r>
            <a:endParaRPr lang="en-US" sz="1200" dirty="0"/>
          </a:p>
        </p:txBody>
      </p:sp>
      <p:sp>
        <p:nvSpPr>
          <p:cNvPr id="15" name="q_200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16" name="cd_201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202" descr="/home/claude/movers/img/fc/frid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18" name="lb_203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friday</a:t>
            </a:r>
            <a:endParaRPr lang="en-US" sz="1200" dirty="0"/>
          </a:p>
        </p:txBody>
      </p:sp>
      <p:sp>
        <p:nvSpPr>
          <p:cNvPr id="19" name="cd_204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05" descr="/home/claude/movers/img/fc/satur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1" name="lb_206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1200" dirty="0"/>
          </a:p>
        </p:txBody>
      </p:sp>
      <p:sp>
        <p:nvSpPr>
          <p:cNvPr id="22" name="cd_207"/>
          <p:cNvSpPr/>
          <p:nvPr/>
        </p:nvSpPr>
        <p:spPr>
          <a:xfrm>
            <a:off x="473202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08" descr="/home/claude/movers/img/fc/sund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7196" y="3291840"/>
            <a:ext cx="1298448" cy="1298448"/>
          </a:xfrm>
          <a:prstGeom prst="rect">
            <a:avLst/>
          </a:prstGeom>
        </p:spPr>
      </p:pic>
      <p:sp>
        <p:nvSpPr>
          <p:cNvPr id="24" name="lb_209"/>
          <p:cNvSpPr/>
          <p:nvPr/>
        </p:nvSpPr>
        <p:spPr>
          <a:xfrm>
            <a:off x="476859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sunday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21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21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Thursday!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È giovedì!</a:t>
            </a:r>
            <a:endParaRPr lang="en-US" sz="1400" dirty="0"/>
          </a:p>
        </p:txBody>
      </p:sp>
      <p:sp>
        <p:nvSpPr>
          <p:cNvPr id="6" name="cd_213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14" descr="/home/claude/movers/img/fc/mon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215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200" dirty="0"/>
          </a:p>
        </p:txBody>
      </p:sp>
      <p:sp>
        <p:nvSpPr>
          <p:cNvPr id="9" name="cd_216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217" descr="/home/claude/movers/img/fc/tues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1" name="lb_218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tuesday</a:t>
            </a:r>
            <a:endParaRPr lang="en-US" sz="1200" dirty="0"/>
          </a:p>
        </p:txBody>
      </p:sp>
      <p:sp>
        <p:nvSpPr>
          <p:cNvPr id="12" name="cd_219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220" descr="/home/claude/movers/img/fc/wednes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4" name="lb_221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wednesday</a:t>
            </a:r>
            <a:endParaRPr lang="en-US" sz="1200" dirty="0"/>
          </a:p>
        </p:txBody>
      </p:sp>
      <p:sp>
        <p:nvSpPr>
          <p:cNvPr id="15" name="cd_222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223" descr="/home/claude/movers/img/fc/thursd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353312"/>
            <a:ext cx="1298448" cy="1298448"/>
          </a:xfrm>
          <a:prstGeom prst="rect">
            <a:avLst/>
          </a:prstGeom>
        </p:spPr>
      </p:pic>
      <p:sp>
        <p:nvSpPr>
          <p:cNvPr id="17" name="lb_224"/>
          <p:cNvSpPr/>
          <p:nvPr/>
        </p:nvSpPr>
        <p:spPr>
          <a:xfrm>
            <a:off x="691743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thursday</a:t>
            </a:r>
            <a:endParaRPr lang="en-US" sz="1200" dirty="0"/>
          </a:p>
        </p:txBody>
      </p:sp>
      <p:sp>
        <p:nvSpPr>
          <p:cNvPr id="18" name="hl_225"/>
          <p:cNvSpPr/>
          <p:nvPr/>
        </p:nvSpPr>
        <p:spPr>
          <a:xfrm>
            <a:off x="6825996" y="1225296"/>
            <a:ext cx="1938528" cy="1938528"/>
          </a:xfrm>
          <a:prstGeom prst="roundRect">
            <a:avLst>
              <a:gd name="adj" fmla="val 5660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19" name="cd_226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27" descr="/home/claude/movers/img/fc/fri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21" name="lb_228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friday</a:t>
            </a:r>
            <a:endParaRPr lang="en-US" sz="1200" dirty="0"/>
          </a:p>
        </p:txBody>
      </p:sp>
      <p:sp>
        <p:nvSpPr>
          <p:cNvPr id="22" name="cd_229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30" descr="/home/claude/movers/img/fc/saturd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4" name="lb_231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1200" dirty="0"/>
          </a:p>
        </p:txBody>
      </p:sp>
      <p:sp>
        <p:nvSpPr>
          <p:cNvPr id="25" name="cd_232"/>
          <p:cNvSpPr/>
          <p:nvPr/>
        </p:nvSpPr>
        <p:spPr>
          <a:xfrm>
            <a:off x="473202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233" descr="/home/claude/movers/img/fc/sund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196" y="3291840"/>
            <a:ext cx="1298448" cy="1298448"/>
          </a:xfrm>
          <a:prstGeom prst="rect">
            <a:avLst/>
          </a:prstGeom>
        </p:spPr>
      </p:pic>
      <p:sp>
        <p:nvSpPr>
          <p:cNvPr id="27" name="lb_234"/>
          <p:cNvSpPr/>
          <p:nvPr/>
        </p:nvSpPr>
        <p:spPr>
          <a:xfrm>
            <a:off x="476859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sunday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3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3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Jim's school week</a:t>
            </a:r>
            <a:endParaRPr lang="en-US" sz="2700" dirty="0"/>
          </a:p>
        </p:txBody>
      </p:sp>
      <p:sp>
        <p:nvSpPr>
          <p:cNvPr id="5" name="in_23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point. Draw a happy face on Jim's favourite school days.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indica. Disegna una faccina felice sui giorni preferiti di Jim.</a:t>
            </a:r>
            <a:endParaRPr lang="en-US" sz="1100" dirty="0"/>
          </a:p>
        </p:txBody>
      </p:sp>
      <p:sp>
        <p:nvSpPr>
          <p:cNvPr id="6" name="mode_23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👤 ALONE</a:t>
            </a:r>
            <a:endParaRPr lang="en-US" sz="1000" dirty="0"/>
          </a:p>
        </p:txBody>
      </p:sp>
      <p:sp>
        <p:nvSpPr>
          <p:cNvPr id="7" name="pf_239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40" descr="/home/claude/movers/img/crop/u2-p19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98" y="1325880"/>
            <a:ext cx="3375965" cy="3246120"/>
          </a:xfrm>
          <a:prstGeom prst="rect">
            <a:avLst/>
          </a:prstGeom>
        </p:spPr>
      </p:pic>
      <p:sp>
        <p:nvSpPr>
          <p:cNvPr id="9" name="q_241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can you see?</a:t>
            </a:r>
            <a:endParaRPr lang="en-US" sz="1250" dirty="0"/>
          </a:p>
        </p:txBody>
      </p:sp>
      <p:sp>
        <p:nvSpPr>
          <p:cNvPr id="10" name="R1_a242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Jim, Jenny, Tom, Eva and a teacher</a:t>
            </a:r>
            <a:endParaRPr lang="en-US" sz="1200" dirty="0"/>
          </a:p>
        </p:txBody>
      </p:sp>
      <p:sp>
        <p:nvSpPr>
          <p:cNvPr id="11" name="q_243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 are they?</a:t>
            </a:r>
            <a:endParaRPr lang="en-US" sz="1250" dirty="0"/>
          </a:p>
        </p:txBody>
      </p:sp>
      <p:sp>
        <p:nvSpPr>
          <p:cNvPr id="12" name="R2_a244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the classroom</a:t>
            </a:r>
            <a:endParaRPr lang="en-US" sz="1250" dirty="0"/>
          </a:p>
        </p:txBody>
      </p:sp>
      <p:sp>
        <p:nvSpPr>
          <p:cNvPr id="13" name="q_245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they looking at?</a:t>
            </a:r>
            <a:endParaRPr lang="en-US" sz="1250" dirty="0"/>
          </a:p>
        </p:txBody>
      </p:sp>
      <p:sp>
        <p:nvSpPr>
          <p:cNvPr id="14" name="R3_a246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timetable</a:t>
            </a:r>
            <a:endParaRPr lang="en-US" sz="1250" dirty="0"/>
          </a:p>
        </p:txBody>
      </p:sp>
      <p:sp>
        <p:nvSpPr>
          <p:cNvPr id="15" name="q_247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Jim's favourite school days?</a:t>
            </a:r>
            <a:endParaRPr lang="en-US" sz="1250" dirty="0"/>
          </a:p>
        </p:txBody>
      </p:sp>
      <p:sp>
        <p:nvSpPr>
          <p:cNvPr id="16" name="R4_a248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Monday 🙂 and Friday 🙂</a:t>
            </a:r>
            <a:endParaRPr lang="en-US" sz="1250" dirty="0"/>
          </a:p>
        </p:txBody>
      </p:sp>
      <p:sp>
        <p:nvSpPr>
          <p:cNvPr id="17" name="bk_24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🎧 1.21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CHANT</a:t>
            </a:r>
            <a:endParaRPr lang="en-US" sz="1600" dirty="0"/>
          </a:p>
        </p:txBody>
      </p:sp>
      <p:sp>
        <p:nvSpPr>
          <p:cNvPr id="4" name="bm_25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8E5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the chant!</a:t>
            </a:r>
            <a:endParaRPr lang="en-US" sz="2700" dirty="0"/>
          </a:p>
        </p:txBody>
      </p:sp>
      <p:sp>
        <p:nvSpPr>
          <p:cNvPr id="5" name="in_25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say the chant. Clap the rhythm!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di' il chant. Batti le mani a ritmo!</a:t>
            </a:r>
            <a:endParaRPr lang="en-US" sz="1400" dirty="0"/>
          </a:p>
        </p:txBody>
      </p:sp>
      <p:sp>
        <p:nvSpPr>
          <p:cNvPr id="6" name="mode_25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WHOLE CLASS · ⏱ 4 MIN</a:t>
            </a:r>
            <a:endParaRPr lang="en-US" sz="1000" dirty="0"/>
          </a:p>
        </p:txBody>
      </p:sp>
      <p:sp>
        <p:nvSpPr>
          <p:cNvPr id="7" name="st_254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55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256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257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and point to the days.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e indica i giorni.</a:t>
            </a:r>
            <a:endParaRPr lang="en-US" sz="1050" dirty="0"/>
          </a:p>
        </p:txBody>
      </p:sp>
      <p:sp>
        <p:nvSpPr>
          <p:cNvPr id="11" name="st_258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8E5BE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259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8E5BE8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260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</a:t>
            </a:r>
            <a:endParaRPr lang="en-US" sz="1300" dirty="0"/>
          </a:p>
        </p:txBody>
      </p:sp>
      <p:sp>
        <p:nvSpPr>
          <p:cNvPr id="14" name="se_261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Whisper… normal… MONSTER!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Sussurra… normale… MOSTRO!</a:t>
            </a:r>
            <a:endParaRPr lang="en-US" sz="1050" dirty="0"/>
          </a:p>
        </p:txBody>
      </p:sp>
      <p:sp>
        <p:nvSpPr>
          <p:cNvPr id="15" name="st_262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263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264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8" name="se_265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on YOUR day!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Alzati quando senti il TUO giorno!</a:t>
            </a:r>
            <a:endParaRPr lang="en-US" sz="1050" dirty="0"/>
          </a:p>
        </p:txBody>
      </p:sp>
      <p:sp>
        <p:nvSpPr>
          <p:cNvPr id="19" name="gl_266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Monday, Tuesday! 👏👏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Monday, Tuesday! 👏👏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Wednesday, Thursday! 👏👏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Wednesday, Thursday! 👏👏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Friday! Friday! 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Saturday, Sunday! 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Saturday, Sunday! 😎</a:t>
            </a:r>
            <a:endParaRPr lang="en-US" sz="1400" dirty="0"/>
          </a:p>
        </p:txBody>
      </p:sp>
      <p:sp>
        <p:nvSpPr>
          <p:cNvPr id="20" name="bk_267"/>
          <p:cNvSpPr/>
          <p:nvPr/>
        </p:nvSpPr>
        <p:spPr>
          <a:xfrm>
            <a:off x="228600" y="4681728"/>
            <a:ext cx="396849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🎧 1.22 · 🎬 chant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6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6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do they…?</a:t>
            </a:r>
            <a:endParaRPr lang="en-US" sz="2700" dirty="0"/>
          </a:p>
        </p:txBody>
      </p:sp>
      <p:sp>
        <p:nvSpPr>
          <p:cNvPr id="5" name="in_27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say the days.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di' i giorni.</a:t>
            </a:r>
            <a:endParaRPr lang="en-US" sz="1400" dirty="0"/>
          </a:p>
        </p:txBody>
      </p:sp>
      <p:sp>
        <p:nvSpPr>
          <p:cNvPr id="6" name="mode_27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🗣 SPEAK</a:t>
            </a:r>
            <a:endParaRPr lang="en-US" sz="1000" dirty="0"/>
          </a:p>
        </p:txBody>
      </p:sp>
      <p:sp>
        <p:nvSpPr>
          <p:cNvPr id="7" name="pf_27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73" descr="/home/claude/movers/img/crop/u2-p19-timetab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347"/>
            <a:ext cx="5120640" cy="2331186"/>
          </a:xfrm>
          <a:prstGeom prst="rect">
            <a:avLst/>
          </a:prstGeom>
        </p:spPr>
      </p:pic>
      <p:sp>
        <p:nvSpPr>
          <p:cNvPr id="9" name="q_274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 can play badminton or basketball.</a:t>
            </a:r>
            <a:endParaRPr lang="en-US" sz="1100" dirty="0"/>
          </a:p>
        </p:txBody>
      </p:sp>
      <p:sp>
        <p:nvSpPr>
          <p:cNvPr id="10" name="R1_a275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Tuesday, Thursday</a:t>
            </a:r>
            <a:endParaRPr lang="en-US" sz="1100" dirty="0"/>
          </a:p>
        </p:txBody>
      </p:sp>
      <p:sp>
        <p:nvSpPr>
          <p:cNvPr id="11" name="q_276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 write about the book of the week.</a:t>
            </a:r>
            <a:endParaRPr lang="en-US" sz="1100" dirty="0"/>
          </a:p>
        </p:txBody>
      </p:sp>
      <p:sp>
        <p:nvSpPr>
          <p:cNvPr id="12" name="R2_a277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Friday</a:t>
            </a:r>
            <a:endParaRPr lang="en-US" sz="1100" dirty="0"/>
          </a:p>
        </p:txBody>
      </p:sp>
      <p:sp>
        <p:nvSpPr>
          <p:cNvPr id="13" name="q_278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 don't go to school.</a:t>
            </a:r>
            <a:endParaRPr lang="en-US" sz="1100" dirty="0"/>
          </a:p>
        </p:txBody>
      </p:sp>
      <p:sp>
        <p:nvSpPr>
          <p:cNvPr id="14" name="R3_a279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Saturday, Sunday</a:t>
            </a:r>
            <a:endParaRPr lang="en-US" sz="1100" dirty="0"/>
          </a:p>
        </p:txBody>
      </p:sp>
      <p:sp>
        <p:nvSpPr>
          <p:cNvPr id="15" name="q_280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 need a swimsuit and a towel.</a:t>
            </a:r>
            <a:endParaRPr lang="en-US" sz="1100" dirty="0"/>
          </a:p>
        </p:txBody>
      </p:sp>
      <p:sp>
        <p:nvSpPr>
          <p:cNvPr id="16" name="R4_a281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Wednesday</a:t>
            </a:r>
            <a:endParaRPr lang="en-US" sz="1100" dirty="0"/>
          </a:p>
        </p:txBody>
      </p:sp>
      <p:sp>
        <p:nvSpPr>
          <p:cNvPr id="17" name="q_282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They're in the classroom.</a:t>
            </a:r>
            <a:endParaRPr lang="en-US" sz="1100" dirty="0"/>
          </a:p>
        </p:txBody>
      </p:sp>
      <p:sp>
        <p:nvSpPr>
          <p:cNvPr id="18" name="R5_a283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Monday</a:t>
            </a:r>
            <a:endParaRPr lang="en-US" sz="1100" dirty="0"/>
          </a:p>
        </p:txBody>
      </p:sp>
      <p:sp>
        <p:nvSpPr>
          <p:cNvPr id="19" name="q_284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 go for a swim.</a:t>
            </a:r>
            <a:endParaRPr lang="en-US" sz="1100" dirty="0"/>
          </a:p>
        </p:txBody>
      </p:sp>
      <p:sp>
        <p:nvSpPr>
          <p:cNvPr id="20" name="R6_a285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Wednesday</a:t>
            </a:r>
            <a:endParaRPr lang="en-US" sz="1100" dirty="0"/>
          </a:p>
        </p:txBody>
      </p:sp>
      <p:sp>
        <p:nvSpPr>
          <p:cNvPr id="21" name="bk_28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🎧 1.23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ITALIAN TRAP ⚠</a:t>
            </a:r>
            <a:endParaRPr lang="en-US" sz="1600" dirty="0"/>
          </a:p>
        </p:txBody>
      </p:sp>
      <p:sp>
        <p:nvSpPr>
          <p:cNvPr id="4" name="bm_28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is different!</a:t>
            </a:r>
            <a:endParaRPr lang="en-US" sz="2400" dirty="0"/>
          </a:p>
        </p:txBody>
      </p:sp>
      <p:sp>
        <p:nvSpPr>
          <p:cNvPr id="5" name="in_28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What's different from Italian?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Cosa cambia rispetto all'italiano?</a:t>
            </a:r>
            <a:endParaRPr lang="en-US" sz="1400" dirty="0"/>
          </a:p>
        </p:txBody>
      </p:sp>
      <p:sp>
        <p:nvSpPr>
          <p:cNvPr id="6" name="mode_29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</a:t>
            </a:r>
            <a:endParaRPr lang="en-US" sz="1000" dirty="0"/>
          </a:p>
        </p:txBody>
      </p:sp>
      <p:sp>
        <p:nvSpPr>
          <p:cNvPr id="7" name="gb_291"/>
          <p:cNvSpPr/>
          <p:nvPr/>
        </p:nvSpPr>
        <p:spPr>
          <a:xfrm>
            <a:off x="320040" y="1280160"/>
            <a:ext cx="8503920" cy="1609344"/>
          </a:xfrm>
          <a:prstGeom prst="roundRect">
            <a:avLst>
              <a:gd name="adj" fmla="val 6818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292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onday – BIG letter! (italiano: lunedì)</a:t>
            </a:r>
            <a:endParaRPr lang="en-US" sz="1500" dirty="0"/>
          </a:p>
        </p:txBody>
      </p:sp>
      <p:sp>
        <p:nvSpPr>
          <p:cNvPr id="9" name="gl_293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Monday I go swimming. (not 'in Monday')</a:t>
            </a:r>
            <a:endParaRPr lang="en-US" sz="1500" dirty="0"/>
          </a:p>
        </p:txBody>
      </p:sp>
      <p:sp>
        <p:nvSpPr>
          <p:cNvPr id="10" name="gl_294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il lunedì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 Mondays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(every Monday)</a:t>
            </a:r>
            <a:endParaRPr lang="en-US" sz="1500" dirty="0"/>
          </a:p>
        </p:txBody>
      </p:sp>
      <p:sp>
        <p:nvSpPr>
          <p:cNvPr id="11" name="pq_295"/>
          <p:cNvSpPr/>
          <p:nvPr/>
        </p:nvSpPr>
        <p:spPr>
          <a:xfrm>
            <a:off x="365760" y="30266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go swimming on wednesday.</a:t>
            </a:r>
            <a:endParaRPr lang="en-US" sz="1300" dirty="0"/>
          </a:p>
        </p:txBody>
      </p:sp>
      <p:sp>
        <p:nvSpPr>
          <p:cNvPr id="12" name="R1_pa296"/>
          <p:cNvSpPr/>
          <p:nvPr/>
        </p:nvSpPr>
        <p:spPr>
          <a:xfrm>
            <a:off x="6126480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… Wednesday (2 big letters!)</a:t>
            </a:r>
            <a:endParaRPr lang="en-US" sz="1300" dirty="0"/>
          </a:p>
        </p:txBody>
      </p:sp>
      <p:sp>
        <p:nvSpPr>
          <p:cNvPr id="13" name="pq_297"/>
          <p:cNvSpPr/>
          <p:nvPr/>
        </p:nvSpPr>
        <p:spPr>
          <a:xfrm>
            <a:off x="365760" y="34838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___ Friday we've got book club.</a:t>
            </a:r>
            <a:endParaRPr lang="en-US" sz="1300" dirty="0"/>
          </a:p>
        </p:txBody>
      </p:sp>
      <p:sp>
        <p:nvSpPr>
          <p:cNvPr id="14" name="R2_pa298"/>
          <p:cNvSpPr/>
          <p:nvPr/>
        </p:nvSpPr>
        <p:spPr>
          <a:xfrm>
            <a:off x="6126480" y="3483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</a:t>
            </a:r>
            <a:endParaRPr lang="en-US" sz="1300" dirty="0"/>
          </a:p>
        </p:txBody>
      </p:sp>
      <p:sp>
        <p:nvSpPr>
          <p:cNvPr id="15" name="pq_299"/>
          <p:cNvSpPr/>
          <p:nvPr/>
        </p:nvSpPr>
        <p:spPr>
          <a:xfrm>
            <a:off x="365760" y="39410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 play basketball in Tuesday.</a:t>
            </a:r>
            <a:endParaRPr lang="en-US" sz="1300" dirty="0"/>
          </a:p>
        </p:txBody>
      </p:sp>
      <p:sp>
        <p:nvSpPr>
          <p:cNvPr id="16" name="R3_pa300"/>
          <p:cNvSpPr/>
          <p:nvPr/>
        </p:nvSpPr>
        <p:spPr>
          <a:xfrm>
            <a:off x="612648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 → on Tuesday</a:t>
            </a:r>
            <a:endParaRPr lang="en-US" sz="1300" dirty="0"/>
          </a:p>
        </p:txBody>
      </p:sp>
      <p:sp>
        <p:nvSpPr>
          <p:cNvPr id="17" name="bk_301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Days of the week · on + day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0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0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the ball!</a:t>
            </a:r>
            <a:endParaRPr lang="en-US" sz="2700" dirty="0"/>
          </a:p>
        </p:txBody>
      </p:sp>
      <p:sp>
        <p:nvSpPr>
          <p:cNvPr id="5" name="in_30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Catch the ball. Answer quickly. Then ask a friend!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Prendi la palla. Rispondi velocemente. Poi chiedi a un amico!</a:t>
            </a:r>
            <a:endParaRPr lang="en-US" sz="1350" dirty="0"/>
          </a:p>
        </p:txBody>
      </p:sp>
      <p:sp>
        <p:nvSpPr>
          <p:cNvPr id="6" name="mode_30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WHOLE CLASS · ⏱ 5 MIN</a:t>
            </a:r>
            <a:endParaRPr lang="en-US" sz="1000" dirty="0"/>
          </a:p>
        </p:txBody>
      </p:sp>
      <p:sp>
        <p:nvSpPr>
          <p:cNvPr id="7" name="diff_306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It's … · It comes after …</a:t>
            </a:r>
            <a:endParaRPr lang="en-US" sz="950" dirty="0"/>
          </a:p>
        </p:txBody>
      </p:sp>
      <p:sp>
        <p:nvSpPr>
          <p:cNvPr id="8" name="diff_307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Say the days backwards!</a:t>
            </a:r>
            <a:endParaRPr lang="en-US" sz="950" dirty="0"/>
          </a:p>
        </p:txBody>
      </p:sp>
      <p:sp>
        <p:nvSpPr>
          <p:cNvPr id="9" name="st_308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309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310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2" name="se_311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asks and throws the ball.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 chiede e lancia la palla.</a:t>
            </a:r>
            <a:endParaRPr lang="en-US" sz="1050" dirty="0"/>
          </a:p>
        </p:txBody>
      </p:sp>
      <p:sp>
        <p:nvSpPr>
          <p:cNvPr id="13" name="st_312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313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314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6" name="se_315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Catch, answer, ask a friend!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Prendi, rispondi, chiedi a un amico!</a:t>
            </a:r>
            <a:endParaRPr lang="en-US" sz="1050" dirty="0"/>
          </a:p>
        </p:txBody>
      </p:sp>
      <p:sp>
        <p:nvSpPr>
          <p:cNvPr id="17" name="st_316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317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318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20" name="se_319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seconds! Too slow? Sit down.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secondi! Troppo lento? Siediti.</a:t>
            </a:r>
            <a:endParaRPr lang="en-US" sz="1050" dirty="0"/>
          </a:p>
        </p:txBody>
      </p:sp>
      <p:sp>
        <p:nvSpPr>
          <p:cNvPr id="21" name="gl_320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day comes after Tuesday?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day comes before Friday?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day is between Saturday and Monday?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your favourite day? Why?</a:t>
            </a:r>
            <a:endParaRPr lang="en-US" sz="1400" dirty="0"/>
          </a:p>
        </p:txBody>
      </p:sp>
      <p:sp>
        <p:nvSpPr>
          <p:cNvPr id="22" name="bk_321"/>
          <p:cNvSpPr/>
          <p:nvPr/>
        </p:nvSpPr>
        <p:spPr>
          <a:xfrm>
            <a:off x="228600" y="4681728"/>
            <a:ext cx="311353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Days of the week · before / after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2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2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busy week!</a:t>
            </a:r>
            <a:endParaRPr lang="en-US" sz="2700" dirty="0"/>
          </a:p>
        </p:txBody>
      </p:sp>
      <p:sp>
        <p:nvSpPr>
          <p:cNvPr id="5" name="in_32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the day and do the activity!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il giorno e fai l'attività!</a:t>
            </a:r>
            <a:endParaRPr lang="en-US" sz="1400" dirty="0"/>
          </a:p>
        </p:txBody>
      </p:sp>
      <p:sp>
        <p:nvSpPr>
          <p:cNvPr id="6" name="mode_32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 · ⏱ 4 MIN</a:t>
            </a:r>
            <a:endParaRPr lang="en-US" sz="1000" dirty="0"/>
          </a:p>
        </p:txBody>
      </p:sp>
      <p:sp>
        <p:nvSpPr>
          <p:cNvPr id="7" name="cd_326"/>
          <p:cNvSpPr/>
          <p:nvPr/>
        </p:nvSpPr>
        <p:spPr>
          <a:xfrm>
            <a:off x="27432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327" descr="/home/claude/movers/img/e-u2math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905256" cy="905256"/>
          </a:xfrm>
          <a:prstGeom prst="rect">
            <a:avLst/>
          </a:prstGeom>
        </p:spPr>
      </p:pic>
      <p:sp>
        <p:nvSpPr>
          <p:cNvPr id="9" name="R1_a328"/>
          <p:cNvSpPr/>
          <p:nvPr/>
        </p:nvSpPr>
        <p:spPr>
          <a:xfrm>
            <a:off x="139903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Monday: maths! Count!</a:t>
            </a:r>
            <a:endParaRPr lang="en-US" sz="1250" dirty="0"/>
          </a:p>
        </p:txBody>
      </p:sp>
      <p:sp>
        <p:nvSpPr>
          <p:cNvPr id="10" name="cd_329"/>
          <p:cNvSpPr/>
          <p:nvPr/>
        </p:nvSpPr>
        <p:spPr>
          <a:xfrm>
            <a:off x="242316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30" descr="/home/claude/movers/img/e-u2bas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1399032"/>
            <a:ext cx="905256" cy="905256"/>
          </a:xfrm>
          <a:prstGeom prst="rect">
            <a:avLst/>
          </a:prstGeom>
        </p:spPr>
      </p:pic>
      <p:sp>
        <p:nvSpPr>
          <p:cNvPr id="12" name="R2_a331"/>
          <p:cNvSpPr/>
          <p:nvPr/>
        </p:nvSpPr>
        <p:spPr>
          <a:xfrm>
            <a:off x="354787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Tuesday: bounce and shoot!</a:t>
            </a:r>
            <a:endParaRPr lang="en-US" sz="1250" dirty="0"/>
          </a:p>
        </p:txBody>
      </p:sp>
      <p:sp>
        <p:nvSpPr>
          <p:cNvPr id="13" name="cd_332"/>
          <p:cNvSpPr/>
          <p:nvPr/>
        </p:nvSpPr>
        <p:spPr>
          <a:xfrm>
            <a:off x="457200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333" descr="/home/claude/movers/img/e-u2sw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399032"/>
            <a:ext cx="905256" cy="905256"/>
          </a:xfrm>
          <a:prstGeom prst="rect">
            <a:avLst/>
          </a:prstGeom>
        </p:spPr>
      </p:pic>
      <p:sp>
        <p:nvSpPr>
          <p:cNvPr id="15" name="R3_a334"/>
          <p:cNvSpPr/>
          <p:nvPr/>
        </p:nvSpPr>
        <p:spPr>
          <a:xfrm>
            <a:off x="569671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Wednesday: swim!</a:t>
            </a:r>
            <a:endParaRPr lang="en-US" sz="1250" dirty="0"/>
          </a:p>
        </p:txBody>
      </p:sp>
      <p:sp>
        <p:nvSpPr>
          <p:cNvPr id="16" name="cd_335"/>
          <p:cNvSpPr/>
          <p:nvPr/>
        </p:nvSpPr>
        <p:spPr>
          <a:xfrm>
            <a:off x="672084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336" descr="/home/claude/movers/img/e-u2badmint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1399032"/>
            <a:ext cx="905256" cy="905256"/>
          </a:xfrm>
          <a:prstGeom prst="rect">
            <a:avLst/>
          </a:prstGeom>
        </p:spPr>
      </p:pic>
      <p:sp>
        <p:nvSpPr>
          <p:cNvPr id="18" name="R4_a337"/>
          <p:cNvSpPr/>
          <p:nvPr/>
        </p:nvSpPr>
        <p:spPr>
          <a:xfrm>
            <a:off x="784555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Thursday: play badminton!</a:t>
            </a:r>
            <a:endParaRPr lang="en-US" sz="1250" dirty="0"/>
          </a:p>
        </p:txBody>
      </p:sp>
      <p:sp>
        <p:nvSpPr>
          <p:cNvPr id="19" name="cd_338"/>
          <p:cNvSpPr/>
          <p:nvPr/>
        </p:nvSpPr>
        <p:spPr>
          <a:xfrm>
            <a:off x="27432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39" descr="/home/claude/movers/img/e-u2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999232"/>
            <a:ext cx="905256" cy="905256"/>
          </a:xfrm>
          <a:prstGeom prst="rect">
            <a:avLst/>
          </a:prstGeom>
        </p:spPr>
      </p:pic>
      <p:sp>
        <p:nvSpPr>
          <p:cNvPr id="21" name="R5_a340"/>
          <p:cNvSpPr/>
          <p:nvPr/>
        </p:nvSpPr>
        <p:spPr>
          <a:xfrm>
            <a:off x="139903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Friday: open a big book!</a:t>
            </a:r>
            <a:endParaRPr lang="en-US" sz="1250" dirty="0"/>
          </a:p>
        </p:txBody>
      </p:sp>
      <p:sp>
        <p:nvSpPr>
          <p:cNvPr id="22" name="cd_341"/>
          <p:cNvSpPr/>
          <p:nvPr/>
        </p:nvSpPr>
        <p:spPr>
          <a:xfrm>
            <a:off x="242316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42" descr="/home/claude/movers/img/e-u2fi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12" y="2999232"/>
            <a:ext cx="905256" cy="905256"/>
          </a:xfrm>
          <a:prstGeom prst="rect">
            <a:avLst/>
          </a:prstGeom>
        </p:spPr>
      </p:pic>
      <p:sp>
        <p:nvSpPr>
          <p:cNvPr id="24" name="R6_a343"/>
          <p:cNvSpPr/>
          <p:nvPr/>
        </p:nvSpPr>
        <p:spPr>
          <a:xfrm>
            <a:off x="354787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Saturday: feed Fred!</a:t>
            </a:r>
            <a:endParaRPr lang="en-US" sz="1250" dirty="0"/>
          </a:p>
        </p:txBody>
      </p:sp>
      <p:sp>
        <p:nvSpPr>
          <p:cNvPr id="25" name="cd_344"/>
          <p:cNvSpPr/>
          <p:nvPr/>
        </p:nvSpPr>
        <p:spPr>
          <a:xfrm>
            <a:off x="457200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45" descr="/home/claude/movers/img/e-u2slee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2999232"/>
            <a:ext cx="905256" cy="905256"/>
          </a:xfrm>
          <a:prstGeom prst="rect">
            <a:avLst/>
          </a:prstGeom>
        </p:spPr>
      </p:pic>
      <p:sp>
        <p:nvSpPr>
          <p:cNvPr id="27" name="R7_a346"/>
          <p:cNvSpPr/>
          <p:nvPr/>
        </p:nvSpPr>
        <p:spPr>
          <a:xfrm>
            <a:off x="569671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Sunday: sleep! Snore!</a:t>
            </a:r>
            <a:endParaRPr lang="en-US" sz="1250" dirty="0"/>
          </a:p>
        </p:txBody>
      </p:sp>
      <p:sp>
        <p:nvSpPr>
          <p:cNvPr id="28" name="bk_347"/>
          <p:cNvSpPr/>
          <p:nvPr/>
        </p:nvSpPr>
        <p:spPr>
          <a:xfrm>
            <a:off x="228600" y="4681728"/>
            <a:ext cx="280263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p.19 · timetable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4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349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35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351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the 7 days of the week.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i 7 giorni della settimana.</a:t>
            </a:r>
            <a:endParaRPr lang="en-US" sz="1300" dirty="0"/>
          </a:p>
        </p:txBody>
      </p:sp>
      <p:sp>
        <p:nvSpPr>
          <p:cNvPr id="7" name="can_352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Wednesday and Thursday well.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pronunciare bene Wednesday e Thursday.</a:t>
            </a:r>
            <a:endParaRPr lang="en-US" sz="1300" dirty="0"/>
          </a:p>
        </p:txBody>
      </p:sp>
      <p:sp>
        <p:nvSpPr>
          <p:cNvPr id="8" name="can_353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what comes before and after.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cosa viene prima e dopo.</a:t>
            </a:r>
            <a:endParaRPr lang="en-US" sz="1300" dirty="0"/>
          </a:p>
        </p:txBody>
      </p:sp>
      <p:sp>
        <p:nvSpPr>
          <p:cNvPr id="9" name="hw_354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p.19: ex.1 and 2 (rhyme)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p.18: My unit goals</a:t>
            </a:r>
            <a:endParaRPr lang="en-US" sz="1250" dirty="0"/>
          </a:p>
        </p:txBody>
      </p:sp>
      <p:sp>
        <p:nvSpPr>
          <p:cNvPr id="10" name="nx_355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The Friendly Farm story – How often?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5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57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Days line-up!</a:t>
            </a:r>
            <a:endParaRPr lang="en-US" sz="2400" dirty="0"/>
          </a:p>
        </p:txBody>
      </p:sp>
      <p:sp>
        <p:nvSpPr>
          <p:cNvPr id="5" name="in_358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a day card. Stand in the right order. Quick!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Prendi un giorno. Mettetevi in ordine. Veloci!</a:t>
            </a:r>
            <a:endParaRPr lang="en-US" sz="1400" dirty="0"/>
          </a:p>
        </p:txBody>
      </p:sp>
      <p:sp>
        <p:nvSpPr>
          <p:cNvPr id="6" name="mode_35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BEAT THE CLOCK</a:t>
            </a:r>
            <a:endParaRPr lang="en-US" sz="900" dirty="0"/>
          </a:p>
        </p:txBody>
      </p:sp>
      <p:sp>
        <p:nvSpPr>
          <p:cNvPr id="7" name="st_36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36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6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0" name="se_36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learners get a day card.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alunni prendono un giorno.</a:t>
            </a:r>
            <a:endParaRPr lang="en-US" sz="1050" dirty="0"/>
          </a:p>
        </p:txBody>
      </p:sp>
      <p:sp>
        <p:nvSpPr>
          <p:cNvPr id="11" name="st_36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6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6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4" name="se_36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in the correct order!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Mettetevi nell'ordine giusto!</a:t>
            </a:r>
            <a:endParaRPr lang="en-US" sz="1050" dirty="0"/>
          </a:p>
        </p:txBody>
      </p:sp>
      <p:sp>
        <p:nvSpPr>
          <p:cNvPr id="15" name="st_36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6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7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8" name="se_37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your day: Monday… Tuesday…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 il vostro giorno in ordine.</a:t>
            </a:r>
            <a:endParaRPr lang="en-US" sz="1050" dirty="0"/>
          </a:p>
        </p:txBody>
      </p:sp>
      <p:sp>
        <p:nvSpPr>
          <p:cNvPr id="19" name="cd_372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73" descr="/home/claude/movers/img/fc/sun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1" name="cd_374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75" descr="/home/claude/movers/img/fc/wednes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3" name="cd_376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377" descr="/home/claude/movers/img/fc/fri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5" name="cd_378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79" descr="/home/claude/movers/img/fc/mond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7" name="cd_380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381" descr="/home/claude/movers/img/fc/satur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29" name="cd_382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383" descr="/home/claude/movers/img/fc/tuesd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  <p:sp>
        <p:nvSpPr>
          <p:cNvPr id="31" name="cd_384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85" descr="/home/claude/movers/img/fc/thursd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34640"/>
            <a:ext cx="1179576" cy="1179576"/>
          </a:xfrm>
          <a:prstGeom prst="rect">
            <a:avLst/>
          </a:prstGeom>
        </p:spPr>
      </p:pic>
      <p:sp>
        <p:nvSpPr>
          <p:cNvPr id="33" name="bk_38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Days of the week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2 · LESSON 1 · My week</dc:title>
  <dc:subject>PptxGenJS Presentation</dc:subject>
  <dc:creator>PptxGenJS</dc:creator>
  <cp:lastModifiedBy>PptxGenJS</cp:lastModifiedBy>
  <cp:revision>1</cp:revision>
  <dcterms:created xsi:type="dcterms:W3CDTF">2026-10-06T10:51:23Z</dcterms:created>
  <dcterms:modified xsi:type="dcterms:W3CDTF">2026-10-06T10:51:23Z</dcterms:modified>
</cp:coreProperties>
</file>