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(2 min). Write the title 'A bad, bad Monday morning' on the board. PREDICT: Look at the boy. Why is the morning bad? (learners guess – write 2–3 ideas, check them after the story). Ask: What wakes you up in the morning? Do you have an alarm clock? Why do people need alarms? (So they aren't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OF LESSON 4 (3 min). GAME PLAN · SEE: 7 pictures from Lesson 4 (no words) · TEACHER: Split the class into 2 teams facing each other. Say the topic and 'serve' the first word: 'Helmet!' · STUDENTS: teams take turns to say one word from the topic; any team member can answer but they can't repeat a word · GROUPING: 2 teams · SCORE/WIN: a team that can't answer in 5 seconds or repeats a word loses the point. Round 2 topic: daily routines (wake up, get up, have a shower…). Round 3 🔥: sentences – 'You must wear a helmet!' · TIME: 3 min · LANGUAGE: helmet, gloves, goggles, knee pads, elbow pads, sun cream, water, warm up, muscles + Unit 2 routines · REVEAL: the teacher points to the pictures not used: 'You forgot… goggles!'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WORDS (4 min). New language (TB): alarm, get dressed (flashcard), lights (= traffic lights), mirror; also blanket (coperta), downstairs (al piano di sotto), presentation (presentazione), assembly hall (aula magna), shout (gridare), suddenly (all'improvviso) – teach those with the story pictures. Traffic lights mini-game: RED – freeze! GREEN – walk! YELLOW – walk slowly! TPR: Ring ring! Turn off the alarm!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WORDS (4 min). New language (TB): alarm, get dressed (flashcard), lights (= traffic lights), mirror; also blanket (coperta), downstairs (al piano di sotto), presentation (presentazione), assembly hall (aula magna), shout (gridare), suddenly (all'improvviso) – teach those with the story pictures. Traffic lights mini-game: RED – freeze! GREEN – walk! YELLOW – walk slowly! TPR: Put on your T-shirt… and your trousers!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WORDS (4 min). New language (TB): alarm, get dressed (flashcard), lights (= traffic lights), mirror; also blanket (coperta), downstairs (al piano di sotto), presentation (presentazione), assembly hall (aula magna), shout (gridare), suddenly (all'improvviso) – teach those with the story pictures. Traffic lights mini-game: RED – freeze! GREEN – walk! YELLOW – walk slowly! TPR: Red = STOP! Green = GO!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WORDS (4 min). New language (TB): alarm, get dressed (flashcard), lights (= traffic lights), mirror; also blanket (coperta), downstairs (al piano di sotto), presentation (presentazione), assembly hall (aula magna), shout (gridare), suddenly (all'improvviso) – teach those with the story pictures. Traffic lights mini-game: RED – freeze! GREEN – walk! YELLOW – walk slowly! TPR: Look in the mirror… fix your hair!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 ITALIAN TRAP (3 min). Model: say the BIG (stressed) part in a monster voice and the rest in a whisper: a-LARM. For each practice word, pairs try it and agree which part is the monster (commit: they say it together) → click → everybody says it. 'chocolate' has only 2 syllables (Italians say cio-co-la-to → 'cho-co-late'). Italian trap: 'Sono le otto' → English uses IT'S: It's eight o'clock (never 'They are 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 p.26 ex.1 (3 min). Read the question; click for the model answer (always / often / sometimes / never + a reason). Frames on the board: 'I always / often / sometimes / never want to sleep because …'. Pairs talk, then 2–3 learners share. Q2: learners read Alex's first lines and answer (commit) →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(with the next 4 slides, ≈ 12 min). Before listening, ask (TB): Picture 1: Where is the boy? (In his bedroom / in bed) What does he like? (Football) Has he got an alarm clock? (Yes, he has.) What's the time? (Seven o'clock – 'It's seven o'clock!'). Play track 1.34 (first part) and pause at 'school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2: Who's the woman? (The boy's mum) What's the boy's name? (Alex) What time is it? (Eight o'clock) Why mustn't they be late? (Because he has a presentation at school). Teach 'blanket' and 'suddenly'. PREDICT: 'What happens next?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3: What does the boy want to do? (Open the door) Why can't he get in? (guess first: maybe someone is in the bathroom). Play the next part; pause after the third paragraph. What does Alex do after he jumps out of bed? (He gets dressed.) Who's in the bathroom? (His big sister) Who's in the bathroom downstairs? (His 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4: Where is the boy? (In the kitchen) What's his mum giving him? (An apple and a drink) Play the next part; pause after 'Now, Alex!' What does Alex have for breakfast? (Chocolate milk and fruit) Does he always have that? (No) Why doesn't he have breakfast at home? (There's no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5: Where are they now? (In the car) – traffic lights. Picture 6: Is the boy happy? (No). Play the rest. Why are they in the car for a long time? (All the traffic lights are red.) Where does Alex go at school? (The assembly hall) Is his presentation OK? (Yes, it's good.) What does he see in the mirror? (His sister's shirt, crazy hair and chocolate milk around his mouth.) Check the cover predictions – who was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ORDER RACE (5 min). GAME PLAN · SEE: 6 story events in the wrong order (numbers hidden) · TEACHER: Books closed! Say 'Go!' and start a 60-second timer · STUDENTS: teams write the order 1–6 on paper (e.g. 2 = …); then hold it up (commit) · GROUPING: teams of 3–4 · SCORE/WIN: 1 point per correct position; all 6 correct = +3 bonus; fastest team with all correct = +1 · TIME: 5 min including checking · LANGUAGE: reading the story sentences; then teams read their order aloud · REVEAL: click 6 times – the numbers appear one by one (answers: 5, 1, 6, 3, 4, 2). Correct order: alarm → Mum shouting → sister in bathroom → chocolate milk → car/lights → mirror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TPR ACT OUT THE STORY (4 min). Say the actions in story order; learners act them out. Then mix the order. Extension (TB p.27): pairs act out the story – one is Alex, one is Mum. Play the audio; they do the actions and join in with their characters'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 p.27 ex.2 (5 min). For each bad thing: pairs think of the reason (commit: whisper), a volunteer answers 'Because …', then click to reveal (TB answers). SOCIAL AND EMOTIONAL SKILL: Alex has a bad Monday because he gets up late – there are CONSEQUENCES (conseguenze) to his actions. Ask: Do you sometimes get up late? What happens? Quick extension: 'What can Alex do next Monday?' (go to bed early, put the alarm far from the 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 p.27 ex.3 (4 min). MODEL → SUPPORTED → INDEPENDENT. Model: 'I love Fridays. We play games in our English class.' (book example). Point out: in the Movers Speaking test, the examiner may say 'Tell me about…' or 'Let's talk about…'. Supported: a learner answers with the frames. Independent: pairs ask and answer; then 2–3 learners tell the class about their PARTNER (She loves Saturdays because…). Recycles days + adverbs + free time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Exit challenge: 'One word, one sentence': point to a learner and say a story word (mirror, alarm, lights) – they say one sentence from the story with it. Thumbs for each 'I can'. Give out the homework sheet. TIMING (core ≈ 58 min): cover 2 · tennis 3 · flashcards 4 · stress 3 · sleep 3 · story 12 · order race 5 · TPR 4 · why 5 · speaking 4 · exit 3 (+ transitions; extras below if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WOULD YOU RATHER? (4 min). GAME PLAN · SEE: 4 funny choices (left / right) · TEACHER: Read a choice and point left/right. Model the answer: 'I'd rather have pizza because I love pizza!' · STUDENTS: move to the left or right side of the room; 1–2 learners per side say why · GROUPING: whole class · SCORE/WIN: no winners – personal opinions; a bonus clap for a funny reason · TIME: 4 min · LANGUAGE: I'd rather … because … + routines (get up, have breakfast, have a shower, get dressed) · REVEAL: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RUNNING DICTATION (6 min). GAME PLAN · SEE: only the rules (the sentences are on paper on the wall) · TEACHER: Before class, print and stick these 5 story sentences on the wall: 1 I turn off my alarm and go to sleep. 2 I jump out of bed and get dressed. 3 We run to the car and drive to school. 4 All the lights are red. 5 I look in the mirror! · STUDENTS: the runner reads one sentence, remembers it, runs back and dictates; swap after each sentence · GROUPING: pairs · SCORE/WIN: first pair with all 5 correct (spelling + capital letters) wins; then they put them in story order for a bonus · TIME: 6 min · LANGUAGE: story sentences; spelling aloud (How do you spell 'mirror'?) · REVEAL: the teacher reads the 5 sentences; pairs self-check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UNIT 2 · LESSON 5</a:t>
            </a:r>
            <a:endParaRPr lang="en-US" sz="1600" dirty="0"/>
          </a:p>
        </p:txBody>
      </p:sp>
      <p:sp>
        <p:nvSpPr>
          <p:cNvPr id="4" name="bm_2"/>
          <p:cNvSpPr/>
          <p:nvPr/>
        </p:nvSpPr>
        <p:spPr>
          <a:xfrm rot="-120000">
            <a:off x="228600" y="493776"/>
            <a:ext cx="48463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A bad Monday!</a:t>
            </a:r>
            <a:endParaRPr lang="en-US" sz="2700" dirty="0"/>
          </a:p>
        </p:txBody>
      </p:sp>
      <p:sp>
        <p:nvSpPr>
          <p:cNvPr id="5" name="in_3"/>
          <p:cNvSpPr/>
          <p:nvPr/>
        </p:nvSpPr>
        <p:spPr>
          <a:xfrm>
            <a:off x="5212080" y="182880"/>
            <a:ext cx="370332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Today: a story – A bad, bad Monday morning 😱</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Oggi: una storia – Un lunedì mattina terribile</a:t>
            </a:r>
            <a:endParaRPr lang="en-US" sz="1400" dirty="0"/>
          </a:p>
        </p:txBody>
      </p:sp>
      <p:sp>
        <p:nvSpPr>
          <p:cNvPr id="6" name="st_4"/>
          <p:cNvSpPr/>
          <p:nvPr/>
        </p:nvSpPr>
        <p:spPr>
          <a:xfrm>
            <a:off x="228600" y="1371600"/>
            <a:ext cx="2743200" cy="914400"/>
          </a:xfrm>
          <a:prstGeom prst="roundRect">
            <a:avLst>
              <a:gd name="adj" fmla="val 1200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7" name="sn_5"/>
          <p:cNvSpPr/>
          <p:nvPr/>
        </p:nvSpPr>
        <p:spPr>
          <a:xfrm>
            <a:off x="118872" y="126187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8" name="sk_6"/>
          <p:cNvSpPr/>
          <p:nvPr/>
        </p:nvSpPr>
        <p:spPr>
          <a:xfrm>
            <a:off x="521208" y="140817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READ</a:t>
            </a:r>
            <a:endParaRPr lang="en-US" sz="1300" dirty="0"/>
          </a:p>
        </p:txBody>
      </p:sp>
      <p:sp>
        <p:nvSpPr>
          <p:cNvPr id="9" name="se_7"/>
          <p:cNvSpPr/>
          <p:nvPr/>
        </p:nvSpPr>
        <p:spPr>
          <a:xfrm>
            <a:off x="338328" y="170078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Read a story about Alex.</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Leggi una storia su Alex.</a:t>
            </a:r>
            <a:endParaRPr lang="en-US" sz="1050" dirty="0"/>
          </a:p>
        </p:txBody>
      </p:sp>
      <p:sp>
        <p:nvSpPr>
          <p:cNvPr id="10" name="st_8"/>
          <p:cNvSpPr/>
          <p:nvPr/>
        </p:nvSpPr>
        <p:spPr>
          <a:xfrm>
            <a:off x="228600" y="2377440"/>
            <a:ext cx="2743200" cy="914400"/>
          </a:xfrm>
          <a:prstGeom prst="roundRect">
            <a:avLst>
              <a:gd name="adj" fmla="val 1200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1" name="sn_9"/>
          <p:cNvSpPr/>
          <p:nvPr/>
        </p:nvSpPr>
        <p:spPr>
          <a:xfrm>
            <a:off x="118872" y="226771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2" name="sk_10"/>
          <p:cNvSpPr/>
          <p:nvPr/>
        </p:nvSpPr>
        <p:spPr>
          <a:xfrm>
            <a:off x="521208" y="241401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3" name="se_11"/>
          <p:cNvSpPr/>
          <p:nvPr/>
        </p:nvSpPr>
        <p:spPr>
          <a:xfrm>
            <a:off x="338328" y="270662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Talk about bad things and why.</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Parla delle cose brutte e del perché.</a:t>
            </a:r>
            <a:endParaRPr lang="en-US" sz="1050" dirty="0"/>
          </a:p>
        </p:txBody>
      </p:sp>
      <p:sp>
        <p:nvSpPr>
          <p:cNvPr id="14" name="st_12"/>
          <p:cNvSpPr/>
          <p:nvPr/>
        </p:nvSpPr>
        <p:spPr>
          <a:xfrm>
            <a:off x="228600" y="3383280"/>
            <a:ext cx="2743200" cy="914400"/>
          </a:xfrm>
          <a:prstGeom prst="roundRect">
            <a:avLst>
              <a:gd name="adj" fmla="val 1200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5" name="sn_13"/>
          <p:cNvSpPr/>
          <p:nvPr/>
        </p:nvSpPr>
        <p:spPr>
          <a:xfrm>
            <a:off x="118872" y="32735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6" name="sk_14"/>
          <p:cNvSpPr/>
          <p:nvPr/>
        </p:nvSpPr>
        <p:spPr>
          <a:xfrm>
            <a:off x="521208" y="341985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7" name="se_15"/>
          <p:cNvSpPr/>
          <p:nvPr/>
        </p:nvSpPr>
        <p:spPr>
          <a:xfrm>
            <a:off x="338328" y="371246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Act out the story!</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Recita la storia!</a:t>
            </a:r>
            <a:endParaRPr lang="en-US" sz="1050" dirty="0"/>
          </a:p>
        </p:txBody>
      </p:sp>
      <p:sp>
        <p:nvSpPr>
          <p:cNvPr id="18" name="pf_16"/>
          <p:cNvSpPr/>
          <p:nvPr/>
        </p:nvSpPr>
        <p:spPr>
          <a:xfrm>
            <a:off x="3191256" y="1271016"/>
            <a:ext cx="3355848" cy="3264408"/>
          </a:xfrm>
          <a:prstGeom prst="roundRect">
            <a:avLst>
              <a:gd name="adj" fmla="val 280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pic_17" descr="/home/claude/movers/img/crop/u2-p27-mirror.jpg">    </p:cNvPr>
          <p:cNvPicPr>
            <a:picLocks noChangeAspect="1"/>
          </p:cNvPicPr>
          <p:nvPr/>
        </p:nvPicPr>
        <p:blipFill>
          <a:blip r:embed="rId2"/>
          <a:stretch>
            <a:fillRect/>
          </a:stretch>
        </p:blipFill>
        <p:spPr>
          <a:xfrm>
            <a:off x="3246120" y="1545642"/>
            <a:ext cx="3246120" cy="2715156"/>
          </a:xfrm>
          <a:prstGeom prst="rect">
            <a:avLst/>
          </a:prstGeom>
        </p:spPr>
      </p:pic>
      <p:sp>
        <p:nvSpPr>
          <p:cNvPr id="20" name="cd_18"/>
          <p:cNvSpPr/>
          <p:nvPr/>
        </p:nvSpPr>
        <p:spPr>
          <a:xfrm>
            <a:off x="6720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1" name="ci_19" descr="/home/claude/movers/img/fc/get-dressed.png">    </p:cNvPr>
          <p:cNvPicPr>
            <a:picLocks noChangeAspect="1"/>
          </p:cNvPicPr>
          <p:nvPr/>
        </p:nvPicPr>
        <p:blipFill>
          <a:blip r:embed="rId3"/>
          <a:stretch>
            <a:fillRect/>
          </a:stretch>
        </p:blipFill>
        <p:spPr>
          <a:xfrm>
            <a:off x="6793992" y="3090672"/>
            <a:ext cx="905256" cy="905256"/>
          </a:xfrm>
          <a:prstGeom prst="rect">
            <a:avLst/>
          </a:prstGeom>
        </p:spPr>
      </p:pic>
      <p:sp>
        <p:nvSpPr>
          <p:cNvPr id="22" name="cd_20"/>
          <p:cNvSpPr/>
          <p:nvPr/>
        </p:nvSpPr>
        <p:spPr>
          <a:xfrm>
            <a:off x="7863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21" descr="/home/claude/movers/img/e-u2clock.png">    </p:cNvPr>
          <p:cNvPicPr>
            <a:picLocks noChangeAspect="1"/>
          </p:cNvPicPr>
          <p:nvPr/>
        </p:nvPicPr>
        <p:blipFill>
          <a:blip r:embed="rId4"/>
          <a:stretch>
            <a:fillRect/>
          </a:stretch>
        </p:blipFill>
        <p:spPr>
          <a:xfrm>
            <a:off x="7936992" y="3090672"/>
            <a:ext cx="905256" cy="905256"/>
          </a:xfrm>
          <a:prstGeom prst="rect">
            <a:avLst/>
          </a:prstGeom>
        </p:spPr>
      </p:pic>
      <p:sp>
        <p:nvSpPr>
          <p:cNvPr id="24" name="bb_22"/>
          <p:cNvSpPr/>
          <p:nvPr/>
        </p:nvSpPr>
        <p:spPr>
          <a:xfrm>
            <a:off x="6675120" y="1874520"/>
            <a:ext cx="2240280" cy="822960"/>
          </a:xfrm>
          <a:prstGeom prst="rect">
            <a:avLst/>
          </a:prstGeom>
          <a:solidFill>
            <a:srgbClr val="FFFFFF"/>
          </a:solidFill>
          <a:ln w="25400">
            <a:solidFill>
              <a:srgbClr val="1E2A5A"/>
            </a:solidFill>
          </a:ln>
        </p:spPr>
        <p:txBody>
          <a:bodyPr wrap="square" lIns="50800" tIns="50800" rIns="50800" bIns="50800" rtlCol="0" anchor="ctr"/>
          <a:lstStyle/>
          <a:p>
            <a:pPr algn="ctr" indent="0" marL="0">
              <a:buNone/>
            </a:pPr>
            <a:r>
              <a:rPr lang="en-US" sz="1500" b="1" dirty="0">
                <a:solidFill>
                  <a:srgbClr val="1E2A5A"/>
                </a:solidFill>
                <a:latin typeface="Arial Rounded MT Bold" pitchFamily="34" charset="0"/>
                <a:ea typeface="Arial Rounded MT Bold" pitchFamily="34" charset="-122"/>
                <a:cs typeface="Arial Rounded MT Bold" pitchFamily="34" charset="-120"/>
              </a:rPr>
              <a:t>Oh no! I'm late!</a:t>
            </a:r>
            <a:endParaRPr lang="en-US" sz="1500" dirty="0"/>
          </a:p>
          <a:p>
            <a:pPr algn="ct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Oh no! Sono in ritardo!</a:t>
            </a:r>
            <a:endParaRPr lang="en-US" sz="1500" dirty="0"/>
          </a:p>
        </p:txBody>
      </p:sp>
      <p:sp>
        <p:nvSpPr>
          <p:cNvPr id="25" name="bk_23"/>
          <p:cNvSpPr/>
          <p:nvPr/>
        </p:nvSpPr>
        <p:spPr>
          <a:xfrm>
            <a:off x="228600" y="4681728"/>
            <a:ext cx="295808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pp.26–27 · 🎧 1.34</a:t>
            </a:r>
            <a:endParaRPr lang="en-US" sz="1100" dirty="0"/>
          </a:p>
        </p:txBody>
      </p:sp>
    </p:spTree>
  </p:cSld>
  <p:clrMapOvr>
    <a:masterClrMapping/>
  </p:clrMapOvr>
  <p:transition spd="med">
    <p:push dir="l"/>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REMEMBER?</a:t>
            </a:r>
            <a:endParaRPr lang="en-US" sz="1600" dirty="0"/>
          </a:p>
        </p:txBody>
      </p:sp>
      <p:sp>
        <p:nvSpPr>
          <p:cNvPr id="4" name="bm_25"/>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Vocabulary tennis!</a:t>
            </a:r>
            <a:endParaRPr lang="en-US" sz="2700" dirty="0"/>
          </a:p>
        </p:txBody>
      </p:sp>
      <p:sp>
        <p:nvSpPr>
          <p:cNvPr id="5" name="in_26"/>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100" b="1" dirty="0">
                <a:solidFill>
                  <a:srgbClr val="1E2A5A"/>
                </a:solidFill>
                <a:latin typeface="Arial Rounded MT Bold" pitchFamily="34" charset="0"/>
                <a:ea typeface="Arial Rounded MT Bold" pitchFamily="34" charset="-122"/>
                <a:cs typeface="Arial Rounded MT Bold" pitchFamily="34" charset="-120"/>
              </a:rPr>
              <a:t>Team A says a word, Team B says a word… Don't stop!</a:t>
            </a:r>
            <a:endParaRPr lang="en-US" sz="1100" dirty="0"/>
          </a:p>
          <a:p>
            <a:pPr indent="0" marL="0">
              <a:buNone/>
            </a:pPr>
            <a:r>
              <a:rPr lang="en-US" sz="950" i="1" dirty="0">
                <a:solidFill>
                  <a:srgbClr val="2F9BFF"/>
                </a:solidFill>
                <a:latin typeface="Arial Rounded MT Bold" pitchFamily="34" charset="0"/>
                <a:ea typeface="Arial Rounded MT Bold" pitchFamily="34" charset="-122"/>
                <a:cs typeface="Arial Rounded MT Bold" pitchFamily="34" charset="-120"/>
              </a:rPr>
              <a:t>La squadra A dice una parola, la squadra B un'altra… Non fermatevi!</a:t>
            </a:r>
            <a:endParaRPr lang="en-US" sz="1100" dirty="0"/>
          </a:p>
        </p:txBody>
      </p:sp>
      <p:sp>
        <p:nvSpPr>
          <p:cNvPr id="6" name="mode_2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3 MIN</a:t>
            </a:r>
            <a:endParaRPr lang="en-US" sz="1000" dirty="0"/>
          </a:p>
        </p:txBody>
      </p:sp>
      <p:sp>
        <p:nvSpPr>
          <p:cNvPr id="7" name="st_28"/>
          <p:cNvSpPr/>
          <p:nvPr/>
        </p:nvSpPr>
        <p:spPr>
          <a:xfrm>
            <a:off x="228600" y="1325880"/>
            <a:ext cx="2651760" cy="975360"/>
          </a:xfrm>
          <a:prstGeom prst="roundRect">
            <a:avLst>
              <a:gd name="adj" fmla="val 1125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8" name="sn_29"/>
          <p:cNvSpPr/>
          <p:nvPr/>
        </p:nvSpPr>
        <p:spPr>
          <a:xfrm>
            <a:off x="118872" y="121615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30"/>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LOOK</a:t>
            </a:r>
            <a:endParaRPr lang="en-US" sz="1300" dirty="0"/>
          </a:p>
        </p:txBody>
      </p:sp>
      <p:sp>
        <p:nvSpPr>
          <p:cNvPr id="10" name="se_31"/>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Topic: things that keep us safe.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Tema: cose che ci proteggono.</a:t>
            </a:r>
            <a:endParaRPr lang="en-US" sz="1050" dirty="0"/>
          </a:p>
        </p:txBody>
      </p:sp>
      <p:sp>
        <p:nvSpPr>
          <p:cNvPr id="11" name="st_32"/>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2" name="sn_33"/>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34"/>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4" name="se_35"/>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Say a word – ping! Next team – pong!</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 una parola – ping! L'altra squadra – pong!</a:t>
            </a:r>
            <a:endParaRPr lang="en-US" sz="1050" dirty="0"/>
          </a:p>
        </p:txBody>
      </p:sp>
      <p:sp>
        <p:nvSpPr>
          <p:cNvPr id="15" name="st_36"/>
          <p:cNvSpPr/>
          <p:nvPr/>
        </p:nvSpPr>
        <p:spPr>
          <a:xfrm>
            <a:off x="228600" y="34594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6" name="sn_37"/>
          <p:cNvSpPr/>
          <p:nvPr/>
        </p:nvSpPr>
        <p:spPr>
          <a:xfrm>
            <a:off x="118872" y="33497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38"/>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PLAY</a:t>
            </a:r>
            <a:endParaRPr lang="en-US" sz="1300" dirty="0"/>
          </a:p>
        </p:txBody>
      </p:sp>
      <p:sp>
        <p:nvSpPr>
          <p:cNvPr id="18" name="se_39"/>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5 seconds! No repeats!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5 secondi! Niente ripetizioni!</a:t>
            </a:r>
            <a:endParaRPr lang="en-US" sz="1050" dirty="0"/>
          </a:p>
        </p:txBody>
      </p:sp>
      <p:sp>
        <p:nvSpPr>
          <p:cNvPr id="19" name="cd_40"/>
          <p:cNvSpPr/>
          <p:nvPr/>
        </p:nvSpPr>
        <p:spPr>
          <a:xfrm>
            <a:off x="310896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41" descr="/home/claude/movers/img/crop/u2-p24-helmet.jpg">    </p:cNvPr>
          <p:cNvPicPr>
            <a:picLocks noChangeAspect="1"/>
          </p:cNvPicPr>
          <p:nvPr/>
        </p:nvPicPr>
        <p:blipFill>
          <a:blip r:embed="rId2"/>
          <a:stretch>
            <a:fillRect/>
          </a:stretch>
        </p:blipFill>
        <p:spPr>
          <a:xfrm>
            <a:off x="3182112" y="1399032"/>
            <a:ext cx="1179576" cy="1179576"/>
          </a:xfrm>
          <a:prstGeom prst="rect">
            <a:avLst/>
          </a:prstGeom>
        </p:spPr>
      </p:pic>
      <p:sp>
        <p:nvSpPr>
          <p:cNvPr id="21" name="cd_42"/>
          <p:cNvSpPr/>
          <p:nvPr/>
        </p:nvSpPr>
        <p:spPr>
          <a:xfrm>
            <a:off x="457200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43" descr="/home/claude/movers/img/crop/u2-p24-pads.jpg">    </p:cNvPr>
          <p:cNvPicPr>
            <a:picLocks noChangeAspect="1"/>
          </p:cNvPicPr>
          <p:nvPr/>
        </p:nvPicPr>
        <p:blipFill>
          <a:blip r:embed="rId3"/>
          <a:stretch>
            <a:fillRect/>
          </a:stretch>
        </p:blipFill>
        <p:spPr>
          <a:xfrm>
            <a:off x="4645152" y="1399032"/>
            <a:ext cx="1179576" cy="1179576"/>
          </a:xfrm>
          <a:prstGeom prst="rect">
            <a:avLst/>
          </a:prstGeom>
        </p:spPr>
      </p:pic>
      <p:sp>
        <p:nvSpPr>
          <p:cNvPr id="23" name="cd_44"/>
          <p:cNvSpPr/>
          <p:nvPr/>
        </p:nvSpPr>
        <p:spPr>
          <a:xfrm>
            <a:off x="603504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4" name="ci_45" descr="/home/claude/movers/img/crop/u2-p24-goggles.jpg">    </p:cNvPr>
          <p:cNvPicPr>
            <a:picLocks noChangeAspect="1"/>
          </p:cNvPicPr>
          <p:nvPr/>
        </p:nvPicPr>
        <p:blipFill>
          <a:blip r:embed="rId4"/>
          <a:stretch>
            <a:fillRect/>
          </a:stretch>
        </p:blipFill>
        <p:spPr>
          <a:xfrm>
            <a:off x="6108192" y="1399032"/>
            <a:ext cx="1179576" cy="1179576"/>
          </a:xfrm>
          <a:prstGeom prst="rect">
            <a:avLst/>
          </a:prstGeom>
        </p:spPr>
      </p:pic>
      <p:sp>
        <p:nvSpPr>
          <p:cNvPr id="25" name="cd_46"/>
          <p:cNvSpPr/>
          <p:nvPr/>
        </p:nvSpPr>
        <p:spPr>
          <a:xfrm>
            <a:off x="749808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6" name="ci_47" descr="/home/claude/movers/img/crop/u2-p24-gloves.jpg">    </p:cNvPr>
          <p:cNvPicPr>
            <a:picLocks noChangeAspect="1"/>
          </p:cNvPicPr>
          <p:nvPr/>
        </p:nvPicPr>
        <p:blipFill>
          <a:blip r:embed="rId5"/>
          <a:stretch>
            <a:fillRect/>
          </a:stretch>
        </p:blipFill>
        <p:spPr>
          <a:xfrm>
            <a:off x="7571232" y="1399032"/>
            <a:ext cx="1179576" cy="1179576"/>
          </a:xfrm>
          <a:prstGeom prst="rect">
            <a:avLst/>
          </a:prstGeom>
        </p:spPr>
      </p:pic>
      <p:sp>
        <p:nvSpPr>
          <p:cNvPr id="27" name="cd_48"/>
          <p:cNvSpPr/>
          <p:nvPr/>
        </p:nvSpPr>
        <p:spPr>
          <a:xfrm>
            <a:off x="310896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8" name="ci_49" descr="/home/claude/movers/img/e-u2suncream.png">    </p:cNvPr>
          <p:cNvPicPr>
            <a:picLocks noChangeAspect="1"/>
          </p:cNvPicPr>
          <p:nvPr/>
        </p:nvPicPr>
        <p:blipFill>
          <a:blip r:embed="rId6"/>
          <a:stretch>
            <a:fillRect/>
          </a:stretch>
        </p:blipFill>
        <p:spPr>
          <a:xfrm>
            <a:off x="3182112" y="2834640"/>
            <a:ext cx="1179576" cy="1179576"/>
          </a:xfrm>
          <a:prstGeom prst="rect">
            <a:avLst/>
          </a:prstGeom>
        </p:spPr>
      </p:pic>
      <p:sp>
        <p:nvSpPr>
          <p:cNvPr id="29" name="cd_50"/>
          <p:cNvSpPr/>
          <p:nvPr/>
        </p:nvSpPr>
        <p:spPr>
          <a:xfrm>
            <a:off x="457200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0" name="ci_51" descr="/home/claude/movers/img/e-u2water.png">    </p:cNvPr>
          <p:cNvPicPr>
            <a:picLocks noChangeAspect="1"/>
          </p:cNvPicPr>
          <p:nvPr/>
        </p:nvPicPr>
        <p:blipFill>
          <a:blip r:embed="rId7"/>
          <a:stretch>
            <a:fillRect/>
          </a:stretch>
        </p:blipFill>
        <p:spPr>
          <a:xfrm>
            <a:off x="4645152" y="2834640"/>
            <a:ext cx="1179576" cy="1179576"/>
          </a:xfrm>
          <a:prstGeom prst="rect">
            <a:avLst/>
          </a:prstGeom>
        </p:spPr>
      </p:pic>
      <p:sp>
        <p:nvSpPr>
          <p:cNvPr id="31" name="cd_52"/>
          <p:cNvSpPr/>
          <p:nvPr/>
        </p:nvSpPr>
        <p:spPr>
          <a:xfrm>
            <a:off x="603504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2" name="ci_53" descr="/home/claude/movers/img/e-u2warmup.png">    </p:cNvPr>
          <p:cNvPicPr>
            <a:picLocks noChangeAspect="1"/>
          </p:cNvPicPr>
          <p:nvPr/>
        </p:nvPicPr>
        <p:blipFill>
          <a:blip r:embed="rId8"/>
          <a:stretch>
            <a:fillRect/>
          </a:stretch>
        </p:blipFill>
        <p:spPr>
          <a:xfrm>
            <a:off x="6108192" y="2834640"/>
            <a:ext cx="1179576" cy="1179576"/>
          </a:xfrm>
          <a:prstGeom prst="rect">
            <a:avLst/>
          </a:prstGeom>
        </p:spPr>
      </p:pic>
      <p:sp>
        <p:nvSpPr>
          <p:cNvPr id="33" name="bk_54"/>
          <p:cNvSpPr/>
          <p:nvPr/>
        </p:nvSpPr>
        <p:spPr>
          <a:xfrm>
            <a:off x="228600" y="4681728"/>
            <a:ext cx="3113532"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Retrieval · Lesson 4 safety words</a:t>
            </a:r>
            <a:endParaRPr lang="en-US" sz="110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5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56"/>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Story words</a:t>
            </a:r>
            <a:endParaRPr lang="en-US" sz="3200" dirty="0"/>
          </a:p>
        </p:txBody>
      </p:sp>
      <p:sp>
        <p:nvSpPr>
          <p:cNvPr id="5" name="in_5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58"/>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59" descr="/home/claude/movers/img/e-u2clock.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60"/>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alarm clock</a:t>
            </a:r>
            <a:endParaRPr lang="en-US" sz="3600" dirty="0"/>
          </a:p>
        </p:txBody>
      </p:sp>
      <p:sp>
        <p:nvSpPr>
          <p:cNvPr id="9" name="R2_it61"/>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sveglia</a:t>
            </a:r>
            <a:endParaRPr lang="en-US" sz="1600" dirty="0"/>
          </a:p>
        </p:txBody>
      </p:sp>
      <p:sp>
        <p:nvSpPr>
          <p:cNvPr id="10" name="R3_tpr62"/>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Ring ring! Turn off the alarm! ⏰</a:t>
            </a:r>
            <a:endParaRPr lang="en-US" sz="1300" dirty="0"/>
          </a:p>
        </p:txBody>
      </p:sp>
      <p:sp>
        <p:nvSpPr>
          <p:cNvPr id="11" name="n_63"/>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1 / 4</a:t>
            </a:r>
            <a:endParaRPr lang="en-US" sz="1200" dirty="0"/>
          </a:p>
        </p:txBody>
      </p:sp>
      <p:sp>
        <p:nvSpPr>
          <p:cNvPr id="12" name="bk_64"/>
          <p:cNvSpPr/>
          <p:nvPr/>
        </p:nvSpPr>
        <p:spPr>
          <a:xfrm>
            <a:off x="228600" y="4681728"/>
            <a:ext cx="21808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pp.26–27</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6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66"/>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Story words</a:t>
            </a:r>
            <a:endParaRPr lang="en-US" sz="3200" dirty="0"/>
          </a:p>
        </p:txBody>
      </p:sp>
      <p:sp>
        <p:nvSpPr>
          <p:cNvPr id="5" name="in_6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68"/>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69" descr="/home/claude/movers/img/fc/get-dressed.png">    </p:cNvPr>
          <p:cNvPicPr>
            <a:picLocks noChangeAspect="1"/>
          </p:cNvPicPr>
          <p:nvPr/>
        </p:nvPicPr>
        <p:blipFill>
          <a:blip r:embed="rId2"/>
          <a:stretch>
            <a:fillRect/>
          </a:stretch>
        </p:blipFill>
        <p:spPr>
          <a:xfrm>
            <a:off x="3467448" y="1234440"/>
            <a:ext cx="2209104" cy="2651760"/>
          </a:xfrm>
          <a:prstGeom prst="rect">
            <a:avLst/>
          </a:prstGeom>
        </p:spPr>
      </p:pic>
      <p:sp>
        <p:nvSpPr>
          <p:cNvPr id="8" name="R1_w70"/>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get dressed</a:t>
            </a:r>
            <a:endParaRPr lang="en-US" sz="3600" dirty="0"/>
          </a:p>
        </p:txBody>
      </p:sp>
      <p:sp>
        <p:nvSpPr>
          <p:cNvPr id="9" name="R2_it71"/>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vestirsi</a:t>
            </a:r>
            <a:endParaRPr lang="en-US" sz="1600" dirty="0"/>
          </a:p>
        </p:txBody>
      </p:sp>
      <p:sp>
        <p:nvSpPr>
          <p:cNvPr id="10" name="R3_tpr72"/>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Put on your T-shirt… and your trousers! 👕</a:t>
            </a:r>
            <a:endParaRPr lang="en-US" sz="1300" dirty="0"/>
          </a:p>
        </p:txBody>
      </p:sp>
      <p:sp>
        <p:nvSpPr>
          <p:cNvPr id="11" name="n_73"/>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2 / 4</a:t>
            </a:r>
            <a:endParaRPr lang="en-US" sz="1200" dirty="0"/>
          </a:p>
        </p:txBody>
      </p:sp>
      <p:sp>
        <p:nvSpPr>
          <p:cNvPr id="12" name="bk_74"/>
          <p:cNvSpPr/>
          <p:nvPr/>
        </p:nvSpPr>
        <p:spPr>
          <a:xfrm>
            <a:off x="228600" y="4681728"/>
            <a:ext cx="21808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pp.26–27</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7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76"/>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Story words</a:t>
            </a:r>
            <a:endParaRPr lang="en-US" sz="3200" dirty="0"/>
          </a:p>
        </p:txBody>
      </p:sp>
      <p:sp>
        <p:nvSpPr>
          <p:cNvPr id="5" name="in_7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78"/>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79" descr="/home/claude/movers/img/e-u2lights.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80"/>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traffic lights</a:t>
            </a:r>
            <a:endParaRPr lang="en-US" sz="3600" dirty="0"/>
          </a:p>
        </p:txBody>
      </p:sp>
      <p:sp>
        <p:nvSpPr>
          <p:cNvPr id="9" name="R2_it81"/>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semaforo</a:t>
            </a:r>
            <a:endParaRPr lang="en-US" sz="1600" dirty="0"/>
          </a:p>
        </p:txBody>
      </p:sp>
      <p:sp>
        <p:nvSpPr>
          <p:cNvPr id="10" name="R3_tpr82"/>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Red = STOP! Green = GO! 🚦</a:t>
            </a:r>
            <a:endParaRPr lang="en-US" sz="1300" dirty="0"/>
          </a:p>
        </p:txBody>
      </p:sp>
      <p:sp>
        <p:nvSpPr>
          <p:cNvPr id="11" name="n_83"/>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3 / 4</a:t>
            </a:r>
            <a:endParaRPr lang="en-US" sz="1200" dirty="0"/>
          </a:p>
        </p:txBody>
      </p:sp>
      <p:sp>
        <p:nvSpPr>
          <p:cNvPr id="12" name="bk_84"/>
          <p:cNvSpPr/>
          <p:nvPr/>
        </p:nvSpPr>
        <p:spPr>
          <a:xfrm>
            <a:off x="228600" y="4681728"/>
            <a:ext cx="21808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pp.26–27</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8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86"/>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Story words</a:t>
            </a:r>
            <a:endParaRPr lang="en-US" sz="3200" dirty="0"/>
          </a:p>
        </p:txBody>
      </p:sp>
      <p:sp>
        <p:nvSpPr>
          <p:cNvPr id="5" name="in_8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88"/>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89" descr="/home/claude/movers/img/e-u2mirror.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90"/>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mirror</a:t>
            </a:r>
            <a:endParaRPr lang="en-US" sz="3600" dirty="0"/>
          </a:p>
        </p:txBody>
      </p:sp>
      <p:sp>
        <p:nvSpPr>
          <p:cNvPr id="9" name="R2_it91"/>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specchio</a:t>
            </a:r>
            <a:endParaRPr lang="en-US" sz="1600" dirty="0"/>
          </a:p>
        </p:txBody>
      </p:sp>
      <p:sp>
        <p:nvSpPr>
          <p:cNvPr id="10" name="R3_tpr92"/>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Look in the mirror… fix your hair! 🪞</a:t>
            </a:r>
            <a:endParaRPr lang="en-US" sz="1300" dirty="0"/>
          </a:p>
        </p:txBody>
      </p:sp>
      <p:sp>
        <p:nvSpPr>
          <p:cNvPr id="11" name="n_93"/>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4 / 4</a:t>
            </a:r>
            <a:endParaRPr lang="en-US" sz="1200" dirty="0"/>
          </a:p>
        </p:txBody>
      </p:sp>
      <p:sp>
        <p:nvSpPr>
          <p:cNvPr id="12" name="bk_94"/>
          <p:cNvSpPr/>
          <p:nvPr/>
        </p:nvSpPr>
        <p:spPr>
          <a:xfrm>
            <a:off x="228600" y="4681728"/>
            <a:ext cx="21808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pp.26–27</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9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SOUNDS 👹</a:t>
            </a:r>
            <a:endParaRPr lang="en-US" sz="1600" dirty="0"/>
          </a:p>
        </p:txBody>
      </p:sp>
      <p:sp>
        <p:nvSpPr>
          <p:cNvPr id="4" name="bm_96"/>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8A3D"/>
                </a:solidFill>
                <a:latin typeface="Arial Black" pitchFamily="34" charset="0"/>
                <a:ea typeface="Arial Black" pitchFamily="34" charset="-122"/>
                <a:cs typeface="Arial Black" pitchFamily="34" charset="-120"/>
              </a:rPr>
              <a:t>Monster stress!</a:t>
            </a:r>
            <a:endParaRPr lang="en-US" sz="2700" dirty="0"/>
          </a:p>
        </p:txBody>
      </p:sp>
      <p:sp>
        <p:nvSpPr>
          <p:cNvPr id="5" name="in_9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Say it in a MONSTER voice! Which part is BIG?</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Dillo con la voce da MOSTRO! Quale parte è FORTE?</a:t>
            </a:r>
            <a:endParaRPr lang="en-US" sz="1400" dirty="0"/>
          </a:p>
        </p:txBody>
      </p:sp>
      <p:sp>
        <p:nvSpPr>
          <p:cNvPr id="6" name="mode_98"/>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SPEAK</a:t>
            </a:r>
            <a:endParaRPr lang="en-US" sz="1000" dirty="0"/>
          </a:p>
        </p:txBody>
      </p:sp>
      <p:sp>
        <p:nvSpPr>
          <p:cNvPr id="7" name="gb_99"/>
          <p:cNvSpPr/>
          <p:nvPr/>
        </p:nvSpPr>
        <p:spPr>
          <a:xfrm>
            <a:off x="320040" y="1280160"/>
            <a:ext cx="8503920" cy="1225296"/>
          </a:xfrm>
          <a:prstGeom prst="roundRect">
            <a:avLst>
              <a:gd name="adj" fmla="val 8955"/>
            </a:avLst>
          </a:prstGeom>
          <a:solidFill>
            <a:srgbClr val="FFF1E0"/>
          </a:solidFill>
          <a:ln w="38100">
            <a:solidFill>
              <a:srgbClr val="FF8A3D"/>
            </a:solidFill>
            <a:prstDash val="solid"/>
          </a:ln>
        </p:spPr>
      </p:sp>
      <p:sp>
        <p:nvSpPr>
          <p:cNvPr id="8" name="gl_100"/>
          <p:cNvSpPr/>
          <p:nvPr/>
        </p:nvSpPr>
        <p:spPr>
          <a:xfrm>
            <a:off x="548640" y="1417320"/>
            <a:ext cx="7223760" cy="365760"/>
          </a:xfrm>
          <a:prstGeom prst="rect">
            <a:avLst/>
          </a:prstGeom>
          <a:noFill/>
          <a:ln/>
        </p:spPr>
        <p:txBody>
          <a:bodyPr wrap="square" lIns="0" tIns="0" rIns="0" bIns="0" rtlCol="0" anchor="ctr"/>
          <a:lstStyle/>
          <a:p>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a-</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LARM</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(not A-larm)</a:t>
            </a:r>
            <a:endParaRPr lang="en-US" sz="1500" dirty="0"/>
          </a:p>
        </p:txBody>
      </p:sp>
      <p:sp>
        <p:nvSpPr>
          <p:cNvPr id="9" name="gl_101"/>
          <p:cNvSpPr/>
          <p:nvPr/>
        </p:nvSpPr>
        <p:spPr>
          <a:xfrm>
            <a:off x="548640" y="1801368"/>
            <a:ext cx="7223760" cy="365760"/>
          </a:xfrm>
          <a:prstGeom prst="rect">
            <a:avLst/>
          </a:prstGeom>
          <a:noFill/>
          <a:ln/>
        </p:spPr>
        <p:txBody>
          <a:bodyPr wrap="square" lIns="0" tIns="0" rIns="0" bIns="0" rtlCol="0" anchor="ctr"/>
          <a:lstStyle/>
          <a:p>
            <a:pPr indent="0" marL="0">
              <a:buNone/>
            </a:pP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BREAK</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-fast (not brek-FAST)</a:t>
            </a:r>
            <a:endParaRPr lang="en-US" sz="1500" dirty="0"/>
          </a:p>
        </p:txBody>
      </p:sp>
      <p:sp>
        <p:nvSpPr>
          <p:cNvPr id="10" name="pq_102"/>
          <p:cNvSpPr/>
          <p:nvPr/>
        </p:nvSpPr>
        <p:spPr>
          <a:xfrm>
            <a:off x="365760" y="2642616"/>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presentation – where's the monster?</a:t>
            </a:r>
            <a:endParaRPr lang="en-US" sz="1300" dirty="0"/>
          </a:p>
        </p:txBody>
      </p:sp>
      <p:sp>
        <p:nvSpPr>
          <p:cNvPr id="11" name="R1_pa103"/>
          <p:cNvSpPr/>
          <p:nvPr/>
        </p:nvSpPr>
        <p:spPr>
          <a:xfrm>
            <a:off x="6126480" y="2642616"/>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pre-sen-TA-tion (4 claps)</a:t>
            </a:r>
            <a:endParaRPr lang="en-US" sz="1300" dirty="0"/>
          </a:p>
        </p:txBody>
      </p:sp>
      <p:sp>
        <p:nvSpPr>
          <p:cNvPr id="12" name="pq_104"/>
          <p:cNvSpPr/>
          <p:nvPr/>
        </p:nvSpPr>
        <p:spPr>
          <a:xfrm>
            <a:off x="365760" y="3099816"/>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downstairs</a:t>
            </a:r>
            <a:endParaRPr lang="en-US" sz="1300" dirty="0"/>
          </a:p>
        </p:txBody>
      </p:sp>
      <p:sp>
        <p:nvSpPr>
          <p:cNvPr id="13" name="R2_pa105"/>
          <p:cNvSpPr/>
          <p:nvPr/>
        </p:nvSpPr>
        <p:spPr>
          <a:xfrm>
            <a:off x="6126480" y="3099816"/>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down-STAIRS</a:t>
            </a:r>
            <a:endParaRPr lang="en-US" sz="1300" dirty="0"/>
          </a:p>
        </p:txBody>
      </p:sp>
      <p:sp>
        <p:nvSpPr>
          <p:cNvPr id="14" name="pq_106"/>
          <p:cNvSpPr/>
          <p:nvPr/>
        </p:nvSpPr>
        <p:spPr>
          <a:xfrm>
            <a:off x="365760" y="3557016"/>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chocolate</a:t>
            </a:r>
            <a:endParaRPr lang="en-US" sz="1300" dirty="0"/>
          </a:p>
        </p:txBody>
      </p:sp>
      <p:sp>
        <p:nvSpPr>
          <p:cNvPr id="15" name="R3_pa107"/>
          <p:cNvSpPr/>
          <p:nvPr/>
        </p:nvSpPr>
        <p:spPr>
          <a:xfrm>
            <a:off x="6126480" y="3557016"/>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CHOK-lit (only 2!)</a:t>
            </a:r>
            <a:endParaRPr lang="en-US" sz="1300" dirty="0"/>
          </a:p>
        </p:txBody>
      </p:sp>
      <p:sp>
        <p:nvSpPr>
          <p:cNvPr id="16" name="pq_108"/>
          <p:cNvSpPr/>
          <p:nvPr/>
        </p:nvSpPr>
        <p:spPr>
          <a:xfrm>
            <a:off x="365760" y="4014216"/>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It's 8 o'clock. Italian: 'Sono le otto' → 'They are 8' ✗</a:t>
            </a:r>
            <a:endParaRPr lang="en-US" sz="1300" dirty="0"/>
          </a:p>
        </p:txBody>
      </p:sp>
      <p:sp>
        <p:nvSpPr>
          <p:cNvPr id="17" name="R4_pa109"/>
          <p:cNvSpPr/>
          <p:nvPr/>
        </p:nvSpPr>
        <p:spPr>
          <a:xfrm>
            <a:off x="6126480" y="4014216"/>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It's eight o'clock ✓</a:t>
            </a:r>
            <a:endParaRPr lang="en-US" sz="1300" dirty="0"/>
          </a:p>
        </p:txBody>
      </p:sp>
      <p:sp>
        <p:nvSpPr>
          <p:cNvPr id="18" name="bk_110"/>
          <p:cNvSpPr/>
          <p:nvPr/>
        </p:nvSpPr>
        <p:spPr>
          <a:xfrm>
            <a:off x="228600" y="4681728"/>
            <a:ext cx="396849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Pronunciation · word stress + It's … o'clock</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1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SPEAK</a:t>
            </a:r>
            <a:endParaRPr lang="en-US" sz="1600" dirty="0"/>
          </a:p>
        </p:txBody>
      </p:sp>
      <p:sp>
        <p:nvSpPr>
          <p:cNvPr id="4" name="bm_112"/>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Sleep or get up?</a:t>
            </a:r>
            <a:endParaRPr lang="en-US" sz="2700" dirty="0"/>
          </a:p>
        </p:txBody>
      </p:sp>
      <p:sp>
        <p:nvSpPr>
          <p:cNvPr id="5" name="in_113"/>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100" b="1" dirty="0">
                <a:solidFill>
                  <a:srgbClr val="1E2A5A"/>
                </a:solidFill>
                <a:latin typeface="Arial Rounded MT Bold" pitchFamily="34" charset="0"/>
                <a:ea typeface="Arial Rounded MT Bold" pitchFamily="34" charset="-122"/>
                <a:cs typeface="Arial Rounded MT Bold" pitchFamily="34" charset="-120"/>
              </a:rPr>
              <a:t>Read the question. Tell a classmate your answer and say why.</a:t>
            </a:r>
            <a:endParaRPr lang="en-US" sz="1100" dirty="0"/>
          </a:p>
          <a:p>
            <a:pPr indent="0" marL="0">
              <a:buNone/>
            </a:pPr>
            <a:r>
              <a:rPr lang="en-US" sz="950" i="1" dirty="0">
                <a:solidFill>
                  <a:srgbClr val="2F9BFF"/>
                </a:solidFill>
                <a:latin typeface="Arial Rounded MT Bold" pitchFamily="34" charset="0"/>
                <a:ea typeface="Arial Rounded MT Bold" pitchFamily="34" charset="-122"/>
                <a:cs typeface="Arial Rounded MT Bold" pitchFamily="34" charset="-120"/>
              </a:rPr>
              <a:t>Leggi la domanda. Di' la tua risposta a un compagno e spiega perché.</a:t>
            </a:r>
            <a:endParaRPr lang="en-US" sz="1100" dirty="0"/>
          </a:p>
        </p:txBody>
      </p:sp>
      <p:sp>
        <p:nvSpPr>
          <p:cNvPr id="6" name="mode_114"/>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3 MIN</a:t>
            </a:r>
            <a:endParaRPr lang="en-US" sz="1000" dirty="0"/>
          </a:p>
        </p:txBody>
      </p:sp>
      <p:sp>
        <p:nvSpPr>
          <p:cNvPr id="7" name="pf_115"/>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16" descr="/home/claude/movers/img/crop/u2-p26-question.jpg">    </p:cNvPr>
          <p:cNvPicPr>
            <a:picLocks noChangeAspect="1"/>
          </p:cNvPicPr>
          <p:nvPr/>
        </p:nvPicPr>
        <p:blipFill>
          <a:blip r:embed="rId2"/>
          <a:stretch>
            <a:fillRect/>
          </a:stretch>
        </p:blipFill>
        <p:spPr>
          <a:xfrm>
            <a:off x="365760" y="1844861"/>
            <a:ext cx="5120640" cy="2208157"/>
          </a:xfrm>
          <a:prstGeom prst="rect">
            <a:avLst/>
          </a:prstGeom>
        </p:spPr>
      </p:pic>
      <p:sp>
        <p:nvSpPr>
          <p:cNvPr id="9" name="q_117"/>
          <p:cNvSpPr/>
          <p:nvPr/>
        </p:nvSpPr>
        <p:spPr>
          <a:xfrm>
            <a:off x="5760720" y="132588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Model: How often do you want to sleep and not get up for school?</a:t>
            </a:r>
            <a:endParaRPr lang="en-US" sz="1250" dirty="0"/>
          </a:p>
        </p:txBody>
      </p:sp>
      <p:sp>
        <p:nvSpPr>
          <p:cNvPr id="10" name="R1_a118"/>
          <p:cNvSpPr/>
          <p:nvPr/>
        </p:nvSpPr>
        <p:spPr>
          <a:xfrm>
            <a:off x="5989320" y="177759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I often do! I don't like mornings.</a:t>
            </a:r>
            <a:endParaRPr lang="en-US" sz="1250" dirty="0"/>
          </a:p>
        </p:txBody>
      </p:sp>
      <p:sp>
        <p:nvSpPr>
          <p:cNvPr id="11" name="q_119"/>
          <p:cNvSpPr/>
          <p:nvPr/>
        </p:nvSpPr>
        <p:spPr>
          <a:xfrm>
            <a:off x="5760720" y="219456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Does Alex sometimes turn off his alarm?</a:t>
            </a:r>
            <a:endParaRPr lang="en-US" sz="1250" dirty="0"/>
          </a:p>
        </p:txBody>
      </p:sp>
      <p:sp>
        <p:nvSpPr>
          <p:cNvPr id="12" name="R2_a120"/>
          <p:cNvSpPr/>
          <p:nvPr/>
        </p:nvSpPr>
        <p:spPr>
          <a:xfrm>
            <a:off x="5989320" y="264627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Yes – 'I sometimes do that.'</a:t>
            </a:r>
            <a:endParaRPr lang="en-US" sz="1250" dirty="0"/>
          </a:p>
        </p:txBody>
      </p:sp>
      <p:sp>
        <p:nvSpPr>
          <p:cNvPr id="13" name="bk_121"/>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p.26 · ex.1</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2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23"/>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A bad, bad Monday (1)</a:t>
            </a:r>
            <a:endParaRPr lang="en-US" sz="2400" dirty="0"/>
          </a:p>
        </p:txBody>
      </p:sp>
      <p:sp>
        <p:nvSpPr>
          <p:cNvPr id="5" name="in_124"/>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and read. What's the time?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e leggi. Che ore sono?</a:t>
            </a:r>
            <a:endParaRPr lang="en-US" sz="1400" dirty="0"/>
          </a:p>
        </p:txBody>
      </p:sp>
      <p:sp>
        <p:nvSpPr>
          <p:cNvPr id="6" name="mode_125"/>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READ</a:t>
            </a:r>
            <a:endParaRPr lang="en-US" sz="1000" dirty="0"/>
          </a:p>
        </p:txBody>
      </p:sp>
      <p:sp>
        <p:nvSpPr>
          <p:cNvPr id="7" name="pf_126"/>
          <p:cNvSpPr/>
          <p:nvPr/>
        </p:nvSpPr>
        <p:spPr>
          <a:xfrm>
            <a:off x="310896" y="1271016"/>
            <a:ext cx="852220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27" descr="/home/claude/movers/img/crop/u2-p26-story1.jpg">    </p:cNvPr>
          <p:cNvPicPr>
            <a:picLocks noChangeAspect="1"/>
          </p:cNvPicPr>
          <p:nvPr/>
        </p:nvPicPr>
        <p:blipFill>
          <a:blip r:embed="rId2"/>
          <a:stretch>
            <a:fillRect/>
          </a:stretch>
        </p:blipFill>
        <p:spPr>
          <a:xfrm>
            <a:off x="365760" y="1329964"/>
            <a:ext cx="8412480" cy="3237953"/>
          </a:xfrm>
          <a:prstGeom prst="rect">
            <a:avLst/>
          </a:prstGeom>
        </p:spPr>
      </p:pic>
      <p:sp>
        <p:nvSpPr>
          <p:cNvPr id="9" name="bk_128"/>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p.26 · 🎧 1.34</a:t>
            </a:r>
            <a:endParaRPr lang="en-US" sz="1100" dirty="0"/>
          </a:p>
        </p:txBody>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2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30"/>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A bad, bad Monday (2)</a:t>
            </a:r>
            <a:endParaRPr lang="en-US" sz="2400" dirty="0"/>
          </a:p>
        </p:txBody>
      </p:sp>
      <p:sp>
        <p:nvSpPr>
          <p:cNvPr id="5" name="in_131"/>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Who's the woman? Why mustn't they be late?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Chi è la donna? Perché non devono fare tardi?</a:t>
            </a:r>
            <a:endParaRPr lang="en-US" sz="1400" dirty="0"/>
          </a:p>
        </p:txBody>
      </p:sp>
      <p:sp>
        <p:nvSpPr>
          <p:cNvPr id="6" name="pf_132"/>
          <p:cNvSpPr/>
          <p:nvPr/>
        </p:nvSpPr>
        <p:spPr>
          <a:xfrm>
            <a:off x="310896" y="1271016"/>
            <a:ext cx="852220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33" descr="/home/claude/movers/img/crop/u2-p26-story2.jpg">    </p:cNvPr>
          <p:cNvPicPr>
            <a:picLocks noChangeAspect="1"/>
          </p:cNvPicPr>
          <p:nvPr/>
        </p:nvPicPr>
        <p:blipFill>
          <a:blip r:embed="rId2"/>
          <a:stretch>
            <a:fillRect/>
          </a:stretch>
        </p:blipFill>
        <p:spPr>
          <a:xfrm>
            <a:off x="365760" y="1539114"/>
            <a:ext cx="8412480" cy="2819653"/>
          </a:xfrm>
          <a:prstGeom prst="rect">
            <a:avLst/>
          </a:prstGeom>
        </p:spPr>
      </p:pic>
      <p:sp>
        <p:nvSpPr>
          <p:cNvPr id="8" name="bk_134"/>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p.26 · 🎧 1.34</a:t>
            </a:r>
            <a:endParaRPr lang="en-US" sz="11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3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36"/>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A bad, bad Monday (3)</a:t>
            </a:r>
            <a:endParaRPr lang="en-US" sz="2400" dirty="0"/>
          </a:p>
        </p:txBody>
      </p:sp>
      <p:sp>
        <p:nvSpPr>
          <p:cNvPr id="5" name="in_137"/>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Why can't Alex use the bathroom?</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Perché Alex non può usare il bagno?</a:t>
            </a:r>
            <a:endParaRPr lang="en-US" sz="1400" dirty="0"/>
          </a:p>
        </p:txBody>
      </p:sp>
      <p:sp>
        <p:nvSpPr>
          <p:cNvPr id="6" name="pf_138"/>
          <p:cNvSpPr/>
          <p:nvPr/>
        </p:nvSpPr>
        <p:spPr>
          <a:xfrm>
            <a:off x="310896" y="1271016"/>
            <a:ext cx="852220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39" descr="/home/claude/movers/img/crop/u2-p26-story3.jpg">    </p:cNvPr>
          <p:cNvPicPr>
            <a:picLocks noChangeAspect="1"/>
          </p:cNvPicPr>
          <p:nvPr/>
        </p:nvPicPr>
        <p:blipFill>
          <a:blip r:embed="rId2"/>
          <a:stretch>
            <a:fillRect/>
          </a:stretch>
        </p:blipFill>
        <p:spPr>
          <a:xfrm>
            <a:off x="365760" y="1415173"/>
            <a:ext cx="8412480" cy="3067534"/>
          </a:xfrm>
          <a:prstGeom prst="rect">
            <a:avLst/>
          </a:prstGeom>
        </p:spPr>
      </p:pic>
      <p:sp>
        <p:nvSpPr>
          <p:cNvPr id="8" name="bk_140"/>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p.26 · 🎧 1.34</a:t>
            </a:r>
            <a:endParaRPr lang="en-US" sz="11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4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42"/>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A bad, bad Monday (4)</a:t>
            </a:r>
            <a:endParaRPr lang="en-US" sz="2400" dirty="0"/>
          </a:p>
        </p:txBody>
      </p:sp>
      <p:sp>
        <p:nvSpPr>
          <p:cNvPr id="5" name="in_143"/>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What does Mum give Alex for breakfast?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Cosa dà la mamma ad Alex per colazione?</a:t>
            </a:r>
            <a:endParaRPr lang="en-US" sz="1400" dirty="0"/>
          </a:p>
        </p:txBody>
      </p:sp>
      <p:sp>
        <p:nvSpPr>
          <p:cNvPr id="6" name="pf_144"/>
          <p:cNvSpPr/>
          <p:nvPr/>
        </p:nvSpPr>
        <p:spPr>
          <a:xfrm>
            <a:off x="310896" y="1271016"/>
            <a:ext cx="852220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45" descr="/home/claude/movers/img/crop/u2-p27-story4.jpg">    </p:cNvPr>
          <p:cNvPicPr>
            <a:picLocks noChangeAspect="1"/>
          </p:cNvPicPr>
          <p:nvPr/>
        </p:nvPicPr>
        <p:blipFill>
          <a:blip r:embed="rId2"/>
          <a:stretch>
            <a:fillRect/>
          </a:stretch>
        </p:blipFill>
        <p:spPr>
          <a:xfrm>
            <a:off x="590194" y="1325880"/>
            <a:ext cx="7963612" cy="3246120"/>
          </a:xfrm>
          <a:prstGeom prst="rect">
            <a:avLst/>
          </a:prstGeom>
        </p:spPr>
      </p:pic>
      <p:sp>
        <p:nvSpPr>
          <p:cNvPr id="8" name="bk_146"/>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p.27 · 🎧 1.34</a:t>
            </a:r>
            <a:endParaRPr lang="en-US" sz="110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47"/>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STORY</a:t>
            </a:r>
            <a:endParaRPr lang="en-US" sz="1600" dirty="0"/>
          </a:p>
        </p:txBody>
      </p:sp>
      <p:sp>
        <p:nvSpPr>
          <p:cNvPr id="4" name="bm_148"/>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D23F"/>
                </a:solidFill>
                <a:latin typeface="Arial Black" pitchFamily="34" charset="0"/>
                <a:ea typeface="Arial Black" pitchFamily="34" charset="-122"/>
                <a:cs typeface="Arial Black" pitchFamily="34" charset="-120"/>
              </a:rPr>
              <a:t>A bad, bad Monday (5)</a:t>
            </a:r>
            <a:endParaRPr lang="en-US" sz="2400" dirty="0"/>
          </a:p>
        </p:txBody>
      </p:sp>
      <p:sp>
        <p:nvSpPr>
          <p:cNvPr id="5" name="in_149"/>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100" b="1" dirty="0">
                <a:solidFill>
                  <a:srgbClr val="1E2A5A"/>
                </a:solidFill>
                <a:latin typeface="Arial Rounded MT Bold" pitchFamily="34" charset="0"/>
                <a:ea typeface="Arial Rounded MT Bold" pitchFamily="34" charset="-122"/>
                <a:cs typeface="Arial Rounded MT Bold" pitchFamily="34" charset="-120"/>
              </a:rPr>
              <a:t>Is the presentation OK? What does Alex see in the mirror?</a:t>
            </a:r>
            <a:endParaRPr lang="en-US" sz="1100" dirty="0"/>
          </a:p>
          <a:p>
            <a:pPr indent="0" marL="0">
              <a:buNone/>
            </a:pPr>
            <a:r>
              <a:rPr lang="en-US" sz="950" i="1" dirty="0">
                <a:solidFill>
                  <a:srgbClr val="2F9BFF"/>
                </a:solidFill>
                <a:latin typeface="Arial Rounded MT Bold" pitchFamily="34" charset="0"/>
                <a:ea typeface="Arial Rounded MT Bold" pitchFamily="34" charset="-122"/>
                <a:cs typeface="Arial Rounded MT Bold" pitchFamily="34" charset="-120"/>
              </a:rPr>
              <a:t>La presentazione va bene? Cosa vede Alex nello specchio?</a:t>
            </a:r>
            <a:endParaRPr lang="en-US" sz="1100" dirty="0"/>
          </a:p>
        </p:txBody>
      </p:sp>
      <p:sp>
        <p:nvSpPr>
          <p:cNvPr id="6" name="pf_150"/>
          <p:cNvSpPr/>
          <p:nvPr/>
        </p:nvSpPr>
        <p:spPr>
          <a:xfrm>
            <a:off x="310896" y="1271016"/>
            <a:ext cx="852220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51" descr="/home/claude/movers/img/crop/u2-p27-story5.jpg">    </p:cNvPr>
          <p:cNvPicPr>
            <a:picLocks noChangeAspect="1"/>
          </p:cNvPicPr>
          <p:nvPr/>
        </p:nvPicPr>
        <p:blipFill>
          <a:blip r:embed="rId2"/>
          <a:stretch>
            <a:fillRect/>
          </a:stretch>
        </p:blipFill>
        <p:spPr>
          <a:xfrm>
            <a:off x="1962469" y="1325880"/>
            <a:ext cx="5219061" cy="3246120"/>
          </a:xfrm>
          <a:prstGeom prst="rect">
            <a:avLst/>
          </a:prstGeom>
        </p:spPr>
      </p:pic>
      <p:sp>
        <p:nvSpPr>
          <p:cNvPr id="8" name="bk_152"/>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p.27 · 🎧 1.34</a:t>
            </a:r>
            <a:endParaRPr lang="en-US" sz="1100" dirty="0"/>
          </a:p>
        </p:txBody>
      </p:sp>
    </p:spTree>
  </p:cSld>
  <p:clrMapOvr>
    <a:masterClrMapping/>
  </p:clrMapOvr>
  <p:transition spd="med">
    <p:push dir="l"/>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5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154"/>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8A3D"/>
                </a:solidFill>
                <a:latin typeface="Arial Black" pitchFamily="34" charset="0"/>
                <a:ea typeface="Arial Black" pitchFamily="34" charset="-122"/>
                <a:cs typeface="Arial Black" pitchFamily="34" charset="-120"/>
              </a:rPr>
              <a:t>Story order race!</a:t>
            </a:r>
            <a:endParaRPr lang="en-US" sz="2700" dirty="0"/>
          </a:p>
        </p:txBody>
      </p:sp>
      <p:sp>
        <p:nvSpPr>
          <p:cNvPr id="5" name="in_155"/>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200" b="1" dirty="0">
                <a:solidFill>
                  <a:srgbClr val="1E2A5A"/>
                </a:solidFill>
                <a:latin typeface="Arial Rounded MT Bold" pitchFamily="34" charset="0"/>
                <a:ea typeface="Arial Rounded MT Bold" pitchFamily="34" charset="-122"/>
                <a:cs typeface="Arial Rounded MT Bold" pitchFamily="34" charset="-120"/>
              </a:rPr>
              <a:t>Teams: put the story in order 1–6! Then check.</a:t>
            </a:r>
            <a:endParaRPr lang="en-US" sz="1200" dirty="0"/>
          </a:p>
          <a:p>
            <a:pPr indent="0" marL="0">
              <a:buNone/>
            </a:pPr>
            <a:r>
              <a:rPr lang="en-US" sz="1000" i="1" dirty="0">
                <a:solidFill>
                  <a:srgbClr val="2F9BFF"/>
                </a:solidFill>
                <a:latin typeface="Arial Rounded MT Bold" pitchFamily="34" charset="0"/>
                <a:ea typeface="Arial Rounded MT Bold" pitchFamily="34" charset="-122"/>
                <a:cs typeface="Arial Rounded MT Bold" pitchFamily="34" charset="-120"/>
              </a:rPr>
              <a:t>Squadre: mettete la storia in ordine 1–6! Poi controllate.</a:t>
            </a:r>
            <a:endParaRPr lang="en-US" sz="1200" dirty="0"/>
          </a:p>
        </p:txBody>
      </p:sp>
      <p:sp>
        <p:nvSpPr>
          <p:cNvPr id="6" name="mode_156"/>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60 SEC</a:t>
            </a:r>
            <a:endParaRPr lang="en-US" sz="1000" dirty="0"/>
          </a:p>
        </p:txBody>
      </p:sp>
      <p:sp>
        <p:nvSpPr>
          <p:cNvPr id="7" name="gb_157"/>
          <p:cNvSpPr/>
          <p:nvPr/>
        </p:nvSpPr>
        <p:spPr>
          <a:xfrm>
            <a:off x="320040" y="1280160"/>
            <a:ext cx="8503920" cy="841248"/>
          </a:xfrm>
          <a:prstGeom prst="roundRect">
            <a:avLst>
              <a:gd name="adj" fmla="val 13043"/>
            </a:avLst>
          </a:prstGeom>
          <a:solidFill>
            <a:srgbClr val="FFF1E0"/>
          </a:solidFill>
          <a:ln w="38100">
            <a:solidFill>
              <a:srgbClr val="FF8A3D"/>
            </a:solidFill>
            <a:prstDash val="solid"/>
          </a:ln>
        </p:spPr>
      </p:sp>
      <p:sp>
        <p:nvSpPr>
          <p:cNvPr id="8" name="gl_158"/>
          <p:cNvSpPr/>
          <p:nvPr/>
        </p:nvSpPr>
        <p:spPr>
          <a:xfrm>
            <a:off x="548640" y="1417320"/>
            <a:ext cx="7223760" cy="365760"/>
          </a:xfrm>
          <a:prstGeom prst="rect">
            <a:avLst/>
          </a:prstGeom>
          <a:noFill/>
          <a:ln/>
        </p:spPr>
        <p:txBody>
          <a:bodyPr wrap="square" lIns="0" tIns="0" rIns="0" bIns="0" rtlCol="0" anchor="ctr"/>
          <a:lstStyle/>
          <a:p>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60 seconds</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 write the numbers!</a:t>
            </a:r>
            <a:endParaRPr lang="en-US" sz="1500" dirty="0"/>
          </a:p>
        </p:txBody>
      </p:sp>
      <p:sp>
        <p:nvSpPr>
          <p:cNvPr id="9" name="pq_159"/>
          <p:cNvSpPr/>
          <p:nvPr/>
        </p:nvSpPr>
        <p:spPr>
          <a:xfrm>
            <a:off x="365760" y="2258568"/>
            <a:ext cx="5669280" cy="393192"/>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We run to the car. All the lights are red.</a:t>
            </a:r>
            <a:endParaRPr lang="en-US" sz="1300" dirty="0"/>
          </a:p>
        </p:txBody>
      </p:sp>
      <p:sp>
        <p:nvSpPr>
          <p:cNvPr id="10" name="R1_pa160"/>
          <p:cNvSpPr/>
          <p:nvPr/>
        </p:nvSpPr>
        <p:spPr>
          <a:xfrm>
            <a:off x="6126480" y="2258568"/>
            <a:ext cx="2743200" cy="393192"/>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5</a:t>
            </a:r>
            <a:endParaRPr lang="en-US" sz="1300" dirty="0"/>
          </a:p>
        </p:txBody>
      </p:sp>
      <p:sp>
        <p:nvSpPr>
          <p:cNvPr id="11" name="pq_161"/>
          <p:cNvSpPr/>
          <p:nvPr/>
        </p:nvSpPr>
        <p:spPr>
          <a:xfrm>
            <a:off x="365760" y="2651760"/>
            <a:ext cx="5669280" cy="393192"/>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Alex turns off his alarm and goes to sleep.</a:t>
            </a:r>
            <a:endParaRPr lang="en-US" sz="1300" dirty="0"/>
          </a:p>
        </p:txBody>
      </p:sp>
      <p:sp>
        <p:nvSpPr>
          <p:cNvPr id="12" name="R2_pa162"/>
          <p:cNvSpPr/>
          <p:nvPr/>
        </p:nvSpPr>
        <p:spPr>
          <a:xfrm>
            <a:off x="6126480" y="2651760"/>
            <a:ext cx="2743200" cy="393192"/>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1</a:t>
            </a:r>
            <a:endParaRPr lang="en-US" sz="1300" dirty="0"/>
          </a:p>
        </p:txBody>
      </p:sp>
      <p:sp>
        <p:nvSpPr>
          <p:cNvPr id="13" name="pq_163"/>
          <p:cNvSpPr/>
          <p:nvPr/>
        </p:nvSpPr>
        <p:spPr>
          <a:xfrm>
            <a:off x="365760" y="3044952"/>
            <a:ext cx="5669280" cy="393192"/>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Alex looks in the mirror. Oh no!</a:t>
            </a:r>
            <a:endParaRPr lang="en-US" sz="1300" dirty="0"/>
          </a:p>
        </p:txBody>
      </p:sp>
      <p:sp>
        <p:nvSpPr>
          <p:cNvPr id="14" name="R3_pa164"/>
          <p:cNvSpPr/>
          <p:nvPr/>
        </p:nvSpPr>
        <p:spPr>
          <a:xfrm>
            <a:off x="6126480" y="3044952"/>
            <a:ext cx="2743200" cy="393192"/>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6</a:t>
            </a:r>
            <a:endParaRPr lang="en-US" sz="1300" dirty="0"/>
          </a:p>
        </p:txBody>
      </p:sp>
      <p:sp>
        <p:nvSpPr>
          <p:cNvPr id="15" name="pq_165"/>
          <p:cNvSpPr/>
          <p:nvPr/>
        </p:nvSpPr>
        <p:spPr>
          <a:xfrm>
            <a:off x="365760" y="3438144"/>
            <a:ext cx="5669280" cy="393192"/>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His big sister is using the bathroom.</a:t>
            </a:r>
            <a:endParaRPr lang="en-US" sz="1300" dirty="0"/>
          </a:p>
        </p:txBody>
      </p:sp>
      <p:sp>
        <p:nvSpPr>
          <p:cNvPr id="16" name="R4_pa166"/>
          <p:cNvSpPr/>
          <p:nvPr/>
        </p:nvSpPr>
        <p:spPr>
          <a:xfrm>
            <a:off x="6126480" y="3438144"/>
            <a:ext cx="2743200" cy="393192"/>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3</a:t>
            </a:r>
            <a:endParaRPr lang="en-US" sz="1300" dirty="0"/>
          </a:p>
        </p:txBody>
      </p:sp>
      <p:sp>
        <p:nvSpPr>
          <p:cNvPr id="17" name="pq_167"/>
          <p:cNvSpPr/>
          <p:nvPr/>
        </p:nvSpPr>
        <p:spPr>
          <a:xfrm>
            <a:off x="365760" y="3831336"/>
            <a:ext cx="5669280" cy="393192"/>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5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Mum gives him chocolate milk and fruit.</a:t>
            </a:r>
            <a:endParaRPr lang="en-US" sz="1300" dirty="0"/>
          </a:p>
        </p:txBody>
      </p:sp>
      <p:sp>
        <p:nvSpPr>
          <p:cNvPr id="18" name="R5_pa168"/>
          <p:cNvSpPr/>
          <p:nvPr/>
        </p:nvSpPr>
        <p:spPr>
          <a:xfrm>
            <a:off x="6126480" y="3831336"/>
            <a:ext cx="2743200" cy="393192"/>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4</a:t>
            </a:r>
            <a:endParaRPr lang="en-US" sz="1300" dirty="0"/>
          </a:p>
        </p:txBody>
      </p:sp>
      <p:sp>
        <p:nvSpPr>
          <p:cNvPr id="19" name="pq_169"/>
          <p:cNvSpPr/>
          <p:nvPr/>
        </p:nvSpPr>
        <p:spPr>
          <a:xfrm>
            <a:off x="365760" y="4224528"/>
            <a:ext cx="5669280" cy="393192"/>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6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Mum is shouting: 'It's eight o'clock!'</a:t>
            </a:r>
            <a:endParaRPr lang="en-US" sz="1300" dirty="0"/>
          </a:p>
        </p:txBody>
      </p:sp>
      <p:sp>
        <p:nvSpPr>
          <p:cNvPr id="20" name="R6_pa170"/>
          <p:cNvSpPr/>
          <p:nvPr/>
        </p:nvSpPr>
        <p:spPr>
          <a:xfrm>
            <a:off x="6126480" y="4224528"/>
            <a:ext cx="2743200" cy="393192"/>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2</a:t>
            </a:r>
            <a:endParaRPr lang="en-US" sz="1300" dirty="0"/>
          </a:p>
        </p:txBody>
      </p:sp>
      <p:sp>
        <p:nvSpPr>
          <p:cNvPr id="21" name="bk_171"/>
          <p:cNvSpPr/>
          <p:nvPr/>
        </p:nvSpPr>
        <p:spPr>
          <a:xfrm>
            <a:off x="228600" y="4681728"/>
            <a:ext cx="334670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pp.26–27 · story review</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7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173"/>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Alex's morning</a:t>
            </a:r>
            <a:endParaRPr lang="en-US" sz="2700" dirty="0"/>
          </a:p>
        </p:txBody>
      </p:sp>
      <p:sp>
        <p:nvSpPr>
          <p:cNvPr id="5" name="in_17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and act like Alex! Quick – you're late!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e fai come Alex! Veloce – sei in ritardo!</a:t>
            </a:r>
            <a:endParaRPr lang="en-US" sz="1400" dirty="0"/>
          </a:p>
        </p:txBody>
      </p:sp>
      <p:sp>
        <p:nvSpPr>
          <p:cNvPr id="6" name="mode_175"/>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MOVE · ⏱ 4 MIN</a:t>
            </a:r>
            <a:endParaRPr lang="en-US" sz="1000" dirty="0"/>
          </a:p>
        </p:txBody>
      </p:sp>
      <p:sp>
        <p:nvSpPr>
          <p:cNvPr id="7" name="cd_176"/>
          <p:cNvSpPr/>
          <p:nvPr/>
        </p:nvSpPr>
        <p:spPr>
          <a:xfrm>
            <a:off x="274320" y="13258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ci_177" descr="/home/claude/movers/img/e-u2clock.png">    </p:cNvPr>
          <p:cNvPicPr>
            <a:picLocks noChangeAspect="1"/>
          </p:cNvPicPr>
          <p:nvPr/>
        </p:nvPicPr>
        <p:blipFill>
          <a:blip r:embed="rId2"/>
          <a:stretch>
            <a:fillRect/>
          </a:stretch>
        </p:blipFill>
        <p:spPr>
          <a:xfrm>
            <a:off x="347472" y="1399032"/>
            <a:ext cx="905256" cy="905256"/>
          </a:xfrm>
          <a:prstGeom prst="rect">
            <a:avLst/>
          </a:prstGeom>
        </p:spPr>
      </p:pic>
      <p:sp>
        <p:nvSpPr>
          <p:cNvPr id="9" name="R1_a178"/>
          <p:cNvSpPr/>
          <p:nvPr/>
        </p:nvSpPr>
        <p:spPr>
          <a:xfrm>
            <a:off x="1399032" y="14630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Turn off the alarm! Sleep!</a:t>
            </a:r>
            <a:endParaRPr lang="en-US" sz="1250" dirty="0"/>
          </a:p>
        </p:txBody>
      </p:sp>
      <p:sp>
        <p:nvSpPr>
          <p:cNvPr id="10" name="cd_179"/>
          <p:cNvSpPr/>
          <p:nvPr/>
        </p:nvSpPr>
        <p:spPr>
          <a:xfrm>
            <a:off x="2423160" y="13258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180" descr="/home/claude/movers/img/fc/wake-up.png">    </p:cNvPr>
          <p:cNvPicPr>
            <a:picLocks noChangeAspect="1"/>
          </p:cNvPicPr>
          <p:nvPr/>
        </p:nvPicPr>
        <p:blipFill>
          <a:blip r:embed="rId3"/>
          <a:stretch>
            <a:fillRect/>
          </a:stretch>
        </p:blipFill>
        <p:spPr>
          <a:xfrm>
            <a:off x="2496312" y="1399032"/>
            <a:ext cx="905256" cy="905256"/>
          </a:xfrm>
          <a:prstGeom prst="rect">
            <a:avLst/>
          </a:prstGeom>
        </p:spPr>
      </p:pic>
      <p:sp>
        <p:nvSpPr>
          <p:cNvPr id="12" name="R2_a181"/>
          <p:cNvSpPr/>
          <p:nvPr/>
        </p:nvSpPr>
        <p:spPr>
          <a:xfrm>
            <a:off x="3547872" y="14630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Mum shouts! Wake up!</a:t>
            </a:r>
            <a:endParaRPr lang="en-US" sz="1250" dirty="0"/>
          </a:p>
        </p:txBody>
      </p:sp>
      <p:sp>
        <p:nvSpPr>
          <p:cNvPr id="13" name="cd_182"/>
          <p:cNvSpPr/>
          <p:nvPr/>
        </p:nvSpPr>
        <p:spPr>
          <a:xfrm>
            <a:off x="4572000" y="13258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183" descr="/home/claude/movers/img/fc/get-dressed.png">    </p:cNvPr>
          <p:cNvPicPr>
            <a:picLocks noChangeAspect="1"/>
          </p:cNvPicPr>
          <p:nvPr/>
        </p:nvPicPr>
        <p:blipFill>
          <a:blip r:embed="rId4"/>
          <a:stretch>
            <a:fillRect/>
          </a:stretch>
        </p:blipFill>
        <p:spPr>
          <a:xfrm>
            <a:off x="4645152" y="1399032"/>
            <a:ext cx="905256" cy="905256"/>
          </a:xfrm>
          <a:prstGeom prst="rect">
            <a:avLst/>
          </a:prstGeom>
        </p:spPr>
      </p:pic>
      <p:sp>
        <p:nvSpPr>
          <p:cNvPr id="15" name="R3_a184"/>
          <p:cNvSpPr/>
          <p:nvPr/>
        </p:nvSpPr>
        <p:spPr>
          <a:xfrm>
            <a:off x="5696712" y="14630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Jump out of bed! Get dressed!</a:t>
            </a:r>
            <a:endParaRPr lang="en-US" sz="1250" dirty="0"/>
          </a:p>
        </p:txBody>
      </p:sp>
      <p:sp>
        <p:nvSpPr>
          <p:cNvPr id="16" name="cd_185"/>
          <p:cNvSpPr/>
          <p:nvPr/>
        </p:nvSpPr>
        <p:spPr>
          <a:xfrm>
            <a:off x="6720840" y="13258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186" descr="/home/claude/movers/img/fc/have-a-shower.png">    </p:cNvPr>
          <p:cNvPicPr>
            <a:picLocks noChangeAspect="1"/>
          </p:cNvPicPr>
          <p:nvPr/>
        </p:nvPicPr>
        <p:blipFill>
          <a:blip r:embed="rId5"/>
          <a:stretch>
            <a:fillRect/>
          </a:stretch>
        </p:blipFill>
        <p:spPr>
          <a:xfrm>
            <a:off x="6793992" y="1399032"/>
            <a:ext cx="905256" cy="905256"/>
          </a:xfrm>
          <a:prstGeom prst="rect">
            <a:avLst/>
          </a:prstGeom>
        </p:spPr>
      </p:pic>
      <p:sp>
        <p:nvSpPr>
          <p:cNvPr id="18" name="R4_a187"/>
          <p:cNvSpPr/>
          <p:nvPr/>
        </p:nvSpPr>
        <p:spPr>
          <a:xfrm>
            <a:off x="7845552" y="14630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Knock on the door! Knock!</a:t>
            </a:r>
            <a:endParaRPr lang="en-US" sz="1250" dirty="0"/>
          </a:p>
        </p:txBody>
      </p:sp>
      <p:sp>
        <p:nvSpPr>
          <p:cNvPr id="19" name="cd_188"/>
          <p:cNvSpPr/>
          <p:nvPr/>
        </p:nvSpPr>
        <p:spPr>
          <a:xfrm>
            <a:off x="274320" y="29260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189" descr="/home/claude/movers/img/fc/have-breakfast.png">    </p:cNvPr>
          <p:cNvPicPr>
            <a:picLocks noChangeAspect="1"/>
          </p:cNvPicPr>
          <p:nvPr/>
        </p:nvPicPr>
        <p:blipFill>
          <a:blip r:embed="rId6"/>
          <a:stretch>
            <a:fillRect/>
          </a:stretch>
        </p:blipFill>
        <p:spPr>
          <a:xfrm>
            <a:off x="347472" y="2999232"/>
            <a:ext cx="905256" cy="905256"/>
          </a:xfrm>
          <a:prstGeom prst="rect">
            <a:avLst/>
          </a:prstGeom>
        </p:spPr>
      </p:pic>
      <p:sp>
        <p:nvSpPr>
          <p:cNvPr id="21" name="R5_a190"/>
          <p:cNvSpPr/>
          <p:nvPr/>
        </p:nvSpPr>
        <p:spPr>
          <a:xfrm>
            <a:off x="1399032" y="30632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Drink your chocolate milk!</a:t>
            </a:r>
            <a:endParaRPr lang="en-US" sz="1250" dirty="0"/>
          </a:p>
        </p:txBody>
      </p:sp>
      <p:sp>
        <p:nvSpPr>
          <p:cNvPr id="22" name="cd_191"/>
          <p:cNvSpPr/>
          <p:nvPr/>
        </p:nvSpPr>
        <p:spPr>
          <a:xfrm>
            <a:off x="2423160" y="29260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192" descr="/home/claude/movers/img/e-u2lights.png">    </p:cNvPr>
          <p:cNvPicPr>
            <a:picLocks noChangeAspect="1"/>
          </p:cNvPicPr>
          <p:nvPr/>
        </p:nvPicPr>
        <p:blipFill>
          <a:blip r:embed="rId7"/>
          <a:stretch>
            <a:fillRect/>
          </a:stretch>
        </p:blipFill>
        <p:spPr>
          <a:xfrm>
            <a:off x="2496312" y="2999232"/>
            <a:ext cx="905256" cy="905256"/>
          </a:xfrm>
          <a:prstGeom prst="rect">
            <a:avLst/>
          </a:prstGeom>
        </p:spPr>
      </p:pic>
      <p:sp>
        <p:nvSpPr>
          <p:cNvPr id="24" name="R6_a193"/>
          <p:cNvSpPr/>
          <p:nvPr/>
        </p:nvSpPr>
        <p:spPr>
          <a:xfrm>
            <a:off x="3547872" y="30632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Drive the car… red light! Stop!</a:t>
            </a:r>
            <a:endParaRPr lang="en-US" sz="1250" dirty="0"/>
          </a:p>
        </p:txBody>
      </p:sp>
      <p:sp>
        <p:nvSpPr>
          <p:cNvPr id="25" name="cd_194"/>
          <p:cNvSpPr/>
          <p:nvPr/>
        </p:nvSpPr>
        <p:spPr>
          <a:xfrm>
            <a:off x="4572000" y="29260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6" name="ci_195" descr="/home/claude/movers/img/e-u2mirror.png">    </p:cNvPr>
          <p:cNvPicPr>
            <a:picLocks noChangeAspect="1"/>
          </p:cNvPicPr>
          <p:nvPr/>
        </p:nvPicPr>
        <p:blipFill>
          <a:blip r:embed="rId8"/>
          <a:stretch>
            <a:fillRect/>
          </a:stretch>
        </p:blipFill>
        <p:spPr>
          <a:xfrm>
            <a:off x="4645152" y="2999232"/>
            <a:ext cx="905256" cy="905256"/>
          </a:xfrm>
          <a:prstGeom prst="rect">
            <a:avLst/>
          </a:prstGeom>
        </p:spPr>
      </p:pic>
      <p:sp>
        <p:nvSpPr>
          <p:cNvPr id="27" name="R7_a196"/>
          <p:cNvSpPr/>
          <p:nvPr/>
        </p:nvSpPr>
        <p:spPr>
          <a:xfrm>
            <a:off x="5696712" y="30632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Look in the mirror! Oh no!</a:t>
            </a:r>
            <a:endParaRPr lang="en-US" sz="1250" dirty="0"/>
          </a:p>
        </p:txBody>
      </p:sp>
      <p:sp>
        <p:nvSpPr>
          <p:cNvPr id="28" name="bk_197"/>
          <p:cNvSpPr/>
          <p:nvPr/>
        </p:nvSpPr>
        <p:spPr>
          <a:xfrm>
            <a:off x="228600" y="4681728"/>
            <a:ext cx="342442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pp.26–27 · story actions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98"/>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THINK</a:t>
            </a:r>
            <a:endParaRPr lang="en-US" sz="1600" dirty="0"/>
          </a:p>
        </p:txBody>
      </p:sp>
      <p:sp>
        <p:nvSpPr>
          <p:cNvPr id="4" name="bm_199"/>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Bad things… why?</a:t>
            </a:r>
            <a:endParaRPr lang="en-US" sz="2700" dirty="0"/>
          </a:p>
        </p:txBody>
      </p:sp>
      <p:sp>
        <p:nvSpPr>
          <p:cNvPr id="5" name="in_200"/>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250" b="1" dirty="0">
                <a:solidFill>
                  <a:srgbClr val="1E2A5A"/>
                </a:solidFill>
                <a:latin typeface="Arial Rounded MT Bold" pitchFamily="34" charset="0"/>
                <a:ea typeface="Arial Rounded MT Bold" pitchFamily="34" charset="-122"/>
                <a:cs typeface="Arial Rounded MT Bold" pitchFamily="34" charset="-120"/>
              </a:rPr>
              <a:t>What bad things happen to Alex? Why? Think first!</a:t>
            </a:r>
            <a:endParaRPr lang="en-US" sz="125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Quali cose brutte succedono ad Alex? Perché? Pensa prima!</a:t>
            </a:r>
            <a:endParaRPr lang="en-US" sz="1250" dirty="0"/>
          </a:p>
        </p:txBody>
      </p:sp>
      <p:sp>
        <p:nvSpPr>
          <p:cNvPr id="6" name="mode_201"/>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SPEAK</a:t>
            </a:r>
            <a:endParaRPr lang="en-US" sz="1000" dirty="0"/>
          </a:p>
        </p:txBody>
      </p:sp>
      <p:sp>
        <p:nvSpPr>
          <p:cNvPr id="7" name="pf_202"/>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203" descr="/home/claude/movers/img/crop/u2-p27-mirror.jpg">    </p:cNvPr>
          <p:cNvPicPr>
            <a:picLocks noChangeAspect="1"/>
          </p:cNvPicPr>
          <p:nvPr/>
        </p:nvPicPr>
        <p:blipFill>
          <a:blip r:embed="rId2"/>
          <a:stretch>
            <a:fillRect/>
          </a:stretch>
        </p:blipFill>
        <p:spPr>
          <a:xfrm>
            <a:off x="985622" y="1325880"/>
            <a:ext cx="3880917" cy="3246120"/>
          </a:xfrm>
          <a:prstGeom prst="rect">
            <a:avLst/>
          </a:prstGeom>
        </p:spPr>
      </p:pic>
      <p:sp>
        <p:nvSpPr>
          <p:cNvPr id="9" name="q_204"/>
          <p:cNvSpPr/>
          <p:nvPr/>
        </p:nvSpPr>
        <p:spPr>
          <a:xfrm>
            <a:off x="5760720" y="132588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Alex wakes up late. Why?</a:t>
            </a:r>
            <a:endParaRPr lang="en-US" sz="1100" dirty="0"/>
          </a:p>
        </p:txBody>
      </p:sp>
      <p:sp>
        <p:nvSpPr>
          <p:cNvPr id="10" name="R1_a205"/>
          <p:cNvSpPr/>
          <p:nvPr/>
        </p:nvSpPr>
        <p:spPr>
          <a:xfrm>
            <a:off x="5989320" y="161117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He turns off his alarm.</a:t>
            </a:r>
            <a:endParaRPr lang="en-US" sz="1100" dirty="0"/>
          </a:p>
        </p:txBody>
      </p:sp>
      <p:sp>
        <p:nvSpPr>
          <p:cNvPr id="11" name="q_206"/>
          <p:cNvSpPr/>
          <p:nvPr/>
        </p:nvSpPr>
        <p:spPr>
          <a:xfrm>
            <a:off x="5760720" y="187452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He can't use the bathroom upstairs.</a:t>
            </a:r>
            <a:endParaRPr lang="en-US" sz="1100" dirty="0"/>
          </a:p>
        </p:txBody>
      </p:sp>
      <p:sp>
        <p:nvSpPr>
          <p:cNvPr id="12" name="R2_a207"/>
          <p:cNvSpPr/>
          <p:nvPr/>
        </p:nvSpPr>
        <p:spPr>
          <a:xfrm>
            <a:off x="5989320" y="215981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His big sister is using it.</a:t>
            </a:r>
            <a:endParaRPr lang="en-US" sz="1100" dirty="0"/>
          </a:p>
        </p:txBody>
      </p:sp>
      <p:sp>
        <p:nvSpPr>
          <p:cNvPr id="13" name="q_208"/>
          <p:cNvSpPr/>
          <p:nvPr/>
        </p:nvSpPr>
        <p:spPr>
          <a:xfrm>
            <a:off x="5760720" y="242316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He can't use the bathroom downstairs.</a:t>
            </a:r>
            <a:endParaRPr lang="en-US" sz="1100" dirty="0"/>
          </a:p>
        </p:txBody>
      </p:sp>
      <p:sp>
        <p:nvSpPr>
          <p:cNvPr id="14" name="R3_a209"/>
          <p:cNvSpPr/>
          <p:nvPr/>
        </p:nvSpPr>
        <p:spPr>
          <a:xfrm>
            <a:off x="5989320" y="270845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His dad is using it.</a:t>
            </a:r>
            <a:endParaRPr lang="en-US" sz="1100" dirty="0"/>
          </a:p>
        </p:txBody>
      </p:sp>
      <p:sp>
        <p:nvSpPr>
          <p:cNvPr id="15" name="q_210"/>
          <p:cNvSpPr/>
          <p:nvPr/>
        </p:nvSpPr>
        <p:spPr>
          <a:xfrm>
            <a:off x="5760720" y="297180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He doesn't have his usual breakfast.</a:t>
            </a:r>
            <a:endParaRPr lang="en-US" sz="1100" dirty="0"/>
          </a:p>
        </p:txBody>
      </p:sp>
      <p:sp>
        <p:nvSpPr>
          <p:cNvPr id="16" name="R4_a211"/>
          <p:cNvSpPr/>
          <p:nvPr/>
        </p:nvSpPr>
        <p:spPr>
          <a:xfrm>
            <a:off x="5989320" y="325709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There's no time.</a:t>
            </a:r>
            <a:endParaRPr lang="en-US" sz="1100" dirty="0"/>
          </a:p>
        </p:txBody>
      </p:sp>
      <p:sp>
        <p:nvSpPr>
          <p:cNvPr id="17" name="q_212"/>
          <p:cNvSpPr/>
          <p:nvPr/>
        </p:nvSpPr>
        <p:spPr>
          <a:xfrm>
            <a:off x="5760720" y="352044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5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He arrives at school late.</a:t>
            </a:r>
            <a:endParaRPr lang="en-US" sz="1100" dirty="0"/>
          </a:p>
        </p:txBody>
      </p:sp>
      <p:sp>
        <p:nvSpPr>
          <p:cNvPr id="18" name="R5_a213"/>
          <p:cNvSpPr/>
          <p:nvPr/>
        </p:nvSpPr>
        <p:spPr>
          <a:xfrm>
            <a:off x="5989320" y="380573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All the traffic lights are red.</a:t>
            </a:r>
            <a:endParaRPr lang="en-US" sz="1100" dirty="0"/>
          </a:p>
        </p:txBody>
      </p:sp>
      <p:sp>
        <p:nvSpPr>
          <p:cNvPr id="19" name="q_214"/>
          <p:cNvSpPr/>
          <p:nvPr/>
        </p:nvSpPr>
        <p:spPr>
          <a:xfrm>
            <a:off x="5760720" y="406908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6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He's very surprised in the mirror.</a:t>
            </a:r>
            <a:endParaRPr lang="en-US" sz="1100" dirty="0"/>
          </a:p>
        </p:txBody>
      </p:sp>
      <p:sp>
        <p:nvSpPr>
          <p:cNvPr id="20" name="R6_a215"/>
          <p:cNvSpPr/>
          <p:nvPr/>
        </p:nvSpPr>
        <p:spPr>
          <a:xfrm>
            <a:off x="5989320" y="435437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Sister's shirt, bad hair, chocolate milk!</a:t>
            </a:r>
            <a:endParaRPr lang="en-US" sz="1100" dirty="0"/>
          </a:p>
        </p:txBody>
      </p:sp>
      <p:sp>
        <p:nvSpPr>
          <p:cNvPr id="21" name="bk_216"/>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p.27 · ex.2</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17"/>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SPEAK</a:t>
            </a:r>
            <a:endParaRPr lang="en-US" sz="1600" dirty="0"/>
          </a:p>
        </p:txBody>
      </p:sp>
      <p:sp>
        <p:nvSpPr>
          <p:cNvPr id="4" name="bm_218"/>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5DA2"/>
                </a:solidFill>
                <a:latin typeface="Arial Black" pitchFamily="34" charset="0"/>
                <a:ea typeface="Arial Black" pitchFamily="34" charset="-122"/>
                <a:cs typeface="Arial Black" pitchFamily="34" charset="-120"/>
              </a:rPr>
              <a:t>Tell me about…</a:t>
            </a:r>
            <a:endParaRPr lang="en-US" sz="2700" dirty="0"/>
          </a:p>
        </p:txBody>
      </p:sp>
      <p:sp>
        <p:nvSpPr>
          <p:cNvPr id="5" name="in_219"/>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100" b="1" dirty="0">
                <a:solidFill>
                  <a:srgbClr val="1E2A5A"/>
                </a:solidFill>
                <a:latin typeface="Arial Rounded MT Bold" pitchFamily="34" charset="0"/>
                <a:ea typeface="Arial Rounded MT Bold" pitchFamily="34" charset="-122"/>
                <a:cs typeface="Arial Rounded MT Bold" pitchFamily="34" charset="-120"/>
              </a:rPr>
              <a:t>Ask and answer: Tell me about your favourite day of the week.</a:t>
            </a:r>
            <a:endParaRPr lang="en-US" sz="1100" dirty="0"/>
          </a:p>
          <a:p>
            <a:pPr indent="0" marL="0">
              <a:buNone/>
            </a:pPr>
            <a:r>
              <a:rPr lang="en-US" sz="950" i="1" dirty="0">
                <a:solidFill>
                  <a:srgbClr val="2F9BFF"/>
                </a:solidFill>
                <a:latin typeface="Arial Rounded MT Bold" pitchFamily="34" charset="0"/>
                <a:ea typeface="Arial Rounded MT Bold" pitchFamily="34" charset="-122"/>
                <a:cs typeface="Arial Rounded MT Bold" pitchFamily="34" charset="-120"/>
              </a:rPr>
              <a:t>Chiedi e rispondi: Parlami del tuo giorno preferito della settimana.</a:t>
            </a:r>
            <a:endParaRPr lang="en-US" sz="1100" dirty="0"/>
          </a:p>
        </p:txBody>
      </p:sp>
      <p:sp>
        <p:nvSpPr>
          <p:cNvPr id="6" name="mode_220"/>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4 MIN</a:t>
            </a:r>
            <a:endParaRPr lang="en-US" sz="1000" dirty="0"/>
          </a:p>
        </p:txBody>
      </p:sp>
      <p:sp>
        <p:nvSpPr>
          <p:cNvPr id="7" name="diff_221"/>
          <p:cNvSpPr/>
          <p:nvPr/>
        </p:nvSpPr>
        <p:spPr>
          <a:xfrm>
            <a:off x="4343400" y="4681728"/>
            <a:ext cx="224028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I love … because …</a:t>
            </a:r>
            <a:endParaRPr lang="en-US" sz="950" dirty="0"/>
          </a:p>
        </p:txBody>
      </p:sp>
      <p:sp>
        <p:nvSpPr>
          <p:cNvPr id="8" name="diff_222"/>
          <p:cNvSpPr/>
          <p:nvPr/>
        </p:nvSpPr>
        <p:spPr>
          <a:xfrm>
            <a:off x="6675120" y="4681728"/>
            <a:ext cx="224028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Say 3 sentences!</a:t>
            </a:r>
            <a:endParaRPr lang="en-US" sz="950" dirty="0"/>
          </a:p>
        </p:txBody>
      </p:sp>
      <p:sp>
        <p:nvSpPr>
          <p:cNvPr id="9" name="st_223"/>
          <p:cNvSpPr/>
          <p:nvPr/>
        </p:nvSpPr>
        <p:spPr>
          <a:xfrm>
            <a:off x="228600" y="13258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10" name="sn_224"/>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1" name="sk_225"/>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2" name="se_226"/>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A: Tell me about your favourite day.</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A: Parlami del tuo giorno preferito.</a:t>
            </a:r>
            <a:endParaRPr lang="en-US" sz="1050" dirty="0"/>
          </a:p>
        </p:txBody>
      </p:sp>
      <p:sp>
        <p:nvSpPr>
          <p:cNvPr id="13" name="st_227"/>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4" name="sn_228"/>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sk_229"/>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6" name="se_230"/>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B: I love Fridays. We play games!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B: Amo il venerdì. Giochiamo!</a:t>
            </a:r>
            <a:endParaRPr lang="en-US" sz="1050" dirty="0"/>
          </a:p>
        </p:txBody>
      </p:sp>
      <p:sp>
        <p:nvSpPr>
          <p:cNvPr id="17" name="st_231"/>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8" name="sn_232"/>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9" name="sk_233"/>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20" name="se_234"/>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Swap! Then tell the class.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Scambiatevi! Poi raccontate alla classe.</a:t>
            </a:r>
            <a:endParaRPr lang="en-US" sz="1050" dirty="0"/>
          </a:p>
        </p:txBody>
      </p:sp>
      <p:sp>
        <p:nvSpPr>
          <p:cNvPr id="21" name="gl_235"/>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I love … because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On … I always / often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 Movers exam: 'Tell me about …'</a:t>
            </a:r>
            <a:endParaRPr lang="en-US" sz="1400" dirty="0"/>
          </a:p>
        </p:txBody>
      </p:sp>
      <p:sp>
        <p:nvSpPr>
          <p:cNvPr id="22" name="bk_236"/>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p.27 · ex.3</a:t>
            </a:r>
            <a:endParaRPr lang="en-US" sz="1100" dirty="0"/>
          </a:p>
        </p:txBody>
      </p:sp>
    </p:spTree>
  </p:cSld>
  <p:clrMapOvr>
    <a:masterClrMapping/>
  </p:clrMapOvr>
  <p:transition spd="med">
    <p:push dir="l"/>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37"/>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WELL DONE!</a:t>
            </a:r>
            <a:endParaRPr lang="en-US" sz="1600" dirty="0"/>
          </a:p>
        </p:txBody>
      </p:sp>
      <p:sp>
        <p:nvSpPr>
          <p:cNvPr id="4" name="bm_238"/>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Bye bye! 👋</a:t>
            </a:r>
            <a:endParaRPr lang="en-US" sz="3200" dirty="0"/>
          </a:p>
        </p:txBody>
      </p:sp>
      <p:sp>
        <p:nvSpPr>
          <p:cNvPr id="5" name="in_239"/>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Today I can… · Oggi so…</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Show me with your thumbs! 👍 👌 👎</a:t>
            </a:r>
            <a:endParaRPr lang="en-US" sz="1400" dirty="0"/>
          </a:p>
        </p:txBody>
      </p:sp>
      <p:sp>
        <p:nvSpPr>
          <p:cNvPr id="6" name="can_240"/>
          <p:cNvSpPr/>
          <p:nvPr/>
        </p:nvSpPr>
        <p:spPr>
          <a:xfrm>
            <a:off x="320040" y="132588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read and understand a story.</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leggere e capire una storia.</a:t>
            </a:r>
            <a:endParaRPr lang="en-US" sz="1300" dirty="0"/>
          </a:p>
        </p:txBody>
      </p:sp>
      <p:sp>
        <p:nvSpPr>
          <p:cNvPr id="7" name="can_241"/>
          <p:cNvSpPr/>
          <p:nvPr/>
        </p:nvSpPr>
        <p:spPr>
          <a:xfrm>
            <a:off x="320040" y="205740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say what happens and why.</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dire cosa succede e perché.</a:t>
            </a:r>
            <a:endParaRPr lang="en-US" sz="1300" dirty="0"/>
          </a:p>
        </p:txBody>
      </p:sp>
      <p:sp>
        <p:nvSpPr>
          <p:cNvPr id="8" name="can_242"/>
          <p:cNvSpPr/>
          <p:nvPr/>
        </p:nvSpPr>
        <p:spPr>
          <a:xfrm>
            <a:off x="320040" y="278892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say It's eight o'clock.</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dire che ore sono: It's eight o'clock.</a:t>
            </a:r>
            <a:endParaRPr lang="en-US" sz="1300" dirty="0"/>
          </a:p>
        </p:txBody>
      </p:sp>
      <p:sp>
        <p:nvSpPr>
          <p:cNvPr id="9" name="hw_243"/>
          <p:cNvSpPr/>
          <p:nvPr/>
        </p:nvSpPr>
        <p:spPr>
          <a:xfrm>
            <a:off x="5303520" y="1325880"/>
            <a:ext cx="3566160" cy="2377440"/>
          </a:xfrm>
          <a:prstGeom prst="roundRect">
            <a:avLst>
              <a:gd name="adj" fmla="val 4615"/>
            </a:avLst>
          </a:prstGeom>
          <a:solidFill>
            <a:srgbClr val="FFFFFF"/>
          </a:solidFill>
          <a:ln w="38100">
            <a:solidFill>
              <a:srgbClr val="FF8A3D"/>
            </a:solidFill>
          </a:ln>
        </p:spPr>
        <p:txBody>
          <a:bodyPr wrap="square" lIns="127000" tIns="127000" rIns="127000" bIns="127000" rtlCol="0" anchor="t"/>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 HOMEWORK · COMPITI</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Homework sheet</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Activity Book p.26: ex.1–3</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Activity Book p.27: ex.4 (🎧 4.14)</a:t>
            </a:r>
            <a:endParaRPr lang="en-US" sz="1250" dirty="0"/>
          </a:p>
        </p:txBody>
      </p:sp>
      <p:sp>
        <p:nvSpPr>
          <p:cNvPr id="10" name="nx_244"/>
          <p:cNvSpPr/>
          <p:nvPr/>
        </p:nvSpPr>
        <p:spPr>
          <a:xfrm>
            <a:off x="5303520" y="3840480"/>
            <a:ext cx="3566160" cy="502920"/>
          </a:xfrm>
          <a:prstGeom prst="rect">
            <a:avLst/>
          </a:prstGeom>
          <a:noFill/>
          <a:ln/>
        </p:spPr>
        <p:txBody>
          <a:bodyPr wrap="square" lIns="0" tIns="0" rIns="0" bIns="0" rtlCol="0" anchor="ctr"/>
          <a:lstStyle/>
          <a:p>
            <a:pPr indent="0" marL="0">
              <a:buNone/>
            </a:pPr>
            <a:r>
              <a:rPr lang="en-US" sz="1200" dirty="0">
                <a:solidFill>
                  <a:srgbClr val="1E2A5A"/>
                </a:solidFill>
                <a:latin typeface="Arial Rounded MT Bold" pitchFamily="34" charset="0"/>
                <a:ea typeface="Arial Rounded MT Bold" pitchFamily="34" charset="-122"/>
                <a:cs typeface="Arial Rounded MT Bold" pitchFamily="34" charset="-120"/>
              </a:rPr>
              <a:t>➡ Next: Movers practice + Mission in action!</a:t>
            </a:r>
            <a:endParaRPr lang="en-US" sz="120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4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246"/>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050" b="1" dirty="0">
                <a:ln w="31750">
                  <a:solidFill>
                    <a:srgbClr val="1E2A5A"/>
                  </a:solidFill>
                </a:ln>
                <a:solidFill>
                  <a:srgbClr val="6CCB3B"/>
                </a:solidFill>
                <a:latin typeface="Arial Black" pitchFamily="34" charset="0"/>
                <a:ea typeface="Arial Black" pitchFamily="34" charset="-122"/>
                <a:cs typeface="Arial Black" pitchFamily="34" charset="-120"/>
              </a:rPr>
              <a:t>EXTRA: Would you rather…?</a:t>
            </a:r>
            <a:endParaRPr lang="en-US" sz="2050" dirty="0"/>
          </a:p>
        </p:txBody>
      </p:sp>
      <p:sp>
        <p:nvSpPr>
          <p:cNvPr id="5" name="in_247"/>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Choose! Run to the left or to the right!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Scegli! Corri a sinistra o a destra!</a:t>
            </a:r>
            <a:endParaRPr lang="en-US" sz="1400" dirty="0"/>
          </a:p>
        </p:txBody>
      </p:sp>
      <p:sp>
        <p:nvSpPr>
          <p:cNvPr id="6" name="mode_248"/>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MOVE · ⏱ 4 MIN</a:t>
            </a:r>
            <a:endParaRPr lang="en-US" sz="1000" dirty="0"/>
          </a:p>
        </p:txBody>
      </p:sp>
      <p:sp>
        <p:nvSpPr>
          <p:cNvPr id="7" name="diff_249"/>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I'd rather … because …</a:t>
            </a:r>
            <a:endParaRPr lang="en-US" sz="950" dirty="0"/>
          </a:p>
        </p:txBody>
      </p:sp>
      <p:sp>
        <p:nvSpPr>
          <p:cNvPr id="8" name="st_250"/>
          <p:cNvSpPr/>
          <p:nvPr/>
        </p:nvSpPr>
        <p:spPr>
          <a:xfrm>
            <a:off x="228600" y="13258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9" name="sn_251"/>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sk_252"/>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1" name="se_253"/>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Teacher: Would you rather… ?</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L'insegnante: Preferiresti…?</a:t>
            </a:r>
            <a:endParaRPr lang="en-US" sz="1050" dirty="0"/>
          </a:p>
        </p:txBody>
      </p:sp>
      <p:sp>
        <p:nvSpPr>
          <p:cNvPr id="12" name="st_254"/>
          <p:cNvSpPr/>
          <p:nvPr/>
        </p:nvSpPr>
        <p:spPr>
          <a:xfrm>
            <a:off x="228600" y="23926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3" name="sn_255"/>
          <p:cNvSpPr/>
          <p:nvPr/>
        </p:nvSpPr>
        <p:spPr>
          <a:xfrm>
            <a:off x="118872" y="22829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4" name="sk_256"/>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5" name="se_257"/>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Left or right – choose!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Sinistra o destra – scegli!</a:t>
            </a:r>
            <a:endParaRPr lang="en-US" sz="1050" dirty="0"/>
          </a:p>
        </p:txBody>
      </p:sp>
      <p:sp>
        <p:nvSpPr>
          <p:cNvPr id="16" name="st_258"/>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7" name="sn_259"/>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8" name="sk_260"/>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9" name="se_261"/>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Say why: I'd rather … because …</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 perché: Preferisco … perché …</a:t>
            </a:r>
            <a:endParaRPr lang="en-US" sz="1050" dirty="0"/>
          </a:p>
        </p:txBody>
      </p:sp>
      <p:sp>
        <p:nvSpPr>
          <p:cNvPr id="20" name="gl_262"/>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 get up at 6 o'clock  OR  go to bed at 11 o'clock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 chocolate milk for breakfast  OR  pizza for breakfast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 have a shower in the morning  OR  in the evening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 wear your sister's shirt  OR  your dad's shoes ➡️</a:t>
            </a:r>
            <a:endParaRPr lang="en-US" sz="1400" dirty="0"/>
          </a:p>
        </p:txBody>
      </p:sp>
      <p:sp>
        <p:nvSpPr>
          <p:cNvPr id="21" name="bk_263"/>
          <p:cNvSpPr/>
          <p:nvPr/>
        </p:nvSpPr>
        <p:spPr>
          <a:xfrm>
            <a:off x="228600" y="4681728"/>
            <a:ext cx="3113532"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Unit 2 routines · personalisation</a:t>
            </a:r>
            <a:endParaRPr lang="en-US" sz="110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6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265"/>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300" b="1" dirty="0">
                <a:ln w="31750">
                  <a:solidFill>
                    <a:srgbClr val="1E2A5A"/>
                  </a:solidFill>
                </a:ln>
                <a:solidFill>
                  <a:srgbClr val="6CCB3B"/>
                </a:solidFill>
                <a:latin typeface="Arial Black" pitchFamily="34" charset="0"/>
                <a:ea typeface="Arial Black" pitchFamily="34" charset="-122"/>
                <a:cs typeface="Arial Black" pitchFamily="34" charset="-120"/>
              </a:rPr>
              <a:t>EXTRA: Running dictation</a:t>
            </a:r>
            <a:endParaRPr lang="en-US" sz="2300" dirty="0"/>
          </a:p>
        </p:txBody>
      </p:sp>
      <p:sp>
        <p:nvSpPr>
          <p:cNvPr id="5" name="in_266"/>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250" b="1" dirty="0">
                <a:solidFill>
                  <a:srgbClr val="1E2A5A"/>
                </a:solidFill>
                <a:latin typeface="Arial Rounded MT Bold" pitchFamily="34" charset="0"/>
                <a:ea typeface="Arial Rounded MT Bold" pitchFamily="34" charset="-122"/>
                <a:cs typeface="Arial Rounded MT Bold" pitchFamily="34" charset="-120"/>
              </a:rPr>
              <a:t>Run, read, remember, run back and tell your writer!</a:t>
            </a:r>
            <a:endParaRPr lang="en-US" sz="125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Corri, leggi, ricorda, torna e detta al tuo compagno!</a:t>
            </a:r>
            <a:endParaRPr lang="en-US" sz="1250" dirty="0"/>
          </a:p>
        </p:txBody>
      </p:sp>
      <p:sp>
        <p:nvSpPr>
          <p:cNvPr id="6" name="mode_26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6 MIN</a:t>
            </a:r>
            <a:endParaRPr lang="en-US" sz="1000" dirty="0"/>
          </a:p>
        </p:txBody>
      </p:sp>
      <p:sp>
        <p:nvSpPr>
          <p:cNvPr id="7" name="st_268"/>
          <p:cNvSpPr/>
          <p:nvPr/>
        </p:nvSpPr>
        <p:spPr>
          <a:xfrm>
            <a:off x="228600" y="13258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8" name="sn_269"/>
          <p:cNvSpPr/>
          <p:nvPr/>
        </p:nvSpPr>
        <p:spPr>
          <a:xfrm>
            <a:off x="118872" y="12161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270"/>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0" name="se_271"/>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Runner: run to the wall. Read!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Corridore: corri al muro. Leggi!</a:t>
            </a:r>
            <a:endParaRPr lang="en-US" sz="1050" dirty="0"/>
          </a:p>
        </p:txBody>
      </p:sp>
      <p:sp>
        <p:nvSpPr>
          <p:cNvPr id="11" name="st_272"/>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2" name="sn_273"/>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274"/>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4" name="se_275"/>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Run back and say it.</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Torna e dettala.</a:t>
            </a:r>
            <a:endParaRPr lang="en-US" sz="1050" dirty="0"/>
          </a:p>
        </p:txBody>
      </p:sp>
      <p:sp>
        <p:nvSpPr>
          <p:cNvPr id="15" name="st_276"/>
          <p:cNvSpPr/>
          <p:nvPr/>
        </p:nvSpPr>
        <p:spPr>
          <a:xfrm>
            <a:off x="228600" y="3459480"/>
            <a:ext cx="2651760" cy="975360"/>
          </a:xfrm>
          <a:prstGeom prst="roundRect">
            <a:avLst>
              <a:gd name="adj" fmla="val 11250"/>
            </a:avLst>
          </a:prstGeom>
          <a:solidFill>
            <a:srgbClr val="FFFFFF"/>
          </a:solidFill>
          <a:ln w="38100">
            <a:solidFill>
              <a:srgbClr val="6CCB3B"/>
            </a:solidFill>
            <a:prstDash val="solid"/>
          </a:ln>
          <a:effectLst>
            <a:outerShdw sx="100000" sy="100000" kx="0" ky="0" algn="bl" rotWithShape="0" blurRad="38100" dist="25400" dir="5400000">
              <a:srgbClr val="000000">
                <a:alpha val="18000"/>
              </a:srgbClr>
            </a:outerShdw>
          </a:effectLst>
        </p:spPr>
      </p:sp>
      <p:sp>
        <p:nvSpPr>
          <p:cNvPr id="16" name="sn_277"/>
          <p:cNvSpPr/>
          <p:nvPr/>
        </p:nvSpPr>
        <p:spPr>
          <a:xfrm>
            <a:off x="118872" y="3349752"/>
            <a:ext cx="384048" cy="384048"/>
          </a:xfrm>
          <a:prstGeom prst="ellipse">
            <a:avLst/>
          </a:prstGeom>
          <a:solidFill>
            <a:srgbClr val="6CCB3B"/>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278"/>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WRITE</a:t>
            </a:r>
            <a:endParaRPr lang="en-US" sz="1300" dirty="0"/>
          </a:p>
        </p:txBody>
      </p:sp>
      <p:sp>
        <p:nvSpPr>
          <p:cNvPr id="18" name="se_279"/>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Writer: write it! Then swap.</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Chi scrive: scrivila! Poi scambiatevi.</a:t>
            </a:r>
            <a:endParaRPr lang="en-US" sz="1050" dirty="0"/>
          </a:p>
        </p:txBody>
      </p:sp>
      <p:sp>
        <p:nvSpPr>
          <p:cNvPr id="19" name="gl_280"/>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 Runner + ✍ Writer</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 5 sentences on the wall</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 First pair with 5 correct sentences wins!</a:t>
            </a:r>
            <a:endParaRPr lang="en-US" sz="1400" dirty="0"/>
          </a:p>
        </p:txBody>
      </p:sp>
      <p:sp>
        <p:nvSpPr>
          <p:cNvPr id="20" name="bk_281"/>
          <p:cNvSpPr/>
          <p:nvPr/>
        </p:nvSpPr>
        <p:spPr>
          <a:xfrm>
            <a:off x="228600" y="4681728"/>
            <a:ext cx="21808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pp.26–27</a:t>
            </a:r>
            <a:endParaRPr lang="en-US" sz="11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Movers · UNIT 2 · LESSON 5 · A bad Monday!</dc:title>
  <dc:subject>PptxGenJS Presentation</dc:subject>
  <dc:creator>PptxGenJS</dc:creator>
  <cp:lastModifiedBy>PptxGenJS</cp:lastModifiedBy>
  <cp:revision>1</cp:revision>
  <dcterms:created xsi:type="dcterms:W3CDTF">2026-10-06T10:51:29Z</dcterms:created>
  <dcterms:modified xsi:type="dcterms:W3CDTF">2026-10-06T10:51:29Z</dcterms:modified>
</cp:coreProperties>
</file>