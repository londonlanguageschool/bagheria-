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(1 min). 'We're going to read a poem about two sisters. There's an animal in the poem too. What animal? Guess!' Learners write their guess on scrap paper – check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PLAN
SEE: Only a timer (no words!).
TEACHER: Teams of 4, one pen per team. 'Lesson 4 words! 20 seconds – GO!' Count down aloud. Round 2: 'Daily routine words!' Round 3: 'Countryside words!'
STUDENTS: Write as many words as they can remember.
GROUPING: Teams of 4 (pass the pen – everybody writes one word).
SCORE / WIN: 1 point per correct word; +1 if nobody else has it. ⭐ weaker teams may draw a picture + say the word.
TIME: 3 min (3 rounds).
LANGUAGE: Lesson 4 (planet, air, plant, tap, light, recycle, plastic bag), L3 routines, L1 countryside.
REVEAL: Teams read out their lists; write them on the board.
AIM: Spaced retrieval of the whole unit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WORDS (4 min). TB presentation: 'People can run in a race. They want to be fast. The person who finishes at the front wins.' Mime/draw a race. PICTURE FIRST – learners guess. Quick personal questions: 'Do you like racing? Who wins in your family? Who is last?' TPR: Ready, steady, GO! Run on the spot!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WORDS (4 min). TB presentation: 'People can run in a race. They want to be fast. The person who finishes at the front wins.' Mime/draw a race. PICTURE FIRST – learners guess. Quick personal questions: 'Do you like racing? Who wins in your family? Who is last?' TPR: Arms up! I'm the winner!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WORDS (4 min). TB presentation: 'People can run in a race. They want to be fast. The person who finishes at the front wins.' Mime/draw a race. PICTURE FIRST – learners guess. Quick personal questions: 'Do you like racing? Who wins in your family? Who is last?' TPR: Run very fast!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WORDS (4 min). TB presentation: 'People can run in a race. They want to be fast. The person who finishes at the front wins.' Mime/draw a race. PICTURE FIRST – learners guess. Quick personal questions: 'Do you like racing? Who wins in your family? Who is last?' TPR: Walk very slowly… I'm last!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WORDS (4 min). TB presentation: 'People can run in a race. They want to be fast. The person who finishes at the front wins.' Mime/draw a race. PICTURE FIRST – learners guess. Quick personal questions: 'Do you like racing? Who wins in your family? Who is last?' TPR: Fall down slowly… Ouch!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WORDS (4 min). TB presentation: 'People can run in a race. They want to be fast. The person who finishes at the front wins.' Mime/draw a race. PICTURE FIRST – learners guess. Quick personal questions: 'Do you like racing? Who wins in your family? Who is last?' TPR: Make a sad face. Boo-hoo!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 1 (4 min). PREDICT: pairs talk about each picture with 'They're …ing' (present continuous from L2!). For question 4 every pair COMMITS to a guess: 'She wins the race' or 'She helps her sister'. Hands up for each. REVEAL later in the poem. KEY (TB, possible answers): They're at home. They're cleaning their teeth. They're in the countryside. They want to see a puppy. They're racing. One girl falls. The other girl wants to win but she goes back and helps. They go to see the puppy.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RACE (8 min, 3 slides – poem text typed from PB pp.14–15 so it is big enough to read). Play 🎧 1.20; pause after verse 1: 'What are the girls' names?' (Beth and Gwen) 'What's the dog's name?' (Jess). Was your animal guess right? Verse 2: 'What colour is Jess's nose?' (Black) 'Where does she live?' (In a field) 'What's on the ground?' (Leaves) – learners answer, then show the PB picture (Pupil's Book p.14).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Verse 3 (TB): 'Who's winning the race?' (Beth) 'Why does she fall?' (Because there's a rock in the leaves). Mime falling!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Verses 4–5 (TB): 'What's the problem with Beth's leg?' (She can't move it) 'What does Gwen think?' ('I don't want to be last!') 'How does Gwen feel?' (Sad) 'What does she do?' (She goes back and helps her sister – then they go and see the puppy.) Check the prediction from the 'What happens?' slide – who was right? Extension: play the whole poem again without pauses.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PLAN
SEE: 5 questions; answers appear one per click.
TEACHER: Read a question; 5 seconds whisper time; 'Hands up!'
STUDENTS: Pairs whisper; a team member answers.
GROUPING: Two teams.
SCORE / WIN: Correct answer = 1 point; full sentence = 2 points (She's sad.).
TIME: 3 min.
LANGUAGE: Questions from the TB about the poem.
REVEAL: Click per question.
AIM: Check understanding of the poem.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PRONUNCIATION (3 min). PROMPT: pairs match the words in line 1 with their rhyme in line 2 (THINK 30 s). REVEAL by saying them: nose–goes, run–fun, fast–last, see–me, Jess–yes (the 2nd line is shuffled so the answer isn't visible). Italian tip: final consonants! Say the end clearly – 'fast' not 'fas', 'last' not 'lasta'. Then read the poem together and CLAP on every rhyming word. Catch the teacher: say 'lasta', 'nosa' – learners shout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ITALIAN TRAP (2 min). Italian verbs change for 'lui/lei' but learners forget the English -s ('she fall'). Robot voice reads the wrong sentence; pairs find the missing -s; click. Make it physical: hiss like a snake 'ssss' on every he/she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PLAN
SEE: The key lines from the poem + PB speech bubbles.
TEACHER: MODEL with a confident learner first (you are Gwen). Give 3 minutes practice, then 2–3 pairs perform.
STUDENTS: Act the story using the lines; swap roles.
GROUPING: Pairs.
SCORE / WIN: The class gives each performance 1–3 ⭐ for expression (feeling!), not accuracy.
TIME: 7 min.
LANGUAGE: Poem lines + Are you OK? Can you stand up? I'm sorry.
REVEAL: —
AIM: PB ex 2. 🔥 Extension (TB): continue the story – 'Let me help you, Beth.' / 'Thanks, Gwen.'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 3 + SOCIAL AND EMOTIONAL SKILL (6 min). Complete orally (TB): Gwen and Beth have a … (race) every day. Beth … (falls). Gwen feels … (bad). Gwen goes to … (help) Beth. 'She is being supportive.' Read the ways – learners put up their hands for the ones they do. Groups of 3: each learner tells the group how they support people (⭐ starter on the slide). Optional: thank-you card for someone supportive.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PLAN
SEE: Countryside + routine pictures (= the stepping stones).
TEACHER: Put the flashcards on the floor like a winding river (TB ending). Ask about each card as the learner reaches it: 'Is he having a shower?' 'Is it a mountain?' 'What colour is the tractor?'
STUDENTS: Answer correctly to step onto the card.
GROUPING: Two teams; one learner from each team crosses at a time.
SCORE / WIN: Wrong answer = 'Splash!' – back to the start, next player. A team scores 1 point for each learner who crosses.
TIME: 6 min.
LANGUAGE: Units words + present continuous questions/answers.
REVEAL: Teacher confirms each answer.
AIM: Recycling Lessons 1–3 language with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EXIT: each learner says one rhyming pair at the door (nose–goes…). Self-assessment (TB). AB p.15 ex 4 (🎧 4.11 Listen and draw lines) – in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PLAN
SEE: 6 actions from the poem.
TEACHER: Tell the poem as a story: 'Beth and Gwen run… fast!… Beth falls!…' – learners act it. Then mix the order.
STUDENTS: Move with the story.
GROUPING: Whole class.
SCORE / WIN: No points.
TIME: 3 min.
LANGUAGE: run, stop, fall, go back, help, win.
REVEAL: Click to show actions.
AIM: Fix poem verbs physically.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PLAN
SEE: A line from the poem.
TEACHER: Name two corners: BETH corner / GWEN corner. Read a line.
STUDENTS: Run to the right corner on '3-2-1-GO!'
GROUPING: Whole class.
SCORE / WIN: Wrong corner = say the line in that character's voice (no one is out).
TIME: 4 min.
LANGUAGE: Poem lines (listening).
REVEAL: Click to reveal each answer.
AIM: Re-read the poem with movement (TB warm-up p.15).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jp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slideLayout" Target="../slideLayouts/slideLayout1.xml"/><Relationship Id="rId11"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jp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jp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UNIT 1 · LESSON 5</a:t>
            </a:r>
            <a:endParaRPr lang="en-US" sz="1600" dirty="0"/>
          </a:p>
        </p:txBody>
      </p:sp>
      <p:sp>
        <p:nvSpPr>
          <p:cNvPr id="4" name="bm_2"/>
          <p:cNvSpPr/>
          <p:nvPr/>
        </p:nvSpPr>
        <p:spPr>
          <a:xfrm rot="-120000">
            <a:off x="228600" y="493776"/>
            <a:ext cx="48463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The race</a:t>
            </a:r>
            <a:endParaRPr lang="en-US" sz="3200" dirty="0"/>
          </a:p>
        </p:txBody>
      </p:sp>
      <p:sp>
        <p:nvSpPr>
          <p:cNvPr id="5" name="in_3"/>
          <p:cNvSpPr/>
          <p:nvPr/>
        </p:nvSpPr>
        <p:spPr>
          <a:xfrm>
            <a:off x="5212080" y="182880"/>
            <a:ext cx="370332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100" b="1" dirty="0">
                <a:solidFill>
                  <a:srgbClr val="1E2A5A"/>
                </a:solidFill>
                <a:latin typeface="Arial Rounded MT Bold" pitchFamily="34" charset="0"/>
                <a:ea typeface="Arial Rounded MT Bold" pitchFamily="34" charset="-122"/>
                <a:cs typeface="Arial Rounded MT Bold" pitchFamily="34" charset="-120"/>
              </a:rPr>
              <a:t>Today: a poem about two sisters – and being a good friend 🏃‍♀️🤝</a:t>
            </a:r>
            <a:endParaRPr lang="en-US" sz="1100" dirty="0"/>
          </a:p>
          <a:p>
            <a:pPr indent="0" marL="0">
              <a:buNone/>
            </a:pPr>
            <a:r>
              <a:rPr lang="en-US" sz="950" i="1" dirty="0">
                <a:solidFill>
                  <a:srgbClr val="2F9BFF"/>
                </a:solidFill>
                <a:latin typeface="Arial Rounded MT Bold" pitchFamily="34" charset="0"/>
                <a:ea typeface="Arial Rounded MT Bold" pitchFamily="34" charset="-122"/>
                <a:cs typeface="Arial Rounded MT Bold" pitchFamily="34" charset="-120"/>
              </a:rPr>
              <a:t>Oggi: una poesia su due sorelle – e su come essere un buon amico</a:t>
            </a:r>
            <a:endParaRPr lang="en-US" sz="1100" dirty="0"/>
          </a:p>
        </p:txBody>
      </p:sp>
      <p:sp>
        <p:nvSpPr>
          <p:cNvPr id="6" name="st_4"/>
          <p:cNvSpPr/>
          <p:nvPr/>
        </p:nvSpPr>
        <p:spPr>
          <a:xfrm>
            <a:off x="228600" y="1371600"/>
            <a:ext cx="2743200" cy="914400"/>
          </a:xfrm>
          <a:prstGeom prst="roundRect">
            <a:avLst>
              <a:gd name="adj" fmla="val 12000"/>
            </a:avLst>
          </a:prstGeom>
          <a:solidFill>
            <a:srgbClr val="FFFFFF"/>
          </a:solidFill>
          <a:ln w="38100">
            <a:solidFill>
              <a:srgbClr val="FFD23F"/>
            </a:solidFill>
            <a:prstDash val="solid"/>
          </a:ln>
          <a:effectLst>
            <a:outerShdw sx="100000" sy="100000" kx="0" ky="0" algn="bl" rotWithShape="0" blurRad="38100" dist="25400" dir="5400000">
              <a:srgbClr val="000000">
                <a:alpha val="18000"/>
              </a:srgbClr>
            </a:outerShdw>
          </a:effectLst>
        </p:spPr>
      </p:sp>
      <p:sp>
        <p:nvSpPr>
          <p:cNvPr id="7" name="sn_5"/>
          <p:cNvSpPr/>
          <p:nvPr/>
        </p:nvSpPr>
        <p:spPr>
          <a:xfrm>
            <a:off x="118872" y="1261872"/>
            <a:ext cx="384048" cy="384048"/>
          </a:xfrm>
          <a:prstGeom prst="ellipse">
            <a:avLst/>
          </a:prstGeom>
          <a:solidFill>
            <a:srgbClr val="FFD23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8" name="sk_6"/>
          <p:cNvSpPr/>
          <p:nvPr/>
        </p:nvSpPr>
        <p:spPr>
          <a:xfrm>
            <a:off x="521208" y="140817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READ</a:t>
            </a:r>
            <a:endParaRPr lang="en-US" sz="1300" dirty="0"/>
          </a:p>
        </p:txBody>
      </p:sp>
      <p:sp>
        <p:nvSpPr>
          <p:cNvPr id="9" name="se_7"/>
          <p:cNvSpPr/>
          <p:nvPr/>
        </p:nvSpPr>
        <p:spPr>
          <a:xfrm>
            <a:off x="338328" y="170078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Read and listen to the poem.</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Leggi e ascolta la poesia.</a:t>
            </a:r>
            <a:endParaRPr lang="en-US" sz="1050" dirty="0"/>
          </a:p>
        </p:txBody>
      </p:sp>
      <p:sp>
        <p:nvSpPr>
          <p:cNvPr id="10" name="st_8"/>
          <p:cNvSpPr/>
          <p:nvPr/>
        </p:nvSpPr>
        <p:spPr>
          <a:xfrm>
            <a:off x="228600" y="2377440"/>
            <a:ext cx="2743200" cy="914400"/>
          </a:xfrm>
          <a:prstGeom prst="roundRect">
            <a:avLst>
              <a:gd name="adj" fmla="val 12000"/>
            </a:avLst>
          </a:prstGeom>
          <a:solidFill>
            <a:srgbClr val="FFFFFF"/>
          </a:solidFill>
          <a:ln w="38100">
            <a:solidFill>
              <a:srgbClr val="6CCB3B"/>
            </a:solidFill>
            <a:prstDash val="solid"/>
          </a:ln>
          <a:effectLst>
            <a:outerShdw sx="100000" sy="100000" kx="0" ky="0" algn="bl" rotWithShape="0" blurRad="38100" dist="25400" dir="5400000">
              <a:srgbClr val="000000">
                <a:alpha val="18000"/>
              </a:srgbClr>
            </a:outerShdw>
          </a:effectLst>
        </p:spPr>
      </p:sp>
      <p:sp>
        <p:nvSpPr>
          <p:cNvPr id="11" name="sn_9"/>
          <p:cNvSpPr/>
          <p:nvPr/>
        </p:nvSpPr>
        <p:spPr>
          <a:xfrm>
            <a:off x="118872" y="2267712"/>
            <a:ext cx="384048" cy="384048"/>
          </a:xfrm>
          <a:prstGeom prst="ellipse">
            <a:avLst/>
          </a:prstGeom>
          <a:solidFill>
            <a:srgbClr val="6CCB3B"/>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2" name="sk_10"/>
          <p:cNvSpPr/>
          <p:nvPr/>
        </p:nvSpPr>
        <p:spPr>
          <a:xfrm>
            <a:off x="521208" y="241401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DO</a:t>
            </a:r>
            <a:endParaRPr lang="en-US" sz="1300" dirty="0"/>
          </a:p>
        </p:txBody>
      </p:sp>
      <p:sp>
        <p:nvSpPr>
          <p:cNvPr id="13" name="se_11"/>
          <p:cNvSpPr/>
          <p:nvPr/>
        </p:nvSpPr>
        <p:spPr>
          <a:xfrm>
            <a:off x="338328" y="270662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Act out the poem.</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Recita la poesia.</a:t>
            </a:r>
            <a:endParaRPr lang="en-US" sz="1050" dirty="0"/>
          </a:p>
        </p:txBody>
      </p:sp>
      <p:sp>
        <p:nvSpPr>
          <p:cNvPr id="14" name="st_12"/>
          <p:cNvSpPr/>
          <p:nvPr/>
        </p:nvSpPr>
        <p:spPr>
          <a:xfrm>
            <a:off x="228600" y="3383280"/>
            <a:ext cx="2743200" cy="914400"/>
          </a:xfrm>
          <a:prstGeom prst="roundRect">
            <a:avLst>
              <a:gd name="adj" fmla="val 1200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5" name="sn_13"/>
          <p:cNvSpPr/>
          <p:nvPr/>
        </p:nvSpPr>
        <p:spPr>
          <a:xfrm>
            <a:off x="118872" y="32735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6" name="sk_14"/>
          <p:cNvSpPr/>
          <p:nvPr/>
        </p:nvSpPr>
        <p:spPr>
          <a:xfrm>
            <a:off x="521208" y="341985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7" name="se_15"/>
          <p:cNvSpPr/>
          <p:nvPr/>
        </p:nvSpPr>
        <p:spPr>
          <a:xfrm>
            <a:off x="338328" y="371246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How can we help people?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Come possiamo aiutare gli altri?</a:t>
            </a:r>
            <a:endParaRPr lang="en-US" sz="1050" dirty="0"/>
          </a:p>
        </p:txBody>
      </p:sp>
      <p:sp>
        <p:nvSpPr>
          <p:cNvPr id="18" name="pf_16"/>
          <p:cNvSpPr/>
          <p:nvPr/>
        </p:nvSpPr>
        <p:spPr>
          <a:xfrm>
            <a:off x="3191256" y="1271016"/>
            <a:ext cx="3355848" cy="3264408"/>
          </a:xfrm>
          <a:prstGeom prst="roundRect">
            <a:avLst>
              <a:gd name="adj" fmla="val 280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9" name="pic_17" descr="/home/claude/movers/img/crop/u1-p14-fall.jpg">    </p:cNvPr>
          <p:cNvPicPr>
            <a:picLocks noChangeAspect="1"/>
          </p:cNvPicPr>
          <p:nvPr/>
        </p:nvPicPr>
        <p:blipFill>
          <a:blip r:embed="rId2"/>
          <a:stretch>
            <a:fillRect/>
          </a:stretch>
        </p:blipFill>
        <p:spPr>
          <a:xfrm>
            <a:off x="3246120" y="1695238"/>
            <a:ext cx="3246120" cy="2415965"/>
          </a:xfrm>
          <a:prstGeom prst="rect">
            <a:avLst/>
          </a:prstGeom>
        </p:spPr>
      </p:pic>
      <p:sp>
        <p:nvSpPr>
          <p:cNvPr id="20" name="cd_18"/>
          <p:cNvSpPr/>
          <p:nvPr/>
        </p:nvSpPr>
        <p:spPr>
          <a:xfrm>
            <a:off x="6720840" y="3017520"/>
            <a:ext cx="1051560" cy="105156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1" name="ci_19" descr="/home/claude/movers/img/e-u1-race.png">    </p:cNvPr>
          <p:cNvPicPr>
            <a:picLocks noChangeAspect="1"/>
          </p:cNvPicPr>
          <p:nvPr/>
        </p:nvPicPr>
        <p:blipFill>
          <a:blip r:embed="rId3"/>
          <a:stretch>
            <a:fillRect/>
          </a:stretch>
        </p:blipFill>
        <p:spPr>
          <a:xfrm>
            <a:off x="6793992" y="3090672"/>
            <a:ext cx="905256" cy="905256"/>
          </a:xfrm>
          <a:prstGeom prst="rect">
            <a:avLst/>
          </a:prstGeom>
        </p:spPr>
      </p:pic>
      <p:sp>
        <p:nvSpPr>
          <p:cNvPr id="22" name="cd_20"/>
          <p:cNvSpPr/>
          <p:nvPr/>
        </p:nvSpPr>
        <p:spPr>
          <a:xfrm>
            <a:off x="7863840" y="3017520"/>
            <a:ext cx="1051560" cy="105156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3" name="ci_21" descr="/home/claude/movers/img/e-u1-help.png">    </p:cNvPr>
          <p:cNvPicPr>
            <a:picLocks noChangeAspect="1"/>
          </p:cNvPicPr>
          <p:nvPr/>
        </p:nvPicPr>
        <p:blipFill>
          <a:blip r:embed="rId4"/>
          <a:stretch>
            <a:fillRect/>
          </a:stretch>
        </p:blipFill>
        <p:spPr>
          <a:xfrm>
            <a:off x="7936992" y="3090672"/>
            <a:ext cx="905256" cy="905256"/>
          </a:xfrm>
          <a:prstGeom prst="rect">
            <a:avLst/>
          </a:prstGeom>
        </p:spPr>
      </p:pic>
      <p:sp>
        <p:nvSpPr>
          <p:cNvPr id="24" name="bb_22"/>
          <p:cNvSpPr/>
          <p:nvPr/>
        </p:nvSpPr>
        <p:spPr>
          <a:xfrm>
            <a:off x="6675120" y="1874520"/>
            <a:ext cx="2240280" cy="822960"/>
          </a:xfrm>
          <a:prstGeom prst="rect">
            <a:avLst/>
          </a:prstGeom>
          <a:solidFill>
            <a:srgbClr val="FFFFFF"/>
          </a:solidFill>
          <a:ln w="25400">
            <a:solidFill>
              <a:srgbClr val="1E2A5A"/>
            </a:solidFill>
          </a:ln>
        </p:spPr>
        <p:txBody>
          <a:bodyPr wrap="square" lIns="50800" tIns="50800" rIns="50800" bIns="50800" rtlCol="0" anchor="ctr"/>
          <a:lstStyle/>
          <a:p>
            <a:pPr algn="ctr" indent="0" marL="0">
              <a:buNone/>
            </a:pPr>
            <a:r>
              <a:rPr lang="en-US" sz="1500" b="1" dirty="0">
                <a:solidFill>
                  <a:srgbClr val="1E2A5A"/>
                </a:solidFill>
                <a:latin typeface="Arial Rounded MT Bold" pitchFamily="34" charset="0"/>
                <a:ea typeface="Arial Rounded MT Bold" pitchFamily="34" charset="-122"/>
                <a:cs typeface="Arial Rounded MT Bold" pitchFamily="34" charset="-120"/>
              </a:rPr>
              <a:t>Are you OK, Beth?</a:t>
            </a:r>
            <a:endParaRPr lang="en-US" sz="1500" dirty="0"/>
          </a:p>
          <a:p>
            <a:pPr algn="ct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Stai bene, Beth?</a:t>
            </a:r>
            <a:endParaRPr lang="en-US" sz="1500" dirty="0"/>
          </a:p>
        </p:txBody>
      </p:sp>
      <p:sp>
        <p:nvSpPr>
          <p:cNvPr id="25" name="bk_23"/>
          <p:cNvSpPr/>
          <p:nvPr/>
        </p:nvSpPr>
        <p:spPr>
          <a:xfrm>
            <a:off x="228600" y="4681728"/>
            <a:ext cx="295808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pp.14–15 · 🎧 1.20</a:t>
            </a:r>
            <a:endParaRPr lang="en-US" sz="1100" dirty="0"/>
          </a:p>
        </p:txBody>
      </p:sp>
    </p:spTree>
  </p:cSld>
  <p:clrMapOvr>
    <a:masterClrMapping/>
  </p:clrMapOvr>
  <p:transition spd="med">
    <p:push dir="l"/>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REMEMBER?</a:t>
            </a:r>
            <a:endParaRPr lang="en-US" sz="1600" dirty="0"/>
          </a:p>
        </p:txBody>
      </p:sp>
      <p:sp>
        <p:nvSpPr>
          <p:cNvPr id="4" name="bm_25"/>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2545B"/>
                </a:solidFill>
                <a:latin typeface="Arial Black" pitchFamily="34" charset="0"/>
                <a:ea typeface="Arial Black" pitchFamily="34" charset="-122"/>
                <a:cs typeface="Arial Black" pitchFamily="34" charset="-120"/>
              </a:rPr>
              <a:t>Beat the clock!</a:t>
            </a:r>
            <a:endParaRPr lang="en-US" sz="2700" dirty="0"/>
          </a:p>
        </p:txBody>
      </p:sp>
      <p:sp>
        <p:nvSpPr>
          <p:cNvPr id="5" name="in_26"/>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Write 5 planet words in 20 seconds. GO!</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Scrivi 5 parole del pianeta in 20 secondi. VIA!</a:t>
            </a:r>
            <a:endParaRPr lang="en-US" sz="1400" dirty="0"/>
          </a:p>
        </p:txBody>
      </p:sp>
      <p:sp>
        <p:nvSpPr>
          <p:cNvPr id="6" name="mode_27"/>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TEAMS · ⏱ 3 MIN</a:t>
            </a:r>
            <a:endParaRPr lang="en-US" sz="1000" dirty="0"/>
          </a:p>
        </p:txBody>
      </p:sp>
      <p:sp>
        <p:nvSpPr>
          <p:cNvPr id="7" name="diff_28"/>
          <p:cNvSpPr/>
          <p:nvPr/>
        </p:nvSpPr>
        <p:spPr>
          <a:xfrm>
            <a:off x="4343400" y="4681728"/>
            <a:ext cx="457200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air · tap · …</a:t>
            </a:r>
            <a:endParaRPr lang="en-US" sz="950" dirty="0"/>
          </a:p>
        </p:txBody>
      </p:sp>
      <p:sp>
        <p:nvSpPr>
          <p:cNvPr id="8" name="st_29"/>
          <p:cNvSpPr/>
          <p:nvPr/>
        </p:nvSpPr>
        <p:spPr>
          <a:xfrm>
            <a:off x="228600" y="1325880"/>
            <a:ext cx="2651760" cy="975360"/>
          </a:xfrm>
          <a:prstGeom prst="roundRect">
            <a:avLst>
              <a:gd name="adj" fmla="val 11250"/>
            </a:avLst>
          </a:prstGeom>
          <a:solidFill>
            <a:srgbClr val="FFFFFF"/>
          </a:solidFill>
          <a:ln w="38100">
            <a:solidFill>
              <a:srgbClr val="2F9BFF"/>
            </a:solidFill>
            <a:prstDash val="solid"/>
          </a:ln>
          <a:effectLst>
            <a:outerShdw sx="100000" sy="100000" kx="0" ky="0" algn="bl" rotWithShape="0" blurRad="38100" dist="25400" dir="5400000">
              <a:srgbClr val="000000">
                <a:alpha val="18000"/>
              </a:srgbClr>
            </a:outerShdw>
          </a:effectLst>
        </p:spPr>
      </p:sp>
      <p:sp>
        <p:nvSpPr>
          <p:cNvPr id="9" name="sn_30"/>
          <p:cNvSpPr/>
          <p:nvPr/>
        </p:nvSpPr>
        <p:spPr>
          <a:xfrm>
            <a:off x="118872" y="1216152"/>
            <a:ext cx="384048" cy="384048"/>
          </a:xfrm>
          <a:prstGeom prst="ellipse">
            <a:avLst/>
          </a:prstGeom>
          <a:solidFill>
            <a:srgbClr val="2F9BF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0" name="sk_31"/>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LISTEN</a:t>
            </a:r>
            <a:endParaRPr lang="en-US" sz="1300" dirty="0"/>
          </a:p>
        </p:txBody>
      </p:sp>
      <p:sp>
        <p:nvSpPr>
          <p:cNvPr id="11" name="se_32"/>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Teacher: Planet words – GO!</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L'insegnante: parole del pianeta – VIA!</a:t>
            </a:r>
            <a:endParaRPr lang="en-US" sz="1050" dirty="0"/>
          </a:p>
        </p:txBody>
      </p:sp>
      <p:sp>
        <p:nvSpPr>
          <p:cNvPr id="12" name="st_33"/>
          <p:cNvSpPr/>
          <p:nvPr/>
        </p:nvSpPr>
        <p:spPr>
          <a:xfrm>
            <a:off x="228600" y="2392680"/>
            <a:ext cx="2651760" cy="975360"/>
          </a:xfrm>
          <a:prstGeom prst="roundRect">
            <a:avLst>
              <a:gd name="adj" fmla="val 11250"/>
            </a:avLst>
          </a:prstGeom>
          <a:solidFill>
            <a:srgbClr val="FFFFFF"/>
          </a:solidFill>
          <a:ln w="38100">
            <a:solidFill>
              <a:srgbClr val="6CCB3B"/>
            </a:solidFill>
            <a:prstDash val="solid"/>
          </a:ln>
          <a:effectLst>
            <a:outerShdw sx="100000" sy="100000" kx="0" ky="0" algn="bl" rotWithShape="0" blurRad="38100" dist="25400" dir="5400000">
              <a:srgbClr val="000000">
                <a:alpha val="18000"/>
              </a:srgbClr>
            </a:outerShdw>
          </a:effectLst>
        </p:spPr>
      </p:sp>
      <p:sp>
        <p:nvSpPr>
          <p:cNvPr id="13" name="sn_34"/>
          <p:cNvSpPr/>
          <p:nvPr/>
        </p:nvSpPr>
        <p:spPr>
          <a:xfrm>
            <a:off x="118872" y="2282952"/>
            <a:ext cx="384048" cy="384048"/>
          </a:xfrm>
          <a:prstGeom prst="ellipse">
            <a:avLst/>
          </a:prstGeom>
          <a:solidFill>
            <a:srgbClr val="6CCB3B"/>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4" name="sk_35"/>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WRITE</a:t>
            </a:r>
            <a:endParaRPr lang="en-US" sz="1300" dirty="0"/>
          </a:p>
        </p:txBody>
      </p:sp>
      <p:sp>
        <p:nvSpPr>
          <p:cNvPr id="15" name="se_36"/>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Write fast with your team!</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Scrivete veloce in squadra!</a:t>
            </a:r>
            <a:endParaRPr lang="en-US" sz="1050" dirty="0"/>
          </a:p>
        </p:txBody>
      </p:sp>
      <p:sp>
        <p:nvSpPr>
          <p:cNvPr id="16" name="st_37"/>
          <p:cNvSpPr/>
          <p:nvPr/>
        </p:nvSpPr>
        <p:spPr>
          <a:xfrm>
            <a:off x="228600" y="34594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7" name="sn_38"/>
          <p:cNvSpPr/>
          <p:nvPr/>
        </p:nvSpPr>
        <p:spPr>
          <a:xfrm>
            <a:off x="118872" y="33497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8" name="sk_39"/>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9" name="se_40"/>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Read them out: 1 point each!</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Leggetele: 1 punto ciascuna!</a:t>
            </a:r>
            <a:endParaRPr lang="en-US" sz="1050" dirty="0"/>
          </a:p>
        </p:txBody>
      </p:sp>
      <p:sp>
        <p:nvSpPr>
          <p:cNvPr id="20" name="cd_41"/>
          <p:cNvSpPr/>
          <p:nvPr/>
        </p:nvSpPr>
        <p:spPr>
          <a:xfrm>
            <a:off x="3108960" y="1325880"/>
            <a:ext cx="1508760" cy="1508760"/>
          </a:xfrm>
          <a:prstGeom prst="roundRect">
            <a:avLst>
              <a:gd name="adj" fmla="val 7273"/>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1" name="ci_42" descr="/home/claude/movers/img/e-u1-timer.png">    </p:cNvPr>
          <p:cNvPicPr>
            <a:picLocks noChangeAspect="1"/>
          </p:cNvPicPr>
          <p:nvPr/>
        </p:nvPicPr>
        <p:blipFill>
          <a:blip r:embed="rId2"/>
          <a:stretch>
            <a:fillRect/>
          </a:stretch>
        </p:blipFill>
        <p:spPr>
          <a:xfrm>
            <a:off x="3182112" y="1399032"/>
            <a:ext cx="1362456" cy="1362456"/>
          </a:xfrm>
          <a:prstGeom prst="rect">
            <a:avLst/>
          </a:prstGeom>
        </p:spPr>
      </p:pic>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43"/>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44"/>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Poem words</a:t>
            </a:r>
            <a:endParaRPr lang="en-US" sz="3200" dirty="0"/>
          </a:p>
        </p:txBody>
      </p:sp>
      <p:sp>
        <p:nvSpPr>
          <p:cNvPr id="5" name="in_45"/>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46"/>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47" descr="/home/claude/movers/img/e-u1-race.png">    </p:cNvPr>
          <p:cNvPicPr>
            <a:picLocks noChangeAspect="1"/>
          </p:cNvPicPr>
          <p:nvPr/>
        </p:nvPicPr>
        <p:blipFill>
          <a:blip r:embed="rId2"/>
          <a:stretch>
            <a:fillRect/>
          </a:stretch>
        </p:blipFill>
        <p:spPr>
          <a:xfrm>
            <a:off x="3246120" y="1234440"/>
            <a:ext cx="2651760" cy="2651760"/>
          </a:xfrm>
          <a:prstGeom prst="rect">
            <a:avLst/>
          </a:prstGeom>
        </p:spPr>
      </p:pic>
      <p:sp>
        <p:nvSpPr>
          <p:cNvPr id="8" name="R1_w48"/>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race</a:t>
            </a:r>
            <a:endParaRPr lang="en-US" sz="3600" dirty="0"/>
          </a:p>
        </p:txBody>
      </p:sp>
      <p:sp>
        <p:nvSpPr>
          <p:cNvPr id="9" name="R2_it49"/>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gara / corsa</a:t>
            </a:r>
            <a:endParaRPr lang="en-US" sz="1600" dirty="0"/>
          </a:p>
        </p:txBody>
      </p:sp>
      <p:sp>
        <p:nvSpPr>
          <p:cNvPr id="10" name="R3_tpr50"/>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Ready, steady, GO! Run on the spot! 🏃</a:t>
            </a:r>
            <a:endParaRPr lang="en-US" sz="1300" dirty="0"/>
          </a:p>
        </p:txBody>
      </p:sp>
      <p:sp>
        <p:nvSpPr>
          <p:cNvPr id="11" name="n_51"/>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1 / 6</a:t>
            </a:r>
            <a:endParaRPr lang="en-US" sz="1200" dirty="0"/>
          </a:p>
        </p:txBody>
      </p:sp>
      <p:sp>
        <p:nvSpPr>
          <p:cNvPr id="12" name="bk_52"/>
          <p:cNvSpPr/>
          <p:nvPr/>
        </p:nvSpPr>
        <p:spPr>
          <a:xfrm>
            <a:off x="228600" y="4681728"/>
            <a:ext cx="218084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pp.14–15</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53"/>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54"/>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Poem words</a:t>
            </a:r>
            <a:endParaRPr lang="en-US" sz="3200" dirty="0"/>
          </a:p>
        </p:txBody>
      </p:sp>
      <p:sp>
        <p:nvSpPr>
          <p:cNvPr id="5" name="in_55"/>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56"/>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57" descr="/home/claude/movers/img/e-u1-win.png">    </p:cNvPr>
          <p:cNvPicPr>
            <a:picLocks noChangeAspect="1"/>
          </p:cNvPicPr>
          <p:nvPr/>
        </p:nvPicPr>
        <p:blipFill>
          <a:blip r:embed="rId2"/>
          <a:stretch>
            <a:fillRect/>
          </a:stretch>
        </p:blipFill>
        <p:spPr>
          <a:xfrm>
            <a:off x="3246120" y="1234440"/>
            <a:ext cx="2651760" cy="2651760"/>
          </a:xfrm>
          <a:prstGeom prst="rect">
            <a:avLst/>
          </a:prstGeom>
        </p:spPr>
      </p:pic>
      <p:sp>
        <p:nvSpPr>
          <p:cNvPr id="8" name="R1_w58"/>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win</a:t>
            </a:r>
            <a:endParaRPr lang="en-US" sz="3600" dirty="0"/>
          </a:p>
        </p:txBody>
      </p:sp>
      <p:sp>
        <p:nvSpPr>
          <p:cNvPr id="9" name="R2_it59"/>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vincere</a:t>
            </a:r>
            <a:endParaRPr lang="en-US" sz="1600" dirty="0"/>
          </a:p>
        </p:txBody>
      </p:sp>
      <p:sp>
        <p:nvSpPr>
          <p:cNvPr id="10" name="R3_tpr60"/>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Arms up! I'm the winner! 🏆</a:t>
            </a:r>
            <a:endParaRPr lang="en-US" sz="1300" dirty="0"/>
          </a:p>
        </p:txBody>
      </p:sp>
      <p:sp>
        <p:nvSpPr>
          <p:cNvPr id="11" name="n_61"/>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2 / 6</a:t>
            </a:r>
            <a:endParaRPr lang="en-US" sz="1200" dirty="0"/>
          </a:p>
        </p:txBody>
      </p:sp>
      <p:sp>
        <p:nvSpPr>
          <p:cNvPr id="12" name="bk_62"/>
          <p:cNvSpPr/>
          <p:nvPr/>
        </p:nvSpPr>
        <p:spPr>
          <a:xfrm>
            <a:off x="228600" y="4681728"/>
            <a:ext cx="218084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pp.14–15</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63"/>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64"/>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Poem words</a:t>
            </a:r>
            <a:endParaRPr lang="en-US" sz="3200" dirty="0"/>
          </a:p>
        </p:txBody>
      </p:sp>
      <p:sp>
        <p:nvSpPr>
          <p:cNvPr id="5" name="in_65"/>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66"/>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67" descr="/home/claude/movers/img/e-u1-fast.png">    </p:cNvPr>
          <p:cNvPicPr>
            <a:picLocks noChangeAspect="1"/>
          </p:cNvPicPr>
          <p:nvPr/>
        </p:nvPicPr>
        <p:blipFill>
          <a:blip r:embed="rId2"/>
          <a:stretch>
            <a:fillRect/>
          </a:stretch>
        </p:blipFill>
        <p:spPr>
          <a:xfrm>
            <a:off x="3246120" y="1234440"/>
            <a:ext cx="2651760" cy="2651760"/>
          </a:xfrm>
          <a:prstGeom prst="rect">
            <a:avLst/>
          </a:prstGeom>
        </p:spPr>
      </p:pic>
      <p:sp>
        <p:nvSpPr>
          <p:cNvPr id="8" name="R1_w68"/>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fast</a:t>
            </a:r>
            <a:endParaRPr lang="en-US" sz="3600" dirty="0"/>
          </a:p>
        </p:txBody>
      </p:sp>
      <p:sp>
        <p:nvSpPr>
          <p:cNvPr id="9" name="R2_it69"/>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veloce</a:t>
            </a:r>
            <a:endParaRPr lang="en-US" sz="1600" dirty="0"/>
          </a:p>
        </p:txBody>
      </p:sp>
      <p:sp>
        <p:nvSpPr>
          <p:cNvPr id="10" name="R3_tpr70"/>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Run very fast! 💨</a:t>
            </a:r>
            <a:endParaRPr lang="en-US" sz="1300" dirty="0"/>
          </a:p>
        </p:txBody>
      </p:sp>
      <p:sp>
        <p:nvSpPr>
          <p:cNvPr id="11" name="n_71"/>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3 / 6</a:t>
            </a:r>
            <a:endParaRPr lang="en-US" sz="1200" dirty="0"/>
          </a:p>
        </p:txBody>
      </p:sp>
      <p:sp>
        <p:nvSpPr>
          <p:cNvPr id="12" name="bk_72"/>
          <p:cNvSpPr/>
          <p:nvPr/>
        </p:nvSpPr>
        <p:spPr>
          <a:xfrm>
            <a:off x="228600" y="4681728"/>
            <a:ext cx="218084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pp.14–15</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73"/>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74"/>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Poem words</a:t>
            </a:r>
            <a:endParaRPr lang="en-US" sz="3200" dirty="0"/>
          </a:p>
        </p:txBody>
      </p:sp>
      <p:sp>
        <p:nvSpPr>
          <p:cNvPr id="5" name="in_75"/>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76"/>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77" descr="/home/claude/movers/img/e-u1-last.png">    </p:cNvPr>
          <p:cNvPicPr>
            <a:picLocks noChangeAspect="1"/>
          </p:cNvPicPr>
          <p:nvPr/>
        </p:nvPicPr>
        <p:blipFill>
          <a:blip r:embed="rId2"/>
          <a:stretch>
            <a:fillRect/>
          </a:stretch>
        </p:blipFill>
        <p:spPr>
          <a:xfrm>
            <a:off x="3246120" y="1234440"/>
            <a:ext cx="2651760" cy="2651760"/>
          </a:xfrm>
          <a:prstGeom prst="rect">
            <a:avLst/>
          </a:prstGeom>
        </p:spPr>
      </p:pic>
      <p:sp>
        <p:nvSpPr>
          <p:cNvPr id="8" name="R1_w78"/>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last</a:t>
            </a:r>
            <a:endParaRPr lang="en-US" sz="3600" dirty="0"/>
          </a:p>
        </p:txBody>
      </p:sp>
      <p:sp>
        <p:nvSpPr>
          <p:cNvPr id="9" name="R2_it79"/>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ultimo</a:t>
            </a:r>
            <a:endParaRPr lang="en-US" sz="1600" dirty="0"/>
          </a:p>
        </p:txBody>
      </p:sp>
      <p:sp>
        <p:nvSpPr>
          <p:cNvPr id="10" name="R3_tpr80"/>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Walk very slowly… I'm last! 🐌</a:t>
            </a:r>
            <a:endParaRPr lang="en-US" sz="1300" dirty="0"/>
          </a:p>
        </p:txBody>
      </p:sp>
      <p:sp>
        <p:nvSpPr>
          <p:cNvPr id="11" name="n_81"/>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4 / 6</a:t>
            </a:r>
            <a:endParaRPr lang="en-US" sz="1200" dirty="0"/>
          </a:p>
        </p:txBody>
      </p:sp>
      <p:sp>
        <p:nvSpPr>
          <p:cNvPr id="12" name="bk_82"/>
          <p:cNvSpPr/>
          <p:nvPr/>
        </p:nvSpPr>
        <p:spPr>
          <a:xfrm>
            <a:off x="228600" y="4681728"/>
            <a:ext cx="218084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pp.14–15</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83"/>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84"/>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Poem words</a:t>
            </a:r>
            <a:endParaRPr lang="en-US" sz="3200" dirty="0"/>
          </a:p>
        </p:txBody>
      </p:sp>
      <p:sp>
        <p:nvSpPr>
          <p:cNvPr id="5" name="in_85"/>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86"/>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87" descr="/home/claude/movers/img/crop/u1-p14-fall.jpg">    </p:cNvPr>
          <p:cNvPicPr>
            <a:picLocks noChangeAspect="1"/>
          </p:cNvPicPr>
          <p:nvPr/>
        </p:nvPicPr>
        <p:blipFill>
          <a:blip r:embed="rId2"/>
          <a:stretch>
            <a:fillRect/>
          </a:stretch>
        </p:blipFill>
        <p:spPr>
          <a:xfrm>
            <a:off x="3108960" y="1471434"/>
            <a:ext cx="2926080" cy="2177771"/>
          </a:xfrm>
          <a:prstGeom prst="rect">
            <a:avLst/>
          </a:prstGeom>
        </p:spPr>
      </p:pic>
      <p:sp>
        <p:nvSpPr>
          <p:cNvPr id="8" name="R1_w88"/>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fall</a:t>
            </a:r>
            <a:endParaRPr lang="en-US" sz="3600" dirty="0"/>
          </a:p>
        </p:txBody>
      </p:sp>
      <p:sp>
        <p:nvSpPr>
          <p:cNvPr id="9" name="R2_it89"/>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cadere</a:t>
            </a:r>
            <a:endParaRPr lang="en-US" sz="1600" dirty="0"/>
          </a:p>
        </p:txBody>
      </p:sp>
      <p:sp>
        <p:nvSpPr>
          <p:cNvPr id="10" name="R3_tpr90"/>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Fall down slowly… Ouch! 🤕</a:t>
            </a:r>
            <a:endParaRPr lang="en-US" sz="1300" dirty="0"/>
          </a:p>
        </p:txBody>
      </p:sp>
      <p:sp>
        <p:nvSpPr>
          <p:cNvPr id="11" name="n_91"/>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5 / 6</a:t>
            </a:r>
            <a:endParaRPr lang="en-US" sz="1200" dirty="0"/>
          </a:p>
        </p:txBody>
      </p:sp>
      <p:sp>
        <p:nvSpPr>
          <p:cNvPr id="12" name="bk_92"/>
          <p:cNvSpPr/>
          <p:nvPr/>
        </p:nvSpPr>
        <p:spPr>
          <a:xfrm>
            <a:off x="228600" y="4681728"/>
            <a:ext cx="218084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pp.14–15</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93"/>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94"/>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Poem words</a:t>
            </a:r>
            <a:endParaRPr lang="en-US" sz="3200" dirty="0"/>
          </a:p>
        </p:txBody>
      </p:sp>
      <p:sp>
        <p:nvSpPr>
          <p:cNvPr id="5" name="in_95"/>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96"/>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97" descr="/home/claude/movers/img/e-u1-sad.png">    </p:cNvPr>
          <p:cNvPicPr>
            <a:picLocks noChangeAspect="1"/>
          </p:cNvPicPr>
          <p:nvPr/>
        </p:nvPicPr>
        <p:blipFill>
          <a:blip r:embed="rId2"/>
          <a:stretch>
            <a:fillRect/>
          </a:stretch>
        </p:blipFill>
        <p:spPr>
          <a:xfrm>
            <a:off x="3246120" y="1234440"/>
            <a:ext cx="2651760" cy="2651760"/>
          </a:xfrm>
          <a:prstGeom prst="rect">
            <a:avLst/>
          </a:prstGeom>
        </p:spPr>
      </p:pic>
      <p:sp>
        <p:nvSpPr>
          <p:cNvPr id="8" name="R1_w98"/>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feel sad</a:t>
            </a:r>
            <a:endParaRPr lang="en-US" sz="3600" dirty="0"/>
          </a:p>
        </p:txBody>
      </p:sp>
      <p:sp>
        <p:nvSpPr>
          <p:cNvPr id="9" name="R2_it99"/>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sentirsi triste</a:t>
            </a:r>
            <a:endParaRPr lang="en-US" sz="1600" dirty="0"/>
          </a:p>
        </p:txBody>
      </p:sp>
      <p:sp>
        <p:nvSpPr>
          <p:cNvPr id="10" name="R3_tpr100"/>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Make a sad face. Boo-hoo! 😢</a:t>
            </a:r>
            <a:endParaRPr lang="en-US" sz="1300" dirty="0"/>
          </a:p>
        </p:txBody>
      </p:sp>
      <p:sp>
        <p:nvSpPr>
          <p:cNvPr id="11" name="n_101"/>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6 / 6</a:t>
            </a:r>
            <a:endParaRPr lang="en-US" sz="1200" dirty="0"/>
          </a:p>
        </p:txBody>
      </p:sp>
      <p:sp>
        <p:nvSpPr>
          <p:cNvPr id="12" name="bk_102"/>
          <p:cNvSpPr/>
          <p:nvPr/>
        </p:nvSpPr>
        <p:spPr>
          <a:xfrm>
            <a:off x="228600" y="4681728"/>
            <a:ext cx="218084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pp.14–15</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03"/>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LOOK 1</a:t>
            </a:r>
            <a:endParaRPr lang="en-US" sz="1600" dirty="0"/>
          </a:p>
        </p:txBody>
      </p:sp>
      <p:sp>
        <p:nvSpPr>
          <p:cNvPr id="4" name="bm_104"/>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What happens?</a:t>
            </a:r>
            <a:endParaRPr lang="en-US" sz="2700" dirty="0"/>
          </a:p>
        </p:txBody>
      </p:sp>
      <p:sp>
        <p:nvSpPr>
          <p:cNvPr id="5" name="in_105"/>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at the pictures. Where are the girls? What are they doing?</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Dove sono le ragazze? Cosa fanno?</a:t>
            </a:r>
            <a:endParaRPr lang="en-US" sz="1400" dirty="0"/>
          </a:p>
        </p:txBody>
      </p:sp>
      <p:sp>
        <p:nvSpPr>
          <p:cNvPr id="6" name="mode_106"/>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4 MIN</a:t>
            </a:r>
            <a:endParaRPr lang="en-US" sz="1000" dirty="0"/>
          </a:p>
        </p:txBody>
      </p:sp>
      <p:sp>
        <p:nvSpPr>
          <p:cNvPr id="7" name="diff_107"/>
          <p:cNvSpPr/>
          <p:nvPr/>
        </p:nvSpPr>
        <p:spPr>
          <a:xfrm>
            <a:off x="4343400" y="4681728"/>
            <a:ext cx="457200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They're …ing.</a:t>
            </a:r>
            <a:endParaRPr lang="en-US" sz="950" dirty="0"/>
          </a:p>
        </p:txBody>
      </p:sp>
      <p:sp>
        <p:nvSpPr>
          <p:cNvPr id="8" name="pf_108"/>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9" name="pic_109" descr="/home/claude/movers/img/crop/u1-p14-left.jpg">    </p:cNvPr>
          <p:cNvPicPr>
            <a:picLocks noChangeAspect="1"/>
          </p:cNvPicPr>
          <p:nvPr/>
        </p:nvPicPr>
        <p:blipFill>
          <a:blip r:embed="rId2"/>
          <a:stretch>
            <a:fillRect/>
          </a:stretch>
        </p:blipFill>
        <p:spPr>
          <a:xfrm>
            <a:off x="1525294" y="1325880"/>
            <a:ext cx="2801573" cy="3246120"/>
          </a:xfrm>
          <a:prstGeom prst="rect">
            <a:avLst/>
          </a:prstGeom>
        </p:spPr>
      </p:pic>
      <p:sp>
        <p:nvSpPr>
          <p:cNvPr id="10" name="q_110"/>
          <p:cNvSpPr/>
          <p:nvPr/>
        </p:nvSpPr>
        <p:spPr>
          <a:xfrm>
            <a:off x="5760720" y="132588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Picture 1: Where are they?</a:t>
            </a:r>
            <a:endParaRPr lang="en-US" sz="1250" dirty="0"/>
          </a:p>
        </p:txBody>
      </p:sp>
      <p:sp>
        <p:nvSpPr>
          <p:cNvPr id="11" name="R1_a111"/>
          <p:cNvSpPr/>
          <p:nvPr/>
        </p:nvSpPr>
        <p:spPr>
          <a:xfrm>
            <a:off x="5989320" y="1753819"/>
            <a:ext cx="2788920" cy="378562"/>
          </a:xfrm>
          <a:prstGeom prst="rect">
            <a:avLst/>
          </a:prstGeom>
          <a:noFill/>
          <a:ln/>
        </p:spPr>
        <p:txBody>
          <a:bodyPr wrap="square" lIns="0" tIns="0" rIns="0" bIns="0" rtlCol="0" anchor="t"/>
          <a:lstStyle/>
          <a:p>
            <a:pPr indent="0" marL="0">
              <a:buNone/>
            </a:pPr>
            <a:r>
              <a:rPr lang="en-US" sz="1200" b="1" dirty="0">
                <a:solidFill>
                  <a:srgbClr val="6CCB3B"/>
                </a:solidFill>
                <a:latin typeface="Arial Rounded MT Bold" pitchFamily="34" charset="0"/>
                <a:ea typeface="Arial Rounded MT Bold" pitchFamily="34" charset="-122"/>
                <a:cs typeface="Arial Rounded MT Bold" pitchFamily="34" charset="-120"/>
              </a:rPr>
              <a:t>At home. They're cleaning their teeth.</a:t>
            </a:r>
            <a:endParaRPr lang="en-US" sz="1200" dirty="0"/>
          </a:p>
        </p:txBody>
      </p:sp>
      <p:sp>
        <p:nvSpPr>
          <p:cNvPr id="12" name="q_112"/>
          <p:cNvSpPr/>
          <p:nvPr/>
        </p:nvSpPr>
        <p:spPr>
          <a:xfrm>
            <a:off x="5760720" y="214884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Picture 2: Where are they now?</a:t>
            </a:r>
            <a:endParaRPr lang="en-US" sz="1250" dirty="0"/>
          </a:p>
        </p:txBody>
      </p:sp>
      <p:sp>
        <p:nvSpPr>
          <p:cNvPr id="13" name="R2_a113"/>
          <p:cNvSpPr/>
          <p:nvPr/>
        </p:nvSpPr>
        <p:spPr>
          <a:xfrm>
            <a:off x="5989320" y="2576779"/>
            <a:ext cx="2788920" cy="378562"/>
          </a:xfrm>
          <a:prstGeom prst="rect">
            <a:avLst/>
          </a:prstGeom>
          <a:noFill/>
          <a:ln/>
        </p:spPr>
        <p:txBody>
          <a:bodyPr wrap="square" lIns="0" tIns="0" rIns="0" bIns="0" rtlCol="0" anchor="t"/>
          <a:lstStyle/>
          <a:p>
            <a:pPr indent="0" marL="0">
              <a:buNone/>
            </a:pPr>
            <a:r>
              <a:rPr lang="en-US" sz="1200" b="1" dirty="0">
                <a:solidFill>
                  <a:srgbClr val="6CCB3B"/>
                </a:solidFill>
                <a:latin typeface="Arial Rounded MT Bold" pitchFamily="34" charset="0"/>
                <a:ea typeface="Arial Rounded MT Bold" pitchFamily="34" charset="-122"/>
                <a:cs typeface="Arial Rounded MT Bold" pitchFamily="34" charset="-120"/>
              </a:rPr>
              <a:t>In the countryside, near some fields.</a:t>
            </a:r>
            <a:endParaRPr lang="en-US" sz="1200" dirty="0"/>
          </a:p>
        </p:txBody>
      </p:sp>
      <p:sp>
        <p:nvSpPr>
          <p:cNvPr id="14" name="q_114"/>
          <p:cNvSpPr/>
          <p:nvPr/>
        </p:nvSpPr>
        <p:spPr>
          <a:xfrm>
            <a:off x="5760720" y="297180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Picture 3: What's happening?</a:t>
            </a:r>
            <a:endParaRPr lang="en-US" sz="1250" dirty="0"/>
          </a:p>
        </p:txBody>
      </p:sp>
      <p:sp>
        <p:nvSpPr>
          <p:cNvPr id="15" name="R3_a115"/>
          <p:cNvSpPr/>
          <p:nvPr/>
        </p:nvSpPr>
        <p:spPr>
          <a:xfrm>
            <a:off x="5989320" y="339973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They're racing. One girl falls.</a:t>
            </a:r>
            <a:endParaRPr lang="en-US" sz="1250" dirty="0"/>
          </a:p>
        </p:txBody>
      </p:sp>
      <p:sp>
        <p:nvSpPr>
          <p:cNvPr id="16" name="q_116"/>
          <p:cNvSpPr/>
          <p:nvPr/>
        </p:nvSpPr>
        <p:spPr>
          <a:xfrm>
            <a:off x="5760720" y="379476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Guess! What does the other girl do?</a:t>
            </a:r>
            <a:endParaRPr lang="en-US" sz="1250" dirty="0"/>
          </a:p>
        </p:txBody>
      </p:sp>
      <p:sp>
        <p:nvSpPr>
          <p:cNvPr id="17" name="R4_a117"/>
          <p:cNvSpPr/>
          <p:nvPr/>
        </p:nvSpPr>
        <p:spPr>
          <a:xfrm>
            <a:off x="5989320" y="4222699"/>
            <a:ext cx="2788920" cy="378562"/>
          </a:xfrm>
          <a:prstGeom prst="rect">
            <a:avLst/>
          </a:prstGeom>
          <a:noFill/>
          <a:ln/>
        </p:spPr>
        <p:txBody>
          <a:bodyPr wrap="square" lIns="0" tIns="0" rIns="0" bIns="0" rtlCol="0" anchor="t"/>
          <a:lstStyle/>
          <a:p>
            <a:pPr indent="0" marL="0">
              <a:buNone/>
            </a:pPr>
            <a:r>
              <a:rPr lang="en-US" sz="1200" b="1" dirty="0">
                <a:solidFill>
                  <a:srgbClr val="6CCB3B"/>
                </a:solidFill>
                <a:latin typeface="Arial Rounded MT Bold" pitchFamily="34" charset="0"/>
                <a:ea typeface="Arial Rounded MT Bold" pitchFamily="34" charset="-122"/>
                <a:cs typeface="Arial Rounded MT Bold" pitchFamily="34" charset="-120"/>
              </a:rPr>
              <a:t>She goes back and helps! (page 15)</a:t>
            </a:r>
            <a:endParaRPr lang="en-US" sz="1200" dirty="0"/>
          </a:p>
        </p:txBody>
      </p:sp>
      <p:sp>
        <p:nvSpPr>
          <p:cNvPr id="18" name="bk_118"/>
          <p:cNvSpPr/>
          <p:nvPr/>
        </p:nvSpPr>
        <p:spPr>
          <a:xfrm>
            <a:off x="228600" y="4681728"/>
            <a:ext cx="218084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pp.14–15</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4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19"/>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POEM</a:t>
            </a:r>
            <a:endParaRPr lang="en-US" sz="1600" dirty="0"/>
          </a:p>
        </p:txBody>
      </p:sp>
      <p:sp>
        <p:nvSpPr>
          <p:cNvPr id="4" name="bm_120"/>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The race (1)</a:t>
            </a:r>
            <a:endParaRPr lang="en-US" sz="3200" dirty="0"/>
          </a:p>
        </p:txBody>
      </p:sp>
      <p:sp>
        <p:nvSpPr>
          <p:cNvPr id="5" name="in_121"/>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and read. What's the dog's name?</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e leggi. Come si chiama il cane?</a:t>
            </a:r>
            <a:endParaRPr lang="en-US" sz="1400" dirty="0"/>
          </a:p>
        </p:txBody>
      </p:sp>
      <p:sp>
        <p:nvSpPr>
          <p:cNvPr id="6" name="mode_122"/>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LISTEN + READ · ⏱ 3 MIN</a:t>
            </a:r>
            <a:endParaRPr lang="en-US" sz="1000" dirty="0"/>
          </a:p>
        </p:txBody>
      </p:sp>
      <p:sp>
        <p:nvSpPr>
          <p:cNvPr id="7" name="pf_123"/>
          <p:cNvSpPr/>
          <p:nvPr/>
        </p:nvSpPr>
        <p:spPr>
          <a:xfrm>
            <a:off x="310896" y="1271016"/>
            <a:ext cx="852220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124" descr="/home/claude/movers/img/u1-poem1.png">    </p:cNvPr>
          <p:cNvPicPr>
            <a:picLocks noChangeAspect="1"/>
          </p:cNvPicPr>
          <p:nvPr/>
        </p:nvPicPr>
        <p:blipFill>
          <a:blip r:embed="rId2"/>
          <a:stretch>
            <a:fillRect/>
          </a:stretch>
        </p:blipFill>
        <p:spPr>
          <a:xfrm>
            <a:off x="1454537" y="1325880"/>
            <a:ext cx="6234926" cy="3246120"/>
          </a:xfrm>
          <a:prstGeom prst="rect">
            <a:avLst/>
          </a:prstGeom>
        </p:spPr>
      </p:pic>
      <p:sp>
        <p:nvSpPr>
          <p:cNvPr id="9" name="bk_125"/>
          <p:cNvSpPr/>
          <p:nvPr/>
        </p:nvSpPr>
        <p:spPr>
          <a:xfrm>
            <a:off x="228600" y="4681728"/>
            <a:ext cx="264718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p.14 · 🎧 1.20</a:t>
            </a:r>
            <a:endParaRPr lang="en-US" sz="110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26"/>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POEM</a:t>
            </a:r>
            <a:endParaRPr lang="en-US" sz="1600" dirty="0"/>
          </a:p>
        </p:txBody>
      </p:sp>
      <p:sp>
        <p:nvSpPr>
          <p:cNvPr id="4" name="bm_127"/>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The race (2)</a:t>
            </a:r>
            <a:endParaRPr lang="en-US" sz="3200" dirty="0"/>
          </a:p>
        </p:txBody>
      </p:sp>
      <p:sp>
        <p:nvSpPr>
          <p:cNvPr id="5" name="in_128"/>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and read. Who's winning the race?</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e leggi. Chi sta vincendo?</a:t>
            </a:r>
            <a:endParaRPr lang="en-US" sz="1400" dirty="0"/>
          </a:p>
        </p:txBody>
      </p:sp>
      <p:sp>
        <p:nvSpPr>
          <p:cNvPr id="6" name="mode_129"/>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LISTEN + READ · ⏱ 2 MIN</a:t>
            </a:r>
            <a:endParaRPr lang="en-US" sz="1000" dirty="0"/>
          </a:p>
        </p:txBody>
      </p:sp>
      <p:sp>
        <p:nvSpPr>
          <p:cNvPr id="7" name="pf_130"/>
          <p:cNvSpPr/>
          <p:nvPr/>
        </p:nvSpPr>
        <p:spPr>
          <a:xfrm>
            <a:off x="310896" y="1271016"/>
            <a:ext cx="852220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131" descr="/home/claude/movers/img/u1-poem2.png">    </p:cNvPr>
          <p:cNvPicPr>
            <a:picLocks noChangeAspect="1"/>
          </p:cNvPicPr>
          <p:nvPr/>
        </p:nvPicPr>
        <p:blipFill>
          <a:blip r:embed="rId2"/>
          <a:stretch>
            <a:fillRect/>
          </a:stretch>
        </p:blipFill>
        <p:spPr>
          <a:xfrm>
            <a:off x="920115" y="1325880"/>
            <a:ext cx="7303770" cy="3246120"/>
          </a:xfrm>
          <a:prstGeom prst="rect">
            <a:avLst/>
          </a:prstGeom>
        </p:spPr>
      </p:pic>
      <p:sp>
        <p:nvSpPr>
          <p:cNvPr id="9" name="bk_132"/>
          <p:cNvSpPr/>
          <p:nvPr/>
        </p:nvSpPr>
        <p:spPr>
          <a:xfrm>
            <a:off x="228600" y="4681728"/>
            <a:ext cx="264718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p.14 · 🎧 1.20</a:t>
            </a:r>
            <a:endParaRPr lang="en-US" sz="1100" dirty="0"/>
          </a:p>
        </p:txBody>
      </p:sp>
    </p:spTree>
  </p:cSld>
  <p:clrMapOvr>
    <a:masterClrMapping/>
  </p:clrMapOvr>
  <p:transition spd="med">
    <p:push dir="l"/>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33"/>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POEM</a:t>
            </a:r>
            <a:endParaRPr lang="en-US" sz="1600" dirty="0"/>
          </a:p>
        </p:txBody>
      </p:sp>
      <p:sp>
        <p:nvSpPr>
          <p:cNvPr id="4" name="bm_134"/>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The race (3)</a:t>
            </a:r>
            <a:endParaRPr lang="en-US" sz="3200" dirty="0"/>
          </a:p>
        </p:txBody>
      </p:sp>
      <p:sp>
        <p:nvSpPr>
          <p:cNvPr id="5" name="in_135"/>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and read. Was your guess right?</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e leggi. Avevi indovinato?</a:t>
            </a:r>
            <a:endParaRPr lang="en-US" sz="1400" dirty="0"/>
          </a:p>
        </p:txBody>
      </p:sp>
      <p:sp>
        <p:nvSpPr>
          <p:cNvPr id="6" name="mode_136"/>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LISTEN + READ · ⏱ 3 MIN</a:t>
            </a:r>
            <a:endParaRPr lang="en-US" sz="1000" dirty="0"/>
          </a:p>
        </p:txBody>
      </p:sp>
      <p:sp>
        <p:nvSpPr>
          <p:cNvPr id="7" name="pf_137"/>
          <p:cNvSpPr/>
          <p:nvPr/>
        </p:nvSpPr>
        <p:spPr>
          <a:xfrm>
            <a:off x="310896" y="1271016"/>
            <a:ext cx="852220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138" descr="/home/claude/movers/img/u1-poem3.png">    </p:cNvPr>
          <p:cNvPicPr>
            <a:picLocks noChangeAspect="1"/>
          </p:cNvPicPr>
          <p:nvPr/>
        </p:nvPicPr>
        <p:blipFill>
          <a:blip r:embed="rId2"/>
          <a:stretch>
            <a:fillRect/>
          </a:stretch>
        </p:blipFill>
        <p:spPr>
          <a:xfrm>
            <a:off x="1454537" y="1325880"/>
            <a:ext cx="6234926" cy="3246120"/>
          </a:xfrm>
          <a:prstGeom prst="rect">
            <a:avLst/>
          </a:prstGeom>
        </p:spPr>
      </p:pic>
      <p:sp>
        <p:nvSpPr>
          <p:cNvPr id="9" name="bk_139"/>
          <p:cNvSpPr/>
          <p:nvPr/>
        </p:nvSpPr>
        <p:spPr>
          <a:xfrm>
            <a:off x="228600" y="4681728"/>
            <a:ext cx="264718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p.15 · 🎧 1.20</a:t>
            </a:r>
            <a:endParaRPr lang="en-US" sz="1100" dirty="0"/>
          </a:p>
        </p:txBody>
      </p:sp>
    </p:spTree>
  </p:cSld>
  <p:clrMapOvr>
    <a:masterClrMapping/>
  </p:clrMapOvr>
  <p:transition spd="med">
    <p:push dir="l"/>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40"/>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QUIZ</a:t>
            </a:r>
            <a:endParaRPr lang="en-US" sz="1600" dirty="0"/>
          </a:p>
        </p:txBody>
      </p:sp>
      <p:sp>
        <p:nvSpPr>
          <p:cNvPr id="4" name="bm_141"/>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The race – quiz</a:t>
            </a:r>
            <a:endParaRPr lang="en-US" sz="2700" dirty="0"/>
          </a:p>
        </p:txBody>
      </p:sp>
      <p:sp>
        <p:nvSpPr>
          <p:cNvPr id="5" name="in_142"/>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Whisper to your partner. Then hands up!</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Bisbiglia al compagno. Poi alza la mano!</a:t>
            </a:r>
            <a:endParaRPr lang="en-US" sz="1400" dirty="0"/>
          </a:p>
        </p:txBody>
      </p:sp>
      <p:sp>
        <p:nvSpPr>
          <p:cNvPr id="6" name="mode_143"/>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TEAMS · ⏱ 3 MIN</a:t>
            </a:r>
            <a:endParaRPr lang="en-US" sz="1000" dirty="0"/>
          </a:p>
        </p:txBody>
      </p:sp>
      <p:sp>
        <p:nvSpPr>
          <p:cNvPr id="7" name="pf_144"/>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145" descr="/home/claude/movers/img/crop/u1-p15-help.jpg">    </p:cNvPr>
          <p:cNvPicPr>
            <a:picLocks noChangeAspect="1"/>
          </p:cNvPicPr>
          <p:nvPr/>
        </p:nvPicPr>
        <p:blipFill>
          <a:blip r:embed="rId2"/>
          <a:stretch>
            <a:fillRect/>
          </a:stretch>
        </p:blipFill>
        <p:spPr>
          <a:xfrm>
            <a:off x="680966" y="1325880"/>
            <a:ext cx="4490228" cy="3246120"/>
          </a:xfrm>
          <a:prstGeom prst="rect">
            <a:avLst/>
          </a:prstGeom>
        </p:spPr>
      </p:pic>
      <p:sp>
        <p:nvSpPr>
          <p:cNvPr id="9" name="q_146"/>
          <p:cNvSpPr/>
          <p:nvPr/>
        </p:nvSpPr>
        <p:spPr>
          <a:xfrm>
            <a:off x="5760720" y="1325880"/>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What's the dog's name?</a:t>
            </a:r>
            <a:endParaRPr lang="en-US" sz="1250" dirty="0"/>
          </a:p>
        </p:txBody>
      </p:sp>
      <p:sp>
        <p:nvSpPr>
          <p:cNvPr id="10" name="R1_a147"/>
          <p:cNvSpPr/>
          <p:nvPr/>
        </p:nvSpPr>
        <p:spPr>
          <a:xfrm>
            <a:off x="5989320" y="1668231"/>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Jess.</a:t>
            </a:r>
            <a:endParaRPr lang="en-US" sz="1250" dirty="0"/>
          </a:p>
        </p:txBody>
      </p:sp>
      <p:sp>
        <p:nvSpPr>
          <p:cNvPr id="11" name="q_148"/>
          <p:cNvSpPr/>
          <p:nvPr/>
        </p:nvSpPr>
        <p:spPr>
          <a:xfrm>
            <a:off x="5760720" y="1984248"/>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Who's winning the race?</a:t>
            </a:r>
            <a:endParaRPr lang="en-US" sz="1250" dirty="0"/>
          </a:p>
        </p:txBody>
      </p:sp>
      <p:sp>
        <p:nvSpPr>
          <p:cNvPr id="12" name="R2_a149"/>
          <p:cNvSpPr/>
          <p:nvPr/>
        </p:nvSpPr>
        <p:spPr>
          <a:xfrm>
            <a:off x="5989320" y="2326599"/>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Beth.</a:t>
            </a:r>
            <a:endParaRPr lang="en-US" sz="1250" dirty="0"/>
          </a:p>
        </p:txBody>
      </p:sp>
      <p:sp>
        <p:nvSpPr>
          <p:cNvPr id="13" name="q_150"/>
          <p:cNvSpPr/>
          <p:nvPr/>
        </p:nvSpPr>
        <p:spPr>
          <a:xfrm>
            <a:off x="5760720" y="2642616"/>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Why does Beth fall?</a:t>
            </a:r>
            <a:endParaRPr lang="en-US" sz="1250" dirty="0"/>
          </a:p>
        </p:txBody>
      </p:sp>
      <p:sp>
        <p:nvSpPr>
          <p:cNvPr id="14" name="R3_a151"/>
          <p:cNvSpPr/>
          <p:nvPr/>
        </p:nvSpPr>
        <p:spPr>
          <a:xfrm>
            <a:off x="5989320" y="2984967"/>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There's a rock in the leaves.</a:t>
            </a:r>
            <a:endParaRPr lang="en-US" sz="1250" dirty="0"/>
          </a:p>
        </p:txBody>
      </p:sp>
      <p:sp>
        <p:nvSpPr>
          <p:cNvPr id="15" name="q_152"/>
          <p:cNvSpPr/>
          <p:nvPr/>
        </p:nvSpPr>
        <p:spPr>
          <a:xfrm>
            <a:off x="5760720" y="3300984"/>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How does Gwen feel?</a:t>
            </a:r>
            <a:endParaRPr lang="en-US" sz="1250" dirty="0"/>
          </a:p>
        </p:txBody>
      </p:sp>
      <p:sp>
        <p:nvSpPr>
          <p:cNvPr id="16" name="R4_a153"/>
          <p:cNvSpPr/>
          <p:nvPr/>
        </p:nvSpPr>
        <p:spPr>
          <a:xfrm>
            <a:off x="5989320" y="3643335"/>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Sad.</a:t>
            </a:r>
            <a:endParaRPr lang="en-US" sz="1250" dirty="0"/>
          </a:p>
        </p:txBody>
      </p:sp>
      <p:sp>
        <p:nvSpPr>
          <p:cNvPr id="17" name="q_154"/>
          <p:cNvSpPr/>
          <p:nvPr/>
        </p:nvSpPr>
        <p:spPr>
          <a:xfrm>
            <a:off x="5760720" y="3959352"/>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5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What does Gwen do?</a:t>
            </a:r>
            <a:endParaRPr lang="en-US" sz="1250" dirty="0"/>
          </a:p>
        </p:txBody>
      </p:sp>
      <p:sp>
        <p:nvSpPr>
          <p:cNvPr id="18" name="R5_a155"/>
          <p:cNvSpPr/>
          <p:nvPr/>
        </p:nvSpPr>
        <p:spPr>
          <a:xfrm>
            <a:off x="5989320" y="4301703"/>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She helps her sister.</a:t>
            </a:r>
            <a:endParaRPr lang="en-US" sz="1250" dirty="0"/>
          </a:p>
        </p:txBody>
      </p:sp>
      <p:sp>
        <p:nvSpPr>
          <p:cNvPr id="19" name="bk_156"/>
          <p:cNvSpPr/>
          <p:nvPr/>
        </p:nvSpPr>
        <p:spPr>
          <a:xfrm>
            <a:off x="228600" y="4681728"/>
            <a:ext cx="295808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pp.14–15 · 🎧 1.20</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57"/>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SAY IT!</a:t>
            </a:r>
            <a:endParaRPr lang="en-US" sz="1600" dirty="0"/>
          </a:p>
        </p:txBody>
      </p:sp>
      <p:sp>
        <p:nvSpPr>
          <p:cNvPr id="4" name="bm_158"/>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8A3D"/>
                </a:solidFill>
                <a:latin typeface="Arial Black" pitchFamily="34" charset="0"/>
                <a:ea typeface="Arial Black" pitchFamily="34" charset="-122"/>
                <a:cs typeface="Arial Black" pitchFamily="34" charset="-120"/>
              </a:rPr>
              <a:t>Rhyme time!</a:t>
            </a:r>
            <a:endParaRPr lang="en-US" sz="3200" dirty="0"/>
          </a:p>
        </p:txBody>
      </p:sp>
      <p:sp>
        <p:nvSpPr>
          <p:cNvPr id="5" name="in_159"/>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Find the rhyming pairs in the poem!</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Trova le coppie di parole in rima!</a:t>
            </a:r>
            <a:endParaRPr lang="en-US" sz="1400" dirty="0"/>
          </a:p>
        </p:txBody>
      </p:sp>
      <p:sp>
        <p:nvSpPr>
          <p:cNvPr id="6" name="mode_160"/>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3 MIN</a:t>
            </a:r>
            <a:endParaRPr lang="en-US" sz="1000" dirty="0"/>
          </a:p>
        </p:txBody>
      </p:sp>
      <p:sp>
        <p:nvSpPr>
          <p:cNvPr id="7" name="st_161"/>
          <p:cNvSpPr/>
          <p:nvPr/>
        </p:nvSpPr>
        <p:spPr>
          <a:xfrm>
            <a:off x="228600" y="1325880"/>
            <a:ext cx="2651760" cy="975360"/>
          </a:xfrm>
          <a:prstGeom prst="roundRect">
            <a:avLst>
              <a:gd name="adj" fmla="val 11250"/>
            </a:avLst>
          </a:prstGeom>
          <a:solidFill>
            <a:srgbClr val="FFFFFF"/>
          </a:solidFill>
          <a:ln w="38100">
            <a:solidFill>
              <a:srgbClr val="2F9BFF"/>
            </a:solidFill>
            <a:prstDash val="solid"/>
          </a:ln>
          <a:effectLst>
            <a:outerShdw sx="100000" sy="100000" kx="0" ky="0" algn="bl" rotWithShape="0" blurRad="38100" dist="25400" dir="5400000">
              <a:srgbClr val="000000">
                <a:alpha val="18000"/>
              </a:srgbClr>
            </a:outerShdw>
          </a:effectLst>
        </p:spPr>
      </p:sp>
      <p:sp>
        <p:nvSpPr>
          <p:cNvPr id="8" name="sn_162"/>
          <p:cNvSpPr/>
          <p:nvPr/>
        </p:nvSpPr>
        <p:spPr>
          <a:xfrm>
            <a:off x="118872" y="1216152"/>
            <a:ext cx="384048" cy="384048"/>
          </a:xfrm>
          <a:prstGeom prst="ellipse">
            <a:avLst/>
          </a:prstGeom>
          <a:solidFill>
            <a:srgbClr val="2F9BF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9" name="sk_163"/>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LISTEN</a:t>
            </a:r>
            <a:endParaRPr lang="en-US" sz="1300" dirty="0"/>
          </a:p>
        </p:txBody>
      </p:sp>
      <p:sp>
        <p:nvSpPr>
          <p:cNvPr id="10" name="se_164"/>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nose … ?</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nose … ?</a:t>
            </a:r>
            <a:endParaRPr lang="en-US" sz="1050" dirty="0"/>
          </a:p>
        </p:txBody>
      </p:sp>
      <p:sp>
        <p:nvSpPr>
          <p:cNvPr id="11" name="st_165"/>
          <p:cNvSpPr/>
          <p:nvPr/>
        </p:nvSpPr>
        <p:spPr>
          <a:xfrm>
            <a:off x="228600" y="23926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2" name="sn_166"/>
          <p:cNvSpPr/>
          <p:nvPr/>
        </p:nvSpPr>
        <p:spPr>
          <a:xfrm>
            <a:off x="118872" y="22829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3" name="sk_167"/>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4" name="se_168"/>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goes! Same sound at the end!</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goes! Stesso suono finale!</a:t>
            </a:r>
            <a:endParaRPr lang="en-US" sz="1050" dirty="0"/>
          </a:p>
        </p:txBody>
      </p:sp>
      <p:sp>
        <p:nvSpPr>
          <p:cNvPr id="15" name="st_169"/>
          <p:cNvSpPr/>
          <p:nvPr/>
        </p:nvSpPr>
        <p:spPr>
          <a:xfrm>
            <a:off x="228600" y="3459480"/>
            <a:ext cx="2651760" cy="975360"/>
          </a:xfrm>
          <a:prstGeom prst="roundRect">
            <a:avLst>
              <a:gd name="adj" fmla="val 11250"/>
            </a:avLst>
          </a:prstGeom>
          <a:solidFill>
            <a:srgbClr val="FFFFFF"/>
          </a:solidFill>
          <a:ln w="38100">
            <a:solidFill>
              <a:srgbClr val="6CCB3B"/>
            </a:solidFill>
            <a:prstDash val="solid"/>
          </a:ln>
          <a:effectLst>
            <a:outerShdw sx="100000" sy="100000" kx="0" ky="0" algn="bl" rotWithShape="0" blurRad="38100" dist="25400" dir="5400000">
              <a:srgbClr val="000000">
                <a:alpha val="18000"/>
              </a:srgbClr>
            </a:outerShdw>
          </a:effectLst>
        </p:spPr>
      </p:sp>
      <p:sp>
        <p:nvSpPr>
          <p:cNvPr id="16" name="sn_170"/>
          <p:cNvSpPr/>
          <p:nvPr/>
        </p:nvSpPr>
        <p:spPr>
          <a:xfrm>
            <a:off x="118872" y="3349752"/>
            <a:ext cx="384048" cy="384048"/>
          </a:xfrm>
          <a:prstGeom prst="ellipse">
            <a:avLst/>
          </a:prstGeom>
          <a:solidFill>
            <a:srgbClr val="6CCB3B"/>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7" name="sk_171"/>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DO</a:t>
            </a:r>
            <a:endParaRPr lang="en-US" sz="1300" dirty="0"/>
          </a:p>
        </p:txBody>
      </p:sp>
      <p:sp>
        <p:nvSpPr>
          <p:cNvPr id="18" name="se_172"/>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Clap on the rhyme!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Batti le mani sulla rima!</a:t>
            </a:r>
            <a:endParaRPr lang="en-US" sz="1050" dirty="0"/>
          </a:p>
        </p:txBody>
      </p:sp>
      <p:sp>
        <p:nvSpPr>
          <p:cNvPr id="19" name="gl_173"/>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nose · run · fast · see · Jess</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last · goes · yes · fun · me</a:t>
            </a:r>
            <a:endParaRPr lang="en-US" sz="1400" dirty="0"/>
          </a:p>
        </p:txBody>
      </p:sp>
    </p:spTree>
  </p:cSld>
  <p:clrMapOvr>
    <a:masterClrMapping/>
  </p:clrMapOvr>
  <p:transition spd="med">
    <p:push dir="l"/>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7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WATCH OUT 🇮🇹</a:t>
            </a:r>
            <a:endParaRPr lang="en-US" sz="1600" dirty="0"/>
          </a:p>
        </p:txBody>
      </p:sp>
      <p:sp>
        <p:nvSpPr>
          <p:cNvPr id="4" name="bm_175"/>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8A3D"/>
                </a:solidFill>
                <a:latin typeface="Arial Black" pitchFamily="34" charset="0"/>
                <a:ea typeface="Arial Black" pitchFamily="34" charset="-122"/>
                <a:cs typeface="Arial Black" pitchFamily="34" charset="-120"/>
              </a:rPr>
              <a:t>She falls!</a:t>
            </a:r>
            <a:endParaRPr lang="en-US" sz="3200" dirty="0"/>
          </a:p>
        </p:txBody>
      </p:sp>
      <p:sp>
        <p:nvSpPr>
          <p:cNvPr id="5" name="in_176"/>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The robot forgets something. What?</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Il robot dimentica qualcosa. Cosa?</a:t>
            </a:r>
            <a:endParaRPr lang="en-US" sz="1400" dirty="0"/>
          </a:p>
        </p:txBody>
      </p:sp>
      <p:sp>
        <p:nvSpPr>
          <p:cNvPr id="6" name="mode_177"/>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2 MIN</a:t>
            </a:r>
            <a:endParaRPr lang="en-US" sz="1000" dirty="0"/>
          </a:p>
        </p:txBody>
      </p:sp>
      <p:sp>
        <p:nvSpPr>
          <p:cNvPr id="7" name="gb_178"/>
          <p:cNvSpPr/>
          <p:nvPr/>
        </p:nvSpPr>
        <p:spPr>
          <a:xfrm>
            <a:off x="320040" y="1280160"/>
            <a:ext cx="8503920" cy="841248"/>
          </a:xfrm>
          <a:prstGeom prst="roundRect">
            <a:avLst>
              <a:gd name="adj" fmla="val 13043"/>
            </a:avLst>
          </a:prstGeom>
          <a:solidFill>
            <a:srgbClr val="FFF1E0"/>
          </a:solidFill>
          <a:ln w="38100">
            <a:solidFill>
              <a:srgbClr val="FF8A3D"/>
            </a:solidFill>
            <a:prstDash val="solid"/>
          </a:ln>
        </p:spPr>
      </p:sp>
      <p:sp>
        <p:nvSpPr>
          <p:cNvPr id="8" name="gl_179"/>
          <p:cNvSpPr/>
          <p:nvPr/>
        </p:nvSpPr>
        <p:spPr>
          <a:xfrm>
            <a:off x="548640" y="1417320"/>
            <a:ext cx="7223760" cy="365760"/>
          </a:xfrm>
          <a:prstGeom prst="rect">
            <a:avLst/>
          </a:prstGeom>
          <a:noFill/>
          <a:ln/>
        </p:spPr>
        <p:txBody>
          <a:bodyPr wrap="square" lIns="0" tIns="0" rIns="0" bIns="0" rtlCol="0" anchor="ctr"/>
          <a:lstStyle/>
          <a:p>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Beth </a:t>
            </a: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falls</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  Gwen </a:t>
            </a: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helps</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 her.  She </a:t>
            </a: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goes</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 back.</a:t>
            </a:r>
            <a:endParaRPr lang="en-US" sz="1500" dirty="0"/>
          </a:p>
        </p:txBody>
      </p:sp>
      <p:sp>
        <p:nvSpPr>
          <p:cNvPr id="9" name="pq_180"/>
          <p:cNvSpPr/>
          <p:nvPr/>
        </p:nvSpPr>
        <p:spPr>
          <a:xfrm>
            <a:off x="365760" y="2258568"/>
            <a:ext cx="5669280" cy="457200"/>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Beth fall on the ground.</a:t>
            </a:r>
            <a:endParaRPr lang="en-US" sz="1300" dirty="0"/>
          </a:p>
        </p:txBody>
      </p:sp>
      <p:sp>
        <p:nvSpPr>
          <p:cNvPr id="10" name="R1_pa181"/>
          <p:cNvSpPr/>
          <p:nvPr/>
        </p:nvSpPr>
        <p:spPr>
          <a:xfrm>
            <a:off x="6126480" y="2258568"/>
            <a:ext cx="2743200" cy="457200"/>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Beth falls on the ground.</a:t>
            </a:r>
            <a:endParaRPr lang="en-US" sz="1300" dirty="0"/>
          </a:p>
        </p:txBody>
      </p:sp>
      <p:sp>
        <p:nvSpPr>
          <p:cNvPr id="11" name="pq_182"/>
          <p:cNvSpPr/>
          <p:nvPr/>
        </p:nvSpPr>
        <p:spPr>
          <a:xfrm>
            <a:off x="365760" y="2715768"/>
            <a:ext cx="5669280" cy="457200"/>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Gwen help her sister.</a:t>
            </a:r>
            <a:endParaRPr lang="en-US" sz="1300" dirty="0"/>
          </a:p>
        </p:txBody>
      </p:sp>
      <p:sp>
        <p:nvSpPr>
          <p:cNvPr id="12" name="R2_pa183"/>
          <p:cNvSpPr/>
          <p:nvPr/>
        </p:nvSpPr>
        <p:spPr>
          <a:xfrm>
            <a:off x="6126480" y="2715768"/>
            <a:ext cx="2743200" cy="457200"/>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Gwen helps her sister.</a:t>
            </a:r>
            <a:endParaRPr lang="en-US" sz="1300" dirty="0"/>
          </a:p>
        </p:txBody>
      </p:sp>
      <p:sp>
        <p:nvSpPr>
          <p:cNvPr id="13" name="pq_184"/>
          <p:cNvSpPr/>
          <p:nvPr/>
        </p:nvSpPr>
        <p:spPr>
          <a:xfrm>
            <a:off x="365760" y="3172968"/>
            <a:ext cx="5669280" cy="457200"/>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Jess live in a field.</a:t>
            </a:r>
            <a:endParaRPr lang="en-US" sz="1300" dirty="0"/>
          </a:p>
        </p:txBody>
      </p:sp>
      <p:sp>
        <p:nvSpPr>
          <p:cNvPr id="14" name="R3_pa185"/>
          <p:cNvSpPr/>
          <p:nvPr/>
        </p:nvSpPr>
        <p:spPr>
          <a:xfrm>
            <a:off x="6126480" y="3172968"/>
            <a:ext cx="2743200" cy="457200"/>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Jess lives in a field.</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86"/>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DO 2</a:t>
            </a:r>
            <a:endParaRPr lang="en-US" sz="1600" dirty="0"/>
          </a:p>
        </p:txBody>
      </p:sp>
      <p:sp>
        <p:nvSpPr>
          <p:cNvPr id="4" name="bm_187"/>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5DA2"/>
                </a:solidFill>
                <a:latin typeface="Arial Black" pitchFamily="34" charset="0"/>
                <a:ea typeface="Arial Black" pitchFamily="34" charset="-122"/>
                <a:cs typeface="Arial Black" pitchFamily="34" charset="-120"/>
              </a:rPr>
              <a:t>Act out the poem!</a:t>
            </a:r>
            <a:endParaRPr lang="en-US" sz="2700" dirty="0"/>
          </a:p>
        </p:txBody>
      </p:sp>
      <p:sp>
        <p:nvSpPr>
          <p:cNvPr id="5" name="in_188"/>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Work in pairs. Act it out. Then swap!</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In coppia. Recitate. Poi scambiatevi!</a:t>
            </a:r>
            <a:endParaRPr lang="en-US" sz="1400" dirty="0"/>
          </a:p>
        </p:txBody>
      </p:sp>
      <p:sp>
        <p:nvSpPr>
          <p:cNvPr id="6" name="mode_189"/>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7 MIN</a:t>
            </a:r>
            <a:endParaRPr lang="en-US" sz="1000" dirty="0"/>
          </a:p>
        </p:txBody>
      </p:sp>
      <p:sp>
        <p:nvSpPr>
          <p:cNvPr id="7" name="diff_190"/>
          <p:cNvSpPr/>
          <p:nvPr/>
        </p:nvSpPr>
        <p:spPr>
          <a:xfrm>
            <a:off x="4343400" y="4681728"/>
            <a:ext cx="224028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00" dirty="0">
                <a:solidFill>
                  <a:srgbClr val="1E2A5A"/>
                </a:solidFill>
                <a:latin typeface="Arial Rounded MT Bold" pitchFamily="34" charset="0"/>
                <a:ea typeface="Arial Rounded MT Bold" pitchFamily="34" charset="-122"/>
                <a:cs typeface="Arial Rounded MT Bold" pitchFamily="34" charset="-120"/>
              </a:rPr>
              <a:t>⭐ Are you OK? Can you stand up?</a:t>
            </a:r>
            <a:endParaRPr lang="en-US" sz="900" dirty="0"/>
          </a:p>
        </p:txBody>
      </p:sp>
      <p:sp>
        <p:nvSpPr>
          <p:cNvPr id="8" name="diff_191"/>
          <p:cNvSpPr/>
          <p:nvPr/>
        </p:nvSpPr>
        <p:spPr>
          <a:xfrm>
            <a:off x="6675120" y="4681728"/>
            <a:ext cx="2240280" cy="329184"/>
          </a:xfrm>
          <a:prstGeom prst="roundRect">
            <a:avLst>
              <a:gd name="adj" fmla="val 38889"/>
            </a:avLst>
          </a:prstGeom>
          <a:solidFill>
            <a:srgbClr val="FFFFFF"/>
          </a:solidFill>
          <a:ln w="25400">
            <a:solidFill>
              <a:srgbClr val="F2545B"/>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Add a new ending!</a:t>
            </a:r>
            <a:endParaRPr lang="en-US" sz="950" dirty="0"/>
          </a:p>
        </p:txBody>
      </p:sp>
      <p:sp>
        <p:nvSpPr>
          <p:cNvPr id="9" name="st_192"/>
          <p:cNvSpPr/>
          <p:nvPr/>
        </p:nvSpPr>
        <p:spPr>
          <a:xfrm>
            <a:off x="228600" y="1325880"/>
            <a:ext cx="2651760" cy="975360"/>
          </a:xfrm>
          <a:prstGeom prst="roundRect">
            <a:avLst>
              <a:gd name="adj" fmla="val 11250"/>
            </a:avLst>
          </a:prstGeom>
          <a:solidFill>
            <a:srgbClr val="FFFFFF"/>
          </a:solidFill>
          <a:ln w="38100">
            <a:solidFill>
              <a:srgbClr val="FFD23F"/>
            </a:solidFill>
            <a:prstDash val="solid"/>
          </a:ln>
          <a:effectLst>
            <a:outerShdw sx="100000" sy="100000" kx="0" ky="0" algn="bl" rotWithShape="0" blurRad="38100" dist="25400" dir="5400000">
              <a:srgbClr val="000000">
                <a:alpha val="18000"/>
              </a:srgbClr>
            </a:outerShdw>
          </a:effectLst>
        </p:spPr>
      </p:sp>
      <p:sp>
        <p:nvSpPr>
          <p:cNvPr id="10" name="sn_193"/>
          <p:cNvSpPr/>
          <p:nvPr/>
        </p:nvSpPr>
        <p:spPr>
          <a:xfrm>
            <a:off x="118872" y="1216152"/>
            <a:ext cx="384048" cy="384048"/>
          </a:xfrm>
          <a:prstGeom prst="ellipse">
            <a:avLst/>
          </a:prstGeom>
          <a:solidFill>
            <a:srgbClr val="FFD23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1" name="sk_194"/>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READ</a:t>
            </a:r>
            <a:endParaRPr lang="en-US" sz="1300" dirty="0"/>
          </a:p>
        </p:txBody>
      </p:sp>
      <p:sp>
        <p:nvSpPr>
          <p:cNvPr id="12" name="se_195"/>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Read the lines.</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Leggi le battute.</a:t>
            </a:r>
            <a:endParaRPr lang="en-US" sz="1050" dirty="0"/>
          </a:p>
        </p:txBody>
      </p:sp>
      <p:sp>
        <p:nvSpPr>
          <p:cNvPr id="13" name="st_196"/>
          <p:cNvSpPr/>
          <p:nvPr/>
        </p:nvSpPr>
        <p:spPr>
          <a:xfrm>
            <a:off x="228600" y="2392680"/>
            <a:ext cx="2651760" cy="975360"/>
          </a:xfrm>
          <a:prstGeom prst="roundRect">
            <a:avLst>
              <a:gd name="adj" fmla="val 1125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14" name="sn_197"/>
          <p:cNvSpPr/>
          <p:nvPr/>
        </p:nvSpPr>
        <p:spPr>
          <a:xfrm>
            <a:off x="118872" y="228295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5" name="sk_198"/>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MOVE</a:t>
            </a:r>
            <a:endParaRPr lang="en-US" sz="1300" dirty="0"/>
          </a:p>
        </p:txBody>
      </p:sp>
      <p:sp>
        <p:nvSpPr>
          <p:cNvPr id="16" name="se_199"/>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Act it out: run, fall, help!</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Recita: corri, cadi, aiuta!</a:t>
            </a:r>
            <a:endParaRPr lang="en-US" sz="1050" dirty="0"/>
          </a:p>
        </p:txBody>
      </p:sp>
      <p:sp>
        <p:nvSpPr>
          <p:cNvPr id="17" name="st_200"/>
          <p:cNvSpPr/>
          <p:nvPr/>
        </p:nvSpPr>
        <p:spPr>
          <a:xfrm>
            <a:off x="228600" y="34594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8" name="sn_201"/>
          <p:cNvSpPr/>
          <p:nvPr/>
        </p:nvSpPr>
        <p:spPr>
          <a:xfrm>
            <a:off x="118872" y="33497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9" name="sk_202"/>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20" name="se_203"/>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Say the lines with feeling!</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Di' le battute con emozione!</a:t>
            </a:r>
            <a:endParaRPr lang="en-US" sz="1050" dirty="0"/>
          </a:p>
        </p:txBody>
      </p:sp>
      <p:sp>
        <p:nvSpPr>
          <p:cNvPr id="21" name="gl_204"/>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Beth: Let's go and see Jess! · I'm winning!</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Beth: Owwww, my leg! Gwen, can you come?</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Gwen: I don't want to be last! … I'm sorry, Beth.</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Gwen: Are you OK, Beth? Can you stand up?</a:t>
            </a:r>
            <a:endParaRPr lang="en-US" sz="1400" dirty="0"/>
          </a:p>
        </p:txBody>
      </p:sp>
      <p:sp>
        <p:nvSpPr>
          <p:cNvPr id="22" name="bk_205"/>
          <p:cNvSpPr/>
          <p:nvPr/>
        </p:nvSpPr>
        <p:spPr>
          <a:xfrm>
            <a:off x="228600" y="4681728"/>
            <a:ext cx="186994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p.15</a:t>
            </a:r>
            <a:endParaRPr lang="en-US" sz="1100" dirty="0"/>
          </a:p>
        </p:txBody>
      </p:sp>
    </p:spTree>
  </p:cSld>
  <p:clrMapOvr>
    <a:masterClrMapping/>
  </p:clrMapOvr>
  <p:transition spd="med">
    <p:push dir="l"/>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06"/>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THINK 3</a:t>
            </a:r>
            <a:endParaRPr lang="en-US" sz="1600" dirty="0"/>
          </a:p>
        </p:txBody>
      </p:sp>
      <p:sp>
        <p:nvSpPr>
          <p:cNvPr id="4" name="bm_207"/>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Be supportive!</a:t>
            </a:r>
            <a:endParaRPr lang="en-US" sz="2700" dirty="0"/>
          </a:p>
        </p:txBody>
      </p:sp>
      <p:sp>
        <p:nvSpPr>
          <p:cNvPr id="5" name="in_208"/>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When do you help people like Gwen? Hands up!</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Quando aiuti gli altri come Gwen? Alza la mano!</a:t>
            </a:r>
            <a:endParaRPr lang="en-US" sz="1400" dirty="0"/>
          </a:p>
        </p:txBody>
      </p:sp>
      <p:sp>
        <p:nvSpPr>
          <p:cNvPr id="6" name="mode_209"/>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GROUPS OF 3 · ⏱ 6 MIN</a:t>
            </a:r>
            <a:endParaRPr lang="en-US" sz="1000" dirty="0"/>
          </a:p>
        </p:txBody>
      </p:sp>
      <p:sp>
        <p:nvSpPr>
          <p:cNvPr id="7" name="diff_210"/>
          <p:cNvSpPr/>
          <p:nvPr/>
        </p:nvSpPr>
        <p:spPr>
          <a:xfrm>
            <a:off x="4343400" y="4681728"/>
            <a:ext cx="457200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I help my … when …</a:t>
            </a:r>
            <a:endParaRPr lang="en-US" sz="950" dirty="0"/>
          </a:p>
        </p:txBody>
      </p:sp>
      <p:sp>
        <p:nvSpPr>
          <p:cNvPr id="8" name="pf_211"/>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9" name="pic_212" descr="/home/claude/movers/img/crop/u1-p15-help.jpg">    </p:cNvPr>
          <p:cNvPicPr>
            <a:picLocks noChangeAspect="1"/>
          </p:cNvPicPr>
          <p:nvPr/>
        </p:nvPicPr>
        <p:blipFill>
          <a:blip r:embed="rId2"/>
          <a:stretch>
            <a:fillRect/>
          </a:stretch>
        </p:blipFill>
        <p:spPr>
          <a:xfrm>
            <a:off x="680966" y="1325880"/>
            <a:ext cx="4490228" cy="3246120"/>
          </a:xfrm>
          <a:prstGeom prst="rect">
            <a:avLst/>
          </a:prstGeom>
        </p:spPr>
      </p:pic>
      <p:sp>
        <p:nvSpPr>
          <p:cNvPr id="10" name="q_213"/>
          <p:cNvSpPr/>
          <p:nvPr/>
        </p:nvSpPr>
        <p:spPr>
          <a:xfrm>
            <a:off x="5760720" y="132588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I help carry books or bags.</a:t>
            </a:r>
            <a:endParaRPr lang="en-US" sz="1250" dirty="0"/>
          </a:p>
        </p:txBody>
      </p:sp>
      <p:sp>
        <p:nvSpPr>
          <p:cNvPr id="11" name="R1_a214"/>
          <p:cNvSpPr/>
          <p:nvPr/>
        </p:nvSpPr>
        <p:spPr>
          <a:xfrm>
            <a:off x="5989320" y="175381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a:t>
            </a:r>
            <a:endParaRPr lang="en-US" sz="1250" dirty="0"/>
          </a:p>
        </p:txBody>
      </p:sp>
      <p:sp>
        <p:nvSpPr>
          <p:cNvPr id="12" name="q_215"/>
          <p:cNvSpPr/>
          <p:nvPr/>
        </p:nvSpPr>
        <p:spPr>
          <a:xfrm>
            <a:off x="5760720" y="214884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I help someone who falls in the playground.</a:t>
            </a:r>
            <a:endParaRPr lang="en-US" sz="1250" dirty="0"/>
          </a:p>
        </p:txBody>
      </p:sp>
      <p:sp>
        <p:nvSpPr>
          <p:cNvPr id="13" name="R1_a216"/>
          <p:cNvSpPr/>
          <p:nvPr/>
        </p:nvSpPr>
        <p:spPr>
          <a:xfrm>
            <a:off x="5989320" y="257677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a:t>
            </a:r>
            <a:endParaRPr lang="en-US" sz="1250" dirty="0"/>
          </a:p>
        </p:txBody>
      </p:sp>
      <p:sp>
        <p:nvSpPr>
          <p:cNvPr id="14" name="q_217"/>
          <p:cNvSpPr/>
          <p:nvPr/>
        </p:nvSpPr>
        <p:spPr>
          <a:xfrm>
            <a:off x="5760720" y="297180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I talk to someone who is sad or scared.</a:t>
            </a:r>
            <a:endParaRPr lang="en-US" sz="1250" dirty="0"/>
          </a:p>
        </p:txBody>
      </p:sp>
      <p:sp>
        <p:nvSpPr>
          <p:cNvPr id="15" name="R1_a218"/>
          <p:cNvSpPr/>
          <p:nvPr/>
        </p:nvSpPr>
        <p:spPr>
          <a:xfrm>
            <a:off x="5989320" y="339973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a:t>
            </a:r>
            <a:endParaRPr lang="en-US" sz="1250" dirty="0"/>
          </a:p>
        </p:txBody>
      </p:sp>
      <p:sp>
        <p:nvSpPr>
          <p:cNvPr id="16" name="q_219"/>
          <p:cNvSpPr/>
          <p:nvPr/>
        </p:nvSpPr>
        <p:spPr>
          <a:xfrm>
            <a:off x="5760720" y="379476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Who is supportive to YOU?</a:t>
            </a:r>
            <a:endParaRPr lang="en-US" sz="1250" dirty="0"/>
          </a:p>
        </p:txBody>
      </p:sp>
      <p:sp>
        <p:nvSpPr>
          <p:cNvPr id="17" name="R1_a220"/>
          <p:cNvSpPr/>
          <p:nvPr/>
        </p:nvSpPr>
        <p:spPr>
          <a:xfrm>
            <a:off x="5989320" y="422269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My mum, my grandpa…</a:t>
            </a:r>
            <a:endParaRPr lang="en-US" sz="1250" dirty="0"/>
          </a:p>
        </p:txBody>
      </p:sp>
      <p:sp>
        <p:nvSpPr>
          <p:cNvPr id="18" name="bk_221"/>
          <p:cNvSpPr/>
          <p:nvPr/>
        </p:nvSpPr>
        <p:spPr>
          <a:xfrm>
            <a:off x="228600" y="4681728"/>
            <a:ext cx="186994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p.15</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2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223"/>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2F9BFF"/>
                </a:solidFill>
                <a:latin typeface="Arial Black" pitchFamily="34" charset="0"/>
                <a:ea typeface="Arial Black" pitchFamily="34" charset="-122"/>
                <a:cs typeface="Arial Black" pitchFamily="34" charset="-120"/>
              </a:rPr>
              <a:t>Cross the river!</a:t>
            </a:r>
            <a:endParaRPr lang="en-US" sz="2700" dirty="0"/>
          </a:p>
        </p:txBody>
      </p:sp>
      <p:sp>
        <p:nvSpPr>
          <p:cNvPr id="5" name="in_22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Answer and step on the card. Don't fall in!</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Rispondi e sali sulla carta. Non cadere!</a:t>
            </a:r>
            <a:endParaRPr lang="en-US" sz="1400" dirty="0"/>
          </a:p>
        </p:txBody>
      </p:sp>
      <p:sp>
        <p:nvSpPr>
          <p:cNvPr id="6" name="mode_225"/>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TEAMS · ⏱ 6 MIN</a:t>
            </a:r>
            <a:endParaRPr lang="en-US" sz="1000" dirty="0"/>
          </a:p>
        </p:txBody>
      </p:sp>
      <p:sp>
        <p:nvSpPr>
          <p:cNvPr id="7" name="st_226"/>
          <p:cNvSpPr/>
          <p:nvPr/>
        </p:nvSpPr>
        <p:spPr>
          <a:xfrm>
            <a:off x="228600" y="1325880"/>
            <a:ext cx="2651760" cy="975360"/>
          </a:xfrm>
          <a:prstGeom prst="roundRect">
            <a:avLst>
              <a:gd name="adj" fmla="val 11250"/>
            </a:avLst>
          </a:prstGeom>
          <a:solidFill>
            <a:srgbClr val="FFFFFF"/>
          </a:solidFill>
          <a:ln w="38100">
            <a:solidFill>
              <a:srgbClr val="FFD23F"/>
            </a:solidFill>
            <a:prstDash val="solid"/>
          </a:ln>
          <a:effectLst>
            <a:outerShdw sx="100000" sy="100000" kx="0" ky="0" algn="bl" rotWithShape="0" blurRad="38100" dist="25400" dir="5400000">
              <a:srgbClr val="000000">
                <a:alpha val="18000"/>
              </a:srgbClr>
            </a:outerShdw>
          </a:effectLst>
        </p:spPr>
      </p:sp>
      <p:sp>
        <p:nvSpPr>
          <p:cNvPr id="8" name="sn_227"/>
          <p:cNvSpPr/>
          <p:nvPr/>
        </p:nvSpPr>
        <p:spPr>
          <a:xfrm>
            <a:off x="118872" y="1216152"/>
            <a:ext cx="384048" cy="384048"/>
          </a:xfrm>
          <a:prstGeom prst="ellipse">
            <a:avLst/>
          </a:prstGeom>
          <a:solidFill>
            <a:srgbClr val="FFD23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9" name="sk_228"/>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LOOK</a:t>
            </a:r>
            <a:endParaRPr lang="en-US" sz="1300" dirty="0"/>
          </a:p>
        </p:txBody>
      </p:sp>
      <p:sp>
        <p:nvSpPr>
          <p:cNvPr id="10" name="se_229"/>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Cards on the floor = stones.</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Carte sul pavimento = sassi.</a:t>
            </a:r>
            <a:endParaRPr lang="en-US" sz="1050" dirty="0"/>
          </a:p>
        </p:txBody>
      </p:sp>
      <p:sp>
        <p:nvSpPr>
          <p:cNvPr id="11" name="st_230"/>
          <p:cNvSpPr/>
          <p:nvPr/>
        </p:nvSpPr>
        <p:spPr>
          <a:xfrm>
            <a:off x="228600" y="23926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2" name="sn_231"/>
          <p:cNvSpPr/>
          <p:nvPr/>
        </p:nvSpPr>
        <p:spPr>
          <a:xfrm>
            <a:off x="118872" y="22829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3" name="sk_232"/>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4" name="se_233"/>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Answer the question.</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Rispondi alla domanda.</a:t>
            </a:r>
            <a:endParaRPr lang="en-US" sz="1050" dirty="0"/>
          </a:p>
        </p:txBody>
      </p:sp>
      <p:sp>
        <p:nvSpPr>
          <p:cNvPr id="15" name="st_234"/>
          <p:cNvSpPr/>
          <p:nvPr/>
        </p:nvSpPr>
        <p:spPr>
          <a:xfrm>
            <a:off x="228600" y="3459480"/>
            <a:ext cx="2651760" cy="975360"/>
          </a:xfrm>
          <a:prstGeom prst="roundRect">
            <a:avLst>
              <a:gd name="adj" fmla="val 1125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16" name="sn_235"/>
          <p:cNvSpPr/>
          <p:nvPr/>
        </p:nvSpPr>
        <p:spPr>
          <a:xfrm>
            <a:off x="118872" y="334975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7" name="sk_236"/>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MOVE</a:t>
            </a:r>
            <a:endParaRPr lang="en-US" sz="1300" dirty="0"/>
          </a:p>
        </p:txBody>
      </p:sp>
      <p:sp>
        <p:nvSpPr>
          <p:cNvPr id="18" name="se_237"/>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Correct? Step on the card!</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Giusto? Fai un passo!</a:t>
            </a:r>
            <a:endParaRPr lang="en-US" sz="1050" dirty="0"/>
          </a:p>
        </p:txBody>
      </p:sp>
      <p:sp>
        <p:nvSpPr>
          <p:cNvPr id="19" name="cd_238"/>
          <p:cNvSpPr/>
          <p:nvPr/>
        </p:nvSpPr>
        <p:spPr>
          <a:xfrm>
            <a:off x="3108960" y="1325880"/>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0" name="ci_239" descr="/home/claude/movers/img/fc/river.png">    </p:cNvPr>
          <p:cNvPicPr>
            <a:picLocks noChangeAspect="1"/>
          </p:cNvPicPr>
          <p:nvPr/>
        </p:nvPicPr>
        <p:blipFill>
          <a:blip r:embed="rId2"/>
          <a:stretch>
            <a:fillRect/>
          </a:stretch>
        </p:blipFill>
        <p:spPr>
          <a:xfrm>
            <a:off x="3182112" y="1399032"/>
            <a:ext cx="1179576" cy="1179576"/>
          </a:xfrm>
          <a:prstGeom prst="rect">
            <a:avLst/>
          </a:prstGeom>
        </p:spPr>
      </p:pic>
      <p:sp>
        <p:nvSpPr>
          <p:cNvPr id="21" name="cd_240"/>
          <p:cNvSpPr/>
          <p:nvPr/>
        </p:nvSpPr>
        <p:spPr>
          <a:xfrm>
            <a:off x="4572000" y="1325880"/>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2" name="ci_241" descr="/home/claude/movers/img/fc/have-a-shower.png">    </p:cNvPr>
          <p:cNvPicPr>
            <a:picLocks noChangeAspect="1"/>
          </p:cNvPicPr>
          <p:nvPr/>
        </p:nvPicPr>
        <p:blipFill>
          <a:blip r:embed="rId3"/>
          <a:stretch>
            <a:fillRect/>
          </a:stretch>
        </p:blipFill>
        <p:spPr>
          <a:xfrm>
            <a:off x="4645152" y="1399032"/>
            <a:ext cx="1179576" cy="1179576"/>
          </a:xfrm>
          <a:prstGeom prst="rect">
            <a:avLst/>
          </a:prstGeom>
        </p:spPr>
      </p:pic>
      <p:sp>
        <p:nvSpPr>
          <p:cNvPr id="23" name="cd_242"/>
          <p:cNvSpPr/>
          <p:nvPr/>
        </p:nvSpPr>
        <p:spPr>
          <a:xfrm>
            <a:off x="6035040" y="1325880"/>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4" name="ci_243" descr="/home/claude/movers/img/fc/mountain.png">    </p:cNvPr>
          <p:cNvPicPr>
            <a:picLocks noChangeAspect="1"/>
          </p:cNvPicPr>
          <p:nvPr/>
        </p:nvPicPr>
        <p:blipFill>
          <a:blip r:embed="rId4"/>
          <a:stretch>
            <a:fillRect/>
          </a:stretch>
        </p:blipFill>
        <p:spPr>
          <a:xfrm>
            <a:off x="6108192" y="1399032"/>
            <a:ext cx="1179576" cy="1179576"/>
          </a:xfrm>
          <a:prstGeom prst="rect">
            <a:avLst/>
          </a:prstGeom>
        </p:spPr>
      </p:pic>
      <p:sp>
        <p:nvSpPr>
          <p:cNvPr id="25" name="cd_244"/>
          <p:cNvSpPr/>
          <p:nvPr/>
        </p:nvSpPr>
        <p:spPr>
          <a:xfrm>
            <a:off x="7498080" y="1325880"/>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6" name="ci_245" descr="/home/claude/movers/img/fc/tractor.png">    </p:cNvPr>
          <p:cNvPicPr>
            <a:picLocks noChangeAspect="1"/>
          </p:cNvPicPr>
          <p:nvPr/>
        </p:nvPicPr>
        <p:blipFill>
          <a:blip r:embed="rId5"/>
          <a:stretch>
            <a:fillRect/>
          </a:stretch>
        </p:blipFill>
        <p:spPr>
          <a:xfrm>
            <a:off x="7571232" y="1399032"/>
            <a:ext cx="1179576" cy="1179576"/>
          </a:xfrm>
          <a:prstGeom prst="rect">
            <a:avLst/>
          </a:prstGeom>
        </p:spPr>
      </p:pic>
      <p:sp>
        <p:nvSpPr>
          <p:cNvPr id="27" name="cd_246"/>
          <p:cNvSpPr/>
          <p:nvPr/>
        </p:nvSpPr>
        <p:spPr>
          <a:xfrm>
            <a:off x="3108960" y="2761488"/>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8" name="ci_247" descr="/home/claude/movers/img/fc/get-dressed.png">    </p:cNvPr>
          <p:cNvPicPr>
            <a:picLocks noChangeAspect="1"/>
          </p:cNvPicPr>
          <p:nvPr/>
        </p:nvPicPr>
        <p:blipFill>
          <a:blip r:embed="rId6"/>
          <a:stretch>
            <a:fillRect/>
          </a:stretch>
        </p:blipFill>
        <p:spPr>
          <a:xfrm>
            <a:off x="3182112" y="2834640"/>
            <a:ext cx="1179576" cy="1179576"/>
          </a:xfrm>
          <a:prstGeom prst="rect">
            <a:avLst/>
          </a:prstGeom>
        </p:spPr>
      </p:pic>
      <p:sp>
        <p:nvSpPr>
          <p:cNvPr id="29" name="cd_248"/>
          <p:cNvSpPr/>
          <p:nvPr/>
        </p:nvSpPr>
        <p:spPr>
          <a:xfrm>
            <a:off x="4572000" y="2761488"/>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0" name="ci_249" descr="/home/claude/movers/img/fc/rock.png">    </p:cNvPr>
          <p:cNvPicPr>
            <a:picLocks noChangeAspect="1"/>
          </p:cNvPicPr>
          <p:nvPr/>
        </p:nvPicPr>
        <p:blipFill>
          <a:blip r:embed="rId7"/>
          <a:stretch>
            <a:fillRect/>
          </a:stretch>
        </p:blipFill>
        <p:spPr>
          <a:xfrm>
            <a:off x="4645152" y="2834640"/>
            <a:ext cx="1179576" cy="1179576"/>
          </a:xfrm>
          <a:prstGeom prst="rect">
            <a:avLst/>
          </a:prstGeom>
        </p:spPr>
      </p:pic>
      <p:sp>
        <p:nvSpPr>
          <p:cNvPr id="31" name="cd_250"/>
          <p:cNvSpPr/>
          <p:nvPr/>
        </p:nvSpPr>
        <p:spPr>
          <a:xfrm>
            <a:off x="6035040" y="2761488"/>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2" name="ci_251" descr="/home/claude/movers/img/fc/toothbrush.png">    </p:cNvPr>
          <p:cNvPicPr>
            <a:picLocks noChangeAspect="1"/>
          </p:cNvPicPr>
          <p:nvPr/>
        </p:nvPicPr>
        <p:blipFill>
          <a:blip r:embed="rId8"/>
          <a:stretch>
            <a:fillRect/>
          </a:stretch>
        </p:blipFill>
        <p:spPr>
          <a:xfrm>
            <a:off x="6108192" y="2834640"/>
            <a:ext cx="1179576" cy="1179576"/>
          </a:xfrm>
          <a:prstGeom prst="rect">
            <a:avLst/>
          </a:prstGeom>
        </p:spPr>
      </p:pic>
      <p:sp>
        <p:nvSpPr>
          <p:cNvPr id="33" name="cd_252"/>
          <p:cNvSpPr/>
          <p:nvPr/>
        </p:nvSpPr>
        <p:spPr>
          <a:xfrm>
            <a:off x="7498080" y="2761488"/>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4" name="ci_253" descr="/home/claude/movers/img/fc/field.png">    </p:cNvPr>
          <p:cNvPicPr>
            <a:picLocks noChangeAspect="1"/>
          </p:cNvPicPr>
          <p:nvPr/>
        </p:nvPicPr>
        <p:blipFill>
          <a:blip r:embed="rId9"/>
          <a:stretch>
            <a:fillRect/>
          </a:stretch>
        </p:blipFill>
        <p:spPr>
          <a:xfrm>
            <a:off x="7571232" y="2834640"/>
            <a:ext cx="1179576" cy="1179576"/>
          </a:xfrm>
          <a:prstGeom prst="rect">
            <a:avLst/>
          </a:prstGeom>
        </p:spPr>
      </p:pic>
    </p:spTree>
  </p:cSld>
  <p:clrMapOvr>
    <a:masterClrMapping/>
  </p:clrMapOvr>
  <p:transition spd="med">
    <p:push dir="l"/>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5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WELL DONE!</a:t>
            </a:r>
            <a:endParaRPr lang="en-US" sz="1600" dirty="0"/>
          </a:p>
        </p:txBody>
      </p:sp>
      <p:sp>
        <p:nvSpPr>
          <p:cNvPr id="4" name="bm_255"/>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Bye bye! 👋</a:t>
            </a:r>
            <a:endParaRPr lang="en-US" sz="3200" dirty="0"/>
          </a:p>
        </p:txBody>
      </p:sp>
      <p:sp>
        <p:nvSpPr>
          <p:cNvPr id="5" name="in_256"/>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Today I can… · Oggi so…</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Show me with your thumbs! 👍 👌 👎</a:t>
            </a:r>
            <a:endParaRPr lang="en-US" sz="1400" dirty="0"/>
          </a:p>
        </p:txBody>
      </p:sp>
      <p:sp>
        <p:nvSpPr>
          <p:cNvPr id="6" name="can_257"/>
          <p:cNvSpPr/>
          <p:nvPr/>
        </p:nvSpPr>
        <p:spPr>
          <a:xfrm>
            <a:off x="320040" y="132588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300" b="1" dirty="0">
                <a:solidFill>
                  <a:srgbClr val="1E2A5A"/>
                </a:solidFill>
                <a:latin typeface="Arial Rounded MT Bold" pitchFamily="34" charset="0"/>
                <a:ea typeface="Arial Rounded MT Bold" pitchFamily="34" charset="-122"/>
                <a:cs typeface="Arial Rounded MT Bold" pitchFamily="34" charset="-120"/>
              </a:rPr>
              <a:t>I can read and understand the poem 'The race'.</a:t>
            </a:r>
            <a:endParaRPr lang="en-US" sz="130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So leggere e capire la poesia.</a:t>
            </a:r>
            <a:endParaRPr lang="en-US" sz="1300" dirty="0"/>
          </a:p>
        </p:txBody>
      </p:sp>
      <p:sp>
        <p:nvSpPr>
          <p:cNvPr id="7" name="can_258"/>
          <p:cNvSpPr/>
          <p:nvPr/>
        </p:nvSpPr>
        <p:spPr>
          <a:xfrm>
            <a:off x="320040" y="205740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300" b="1" dirty="0">
                <a:solidFill>
                  <a:srgbClr val="1E2A5A"/>
                </a:solidFill>
                <a:latin typeface="Arial Rounded MT Bold" pitchFamily="34" charset="0"/>
                <a:ea typeface="Arial Rounded MT Bold" pitchFamily="34" charset="-122"/>
                <a:cs typeface="Arial Rounded MT Bold" pitchFamily="34" charset="-120"/>
              </a:rPr>
              <a:t>I can act out the poem with a friend.</a:t>
            </a:r>
            <a:endParaRPr lang="en-US" sz="130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So recitare la poesia con un amico.</a:t>
            </a:r>
            <a:endParaRPr lang="en-US" sz="1300" dirty="0"/>
          </a:p>
        </p:txBody>
      </p:sp>
      <p:sp>
        <p:nvSpPr>
          <p:cNvPr id="8" name="can_259"/>
          <p:cNvSpPr/>
          <p:nvPr/>
        </p:nvSpPr>
        <p:spPr>
          <a:xfrm>
            <a:off x="320040" y="278892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300" b="1" dirty="0">
                <a:solidFill>
                  <a:srgbClr val="1E2A5A"/>
                </a:solidFill>
                <a:latin typeface="Arial Rounded MT Bold" pitchFamily="34" charset="0"/>
                <a:ea typeface="Arial Rounded MT Bold" pitchFamily="34" charset="-122"/>
                <a:cs typeface="Arial Rounded MT Bold" pitchFamily="34" charset="-120"/>
              </a:rPr>
              <a:t>I can say how I help people.</a:t>
            </a:r>
            <a:endParaRPr lang="en-US" sz="130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So dire come aiuto gli altri.</a:t>
            </a:r>
            <a:endParaRPr lang="en-US" sz="1300" dirty="0"/>
          </a:p>
        </p:txBody>
      </p:sp>
      <p:sp>
        <p:nvSpPr>
          <p:cNvPr id="9" name="hw_260"/>
          <p:cNvSpPr/>
          <p:nvPr/>
        </p:nvSpPr>
        <p:spPr>
          <a:xfrm>
            <a:off x="5303520" y="1325880"/>
            <a:ext cx="3566160" cy="2377440"/>
          </a:xfrm>
          <a:prstGeom prst="roundRect">
            <a:avLst>
              <a:gd name="adj" fmla="val 4615"/>
            </a:avLst>
          </a:prstGeom>
          <a:solidFill>
            <a:srgbClr val="FFFFFF"/>
          </a:solidFill>
          <a:ln w="38100">
            <a:solidFill>
              <a:srgbClr val="FF8A3D"/>
            </a:solidFill>
          </a:ln>
        </p:spPr>
        <p:txBody>
          <a:bodyPr wrap="square" lIns="127000" tIns="127000" rIns="127000" bIns="127000" rtlCol="0" anchor="t"/>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 HOMEWORK · COMPITI</a:t>
            </a:r>
            <a:endParaRPr lang="en-US" sz="1250" dirty="0"/>
          </a:p>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 Homework sheet: The race</a:t>
            </a:r>
            <a:endParaRPr lang="en-US" sz="1250" dirty="0"/>
          </a:p>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 Activity Book p.14 ex 1, 2 and 3</a:t>
            </a:r>
            <a:endParaRPr lang="en-US" sz="1250" dirty="0"/>
          </a:p>
        </p:txBody>
      </p:sp>
      <p:sp>
        <p:nvSpPr>
          <p:cNvPr id="10" name="nx_261"/>
          <p:cNvSpPr/>
          <p:nvPr/>
        </p:nvSpPr>
        <p:spPr>
          <a:xfrm>
            <a:off x="5303520" y="3840480"/>
            <a:ext cx="3566160" cy="502920"/>
          </a:xfrm>
          <a:prstGeom prst="rect">
            <a:avLst/>
          </a:prstGeom>
          <a:noFill/>
          <a:ln/>
        </p:spPr>
        <p:txBody>
          <a:bodyPr wrap="square" lIns="0" tIns="0" rIns="0" bIns="0" rtlCol="0" anchor="ctr"/>
          <a:lstStyle/>
          <a:p>
            <a:pPr indent="0" marL="0">
              <a:buNone/>
            </a:pPr>
            <a:r>
              <a:rPr lang="en-US" sz="1200" dirty="0">
                <a:solidFill>
                  <a:srgbClr val="1E2A5A"/>
                </a:solidFill>
                <a:latin typeface="Arial Rounded MT Bold" pitchFamily="34" charset="0"/>
                <a:ea typeface="Arial Rounded MT Bold" pitchFamily="34" charset="-122"/>
                <a:cs typeface="Arial Rounded MT Bold" pitchFamily="34" charset="-120"/>
              </a:rPr>
              <a:t>➡ Next: Movers practice + Mission in action!</a:t>
            </a:r>
            <a:endParaRPr lang="en-US" sz="1200" dirty="0"/>
          </a:p>
        </p:txBody>
      </p:sp>
    </p:spTree>
  </p:cSld>
  <p:clrMapOvr>
    <a:masterClrMapping/>
  </p:clrMapOvr>
  <p:transition spd="med">
    <p:push dir="l"/>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6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EXTRA</a:t>
            </a:r>
            <a:endParaRPr lang="en-US" sz="1600" dirty="0"/>
          </a:p>
        </p:txBody>
      </p:sp>
      <p:sp>
        <p:nvSpPr>
          <p:cNvPr id="4" name="bm_263"/>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6CCB3B"/>
                </a:solidFill>
                <a:latin typeface="Arial Black" pitchFamily="34" charset="0"/>
                <a:ea typeface="Arial Black" pitchFamily="34" charset="-122"/>
                <a:cs typeface="Arial Black" pitchFamily="34" charset="-120"/>
              </a:rPr>
              <a:t>EXTRA: Race moves!</a:t>
            </a:r>
            <a:endParaRPr lang="en-US" sz="2700" dirty="0"/>
          </a:p>
        </p:txBody>
      </p:sp>
      <p:sp>
        <p:nvSpPr>
          <p:cNvPr id="5" name="in_264"/>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Tell the story with your body!</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Racconta la storia con il corpo!</a:t>
            </a:r>
            <a:endParaRPr lang="en-US" sz="1400" dirty="0"/>
          </a:p>
        </p:txBody>
      </p:sp>
      <p:sp>
        <p:nvSpPr>
          <p:cNvPr id="6" name="mode_265"/>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WHOLE CLASS · ⏱ 3 MIN</a:t>
            </a:r>
            <a:endParaRPr lang="en-US" sz="1000" dirty="0"/>
          </a:p>
        </p:txBody>
      </p:sp>
      <p:sp>
        <p:nvSpPr>
          <p:cNvPr id="7" name="cd_266"/>
          <p:cNvSpPr/>
          <p:nvPr/>
        </p:nvSpPr>
        <p:spPr>
          <a:xfrm>
            <a:off x="274320" y="13258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ci_267" descr="/home/claude/movers/img/e-u1-fast.png">    </p:cNvPr>
          <p:cNvPicPr>
            <a:picLocks noChangeAspect="1"/>
          </p:cNvPicPr>
          <p:nvPr/>
        </p:nvPicPr>
        <p:blipFill>
          <a:blip r:embed="rId2"/>
          <a:stretch>
            <a:fillRect/>
          </a:stretch>
        </p:blipFill>
        <p:spPr>
          <a:xfrm>
            <a:off x="347472" y="1399032"/>
            <a:ext cx="1133856" cy="1133856"/>
          </a:xfrm>
          <a:prstGeom prst="rect">
            <a:avLst/>
          </a:prstGeom>
        </p:spPr>
      </p:pic>
      <p:sp>
        <p:nvSpPr>
          <p:cNvPr id="9" name="R1_a268"/>
          <p:cNvSpPr/>
          <p:nvPr/>
        </p:nvSpPr>
        <p:spPr>
          <a:xfrm>
            <a:off x="1627632" y="14630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Run fast on the spot!</a:t>
            </a:r>
            <a:endParaRPr lang="en-US" sz="1250" dirty="0"/>
          </a:p>
        </p:txBody>
      </p:sp>
      <p:sp>
        <p:nvSpPr>
          <p:cNvPr id="10" name="cd_269"/>
          <p:cNvSpPr/>
          <p:nvPr/>
        </p:nvSpPr>
        <p:spPr>
          <a:xfrm>
            <a:off x="3139440" y="13258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1" name="ci_270" descr="/home/claude/movers/img/e-u1-stop.png">    </p:cNvPr>
          <p:cNvPicPr>
            <a:picLocks noChangeAspect="1"/>
          </p:cNvPicPr>
          <p:nvPr/>
        </p:nvPicPr>
        <p:blipFill>
          <a:blip r:embed="rId3"/>
          <a:stretch>
            <a:fillRect/>
          </a:stretch>
        </p:blipFill>
        <p:spPr>
          <a:xfrm>
            <a:off x="3212592" y="1399032"/>
            <a:ext cx="1133856" cy="1133856"/>
          </a:xfrm>
          <a:prstGeom prst="rect">
            <a:avLst/>
          </a:prstGeom>
        </p:spPr>
      </p:pic>
      <p:sp>
        <p:nvSpPr>
          <p:cNvPr id="12" name="R2_a271"/>
          <p:cNvSpPr/>
          <p:nvPr/>
        </p:nvSpPr>
        <p:spPr>
          <a:xfrm>
            <a:off x="4492752" y="14630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Stop! Freeze!</a:t>
            </a:r>
            <a:endParaRPr lang="en-US" sz="1250" dirty="0"/>
          </a:p>
        </p:txBody>
      </p:sp>
      <p:sp>
        <p:nvSpPr>
          <p:cNvPr id="13" name="cd_272"/>
          <p:cNvSpPr/>
          <p:nvPr/>
        </p:nvSpPr>
        <p:spPr>
          <a:xfrm>
            <a:off x="6004560" y="13258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4" name="ci_273" descr="/home/claude/movers/img/crop/u1-p14-fall.jpg">    </p:cNvPr>
          <p:cNvPicPr>
            <a:picLocks noChangeAspect="1"/>
          </p:cNvPicPr>
          <p:nvPr/>
        </p:nvPicPr>
        <p:blipFill>
          <a:blip r:embed="rId4"/>
          <a:stretch>
            <a:fillRect/>
          </a:stretch>
        </p:blipFill>
        <p:spPr>
          <a:xfrm>
            <a:off x="6077712" y="1399032"/>
            <a:ext cx="1133856" cy="1133856"/>
          </a:xfrm>
          <a:prstGeom prst="rect">
            <a:avLst/>
          </a:prstGeom>
        </p:spPr>
      </p:pic>
      <p:sp>
        <p:nvSpPr>
          <p:cNvPr id="15" name="R3_a274"/>
          <p:cNvSpPr/>
          <p:nvPr/>
        </p:nvSpPr>
        <p:spPr>
          <a:xfrm>
            <a:off x="7357872" y="14630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Fall down slowly… Ouch!</a:t>
            </a:r>
            <a:endParaRPr lang="en-US" sz="1250" dirty="0"/>
          </a:p>
        </p:txBody>
      </p:sp>
      <p:sp>
        <p:nvSpPr>
          <p:cNvPr id="16" name="cd_275"/>
          <p:cNvSpPr/>
          <p:nvPr/>
        </p:nvSpPr>
        <p:spPr>
          <a:xfrm>
            <a:off x="274320" y="29260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7" name="ci_276" descr="/home/claude/movers/img/e-u1-walk.png">    </p:cNvPr>
          <p:cNvPicPr>
            <a:picLocks noChangeAspect="1"/>
          </p:cNvPicPr>
          <p:nvPr/>
        </p:nvPicPr>
        <p:blipFill>
          <a:blip r:embed="rId5"/>
          <a:stretch>
            <a:fillRect/>
          </a:stretch>
        </p:blipFill>
        <p:spPr>
          <a:xfrm>
            <a:off x="347472" y="2999232"/>
            <a:ext cx="1133856" cy="1133856"/>
          </a:xfrm>
          <a:prstGeom prst="rect">
            <a:avLst/>
          </a:prstGeom>
        </p:spPr>
      </p:pic>
      <p:sp>
        <p:nvSpPr>
          <p:cNvPr id="18" name="R4_a277"/>
          <p:cNvSpPr/>
          <p:nvPr/>
        </p:nvSpPr>
        <p:spPr>
          <a:xfrm>
            <a:off x="1627632" y="30632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Go back! Walk backwards!</a:t>
            </a:r>
            <a:endParaRPr lang="en-US" sz="1250" dirty="0"/>
          </a:p>
        </p:txBody>
      </p:sp>
      <p:sp>
        <p:nvSpPr>
          <p:cNvPr id="19" name="cd_278"/>
          <p:cNvSpPr/>
          <p:nvPr/>
        </p:nvSpPr>
        <p:spPr>
          <a:xfrm>
            <a:off x="3139440" y="29260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0" name="ci_279" descr="/home/claude/movers/img/e-u1-help.png">    </p:cNvPr>
          <p:cNvPicPr>
            <a:picLocks noChangeAspect="1"/>
          </p:cNvPicPr>
          <p:nvPr/>
        </p:nvPicPr>
        <p:blipFill>
          <a:blip r:embed="rId6"/>
          <a:stretch>
            <a:fillRect/>
          </a:stretch>
        </p:blipFill>
        <p:spPr>
          <a:xfrm>
            <a:off x="3212592" y="2999232"/>
            <a:ext cx="1133856" cy="1133856"/>
          </a:xfrm>
          <a:prstGeom prst="rect">
            <a:avLst/>
          </a:prstGeom>
        </p:spPr>
      </p:pic>
      <p:sp>
        <p:nvSpPr>
          <p:cNvPr id="21" name="R5_a280"/>
          <p:cNvSpPr/>
          <p:nvPr/>
        </p:nvSpPr>
        <p:spPr>
          <a:xfrm>
            <a:off x="4492752" y="30632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Help your friend stand up!</a:t>
            </a:r>
            <a:endParaRPr lang="en-US" sz="1250" dirty="0"/>
          </a:p>
        </p:txBody>
      </p:sp>
      <p:sp>
        <p:nvSpPr>
          <p:cNvPr id="22" name="cd_281"/>
          <p:cNvSpPr/>
          <p:nvPr/>
        </p:nvSpPr>
        <p:spPr>
          <a:xfrm>
            <a:off x="6004560" y="29260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3" name="ci_282" descr="/home/claude/movers/img/e-u1-win.png">    </p:cNvPr>
          <p:cNvPicPr>
            <a:picLocks noChangeAspect="1"/>
          </p:cNvPicPr>
          <p:nvPr/>
        </p:nvPicPr>
        <p:blipFill>
          <a:blip r:embed="rId7"/>
          <a:stretch>
            <a:fillRect/>
          </a:stretch>
        </p:blipFill>
        <p:spPr>
          <a:xfrm>
            <a:off x="6077712" y="2999232"/>
            <a:ext cx="1133856" cy="1133856"/>
          </a:xfrm>
          <a:prstGeom prst="rect">
            <a:avLst/>
          </a:prstGeom>
        </p:spPr>
      </p:pic>
      <p:sp>
        <p:nvSpPr>
          <p:cNvPr id="24" name="R6_a283"/>
          <p:cNvSpPr/>
          <p:nvPr/>
        </p:nvSpPr>
        <p:spPr>
          <a:xfrm>
            <a:off x="7357872" y="30632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Jump and cheer!</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8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EXTRA</a:t>
            </a:r>
            <a:endParaRPr lang="en-US" sz="1600" dirty="0"/>
          </a:p>
        </p:txBody>
      </p:sp>
      <p:sp>
        <p:nvSpPr>
          <p:cNvPr id="4" name="bm_285"/>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8E5BE8"/>
                </a:solidFill>
                <a:latin typeface="Arial Black" pitchFamily="34" charset="0"/>
                <a:ea typeface="Arial Black" pitchFamily="34" charset="-122"/>
                <a:cs typeface="Arial Black" pitchFamily="34" charset="-120"/>
              </a:rPr>
              <a:t>EXTRA: Beth or Gwen?</a:t>
            </a:r>
            <a:endParaRPr lang="en-US" sz="2400" dirty="0"/>
          </a:p>
        </p:txBody>
      </p:sp>
      <p:sp>
        <p:nvSpPr>
          <p:cNvPr id="5" name="in_286"/>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Who says it? Run to the right corner!</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Chi lo dice? Corri nell'angolo giusto!</a:t>
            </a:r>
            <a:endParaRPr lang="en-US" sz="1400" dirty="0"/>
          </a:p>
        </p:txBody>
      </p:sp>
      <p:sp>
        <p:nvSpPr>
          <p:cNvPr id="6" name="mode_287"/>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WHOLE CLASS · ⏱ 4 MIN</a:t>
            </a:r>
            <a:endParaRPr lang="en-US" sz="1000" dirty="0"/>
          </a:p>
        </p:txBody>
      </p:sp>
      <p:sp>
        <p:nvSpPr>
          <p:cNvPr id="7" name="pf_288"/>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289" descr="/home/claude/movers/img/crop/u1-p15-help.jpg">    </p:cNvPr>
          <p:cNvPicPr>
            <a:picLocks noChangeAspect="1"/>
          </p:cNvPicPr>
          <p:nvPr/>
        </p:nvPicPr>
        <p:blipFill>
          <a:blip r:embed="rId2"/>
          <a:stretch>
            <a:fillRect/>
          </a:stretch>
        </p:blipFill>
        <p:spPr>
          <a:xfrm>
            <a:off x="680966" y="1325880"/>
            <a:ext cx="4490228" cy="3246120"/>
          </a:xfrm>
          <a:prstGeom prst="rect">
            <a:avLst/>
          </a:prstGeom>
        </p:spPr>
      </p:pic>
      <p:sp>
        <p:nvSpPr>
          <p:cNvPr id="9" name="q_290"/>
          <p:cNvSpPr/>
          <p:nvPr/>
        </p:nvSpPr>
        <p:spPr>
          <a:xfrm>
            <a:off x="5760720" y="1325880"/>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'Let's go and see Jess!'</a:t>
            </a:r>
            <a:endParaRPr lang="en-US" sz="1250" dirty="0"/>
          </a:p>
        </p:txBody>
      </p:sp>
      <p:sp>
        <p:nvSpPr>
          <p:cNvPr id="10" name="R1_a291"/>
          <p:cNvSpPr/>
          <p:nvPr/>
        </p:nvSpPr>
        <p:spPr>
          <a:xfrm>
            <a:off x="5989320" y="1668231"/>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Beth</a:t>
            </a:r>
            <a:endParaRPr lang="en-US" sz="1250" dirty="0"/>
          </a:p>
        </p:txBody>
      </p:sp>
      <p:sp>
        <p:nvSpPr>
          <p:cNvPr id="11" name="q_292"/>
          <p:cNvSpPr/>
          <p:nvPr/>
        </p:nvSpPr>
        <p:spPr>
          <a:xfrm>
            <a:off x="5760720" y="1984248"/>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'I'm winning today!'</a:t>
            </a:r>
            <a:endParaRPr lang="en-US" sz="1250" dirty="0"/>
          </a:p>
        </p:txBody>
      </p:sp>
      <p:sp>
        <p:nvSpPr>
          <p:cNvPr id="12" name="R2_a293"/>
          <p:cNvSpPr/>
          <p:nvPr/>
        </p:nvSpPr>
        <p:spPr>
          <a:xfrm>
            <a:off x="5989320" y="2326599"/>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Beth</a:t>
            </a:r>
            <a:endParaRPr lang="en-US" sz="1250" dirty="0"/>
          </a:p>
        </p:txBody>
      </p:sp>
      <p:sp>
        <p:nvSpPr>
          <p:cNvPr id="13" name="q_294"/>
          <p:cNvSpPr/>
          <p:nvPr/>
        </p:nvSpPr>
        <p:spPr>
          <a:xfrm>
            <a:off x="5760720" y="2642616"/>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'I don't want to be last.'</a:t>
            </a:r>
            <a:endParaRPr lang="en-US" sz="1250" dirty="0"/>
          </a:p>
        </p:txBody>
      </p:sp>
      <p:sp>
        <p:nvSpPr>
          <p:cNvPr id="14" name="R3_a295"/>
          <p:cNvSpPr/>
          <p:nvPr/>
        </p:nvSpPr>
        <p:spPr>
          <a:xfrm>
            <a:off x="5989320" y="2984967"/>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Gwen</a:t>
            </a:r>
            <a:endParaRPr lang="en-US" sz="1250" dirty="0"/>
          </a:p>
        </p:txBody>
      </p:sp>
      <p:sp>
        <p:nvSpPr>
          <p:cNvPr id="15" name="q_296"/>
          <p:cNvSpPr/>
          <p:nvPr/>
        </p:nvSpPr>
        <p:spPr>
          <a:xfrm>
            <a:off x="5760720" y="3300984"/>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'Come back to me!'</a:t>
            </a:r>
            <a:endParaRPr lang="en-US" sz="1250" dirty="0"/>
          </a:p>
        </p:txBody>
      </p:sp>
      <p:sp>
        <p:nvSpPr>
          <p:cNvPr id="16" name="R4_a297"/>
          <p:cNvSpPr/>
          <p:nvPr/>
        </p:nvSpPr>
        <p:spPr>
          <a:xfrm>
            <a:off x="5989320" y="3643335"/>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Beth</a:t>
            </a:r>
            <a:endParaRPr lang="en-US" sz="1250" dirty="0"/>
          </a:p>
        </p:txBody>
      </p:sp>
      <p:sp>
        <p:nvSpPr>
          <p:cNvPr id="17" name="q_298"/>
          <p:cNvSpPr/>
          <p:nvPr/>
        </p:nvSpPr>
        <p:spPr>
          <a:xfrm>
            <a:off x="5760720" y="3959352"/>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5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'I'm sorry, Beth.'</a:t>
            </a:r>
            <a:endParaRPr lang="en-US" sz="1250" dirty="0"/>
          </a:p>
        </p:txBody>
      </p:sp>
      <p:sp>
        <p:nvSpPr>
          <p:cNvPr id="18" name="R5_a299"/>
          <p:cNvSpPr/>
          <p:nvPr/>
        </p:nvSpPr>
        <p:spPr>
          <a:xfrm>
            <a:off x="5989320" y="4301703"/>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Gwen</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Movers · UNIT 1 · LESSON 5 · The race</dc:title>
  <dc:subject>PptxGenJS Presentation</dc:subject>
  <dc:creator>PptxGenJS</dc:creator>
  <cp:lastModifiedBy>PptxGenJS</cp:lastModifiedBy>
  <cp:revision>1</cp:revision>
  <dcterms:created xsi:type="dcterms:W3CDTF">2026-10-06T10:51:22Z</dcterms:created>
  <dcterms:modified xsi:type="dcterms:W3CDTF">2026-10-06T10:51:22Z</dcterms:modified>
</cp:coreProperties>
</file>