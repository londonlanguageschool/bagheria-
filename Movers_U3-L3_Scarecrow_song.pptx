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(2 min). 'Who can you see? (Eva, Tom, Jim and Jenny) Where are they? (On a farm.) Why do farmers need these? (To make birds go away.) They're scarecrows!' (spaventapasseri). Optional TB warm-up if you have time and clothes: DRESS-UP DICE – a double on two dice = come to the front and put on a clothing item ('Put on the blue T-shirt!').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OF LESSONS 1–2 – ODD ONE OUT (4 min). SEE: 4 words per line, answers hidden. TEACHER: read line 1 aloud. STUDENTS: teams have 15 seconds to write the odd word on paper/whiteboard and hold it up (commit). GROUPING: 3–4 teams. SCORE: 1 point for the right word, +1 for a reason in English ('It's not a job'). Accept other well-argued answers (challenge: 'Find a 2nd answer!'). LANGUAGE: Lesson 1 jobs, Lesson 2 present simple vs continuous. REVEAL: click after all teams show their 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Stretch up high – on your toes! ⬆️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Crouch down small! ⬇️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Puff your cheeks, arms in a big circle! 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Arms by your sides – be thin like a pencil! ✏️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Stroke your hair down: straight! 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Draw curls in the air with your finger! 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Point to someone with blonde hair! 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Touch your hair: is it fair or dark? 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Stroke your long beard like a wizard! 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min, TB34). Teach the words with the flashcards. Then ask: 'Has anyone in your family got a beard/moustache? Is your mum/dad tall? Who's got curly hair in your family?' Picture first – students guess. Click 1: word. Click 2: Italian. Click 3: TPR. TPR: Finger under your nose – a moustache! 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+ ITALIAN TRAPS (4 min). Italians usually drop the H ('air' for hair) and say 'tin' for thin. SEE: the prompts, answers hidden. TEACHER: say 'air' – 'Is that HAIR?' – students hold a hand in front of their mouth and say it until they FEEL the breath. Then click. CATCH IT: say 'He's got 'air' / 'is 'air' / tin' – students catch you. 'th': tongue between the teeth – a silly face is OK! WORD ORDER TRAP (4): Italian puts the colour after the noun; English puts describing words BEFORE: long black hair, a big purple nose. Teams race: you say 'capelli corti biondi' – first team to say 'short blonde hair' wins a point. (5) Italian 'ha i capelli' → English 'He's got … hair' (no 'the').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SONG (8 min, both slides, TB34). 'Listen and colour.' Point to the blank areas in the book. Play 1.42 (or the video): students colour the hair blonde (yellow), the beard black and the nose purple. Check: 'What colour hair has she got?' (Blonde.) Make sure they don't say 'yellow hair'! Ask: 'Whose scarecrow's tall? (Eva's) Whose scarecrow's short? (Tom's)'.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stand up. Practise the song in sections, then play again: three groups, one verse each. Everybody shouts 'Scarecrow! Scarecrow!'. Actions: tall = stretch up, short = crouch, fat = arms wide, beard = stroke chin, moustache = finger under nose, curly = twirl fingers. EXTENSION: once confident, sing the karaoke version (1.43).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+ PAIR GAME (6 min, TB34). Point to scarecrow 1: 'Has he got a beard?' (No, he hasn't.) 'Is he fat?' (Yes, he is.) 'Has he got blonde hair?' (No, black.) Play 1.44 – students say the number. KEY: 3. Then pairs: one chooses a scarecrow and describes it, the other says the number. Stronger learners: guess by asking questions only ('Has it got a beard? Is it fat?'). Finally: Rocky says 'Describe your hair' – students: 'I've got short, black hair. It's curly.'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– BODY SHAPES (3 min). SEE: 6 pictures, actions on click. TEACHER: call the words faster and faster; then combinations: 'Tall with a beard!' 'Short and fat with a moustache!'; last round whispered. STUDENTS: make the shape and SAY the word. GROUPING: whole class. SCORE: none – 'the best statue' chooses the next word. LANGUAGE: tall, short, fat, thin, beard, moustache (receptive + repeating).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AND TICK (5 min, TB35). Point to each picture: 'What's he doing?' (Watching TV / listening to music / cleaning his shoes). Play 1.45, students tick. KEY: He's cleaning his shoes (picture 3). EXTENSION (TB35): write 'Why?' on the board, ask the 3 Why questions and play again (answers from the audioscript).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(5 min, TB35). Write the question and answer on the board. Play 1.46 – students repeat. PRESENTATION idea (TB35): 'Why are you listening to me?' (Because you're a teacher.) Mime an activity, e.g. running – students ask 'Why are you running?' – give a funny reason: 'Because there's a tiger behind me!' We use 'why' to ask the reason and 'because' to give the reason. In Italian both are 'perché'!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AND ANSWER (6 min, TB35). Point to picture 1 and read the bubbles. Ask for more ideas ('Because they live in a circus'). Pairs ask and answer about pictures 2–4. Pairs share the best/funniest reasons. KEY (possible answers, TB35): 2 Because they're dirty / it's lunchtime 3 Because he likes reading / he's doing his homework 4 Because she's skating / riding a bike.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STAGE 2 (7 min, TB35). Remind students of the characters they drew in Lesson 2 (Stage 1). Groups: each child 'becomes' their character and introduces him/herself with a funny voice. Then they write a short description (worksheet TRB p.34 or paper). Keep it for Lessons 4 and 6. AB p.30: smiley for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min, TB34). Self-assessment with the flashcards. Play the song again – everyone joins in. Give a completion sticker for Mission Stage 2. NOTE: AB p.34 ex.1 needs the AB audio (4.17) – do it in class at the start of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– DRAW IT! (5 min). SEE: the description frame only (support). TEACHER: reads a description slowly twice – DON'T show it: 1) 'He's tall and thin. He's got short, curly, black hair and a big moustache.' 2) 'She's short. She's got long, straight, blonde hair. She's a pop star!' 3) 'He's fat. He's got a long white beard. He's a pirate with treasure!' STUDENTS: draw in 1 minute on paper / mini whiteboards, then 'Show me!'. GROUPING: alone, then pairs (A describes a secret flashcard, B draws). SCORE: 1 point for each correct detail in the drawing (count together). LANGUAGE: He's / She's + adjective, He's got + adjective order. REVEAL: read the description again and check details; or show the flashcard in pair 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– SILLY REASONS (5 min). SEE: actions to mime. TEACHER: mimes the first action (e.g. running). STUDENTS: ask 'Why are you running?'; the mimer (teacher, then a child) answers 'Because…' with a silly reason ('Because there's a tiger behind me!' – TB35). GROUPING: 2 teams; each team sends a mimer, the OTHER team asks Why. SCORE: the class votes for the funniest correct Because-sentence = 2 points; any correct sentence = 1 point. LANGUAGE: Why are you …ing? Because … REVEAL: n/a (creative).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3 · LESSON 3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Scarecrow song!</a:t>
            </a:r>
            <a:endParaRPr lang="en-US" sz="27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describing people 🧔👱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descrivere le persone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10 words to describe people.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Impara 10 parole per descrivere.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8E5BE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8E5BE8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the scarecrow song!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Canta la canzone dello spaventapasseri!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Why…? Answer Because…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 Why…? Rispondi Because…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3-p34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953" y="1325880"/>
            <a:ext cx="2224454" cy="3154680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t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cur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Describe your hair!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Descrivi i tuoi capelli!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5125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p.34–35 · 🎧 1.42–1.46 · 🎬 song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Odd one out!</a:t>
            </a:r>
            <a:endParaRPr lang="en-US" sz="3200" dirty="0"/>
          </a:p>
        </p:txBody>
      </p:sp>
      <p:sp>
        <p:nvSpPr>
          <p:cNvPr id="5" name="in_2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one is different? Why?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Quale è diverso? Perché?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✍ WRITE · ⏱ 4 MIN</a:t>
            </a:r>
            <a:endParaRPr lang="en-US" sz="950" dirty="0"/>
          </a:p>
        </p:txBody>
      </p:sp>
      <p:sp>
        <p:nvSpPr>
          <p:cNvPr id="7" name="diff_28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… is different. It's not a job.</a:t>
            </a:r>
            <a:endParaRPr lang="en-US" sz="950" dirty="0"/>
          </a:p>
        </p:txBody>
      </p:sp>
      <p:sp>
        <p:nvSpPr>
          <p:cNvPr id="8" name="diff_29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Find a 2nd answer!</a:t>
            </a:r>
            <a:endParaRPr lang="en-US" sz="950" dirty="0"/>
          </a:p>
        </p:txBody>
      </p:sp>
      <p:sp>
        <p:nvSpPr>
          <p:cNvPr id="9" name="pf_30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31" descr="/home/claude/movers/img/e-u3o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325880"/>
            <a:ext cx="3246120" cy="3246120"/>
          </a:xfrm>
          <a:prstGeom prst="rect">
            <a:avLst/>
          </a:prstGeom>
        </p:spPr>
      </p:pic>
      <p:sp>
        <p:nvSpPr>
          <p:cNvPr id="11" name="q_32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clown · pirate · present · nurse</a:t>
            </a:r>
            <a:endParaRPr lang="en-US" sz="1250" dirty="0"/>
          </a:p>
        </p:txBody>
      </p:sp>
      <p:sp>
        <p:nvSpPr>
          <p:cNvPr id="12" name="R1_a33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 – it's not a person!</a:t>
            </a:r>
            <a:endParaRPr lang="en-US" sz="1250" dirty="0"/>
          </a:p>
        </p:txBody>
      </p:sp>
      <p:sp>
        <p:nvSpPr>
          <p:cNvPr id="13" name="q_34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cook · doctor · treasure · farmer</a:t>
            </a:r>
            <a:endParaRPr lang="en-US" sz="1250" dirty="0"/>
          </a:p>
        </p:txBody>
      </p:sp>
      <p:sp>
        <p:nvSpPr>
          <p:cNvPr id="14" name="R2_a35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treasure – it's not a job!</a:t>
            </a:r>
            <a:endParaRPr lang="en-US" sz="1250" dirty="0"/>
          </a:p>
        </p:txBody>
      </p:sp>
      <p:sp>
        <p:nvSpPr>
          <p:cNvPr id="15" name="q_36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works · feeds · is watching · helps</a:t>
            </a:r>
            <a:endParaRPr lang="en-US" sz="1250" dirty="0"/>
          </a:p>
        </p:txBody>
      </p:sp>
      <p:sp>
        <p:nvSpPr>
          <p:cNvPr id="16" name="R3_a37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watching – it's NOW!</a:t>
            </a:r>
            <a:endParaRPr lang="en-US" sz="1250" dirty="0"/>
          </a:p>
        </p:txBody>
      </p:sp>
      <p:sp>
        <p:nvSpPr>
          <p:cNvPr id="17" name="q_38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always · never · often · today</a:t>
            </a:r>
            <a:endParaRPr lang="en-US" sz="1250" dirty="0"/>
          </a:p>
        </p:txBody>
      </p:sp>
      <p:sp>
        <p:nvSpPr>
          <p:cNvPr id="18" name="R4_a39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– not 'how often'!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4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4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4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44" descr="/home/claude/movers/img/fc/t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93" y="1234440"/>
            <a:ext cx="2024414" cy="2651760"/>
          </a:xfrm>
          <a:prstGeom prst="rect">
            <a:avLst/>
          </a:prstGeom>
        </p:spPr>
      </p:pic>
      <p:sp>
        <p:nvSpPr>
          <p:cNvPr id="8" name="R1_w4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tall</a:t>
            </a:r>
            <a:endParaRPr lang="en-US" sz="3600" dirty="0"/>
          </a:p>
        </p:txBody>
      </p:sp>
      <p:sp>
        <p:nvSpPr>
          <p:cNvPr id="9" name="R2_it4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600" dirty="0"/>
          </a:p>
        </p:txBody>
      </p:sp>
      <p:sp>
        <p:nvSpPr>
          <p:cNvPr id="10" name="R3_tpr4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Stretch up high – on your toes! ⬆️</a:t>
            </a:r>
            <a:endParaRPr lang="en-US" sz="1300" dirty="0"/>
          </a:p>
        </p:txBody>
      </p:sp>
      <p:sp>
        <p:nvSpPr>
          <p:cNvPr id="11" name="n_4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10</a:t>
            </a:r>
            <a:endParaRPr lang="en-US" sz="1200" dirty="0"/>
          </a:p>
        </p:txBody>
      </p:sp>
      <p:sp>
        <p:nvSpPr>
          <p:cNvPr id="12" name="bk_4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5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5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5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54" descr="/home/claude/movers/img/fc/sh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684" y="1234440"/>
            <a:ext cx="2242631" cy="2651760"/>
          </a:xfrm>
          <a:prstGeom prst="rect">
            <a:avLst/>
          </a:prstGeom>
        </p:spPr>
      </p:pic>
      <p:sp>
        <p:nvSpPr>
          <p:cNvPr id="8" name="R1_w5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short</a:t>
            </a:r>
            <a:endParaRPr lang="en-US" sz="3600" dirty="0"/>
          </a:p>
        </p:txBody>
      </p:sp>
      <p:sp>
        <p:nvSpPr>
          <p:cNvPr id="9" name="R2_it5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basso</a:t>
            </a:r>
            <a:endParaRPr lang="en-US" sz="1600" dirty="0"/>
          </a:p>
        </p:txBody>
      </p:sp>
      <p:sp>
        <p:nvSpPr>
          <p:cNvPr id="10" name="R3_tpr5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Crouch down small! ⬇️</a:t>
            </a:r>
            <a:endParaRPr lang="en-US" sz="1300" dirty="0"/>
          </a:p>
        </p:txBody>
      </p:sp>
      <p:sp>
        <p:nvSpPr>
          <p:cNvPr id="11" name="n_5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10</a:t>
            </a:r>
            <a:endParaRPr lang="en-US" sz="1200" dirty="0"/>
          </a:p>
        </p:txBody>
      </p:sp>
      <p:sp>
        <p:nvSpPr>
          <p:cNvPr id="12" name="bk_5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6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6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6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64" descr="/home/claude/movers/img/fc/f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87" y="1234440"/>
            <a:ext cx="2188426" cy="2651760"/>
          </a:xfrm>
          <a:prstGeom prst="rect">
            <a:avLst/>
          </a:prstGeom>
        </p:spPr>
      </p:pic>
      <p:sp>
        <p:nvSpPr>
          <p:cNvPr id="8" name="R1_w6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</a:t>
            </a:r>
            <a:endParaRPr lang="en-US" sz="3600" dirty="0"/>
          </a:p>
        </p:txBody>
      </p:sp>
      <p:sp>
        <p:nvSpPr>
          <p:cNvPr id="9" name="R2_it6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grasso / robusto</a:t>
            </a:r>
            <a:endParaRPr lang="en-US" sz="1600" dirty="0"/>
          </a:p>
        </p:txBody>
      </p:sp>
      <p:sp>
        <p:nvSpPr>
          <p:cNvPr id="10" name="R3_tpr6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Puff your cheeks, arms in a big circle! 🎈</a:t>
            </a:r>
            <a:endParaRPr lang="en-US" sz="1300" dirty="0"/>
          </a:p>
        </p:txBody>
      </p:sp>
      <p:sp>
        <p:nvSpPr>
          <p:cNvPr id="11" name="n_6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10</a:t>
            </a:r>
            <a:endParaRPr lang="en-US" sz="1200" dirty="0"/>
          </a:p>
        </p:txBody>
      </p:sp>
      <p:sp>
        <p:nvSpPr>
          <p:cNvPr id="12" name="bk_6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7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7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4" descr="/home/claude/movers/img/fc/th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898" y="1234440"/>
            <a:ext cx="1918205" cy="2651760"/>
          </a:xfrm>
          <a:prstGeom prst="rect">
            <a:avLst/>
          </a:prstGeom>
        </p:spPr>
      </p:pic>
      <p:sp>
        <p:nvSpPr>
          <p:cNvPr id="8" name="R1_w7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</a:t>
            </a:r>
            <a:endParaRPr lang="en-US" sz="3600" dirty="0"/>
          </a:p>
        </p:txBody>
      </p:sp>
      <p:sp>
        <p:nvSpPr>
          <p:cNvPr id="9" name="R2_it7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magro</a:t>
            </a:r>
            <a:endParaRPr lang="en-US" sz="1600" dirty="0"/>
          </a:p>
        </p:txBody>
      </p:sp>
      <p:sp>
        <p:nvSpPr>
          <p:cNvPr id="10" name="R3_tpr7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Arms by your sides – be thin like a pencil! ✏️</a:t>
            </a:r>
            <a:endParaRPr lang="en-US" sz="1300" dirty="0"/>
          </a:p>
        </p:txBody>
      </p:sp>
      <p:sp>
        <p:nvSpPr>
          <p:cNvPr id="11" name="n_7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10</a:t>
            </a:r>
            <a:endParaRPr lang="en-US" sz="1200" dirty="0"/>
          </a:p>
        </p:txBody>
      </p:sp>
      <p:sp>
        <p:nvSpPr>
          <p:cNvPr id="12" name="bk_7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8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8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4" descr="/home/claude/movers/img/fc/stra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633" y="1234440"/>
            <a:ext cx="1774735" cy="2651760"/>
          </a:xfrm>
          <a:prstGeom prst="rect">
            <a:avLst/>
          </a:prstGeom>
        </p:spPr>
      </p:pic>
      <p:sp>
        <p:nvSpPr>
          <p:cNvPr id="8" name="R1_w8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straight</a:t>
            </a:r>
            <a:endParaRPr lang="en-US" sz="3600" dirty="0"/>
          </a:p>
        </p:txBody>
      </p:sp>
      <p:sp>
        <p:nvSpPr>
          <p:cNvPr id="9" name="R2_it8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(capelli) lisci</a:t>
            </a:r>
            <a:endParaRPr lang="en-US" sz="1600" dirty="0"/>
          </a:p>
        </p:txBody>
      </p:sp>
      <p:sp>
        <p:nvSpPr>
          <p:cNvPr id="10" name="R3_tpr8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Stroke your hair down: straight! 💇</a:t>
            </a:r>
            <a:endParaRPr lang="en-US" sz="1300" dirty="0"/>
          </a:p>
        </p:txBody>
      </p:sp>
      <p:sp>
        <p:nvSpPr>
          <p:cNvPr id="11" name="n_8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10</a:t>
            </a:r>
            <a:endParaRPr lang="en-US" sz="1200" dirty="0"/>
          </a:p>
        </p:txBody>
      </p:sp>
      <p:sp>
        <p:nvSpPr>
          <p:cNvPr id="12" name="bk_8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9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9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4" descr="/home/claude/movers/img/fc/cur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607" y="1234440"/>
            <a:ext cx="2164786" cy="2651760"/>
          </a:xfrm>
          <a:prstGeom prst="rect">
            <a:avLst/>
          </a:prstGeom>
        </p:spPr>
      </p:pic>
      <p:sp>
        <p:nvSpPr>
          <p:cNvPr id="8" name="R1_w9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curly</a:t>
            </a:r>
            <a:endParaRPr lang="en-US" sz="3600" dirty="0"/>
          </a:p>
        </p:txBody>
      </p:sp>
      <p:sp>
        <p:nvSpPr>
          <p:cNvPr id="9" name="R2_it9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(capelli) ricci</a:t>
            </a:r>
            <a:endParaRPr lang="en-US" sz="1600" dirty="0"/>
          </a:p>
        </p:txBody>
      </p:sp>
      <p:sp>
        <p:nvSpPr>
          <p:cNvPr id="10" name="R3_tpr9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Draw curls in the air with your finger! 🌀</a:t>
            </a:r>
            <a:endParaRPr lang="en-US" sz="1300" dirty="0"/>
          </a:p>
        </p:txBody>
      </p:sp>
      <p:sp>
        <p:nvSpPr>
          <p:cNvPr id="11" name="n_9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10</a:t>
            </a:r>
            <a:endParaRPr lang="en-US" sz="1200" dirty="0"/>
          </a:p>
        </p:txBody>
      </p:sp>
      <p:sp>
        <p:nvSpPr>
          <p:cNvPr id="12" name="bk_9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0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0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4" descr="/home/claude/movers/img/fc/blon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255" y="1234440"/>
            <a:ext cx="1953491" cy="2651760"/>
          </a:xfrm>
          <a:prstGeom prst="rect">
            <a:avLst/>
          </a:prstGeom>
        </p:spPr>
      </p:pic>
      <p:sp>
        <p:nvSpPr>
          <p:cNvPr id="8" name="R1_w10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blonde</a:t>
            </a:r>
            <a:endParaRPr lang="en-US" sz="3600" dirty="0"/>
          </a:p>
        </p:txBody>
      </p:sp>
      <p:sp>
        <p:nvSpPr>
          <p:cNvPr id="9" name="R2_it10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biondo</a:t>
            </a:r>
            <a:endParaRPr lang="en-US" sz="1600" dirty="0"/>
          </a:p>
        </p:txBody>
      </p:sp>
      <p:sp>
        <p:nvSpPr>
          <p:cNvPr id="10" name="R3_tpr10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Point to someone with blonde hair! 👱</a:t>
            </a:r>
            <a:endParaRPr lang="en-US" sz="1300" dirty="0"/>
          </a:p>
        </p:txBody>
      </p:sp>
      <p:sp>
        <p:nvSpPr>
          <p:cNvPr id="11" name="n_10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/ 10</a:t>
            </a:r>
            <a:endParaRPr lang="en-US" sz="1200" dirty="0"/>
          </a:p>
        </p:txBody>
      </p:sp>
      <p:sp>
        <p:nvSpPr>
          <p:cNvPr id="12" name="bk_10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1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1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1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4" descr="/home/claude/movers/img/fc/f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190" y="1234440"/>
            <a:ext cx="2119619" cy="2651760"/>
          </a:xfrm>
          <a:prstGeom prst="rect">
            <a:avLst/>
          </a:prstGeom>
        </p:spPr>
      </p:pic>
      <p:sp>
        <p:nvSpPr>
          <p:cNvPr id="8" name="R1_w11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fair</a:t>
            </a:r>
            <a:endParaRPr lang="en-US" sz="3600" dirty="0"/>
          </a:p>
        </p:txBody>
      </p:sp>
      <p:sp>
        <p:nvSpPr>
          <p:cNvPr id="9" name="R2_it11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chiari / biondi</a:t>
            </a:r>
            <a:endParaRPr lang="en-US" sz="1600" dirty="0"/>
          </a:p>
        </p:txBody>
      </p:sp>
      <p:sp>
        <p:nvSpPr>
          <p:cNvPr id="10" name="R3_tpr11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Touch your hair: is it fair or dark? 🤔</a:t>
            </a:r>
            <a:endParaRPr lang="en-US" sz="1300" dirty="0"/>
          </a:p>
        </p:txBody>
      </p:sp>
      <p:sp>
        <p:nvSpPr>
          <p:cNvPr id="11" name="n_11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/ 10</a:t>
            </a:r>
            <a:endParaRPr lang="en-US" sz="1200" dirty="0"/>
          </a:p>
        </p:txBody>
      </p:sp>
      <p:sp>
        <p:nvSpPr>
          <p:cNvPr id="12" name="bk_11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2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2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2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24" descr="/home/claude/movers/img/fc/be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214" y="1234440"/>
            <a:ext cx="1967572" cy="2651760"/>
          </a:xfrm>
          <a:prstGeom prst="rect">
            <a:avLst/>
          </a:prstGeom>
        </p:spPr>
      </p:pic>
      <p:sp>
        <p:nvSpPr>
          <p:cNvPr id="8" name="R1_w12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beard</a:t>
            </a:r>
            <a:endParaRPr lang="en-US" sz="3600" dirty="0"/>
          </a:p>
        </p:txBody>
      </p:sp>
      <p:sp>
        <p:nvSpPr>
          <p:cNvPr id="9" name="R2_it12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barba</a:t>
            </a:r>
            <a:endParaRPr lang="en-US" sz="1600" dirty="0"/>
          </a:p>
        </p:txBody>
      </p:sp>
      <p:sp>
        <p:nvSpPr>
          <p:cNvPr id="10" name="R3_tpr12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Stroke your long beard like a wizard! 🧙</a:t>
            </a:r>
            <a:endParaRPr lang="en-US" sz="1300" dirty="0"/>
          </a:p>
        </p:txBody>
      </p:sp>
      <p:sp>
        <p:nvSpPr>
          <p:cNvPr id="11" name="n_12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/ 10</a:t>
            </a:r>
            <a:endParaRPr lang="en-US" sz="1200" dirty="0"/>
          </a:p>
        </p:txBody>
      </p:sp>
      <p:sp>
        <p:nvSpPr>
          <p:cNvPr id="12" name="bk_12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3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3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33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34" descr="/home/claude/movers/img/fc/moustach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609" y="1234440"/>
            <a:ext cx="1932782" cy="2651760"/>
          </a:xfrm>
          <a:prstGeom prst="rect">
            <a:avLst/>
          </a:prstGeom>
        </p:spPr>
      </p:pic>
      <p:sp>
        <p:nvSpPr>
          <p:cNvPr id="8" name="R1_w135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moustache</a:t>
            </a:r>
            <a:endParaRPr lang="en-US" sz="3600" dirty="0"/>
          </a:p>
        </p:txBody>
      </p:sp>
      <p:sp>
        <p:nvSpPr>
          <p:cNvPr id="9" name="R2_it136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baffi</a:t>
            </a:r>
            <a:endParaRPr lang="en-US" sz="1600" dirty="0"/>
          </a:p>
        </p:txBody>
      </p:sp>
      <p:sp>
        <p:nvSpPr>
          <p:cNvPr id="10" name="R3_tpr137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Finger under your nose – a moustache! 🥸</a:t>
            </a:r>
            <a:endParaRPr lang="en-US" sz="1300" dirty="0"/>
          </a:p>
        </p:txBody>
      </p:sp>
      <p:sp>
        <p:nvSpPr>
          <p:cNvPr id="11" name="n_138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/ 10</a:t>
            </a:r>
            <a:endParaRPr lang="en-US" sz="1200" dirty="0"/>
          </a:p>
        </p:txBody>
      </p:sp>
      <p:sp>
        <p:nvSpPr>
          <p:cNvPr id="12" name="bk_13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4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IT!</a:t>
            </a:r>
            <a:endParaRPr lang="en-US" sz="1600" dirty="0"/>
          </a:p>
        </p:txBody>
      </p:sp>
      <p:sp>
        <p:nvSpPr>
          <p:cNvPr id="4" name="bm_14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Hairy H!</a:t>
            </a:r>
            <a:endParaRPr lang="en-US" sz="3200" dirty="0"/>
          </a:p>
        </p:txBody>
      </p:sp>
      <p:sp>
        <p:nvSpPr>
          <p:cNvPr id="5" name="in_14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Hand in front of your mouth. Feel the H!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Mano davanti alla bocca. Senti la H!</a:t>
            </a:r>
            <a:endParaRPr lang="en-US" sz="1400" dirty="0"/>
          </a:p>
        </p:txBody>
      </p:sp>
      <p:sp>
        <p:nvSpPr>
          <p:cNvPr id="6" name="mode_14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CLASS · ⏱ 4 MIN</a:t>
            </a:r>
            <a:endParaRPr lang="en-US" sz="1000" dirty="0"/>
          </a:p>
        </p:txBody>
      </p:sp>
      <p:sp>
        <p:nvSpPr>
          <p:cNvPr id="7" name="diff_144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Hair, his, her – 3 times fast!</a:t>
            </a:r>
            <a:endParaRPr lang="en-US" sz="950" dirty="0"/>
          </a:p>
        </p:txBody>
      </p:sp>
      <p:sp>
        <p:nvSpPr>
          <p:cNvPr id="8" name="pf_145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46" descr="/home/claude/movers/img/e-u3h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325880"/>
            <a:ext cx="3246120" cy="3246120"/>
          </a:xfrm>
          <a:prstGeom prst="rect">
            <a:avLst/>
          </a:prstGeom>
        </p:spPr>
      </p:pic>
      <p:sp>
        <p:nvSpPr>
          <p:cNvPr id="10" name="q_147"/>
          <p:cNvSpPr/>
          <p:nvPr/>
        </p:nvSpPr>
        <p:spPr>
          <a:xfrm>
            <a:off x="5760720" y="1325880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hair – air?</a:t>
            </a:r>
            <a:endParaRPr lang="en-US" sz="1250" dirty="0"/>
          </a:p>
        </p:txBody>
      </p:sp>
      <p:sp>
        <p:nvSpPr>
          <p:cNvPr id="11" name="R1_a148"/>
          <p:cNvSpPr/>
          <p:nvPr/>
        </p:nvSpPr>
        <p:spPr>
          <a:xfrm>
            <a:off x="5989320" y="1668231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HAIR! Feel the warm breath ✋</a:t>
            </a:r>
            <a:endParaRPr lang="en-US" sz="1250" dirty="0"/>
          </a:p>
        </p:txBody>
      </p:sp>
      <p:sp>
        <p:nvSpPr>
          <p:cNvPr id="12" name="q_149"/>
          <p:cNvSpPr/>
          <p:nvPr/>
        </p:nvSpPr>
        <p:spPr>
          <a:xfrm>
            <a:off x="5760720" y="1984248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his · her · he's got</a:t>
            </a:r>
            <a:endParaRPr lang="en-US" sz="1250" dirty="0"/>
          </a:p>
        </p:txBody>
      </p:sp>
      <p:sp>
        <p:nvSpPr>
          <p:cNvPr id="13" name="R2_a150"/>
          <p:cNvSpPr/>
          <p:nvPr/>
        </p:nvSpPr>
        <p:spPr>
          <a:xfrm>
            <a:off x="5989320" y="2326599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/h/ every time!</a:t>
            </a:r>
            <a:endParaRPr lang="en-US" sz="1250" dirty="0"/>
          </a:p>
        </p:txBody>
      </p:sp>
      <p:sp>
        <p:nvSpPr>
          <p:cNvPr id="14" name="q_151"/>
          <p:cNvSpPr/>
          <p:nvPr/>
        </p:nvSpPr>
        <p:spPr>
          <a:xfrm>
            <a:off x="5760720" y="2642616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 – tin?</a:t>
            </a:r>
            <a:endParaRPr lang="en-US" sz="1250" dirty="0"/>
          </a:p>
        </p:txBody>
      </p:sp>
      <p:sp>
        <p:nvSpPr>
          <p:cNvPr id="15" name="R3_a152"/>
          <p:cNvSpPr/>
          <p:nvPr/>
        </p:nvSpPr>
        <p:spPr>
          <a:xfrm>
            <a:off x="5989320" y="2984967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THin: tongue out! 👅</a:t>
            </a:r>
            <a:endParaRPr lang="en-US" sz="1250" dirty="0"/>
          </a:p>
        </p:txBody>
      </p:sp>
      <p:sp>
        <p:nvSpPr>
          <p:cNvPr id="16" name="q_153"/>
          <p:cNvSpPr/>
          <p:nvPr/>
        </p:nvSpPr>
        <p:spPr>
          <a:xfrm>
            <a:off x="5760720" y="3300984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capelli lunghi e neri → ?</a:t>
            </a:r>
            <a:endParaRPr lang="en-US" sz="1250" dirty="0"/>
          </a:p>
        </p:txBody>
      </p:sp>
      <p:sp>
        <p:nvSpPr>
          <p:cNvPr id="17" name="R4_a154"/>
          <p:cNvSpPr/>
          <p:nvPr/>
        </p:nvSpPr>
        <p:spPr>
          <a:xfrm>
            <a:off x="5989320" y="3643335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long black hair (hair at the END!)</a:t>
            </a:r>
            <a:endParaRPr lang="en-US" sz="1250" dirty="0"/>
          </a:p>
        </p:txBody>
      </p:sp>
      <p:sp>
        <p:nvSpPr>
          <p:cNvPr id="18" name="q_155"/>
          <p:cNvSpPr/>
          <p:nvPr/>
        </p:nvSpPr>
        <p:spPr>
          <a:xfrm>
            <a:off x="5760720" y="3959352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 i capelli ricci. → ?</a:t>
            </a:r>
            <a:endParaRPr lang="en-US" sz="1250" dirty="0"/>
          </a:p>
        </p:txBody>
      </p:sp>
      <p:sp>
        <p:nvSpPr>
          <p:cNvPr id="19" name="R5_a156"/>
          <p:cNvSpPr/>
          <p:nvPr/>
        </p:nvSpPr>
        <p:spPr>
          <a:xfrm>
            <a:off x="5989320" y="4301703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got curly hair.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5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SONG</a:t>
            </a:r>
            <a:endParaRPr lang="en-US" sz="1600" dirty="0"/>
          </a:p>
        </p:txBody>
      </p:sp>
      <p:sp>
        <p:nvSpPr>
          <p:cNvPr id="4" name="bm_15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Scarecrow! 1</a:t>
            </a:r>
            <a:endParaRPr lang="en-US" sz="3200" dirty="0"/>
          </a:p>
        </p:txBody>
      </p:sp>
      <p:sp>
        <p:nvSpPr>
          <p:cNvPr id="5" name="in_15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colour. What colour is it?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colora. Di che colore è?</a:t>
            </a:r>
            <a:endParaRPr lang="en-US" sz="1400" dirty="0"/>
          </a:p>
        </p:txBody>
      </p:sp>
      <p:sp>
        <p:nvSpPr>
          <p:cNvPr id="6" name="mode_16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🖍 COLOUR</a:t>
            </a:r>
            <a:endParaRPr lang="en-US" sz="1000" dirty="0"/>
          </a:p>
        </p:txBody>
      </p:sp>
      <p:sp>
        <p:nvSpPr>
          <p:cNvPr id="7" name="pf_161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62" descr="/home/claude/movers/img/crop/u3-p34-song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25" y="1325880"/>
            <a:ext cx="3443710" cy="3246120"/>
          </a:xfrm>
          <a:prstGeom prst="rect">
            <a:avLst/>
          </a:prstGeom>
        </p:spPr>
      </p:pic>
      <p:sp>
        <p:nvSpPr>
          <p:cNvPr id="9" name="q_163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colour is her hair?</a:t>
            </a:r>
            <a:endParaRPr lang="en-US" sz="1250" dirty="0"/>
          </a:p>
        </p:txBody>
      </p:sp>
      <p:sp>
        <p:nvSpPr>
          <p:cNvPr id="10" name="R1_a164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blonde (yellow) – not 'yellow hair'!</a:t>
            </a:r>
            <a:endParaRPr lang="en-US" sz="1250" dirty="0"/>
          </a:p>
        </p:txBody>
      </p:sp>
      <p:sp>
        <p:nvSpPr>
          <p:cNvPr id="11" name="q_165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colour is his beard?</a:t>
            </a:r>
            <a:endParaRPr lang="en-US" sz="1250" dirty="0"/>
          </a:p>
        </p:txBody>
      </p:sp>
      <p:sp>
        <p:nvSpPr>
          <p:cNvPr id="12" name="R2_a166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black</a:t>
            </a:r>
            <a:endParaRPr lang="en-US" sz="1250" dirty="0"/>
          </a:p>
        </p:txBody>
      </p:sp>
      <p:sp>
        <p:nvSpPr>
          <p:cNvPr id="13" name="q_167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scarecrow's tall?</a:t>
            </a:r>
            <a:endParaRPr lang="en-US" sz="1250" dirty="0"/>
          </a:p>
        </p:txBody>
      </p:sp>
      <p:sp>
        <p:nvSpPr>
          <p:cNvPr id="14" name="R3_a168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Eva's</a:t>
            </a:r>
            <a:endParaRPr lang="en-US" sz="1250" dirty="0"/>
          </a:p>
        </p:txBody>
      </p:sp>
      <p:sp>
        <p:nvSpPr>
          <p:cNvPr id="15" name="q_169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scarecrow's short?</a:t>
            </a:r>
            <a:endParaRPr lang="en-US" sz="1250" dirty="0"/>
          </a:p>
        </p:txBody>
      </p:sp>
      <p:sp>
        <p:nvSpPr>
          <p:cNvPr id="16" name="R4_a170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Tom's</a:t>
            </a:r>
            <a:endParaRPr lang="en-US" sz="1250" dirty="0"/>
          </a:p>
        </p:txBody>
      </p:sp>
      <p:sp>
        <p:nvSpPr>
          <p:cNvPr id="17" name="bk_171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 · 🎬 song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7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SONG</a:t>
            </a:r>
            <a:endParaRPr lang="en-US" sz="1600" dirty="0"/>
          </a:p>
        </p:txBody>
      </p:sp>
      <p:sp>
        <p:nvSpPr>
          <p:cNvPr id="4" name="bm_17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Scarecrow! 2</a:t>
            </a:r>
            <a:endParaRPr lang="en-US" sz="3200" dirty="0"/>
          </a:p>
        </p:txBody>
      </p:sp>
      <p:sp>
        <p:nvSpPr>
          <p:cNvPr id="5" name="in_17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Sing the song! Three groups – one verse each.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Canta la canzone! Tre gruppi – una strofa ciascuno.</a:t>
            </a:r>
            <a:endParaRPr lang="en-US" sz="1400" dirty="0"/>
          </a:p>
        </p:txBody>
      </p:sp>
      <p:sp>
        <p:nvSpPr>
          <p:cNvPr id="6" name="mode_17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 · ⏱ 4 MIN</a:t>
            </a:r>
            <a:endParaRPr lang="en-US" sz="1000" dirty="0"/>
          </a:p>
        </p:txBody>
      </p:sp>
      <p:sp>
        <p:nvSpPr>
          <p:cNvPr id="7" name="pf_17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77" descr="/home/claude/movers/img/crop/u3-p34-son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53987"/>
            <a:ext cx="5120640" cy="3189907"/>
          </a:xfrm>
          <a:prstGeom prst="rect">
            <a:avLst/>
          </a:prstGeom>
        </p:spPr>
      </p:pic>
      <p:sp>
        <p:nvSpPr>
          <p:cNvPr id="9" name="q_178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colour is his nose?</a:t>
            </a:r>
            <a:endParaRPr lang="en-US" sz="1250" dirty="0"/>
          </a:p>
        </p:txBody>
      </p:sp>
      <p:sp>
        <p:nvSpPr>
          <p:cNvPr id="10" name="R1_a179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purple</a:t>
            </a:r>
            <a:endParaRPr lang="en-US" sz="1250" dirty="0"/>
          </a:p>
        </p:txBody>
      </p:sp>
      <p:sp>
        <p:nvSpPr>
          <p:cNvPr id="11" name="q_180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scarecrow's got curly hair?</a:t>
            </a:r>
            <a:endParaRPr lang="en-US" sz="1250" dirty="0"/>
          </a:p>
        </p:txBody>
      </p:sp>
      <p:sp>
        <p:nvSpPr>
          <p:cNvPr id="12" name="R2_a181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 and Jenny's</a:t>
            </a:r>
            <a:endParaRPr lang="en-US" sz="1250" dirty="0"/>
          </a:p>
        </p:txBody>
      </p:sp>
      <p:sp>
        <p:nvSpPr>
          <p:cNvPr id="13" name="q_182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he wearing?</a:t>
            </a:r>
            <a:endParaRPr lang="en-US" sz="1250" dirty="0"/>
          </a:p>
        </p:txBody>
      </p:sp>
      <p:sp>
        <p:nvSpPr>
          <p:cNvPr id="14" name="R3_a183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dirty clothes!</a:t>
            </a:r>
            <a:endParaRPr lang="en-US" sz="1250" dirty="0"/>
          </a:p>
        </p:txBody>
      </p:sp>
      <p:sp>
        <p:nvSpPr>
          <p:cNvPr id="15" name="bk_184"/>
          <p:cNvSpPr/>
          <p:nvPr/>
        </p:nvSpPr>
        <p:spPr>
          <a:xfrm>
            <a:off x="228600" y="4681728"/>
            <a:ext cx="404622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1.42 · karaoke 🎧 1.43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186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scarecrow?</a:t>
            </a:r>
            <a:endParaRPr lang="en-US" sz="2700" dirty="0"/>
          </a:p>
        </p:txBody>
      </p:sp>
      <p:sp>
        <p:nvSpPr>
          <p:cNvPr id="5" name="in_18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say the number. Then play the game.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di' il numero. Poi gioca.</a:t>
            </a:r>
            <a:endParaRPr lang="en-US" sz="1400" dirty="0"/>
          </a:p>
        </p:txBody>
      </p:sp>
      <p:sp>
        <p:nvSpPr>
          <p:cNvPr id="6" name="mode_18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diff_189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It's got … hair.</a:t>
            </a:r>
            <a:endParaRPr lang="en-US" sz="950" dirty="0"/>
          </a:p>
        </p:txBody>
      </p:sp>
      <p:sp>
        <p:nvSpPr>
          <p:cNvPr id="8" name="diff_190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Only ask questions!</a:t>
            </a:r>
            <a:endParaRPr lang="en-US" sz="950" dirty="0"/>
          </a:p>
        </p:txBody>
      </p:sp>
      <p:sp>
        <p:nvSpPr>
          <p:cNvPr id="9" name="pf_191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192" descr="/home/claude/movers/img/crop/u3-p34-ex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85651"/>
            <a:ext cx="5120640" cy="1926577"/>
          </a:xfrm>
          <a:prstGeom prst="rect">
            <a:avLst/>
          </a:prstGeom>
        </p:spPr>
      </p:pic>
      <p:sp>
        <p:nvSpPr>
          <p:cNvPr id="11" name="q_193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Number 1: Has he got a beard? Is he fat?</a:t>
            </a:r>
            <a:endParaRPr lang="en-US" sz="1250" dirty="0"/>
          </a:p>
        </p:txBody>
      </p:sp>
      <p:sp>
        <p:nvSpPr>
          <p:cNvPr id="12" name="R1_a194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No, he hasn't. Yes, he is.</a:t>
            </a:r>
            <a:endParaRPr lang="en-US" sz="1250" dirty="0"/>
          </a:p>
        </p:txBody>
      </p:sp>
      <p:sp>
        <p:nvSpPr>
          <p:cNvPr id="13" name="q_195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There's a tall scarecrow… a small green hat… curly blonde hair… thin.</a:t>
            </a:r>
            <a:endParaRPr lang="en-US" sz="1250" dirty="0"/>
          </a:p>
        </p:txBody>
      </p:sp>
      <p:sp>
        <p:nvSpPr>
          <p:cNvPr id="14" name="R2_a196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Number 3!</a:t>
            </a:r>
            <a:endParaRPr lang="en-US" sz="1250" dirty="0"/>
          </a:p>
        </p:txBody>
      </p:sp>
      <p:sp>
        <p:nvSpPr>
          <p:cNvPr id="15" name="q_197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turn! Describe one scarecrow.</a:t>
            </a:r>
            <a:endParaRPr lang="en-US" sz="1250" dirty="0"/>
          </a:p>
        </p:txBody>
      </p:sp>
      <p:sp>
        <p:nvSpPr>
          <p:cNvPr id="16" name="R3_a198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partner says the number.</a:t>
            </a:r>
            <a:endParaRPr lang="en-US" sz="1250" dirty="0"/>
          </a:p>
        </p:txBody>
      </p:sp>
      <p:sp>
        <p:nvSpPr>
          <p:cNvPr id="17" name="bk_19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p.34 · 🎧 1.44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0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Body shapes!</a:t>
            </a:r>
            <a:endParaRPr lang="en-US" sz="3200" dirty="0"/>
          </a:p>
        </p:txBody>
      </p:sp>
      <p:sp>
        <p:nvSpPr>
          <p:cNvPr id="5" name="in_20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make the shape with your body!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fai la forma con il corpo!</a:t>
            </a:r>
            <a:endParaRPr lang="en-US" sz="1400" dirty="0"/>
          </a:p>
        </p:txBody>
      </p:sp>
      <p:sp>
        <p:nvSpPr>
          <p:cNvPr id="6" name="mode_20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CLASS · ⏱ 3 MIN</a:t>
            </a:r>
            <a:endParaRPr lang="en-US" sz="1000" dirty="0"/>
          </a:p>
        </p:txBody>
      </p:sp>
      <p:sp>
        <p:nvSpPr>
          <p:cNvPr id="7" name="cd_204"/>
          <p:cNvSpPr/>
          <p:nvPr/>
        </p:nvSpPr>
        <p:spPr>
          <a:xfrm>
            <a:off x="27432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205" descr="/home/claude/movers/img/fc/t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1133856" cy="1133856"/>
          </a:xfrm>
          <a:prstGeom prst="rect">
            <a:avLst/>
          </a:prstGeom>
        </p:spPr>
      </p:pic>
      <p:sp>
        <p:nvSpPr>
          <p:cNvPr id="9" name="R1_a206"/>
          <p:cNvSpPr/>
          <p:nvPr/>
        </p:nvSpPr>
        <p:spPr>
          <a:xfrm>
            <a:off x="162763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TALL! Arms up! 🙌</a:t>
            </a:r>
            <a:endParaRPr lang="en-US" sz="1250" dirty="0"/>
          </a:p>
        </p:txBody>
      </p:sp>
      <p:sp>
        <p:nvSpPr>
          <p:cNvPr id="10" name="cd_207"/>
          <p:cNvSpPr/>
          <p:nvPr/>
        </p:nvSpPr>
        <p:spPr>
          <a:xfrm>
            <a:off x="313944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208" descr="/home/claude/movers/img/fc/sh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592" y="1399032"/>
            <a:ext cx="1133856" cy="1133856"/>
          </a:xfrm>
          <a:prstGeom prst="rect">
            <a:avLst/>
          </a:prstGeom>
        </p:spPr>
      </p:pic>
      <p:sp>
        <p:nvSpPr>
          <p:cNvPr id="12" name="R2_a209"/>
          <p:cNvSpPr/>
          <p:nvPr/>
        </p:nvSpPr>
        <p:spPr>
          <a:xfrm>
            <a:off x="449275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SHORT! Squat down!</a:t>
            </a:r>
            <a:endParaRPr lang="en-US" sz="1250" dirty="0"/>
          </a:p>
        </p:txBody>
      </p:sp>
      <p:sp>
        <p:nvSpPr>
          <p:cNvPr id="13" name="cd_210"/>
          <p:cNvSpPr/>
          <p:nvPr/>
        </p:nvSpPr>
        <p:spPr>
          <a:xfrm>
            <a:off x="600456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211" descr="/home/claude/movers/img/fc/f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2" y="1399032"/>
            <a:ext cx="1133856" cy="1133856"/>
          </a:xfrm>
          <a:prstGeom prst="rect">
            <a:avLst/>
          </a:prstGeom>
        </p:spPr>
      </p:pic>
      <p:sp>
        <p:nvSpPr>
          <p:cNvPr id="15" name="R3_a212"/>
          <p:cNvSpPr/>
          <p:nvPr/>
        </p:nvSpPr>
        <p:spPr>
          <a:xfrm>
            <a:off x="735787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FAT! Big circle arms! 🎈</a:t>
            </a:r>
            <a:endParaRPr lang="en-US" sz="1250" dirty="0"/>
          </a:p>
        </p:txBody>
      </p:sp>
      <p:sp>
        <p:nvSpPr>
          <p:cNvPr id="16" name="cd_213"/>
          <p:cNvSpPr/>
          <p:nvPr/>
        </p:nvSpPr>
        <p:spPr>
          <a:xfrm>
            <a:off x="27432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214" descr="/home/claude/movers/img/fc/th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99232"/>
            <a:ext cx="1133856" cy="1133856"/>
          </a:xfrm>
          <a:prstGeom prst="rect">
            <a:avLst/>
          </a:prstGeom>
        </p:spPr>
      </p:pic>
      <p:sp>
        <p:nvSpPr>
          <p:cNvPr id="18" name="R4_a215"/>
          <p:cNvSpPr/>
          <p:nvPr/>
        </p:nvSpPr>
        <p:spPr>
          <a:xfrm>
            <a:off x="162763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THIN! Like a pencil! ✏️</a:t>
            </a:r>
            <a:endParaRPr lang="en-US" sz="1250" dirty="0"/>
          </a:p>
        </p:txBody>
      </p:sp>
      <p:sp>
        <p:nvSpPr>
          <p:cNvPr id="19" name="cd_216"/>
          <p:cNvSpPr/>
          <p:nvPr/>
        </p:nvSpPr>
        <p:spPr>
          <a:xfrm>
            <a:off x="313944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217" descr="/home/claude/movers/img/fc/be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592" y="2999232"/>
            <a:ext cx="1133856" cy="1133856"/>
          </a:xfrm>
          <a:prstGeom prst="rect">
            <a:avLst/>
          </a:prstGeom>
        </p:spPr>
      </p:pic>
      <p:sp>
        <p:nvSpPr>
          <p:cNvPr id="21" name="R5_a218"/>
          <p:cNvSpPr/>
          <p:nvPr/>
        </p:nvSpPr>
        <p:spPr>
          <a:xfrm>
            <a:off x="449275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Grow a long BEARD! 🧙</a:t>
            </a:r>
            <a:endParaRPr lang="en-US" sz="1250" dirty="0"/>
          </a:p>
        </p:txBody>
      </p:sp>
      <p:sp>
        <p:nvSpPr>
          <p:cNvPr id="22" name="cd_219"/>
          <p:cNvSpPr/>
          <p:nvPr/>
        </p:nvSpPr>
        <p:spPr>
          <a:xfrm>
            <a:off x="600456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20" descr="/home/claude/movers/img/fc/moustach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712" y="2999232"/>
            <a:ext cx="1133856" cy="1133856"/>
          </a:xfrm>
          <a:prstGeom prst="rect">
            <a:avLst/>
          </a:prstGeom>
        </p:spPr>
      </p:pic>
      <p:sp>
        <p:nvSpPr>
          <p:cNvPr id="24" name="R6_a221"/>
          <p:cNvSpPr/>
          <p:nvPr/>
        </p:nvSpPr>
        <p:spPr>
          <a:xfrm>
            <a:off x="735787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Twist your MOUSTACHE! 🥸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2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23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Dad doing?</a:t>
            </a:r>
            <a:endParaRPr lang="en-US" sz="2700" dirty="0"/>
          </a:p>
        </p:txBody>
      </p:sp>
      <p:sp>
        <p:nvSpPr>
          <p:cNvPr id="5" name="in_224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Dad doing? Listen and tick ✓.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Cosa sta facendo papà? Ascolta e spunta ✓.</a:t>
            </a:r>
            <a:endParaRPr lang="en-US" sz="1400" dirty="0"/>
          </a:p>
        </p:txBody>
      </p:sp>
      <p:sp>
        <p:nvSpPr>
          <p:cNvPr id="6" name="mode_22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4 MIN</a:t>
            </a:r>
            <a:endParaRPr lang="en-US" sz="1000" dirty="0"/>
          </a:p>
        </p:txBody>
      </p:sp>
      <p:sp>
        <p:nvSpPr>
          <p:cNvPr id="7" name="pf_22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27" descr="/home/claude/movers/img/crop/u3-p35-e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95449"/>
            <a:ext cx="5120640" cy="1306982"/>
          </a:xfrm>
          <a:prstGeom prst="rect">
            <a:avLst/>
          </a:prstGeom>
        </p:spPr>
      </p:pic>
      <p:sp>
        <p:nvSpPr>
          <p:cNvPr id="9" name="q_228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Dad doing?</a:t>
            </a:r>
            <a:endParaRPr lang="en-US" sz="1250" dirty="0"/>
          </a:p>
        </p:txBody>
      </p:sp>
      <p:sp>
        <p:nvSpPr>
          <p:cNvPr id="10" name="R1_a229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cleaning his shoes. ✓ picture 3</a:t>
            </a:r>
            <a:endParaRPr lang="en-US" sz="1200" dirty="0"/>
          </a:p>
        </p:txBody>
      </p:sp>
      <p:sp>
        <p:nvSpPr>
          <p:cNvPr id="11" name="q_230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Why's Julia watching TV?</a:t>
            </a:r>
            <a:endParaRPr lang="en-US" sz="1250" dirty="0"/>
          </a:p>
        </p:txBody>
      </p:sp>
      <p:sp>
        <p:nvSpPr>
          <p:cNvPr id="12" name="R2_a231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 it's Saturday morning and she hasn't got school.</a:t>
            </a:r>
            <a:endParaRPr lang="en-US" sz="1200" dirty="0"/>
          </a:p>
        </p:txBody>
      </p:sp>
      <p:sp>
        <p:nvSpPr>
          <p:cNvPr id="13" name="q_232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Why's Dad cleaning his shoes?</a:t>
            </a:r>
            <a:endParaRPr lang="en-US" sz="1250" dirty="0"/>
          </a:p>
        </p:txBody>
      </p:sp>
      <p:sp>
        <p:nvSpPr>
          <p:cNvPr id="14" name="R3_a233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 they're dirty and he needs them for a party.</a:t>
            </a:r>
            <a:endParaRPr lang="en-US" sz="1200" dirty="0"/>
          </a:p>
        </p:txBody>
      </p:sp>
      <p:sp>
        <p:nvSpPr>
          <p:cNvPr id="15" name="q_234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Why's Mum listening to music?</a:t>
            </a:r>
            <a:endParaRPr lang="en-US" sz="1250" dirty="0"/>
          </a:p>
        </p:txBody>
      </p:sp>
      <p:sp>
        <p:nvSpPr>
          <p:cNvPr id="16" name="R4_a235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 she likes listening to music when she cooks.</a:t>
            </a:r>
            <a:endParaRPr lang="en-US" sz="1200" dirty="0"/>
          </a:p>
        </p:txBody>
      </p:sp>
      <p:sp>
        <p:nvSpPr>
          <p:cNvPr id="17" name="bk_23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p.35 · 🎧 1.45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3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</a:t>
            </a:r>
            <a:endParaRPr lang="en-US" sz="1600" dirty="0"/>
          </a:p>
        </p:txBody>
      </p:sp>
      <p:sp>
        <p:nvSpPr>
          <p:cNvPr id="4" name="bm_23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Gracie's Grammar</a:t>
            </a:r>
            <a:endParaRPr lang="en-US" sz="2700" dirty="0"/>
          </a:p>
        </p:txBody>
      </p:sp>
      <p:sp>
        <p:nvSpPr>
          <p:cNvPr id="5" name="mode_23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CLASS · ⏱ 4 MIN</a:t>
            </a:r>
            <a:endParaRPr lang="en-US" sz="1000" dirty="0"/>
          </a:p>
        </p:txBody>
      </p:sp>
      <p:sp>
        <p:nvSpPr>
          <p:cNvPr id="6" name="gb_240"/>
          <p:cNvSpPr/>
          <p:nvPr/>
        </p:nvSpPr>
        <p:spPr>
          <a:xfrm>
            <a:off x="320040" y="1280160"/>
            <a:ext cx="8503920" cy="1609344"/>
          </a:xfrm>
          <a:prstGeom prst="roundRect">
            <a:avLst>
              <a:gd name="adj" fmla="val 6818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pic>
        <p:nvPicPr>
          <p:cNvPr id="7" name="pic_241" descr="/home/claude/movers/img/fc/grac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54287"/>
            <a:ext cx="868680" cy="1042803"/>
          </a:xfrm>
          <a:prstGeom prst="rect">
            <a:avLst/>
          </a:prstGeom>
        </p:spPr>
      </p:pic>
      <p:sp>
        <p:nvSpPr>
          <p:cNvPr id="8" name="gl_242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are you asking a lot of questions?</a:t>
            </a:r>
            <a:endParaRPr lang="en-US" sz="1500" dirty="0"/>
          </a:p>
        </p:txBody>
      </p:sp>
      <p:sp>
        <p:nvSpPr>
          <p:cNvPr id="9" name="gl_243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I love asking questions.</a:t>
            </a:r>
            <a:endParaRPr lang="en-US" sz="1500" dirty="0"/>
          </a:p>
        </p:txBody>
      </p:sp>
      <p:sp>
        <p:nvSpPr>
          <p:cNvPr id="10" name="gl_244"/>
          <p:cNvSpPr/>
          <p:nvPr/>
        </p:nvSpPr>
        <p:spPr>
          <a:xfrm>
            <a:off x="548640" y="21854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…? = perché…?  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 = perché… (risposta)</a:t>
            </a:r>
            <a:endParaRPr lang="en-US" sz="1500" dirty="0"/>
          </a:p>
        </p:txBody>
      </p:sp>
      <p:sp>
        <p:nvSpPr>
          <p:cNvPr id="11" name="pq_245"/>
          <p:cNvSpPr/>
          <p:nvPr/>
        </p:nvSpPr>
        <p:spPr>
          <a:xfrm>
            <a:off x="365760" y="3026664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___ are you laughing?</a:t>
            </a:r>
            <a:endParaRPr lang="en-US" sz="1300" dirty="0"/>
          </a:p>
        </p:txBody>
      </p:sp>
      <p:sp>
        <p:nvSpPr>
          <p:cNvPr id="12" name="R1_pa246"/>
          <p:cNvSpPr/>
          <p:nvPr/>
        </p:nvSpPr>
        <p:spPr>
          <a:xfrm>
            <a:off x="6126480" y="3026664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</a:t>
            </a:r>
            <a:endParaRPr lang="en-US" sz="1300" dirty="0"/>
          </a:p>
        </p:txBody>
      </p:sp>
      <p:sp>
        <p:nvSpPr>
          <p:cNvPr id="13" name="pq_247"/>
          <p:cNvSpPr/>
          <p:nvPr/>
        </p:nvSpPr>
        <p:spPr>
          <a:xfrm>
            <a:off x="365760" y="3424428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___ it's funny!</a:t>
            </a:r>
            <a:endParaRPr lang="en-US" sz="1300" dirty="0"/>
          </a:p>
        </p:txBody>
      </p:sp>
      <p:sp>
        <p:nvSpPr>
          <p:cNvPr id="14" name="R2_pa248"/>
          <p:cNvSpPr/>
          <p:nvPr/>
        </p:nvSpPr>
        <p:spPr>
          <a:xfrm>
            <a:off x="6126480" y="3424428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</a:t>
            </a:r>
            <a:endParaRPr lang="en-US" sz="1300" dirty="0"/>
          </a:p>
        </p:txBody>
      </p:sp>
      <p:sp>
        <p:nvSpPr>
          <p:cNvPr id="15" name="pq_249"/>
          <p:cNvSpPr/>
          <p:nvPr/>
        </p:nvSpPr>
        <p:spPr>
          <a:xfrm>
            <a:off x="365760" y="3822192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___ she wearing a helmet?</a:t>
            </a:r>
            <a:endParaRPr lang="en-US" sz="1300" dirty="0"/>
          </a:p>
        </p:txBody>
      </p:sp>
      <p:sp>
        <p:nvSpPr>
          <p:cNvPr id="16" name="R3_pa250"/>
          <p:cNvSpPr/>
          <p:nvPr/>
        </p:nvSpPr>
        <p:spPr>
          <a:xfrm>
            <a:off x="6126480" y="3822192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</a:t>
            </a:r>
            <a:endParaRPr lang="en-US" sz="1300" dirty="0"/>
          </a:p>
        </p:txBody>
      </p:sp>
      <p:sp>
        <p:nvSpPr>
          <p:cNvPr id="17" name="pq_251"/>
          <p:cNvSpPr/>
          <p:nvPr/>
        </p:nvSpPr>
        <p:spPr>
          <a:xfrm>
            <a:off x="365760" y="4219956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 she ___ riding a bike.</a:t>
            </a:r>
            <a:endParaRPr lang="en-US" sz="1300" dirty="0"/>
          </a:p>
        </p:txBody>
      </p:sp>
      <p:sp>
        <p:nvSpPr>
          <p:cNvPr id="18" name="R4_pa252"/>
          <p:cNvSpPr/>
          <p:nvPr/>
        </p:nvSpPr>
        <p:spPr>
          <a:xfrm>
            <a:off x="6126480" y="4219956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's (is)</a:t>
            </a:r>
            <a:endParaRPr lang="en-US" sz="1300" dirty="0"/>
          </a:p>
        </p:txBody>
      </p:sp>
      <p:sp>
        <p:nvSpPr>
          <p:cNvPr id="19" name="bk_253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p.35 · 🎧 1.46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5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</a:t>
            </a:r>
            <a:endParaRPr lang="en-US" sz="1600" dirty="0"/>
          </a:p>
        </p:txBody>
      </p:sp>
      <p:sp>
        <p:nvSpPr>
          <p:cNvPr id="4" name="bm_25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Why? Because…</a:t>
            </a:r>
            <a:endParaRPr lang="en-US" sz="2700" dirty="0"/>
          </a:p>
        </p:txBody>
      </p:sp>
      <p:sp>
        <p:nvSpPr>
          <p:cNvPr id="5" name="in_25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Ask and answer with your own ideas.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Fai domande e rispondi con le tue idee.</a:t>
            </a:r>
            <a:endParaRPr lang="en-US" sz="1400" dirty="0"/>
          </a:p>
        </p:txBody>
      </p:sp>
      <p:sp>
        <p:nvSpPr>
          <p:cNvPr id="6" name="mode_25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diff_258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Because they're …</a:t>
            </a:r>
            <a:endParaRPr lang="en-US" sz="950" dirty="0"/>
          </a:p>
        </p:txBody>
      </p:sp>
      <p:sp>
        <p:nvSpPr>
          <p:cNvPr id="8" name="diff_259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Give 2 reasons!</a:t>
            </a:r>
            <a:endParaRPr lang="en-US" sz="950" dirty="0"/>
          </a:p>
        </p:txBody>
      </p:sp>
      <p:sp>
        <p:nvSpPr>
          <p:cNvPr id="9" name="pf_260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261" descr="/home/claude/movers/img/crop/u3-p35-ex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22348"/>
            <a:ext cx="5120640" cy="1853184"/>
          </a:xfrm>
          <a:prstGeom prst="rect">
            <a:avLst/>
          </a:prstGeom>
        </p:spPr>
      </p:pic>
      <p:sp>
        <p:nvSpPr>
          <p:cNvPr id="11" name="q_262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are they wearing clown costumes?</a:t>
            </a:r>
            <a:endParaRPr lang="en-US" sz="1250" dirty="0"/>
          </a:p>
        </p:txBody>
      </p:sp>
      <p:sp>
        <p:nvSpPr>
          <p:cNvPr id="12" name="R1_a263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 they're going to a party / they like dressing up / they're in a show.</a:t>
            </a:r>
            <a:endParaRPr lang="en-US" sz="1050" dirty="0"/>
          </a:p>
        </p:txBody>
      </p:sp>
      <p:sp>
        <p:nvSpPr>
          <p:cNvPr id="13" name="q_264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is he washing his hands?</a:t>
            </a:r>
            <a:endParaRPr lang="en-US" sz="1250" dirty="0"/>
          </a:p>
        </p:txBody>
      </p:sp>
      <p:sp>
        <p:nvSpPr>
          <p:cNvPr id="14" name="R2_a265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 they're dirty / it's lunchtime.</a:t>
            </a:r>
            <a:endParaRPr lang="en-US" sz="1200" dirty="0"/>
          </a:p>
        </p:txBody>
      </p:sp>
      <p:sp>
        <p:nvSpPr>
          <p:cNvPr id="15" name="q_266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is he reading a big book?</a:t>
            </a:r>
            <a:endParaRPr lang="en-US" sz="1250" dirty="0"/>
          </a:p>
        </p:txBody>
      </p:sp>
      <p:sp>
        <p:nvSpPr>
          <p:cNvPr id="16" name="R3_a267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 he likes reading / he's doing his homework.</a:t>
            </a:r>
            <a:endParaRPr lang="en-US" sz="1200" dirty="0"/>
          </a:p>
        </p:txBody>
      </p:sp>
      <p:sp>
        <p:nvSpPr>
          <p:cNvPr id="17" name="q_268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is she wearing a helmet?</a:t>
            </a:r>
            <a:endParaRPr lang="en-US" sz="1250" dirty="0"/>
          </a:p>
        </p:txBody>
      </p:sp>
      <p:sp>
        <p:nvSpPr>
          <p:cNvPr id="18" name="R4_a269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Because she's skating / riding a bike.</a:t>
            </a:r>
            <a:endParaRPr lang="en-US" sz="1200" dirty="0"/>
          </a:p>
        </p:txBody>
      </p:sp>
      <p:sp>
        <p:nvSpPr>
          <p:cNvPr id="19" name="bk_270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7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272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2: Describe!</a:t>
            </a:r>
            <a:endParaRPr lang="en-US" sz="2700" dirty="0"/>
          </a:p>
        </p:txBody>
      </p:sp>
      <p:sp>
        <p:nvSpPr>
          <p:cNvPr id="5" name="in_273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who you are. Describe your character.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Di' chi sei. Descrivi il tuo personaggio.</a:t>
            </a:r>
            <a:endParaRPr lang="en-US" sz="1400" dirty="0"/>
          </a:p>
        </p:txBody>
      </p:sp>
      <p:sp>
        <p:nvSpPr>
          <p:cNvPr id="6" name="mode_27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· ⏱ 6 MIN</a:t>
            </a:r>
            <a:endParaRPr lang="en-US" sz="1000" dirty="0"/>
          </a:p>
        </p:txBody>
      </p:sp>
      <p:sp>
        <p:nvSpPr>
          <p:cNvPr id="7" name="diff_275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I'm … I've got … hair.</a:t>
            </a:r>
            <a:endParaRPr lang="en-US" sz="950" dirty="0"/>
          </a:p>
        </p:txBody>
      </p:sp>
      <p:sp>
        <p:nvSpPr>
          <p:cNvPr id="8" name="diff_276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Add what you're wearing!</a:t>
            </a:r>
            <a:endParaRPr lang="en-US" sz="950" dirty="0"/>
          </a:p>
        </p:txBody>
      </p:sp>
      <p:sp>
        <p:nvSpPr>
          <p:cNvPr id="9" name="pf_277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278" descr="/home/claude/movers/img/crop/u3-p35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67667"/>
            <a:ext cx="5120640" cy="2162546"/>
          </a:xfrm>
          <a:prstGeom prst="rect">
            <a:avLst/>
          </a:prstGeom>
        </p:spPr>
      </p:pic>
      <p:sp>
        <p:nvSpPr>
          <p:cNvPr id="11" name="q_279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who you are.</a:t>
            </a:r>
            <a:endParaRPr lang="en-US" sz="1250" dirty="0"/>
          </a:p>
        </p:txBody>
      </p:sp>
      <p:sp>
        <p:nvSpPr>
          <p:cNvPr id="12" name="R1_a280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Hi! I'm Daisy. I'm a doctor.</a:t>
            </a:r>
            <a:endParaRPr lang="en-US" sz="1250" dirty="0"/>
          </a:p>
        </p:txBody>
      </p:sp>
      <p:sp>
        <p:nvSpPr>
          <p:cNvPr id="13" name="q_281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Describe your character.</a:t>
            </a:r>
            <a:endParaRPr lang="en-US" sz="1250" dirty="0"/>
          </a:p>
        </p:txBody>
      </p:sp>
      <p:sp>
        <p:nvSpPr>
          <p:cNvPr id="14" name="R2_a282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I'm tall with long, blonde hair.</a:t>
            </a:r>
            <a:endParaRPr lang="en-US" sz="1250" dirty="0"/>
          </a:p>
        </p:txBody>
      </p:sp>
      <p:sp>
        <p:nvSpPr>
          <p:cNvPr id="15" name="q_283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 about your character.</a:t>
            </a:r>
            <a:endParaRPr lang="en-US" sz="1250" dirty="0"/>
          </a:p>
        </p:txBody>
      </p:sp>
      <p:sp>
        <p:nvSpPr>
          <p:cNvPr id="16" name="R3_a284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Daisy's a doctor. She's tall with long, blonde hair.</a:t>
            </a:r>
            <a:endParaRPr lang="en-US" sz="1250" dirty="0"/>
          </a:p>
        </p:txBody>
      </p:sp>
      <p:sp>
        <p:nvSpPr>
          <p:cNvPr id="17" name="bk_285"/>
          <p:cNvSpPr/>
          <p:nvPr/>
        </p:nvSpPr>
        <p:spPr>
          <a:xfrm>
            <a:off x="228600" y="4681728"/>
            <a:ext cx="350215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p.35 · Activity Book p.30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8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287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28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289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describe people: tall, short, curly…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descrivere le persone.</a:t>
            </a:r>
            <a:endParaRPr lang="en-US" sz="1300" dirty="0"/>
          </a:p>
        </p:txBody>
      </p:sp>
      <p:sp>
        <p:nvSpPr>
          <p:cNvPr id="7" name="can_290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sing the scarecrow song.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cantare la canzone dello spaventapasseri.</a:t>
            </a:r>
            <a:endParaRPr lang="en-US" sz="1300" dirty="0"/>
          </a:p>
        </p:txBody>
      </p:sp>
      <p:sp>
        <p:nvSpPr>
          <p:cNvPr id="8" name="can_291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ask Why…? and answer Because…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chiedere Why…? e rispondere Because…</a:t>
            </a:r>
            <a:endParaRPr lang="en-US" sz="1300" dirty="0"/>
          </a:p>
        </p:txBody>
      </p:sp>
      <p:sp>
        <p:nvSpPr>
          <p:cNvPr id="9" name="hw_292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p.34: ex.2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p.35: ex.1–2</a:t>
            </a:r>
            <a:endParaRPr lang="en-US" sz="1250" dirty="0"/>
          </a:p>
        </p:txBody>
      </p:sp>
      <p:sp>
        <p:nvSpPr>
          <p:cNvPr id="10" name="nx_293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people who help us! 🚒👮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9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9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Draw it!</a:t>
            </a:r>
            <a:endParaRPr lang="en-US" sz="2700" dirty="0"/>
          </a:p>
        </p:txBody>
      </p:sp>
      <p:sp>
        <p:nvSpPr>
          <p:cNvPr id="5" name="in_29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draw the person!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disegna la persona!</a:t>
            </a:r>
            <a:endParaRPr lang="en-US" sz="1400" dirty="0"/>
          </a:p>
        </p:txBody>
      </p:sp>
      <p:sp>
        <p:nvSpPr>
          <p:cNvPr id="6" name="mode_29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⏱ 5 MIN</a:t>
            </a:r>
            <a:endParaRPr lang="en-US" sz="1000" dirty="0"/>
          </a:p>
        </p:txBody>
      </p:sp>
      <p:sp>
        <p:nvSpPr>
          <p:cNvPr id="7" name="diff_298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He's got … hair.</a:t>
            </a:r>
            <a:endParaRPr lang="en-US" sz="950" dirty="0"/>
          </a:p>
        </p:txBody>
      </p:sp>
      <p:sp>
        <p:nvSpPr>
          <p:cNvPr id="8" name="st_299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300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301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1" name="se_302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teacher (or a friend).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l'insegnante (o un compagno).</a:t>
            </a:r>
            <a:endParaRPr lang="en-US" sz="1050" dirty="0"/>
          </a:p>
        </p:txBody>
      </p:sp>
      <p:sp>
        <p:nvSpPr>
          <p:cNvPr id="12" name="st_303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8E5BE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304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8E5BE8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305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🖍️ DRAW</a:t>
            </a:r>
            <a:endParaRPr lang="en-US" sz="1300" dirty="0"/>
          </a:p>
        </p:txBody>
      </p:sp>
      <p:sp>
        <p:nvSpPr>
          <p:cNvPr id="15" name="se_306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person – 1 minute!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Disegna la persona – 1 minuto!</a:t>
            </a:r>
            <a:endParaRPr lang="en-US" sz="1050" dirty="0"/>
          </a:p>
        </p:txBody>
      </p:sp>
      <p:sp>
        <p:nvSpPr>
          <p:cNvPr id="16" name="st_307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308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309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9" name="se_310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and say: 'He's tall. He's got…'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e di': 'He's tall. He's got…'</a:t>
            </a:r>
            <a:endParaRPr lang="en-US" sz="1050" dirty="0"/>
          </a:p>
        </p:txBody>
      </p:sp>
      <p:sp>
        <p:nvSpPr>
          <p:cNvPr id="20" name="gl_311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/ She's tall · short · fat · thin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got … hair: long / short + curly / straight + colour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got a beard / a moustache.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1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13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Silly reasons!</a:t>
            </a:r>
            <a:endParaRPr lang="en-US" sz="2400" dirty="0"/>
          </a:p>
        </p:txBody>
      </p:sp>
      <p:sp>
        <p:nvSpPr>
          <p:cNvPr id="5" name="in_314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Ask 'Why…?' Give a silly answer!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Chiedi 'Why…?' Dai una risposta buffa!</a:t>
            </a:r>
            <a:endParaRPr lang="en-US" sz="1400" dirty="0"/>
          </a:p>
        </p:txBody>
      </p:sp>
      <p:sp>
        <p:nvSpPr>
          <p:cNvPr id="6" name="mode_31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diff_316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Because …</a:t>
            </a:r>
            <a:endParaRPr lang="en-US" sz="950" dirty="0"/>
          </a:p>
        </p:txBody>
      </p:sp>
      <p:sp>
        <p:nvSpPr>
          <p:cNvPr id="8" name="st_317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318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319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1" name="se_320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mime.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il mimo.</a:t>
            </a:r>
            <a:endParaRPr lang="en-US" sz="1050" dirty="0"/>
          </a:p>
        </p:txBody>
      </p:sp>
      <p:sp>
        <p:nvSpPr>
          <p:cNvPr id="12" name="st_321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322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323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324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'Why are you running?'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Chiedi: 'Why are you running?'</a:t>
            </a:r>
            <a:endParaRPr lang="en-US" sz="1050" dirty="0"/>
          </a:p>
        </p:txBody>
      </p:sp>
      <p:sp>
        <p:nvSpPr>
          <p:cNvPr id="16" name="st_325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326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327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9" name="se_328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Funniest 'Because…' wins a point!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'Because…' più buffo vince un punto!</a:t>
            </a:r>
            <a:endParaRPr lang="en-US" sz="1050" dirty="0"/>
          </a:p>
        </p:txBody>
      </p:sp>
      <p:sp>
        <p:nvSpPr>
          <p:cNvPr id="20" name="gl_329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running 🏃 · laughing 😂 · crying 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hiding under the table 🙈 · eating 10 cakes 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wearing a clown costume 🤡 · looking for treasure 💰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3 · LESSON 3 · Scarecrow song!</dc:title>
  <dc:subject>PptxGenJS Presentation</dc:subject>
  <dc:creator>PptxGenJS</dc:creator>
  <cp:lastModifiedBy>PptxGenJS</cp:lastModifiedBy>
  <cp:revision>1</cp:revision>
  <dcterms:created xsi:type="dcterms:W3CDTF">2026-10-06T10:51:38Z</dcterms:created>
  <dcterms:modified xsi:type="dcterms:W3CDTF">2026-10-06T10:51:38Z</dcterms:modified>
</cp:coreProperties>
</file>