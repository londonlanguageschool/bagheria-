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9A PART 2 (60 min) · SB pp.88–89. Aims: read an article by psychologist Richard Wiseman about how to improve your luck (topic sentences); make adjectives and adverbs from nouns (Vocabulary Bank Word-building p.164, part 2); the sentence game. Timing: cover 2 · revision 5 · superstitions 4 · topic sentences 6 · 4c a/b/c 6 · 4d questions 4 · word table 6 · audio 9.8 5 · sentence game 8 · story chain 6 · exit 3 = 55 min. Click 1: the question – take a quick show of hands: Who thinks they are lucky? Then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9A part 1 (5 min) = SB 2d–2e (p.87: complete the sentences in your own words to make third conditional sentences; compare with a partner and check they are all correct). VARIATION: beat the clock. Teams; the teacher reads a beginning and starts a 30-second timer; each team writes ONE ending on paper / mini-whiteboard. Correct form (if + had + past participle / would have + past participle) = 1 point; the most creative or funniest correct ending = +1. Then one student per team SAYS the full sentence with the weak have /əv/ (9.5). Possible endings: …I wouldn't have woken up · …we had left earlier · …I wouldn't have made that mistake · …I had trained harder · …I wouldn't have been late · …you had told me. Accept any logical ending. Typical mistakes to watch (TG): ✗ If I would have…, ✗ If I had known, I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(4 min). TG optional lead-in: in Britain and America, people believe a horseshoe brings good luck if you find it, and often hang it on the wall – is it the same in Italy? Pairs sort the 8 items into GOOD LUCK / BAD LUCK in Italy (click 1 for the Italian). Compare cultures: the unlucky number in Italy is 17 (and Friday 17th), in the UK 13 (Friday 13th); English says 'touch wood', Italian 'tocca ferro'. ⚠ We only state the horseshoe fact from the TG; for the others, let students share what they believe – no 'right' answers. Do they really believe in these things? Then SB 4a (whole class or pairs): Do you think you're a lucky person? Why (not)? Show of hands (TG). Teach: be lucky (✗ have luck – Italians say 'avere fortuna'; TG note in 5a).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4a (whole class, before reading): Do you consider yourself in general to be a lucky person? Why (not)? 4b: go through the 'Topic sentences' box in the book (in a text, paragraphs usually begin with a topic sentence, which tells you what the paragraph is going to be about). Go through A–E and the highlighted words (they help to find the right paragraph). Students read the article 'How to improve your luck and win the lottery twice (possibly)' by Richard Wiseman and put a topic sentence at the start of each paragraph. Pairs compare. Click 1 for answers (TG): 1 B · 2 E · 3 C · 4 D · 5 A. The slide shows the first words of each paragraph (from the article) to help the check. Context: a British couple won £1m in the EuroMillions lottery for a second time – the chances are more than 283 billion to one. 4c = the next slide. VARIATION: prediction – before reading, students guess what the 'four key principles' might be (check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4c: students read the article again (pp.88–89) and choose a, b or c (the slide = the book's questions). Pairs compare; click 1 for answers (TG): 1 a · 2 b · 3 a · 4 b · 5 c. Ask for the evidence in the text each time: 1 'keep diaries, complete personality tests, and take part in experiments' · 2 the unlucky people focused anxiously on counting and didn't see the two adverts ('STOP COUNTING. THERE ARE 43 PHOTOGRAPHS IN THIS NEWSPAPER' and 'TELL THE EXPERIMENTER YOU'VE SEEN THIS AND WIN £150') · 3 lucky people are confident that the future will be positive · 4 'to think and behave like a lucky person' · 5 being lucky in your personal life and career is far more important than winning the lottery. Deal with: spot, anxiously, intuition, give up, keep going. VARIATION: curiosity gap – before click 1, ask 'Would YOU have seen the advert?' (third conditional recycled: If I'd seen it, I would have won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4d: pairs ask and answer the four questions (the book's). TG: you could do question 1 with the whole class (show of hands – who agrees with Wiseman?). VARIATION: follow-up questions + personalisation with boundaries (an example from school, sport, music… – nothing too personal). Recap Wiseman's four principles if useful: lucky people create and notice opportunities (relaxed, open to change) · listen to their intuition and act quickly · are confident that the future will be positive · keep going and learn from their mistakes. Feedback: one lucky and one unlucky story from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5a: sentences from the article – luck is a noun, lucky / unlucky are adjectives. Questions 1 and 2 in the book – TG: 1 luckily · 2 unluckily. TG note: 'be lucky' is a problem for students who say 'have luck' in L1 (Italian: avere fortuna). 5b: Vocabulary Bank Word-building p.164, 2 Making adjectives and adverbs: go through the 'Adjective prefixes and suffixes' box, students complete the chart, play 9.7 to check. Click once per row (audio script 9.7). Notes (TG): -y and -able are typical adjective endings; un- and im- make adjectives negative; -ful (= full of / with) often → -less (= without): careful – careless, useful – useless (but NOT always); spelling: comfortable → comfortably (drop e), lucky → luckily (y → i). Stress: COMfortable /ˈkʌmftəbl/ – only 3 syllables! VARIATION: phonological branching – which words have a silent / 'eaten' syllable? (comfortable, uncomfortable).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PRACTICE (5 min). Vocabulary Bank 2c: students complete each gap with the adjective or adverb made from the noun in bold – careful: some are positive, some negative. 2d: play 9.8 to check. The slide has 6 of the 10 sentences (shortened); click 1 for answers (audio script): 1 unfortunately · 3 carelessly · 4 unlucky · 5 impatient · 7 patiently · 10 uncomfortable. The others: 2 comfortable · 6 luckily · 8 carefully · 9 fortunately. VARIATION: forbidden easy answer – students must decide + or – BEFORE writing ('Is it good news or bad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(8 min). TG: read the rules of The sentence game together (p.89) and make sure everything is clear. Demo on the board: FRIEND (7 WORDS) → PEOPLE IN MY COUNTRY ARE VERY FRIENDLY. Teams of three or four, five minutes to write five sentences (extend if needed). When time is up, each team reads out its sentences; TG EXTRA SUPPORT: write each team's sentences on the board and get the other teams to say if they are correct. The rules and the five words are the book's (p.89): 1 You must write correct sentences with the exact number of words given (contractions count as one word). 2 The sentences must make sense. 3 You must include a form of the given word (e.g. if the word is luck, you can use lucky, luckily, unlucky, etc.). Words: 1 fortune (11 words) · 2 comfort (9 words) · 3 luck (7 words) · 4 care (6 words) · 5 patience (12 words). 5e: the teacher says if the sentences are correct; the team with the most correct sentences is the winner. VARIATION: constraint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opposites + change the energy. Model with two strong students first. Fortunately / unfortunately / luckily / unluckily at the start of a sentence comment on the whole sentence (sentence adverbs), followed by a comma. Each student must add a new idea that is good news after bad news (and vice versa). Bonus point for using another word from today's table. Last student 'in' wins. Then each group retells its funniest story to the class in 30 seconds (past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9A 3a–3e (adjectives and adverbs, including 3c with successful, possible, selfish, useful, suitable) + Vocabulary Bank Word-building p.164 part 2 (cover and test yourself) + the 9A-2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(7 min). VARIATION: change the energy + upgrade the language (present continuous + adverb: You're waiting for the bus impatiently!). The actor sees the adverb AND the action; the team only sees the mime. All adverbs from Vocabulary Bank 2 (audio 9.7). The Vocabulary photocopiable Word-building p.216 is the next EXTRA slide; the Grammar photocopiable and the Communicative photocopiable 'Sentence race' are extras in 9A part 1.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or HOMEWORK = Vocabulary photocopiable 9A 'Word-building – Change the word!' (TG p.216). 📄 Print: B1_9A_Photocopiables.pdf, page 4 – one copy per student. Official procedure (TG): give out the worksheets; set a time limit, e.g. three minutes; students complete the sentences with the correct form of the words in bold (nouns, positive or negative adjectives, adverbs), writing as many words as they can in the right-hand column. The first student to write all the words correctly wins, or the student with the most correct answers when time is up. Sentences 1–13 are nouns (Vocabulary Bank Word-building p.164, part 1 – revision of 8B); 14–20 are today's adjectives and adverbs (part 2) – the slide shows 14–20 (one answer per click). Official answers (TG): 1 complaint (example) · 2 compensation · 3 argument · 4 delivery · 5 success · 6 achievement · 7 explanation · 8 attachment · 9 agreement · 10 demonstration · 11 payment · 12 loss · 13 sale · 14 uncomfortable · 15 comfortable · 16 impatient · 17 unlucky · 18 careful · 19 carelessly · 20 Unfortunately. ACTIVATION: students cover the right-hand column, read the sentences aloud and try to remember the missing words. VARIATION: beat the clock + memory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(5 min). VARIATION: mild controversy. Pairs choose AGREE or NO WAY for each statement and give a reason; then find someone who disagrees. Link to the article: Wiseman says people are NOT born lucky or unlucky and that being lucky in your personal life and career is far more important than winning the lottery.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9A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9A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9A · Part 2 · SB pp.88–89</a:t>
            </a:r>
            <a:endParaRPr lang="en-US" sz="1100" dirty="0"/>
          </a:p>
        </p:txBody>
      </p:sp>
      <p:sp>
        <p:nvSpPr>
          <p:cNvPr id="9" name="title_7"/>
          <p:cNvSpPr txBox="1"/>
          <p:nvPr/>
        </p:nvSpPr>
        <p:spPr>
          <a:xfrm rot="120000">
            <a:off x="411480" y="1325880"/>
            <a:ext cx="4590288"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500" dirty="0">
                <a:solidFill>
                  <a:srgbClr val="111111"/>
                </a:solidFill>
                <a:latin typeface="Arial Black" pitchFamily="34" charset="0"/>
                <a:ea typeface="Arial Black" pitchFamily="34" charset="-122"/>
                <a:cs typeface="Arial Black" pitchFamily="34" charset="-120"/>
              </a:rPr>
              <a:t>LUCKY ENCOUNTERS</a:t>
            </a:r>
            <a:endParaRPr lang="en-US" sz="2500" dirty="0"/>
          </a:p>
        </p:txBody>
      </p:sp>
      <p:sp>
        <p:nvSpPr>
          <p:cNvPr id="10" name="stamp_8"/>
          <p:cNvSpPr txBox="1"/>
          <p:nvPr/>
        </p:nvSpPr>
        <p:spPr>
          <a:xfrm>
            <a:off x="457200" y="2468880"/>
            <a:ext cx="381304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How to improve your luck</a:t>
            </a:r>
            <a:endParaRPr lang="en-US" sz="1200" dirty="0"/>
          </a:p>
        </p:txBody>
      </p:sp>
      <p:sp>
        <p:nvSpPr>
          <p:cNvPr id="11" name="stamp_9"/>
          <p:cNvSpPr txBox="1"/>
          <p:nvPr/>
        </p:nvSpPr>
        <p:spPr>
          <a:xfrm>
            <a:off x="457200" y="2944368"/>
            <a:ext cx="4572000"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making adjectives and adverbs</a:t>
            </a:r>
            <a:endParaRPr lang="en-US" sz="1200" dirty="0"/>
          </a:p>
        </p:txBody>
      </p:sp>
      <p:sp>
        <p:nvSpPr>
          <p:cNvPr id="12" name="stamp_10"/>
          <p:cNvSpPr txBox="1"/>
          <p:nvPr/>
        </p:nvSpPr>
        <p:spPr>
          <a:xfrm>
            <a:off x="457200" y="3419856"/>
            <a:ext cx="3236976"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The sentence game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gi:GiClover">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gi:GiHorseshoe">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DiceSix">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Are some people just born lucky?</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No – they create their own luck!</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9A part 1 · Third conditional</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23"/>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Beat the clock!</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30 seconds per sentence! Finish it with a correct third conditional.</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30 secondi per frase! Completala con un third conditional corretto.</a:t>
            </a:r>
            <a:endParaRPr lang="en-US" sz="1200" dirty="0"/>
          </a:p>
        </p:txBody>
      </p:sp>
      <p:sp>
        <p:nvSpPr>
          <p:cNvPr id="14" name="box_29"/>
          <p:cNvSpPr txBox="1"/>
          <p:nvPr/>
        </p:nvSpPr>
        <p:spPr>
          <a:xfrm>
            <a:off x="2788920" y="1371600"/>
            <a:ext cx="603504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If the dog hadn't barked, …</a:t>
            </a:r>
            <a:endParaRPr lang="en-US" sz="1350" dirty="0"/>
          </a:p>
        </p:txBody>
      </p:sp>
      <p:sp>
        <p:nvSpPr>
          <p:cNvPr id="15" name="box_30"/>
          <p:cNvSpPr txBox="1"/>
          <p:nvPr/>
        </p:nvSpPr>
        <p:spPr>
          <a:xfrm>
            <a:off x="2788920" y="1941576"/>
            <a:ext cx="603504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We wouldn't have missed the bus if …</a:t>
            </a:r>
            <a:endParaRPr lang="en-US" sz="1350" dirty="0"/>
          </a:p>
        </p:txBody>
      </p:sp>
      <p:sp>
        <p:nvSpPr>
          <p:cNvPr id="16" name="box_31"/>
          <p:cNvSpPr txBox="1"/>
          <p:nvPr/>
        </p:nvSpPr>
        <p:spPr>
          <a:xfrm>
            <a:off x="2788920" y="2511552"/>
            <a:ext cx="603504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If I had listened to my friend's advice, …</a:t>
            </a:r>
            <a:endParaRPr lang="en-US" sz="1350" dirty="0"/>
          </a:p>
        </p:txBody>
      </p:sp>
      <p:sp>
        <p:nvSpPr>
          <p:cNvPr id="17" name="box_32"/>
          <p:cNvSpPr txBox="1"/>
          <p:nvPr/>
        </p:nvSpPr>
        <p:spPr>
          <a:xfrm>
            <a:off x="2788920" y="3081528"/>
            <a:ext cx="603504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I would have won the race if …</a:t>
            </a:r>
            <a:endParaRPr lang="en-US" sz="1350" dirty="0"/>
          </a:p>
        </p:txBody>
      </p:sp>
      <p:sp>
        <p:nvSpPr>
          <p:cNvPr id="18" name="box_33"/>
          <p:cNvSpPr txBox="1"/>
          <p:nvPr/>
        </p:nvSpPr>
        <p:spPr>
          <a:xfrm>
            <a:off x="2788920" y="3651504"/>
            <a:ext cx="603504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If I hadn't got up so late, …</a:t>
            </a:r>
            <a:endParaRPr lang="en-US" sz="1350" dirty="0"/>
          </a:p>
        </p:txBody>
      </p:sp>
      <p:sp>
        <p:nvSpPr>
          <p:cNvPr id="19" name="box_34"/>
          <p:cNvSpPr txBox="1"/>
          <p:nvPr/>
        </p:nvSpPr>
        <p:spPr>
          <a:xfrm>
            <a:off x="2788920" y="4221480"/>
            <a:ext cx="603504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I would have been really annoyed if …</a:t>
            </a:r>
            <a:endParaRPr lang="en-US" sz="1350" dirty="0"/>
          </a:p>
        </p:txBody>
      </p:sp>
      <p:sp>
        <p:nvSpPr>
          <p:cNvPr id="20" name="sticky_35"/>
          <p:cNvSpPr txBox="1"/>
          <p:nvPr/>
        </p:nvSpPr>
        <p:spPr>
          <a:xfrm rot="-120000">
            <a:off x="411480" y="4206240"/>
            <a:ext cx="2194560" cy="45720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would have = /wʊdəv/</a:t>
            </a:r>
            <a:endParaRPr lang="en-US" sz="1150" dirty="0"/>
          </a:p>
        </p:txBody>
      </p:sp>
      <p:sp>
        <p:nvSpPr>
          <p:cNvPr id="21" name="pageTag_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9A pp.86–87 · Student's Book p.87 · 2d, 2e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7"/>
          <p:cNvSpPr/>
          <p:nvPr/>
        </p:nvSpPr>
        <p:spPr>
          <a:xfrm>
            <a:off x="54864" y="54864"/>
            <a:ext cx="9034272" cy="5033772"/>
          </a:xfrm>
          <a:prstGeom prst="rect">
            <a:avLst/>
          </a:prstGeom>
          <a:ln w="114300">
            <a:solidFill>
              <a:srgbClr val="A8E6B4"/>
            </a:solidFill>
            <a:prstDash val="solid"/>
          </a:ln>
        </p:spPr>
      </p:sp>
      <p:pic>
        <p:nvPicPr>
          <p:cNvPr id="4" name="logo_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Lead-in · 4a</a:t>
            </a:r>
            <a:endParaRPr lang="en-US" sz="900" dirty="0"/>
          </a:p>
        </p:txBody>
      </p:sp>
      <p:sp>
        <p:nvSpPr>
          <p:cNvPr id="6" name="timer_4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4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42"/>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Good luck or bad luck?</a:t>
            </a:r>
            <a:endParaRPr lang="en-US" sz="1500" dirty="0"/>
          </a:p>
        </p:txBody>
      </p:sp>
      <p:sp>
        <p:nvSpPr>
          <p:cNvPr id="9" name="tape_4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4"/>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Good luck or bad luck in Italy? In the UK?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Porta fortuna o sfortuna in Italia? E nel Regno Unito?</a:t>
            </a:r>
            <a:endParaRPr lang="en-US" sz="1250" dirty="0"/>
          </a:p>
        </p:txBody>
      </p:sp>
      <p:sp>
        <p:nvSpPr>
          <p:cNvPr id="14" name="tile_48"/>
          <p:cNvSpPr/>
          <p:nvPr/>
        </p:nvSpPr>
        <p:spPr>
          <a:xfrm>
            <a:off x="2788920" y="1371600"/>
            <a:ext cx="1938528" cy="1030224"/>
          </a:xfrm>
          <a:prstGeom prst="roundRect">
            <a:avLst>
              <a:gd name="adj" fmla="val 7101"/>
            </a:avLst>
          </a:prstGeom>
          <a:solidFill>
            <a:srgbClr val="FFFFFF"/>
          </a:solidFill>
          <a:ln w="19050">
            <a:solidFill>
              <a:srgbClr val="111111"/>
            </a:solidFill>
            <a:prstDash val="solid"/>
          </a:ln>
        </p:spPr>
      </p:sp>
      <p:pic>
        <p:nvPicPr>
          <p:cNvPr id="15" name="ti_49" descr="a horseshoe">    </p:cNvPr>
          <p:cNvPicPr>
            <a:picLocks noChangeAspect="1"/>
          </p:cNvPicPr>
          <p:nvPr/>
        </p:nvPicPr>
        <p:blipFill>
          <a:blip r:embed="rId3"/>
          <a:stretch>
            <a:fillRect/>
          </a:stretch>
        </p:blipFill>
        <p:spPr>
          <a:xfrm>
            <a:off x="2862072" y="1511960"/>
            <a:ext cx="566623" cy="566623"/>
          </a:xfrm>
          <a:prstGeom prst="rect">
            <a:avLst/>
          </a:prstGeom>
        </p:spPr>
      </p:pic>
      <p:sp>
        <p:nvSpPr>
          <p:cNvPr id="16" name="tw_50"/>
          <p:cNvSpPr txBox="1"/>
          <p:nvPr/>
        </p:nvSpPr>
        <p:spPr>
          <a:xfrm>
            <a:off x="3446983"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horseshoe</a:t>
            </a:r>
            <a:endParaRPr lang="en-US" sz="1300" dirty="0"/>
          </a:p>
        </p:txBody>
      </p:sp>
      <p:sp>
        <p:nvSpPr>
          <p:cNvPr id="17" name="R1_it0"/>
          <p:cNvSpPr txBox="1"/>
          <p:nvPr/>
        </p:nvSpPr>
        <p:spPr>
          <a:xfrm>
            <a:off x="3446983"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ferro di cavallo</a:t>
            </a:r>
            <a:endParaRPr lang="en-US" sz="1150" dirty="0"/>
          </a:p>
        </p:txBody>
      </p:sp>
      <p:sp>
        <p:nvSpPr>
          <p:cNvPr id="18" name="tile_51"/>
          <p:cNvSpPr/>
          <p:nvPr/>
        </p:nvSpPr>
        <p:spPr>
          <a:xfrm>
            <a:off x="4837176" y="1371600"/>
            <a:ext cx="1938528" cy="1030224"/>
          </a:xfrm>
          <a:prstGeom prst="roundRect">
            <a:avLst>
              <a:gd name="adj" fmla="val 7101"/>
            </a:avLst>
          </a:prstGeom>
          <a:solidFill>
            <a:srgbClr val="FFFFFF"/>
          </a:solidFill>
          <a:ln w="19050">
            <a:solidFill>
              <a:srgbClr val="111111"/>
            </a:solidFill>
            <a:prstDash val="solid"/>
          </a:ln>
        </p:spPr>
      </p:sp>
      <p:pic>
        <p:nvPicPr>
          <p:cNvPr id="19" name="ti_52" descr="a four-leaf clover">    </p:cNvPr>
          <p:cNvPicPr>
            <a:picLocks noChangeAspect="1"/>
          </p:cNvPicPr>
          <p:nvPr/>
        </p:nvPicPr>
        <p:blipFill>
          <a:blip r:embed="rId4"/>
          <a:stretch>
            <a:fillRect/>
          </a:stretch>
        </p:blipFill>
        <p:spPr>
          <a:xfrm>
            <a:off x="4910328" y="1511960"/>
            <a:ext cx="566623" cy="566623"/>
          </a:xfrm>
          <a:prstGeom prst="rect">
            <a:avLst/>
          </a:prstGeom>
        </p:spPr>
      </p:pic>
      <p:sp>
        <p:nvSpPr>
          <p:cNvPr id="20" name="tw_53"/>
          <p:cNvSpPr txBox="1"/>
          <p:nvPr/>
        </p:nvSpPr>
        <p:spPr>
          <a:xfrm>
            <a:off x="5495239"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four-leaf clover</a:t>
            </a:r>
            <a:endParaRPr lang="en-US" sz="1300" dirty="0"/>
          </a:p>
        </p:txBody>
      </p:sp>
      <p:sp>
        <p:nvSpPr>
          <p:cNvPr id="21" name="R1_it1"/>
          <p:cNvSpPr txBox="1"/>
          <p:nvPr/>
        </p:nvSpPr>
        <p:spPr>
          <a:xfrm>
            <a:off x="5495239"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quadrifoglio</a:t>
            </a:r>
            <a:endParaRPr lang="en-US" sz="1150" dirty="0"/>
          </a:p>
        </p:txBody>
      </p:sp>
      <p:sp>
        <p:nvSpPr>
          <p:cNvPr id="22" name="tile_54"/>
          <p:cNvSpPr/>
          <p:nvPr/>
        </p:nvSpPr>
        <p:spPr>
          <a:xfrm>
            <a:off x="6885432" y="1371600"/>
            <a:ext cx="1938528" cy="1030224"/>
          </a:xfrm>
          <a:prstGeom prst="roundRect">
            <a:avLst>
              <a:gd name="adj" fmla="val 7101"/>
            </a:avLst>
          </a:prstGeom>
          <a:solidFill>
            <a:srgbClr val="FFFFFF"/>
          </a:solidFill>
          <a:ln w="19050">
            <a:solidFill>
              <a:srgbClr val="111111"/>
            </a:solidFill>
            <a:prstDash val="solid"/>
          </a:ln>
        </p:spPr>
      </p:sp>
      <p:pic>
        <p:nvPicPr>
          <p:cNvPr id="23" name="ti_55" descr="a black cat">    </p:cNvPr>
          <p:cNvPicPr>
            <a:picLocks noChangeAspect="1"/>
          </p:cNvPicPr>
          <p:nvPr/>
        </p:nvPicPr>
        <p:blipFill>
          <a:blip r:embed="rId5"/>
          <a:stretch>
            <a:fillRect/>
          </a:stretch>
        </p:blipFill>
        <p:spPr>
          <a:xfrm>
            <a:off x="6958584" y="1511960"/>
            <a:ext cx="566623" cy="566623"/>
          </a:xfrm>
          <a:prstGeom prst="rect">
            <a:avLst/>
          </a:prstGeom>
        </p:spPr>
      </p:pic>
      <p:sp>
        <p:nvSpPr>
          <p:cNvPr id="24" name="tw_56"/>
          <p:cNvSpPr txBox="1"/>
          <p:nvPr/>
        </p:nvSpPr>
        <p:spPr>
          <a:xfrm>
            <a:off x="7543495"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black cat</a:t>
            </a:r>
            <a:endParaRPr lang="en-US" sz="1300" dirty="0"/>
          </a:p>
        </p:txBody>
      </p:sp>
      <p:sp>
        <p:nvSpPr>
          <p:cNvPr id="25" name="R1_it2"/>
          <p:cNvSpPr txBox="1"/>
          <p:nvPr/>
        </p:nvSpPr>
        <p:spPr>
          <a:xfrm>
            <a:off x="7543495"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gatto nero</a:t>
            </a:r>
            <a:endParaRPr lang="en-US" sz="1150" dirty="0"/>
          </a:p>
        </p:txBody>
      </p:sp>
      <p:sp>
        <p:nvSpPr>
          <p:cNvPr id="26" name="tile_57"/>
          <p:cNvSpPr/>
          <p:nvPr/>
        </p:nvSpPr>
        <p:spPr>
          <a:xfrm>
            <a:off x="2788920" y="2511552"/>
            <a:ext cx="1938528" cy="1030224"/>
          </a:xfrm>
          <a:prstGeom prst="roundRect">
            <a:avLst>
              <a:gd name="adj" fmla="val 7101"/>
            </a:avLst>
          </a:prstGeom>
          <a:solidFill>
            <a:srgbClr val="FFFFFF"/>
          </a:solidFill>
          <a:ln w="19050">
            <a:solidFill>
              <a:srgbClr val="111111"/>
            </a:solidFill>
            <a:prstDash val="solid"/>
          </a:ln>
        </p:spPr>
      </p:sp>
      <p:pic>
        <p:nvPicPr>
          <p:cNvPr id="27" name="ti_58" descr="walk under a ladder">    </p:cNvPr>
          <p:cNvPicPr>
            <a:picLocks noChangeAspect="1"/>
          </p:cNvPicPr>
          <p:nvPr/>
        </p:nvPicPr>
        <p:blipFill>
          <a:blip r:embed="rId6"/>
          <a:stretch>
            <a:fillRect/>
          </a:stretch>
        </p:blipFill>
        <p:spPr>
          <a:xfrm>
            <a:off x="2862072" y="2651912"/>
            <a:ext cx="566623" cy="566623"/>
          </a:xfrm>
          <a:prstGeom prst="rect">
            <a:avLst/>
          </a:prstGeom>
        </p:spPr>
      </p:pic>
      <p:sp>
        <p:nvSpPr>
          <p:cNvPr id="28" name="tw_59"/>
          <p:cNvSpPr txBox="1"/>
          <p:nvPr/>
        </p:nvSpPr>
        <p:spPr>
          <a:xfrm>
            <a:off x="3446983"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walk under a ladder</a:t>
            </a:r>
            <a:endParaRPr lang="en-US" sz="1300" dirty="0"/>
          </a:p>
        </p:txBody>
      </p:sp>
      <p:sp>
        <p:nvSpPr>
          <p:cNvPr id="29" name="R1_it3"/>
          <p:cNvSpPr txBox="1"/>
          <p:nvPr/>
        </p:nvSpPr>
        <p:spPr>
          <a:xfrm>
            <a:off x="3446983"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passare sotto una scala</a:t>
            </a:r>
            <a:endParaRPr lang="en-US" sz="1150" dirty="0"/>
          </a:p>
        </p:txBody>
      </p:sp>
      <p:sp>
        <p:nvSpPr>
          <p:cNvPr id="30" name="tile_60"/>
          <p:cNvSpPr/>
          <p:nvPr/>
        </p:nvSpPr>
        <p:spPr>
          <a:xfrm>
            <a:off x="4837176" y="2511552"/>
            <a:ext cx="1938528" cy="1030224"/>
          </a:xfrm>
          <a:prstGeom prst="roundRect">
            <a:avLst>
              <a:gd name="adj" fmla="val 7101"/>
            </a:avLst>
          </a:prstGeom>
          <a:solidFill>
            <a:srgbClr val="FFFFFF"/>
          </a:solidFill>
          <a:ln w="19050">
            <a:solidFill>
              <a:srgbClr val="111111"/>
            </a:solidFill>
            <a:prstDash val="solid"/>
          </a:ln>
        </p:spPr>
      </p:sp>
      <p:pic>
        <p:nvPicPr>
          <p:cNvPr id="31" name="ti_61" descr="spill salt">    </p:cNvPr>
          <p:cNvPicPr>
            <a:picLocks noChangeAspect="1"/>
          </p:cNvPicPr>
          <p:nvPr/>
        </p:nvPicPr>
        <p:blipFill>
          <a:blip r:embed="rId7"/>
          <a:stretch>
            <a:fillRect/>
          </a:stretch>
        </p:blipFill>
        <p:spPr>
          <a:xfrm>
            <a:off x="4910328" y="2651912"/>
            <a:ext cx="566623" cy="566623"/>
          </a:xfrm>
          <a:prstGeom prst="rect">
            <a:avLst/>
          </a:prstGeom>
        </p:spPr>
      </p:pic>
      <p:sp>
        <p:nvSpPr>
          <p:cNvPr id="32" name="tw_62"/>
          <p:cNvSpPr txBox="1"/>
          <p:nvPr/>
        </p:nvSpPr>
        <p:spPr>
          <a:xfrm>
            <a:off x="5495239"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spill salt</a:t>
            </a:r>
            <a:endParaRPr lang="en-US" sz="1300" dirty="0"/>
          </a:p>
        </p:txBody>
      </p:sp>
      <p:sp>
        <p:nvSpPr>
          <p:cNvPr id="33" name="R1_it4"/>
          <p:cNvSpPr txBox="1"/>
          <p:nvPr/>
        </p:nvSpPr>
        <p:spPr>
          <a:xfrm>
            <a:off x="5495239"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rovesciare il sale</a:t>
            </a:r>
            <a:endParaRPr lang="en-US" sz="1150" dirty="0"/>
          </a:p>
        </p:txBody>
      </p:sp>
      <p:sp>
        <p:nvSpPr>
          <p:cNvPr id="34" name="tile_63"/>
          <p:cNvSpPr/>
          <p:nvPr/>
        </p:nvSpPr>
        <p:spPr>
          <a:xfrm>
            <a:off x="6885432" y="2511552"/>
            <a:ext cx="1938528" cy="1030224"/>
          </a:xfrm>
          <a:prstGeom prst="roundRect">
            <a:avLst>
              <a:gd name="adj" fmla="val 7101"/>
            </a:avLst>
          </a:prstGeom>
          <a:solidFill>
            <a:srgbClr val="FFFFFF"/>
          </a:solidFill>
          <a:ln w="19050">
            <a:solidFill>
              <a:srgbClr val="111111"/>
            </a:solidFill>
            <a:prstDash val="solid"/>
          </a:ln>
        </p:spPr>
      </p:sp>
      <p:pic>
        <p:nvPicPr>
          <p:cNvPr id="35" name="ti_64" descr="umbrella indoors">    </p:cNvPr>
          <p:cNvPicPr>
            <a:picLocks noChangeAspect="1"/>
          </p:cNvPicPr>
          <p:nvPr/>
        </p:nvPicPr>
        <p:blipFill>
          <a:blip r:embed="rId8"/>
          <a:stretch>
            <a:fillRect/>
          </a:stretch>
        </p:blipFill>
        <p:spPr>
          <a:xfrm>
            <a:off x="6958584" y="2651912"/>
            <a:ext cx="566623" cy="566623"/>
          </a:xfrm>
          <a:prstGeom prst="rect">
            <a:avLst/>
          </a:prstGeom>
        </p:spPr>
      </p:pic>
      <p:sp>
        <p:nvSpPr>
          <p:cNvPr id="36" name="tw_65"/>
          <p:cNvSpPr txBox="1"/>
          <p:nvPr/>
        </p:nvSpPr>
        <p:spPr>
          <a:xfrm>
            <a:off x="7543495"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umbrella indoors</a:t>
            </a:r>
            <a:endParaRPr lang="en-US" sz="1300" dirty="0"/>
          </a:p>
        </p:txBody>
      </p:sp>
      <p:sp>
        <p:nvSpPr>
          <p:cNvPr id="37" name="R1_it5"/>
          <p:cNvSpPr txBox="1"/>
          <p:nvPr/>
        </p:nvSpPr>
        <p:spPr>
          <a:xfrm>
            <a:off x="7543495"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aprire l'ombrello in casa</a:t>
            </a:r>
            <a:endParaRPr lang="en-US" sz="1150" dirty="0"/>
          </a:p>
        </p:txBody>
      </p:sp>
      <p:sp>
        <p:nvSpPr>
          <p:cNvPr id="38" name="tile_66"/>
          <p:cNvSpPr/>
          <p:nvPr/>
        </p:nvSpPr>
        <p:spPr>
          <a:xfrm>
            <a:off x="2788920" y="3651504"/>
            <a:ext cx="1938528" cy="1030224"/>
          </a:xfrm>
          <a:prstGeom prst="roundRect">
            <a:avLst>
              <a:gd name="adj" fmla="val 7101"/>
            </a:avLst>
          </a:prstGeom>
          <a:solidFill>
            <a:srgbClr val="FFFFFF"/>
          </a:solidFill>
          <a:ln w="19050">
            <a:solidFill>
              <a:srgbClr val="111111"/>
            </a:solidFill>
            <a:prstDash val="solid"/>
          </a:ln>
        </p:spPr>
      </p:sp>
      <p:pic>
        <p:nvPicPr>
          <p:cNvPr id="39" name="ti_67" descr="Friday 13th / 17th">    </p:cNvPr>
          <p:cNvPicPr>
            <a:picLocks noChangeAspect="1"/>
          </p:cNvPicPr>
          <p:nvPr/>
        </p:nvPicPr>
        <p:blipFill>
          <a:blip r:embed="rId9"/>
          <a:stretch>
            <a:fillRect/>
          </a:stretch>
        </p:blipFill>
        <p:spPr>
          <a:xfrm>
            <a:off x="2862072" y="3791864"/>
            <a:ext cx="566623" cy="566623"/>
          </a:xfrm>
          <a:prstGeom prst="rect">
            <a:avLst/>
          </a:prstGeom>
        </p:spPr>
      </p:pic>
      <p:sp>
        <p:nvSpPr>
          <p:cNvPr id="40" name="tw_68"/>
          <p:cNvSpPr txBox="1"/>
          <p:nvPr/>
        </p:nvSpPr>
        <p:spPr>
          <a:xfrm>
            <a:off x="3446983"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Friday 13th / 17th</a:t>
            </a:r>
            <a:endParaRPr lang="en-US" sz="1300" dirty="0"/>
          </a:p>
        </p:txBody>
      </p:sp>
      <p:sp>
        <p:nvSpPr>
          <p:cNvPr id="41" name="R1_it6"/>
          <p:cNvSpPr txBox="1"/>
          <p:nvPr/>
        </p:nvSpPr>
        <p:spPr>
          <a:xfrm>
            <a:off x="3446983"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venerdì 13 / 17</a:t>
            </a:r>
            <a:endParaRPr lang="en-US" sz="1150" dirty="0"/>
          </a:p>
        </p:txBody>
      </p:sp>
      <p:sp>
        <p:nvSpPr>
          <p:cNvPr id="42" name="tile_69"/>
          <p:cNvSpPr/>
          <p:nvPr/>
        </p:nvSpPr>
        <p:spPr>
          <a:xfrm>
            <a:off x="4837176" y="3651504"/>
            <a:ext cx="1938528" cy="1030224"/>
          </a:xfrm>
          <a:prstGeom prst="roundRect">
            <a:avLst>
              <a:gd name="adj" fmla="val 7101"/>
            </a:avLst>
          </a:prstGeom>
          <a:solidFill>
            <a:srgbClr val="FFFFFF"/>
          </a:solidFill>
          <a:ln w="19050">
            <a:solidFill>
              <a:srgbClr val="111111"/>
            </a:solidFill>
            <a:prstDash val="solid"/>
          </a:ln>
        </p:spPr>
      </p:sp>
      <p:pic>
        <p:nvPicPr>
          <p:cNvPr id="43" name="ti_70" descr="touch wood!">    </p:cNvPr>
          <p:cNvPicPr>
            <a:picLocks noChangeAspect="1"/>
          </p:cNvPicPr>
          <p:nvPr/>
        </p:nvPicPr>
        <p:blipFill>
          <a:blip r:embed="rId10"/>
          <a:stretch>
            <a:fillRect/>
          </a:stretch>
        </p:blipFill>
        <p:spPr>
          <a:xfrm>
            <a:off x="4910328" y="3791864"/>
            <a:ext cx="566623" cy="566623"/>
          </a:xfrm>
          <a:prstGeom prst="rect">
            <a:avLst/>
          </a:prstGeom>
        </p:spPr>
      </p:pic>
      <p:sp>
        <p:nvSpPr>
          <p:cNvPr id="44" name="tw_71"/>
          <p:cNvSpPr txBox="1"/>
          <p:nvPr/>
        </p:nvSpPr>
        <p:spPr>
          <a:xfrm>
            <a:off x="5495239"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touch wood!</a:t>
            </a:r>
            <a:endParaRPr lang="en-US" sz="1300" dirty="0"/>
          </a:p>
        </p:txBody>
      </p:sp>
      <p:sp>
        <p:nvSpPr>
          <p:cNvPr id="45" name="R1_it7"/>
          <p:cNvSpPr txBox="1"/>
          <p:nvPr/>
        </p:nvSpPr>
        <p:spPr>
          <a:xfrm>
            <a:off x="5495239"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tocca ferro!</a:t>
            </a:r>
            <a:endParaRPr lang="en-US" sz="1150" dirty="0"/>
          </a:p>
        </p:txBody>
      </p:sp>
      <p:sp>
        <p:nvSpPr>
          <p:cNvPr id="46" name="pageTag_7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p.88 · 4a · TG optional lead-in (horseshoe)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3"/>
          <p:cNvSpPr/>
          <p:nvPr/>
        </p:nvSpPr>
        <p:spPr>
          <a:xfrm>
            <a:off x="54864" y="54864"/>
            <a:ext cx="9034272" cy="5033772"/>
          </a:xfrm>
          <a:prstGeom prst="rect">
            <a:avLst/>
          </a:prstGeom>
          <a:ln w="114300">
            <a:solidFill>
              <a:srgbClr val="A8E6B4"/>
            </a:solidFill>
            <a:prstDash val="solid"/>
          </a:ln>
        </p:spPr>
      </p:sp>
      <p:pic>
        <p:nvPicPr>
          <p:cNvPr id="4" name="logo_7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Topic sentences · 4b</a:t>
            </a:r>
            <a:endParaRPr lang="en-US" sz="900" dirty="0"/>
          </a:p>
        </p:txBody>
      </p:sp>
      <p:sp>
        <p:nvSpPr>
          <p:cNvPr id="6" name="timer_7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7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78"/>
          <p:cNvSpPr txBox="1"/>
          <p:nvPr/>
        </p:nvSpPr>
        <p:spPr>
          <a:xfrm rot="90000">
            <a:off x="320040" y="676656"/>
            <a:ext cx="467258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How to improve your luck</a:t>
            </a:r>
            <a:endParaRPr lang="en-US" sz="1500" dirty="0"/>
          </a:p>
        </p:txBody>
      </p:sp>
      <p:sp>
        <p:nvSpPr>
          <p:cNvPr id="9" name="tape_7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80"/>
          <p:cNvSpPr/>
          <p:nvPr/>
        </p:nvSpPr>
        <p:spPr>
          <a:xfrm rot="-720000">
            <a:off x="4425696" y="1069848"/>
            <a:ext cx="685800" cy="219456"/>
          </a:xfrm>
          <a:prstGeom prst="rect">
            <a:avLst/>
          </a:prstGeom>
          <a:solidFill>
            <a:srgbClr val="FFD84D">
              <a:alpha val="75000"/>
            </a:srgbClr>
          </a:solidFill>
          <a:ln w="6350">
            <a:solidFill>
              <a:srgbClr val="FFD84D"/>
            </a:solidFill>
            <a:prstDash val="solid"/>
          </a:ln>
        </p:spPr>
      </p:sp>
      <p:sp>
        <p:nvSpPr>
          <p:cNvPr id="11" name="post_81"/>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82"/>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8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p.88. Put the topic sentences A–E in paragraphs 1–5.</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Leggi p.88. Metti le frasi chiave A–E nei paragrafi 1–5.</a:t>
            </a:r>
            <a:endParaRPr lang="en-US" sz="1200" dirty="0"/>
          </a:p>
        </p:txBody>
      </p:sp>
      <p:sp>
        <p:nvSpPr>
          <p:cNvPr id="14" name="box_84"/>
          <p:cNvSpPr txBox="1"/>
          <p:nvPr/>
        </p:nvSpPr>
        <p:spPr>
          <a:xfrm>
            <a:off x="2788920" y="1371600"/>
            <a:ext cx="2534717"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1  I studied the lives of more than 400 people…</a:t>
            </a:r>
            <a:endParaRPr lang="en-US" sz="950" dirty="0"/>
          </a:p>
        </p:txBody>
      </p:sp>
      <p:sp>
        <p:nvSpPr>
          <p:cNvPr id="15" name="R1_m0"/>
          <p:cNvSpPr txBox="1"/>
          <p:nvPr/>
        </p:nvSpPr>
        <p:spPr>
          <a:xfrm>
            <a:off x="5396789" y="1389888"/>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A few years ago, I led a large research project about luck.</a:t>
            </a:r>
            <a:endParaRPr lang="en-US" sz="1100" dirty="0"/>
          </a:p>
        </p:txBody>
      </p:sp>
      <p:sp>
        <p:nvSpPr>
          <p:cNvPr id="16" name="box_85"/>
          <p:cNvSpPr txBox="1"/>
          <p:nvPr/>
        </p:nvSpPr>
        <p:spPr>
          <a:xfrm>
            <a:off x="2788920" y="1901952"/>
            <a:ext cx="2534717"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Nor are people born lucky or unlucky…</a:t>
            </a:r>
            <a:endParaRPr lang="en-US" sz="950" dirty="0"/>
          </a:p>
        </p:txBody>
      </p:sp>
      <p:sp>
        <p:nvSpPr>
          <p:cNvPr id="17" name="R1_m1"/>
          <p:cNvSpPr txBox="1"/>
          <p:nvPr/>
        </p:nvSpPr>
        <p:spPr>
          <a:xfrm>
            <a:off x="5396789" y="1920240"/>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E  The results revealed that luck is not a magical ability…</a:t>
            </a:r>
            <a:endParaRPr lang="en-US" sz="1100" dirty="0"/>
          </a:p>
        </p:txBody>
      </p:sp>
      <p:sp>
        <p:nvSpPr>
          <p:cNvPr id="18" name="box_86"/>
          <p:cNvSpPr txBox="1"/>
          <p:nvPr/>
        </p:nvSpPr>
        <p:spPr>
          <a:xfrm>
            <a:off x="2788920" y="2432304"/>
            <a:ext cx="2534717"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3  Lucky people create and notice opportunities…</a:t>
            </a:r>
            <a:endParaRPr lang="en-US" sz="950" dirty="0"/>
          </a:p>
        </p:txBody>
      </p:sp>
      <p:sp>
        <p:nvSpPr>
          <p:cNvPr id="19" name="R1_m2"/>
          <p:cNvSpPr txBox="1"/>
          <p:nvPr/>
        </p:nvSpPr>
        <p:spPr>
          <a:xfrm>
            <a:off x="5396789" y="2450592"/>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  Eventually, we uncovered four key psychological principles.</a:t>
            </a:r>
            <a:endParaRPr lang="en-US" sz="1100" dirty="0"/>
          </a:p>
        </p:txBody>
      </p:sp>
      <p:sp>
        <p:nvSpPr>
          <p:cNvPr id="20" name="box_87"/>
          <p:cNvSpPr txBox="1"/>
          <p:nvPr/>
        </p:nvSpPr>
        <p:spPr>
          <a:xfrm>
            <a:off x="2788920" y="2962656"/>
            <a:ext cx="2534717"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4  I asked a group of 200 volunteers…</a:t>
            </a:r>
            <a:endParaRPr lang="en-US" sz="1000" dirty="0"/>
          </a:p>
        </p:txBody>
      </p:sp>
      <p:sp>
        <p:nvSpPr>
          <p:cNvPr id="21" name="R1_m3"/>
          <p:cNvSpPr txBox="1"/>
          <p:nvPr/>
        </p:nvSpPr>
        <p:spPr>
          <a:xfrm>
            <a:off x="5396789" y="2980944"/>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D  In a second phase of the project, I wanted to discover whether it was possible to change people's luck.</a:t>
            </a:r>
            <a:endParaRPr lang="en-US" sz="1000" dirty="0"/>
          </a:p>
        </p:txBody>
      </p:sp>
      <p:sp>
        <p:nvSpPr>
          <p:cNvPr id="22" name="box_88"/>
          <p:cNvSpPr txBox="1"/>
          <p:nvPr/>
        </p:nvSpPr>
        <p:spPr>
          <a:xfrm>
            <a:off x="2788920" y="3493008"/>
            <a:ext cx="2534717"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Unfortunately not. Lotteries are purely chance…</a:t>
            </a:r>
            <a:endParaRPr lang="en-US" sz="950" dirty="0"/>
          </a:p>
        </p:txBody>
      </p:sp>
      <p:sp>
        <p:nvSpPr>
          <p:cNvPr id="23" name="R1_m4"/>
          <p:cNvSpPr txBox="1"/>
          <p:nvPr/>
        </p:nvSpPr>
        <p:spPr>
          <a:xfrm>
            <a:off x="5396789" y="3511296"/>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But is it possible to use these techniques to win the lottery?</a:t>
            </a:r>
            <a:endParaRPr lang="en-US" sz="1100" dirty="0"/>
          </a:p>
        </p:txBody>
      </p:sp>
      <p:sp>
        <p:nvSpPr>
          <p:cNvPr id="24" name="pageTag_8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pp.88–89 · 4b, 4c</a:t>
            </a:r>
            <a:endParaRPr lang="en-US" sz="1050" dirty="0"/>
          </a:p>
        </p:txBody>
      </p:sp>
      <p:sp>
        <p:nvSpPr>
          <p:cNvPr id="25" name="pframe_90"/>
          <p:cNvSpPr/>
          <p:nvPr/>
        </p:nvSpPr>
        <p:spPr>
          <a:xfrm rot="-120000">
            <a:off x="457200" y="3127248"/>
            <a:ext cx="1783080" cy="1682496"/>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6" name="pimg_91" descr="picture">    </p:cNvPr>
          <p:cNvPicPr>
            <a:picLocks noChangeAspect="1"/>
          </p:cNvPicPr>
          <p:nvPr/>
        </p:nvPicPr>
        <p:blipFill>
          <a:blip r:embed="rId3"/>
          <a:srcRect l="0" r="0" t="0" b="0"/>
          <a:stretch/>
        </p:blipFill>
        <p:spPr>
          <a:xfrm rot="-120000">
            <a:off x="530352" y="3200400"/>
            <a:ext cx="1636776" cy="146304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2"/>
          <p:cNvSpPr/>
          <p:nvPr/>
        </p:nvSpPr>
        <p:spPr>
          <a:xfrm>
            <a:off x="54864" y="54864"/>
            <a:ext cx="9034272" cy="5033772"/>
          </a:xfrm>
          <a:prstGeom prst="rect">
            <a:avLst/>
          </a:prstGeom>
          <a:ln w="114300">
            <a:solidFill>
              <a:srgbClr val="A8E6B4"/>
            </a:solidFill>
            <a:prstDash val="solid"/>
          </a:ln>
        </p:spPr>
      </p:sp>
      <p:pic>
        <p:nvPicPr>
          <p:cNvPr id="4" name="logo_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4c</a:t>
            </a:r>
            <a:endParaRPr lang="en-US" sz="900" dirty="0"/>
          </a:p>
        </p:txBody>
      </p:sp>
      <p:sp>
        <p:nvSpPr>
          <p:cNvPr id="6" name="timer_9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9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97"/>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Read again: a, b or c?</a:t>
            </a:r>
            <a:endParaRPr lang="en-US" sz="1500" dirty="0"/>
          </a:p>
        </p:txBody>
      </p:sp>
      <p:sp>
        <p:nvSpPr>
          <p:cNvPr id="9" name="tape_9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99"/>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10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01"/>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10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article again. Choose a, b or c.</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Rileggi l'articolo. Scegli a, b o c.</a:t>
            </a:r>
            <a:endParaRPr lang="en-US" sz="1250" dirty="0"/>
          </a:p>
        </p:txBody>
      </p:sp>
      <p:sp>
        <p:nvSpPr>
          <p:cNvPr id="14" name="box_103"/>
          <p:cNvSpPr txBox="1"/>
          <p:nvPr/>
        </p:nvSpPr>
        <p:spPr>
          <a:xfrm>
            <a:off x="2788920" y="1371600"/>
            <a:ext cx="5190134"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1  In his first research project, the author asked the volunteers to ___.  a record what happened to them every day · b answer questions about their jobs · c live together for a few months</a:t>
            </a:r>
            <a:endParaRPr lang="en-US" sz="900" dirty="0"/>
          </a:p>
        </p:txBody>
      </p:sp>
      <p:sp>
        <p:nvSpPr>
          <p:cNvPr id="15" name="R1_a0"/>
          <p:cNvSpPr txBox="1"/>
          <p:nvPr/>
        </p:nvSpPr>
        <p:spPr>
          <a:xfrm>
            <a:off x="8033918" y="1408176"/>
            <a:ext cx="79004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a</a:t>
            </a:r>
            <a:endParaRPr lang="en-US" sz="1300" dirty="0"/>
          </a:p>
        </p:txBody>
      </p:sp>
      <p:sp>
        <p:nvSpPr>
          <p:cNvPr id="16" name="box_104"/>
          <p:cNvSpPr txBox="1"/>
          <p:nvPr/>
        </p:nvSpPr>
        <p:spPr>
          <a:xfrm>
            <a:off x="2788920" y="2055571"/>
            <a:ext cx="5190134"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In one experiment, the unlucky people ___.  a didn't count the photographs correctly · b didn't notice something important in the newspaper · c were not able to finish the task</a:t>
            </a:r>
            <a:endParaRPr lang="en-US" sz="950" dirty="0"/>
          </a:p>
        </p:txBody>
      </p:sp>
      <p:sp>
        <p:nvSpPr>
          <p:cNvPr id="17" name="R1_a1"/>
          <p:cNvSpPr txBox="1"/>
          <p:nvPr/>
        </p:nvSpPr>
        <p:spPr>
          <a:xfrm>
            <a:off x="8033918" y="2092147"/>
            <a:ext cx="79004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b</a:t>
            </a:r>
            <a:endParaRPr lang="en-US" sz="1300" dirty="0"/>
          </a:p>
        </p:txBody>
      </p:sp>
      <p:sp>
        <p:nvSpPr>
          <p:cNvPr id="18" name="box_105"/>
          <p:cNvSpPr txBox="1"/>
          <p:nvPr/>
        </p:nvSpPr>
        <p:spPr>
          <a:xfrm>
            <a:off x="2788920" y="2739542"/>
            <a:ext cx="5190134"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The researchers concluded that lucky people are generally ___.  a optimistic · b hard-working · c ambitious</a:t>
            </a:r>
            <a:endParaRPr lang="en-US" sz="1050" dirty="0"/>
          </a:p>
        </p:txBody>
      </p:sp>
      <p:sp>
        <p:nvSpPr>
          <p:cNvPr id="19" name="R1_a2"/>
          <p:cNvSpPr txBox="1"/>
          <p:nvPr/>
        </p:nvSpPr>
        <p:spPr>
          <a:xfrm>
            <a:off x="8033918" y="2776118"/>
            <a:ext cx="79004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a</a:t>
            </a:r>
            <a:endParaRPr lang="en-US" sz="1300" dirty="0"/>
          </a:p>
        </p:txBody>
      </p:sp>
      <p:sp>
        <p:nvSpPr>
          <p:cNvPr id="20" name="box_106"/>
          <p:cNvSpPr txBox="1"/>
          <p:nvPr/>
        </p:nvSpPr>
        <p:spPr>
          <a:xfrm>
            <a:off x="2788920" y="3423514"/>
            <a:ext cx="5190134"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In a second phase of the project, Wiseman asked his volunteers to ___.  a change their jobs · b change their attitude · c change their lifestyle</a:t>
            </a:r>
            <a:endParaRPr lang="en-US" sz="1050" dirty="0"/>
          </a:p>
        </p:txBody>
      </p:sp>
      <p:sp>
        <p:nvSpPr>
          <p:cNvPr id="21" name="R1_a3"/>
          <p:cNvSpPr txBox="1"/>
          <p:nvPr/>
        </p:nvSpPr>
        <p:spPr>
          <a:xfrm>
            <a:off x="8033918" y="3460090"/>
            <a:ext cx="79004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b</a:t>
            </a:r>
            <a:endParaRPr lang="en-US" sz="1300" dirty="0"/>
          </a:p>
        </p:txBody>
      </p:sp>
      <p:sp>
        <p:nvSpPr>
          <p:cNvPr id="22" name="box_107"/>
          <p:cNvSpPr txBox="1"/>
          <p:nvPr/>
        </p:nvSpPr>
        <p:spPr>
          <a:xfrm>
            <a:off x="2788920" y="4107485"/>
            <a:ext cx="5190134"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5  Wiseman believes that ___.  a luck in your personal life matters more than luck at work · b winning the lottery is as important as luck in your personal life · c winning the lottery is less important than luck in your personal life</a:t>
            </a:r>
            <a:endParaRPr lang="en-US" sz="850" dirty="0"/>
          </a:p>
        </p:txBody>
      </p:sp>
      <p:sp>
        <p:nvSpPr>
          <p:cNvPr id="23" name="R1_a4"/>
          <p:cNvSpPr txBox="1"/>
          <p:nvPr/>
        </p:nvSpPr>
        <p:spPr>
          <a:xfrm>
            <a:off x="8033918" y="4144061"/>
            <a:ext cx="79004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c</a:t>
            </a:r>
            <a:endParaRPr lang="en-US" sz="1300" dirty="0"/>
          </a:p>
        </p:txBody>
      </p:sp>
      <p:sp>
        <p:nvSpPr>
          <p:cNvPr id="24" name="pageTag_10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p.88 · 4c</a:t>
            </a:r>
            <a:endParaRPr lang="en-US" sz="1050" dirty="0"/>
          </a:p>
        </p:txBody>
      </p:sp>
      <p:sp>
        <p:nvSpPr>
          <p:cNvPr id="25" name="pframe_109"/>
          <p:cNvSpPr/>
          <p:nvPr/>
        </p:nvSpPr>
        <p:spPr>
          <a:xfrm rot="120000">
            <a:off x="457200" y="3127248"/>
            <a:ext cx="1783080" cy="1682496"/>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6" name="pimg_110" descr="picture">    </p:cNvPr>
          <p:cNvPicPr>
            <a:picLocks noChangeAspect="1"/>
          </p:cNvPicPr>
          <p:nvPr/>
        </p:nvPicPr>
        <p:blipFill>
          <a:blip r:embed="rId3"/>
          <a:srcRect l="0" r="0" t="0" b="0"/>
          <a:stretch/>
        </p:blipFill>
        <p:spPr>
          <a:xfrm rot="120000">
            <a:off x="530352" y="3200400"/>
            <a:ext cx="1636776" cy="146304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1"/>
          <p:cNvSpPr/>
          <p:nvPr/>
        </p:nvSpPr>
        <p:spPr>
          <a:xfrm>
            <a:off x="54864" y="54864"/>
            <a:ext cx="9034272" cy="5033772"/>
          </a:xfrm>
          <a:prstGeom prst="rect">
            <a:avLst/>
          </a:prstGeom>
          <a:ln w="114300">
            <a:solidFill>
              <a:srgbClr val="A8E6B4"/>
            </a:solidFill>
            <a:prstDash val="solid"/>
          </a:ln>
        </p:spPr>
      </p:sp>
      <p:pic>
        <p:nvPicPr>
          <p:cNvPr id="4" name="logo_1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4d</a:t>
            </a:r>
            <a:endParaRPr lang="en-US" sz="900" dirty="0"/>
          </a:p>
        </p:txBody>
      </p:sp>
      <p:sp>
        <p:nvSpPr>
          <p:cNvPr id="6" name="timer_11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1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116"/>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Lucky or unlucky?</a:t>
            </a:r>
            <a:endParaRPr lang="en-US" sz="1500" dirty="0"/>
          </a:p>
        </p:txBody>
      </p:sp>
      <p:sp>
        <p:nvSpPr>
          <p:cNvPr id="9" name="tape_11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18"/>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post_11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2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2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Ask and answer with a partner. Ask one follow-up question!</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Fate domande e rispondete in coppia. Fai una domanda in più!</a:t>
            </a:r>
            <a:endParaRPr lang="en-US" sz="1200" dirty="0"/>
          </a:p>
        </p:txBody>
      </p:sp>
      <p:sp>
        <p:nvSpPr>
          <p:cNvPr id="14" name="iconBack_12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23" descr="pi:PiClover">    </p:cNvPr>
          <p:cNvPicPr>
            <a:picLocks noChangeAspect="1"/>
          </p:cNvPicPr>
          <p:nvPr/>
        </p:nvPicPr>
        <p:blipFill>
          <a:blip r:embed="rId3"/>
          <a:stretch>
            <a:fillRect/>
          </a:stretch>
        </p:blipFill>
        <p:spPr>
          <a:xfrm>
            <a:off x="914400" y="3474720"/>
            <a:ext cx="685800" cy="685800"/>
          </a:xfrm>
          <a:prstGeom prst="rect">
            <a:avLst/>
          </a:prstGeom>
        </p:spPr>
      </p:pic>
      <p:sp>
        <p:nvSpPr>
          <p:cNvPr id="16" name="box_124"/>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Do you agree with Richard Wiseman that people are not born lucky or unlucky, but can learn to make their own luck?</a:t>
            </a:r>
            <a:endParaRPr lang="en-US" sz="1250" dirty="0"/>
          </a:p>
        </p:txBody>
      </p:sp>
      <p:sp>
        <p:nvSpPr>
          <p:cNvPr id="17" name="box_125"/>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Can you remember a time when you were either very lucky or very unlucky? What happened?</a:t>
            </a:r>
            <a:endParaRPr lang="en-US" sz="1250" dirty="0"/>
          </a:p>
        </p:txBody>
      </p:sp>
      <p:sp>
        <p:nvSpPr>
          <p:cNvPr id="18" name="box_126"/>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Do you know anyone who you think is particularly lucky or unlucky? Why?</a:t>
            </a:r>
            <a:endParaRPr lang="en-US" sz="1250" dirty="0"/>
          </a:p>
        </p:txBody>
      </p:sp>
      <p:sp>
        <p:nvSpPr>
          <p:cNvPr id="19" name="box_127"/>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Think of a time when you were successful at something. Do you think it was because you worked hard at it, or because you were lucky and in the right place at the right time?</a:t>
            </a:r>
            <a:endParaRPr lang="en-US" sz="1250" dirty="0"/>
          </a:p>
        </p:txBody>
      </p:sp>
      <p:sp>
        <p:nvSpPr>
          <p:cNvPr id="20" name="pageTag_12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p.89 · 4d</a:t>
            </a:r>
            <a:endParaRPr lang="en-US" sz="105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9"/>
          <p:cNvSpPr/>
          <p:nvPr/>
        </p:nvSpPr>
        <p:spPr>
          <a:xfrm>
            <a:off x="54864" y="54864"/>
            <a:ext cx="9034272" cy="5033772"/>
          </a:xfrm>
          <a:prstGeom prst="rect">
            <a:avLst/>
          </a:prstGeom>
          <a:ln w="114300">
            <a:solidFill>
              <a:srgbClr val="A8E6B4"/>
            </a:solidFill>
            <a:prstDash val="solid"/>
          </a:ln>
        </p:spPr>
      </p:sp>
      <p:pic>
        <p:nvPicPr>
          <p:cNvPr id="4" name="logo_13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Word-building p.164 · 2</a:t>
            </a:r>
            <a:endParaRPr lang="en-US" sz="900" dirty="0"/>
          </a:p>
        </p:txBody>
      </p:sp>
      <p:sp>
        <p:nvSpPr>
          <p:cNvPr id="6" name="timer_13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3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134"/>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luck → lucky → luckily</a:t>
            </a:r>
            <a:endParaRPr lang="en-US" sz="1500" dirty="0"/>
          </a:p>
        </p:txBody>
      </p:sp>
      <p:sp>
        <p:nvSpPr>
          <p:cNvPr id="9" name="tape_13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36"/>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13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3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3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Make the adjectives (+ / –) and the adverbs (+ / –).</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Forma gli aggettivi (+ / –) e gli avverbi (+ / –).</a:t>
            </a:r>
            <a:endParaRPr lang="en-US" sz="1250" dirty="0"/>
          </a:p>
        </p:txBody>
      </p:sp>
      <p:sp>
        <p:nvSpPr>
          <p:cNvPr id="14" name="box_140"/>
          <p:cNvSpPr txBox="1"/>
          <p:nvPr/>
        </p:nvSpPr>
        <p:spPr>
          <a:xfrm>
            <a:off x="2788920" y="1371600"/>
            <a:ext cx="156911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b="1" dirty="0">
                <a:solidFill>
                  <a:srgbClr val="111111"/>
                </a:solidFill>
                <a:latin typeface="Calibri" pitchFamily="34" charset="0"/>
                <a:ea typeface="Calibri" pitchFamily="34" charset="-122"/>
                <a:cs typeface="Calibri" pitchFamily="34" charset="-120"/>
              </a:rPr>
              <a:t>1  luck</a:t>
            </a:r>
            <a:endParaRPr lang="en-US" sz="1500" dirty="0"/>
          </a:p>
        </p:txBody>
      </p:sp>
      <p:sp>
        <p:nvSpPr>
          <p:cNvPr id="15" name="R1_a0"/>
          <p:cNvSpPr txBox="1"/>
          <p:nvPr/>
        </p:nvSpPr>
        <p:spPr>
          <a:xfrm>
            <a:off x="4412894" y="1408176"/>
            <a:ext cx="4411066"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lucky · unlucky · luckily · unluckily</a:t>
            </a:r>
            <a:endParaRPr lang="en-US" sz="1250" dirty="0"/>
          </a:p>
        </p:txBody>
      </p:sp>
      <p:sp>
        <p:nvSpPr>
          <p:cNvPr id="16" name="box_141"/>
          <p:cNvSpPr txBox="1"/>
          <p:nvPr/>
        </p:nvSpPr>
        <p:spPr>
          <a:xfrm>
            <a:off x="2788920" y="2055571"/>
            <a:ext cx="156911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b="1" dirty="0">
                <a:solidFill>
                  <a:srgbClr val="111111"/>
                </a:solidFill>
                <a:latin typeface="Calibri" pitchFamily="34" charset="0"/>
                <a:ea typeface="Calibri" pitchFamily="34" charset="-122"/>
                <a:cs typeface="Calibri" pitchFamily="34" charset="-120"/>
              </a:rPr>
              <a:t>2  fortune</a:t>
            </a:r>
            <a:endParaRPr lang="en-US" sz="1500" dirty="0"/>
          </a:p>
        </p:txBody>
      </p:sp>
      <p:sp>
        <p:nvSpPr>
          <p:cNvPr id="17" name="R2_a1"/>
          <p:cNvSpPr txBox="1"/>
          <p:nvPr/>
        </p:nvSpPr>
        <p:spPr>
          <a:xfrm>
            <a:off x="4412894" y="2092147"/>
            <a:ext cx="4411066"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fortunate · unfortunate · fortunately · unfortunately</a:t>
            </a:r>
            <a:endParaRPr lang="en-US" sz="1250" dirty="0"/>
          </a:p>
        </p:txBody>
      </p:sp>
      <p:sp>
        <p:nvSpPr>
          <p:cNvPr id="18" name="box_142"/>
          <p:cNvSpPr txBox="1"/>
          <p:nvPr/>
        </p:nvSpPr>
        <p:spPr>
          <a:xfrm>
            <a:off x="2788920" y="2739542"/>
            <a:ext cx="156911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500" b="1" dirty="0">
                <a:solidFill>
                  <a:srgbClr val="111111"/>
                </a:solidFill>
                <a:latin typeface="Calibri" pitchFamily="34" charset="0"/>
                <a:ea typeface="Calibri" pitchFamily="34" charset="-122"/>
                <a:cs typeface="Calibri" pitchFamily="34" charset="-120"/>
              </a:rPr>
              <a:t>3  comfort</a:t>
            </a:r>
            <a:endParaRPr lang="en-US" sz="1500" dirty="0"/>
          </a:p>
        </p:txBody>
      </p:sp>
      <p:sp>
        <p:nvSpPr>
          <p:cNvPr id="19" name="R3_a2"/>
          <p:cNvSpPr txBox="1"/>
          <p:nvPr/>
        </p:nvSpPr>
        <p:spPr>
          <a:xfrm>
            <a:off x="4412894" y="2776118"/>
            <a:ext cx="4411066"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comfortable · uncomfortable · comfortably · uncomfortably</a:t>
            </a:r>
            <a:endParaRPr lang="en-US" sz="1250" dirty="0"/>
          </a:p>
        </p:txBody>
      </p:sp>
      <p:sp>
        <p:nvSpPr>
          <p:cNvPr id="20" name="box_143"/>
          <p:cNvSpPr txBox="1"/>
          <p:nvPr/>
        </p:nvSpPr>
        <p:spPr>
          <a:xfrm>
            <a:off x="2788920" y="3423514"/>
            <a:ext cx="156911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500" b="1" dirty="0">
                <a:solidFill>
                  <a:srgbClr val="111111"/>
                </a:solidFill>
                <a:latin typeface="Calibri" pitchFamily="34" charset="0"/>
                <a:ea typeface="Calibri" pitchFamily="34" charset="-122"/>
                <a:cs typeface="Calibri" pitchFamily="34" charset="-120"/>
              </a:rPr>
              <a:t>4  patience</a:t>
            </a:r>
            <a:endParaRPr lang="en-US" sz="1500" dirty="0"/>
          </a:p>
        </p:txBody>
      </p:sp>
      <p:sp>
        <p:nvSpPr>
          <p:cNvPr id="21" name="R4_a3"/>
          <p:cNvSpPr txBox="1"/>
          <p:nvPr/>
        </p:nvSpPr>
        <p:spPr>
          <a:xfrm>
            <a:off x="4412894" y="3460090"/>
            <a:ext cx="4411066"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patient · impatient · patiently · impatiently</a:t>
            </a:r>
            <a:endParaRPr lang="en-US" sz="1250" dirty="0"/>
          </a:p>
        </p:txBody>
      </p:sp>
      <p:sp>
        <p:nvSpPr>
          <p:cNvPr id="22" name="box_144"/>
          <p:cNvSpPr txBox="1"/>
          <p:nvPr/>
        </p:nvSpPr>
        <p:spPr>
          <a:xfrm>
            <a:off x="2788920" y="4107485"/>
            <a:ext cx="156911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500" b="1" dirty="0">
                <a:solidFill>
                  <a:srgbClr val="111111"/>
                </a:solidFill>
                <a:latin typeface="Calibri" pitchFamily="34" charset="0"/>
                <a:ea typeface="Calibri" pitchFamily="34" charset="-122"/>
                <a:cs typeface="Calibri" pitchFamily="34" charset="-120"/>
              </a:rPr>
              <a:t>5  care</a:t>
            </a:r>
            <a:endParaRPr lang="en-US" sz="1500" dirty="0"/>
          </a:p>
        </p:txBody>
      </p:sp>
      <p:sp>
        <p:nvSpPr>
          <p:cNvPr id="23" name="R5_a4"/>
          <p:cNvSpPr txBox="1"/>
          <p:nvPr/>
        </p:nvSpPr>
        <p:spPr>
          <a:xfrm>
            <a:off x="4412894" y="4144061"/>
            <a:ext cx="4411066"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careful · careless · carefully · carelessly</a:t>
            </a:r>
            <a:endParaRPr lang="en-US" sz="1250" dirty="0"/>
          </a:p>
        </p:txBody>
      </p:sp>
      <p:sp>
        <p:nvSpPr>
          <p:cNvPr id="24" name="sticky_145"/>
          <p:cNvSpPr txBox="1"/>
          <p:nvPr/>
        </p:nvSpPr>
        <p:spPr>
          <a:xfrm rot="-120000">
            <a:off x="411480" y="411480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-ful = with  ·  -less = without</a:t>
            </a:r>
            <a:endParaRPr lang="en-US" sz="1150" dirty="0"/>
          </a:p>
        </p:txBody>
      </p:sp>
      <p:sp>
        <p:nvSpPr>
          <p:cNvPr id="25" name="pageTag_14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p.89 · 5a, 5b · Vocabulary Bank Word-building p.164, 2a, 2b · audio 9.7</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7"/>
          <p:cNvSpPr/>
          <p:nvPr/>
        </p:nvSpPr>
        <p:spPr>
          <a:xfrm>
            <a:off x="54864" y="54864"/>
            <a:ext cx="9034272" cy="5033772"/>
          </a:xfrm>
          <a:prstGeom prst="rect">
            <a:avLst/>
          </a:prstGeom>
          <a:ln w="114300">
            <a:solidFill>
              <a:srgbClr val="A8E6B4"/>
            </a:solidFill>
            <a:prstDash val="solid"/>
          </a:ln>
        </p:spPr>
      </p:sp>
      <p:pic>
        <p:nvPicPr>
          <p:cNvPr id="4" name="logo_1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2c, 2d · audio 9.8</a:t>
            </a:r>
            <a:endParaRPr lang="en-US" sz="900" dirty="0"/>
          </a:p>
        </p:txBody>
      </p:sp>
      <p:sp>
        <p:nvSpPr>
          <p:cNvPr id="6" name="timer_15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5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152"/>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Good news or bad news?</a:t>
            </a:r>
            <a:endParaRPr lang="en-US" sz="1500" dirty="0"/>
          </a:p>
        </p:txBody>
      </p:sp>
      <p:sp>
        <p:nvSpPr>
          <p:cNvPr id="9" name="tape_15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54"/>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15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5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5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Write the right form of the word in brackets. Then listen.</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Scrivi la forma giusta della parola tra parentesi. Poi ascolta.</a:t>
            </a:r>
            <a:endParaRPr lang="en-US" sz="1200" dirty="0"/>
          </a:p>
        </p:txBody>
      </p:sp>
      <p:sp>
        <p:nvSpPr>
          <p:cNvPr id="14" name="iconBack_15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59" descr="pi:PiHeadphones">    </p:cNvPr>
          <p:cNvPicPr>
            <a:picLocks noChangeAspect="1"/>
          </p:cNvPicPr>
          <p:nvPr/>
        </p:nvPicPr>
        <p:blipFill>
          <a:blip r:embed="rId3"/>
          <a:stretch>
            <a:fillRect/>
          </a:stretch>
        </p:blipFill>
        <p:spPr>
          <a:xfrm>
            <a:off x="914400" y="3474720"/>
            <a:ext cx="685800" cy="685800"/>
          </a:xfrm>
          <a:prstGeom prst="rect">
            <a:avLst/>
          </a:prstGeom>
        </p:spPr>
      </p:pic>
      <p:sp>
        <p:nvSpPr>
          <p:cNvPr id="16" name="tr_160"/>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9.8</a:t>
            </a:r>
            <a:endParaRPr lang="en-US" sz="1400" dirty="0"/>
          </a:p>
        </p:txBody>
      </p:sp>
      <p:sp>
        <p:nvSpPr>
          <p:cNvPr id="17" name="box_161"/>
          <p:cNvSpPr txBox="1"/>
          <p:nvPr/>
        </p:nvSpPr>
        <p:spPr>
          <a:xfrm>
            <a:off x="2788920" y="2103120"/>
            <a:ext cx="4224528"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The beach was beautiful, but ___ it rained every day. (fortune)</a:t>
            </a:r>
            <a:endParaRPr lang="en-US" sz="1050" dirty="0"/>
          </a:p>
        </p:txBody>
      </p:sp>
      <p:sp>
        <p:nvSpPr>
          <p:cNvPr id="18" name="R1_la0"/>
          <p:cNvSpPr txBox="1"/>
          <p:nvPr/>
        </p:nvSpPr>
        <p:spPr>
          <a:xfrm>
            <a:off x="7068312" y="2130552"/>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unfortunately</a:t>
            </a:r>
            <a:endParaRPr lang="en-US" sz="1200" dirty="0"/>
          </a:p>
        </p:txBody>
      </p:sp>
      <p:sp>
        <p:nvSpPr>
          <p:cNvPr id="19" name="box_162"/>
          <p:cNvSpPr txBox="1"/>
          <p:nvPr/>
        </p:nvSpPr>
        <p:spPr>
          <a:xfrm>
            <a:off x="2788920" y="2542032"/>
            <a:ext cx="4224528"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He did the exam quickly and ___, so he made mistakes. (care)</a:t>
            </a:r>
            <a:endParaRPr lang="en-US" sz="1050" dirty="0"/>
          </a:p>
        </p:txBody>
      </p:sp>
      <p:sp>
        <p:nvSpPr>
          <p:cNvPr id="20" name="R1_la1"/>
          <p:cNvSpPr txBox="1"/>
          <p:nvPr/>
        </p:nvSpPr>
        <p:spPr>
          <a:xfrm>
            <a:off x="7068312" y="2569464"/>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carelessly</a:t>
            </a:r>
            <a:endParaRPr lang="en-US" sz="1200" dirty="0"/>
          </a:p>
        </p:txBody>
      </p:sp>
      <p:sp>
        <p:nvSpPr>
          <p:cNvPr id="21" name="box_163"/>
          <p:cNvSpPr txBox="1"/>
          <p:nvPr/>
        </p:nvSpPr>
        <p:spPr>
          <a:xfrm>
            <a:off x="2788920" y="2980944"/>
            <a:ext cx="4224528"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3  We were really ___. We missed the flight by five minutes. (luck)</a:t>
            </a:r>
            <a:endParaRPr lang="en-US" sz="1000" dirty="0"/>
          </a:p>
        </p:txBody>
      </p:sp>
      <p:sp>
        <p:nvSpPr>
          <p:cNvPr id="22" name="R1_la2"/>
          <p:cNvSpPr txBox="1"/>
          <p:nvPr/>
        </p:nvSpPr>
        <p:spPr>
          <a:xfrm>
            <a:off x="7068312" y="3008376"/>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unlucky</a:t>
            </a:r>
            <a:endParaRPr lang="en-US" sz="1200" dirty="0"/>
          </a:p>
        </p:txBody>
      </p:sp>
      <p:sp>
        <p:nvSpPr>
          <p:cNvPr id="23" name="box_164"/>
          <p:cNvSpPr txBox="1"/>
          <p:nvPr/>
        </p:nvSpPr>
        <p:spPr>
          <a:xfrm>
            <a:off x="2788920" y="3419856"/>
            <a:ext cx="4224528"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Jack is a very ___ driver! (patience)</a:t>
            </a:r>
            <a:endParaRPr lang="en-US" sz="1200" dirty="0"/>
          </a:p>
        </p:txBody>
      </p:sp>
      <p:sp>
        <p:nvSpPr>
          <p:cNvPr id="24" name="R1_la3"/>
          <p:cNvSpPr txBox="1"/>
          <p:nvPr/>
        </p:nvSpPr>
        <p:spPr>
          <a:xfrm>
            <a:off x="7068312" y="3447288"/>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impatient</a:t>
            </a:r>
            <a:endParaRPr lang="en-US" sz="1200" dirty="0"/>
          </a:p>
        </p:txBody>
      </p:sp>
      <p:sp>
        <p:nvSpPr>
          <p:cNvPr id="25" name="box_165"/>
          <p:cNvSpPr txBox="1"/>
          <p:nvPr/>
        </p:nvSpPr>
        <p:spPr>
          <a:xfrm>
            <a:off x="2788920" y="3858768"/>
            <a:ext cx="4224528"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Fans waited ___ in the queue to buy tickets. (patience)</a:t>
            </a:r>
            <a:endParaRPr lang="en-US" sz="1200" dirty="0"/>
          </a:p>
        </p:txBody>
      </p:sp>
      <p:sp>
        <p:nvSpPr>
          <p:cNvPr id="26" name="R1_la4"/>
          <p:cNvSpPr txBox="1"/>
          <p:nvPr/>
        </p:nvSpPr>
        <p:spPr>
          <a:xfrm>
            <a:off x="7068312" y="3886200"/>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patiently</a:t>
            </a:r>
            <a:endParaRPr lang="en-US" sz="1200" dirty="0"/>
          </a:p>
        </p:txBody>
      </p:sp>
      <p:sp>
        <p:nvSpPr>
          <p:cNvPr id="27" name="box_166"/>
          <p:cNvSpPr txBox="1"/>
          <p:nvPr/>
        </p:nvSpPr>
        <p:spPr>
          <a:xfrm>
            <a:off x="2788920" y="4297680"/>
            <a:ext cx="4224528"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The bed in the hotel was incredibly ___. (comfort)</a:t>
            </a:r>
            <a:endParaRPr lang="en-US" sz="1200" dirty="0"/>
          </a:p>
        </p:txBody>
      </p:sp>
      <p:sp>
        <p:nvSpPr>
          <p:cNvPr id="28" name="R1_la5"/>
          <p:cNvSpPr txBox="1"/>
          <p:nvPr/>
        </p:nvSpPr>
        <p:spPr>
          <a:xfrm>
            <a:off x="7068312" y="4325112"/>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uncomfortable</a:t>
            </a:r>
            <a:endParaRPr lang="en-US" sz="1200" dirty="0"/>
          </a:p>
        </p:txBody>
      </p:sp>
      <p:sp>
        <p:nvSpPr>
          <p:cNvPr id="29" name="pageTag_16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Word-building p.164 · 2c, 2d · audio 9.8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8"/>
          <p:cNvSpPr/>
          <p:nvPr/>
        </p:nvSpPr>
        <p:spPr>
          <a:xfrm>
            <a:off x="54864" y="54864"/>
            <a:ext cx="9034272" cy="5033772"/>
          </a:xfrm>
          <a:prstGeom prst="rect">
            <a:avLst/>
          </a:prstGeom>
          <a:ln w="114300">
            <a:solidFill>
              <a:srgbClr val="A8E6B4"/>
            </a:solidFill>
            <a:prstDash val="solid"/>
          </a:ln>
        </p:spPr>
      </p:sp>
      <p:pic>
        <p:nvPicPr>
          <p:cNvPr id="4" name="logo_16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The sentence game · 5c–e</a:t>
            </a:r>
            <a:endParaRPr lang="en-US" sz="900" dirty="0"/>
          </a:p>
        </p:txBody>
      </p:sp>
      <p:sp>
        <p:nvSpPr>
          <p:cNvPr id="6" name="timer_17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7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173"/>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sentence game</a:t>
            </a:r>
            <a:endParaRPr lang="en-US" sz="1500" dirty="0"/>
          </a:p>
        </p:txBody>
      </p:sp>
      <p:sp>
        <p:nvSpPr>
          <p:cNvPr id="9" name="tape_17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75"/>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post_17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77"/>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17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write 5 sentences. Exact number of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scrivete 5 frasi. Numero esatto di parole!</a:t>
            </a:r>
            <a:endParaRPr lang="en-US" sz="1250" dirty="0"/>
          </a:p>
        </p:txBody>
      </p:sp>
      <p:sp>
        <p:nvSpPr>
          <p:cNvPr id="14" name="iconBack_17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80" descr="pi:PiTrophy">    </p:cNvPr>
          <p:cNvPicPr>
            <a:picLocks noChangeAspect="1"/>
          </p:cNvPicPr>
          <p:nvPr/>
        </p:nvPicPr>
        <p:blipFill>
          <a:blip r:embed="rId3"/>
          <a:stretch>
            <a:fillRect/>
          </a:stretch>
        </p:blipFill>
        <p:spPr>
          <a:xfrm>
            <a:off x="914400" y="3474720"/>
            <a:ext cx="685800" cy="685800"/>
          </a:xfrm>
          <a:prstGeom prst="rect">
            <a:avLst/>
          </a:prstGeom>
        </p:spPr>
      </p:pic>
      <p:sp>
        <p:nvSpPr>
          <p:cNvPr id="16" name="num_181"/>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182"/>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Teams of 3–4. Write correct sentences with the EXACT number of words (contractions = one word).</a:t>
            </a:r>
            <a:endParaRPr lang="en-US" sz="950" dirty="0"/>
          </a:p>
        </p:txBody>
      </p:sp>
      <p:sp>
        <p:nvSpPr>
          <p:cNvPr id="18" name="num_183"/>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184"/>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The sentences must make sense.</a:t>
            </a:r>
            <a:endParaRPr lang="en-US" sz="1250" dirty="0"/>
          </a:p>
        </p:txBody>
      </p:sp>
      <p:sp>
        <p:nvSpPr>
          <p:cNvPr id="20" name="num_185"/>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186"/>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Include a form of the word: luck → lucky, luckily, unlucky…</a:t>
            </a:r>
            <a:endParaRPr lang="en-US" sz="1250" dirty="0"/>
          </a:p>
        </p:txBody>
      </p:sp>
      <p:sp>
        <p:nvSpPr>
          <p:cNvPr id="22" name="num_187"/>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188"/>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5 minutes: 1 fortune (11 words) · 2 comfort (9) · 3 luck (7) · 4 care (6) · 5 patience (12)</a:t>
            </a:r>
            <a:endParaRPr lang="en-US" sz="1050" dirty="0"/>
          </a:p>
        </p:txBody>
      </p:sp>
      <p:sp>
        <p:nvSpPr>
          <p:cNvPr id="24" name="num_189"/>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box_190"/>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Your teacher checks. Most correct sentences = winners!</a:t>
            </a:r>
            <a:endParaRPr lang="en-US" sz="1250" dirty="0"/>
          </a:p>
        </p:txBody>
      </p:sp>
      <p:sp>
        <p:nvSpPr>
          <p:cNvPr id="26" name="bubble_191"/>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FRIEND (7 words) → People in my country are very friendly.</a:t>
            </a:r>
            <a:endParaRPr lang="en-US" sz="1300" dirty="0"/>
          </a:p>
        </p:txBody>
      </p:sp>
      <p:sp>
        <p:nvSpPr>
          <p:cNvPr id="27" name="pageTag_19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p.89 · 5c, 5d, 5e</a:t>
            </a:r>
            <a:endParaRPr lang="en-US" sz="10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3"/>
          <p:cNvSpPr/>
          <p:nvPr/>
        </p:nvSpPr>
        <p:spPr>
          <a:xfrm>
            <a:off x="54864" y="54864"/>
            <a:ext cx="9034272" cy="5033772"/>
          </a:xfrm>
          <a:prstGeom prst="rect">
            <a:avLst/>
          </a:prstGeom>
          <a:ln w="114300">
            <a:solidFill>
              <a:srgbClr val="A8E6B4"/>
            </a:solidFill>
            <a:prstDash val="solid"/>
          </a:ln>
        </p:spPr>
      </p:sp>
      <p:pic>
        <p:nvPicPr>
          <p:cNvPr id="4" name="logo_19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Story chain</a:t>
            </a:r>
            <a:endParaRPr lang="en-US" sz="900" dirty="0"/>
          </a:p>
        </p:txBody>
      </p:sp>
      <p:sp>
        <p:nvSpPr>
          <p:cNvPr id="6" name="timer_19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9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title_198"/>
          <p:cNvSpPr txBox="1"/>
          <p:nvPr/>
        </p:nvSpPr>
        <p:spPr>
          <a:xfrm rot="90000">
            <a:off x="320040" y="676656"/>
            <a:ext cx="519379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Fortunately… unfortunately…</a:t>
            </a:r>
            <a:endParaRPr lang="en-US" sz="1500" dirty="0"/>
          </a:p>
        </p:txBody>
      </p:sp>
      <p:sp>
        <p:nvSpPr>
          <p:cNvPr id="9" name="tape_19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00"/>
          <p:cNvSpPr/>
          <p:nvPr/>
        </p:nvSpPr>
        <p:spPr>
          <a:xfrm rot="-720000">
            <a:off x="4946904" y="1069848"/>
            <a:ext cx="685800" cy="219456"/>
          </a:xfrm>
          <a:prstGeom prst="rect">
            <a:avLst/>
          </a:prstGeom>
          <a:solidFill>
            <a:srgbClr val="FFD84D">
              <a:alpha val="75000"/>
            </a:srgbClr>
          </a:solidFill>
          <a:ln w="6350">
            <a:solidFill>
              <a:srgbClr val="FFD84D"/>
            </a:solidFill>
            <a:prstDash val="solid"/>
          </a:ln>
        </p:spPr>
      </p:sp>
      <p:sp>
        <p:nvSpPr>
          <p:cNvPr id="11" name="post_201"/>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02"/>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2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Tell a story together. Good news, bad news, good news…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Raccontate una storia insieme. Buona notizia, cattiva notizia…</a:t>
            </a:r>
            <a:endParaRPr lang="en-US" sz="1200" dirty="0"/>
          </a:p>
        </p:txBody>
      </p:sp>
      <p:sp>
        <p:nvSpPr>
          <p:cNvPr id="14" name="iconBack_20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205" descr="pi:PiArrowsCounterClockwise">    </p:cNvPr>
          <p:cNvPicPr>
            <a:picLocks noChangeAspect="1"/>
          </p:cNvPicPr>
          <p:nvPr/>
        </p:nvPicPr>
        <p:blipFill>
          <a:blip r:embed="rId3"/>
          <a:stretch>
            <a:fillRect/>
          </a:stretch>
        </p:blipFill>
        <p:spPr>
          <a:xfrm>
            <a:off x="914400" y="3474720"/>
            <a:ext cx="685800" cy="685800"/>
          </a:xfrm>
          <a:prstGeom prst="rect">
            <a:avLst/>
          </a:prstGeom>
        </p:spPr>
      </p:pic>
      <p:sp>
        <p:nvSpPr>
          <p:cNvPr id="16" name="num_206"/>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207"/>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Groups of 4–5 in a circle.</a:t>
            </a:r>
            <a:endParaRPr lang="en-US" sz="1250" dirty="0"/>
          </a:p>
        </p:txBody>
      </p:sp>
      <p:sp>
        <p:nvSpPr>
          <p:cNvPr id="18" name="num_208"/>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209"/>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Student 1 starts: Last Saturday I went to Palermo by train.</a:t>
            </a:r>
            <a:endParaRPr lang="en-US" sz="1250" dirty="0"/>
          </a:p>
        </p:txBody>
      </p:sp>
      <p:sp>
        <p:nvSpPr>
          <p:cNvPr id="20" name="num_210"/>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211"/>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Student 2: Unfortunately, … · Student 3: Fortunately, … – and so on.</a:t>
            </a:r>
            <a:endParaRPr lang="en-US" sz="1250" dirty="0"/>
          </a:p>
        </p:txBody>
      </p:sp>
      <p:sp>
        <p:nvSpPr>
          <p:cNvPr id="22" name="num_212"/>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213"/>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You can also use: Luckily, … / Unluckily, … or a word from today: comfortable, impatiently, carelessly…</a:t>
            </a:r>
            <a:endParaRPr lang="en-US" sz="950" dirty="0"/>
          </a:p>
        </p:txBody>
      </p:sp>
      <p:sp>
        <p:nvSpPr>
          <p:cNvPr id="24" name="num_214"/>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box_215"/>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Hesitate for 5 seconds or repeat an idea? You're out!</a:t>
            </a:r>
            <a:endParaRPr lang="en-US" sz="1250" dirty="0"/>
          </a:p>
        </p:txBody>
      </p:sp>
      <p:sp>
        <p:nvSpPr>
          <p:cNvPr id="26" name="bubble_216"/>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Unfortunately, the train was very uncomfortable. Fortunately, I sat next to a famous singer…</a:t>
            </a:r>
            <a:endParaRPr lang="en-US" sz="1100" dirty="0"/>
          </a:p>
        </p:txBody>
      </p:sp>
      <p:sp>
        <p:nvSpPr>
          <p:cNvPr id="27" name="pageTag_21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Word-building p.164 · 2 (adverbs as sentence adverbs)</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8"/>
          <p:cNvSpPr/>
          <p:nvPr/>
        </p:nvSpPr>
        <p:spPr>
          <a:xfrm>
            <a:off x="54864" y="54864"/>
            <a:ext cx="9034272" cy="5033772"/>
          </a:xfrm>
          <a:prstGeom prst="rect">
            <a:avLst/>
          </a:prstGeom>
          <a:ln w="114300">
            <a:solidFill>
              <a:srgbClr val="A8E6B4"/>
            </a:solidFill>
            <a:prstDash val="solid"/>
          </a:ln>
        </p:spPr>
      </p:sp>
      <p:pic>
        <p:nvPicPr>
          <p:cNvPr id="4" name="logo_2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6" name="title_221"/>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2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23"/>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24"/>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25"/>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understand an article about how to improve your luck.</a:t>
            </a:r>
            <a:endParaRPr lang="en-US" sz="1200" dirty="0"/>
          </a:p>
        </p:txBody>
      </p:sp>
      <p:sp>
        <p:nvSpPr>
          <p:cNvPr id="11" name="faces_226"/>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27"/>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make adjectives and adverbs from nouns.</a:t>
            </a:r>
            <a:endParaRPr lang="en-US" sz="1350" dirty="0"/>
          </a:p>
        </p:txBody>
      </p:sp>
      <p:sp>
        <p:nvSpPr>
          <p:cNvPr id="13" name="faces_228"/>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29"/>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words like luckily and impatient correctly.</a:t>
            </a:r>
            <a:endParaRPr lang="en-US" sz="1350" dirty="0"/>
          </a:p>
        </p:txBody>
      </p:sp>
      <p:sp>
        <p:nvSpPr>
          <p:cNvPr id="15" name="faces_230"/>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31"/>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9A: 3a, 3b, 3c, 3d, 3e</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p.164 part 2: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9A-2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32"/>
          <p:cNvSpPr txBox="1"/>
          <p:nvPr/>
        </p:nvSpPr>
        <p:spPr>
          <a:xfrm>
            <a:off x="365760" y="3657600"/>
            <a:ext cx="393192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9B part 1 · Digital detox</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3"/>
          <p:cNvSpPr/>
          <p:nvPr/>
        </p:nvSpPr>
        <p:spPr>
          <a:xfrm>
            <a:off x="54864" y="54864"/>
            <a:ext cx="9034272" cy="5033772"/>
          </a:xfrm>
          <a:prstGeom prst="rect">
            <a:avLst/>
          </a:prstGeom>
          <a:ln w="114300">
            <a:solidFill>
              <a:srgbClr val="A8E6B4"/>
            </a:solidFill>
            <a:prstDash val="solid"/>
          </a:ln>
        </p:spPr>
      </p:sp>
      <p:pic>
        <p:nvPicPr>
          <p:cNvPr id="4" name="logo_2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a:t>
            </a:r>
            <a:endParaRPr lang="en-US" sz="900" dirty="0"/>
          </a:p>
        </p:txBody>
      </p:sp>
      <p:sp>
        <p:nvSpPr>
          <p:cNvPr id="6" name="timer_23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3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3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9" name="title_239"/>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Do it… carefully!</a:t>
            </a:r>
            <a:endParaRPr lang="en-US" sz="1500" dirty="0"/>
          </a:p>
        </p:txBody>
      </p:sp>
      <p:sp>
        <p:nvSpPr>
          <p:cNvPr id="10" name="tape_24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41"/>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2" name="post_242"/>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4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4" name="signB_24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Mime the action in the way on the card. Guess the adverb!</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Mima l'azione nel modo indicato. Indovina l'avverbio!</a:t>
            </a:r>
            <a:endParaRPr lang="en-US" sz="1200" dirty="0"/>
          </a:p>
        </p:txBody>
      </p:sp>
      <p:sp>
        <p:nvSpPr>
          <p:cNvPr id="15" name="n_245"/>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st_246"/>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ACTOR stands facing the screen, back to the class.</a:t>
            </a:r>
            <a:endParaRPr lang="en-US" sz="1400" dirty="0"/>
          </a:p>
        </p:txBody>
      </p:sp>
      <p:sp>
        <p:nvSpPr>
          <p:cNvPr id="17" name="n_247"/>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st_248"/>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9" name="n_249"/>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st_250"/>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clicks → an action + an adverb. The actor mimes it: no words!</a:t>
            </a:r>
            <a:endParaRPr lang="en-US" sz="1250" dirty="0"/>
          </a:p>
        </p:txBody>
      </p:sp>
      <p:sp>
        <p:nvSpPr>
          <p:cNvPr id="21" name="n_251"/>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st_252"/>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team guesses the adverb: You're eating impatiently!</a:t>
            </a:r>
            <a:endParaRPr lang="en-US" sz="1400" dirty="0"/>
          </a:p>
        </p:txBody>
      </p:sp>
      <p:sp>
        <p:nvSpPr>
          <p:cNvPr id="23" name="n_253"/>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st_254"/>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Correct adverb = 1 point. Correct full sentence = 2 points.</a:t>
            </a:r>
            <a:endParaRPr lang="en-US" sz="1400" dirty="0"/>
          </a:p>
        </p:txBody>
      </p:sp>
      <p:sp>
        <p:nvSpPr>
          <p:cNvPr id="25" name="pageTag_25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Word-building p.164 · 2</a:t>
            </a:r>
            <a:endParaRPr lang="en-US" sz="10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6"/>
          <p:cNvSpPr/>
          <p:nvPr/>
        </p:nvSpPr>
        <p:spPr>
          <a:xfrm>
            <a:off x="54864" y="54864"/>
            <a:ext cx="9034272" cy="5033772"/>
          </a:xfrm>
          <a:prstGeom prst="rect">
            <a:avLst/>
          </a:prstGeom>
          <a:ln w="114300">
            <a:solidFill>
              <a:srgbClr val="A8E6B4"/>
            </a:solidFill>
            <a:prstDash val="solid"/>
          </a:ln>
        </p:spPr>
      </p:sp>
      <p:pic>
        <p:nvPicPr>
          <p:cNvPr id="4" name="logo_2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1 of 6</a:t>
            </a:r>
            <a:endParaRPr lang="en-US" sz="900" dirty="0"/>
          </a:p>
        </p:txBody>
      </p:sp>
      <p:sp>
        <p:nvSpPr>
          <p:cNvPr id="6" name="extra_25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6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IMPATIENTLY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wait for a bus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2"/>
          <p:cNvSpPr/>
          <p:nvPr/>
        </p:nvSpPr>
        <p:spPr>
          <a:xfrm>
            <a:off x="54864" y="54864"/>
            <a:ext cx="9034272" cy="5033772"/>
          </a:xfrm>
          <a:prstGeom prst="rect">
            <a:avLst/>
          </a:prstGeom>
          <a:ln w="114300">
            <a:solidFill>
              <a:srgbClr val="A8E6B4"/>
            </a:solidFill>
            <a:prstDash val="solid"/>
          </a:ln>
        </p:spPr>
      </p:sp>
      <p:pic>
        <p:nvPicPr>
          <p:cNvPr id="4" name="logo_26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2 of 6</a:t>
            </a:r>
            <a:endParaRPr lang="en-US" sz="900" dirty="0"/>
          </a:p>
        </p:txBody>
      </p:sp>
      <p:sp>
        <p:nvSpPr>
          <p:cNvPr id="6" name="extra_26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6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6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CAREFULLY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carry a very full cup of coffee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8"/>
          <p:cNvSpPr/>
          <p:nvPr/>
        </p:nvSpPr>
        <p:spPr>
          <a:xfrm>
            <a:off x="54864" y="54864"/>
            <a:ext cx="9034272" cy="5033772"/>
          </a:xfrm>
          <a:prstGeom prst="rect">
            <a:avLst/>
          </a:prstGeom>
          <a:ln w="114300">
            <a:solidFill>
              <a:srgbClr val="A8E6B4"/>
            </a:solidFill>
            <a:prstDash val="solid"/>
          </a:ln>
        </p:spPr>
      </p:sp>
      <p:pic>
        <p:nvPicPr>
          <p:cNvPr id="4" name="logo_26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3 of 6</a:t>
            </a:r>
            <a:endParaRPr lang="en-US" sz="900" dirty="0"/>
          </a:p>
        </p:txBody>
      </p:sp>
      <p:sp>
        <p:nvSpPr>
          <p:cNvPr id="6" name="extra_27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7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73"/>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UNCOMFORTABLY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sit on a very small chair</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4"/>
          <p:cNvSpPr/>
          <p:nvPr/>
        </p:nvSpPr>
        <p:spPr>
          <a:xfrm>
            <a:off x="54864" y="54864"/>
            <a:ext cx="9034272" cy="5033772"/>
          </a:xfrm>
          <a:prstGeom prst="rect">
            <a:avLst/>
          </a:prstGeom>
          <a:ln w="114300">
            <a:solidFill>
              <a:srgbClr val="A8E6B4"/>
            </a:solidFill>
            <a:prstDash val="solid"/>
          </a:ln>
        </p:spPr>
      </p:sp>
      <p:pic>
        <p:nvPicPr>
          <p:cNvPr id="4" name="logo_27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4 of 6</a:t>
            </a:r>
            <a:endParaRPr lang="en-US" sz="900" dirty="0"/>
          </a:p>
        </p:txBody>
      </p:sp>
      <p:sp>
        <p:nvSpPr>
          <p:cNvPr id="6" name="extra_27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7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7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CARELESSLY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do your homework</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0"/>
          <p:cNvSpPr/>
          <p:nvPr/>
        </p:nvSpPr>
        <p:spPr>
          <a:xfrm>
            <a:off x="54864" y="54864"/>
            <a:ext cx="9034272" cy="5033772"/>
          </a:xfrm>
          <a:prstGeom prst="rect">
            <a:avLst/>
          </a:prstGeom>
          <a:ln w="114300">
            <a:solidFill>
              <a:srgbClr val="A8E6B4"/>
            </a:solidFill>
            <a:prstDash val="solid"/>
          </a:ln>
        </p:spPr>
      </p:sp>
      <p:pic>
        <p:nvPicPr>
          <p:cNvPr id="4" name="logo_28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5 of 6</a:t>
            </a:r>
            <a:endParaRPr lang="en-US" sz="900" dirty="0"/>
          </a:p>
        </p:txBody>
      </p:sp>
      <p:sp>
        <p:nvSpPr>
          <p:cNvPr id="6" name="extra_28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8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8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PATIENTLY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teach a child to ride a bike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6"/>
          <p:cNvSpPr/>
          <p:nvPr/>
        </p:nvSpPr>
        <p:spPr>
          <a:xfrm>
            <a:off x="54864" y="54864"/>
            <a:ext cx="9034272" cy="5033772"/>
          </a:xfrm>
          <a:prstGeom prst="rect">
            <a:avLst/>
          </a:prstGeom>
          <a:ln w="114300">
            <a:solidFill>
              <a:srgbClr val="A8E6B4"/>
            </a:solidFill>
            <a:prstDash val="solid"/>
          </a:ln>
        </p:spPr>
      </p:sp>
      <p:pic>
        <p:nvPicPr>
          <p:cNvPr id="4" name="logo_28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In the manner of the adverb · card 6 of 6</a:t>
            </a:r>
            <a:endParaRPr lang="en-US" sz="900" dirty="0"/>
          </a:p>
        </p:txBody>
      </p:sp>
      <p:sp>
        <p:nvSpPr>
          <p:cNvPr id="6" name="extra_28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9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8" name="warn_29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COMFORTABLY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Mime this action:</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watch TV on the sofa</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2"/>
          <p:cNvSpPr/>
          <p:nvPr/>
        </p:nvSpPr>
        <p:spPr>
          <a:xfrm>
            <a:off x="54864" y="54864"/>
            <a:ext cx="9034272" cy="5033772"/>
          </a:xfrm>
          <a:prstGeom prst="rect">
            <a:avLst/>
          </a:prstGeom>
          <a:ln w="114300">
            <a:solidFill>
              <a:srgbClr val="A8E6B4"/>
            </a:solidFill>
            <a:prstDash val="solid"/>
          </a:ln>
        </p:spPr>
      </p:sp>
      <p:pic>
        <p:nvPicPr>
          <p:cNvPr id="4" name="logo_2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photocopiable 9A</a:t>
            </a:r>
            <a:endParaRPr lang="en-US" sz="900" dirty="0"/>
          </a:p>
        </p:txBody>
      </p:sp>
      <p:sp>
        <p:nvSpPr>
          <p:cNvPr id="6" name="timer_29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96"/>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9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9" name="title_298"/>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Change the word!</a:t>
            </a:r>
            <a:endParaRPr lang="en-US" sz="1500" dirty="0"/>
          </a:p>
        </p:txBody>
      </p:sp>
      <p:sp>
        <p:nvSpPr>
          <p:cNvPr id="10" name="tape_29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00"/>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2" name="post_301"/>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02"/>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4" name="signB_3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Handout race: write the right form of the word in bold. 3 minutes!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Gara sulla scheda: scrivi la forma giusta della parola. 3 minuti!</a:t>
            </a:r>
            <a:endParaRPr lang="en-US" sz="1200" dirty="0"/>
          </a:p>
        </p:txBody>
      </p:sp>
      <p:sp>
        <p:nvSpPr>
          <p:cNvPr id="15" name="iconBack_30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05"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7" name="box_306"/>
          <p:cNvSpPr txBox="1"/>
          <p:nvPr/>
        </p:nvSpPr>
        <p:spPr>
          <a:xfrm>
            <a:off x="2788920" y="1371600"/>
            <a:ext cx="4465930"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14  The bed was so ___ that I wasn't able to sleep. COMFORT</a:t>
            </a:r>
            <a:endParaRPr lang="en-US" sz="1150" dirty="0"/>
          </a:p>
        </p:txBody>
      </p:sp>
      <p:sp>
        <p:nvSpPr>
          <p:cNvPr id="18" name="R1_a0"/>
          <p:cNvSpPr txBox="1"/>
          <p:nvPr/>
        </p:nvSpPr>
        <p:spPr>
          <a:xfrm>
            <a:off x="7309714" y="1408176"/>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uncomfortable</a:t>
            </a:r>
            <a:endParaRPr lang="en-US" sz="1250" dirty="0"/>
          </a:p>
        </p:txBody>
      </p:sp>
      <p:sp>
        <p:nvSpPr>
          <p:cNvPr id="19" name="box_307"/>
          <p:cNvSpPr txBox="1"/>
          <p:nvPr/>
        </p:nvSpPr>
        <p:spPr>
          <a:xfrm>
            <a:off x="2788920" y="1860151"/>
            <a:ext cx="4465930"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15  These sandals are so ___. It feels as if I'm not wearing anything on my feet. COMFORT</a:t>
            </a:r>
            <a:endParaRPr lang="en-US" sz="800" dirty="0"/>
          </a:p>
        </p:txBody>
      </p:sp>
      <p:sp>
        <p:nvSpPr>
          <p:cNvPr id="20" name="R2_a1"/>
          <p:cNvSpPr txBox="1"/>
          <p:nvPr/>
        </p:nvSpPr>
        <p:spPr>
          <a:xfrm>
            <a:off x="7309714" y="1896727"/>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comfortable</a:t>
            </a:r>
            <a:endParaRPr lang="en-US" sz="1250" dirty="0"/>
          </a:p>
        </p:txBody>
      </p:sp>
      <p:sp>
        <p:nvSpPr>
          <p:cNvPr id="21" name="box_308"/>
          <p:cNvSpPr txBox="1"/>
          <p:nvPr/>
        </p:nvSpPr>
        <p:spPr>
          <a:xfrm>
            <a:off x="2788920" y="2348702"/>
            <a:ext cx="4465930"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16  Having to wait for people makes me really ___. PATIENT</a:t>
            </a:r>
            <a:endParaRPr lang="en-US" sz="1150" dirty="0"/>
          </a:p>
        </p:txBody>
      </p:sp>
      <p:sp>
        <p:nvSpPr>
          <p:cNvPr id="22" name="R3_a2"/>
          <p:cNvSpPr txBox="1"/>
          <p:nvPr/>
        </p:nvSpPr>
        <p:spPr>
          <a:xfrm>
            <a:off x="7309714" y="2385278"/>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impatient</a:t>
            </a:r>
            <a:endParaRPr lang="en-US" sz="1250" dirty="0"/>
          </a:p>
        </p:txBody>
      </p:sp>
      <p:sp>
        <p:nvSpPr>
          <p:cNvPr id="23" name="box_309"/>
          <p:cNvSpPr txBox="1"/>
          <p:nvPr/>
        </p:nvSpPr>
        <p:spPr>
          <a:xfrm>
            <a:off x="2788920" y="2837253"/>
            <a:ext cx="4465930"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17  Nick's ___ in love. His partners always leave him! LUCK</a:t>
            </a:r>
            <a:endParaRPr lang="en-US" sz="1150" dirty="0"/>
          </a:p>
        </p:txBody>
      </p:sp>
      <p:sp>
        <p:nvSpPr>
          <p:cNvPr id="24" name="R4_a3"/>
          <p:cNvSpPr txBox="1"/>
          <p:nvPr/>
        </p:nvSpPr>
        <p:spPr>
          <a:xfrm>
            <a:off x="7309714" y="2873829"/>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unlucky</a:t>
            </a:r>
            <a:endParaRPr lang="en-US" sz="1250" dirty="0"/>
          </a:p>
        </p:txBody>
      </p:sp>
      <p:sp>
        <p:nvSpPr>
          <p:cNvPr id="25" name="box_310"/>
          <p:cNvSpPr txBox="1"/>
          <p:nvPr/>
        </p:nvSpPr>
        <p:spPr>
          <a:xfrm>
            <a:off x="2788920" y="3325803"/>
            <a:ext cx="4465930"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18  Be ___ not to break your leg on the first day of your skiing holiday! CARE</a:t>
            </a:r>
            <a:endParaRPr lang="en-US" sz="900" dirty="0"/>
          </a:p>
        </p:txBody>
      </p:sp>
      <p:sp>
        <p:nvSpPr>
          <p:cNvPr id="26" name="R5_a4"/>
          <p:cNvSpPr txBox="1"/>
          <p:nvPr/>
        </p:nvSpPr>
        <p:spPr>
          <a:xfrm>
            <a:off x="7309714" y="3362379"/>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careful</a:t>
            </a:r>
            <a:endParaRPr lang="en-US" sz="1250" dirty="0"/>
          </a:p>
        </p:txBody>
      </p:sp>
      <p:sp>
        <p:nvSpPr>
          <p:cNvPr id="27" name="box_311"/>
          <p:cNvSpPr txBox="1"/>
          <p:nvPr/>
        </p:nvSpPr>
        <p:spPr>
          <a:xfrm>
            <a:off x="2788920" y="3814354"/>
            <a:ext cx="4465930"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19  Paolo writes very ___ and doesn't check for mistakes. CARE</a:t>
            </a:r>
            <a:endParaRPr lang="en-US" sz="1150" dirty="0"/>
          </a:p>
        </p:txBody>
      </p:sp>
      <p:sp>
        <p:nvSpPr>
          <p:cNvPr id="28" name="R6_a5"/>
          <p:cNvSpPr txBox="1"/>
          <p:nvPr/>
        </p:nvSpPr>
        <p:spPr>
          <a:xfrm>
            <a:off x="7309714" y="3850930"/>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carelessly</a:t>
            </a:r>
            <a:endParaRPr lang="en-US" sz="1250" dirty="0"/>
          </a:p>
        </p:txBody>
      </p:sp>
      <p:sp>
        <p:nvSpPr>
          <p:cNvPr id="29" name="box_312"/>
          <p:cNvSpPr txBox="1"/>
          <p:nvPr/>
        </p:nvSpPr>
        <p:spPr>
          <a:xfrm>
            <a:off x="2788920" y="4302905"/>
            <a:ext cx="4465930"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20  ___, it rained on our wedding day, but we had a great day anyway. FORTUNE</a:t>
            </a:r>
            <a:endParaRPr lang="en-US" sz="850" dirty="0"/>
          </a:p>
        </p:txBody>
      </p:sp>
      <p:sp>
        <p:nvSpPr>
          <p:cNvPr id="30" name="R7_a6"/>
          <p:cNvSpPr txBox="1"/>
          <p:nvPr/>
        </p:nvSpPr>
        <p:spPr>
          <a:xfrm>
            <a:off x="7309714" y="4339481"/>
            <a:ext cx="151424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Unfortunately</a:t>
            </a:r>
            <a:endParaRPr lang="en-US" sz="1250" dirty="0"/>
          </a:p>
        </p:txBody>
      </p:sp>
      <p:sp>
        <p:nvSpPr>
          <p:cNvPr id="31" name="pageTag_31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 Print: B1_9A_Photocopiables.pdf, page 4 · Teacher: Vocabulary photocopiable 9A 'Word-building' p.216</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4"/>
          <p:cNvSpPr/>
          <p:nvPr/>
        </p:nvSpPr>
        <p:spPr>
          <a:xfrm>
            <a:off x="54864" y="54864"/>
            <a:ext cx="9034272" cy="5033772"/>
          </a:xfrm>
          <a:prstGeom prst="rect">
            <a:avLst/>
          </a:prstGeom>
          <a:ln w="114300">
            <a:solidFill>
              <a:srgbClr val="A8E6B4"/>
            </a:solidFill>
            <a:prstDash val="solid"/>
          </a:ln>
        </p:spPr>
      </p:sp>
      <p:pic>
        <p:nvPicPr>
          <p:cNvPr id="4" name="logo_31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Mini debate</a:t>
            </a:r>
            <a:endParaRPr lang="en-US" sz="900" dirty="0"/>
          </a:p>
        </p:txBody>
      </p:sp>
      <p:sp>
        <p:nvSpPr>
          <p:cNvPr id="6" name="timer_31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extra_318"/>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1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2</a:t>
            </a:r>
            <a:endParaRPr lang="en-US" sz="1000" dirty="0"/>
          </a:p>
        </p:txBody>
      </p:sp>
      <p:sp>
        <p:nvSpPr>
          <p:cNvPr id="9" name="title_320"/>
          <p:cNvSpPr txBox="1"/>
          <p:nvPr/>
        </p:nvSpPr>
        <p:spPr>
          <a:xfrm rot="90000">
            <a:off x="320040" y="676656"/>
            <a:ext cx="502005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Do you make your own luck?</a:t>
            </a:r>
            <a:endParaRPr lang="en-US" sz="1500" dirty="0"/>
          </a:p>
        </p:txBody>
      </p:sp>
      <p:sp>
        <p:nvSpPr>
          <p:cNvPr id="10" name="tape_32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22"/>
          <p:cNvSpPr/>
          <p:nvPr/>
        </p:nvSpPr>
        <p:spPr>
          <a:xfrm rot="-720000">
            <a:off x="4773168" y="1069848"/>
            <a:ext cx="685800" cy="219456"/>
          </a:xfrm>
          <a:prstGeom prst="rect">
            <a:avLst/>
          </a:prstGeom>
          <a:solidFill>
            <a:srgbClr val="FFD84D">
              <a:alpha val="75000"/>
            </a:srgbClr>
          </a:solidFill>
          <a:ln w="6350">
            <a:solidFill>
              <a:srgbClr val="FFD84D"/>
            </a:solidFill>
            <a:prstDash val="solid"/>
          </a:ln>
        </p:spPr>
      </p:sp>
      <p:sp>
        <p:nvSpPr>
          <p:cNvPr id="12" name="post_323"/>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24"/>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32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a:t>
            </a:r>
            <a:endParaRPr lang="en-US" sz="1250" dirty="0"/>
          </a:p>
        </p:txBody>
      </p:sp>
      <p:sp>
        <p:nvSpPr>
          <p:cNvPr id="15" name="iconBack_32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27" descr="pi:PiScales">    </p:cNvPr>
          <p:cNvPicPr>
            <a:picLocks noChangeAspect="1"/>
          </p:cNvPicPr>
          <p:nvPr/>
        </p:nvPicPr>
        <p:blipFill>
          <a:blip r:embed="rId3"/>
          <a:stretch>
            <a:fillRect/>
          </a:stretch>
        </p:blipFill>
        <p:spPr>
          <a:xfrm>
            <a:off x="914400" y="3474720"/>
            <a:ext cx="685800" cy="685800"/>
          </a:xfrm>
          <a:prstGeom prst="rect">
            <a:avLst/>
          </a:prstGeom>
        </p:spPr>
      </p:pic>
      <p:sp>
        <p:nvSpPr>
          <p:cNvPr id="17" name="box_328"/>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can make your own luck."</a:t>
            </a:r>
            <a:endParaRPr lang="en-US" sz="1350" dirty="0"/>
          </a:p>
        </p:txBody>
      </p:sp>
      <p:sp>
        <p:nvSpPr>
          <p:cNvPr id="18" name="stamp_329"/>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9" name="stamp_330"/>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0" name="box_331"/>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"Superstitions are just for fun – nobody really believes them."</a:t>
            </a:r>
            <a:endParaRPr lang="en-US" sz="1350" dirty="0"/>
          </a:p>
        </p:txBody>
      </p:sp>
      <p:sp>
        <p:nvSpPr>
          <p:cNvPr id="21" name="stamp_332"/>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2" name="stamp_333"/>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3" name="box_334"/>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"Winning the lottery would make me happier."</a:t>
            </a:r>
            <a:endParaRPr lang="en-US" sz="1350" dirty="0"/>
          </a:p>
        </p:txBody>
      </p:sp>
      <p:sp>
        <p:nvSpPr>
          <p:cNvPr id="24" name="stamp_335"/>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5" name="stamp_336"/>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6" name="box_337"/>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"Some people are born lucky."</a:t>
            </a:r>
            <a:endParaRPr lang="en-US" sz="1350" dirty="0"/>
          </a:p>
        </p:txBody>
      </p:sp>
      <p:sp>
        <p:nvSpPr>
          <p:cNvPr id="27" name="stamp_338"/>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8" name="stamp_339"/>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9" name="bubble_340"/>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agree, because… · I'm not so sure… · No way! In my opinion…</a:t>
            </a:r>
            <a:endParaRPr lang="en-US" sz="12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9A-2 Lucky encounters</dc:title>
  <dc:subject>PptxGenJS Presentation</dc:subject>
  <dc:creator>London Language School</dc:creator>
  <cp:lastModifiedBy>London Language School</cp:lastModifiedBy>
  <cp:revision>1</cp:revision>
  <dcterms:created xsi:type="dcterms:W3CDTF">2026-10-05T09:39:33Z</dcterms:created>
  <dcterms:modified xsi:type="dcterms:W3CDTF">2026-10-05T09:39:33Z</dcterms:modified>
</cp:coreProperties>
</file>