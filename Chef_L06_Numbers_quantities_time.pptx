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 (60 min). Aims: saying kitchen numbers, How much / how many / how long, can / can't / could.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VARIATION: reverse the obvious. Students use the key words; click once per line to check. Then quick-fire: bake or roast? a cake / a chicken / bread / potatoes.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(6 min). Then micro-challenge: count DOWN from 250 degrees in 20s (250, 230, 210…) — fastest without mistakes wins. Watch out: two hundred grams (not hundreds); one and a half kilos (not one kilo and half).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(8 min). Match orally, click 1. Then each chef chooses one dish from their menu and the partner asks all 6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Click 1. Examples: Marinate the lamb overnight. Prepare the sauce in advance. Table 6 changed their order at the last minute!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(5 min). Pronunciation: can /kən/ in sentences, can't /kɑːnt/ — stress helps them hear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PRACTICE (5 min).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Students read the temperatures aloud correctly (minus eighteen degrees). Links to next lesson (health &amp; safety).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(5 min). × 3. Students must say the full answer, not just the number.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(8 min). Teacher: read similar pairs to make them listen (15 / 50 minutes, 13 / 30 degrees).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L6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min). VARIATION: personalisation + follow-ups. Answers to report: Analisa can… but she can't…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Students say 'I think it's about…'. Click 1 for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B2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6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096512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 &amp; TIME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4197096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 · weights, temperatures, times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can / can't / could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42900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How long? How much?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therm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sca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tim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it take?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 minutes at 180 degrees.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5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90000">
            <a:off x="320040" y="676656"/>
            <a:ext cx="397764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recipe backwards</a:t>
            </a:r>
            <a:endParaRPr lang="en-US" sz="1500" dirty="0"/>
          </a:p>
        </p:txBody>
      </p:sp>
      <p:sp>
        <p:nvSpPr>
          <p:cNvPr id="9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25"/>
          <p:cNvSpPr/>
          <p:nvPr/>
        </p:nvSpPr>
        <p:spPr>
          <a:xfrm rot="-720000">
            <a:off x="373075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350" dirty="0"/>
          </a:p>
        </p:txBody>
      </p:sp>
      <p:sp>
        <p:nvSpPr>
          <p:cNvPr id="13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last lesson's sauce recipe – starting from the END!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 la ricetta della salsa – dalla FINE!</a:t>
            </a:r>
            <a:endParaRPr lang="en-US" sz="1200" dirty="0"/>
          </a:p>
        </p:txBody>
      </p:sp>
      <p:sp>
        <p:nvSpPr>
          <p:cNvPr id="14" name="box_29"/>
          <p:cNvSpPr txBox="1"/>
          <p:nvPr/>
        </p:nvSpPr>
        <p:spPr>
          <a:xfrm>
            <a:off x="2788920" y="1371600"/>
            <a:ext cx="2172614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basil · pasta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5016398" y="1408176"/>
            <a:ext cx="38075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add fresh basil and serve with pasta.</a:t>
            </a:r>
            <a:endParaRPr lang="en-US" sz="1200" dirty="0"/>
          </a:p>
        </p:txBody>
      </p:sp>
      <p:sp>
        <p:nvSpPr>
          <p:cNvPr id="16" name="box_30"/>
          <p:cNvSpPr txBox="1"/>
          <p:nvPr/>
        </p:nvSpPr>
        <p:spPr>
          <a:xfrm>
            <a:off x="2788920" y="2055571"/>
            <a:ext cx="2172614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20 minutes · stir</a:t>
            </a:r>
            <a:endParaRPr lang="en-US" sz="1350" dirty="0"/>
          </a:p>
        </p:txBody>
      </p:sp>
      <p:sp>
        <p:nvSpPr>
          <p:cNvPr id="17" name="R2_a1"/>
          <p:cNvSpPr txBox="1"/>
          <p:nvPr/>
        </p:nvSpPr>
        <p:spPr>
          <a:xfrm>
            <a:off x="5016398" y="2092147"/>
            <a:ext cx="38075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that, simmer for 20 minutes and stir.</a:t>
            </a:r>
            <a:endParaRPr lang="en-US" sz="120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739542"/>
            <a:ext cx="2172614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tinned tomatoes · salt</a:t>
            </a:r>
            <a:endParaRPr lang="en-US" sz="1350" dirty="0"/>
          </a:p>
        </p:txBody>
      </p:sp>
      <p:sp>
        <p:nvSpPr>
          <p:cNvPr id="19" name="R3_a2"/>
          <p:cNvSpPr txBox="1"/>
          <p:nvPr/>
        </p:nvSpPr>
        <p:spPr>
          <a:xfrm>
            <a:off x="5016398" y="2776118"/>
            <a:ext cx="38075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that, add the tomatoes and some salt.</a:t>
            </a:r>
            <a:endParaRPr lang="en-US" sz="1200" dirty="0"/>
          </a:p>
        </p:txBody>
      </p:sp>
      <p:sp>
        <p:nvSpPr>
          <p:cNvPr id="20" name="box_32"/>
          <p:cNvSpPr txBox="1"/>
          <p:nvPr/>
        </p:nvSpPr>
        <p:spPr>
          <a:xfrm>
            <a:off x="2788920" y="3423514"/>
            <a:ext cx="2172614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garlic · 1 minute</a:t>
            </a:r>
            <a:endParaRPr lang="en-US" sz="1350" dirty="0"/>
          </a:p>
        </p:txBody>
      </p:sp>
      <p:sp>
        <p:nvSpPr>
          <p:cNvPr id="21" name="R4_a3"/>
          <p:cNvSpPr txBox="1"/>
          <p:nvPr/>
        </p:nvSpPr>
        <p:spPr>
          <a:xfrm>
            <a:off x="5016398" y="3460090"/>
            <a:ext cx="38075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that, fry the garlic for one minute.</a:t>
            </a:r>
            <a:endParaRPr lang="en-US" sz="120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4107485"/>
            <a:ext cx="2172614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olive oil · saucepan</a:t>
            </a:r>
            <a:endParaRPr lang="en-US" sz="1350" dirty="0"/>
          </a:p>
        </p:txBody>
      </p:sp>
      <p:sp>
        <p:nvSpPr>
          <p:cNvPr id="23" name="R5_a4"/>
          <p:cNvSpPr txBox="1"/>
          <p:nvPr/>
        </p:nvSpPr>
        <p:spPr>
          <a:xfrm>
            <a:off x="5016398" y="4144061"/>
            <a:ext cx="38075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heat some olive oil in a saucepan.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3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 · Say it!</a:t>
            </a:r>
            <a:endParaRPr lang="en-US" sz="900" dirty="0"/>
          </a:p>
        </p:txBody>
      </p:sp>
      <p:sp>
        <p:nvSpPr>
          <p:cNvPr id="6" name="timer_3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3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39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a chef</a:t>
            </a:r>
            <a:endParaRPr lang="en-US" sz="1500" dirty="0"/>
          </a:p>
        </p:txBody>
      </p:sp>
      <p:sp>
        <p:nvSpPr>
          <p:cNvPr id="9" name="tape_4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41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4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4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4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say these? Click to check.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dicono? Clicca per controllare.</a:t>
            </a:r>
            <a:endParaRPr lang="en-US" sz="1250" dirty="0"/>
          </a:p>
        </p:txBody>
      </p:sp>
      <p:sp>
        <p:nvSpPr>
          <p:cNvPr id="14" name="box_45"/>
          <p:cNvSpPr txBox="1"/>
          <p:nvPr/>
        </p:nvSpPr>
        <p:spPr>
          <a:xfrm>
            <a:off x="2788920" y="1371600"/>
            <a:ext cx="945124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250 g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3788908" y="1408176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hundred and fifty grams</a:t>
            </a:r>
            <a:endParaRPr lang="en-US" sz="1150" dirty="0"/>
          </a:p>
        </p:txBody>
      </p:sp>
      <p:sp>
        <p:nvSpPr>
          <p:cNvPr id="16" name="box_46"/>
          <p:cNvSpPr txBox="1"/>
          <p:nvPr/>
        </p:nvSpPr>
        <p:spPr>
          <a:xfrm>
            <a:off x="5870448" y="1371600"/>
            <a:ext cx="945124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–18°C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6870436" y="1408176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 eighteen degrees</a:t>
            </a:r>
            <a:endParaRPr lang="en-US" sz="1150" dirty="0"/>
          </a:p>
        </p:txBody>
      </p:sp>
      <p:sp>
        <p:nvSpPr>
          <p:cNvPr id="18" name="box_47"/>
          <p:cNvSpPr txBox="1"/>
          <p:nvPr/>
        </p:nvSpPr>
        <p:spPr>
          <a:xfrm>
            <a:off x="2788920" y="2226564"/>
            <a:ext cx="945124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1.5 kg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3788908" y="2263140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and a half kilos</a:t>
            </a:r>
            <a:endParaRPr lang="en-US" sz="1150" dirty="0"/>
          </a:p>
        </p:txBody>
      </p:sp>
      <p:sp>
        <p:nvSpPr>
          <p:cNvPr id="20" name="box_48"/>
          <p:cNvSpPr txBox="1"/>
          <p:nvPr/>
        </p:nvSpPr>
        <p:spPr>
          <a:xfrm>
            <a:off x="5870448" y="2226564"/>
            <a:ext cx="945124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500 ml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6870436" y="2263140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hundred millilitres</a:t>
            </a:r>
            <a:endParaRPr lang="en-US" sz="1150" dirty="0"/>
          </a:p>
        </p:txBody>
      </p:sp>
      <p:sp>
        <p:nvSpPr>
          <p:cNvPr id="22" name="box_49"/>
          <p:cNvSpPr txBox="1"/>
          <p:nvPr/>
        </p:nvSpPr>
        <p:spPr>
          <a:xfrm>
            <a:off x="2788920" y="3081528"/>
            <a:ext cx="945124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180°C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3788908" y="3118104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and eighty degrees</a:t>
            </a:r>
            <a:endParaRPr lang="en-US" sz="1150" dirty="0"/>
          </a:p>
        </p:txBody>
      </p:sp>
      <p:sp>
        <p:nvSpPr>
          <p:cNvPr id="24" name="box_50"/>
          <p:cNvSpPr txBox="1"/>
          <p:nvPr/>
        </p:nvSpPr>
        <p:spPr>
          <a:xfrm>
            <a:off x="5870448" y="3081528"/>
            <a:ext cx="945124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15 min</a:t>
            </a:r>
            <a:endParaRPr lang="en-US" sz="1350" dirty="0"/>
          </a:p>
        </p:txBody>
      </p:sp>
      <p:sp>
        <p:nvSpPr>
          <p:cNvPr id="25" name="R1_a5"/>
          <p:cNvSpPr txBox="1"/>
          <p:nvPr/>
        </p:nvSpPr>
        <p:spPr>
          <a:xfrm>
            <a:off x="6870436" y="3118104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minutes / a quarter of an hour</a:t>
            </a:r>
            <a:endParaRPr lang="en-US" sz="1150" dirty="0"/>
          </a:p>
        </p:txBody>
      </p:sp>
      <p:sp>
        <p:nvSpPr>
          <p:cNvPr id="26" name="box_51"/>
          <p:cNvSpPr txBox="1"/>
          <p:nvPr/>
        </p:nvSpPr>
        <p:spPr>
          <a:xfrm>
            <a:off x="2788920" y="3936492"/>
            <a:ext cx="945124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1 tbsp</a:t>
            </a:r>
            <a:endParaRPr lang="en-US" sz="1350" dirty="0"/>
          </a:p>
        </p:txBody>
      </p:sp>
      <p:sp>
        <p:nvSpPr>
          <p:cNvPr id="27" name="R1_a6"/>
          <p:cNvSpPr txBox="1"/>
          <p:nvPr/>
        </p:nvSpPr>
        <p:spPr>
          <a:xfrm>
            <a:off x="3788908" y="3973068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tablespoon</a:t>
            </a:r>
            <a:endParaRPr lang="en-US" sz="1150" dirty="0"/>
          </a:p>
        </p:txBody>
      </p:sp>
      <p:sp>
        <p:nvSpPr>
          <p:cNvPr id="28" name="box_52"/>
          <p:cNvSpPr txBox="1"/>
          <p:nvPr/>
        </p:nvSpPr>
        <p:spPr>
          <a:xfrm>
            <a:off x="5870448" y="3936492"/>
            <a:ext cx="945124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1 tsp</a:t>
            </a:r>
            <a:endParaRPr lang="en-US" sz="1350" dirty="0"/>
          </a:p>
        </p:txBody>
      </p:sp>
      <p:sp>
        <p:nvSpPr>
          <p:cNvPr id="29" name="R1_a7"/>
          <p:cNvSpPr txBox="1"/>
          <p:nvPr/>
        </p:nvSpPr>
        <p:spPr>
          <a:xfrm>
            <a:off x="6870436" y="3973068"/>
            <a:ext cx="1953524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teaspoon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5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Kitchen questions</a:t>
            </a:r>
            <a:endParaRPr lang="en-US" sz="900" dirty="0"/>
          </a:p>
        </p:txBody>
      </p:sp>
      <p:sp>
        <p:nvSpPr>
          <p:cNvPr id="6" name="timer_5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5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58"/>
          <p:cNvSpPr txBox="1"/>
          <p:nvPr/>
        </p:nvSpPr>
        <p:spPr>
          <a:xfrm rot="90000">
            <a:off x="320040" y="676656"/>
            <a:ext cx="5193792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long? What temperature?</a:t>
            </a:r>
            <a:endParaRPr lang="en-US" sz="1500" dirty="0"/>
          </a:p>
        </p:txBody>
      </p:sp>
      <p:sp>
        <p:nvSpPr>
          <p:cNvPr id="9" name="tape_5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60"/>
          <p:cNvSpPr/>
          <p:nvPr/>
        </p:nvSpPr>
        <p:spPr>
          <a:xfrm rot="-720000">
            <a:off x="4946904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6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6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6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 Then ask about YOUR dishes!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Abbina. Poi chiedi dei TUOI piatti!</a:t>
            </a:r>
            <a:endParaRPr lang="en-US" sz="1250" dirty="0"/>
          </a:p>
        </p:txBody>
      </p:sp>
      <p:sp>
        <p:nvSpPr>
          <p:cNvPr id="14" name="box_64"/>
          <p:cNvSpPr txBox="1"/>
          <p:nvPr/>
        </p:nvSpPr>
        <p:spPr>
          <a:xfrm>
            <a:off x="2788920" y="1371600"/>
            <a:ext cx="3319272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How much flour do we need?</a:t>
            </a:r>
            <a:endParaRPr lang="en-US" sz="1250" dirty="0"/>
          </a:p>
        </p:txBody>
      </p:sp>
      <p:sp>
        <p:nvSpPr>
          <p:cNvPr id="15" name="R1_m0"/>
          <p:cNvSpPr txBox="1"/>
          <p:nvPr/>
        </p:nvSpPr>
        <p:spPr>
          <a:xfrm>
            <a:off x="6181344" y="1389888"/>
            <a:ext cx="26426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500 grams.</a:t>
            </a:r>
            <a:endParaRPr lang="en-US" sz="1150" dirty="0"/>
          </a:p>
        </p:txBody>
      </p:sp>
      <p:sp>
        <p:nvSpPr>
          <p:cNvPr id="16" name="box_65"/>
          <p:cNvSpPr txBox="1"/>
          <p:nvPr/>
        </p:nvSpPr>
        <p:spPr>
          <a:xfrm>
            <a:off x="2788920" y="1901952"/>
            <a:ext cx="3319272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many portions does it make?</a:t>
            </a:r>
            <a:endParaRPr lang="en-US" sz="1250" dirty="0"/>
          </a:p>
        </p:txBody>
      </p:sp>
      <p:sp>
        <p:nvSpPr>
          <p:cNvPr id="17" name="R1_m1"/>
          <p:cNvSpPr txBox="1"/>
          <p:nvPr/>
        </p:nvSpPr>
        <p:spPr>
          <a:xfrm>
            <a:off x="6181344" y="1920240"/>
            <a:ext cx="26426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8 portions.</a:t>
            </a:r>
            <a:endParaRPr lang="en-US" sz="1150" dirty="0"/>
          </a:p>
        </p:txBody>
      </p:sp>
      <p:sp>
        <p:nvSpPr>
          <p:cNvPr id="18" name="box_66"/>
          <p:cNvSpPr txBox="1"/>
          <p:nvPr/>
        </p:nvSpPr>
        <p:spPr>
          <a:xfrm>
            <a:off x="2788920" y="2432304"/>
            <a:ext cx="3319272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How long does it take to cook?</a:t>
            </a:r>
            <a:endParaRPr lang="en-US" sz="1250" dirty="0"/>
          </a:p>
        </p:txBody>
      </p:sp>
      <p:sp>
        <p:nvSpPr>
          <p:cNvPr id="19" name="R1_m2"/>
          <p:cNvSpPr txBox="1"/>
          <p:nvPr/>
        </p:nvSpPr>
        <p:spPr>
          <a:xfrm>
            <a:off x="6181344" y="2450592"/>
            <a:ext cx="26426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 minutes.</a:t>
            </a:r>
            <a:endParaRPr lang="en-US" sz="1150" dirty="0"/>
          </a:p>
        </p:txBody>
      </p:sp>
      <p:sp>
        <p:nvSpPr>
          <p:cNvPr id="20" name="box_67"/>
          <p:cNvSpPr txBox="1"/>
          <p:nvPr/>
        </p:nvSpPr>
        <p:spPr>
          <a:xfrm>
            <a:off x="2788920" y="2962656"/>
            <a:ext cx="3319272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temperature is the oven?</a:t>
            </a:r>
            <a:endParaRPr lang="en-US" sz="1250" dirty="0"/>
          </a:p>
        </p:txBody>
      </p:sp>
      <p:sp>
        <p:nvSpPr>
          <p:cNvPr id="21" name="R1_m3"/>
          <p:cNvSpPr txBox="1"/>
          <p:nvPr/>
        </p:nvSpPr>
        <p:spPr>
          <a:xfrm>
            <a:off x="6181344" y="2980944"/>
            <a:ext cx="26426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at 200 degrees.</a:t>
            </a:r>
            <a:endParaRPr lang="en-US" sz="1150" dirty="0"/>
          </a:p>
        </p:txBody>
      </p:sp>
      <p:sp>
        <p:nvSpPr>
          <p:cNvPr id="22" name="box_68"/>
          <p:cNvSpPr txBox="1"/>
          <p:nvPr/>
        </p:nvSpPr>
        <p:spPr>
          <a:xfrm>
            <a:off x="2788920" y="3493008"/>
            <a:ext cx="3319272" cy="4572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How long can we keep it in the fridge?</a:t>
            </a:r>
            <a:endParaRPr lang="en-US" sz="1250" dirty="0"/>
          </a:p>
        </p:txBody>
      </p:sp>
      <p:sp>
        <p:nvSpPr>
          <p:cNvPr id="23" name="R1_m4"/>
          <p:cNvSpPr txBox="1"/>
          <p:nvPr/>
        </p:nvSpPr>
        <p:spPr>
          <a:xfrm>
            <a:off x="6181344" y="3511296"/>
            <a:ext cx="26426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three days.</a:t>
            </a:r>
            <a:endParaRPr lang="en-US" sz="1150" dirty="0"/>
          </a:p>
        </p:txBody>
      </p:sp>
      <p:sp>
        <p:nvSpPr>
          <p:cNvPr id="24" name="box_69"/>
          <p:cNvSpPr txBox="1"/>
          <p:nvPr/>
        </p:nvSpPr>
        <p:spPr>
          <a:xfrm>
            <a:off x="2788920" y="4023360"/>
            <a:ext cx="3319272" cy="45720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What time do we start prep?</a:t>
            </a:r>
            <a:endParaRPr lang="en-US" sz="1250" dirty="0"/>
          </a:p>
        </p:txBody>
      </p:sp>
      <p:sp>
        <p:nvSpPr>
          <p:cNvPr id="25" name="R1_m5"/>
          <p:cNvSpPr txBox="1"/>
          <p:nvPr/>
        </p:nvSpPr>
        <p:spPr>
          <a:xfrm>
            <a:off x="6181344" y="4041648"/>
            <a:ext cx="26426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half past ten.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7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Time words</a:t>
            </a:r>
            <a:endParaRPr lang="en-US" sz="900" dirty="0"/>
          </a:p>
        </p:txBody>
      </p:sp>
      <p:sp>
        <p:nvSpPr>
          <p:cNvPr id="6" name="timer_7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7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75"/>
          <p:cNvSpPr txBox="1"/>
          <p:nvPr/>
        </p:nvSpPr>
        <p:spPr>
          <a:xfrm rot="90000">
            <a:off x="320040" y="676656"/>
            <a:ext cx="3456432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ASAP! In advance!</a:t>
            </a:r>
            <a:endParaRPr lang="en-US" sz="1500" dirty="0"/>
          </a:p>
        </p:txBody>
      </p:sp>
      <p:sp>
        <p:nvSpPr>
          <p:cNvPr id="9" name="tape_7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77"/>
          <p:cNvSpPr/>
          <p:nvPr/>
        </p:nvSpPr>
        <p:spPr>
          <a:xfrm rot="-720000">
            <a:off x="3209544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7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7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8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 Then use 3 in a sentence about your kitchen.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Abbina. Poi usane 3 in una frase.</a:t>
            </a:r>
            <a:endParaRPr lang="en-US" sz="1200" dirty="0"/>
          </a:p>
        </p:txBody>
      </p:sp>
      <p:sp>
        <p:nvSpPr>
          <p:cNvPr id="14" name="box_81"/>
          <p:cNvSpPr txBox="1"/>
          <p:nvPr/>
        </p:nvSpPr>
        <p:spPr>
          <a:xfrm>
            <a:off x="2788920" y="1371600"/>
            <a:ext cx="2534717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ASAP</a:t>
            </a:r>
            <a:endParaRPr lang="en-US" sz="1250" dirty="0"/>
          </a:p>
        </p:txBody>
      </p:sp>
      <p:sp>
        <p:nvSpPr>
          <p:cNvPr id="15" name="R1_m0"/>
          <p:cNvSpPr txBox="1"/>
          <p:nvPr/>
        </p:nvSpPr>
        <p:spPr>
          <a:xfrm>
            <a:off x="5396789" y="1389888"/>
            <a:ext cx="3427171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possible – subito</a:t>
            </a:r>
            <a:endParaRPr lang="en-US" sz="1150" dirty="0"/>
          </a:p>
        </p:txBody>
      </p:sp>
      <p:sp>
        <p:nvSpPr>
          <p:cNvPr id="16" name="box_82"/>
          <p:cNvSpPr txBox="1"/>
          <p:nvPr/>
        </p:nvSpPr>
        <p:spPr>
          <a:xfrm>
            <a:off x="2788920" y="1901952"/>
            <a:ext cx="2534717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 advance</a:t>
            </a:r>
            <a:endParaRPr lang="en-US" sz="1250" dirty="0"/>
          </a:p>
        </p:txBody>
      </p:sp>
      <p:sp>
        <p:nvSpPr>
          <p:cNvPr id="17" name="R1_m1"/>
          <p:cNvSpPr txBox="1"/>
          <p:nvPr/>
        </p:nvSpPr>
        <p:spPr>
          <a:xfrm>
            <a:off x="5396789" y="1920240"/>
            <a:ext cx="3427171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– in anticipo</a:t>
            </a:r>
            <a:endParaRPr lang="en-US" sz="1150" dirty="0"/>
          </a:p>
        </p:txBody>
      </p:sp>
      <p:sp>
        <p:nvSpPr>
          <p:cNvPr id="18" name="box_83"/>
          <p:cNvSpPr txBox="1"/>
          <p:nvPr/>
        </p:nvSpPr>
        <p:spPr>
          <a:xfrm>
            <a:off x="2788920" y="2432304"/>
            <a:ext cx="2534717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overnight</a:t>
            </a:r>
            <a:endParaRPr lang="en-US" sz="1250" dirty="0"/>
          </a:p>
        </p:txBody>
      </p:sp>
      <p:sp>
        <p:nvSpPr>
          <p:cNvPr id="19" name="R1_m2"/>
          <p:cNvSpPr txBox="1"/>
          <p:nvPr/>
        </p:nvSpPr>
        <p:spPr>
          <a:xfrm>
            <a:off x="5396789" y="2450592"/>
            <a:ext cx="3427171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night – per tutta la notte</a:t>
            </a:r>
            <a:endParaRPr lang="en-US" sz="1150" dirty="0"/>
          </a:p>
        </p:txBody>
      </p:sp>
      <p:sp>
        <p:nvSpPr>
          <p:cNvPr id="20" name="box_84"/>
          <p:cNvSpPr txBox="1"/>
          <p:nvPr/>
        </p:nvSpPr>
        <p:spPr>
          <a:xfrm>
            <a:off x="2788920" y="2962656"/>
            <a:ext cx="2534717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at the last minute</a:t>
            </a:r>
            <a:endParaRPr lang="en-US" sz="1250" dirty="0"/>
          </a:p>
        </p:txBody>
      </p:sp>
      <p:sp>
        <p:nvSpPr>
          <p:cNvPr id="21" name="R1_m3"/>
          <p:cNvSpPr txBox="1"/>
          <p:nvPr/>
        </p:nvSpPr>
        <p:spPr>
          <a:xfrm>
            <a:off x="5396789" y="2980944"/>
            <a:ext cx="3427171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late – all'ultimo momento</a:t>
            </a:r>
            <a:endParaRPr lang="en-US" sz="1150" dirty="0"/>
          </a:p>
        </p:txBody>
      </p:sp>
      <p:sp>
        <p:nvSpPr>
          <p:cNvPr id="22" name="box_85"/>
          <p:cNvSpPr txBox="1"/>
          <p:nvPr/>
        </p:nvSpPr>
        <p:spPr>
          <a:xfrm>
            <a:off x="2788920" y="3493008"/>
            <a:ext cx="2534717" cy="4572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half an hour</a:t>
            </a:r>
            <a:endParaRPr lang="en-US" sz="1250" dirty="0"/>
          </a:p>
        </p:txBody>
      </p:sp>
      <p:sp>
        <p:nvSpPr>
          <p:cNvPr id="23" name="R1_m4"/>
          <p:cNvSpPr txBox="1"/>
          <p:nvPr/>
        </p:nvSpPr>
        <p:spPr>
          <a:xfrm>
            <a:off x="5396789" y="3511296"/>
            <a:ext cx="3427171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150" dirty="0"/>
          </a:p>
        </p:txBody>
      </p:sp>
      <p:sp>
        <p:nvSpPr>
          <p:cNvPr id="24" name="box_86"/>
          <p:cNvSpPr txBox="1"/>
          <p:nvPr/>
        </p:nvSpPr>
        <p:spPr>
          <a:xfrm>
            <a:off x="2788920" y="4023360"/>
            <a:ext cx="2534717" cy="45720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quarter of an hour</a:t>
            </a:r>
            <a:endParaRPr lang="en-US" sz="1250" dirty="0"/>
          </a:p>
        </p:txBody>
      </p:sp>
      <p:sp>
        <p:nvSpPr>
          <p:cNvPr id="25" name="R1_m5"/>
          <p:cNvSpPr txBox="1"/>
          <p:nvPr/>
        </p:nvSpPr>
        <p:spPr>
          <a:xfrm>
            <a:off x="5396789" y="4041648"/>
            <a:ext cx="3427171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8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can / can't / could</a:t>
            </a:r>
            <a:endParaRPr lang="en-US" sz="900" dirty="0"/>
          </a:p>
        </p:txBody>
      </p:sp>
      <p:sp>
        <p:nvSpPr>
          <p:cNvPr id="6" name="timer_9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9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92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you make bread?</a:t>
            </a:r>
            <a:endParaRPr lang="en-US" sz="1500" dirty="0"/>
          </a:p>
        </p:txBody>
      </p:sp>
      <p:sp>
        <p:nvSpPr>
          <p:cNvPr id="9" name="tape_9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94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h_9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Ability</a:t>
            </a:r>
            <a:endParaRPr lang="en-US" sz="1300" dirty="0"/>
          </a:p>
        </p:txBody>
      </p:sp>
      <p:sp>
        <p:nvSpPr>
          <p:cNvPr id="12" name="rb_9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make fresh pasta.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can't speak French.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fillet a fish?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can. / No, I can't.</a:t>
            </a:r>
            <a:endParaRPr lang="en-US" sz="1350" dirty="0"/>
          </a:p>
        </p:txBody>
      </p:sp>
      <p:sp>
        <p:nvSpPr>
          <p:cNvPr id="13" name="rh_9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Permission</a:t>
            </a:r>
            <a:endParaRPr lang="en-US" sz="1300" dirty="0"/>
          </a:p>
        </p:txBody>
      </p:sp>
      <p:sp>
        <p:nvSpPr>
          <p:cNvPr id="14" name="rb_9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take my break now?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use your phone in the kitchen.</a:t>
            </a:r>
            <a:endParaRPr lang="en-US" sz="1350" dirty="0"/>
          </a:p>
        </p:txBody>
      </p:sp>
      <p:sp>
        <p:nvSpPr>
          <p:cNvPr id="15" name="rh_9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Requests</a:t>
            </a:r>
            <a:endParaRPr lang="en-US" sz="1300" dirty="0"/>
          </a:p>
        </p:txBody>
      </p:sp>
      <p:sp>
        <p:nvSpPr>
          <p:cNvPr id="16" name="rb_10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 me?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pass the salt, please?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= more polite</a:t>
            </a:r>
            <a:endParaRPr lang="en-US" sz="1350" dirty="0"/>
          </a:p>
        </p:txBody>
      </p:sp>
      <p:sp>
        <p:nvSpPr>
          <p:cNvPr id="17" name="watch_10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can to cook → ✓ I can cook.     ✗ Do you can…? → ✓ Can you…?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0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900" dirty="0"/>
          </a:p>
        </p:txBody>
      </p:sp>
      <p:sp>
        <p:nvSpPr>
          <p:cNvPr id="6" name="timer_10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0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107"/>
          <p:cNvSpPr txBox="1"/>
          <p:nvPr/>
        </p:nvSpPr>
        <p:spPr>
          <a:xfrm rot="90000">
            <a:off x="320040" y="676656"/>
            <a:ext cx="397764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can, can't or could?</a:t>
            </a:r>
            <a:endParaRPr lang="en-US" sz="1500" dirty="0"/>
          </a:p>
        </p:txBody>
      </p:sp>
      <p:sp>
        <p:nvSpPr>
          <p:cNvPr id="9" name="tape_10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09"/>
          <p:cNvSpPr/>
          <p:nvPr/>
        </p:nvSpPr>
        <p:spPr>
          <a:xfrm rot="-720000">
            <a:off x="373075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1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1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3" name="signB_11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can · can't · could.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can / can't / could.</a:t>
            </a:r>
            <a:endParaRPr lang="en-US" sz="1250" dirty="0"/>
          </a:p>
        </p:txBody>
      </p:sp>
      <p:sp>
        <p:nvSpPr>
          <p:cNvPr id="14" name="box_113"/>
          <p:cNvSpPr txBox="1"/>
          <p:nvPr/>
        </p:nvSpPr>
        <p:spPr>
          <a:xfrm>
            <a:off x="2788920" y="1371600"/>
            <a:ext cx="1949318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___ you pass me the salt, please?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4793102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/ Can</a:t>
            </a:r>
            <a:endParaRPr lang="en-US" sz="1200" dirty="0"/>
          </a:p>
        </p:txBody>
      </p:sp>
      <p:sp>
        <p:nvSpPr>
          <p:cNvPr id="16" name="box_114"/>
          <p:cNvSpPr txBox="1"/>
          <p:nvPr/>
        </p:nvSpPr>
        <p:spPr>
          <a:xfrm>
            <a:off x="5870448" y="1371600"/>
            <a:ext cx="1949318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 ___ make bread – I never learnt.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7874630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endParaRPr lang="en-US" sz="1200" dirty="0"/>
          </a:p>
        </p:txBody>
      </p:sp>
      <p:sp>
        <p:nvSpPr>
          <p:cNvPr id="18" name="box_115"/>
          <p:cNvSpPr txBox="1"/>
          <p:nvPr/>
        </p:nvSpPr>
        <p:spPr>
          <a:xfrm>
            <a:off x="2788920" y="2368296"/>
            <a:ext cx="1949318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___ I leave early today?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4793102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200" dirty="0"/>
          </a:p>
        </p:txBody>
      </p:sp>
      <p:sp>
        <p:nvSpPr>
          <p:cNvPr id="20" name="box_116"/>
          <p:cNvSpPr txBox="1"/>
          <p:nvPr/>
        </p:nvSpPr>
        <p:spPr>
          <a:xfrm>
            <a:off x="5870448" y="2368296"/>
            <a:ext cx="1949318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She ___ cook for 200 people!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7874630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200" dirty="0"/>
          </a:p>
        </p:txBody>
      </p:sp>
      <p:sp>
        <p:nvSpPr>
          <p:cNvPr id="22" name="box_117"/>
          <p:cNvSpPr txBox="1"/>
          <p:nvPr/>
        </p:nvSpPr>
        <p:spPr>
          <a:xfrm>
            <a:off x="2788920" y="3364992"/>
            <a:ext cx="1949318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 ___ smoke in the kitchen!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4793102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endParaRPr lang="en-US" sz="1200" dirty="0"/>
          </a:p>
        </p:txBody>
      </p:sp>
      <p:sp>
        <p:nvSpPr>
          <p:cNvPr id="24" name="box_118"/>
          <p:cNvSpPr txBox="1"/>
          <p:nvPr/>
        </p:nvSpPr>
        <p:spPr>
          <a:xfrm>
            <a:off x="5870448" y="3364992"/>
            <a:ext cx="1949318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___ you help me with this box?</a:t>
            </a:r>
            <a:endParaRPr lang="en-US" sz="1350" dirty="0"/>
          </a:p>
        </p:txBody>
      </p:sp>
      <p:sp>
        <p:nvSpPr>
          <p:cNvPr id="25" name="R1_a5"/>
          <p:cNvSpPr txBox="1"/>
          <p:nvPr/>
        </p:nvSpPr>
        <p:spPr>
          <a:xfrm>
            <a:off x="7874630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/ Can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2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temperature log</a:t>
            </a:r>
            <a:endParaRPr lang="en-US" sz="900" dirty="0"/>
          </a:p>
        </p:txBody>
      </p:sp>
      <p:sp>
        <p:nvSpPr>
          <p:cNvPr id="6" name="timer_12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2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124"/>
          <p:cNvSpPr txBox="1"/>
          <p:nvPr/>
        </p:nvSpPr>
        <p:spPr>
          <a:xfrm rot="90000">
            <a:off x="320040" y="676656"/>
            <a:ext cx="2587752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Fridge check</a:t>
            </a:r>
            <a:endParaRPr lang="en-US" sz="1500" dirty="0"/>
          </a:p>
        </p:txBody>
      </p:sp>
      <p:sp>
        <p:nvSpPr>
          <p:cNvPr id="9" name="tape_12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26"/>
          <p:cNvSpPr/>
          <p:nvPr/>
        </p:nvSpPr>
        <p:spPr>
          <a:xfrm rot="-720000">
            <a:off x="2340864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sign_127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temperature log. Answer the questions.  </a:t>
            </a:r>
            <a:pPr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registro delle temperature e rispondi.</a:t>
            </a:r>
            <a:endParaRPr lang="en-US" sz="1000" dirty="0"/>
          </a:p>
        </p:txBody>
      </p:sp>
      <p:sp>
        <p:nvSpPr>
          <p:cNvPr id="12" name="rtext_128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Temperature log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7.00  Fridge 1: 3°C · Fridge 2: 4°C · Freezer: –18°C ✓ (Marco)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15.00  Fridge 1: 4°C · Fridge 2: 9°C ✗ Door open! Closed it. 15.30: 5°C ✓ (Anna)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7.00  Fridge 1: 3°C · Fridge 2: 4°C · Freezer: –12°C ✗ Called the engineer. (Marco)</a:t>
            </a:r>
            <a:endParaRPr lang="en-US" sz="1300" dirty="0"/>
          </a:p>
        </p:txBody>
      </p:sp>
      <p:sp>
        <p:nvSpPr>
          <p:cNvPr id="13" name="box_129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Which fridge had a problem on Monday?</a:t>
            </a:r>
            <a:endParaRPr lang="en-US" sz="1150" dirty="0"/>
          </a:p>
        </p:txBody>
      </p:sp>
      <p:sp>
        <p:nvSpPr>
          <p:cNvPr id="14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2 – 9°C</a:t>
            </a:r>
            <a:endParaRPr lang="en-US" sz="1050" dirty="0"/>
          </a:p>
        </p:txBody>
      </p:sp>
      <p:sp>
        <p:nvSpPr>
          <p:cNvPr id="15" name="box_130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Why?</a:t>
            </a:r>
            <a:endParaRPr lang="en-US" sz="1150" dirty="0"/>
          </a:p>
        </p:txBody>
      </p:sp>
      <p:sp>
        <p:nvSpPr>
          <p:cNvPr id="16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was open</a:t>
            </a:r>
            <a:endParaRPr lang="en-US" sz="1050" dirty="0"/>
          </a:p>
        </p:txBody>
      </p:sp>
      <p:sp>
        <p:nvSpPr>
          <p:cNvPr id="17" name="box_131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was it at 15.30?</a:t>
            </a:r>
            <a:endParaRPr lang="en-US" sz="1150" dirty="0"/>
          </a:p>
        </p:txBody>
      </p:sp>
      <p:sp>
        <p:nvSpPr>
          <p:cNvPr id="18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5°C</a:t>
            </a:r>
            <a:endParaRPr lang="en-US" sz="1050" dirty="0"/>
          </a:p>
        </p:txBody>
      </p:sp>
      <p:sp>
        <p:nvSpPr>
          <p:cNvPr id="19" name="box_132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was wrong with the freezer?</a:t>
            </a:r>
            <a:endParaRPr lang="en-US" sz="1150" dirty="0"/>
          </a:p>
        </p:txBody>
      </p:sp>
      <p:sp>
        <p:nvSpPr>
          <p:cNvPr id="20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–12°C (should be –18°C)</a:t>
            </a:r>
            <a:endParaRPr lang="en-US" sz="1050" dirty="0"/>
          </a:p>
        </p:txBody>
      </p:sp>
      <p:sp>
        <p:nvSpPr>
          <p:cNvPr id="21" name="box_133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did Marco do?</a:t>
            </a:r>
            <a:endParaRPr lang="en-US" sz="1150" dirty="0"/>
          </a:p>
        </p:txBody>
      </p:sp>
      <p:sp>
        <p:nvSpPr>
          <p:cNvPr id="22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engineer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3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 · Maths challenge</a:t>
            </a:r>
            <a:endParaRPr lang="en-US" sz="900" dirty="0"/>
          </a:p>
        </p:txBody>
      </p:sp>
      <p:sp>
        <p:nvSpPr>
          <p:cNvPr id="6" name="timer_13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3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139"/>
          <p:cNvSpPr txBox="1"/>
          <p:nvPr/>
        </p:nvSpPr>
        <p:spPr>
          <a:xfrm rot="90000">
            <a:off x="320040" y="676656"/>
            <a:ext cx="3456432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 the recipe!</a:t>
            </a:r>
            <a:endParaRPr lang="en-US" sz="1500" dirty="0"/>
          </a:p>
        </p:txBody>
      </p:sp>
      <p:sp>
        <p:nvSpPr>
          <p:cNvPr id="9" name="tape_14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41"/>
          <p:cNvSpPr/>
          <p:nvPr/>
        </p:nvSpPr>
        <p:spPr>
          <a:xfrm rot="-720000">
            <a:off x="3209544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4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4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14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is for 4. Make it for 12! Say it in full.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ricetta è per 4. Falla per 12! Dillo per intero.</a:t>
            </a:r>
            <a:endParaRPr lang="en-US" sz="1250" dirty="0"/>
          </a:p>
        </p:txBody>
      </p:sp>
      <p:sp>
        <p:nvSpPr>
          <p:cNvPr id="14" name="box_145"/>
          <p:cNvSpPr txBox="1"/>
          <p:nvPr/>
        </p:nvSpPr>
        <p:spPr>
          <a:xfrm>
            <a:off x="2788920" y="1371600"/>
            <a:ext cx="301752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200 g pasta → ?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5861304" y="1408176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hundred grams of pasta</a:t>
            </a:r>
            <a:endParaRPr lang="en-US" sz="1250" dirty="0"/>
          </a:p>
        </p:txBody>
      </p:sp>
      <p:sp>
        <p:nvSpPr>
          <p:cNvPr id="16" name="box_146"/>
          <p:cNvSpPr txBox="1"/>
          <p:nvPr/>
        </p:nvSpPr>
        <p:spPr>
          <a:xfrm>
            <a:off x="2788920" y="2055571"/>
            <a:ext cx="301752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2 eggs → ?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5861304" y="2092147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eggs</a:t>
            </a:r>
            <a:endParaRPr lang="en-US" sz="1250" dirty="0"/>
          </a:p>
        </p:txBody>
      </p:sp>
      <p:sp>
        <p:nvSpPr>
          <p:cNvPr id="18" name="box_147"/>
          <p:cNvSpPr txBox="1"/>
          <p:nvPr/>
        </p:nvSpPr>
        <p:spPr>
          <a:xfrm>
            <a:off x="2788920" y="2739542"/>
            <a:ext cx="301752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100 ml cream → ?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5861304" y="2776118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hundred millilitres of cream</a:t>
            </a:r>
            <a:endParaRPr lang="en-US" sz="1250" dirty="0"/>
          </a:p>
        </p:txBody>
      </p:sp>
      <p:sp>
        <p:nvSpPr>
          <p:cNvPr id="20" name="box_148"/>
          <p:cNvSpPr txBox="1"/>
          <p:nvPr/>
        </p:nvSpPr>
        <p:spPr>
          <a:xfrm>
            <a:off x="2788920" y="3423514"/>
            <a:ext cx="301752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50 g parmesan → ?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5861304" y="3460090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and fifty grams of parmesan</a:t>
            </a:r>
            <a:endParaRPr lang="en-US" sz="1250" dirty="0"/>
          </a:p>
        </p:txBody>
      </p:sp>
      <p:sp>
        <p:nvSpPr>
          <p:cNvPr id="22" name="box_149"/>
          <p:cNvSpPr txBox="1"/>
          <p:nvPr/>
        </p:nvSpPr>
        <p:spPr>
          <a:xfrm>
            <a:off x="2788920" y="4107485"/>
            <a:ext cx="301752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1 tbsp olive oil → ?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5861304" y="4144061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tablespoons of olive oil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Listening to numbers</a:t>
            </a:r>
            <a:endParaRPr lang="en-US" sz="900" dirty="0"/>
          </a:p>
        </p:txBody>
      </p:sp>
      <p:sp>
        <p:nvSpPr>
          <p:cNvPr id="6" name="timer_1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8" name="title_155"/>
          <p:cNvSpPr txBox="1"/>
          <p:nvPr/>
        </p:nvSpPr>
        <p:spPr>
          <a:xfrm rot="90000">
            <a:off x="320040" y="676656"/>
            <a:ext cx="276148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bingo</a:t>
            </a:r>
            <a:endParaRPr lang="en-US" sz="1500" dirty="0"/>
          </a:p>
        </p:txBody>
      </p:sp>
      <p:sp>
        <p:nvSpPr>
          <p:cNvPr id="9" name="tape_15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57"/>
          <p:cNvSpPr/>
          <p:nvPr/>
        </p:nvSpPr>
        <p:spPr>
          <a:xfrm rot="-720000">
            <a:off x="251460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5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5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16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numbers. Cross them out!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 i numeri e cancellali!</a:t>
            </a:r>
            <a:endParaRPr lang="en-US" sz="1250" dirty="0"/>
          </a:p>
        </p:txBody>
      </p:sp>
      <p:sp>
        <p:nvSpPr>
          <p:cNvPr id="14" name="iconBack_16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62" descr="d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163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164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3 × 3 grid. Write 9 kitchen numbers: 180°C, 250 g, 15 minutes, 2 litres…</a:t>
            </a:r>
            <a:endParaRPr lang="en-US" sz="1300" dirty="0"/>
          </a:p>
        </p:txBody>
      </p:sp>
      <p:sp>
        <p:nvSpPr>
          <p:cNvPr id="18" name="num_165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166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(then a chef) reads out numbers.</a:t>
            </a:r>
            <a:endParaRPr lang="en-US" sz="1300" dirty="0"/>
          </a:p>
        </p:txBody>
      </p:sp>
      <p:sp>
        <p:nvSpPr>
          <p:cNvPr id="20" name="num_167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168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the numbers you hear.</a:t>
            </a:r>
            <a:endParaRPr lang="en-US" sz="1300" dirty="0"/>
          </a:p>
        </p:txBody>
      </p:sp>
      <p:sp>
        <p:nvSpPr>
          <p:cNvPr id="22" name="num_169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170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complete a line shouts 'Service!' – and reads the line back correctly to win.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7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7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6" name="title_174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17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8" name="tape_176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sub_177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178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say weights, temperatures and times.</a:t>
            </a:r>
            <a:endParaRPr lang="en-US" sz="1350" dirty="0"/>
          </a:p>
        </p:txBody>
      </p:sp>
      <p:sp>
        <p:nvSpPr>
          <p:cNvPr id="11" name="faces_179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180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ask How much? How many? How long?</a:t>
            </a:r>
            <a:endParaRPr lang="en-US" sz="1350" dirty="0"/>
          </a:p>
        </p:txBody>
      </p:sp>
      <p:sp>
        <p:nvSpPr>
          <p:cNvPr id="13" name="faces_181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182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can / can't / could.</a:t>
            </a:r>
            <a:endParaRPr lang="en-US" sz="1350" dirty="0"/>
          </a:p>
        </p:txBody>
      </p:sp>
      <p:sp>
        <p:nvSpPr>
          <p:cNvPr id="15" name="faces_183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184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6 'Can you…?' questions about cooking skills. Ask a colleague at work!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7" name="stamp_185"/>
          <p:cNvSpPr txBox="1"/>
          <p:nvPr/>
        </p:nvSpPr>
        <p:spPr>
          <a:xfrm>
            <a:off x="365760" y="365760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L7 · Health &amp; safety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8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Skills</a:t>
            </a:r>
            <a:endParaRPr lang="en-US" sz="900" dirty="0"/>
          </a:p>
        </p:txBody>
      </p:sp>
      <p:sp>
        <p:nvSpPr>
          <p:cNvPr id="6" name="timer_18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190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19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9" name="title_192"/>
          <p:cNvSpPr txBox="1"/>
          <p:nvPr/>
        </p:nvSpPr>
        <p:spPr>
          <a:xfrm rot="90000">
            <a:off x="320040" y="676656"/>
            <a:ext cx="206654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you…?</a:t>
            </a:r>
            <a:endParaRPr lang="en-US" sz="1500" dirty="0"/>
          </a:p>
        </p:txBody>
      </p:sp>
      <p:sp>
        <p:nvSpPr>
          <p:cNvPr id="10" name="tape_19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194"/>
          <p:cNvSpPr/>
          <p:nvPr/>
        </p:nvSpPr>
        <p:spPr>
          <a:xfrm rot="-720000">
            <a:off x="181965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19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19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19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partner. If YES, ask a follow-up question!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 al collega. Se SÌ, fai un'altra domanda!</a:t>
            </a:r>
            <a:endParaRPr lang="en-US" sz="1250" dirty="0"/>
          </a:p>
        </p:txBody>
      </p:sp>
      <p:sp>
        <p:nvSpPr>
          <p:cNvPr id="15" name="box_198"/>
          <p:cNvSpPr txBox="1"/>
          <p:nvPr/>
        </p:nvSpPr>
        <p:spPr>
          <a:xfrm>
            <a:off x="2788920" y="1371600"/>
            <a:ext cx="2953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make fresh pasta by hand?</a:t>
            </a:r>
            <a:endParaRPr lang="en-US" sz="1350" dirty="0"/>
          </a:p>
        </p:txBody>
      </p:sp>
      <p:sp>
        <p:nvSpPr>
          <p:cNvPr id="16" name="box_199"/>
          <p:cNvSpPr txBox="1"/>
          <p:nvPr/>
        </p:nvSpPr>
        <p:spPr>
          <a:xfrm>
            <a:off x="5870448" y="1371600"/>
            <a:ext cx="2953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fillet a whole fish?</a:t>
            </a:r>
            <a:endParaRPr lang="en-US" sz="1350" dirty="0"/>
          </a:p>
        </p:txBody>
      </p:sp>
      <p:sp>
        <p:nvSpPr>
          <p:cNvPr id="17" name="box_200"/>
          <p:cNvSpPr txBox="1"/>
          <p:nvPr/>
        </p:nvSpPr>
        <p:spPr>
          <a:xfrm>
            <a:off x="2788920" y="2368296"/>
            <a:ext cx="2953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make bread without a recipe?</a:t>
            </a:r>
            <a:endParaRPr lang="en-US" sz="1350" dirty="0"/>
          </a:p>
        </p:txBody>
      </p:sp>
      <p:sp>
        <p:nvSpPr>
          <p:cNvPr id="18" name="box_201"/>
          <p:cNvSpPr txBox="1"/>
          <p:nvPr/>
        </p:nvSpPr>
        <p:spPr>
          <a:xfrm>
            <a:off x="5870448" y="2368296"/>
            <a:ext cx="295351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cook a steak perfectly rare?</a:t>
            </a:r>
            <a:endParaRPr lang="en-US" sz="1350" dirty="0"/>
          </a:p>
        </p:txBody>
      </p:sp>
      <p:sp>
        <p:nvSpPr>
          <p:cNvPr id="19" name="box_202"/>
          <p:cNvSpPr txBox="1"/>
          <p:nvPr/>
        </p:nvSpPr>
        <p:spPr>
          <a:xfrm>
            <a:off x="2788920" y="3364992"/>
            <a:ext cx="295351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work 14 hours without a break?</a:t>
            </a:r>
            <a:endParaRPr lang="en-US" sz="1350" dirty="0"/>
          </a:p>
        </p:txBody>
      </p:sp>
      <p:sp>
        <p:nvSpPr>
          <p:cNvPr id="20" name="box_203"/>
          <p:cNvSpPr txBox="1"/>
          <p:nvPr/>
        </p:nvSpPr>
        <p:spPr>
          <a:xfrm>
            <a:off x="5870448" y="3364992"/>
            <a:ext cx="295351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cook for 200 people?</a:t>
            </a:r>
            <a:endParaRPr lang="en-US" sz="1350" dirty="0"/>
          </a:p>
        </p:txBody>
      </p:sp>
      <p:sp>
        <p:nvSpPr>
          <p:cNvPr id="21" name="sticky_204"/>
          <p:cNvSpPr txBox="1"/>
          <p:nvPr/>
        </p:nvSpPr>
        <p:spPr>
          <a:xfrm rot="-120000">
            <a:off x="411480" y="397764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can. → Really? How long does it take?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0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Quiz · estimating</a:t>
            </a:r>
            <a:endParaRPr lang="en-US" sz="900" dirty="0"/>
          </a:p>
        </p:txBody>
      </p:sp>
      <p:sp>
        <p:nvSpPr>
          <p:cNvPr id="6" name="timer_20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0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1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L6</a:t>
            </a:r>
            <a:endParaRPr lang="en-US" sz="1000" dirty="0"/>
          </a:p>
        </p:txBody>
      </p:sp>
      <p:sp>
        <p:nvSpPr>
          <p:cNvPr id="9" name="title_211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Guess the number</a:t>
            </a:r>
            <a:endParaRPr lang="en-US" sz="1500" dirty="0"/>
          </a:p>
        </p:txBody>
      </p:sp>
      <p:sp>
        <p:nvSpPr>
          <p:cNvPr id="10" name="tape_21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213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21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1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4" name="signB_21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Guess! Closest answer wins a point.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Indovina! La risposta più vicina vince un punto.</a:t>
            </a:r>
            <a:endParaRPr lang="en-US" sz="1250" dirty="0"/>
          </a:p>
        </p:txBody>
      </p:sp>
      <p:sp>
        <p:nvSpPr>
          <p:cNvPr id="15" name="box_217"/>
          <p:cNvSpPr txBox="1"/>
          <p:nvPr/>
        </p:nvSpPr>
        <p:spPr>
          <a:xfrm>
            <a:off x="2788920" y="1371600"/>
            <a:ext cx="1949318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Water boils at… °C (at sea level)</a:t>
            </a:r>
            <a:endParaRPr lang="en-US" sz="1350" dirty="0"/>
          </a:p>
        </p:txBody>
      </p:sp>
      <p:sp>
        <p:nvSpPr>
          <p:cNvPr id="16" name="R1_a0"/>
          <p:cNvSpPr txBox="1"/>
          <p:nvPr/>
        </p:nvSpPr>
        <p:spPr>
          <a:xfrm>
            <a:off x="4793102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100°C</a:t>
            </a:r>
            <a:endParaRPr lang="en-US" sz="1200" dirty="0"/>
          </a:p>
        </p:txBody>
      </p:sp>
      <p:sp>
        <p:nvSpPr>
          <p:cNvPr id="17" name="box_218"/>
          <p:cNvSpPr txBox="1"/>
          <p:nvPr/>
        </p:nvSpPr>
        <p:spPr>
          <a:xfrm>
            <a:off x="5870448" y="1371600"/>
            <a:ext cx="1949318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freezer should be at…</a:t>
            </a:r>
            <a:endParaRPr lang="en-US" sz="1350" dirty="0"/>
          </a:p>
        </p:txBody>
      </p:sp>
      <p:sp>
        <p:nvSpPr>
          <p:cNvPr id="18" name="R1_a1"/>
          <p:cNvSpPr txBox="1"/>
          <p:nvPr/>
        </p:nvSpPr>
        <p:spPr>
          <a:xfrm>
            <a:off x="7874630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–18°C or colder</a:t>
            </a:r>
            <a:endParaRPr lang="en-US" sz="1200" dirty="0"/>
          </a:p>
        </p:txBody>
      </p:sp>
      <p:sp>
        <p:nvSpPr>
          <p:cNvPr id="19" name="box_219"/>
          <p:cNvSpPr txBox="1"/>
          <p:nvPr/>
        </p:nvSpPr>
        <p:spPr>
          <a:xfrm>
            <a:off x="2788920" y="2368296"/>
            <a:ext cx="1949318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Teaspoons in a tablespoon?</a:t>
            </a:r>
            <a:endParaRPr lang="en-US" sz="1350" dirty="0"/>
          </a:p>
        </p:txBody>
      </p:sp>
      <p:sp>
        <p:nvSpPr>
          <p:cNvPr id="20" name="R1_a2"/>
          <p:cNvSpPr txBox="1"/>
          <p:nvPr/>
        </p:nvSpPr>
        <p:spPr>
          <a:xfrm>
            <a:off x="4793102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box_220"/>
          <p:cNvSpPr txBox="1"/>
          <p:nvPr/>
        </p:nvSpPr>
        <p:spPr>
          <a:xfrm>
            <a:off x="5870448" y="2368296"/>
            <a:ext cx="1949318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Grams in a pound (lb)?</a:t>
            </a:r>
            <a:endParaRPr lang="en-US" sz="1350" dirty="0"/>
          </a:p>
        </p:txBody>
      </p:sp>
      <p:sp>
        <p:nvSpPr>
          <p:cNvPr id="22" name="R1_a3"/>
          <p:cNvSpPr txBox="1"/>
          <p:nvPr/>
        </p:nvSpPr>
        <p:spPr>
          <a:xfrm>
            <a:off x="7874630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454 g</a:t>
            </a:r>
            <a:endParaRPr lang="en-US" sz="1200" dirty="0"/>
          </a:p>
        </p:txBody>
      </p:sp>
      <p:sp>
        <p:nvSpPr>
          <p:cNvPr id="23" name="box_221"/>
          <p:cNvSpPr txBox="1"/>
          <p:nvPr/>
        </p:nvSpPr>
        <p:spPr>
          <a:xfrm>
            <a:off x="2788920" y="3364992"/>
            <a:ext cx="1949318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Minutes in 'a quarter of an hour'?</a:t>
            </a:r>
            <a:endParaRPr lang="en-US" sz="1350" dirty="0"/>
          </a:p>
        </p:txBody>
      </p:sp>
      <p:sp>
        <p:nvSpPr>
          <p:cNvPr id="24" name="R1_a4"/>
          <p:cNvSpPr txBox="1"/>
          <p:nvPr/>
        </p:nvSpPr>
        <p:spPr>
          <a:xfrm>
            <a:off x="4793102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5" name="box_222"/>
          <p:cNvSpPr txBox="1"/>
          <p:nvPr/>
        </p:nvSpPr>
        <p:spPr>
          <a:xfrm>
            <a:off x="5870448" y="3364992"/>
            <a:ext cx="1949318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fridge should be at…</a:t>
            </a:r>
            <a:endParaRPr lang="en-US" sz="1350" dirty="0"/>
          </a:p>
        </p:txBody>
      </p:sp>
      <p:sp>
        <p:nvSpPr>
          <p:cNvPr id="26" name="R1_a5"/>
          <p:cNvSpPr txBox="1"/>
          <p:nvPr/>
        </p:nvSpPr>
        <p:spPr>
          <a:xfrm>
            <a:off x="7874630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5°C or below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L6 Numbers &amp; time</dc:title>
  <dc:subject>PptxGenJS Presentation</dc:subject>
  <dc:creator>London Language School</dc:creator>
  <cp:lastModifiedBy>London Language School</cp:lastModifiedBy>
  <cp:revision>1</cp:revision>
  <dcterms:created xsi:type="dcterms:W3CDTF">2026-10-05T06:50:57Z</dcterms:created>
  <dcterms:modified xsi:type="dcterms:W3CDTF">2026-10-05T06:50:57Z</dcterms:modified>
</cp:coreProperties>
</file>