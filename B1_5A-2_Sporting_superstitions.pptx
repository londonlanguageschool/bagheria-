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5A PART 2 (60 min) · SB pp.48–49. Aims: listen to an interview with a football referee (Part 1 and 2); narrative tenses – past simple, past continuous, past perfect (Grammar Bank 5A p.140); read and retell stories of sportsmanship (Communication Good sportsmanship); tell anecdotes. Writing p.118 (a story) is optional homework. Timing: cover 2 · revision 5 · listening 5.9 9 · listening 5.10 6 · Brownlee story 6 · rule 6 · practice 6 · Communication 7 · anecdotes 7 · exit 3 = 57 min. Click 1: question; ask 'What do you think happened?' before click 2.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5A part 1 (5 min). VARIATION: sound intruder (odd one out by sound) + a vocabulary twist in item 6. Pairs whisper the words to each other, then decide. Click once per item. Answers from audio 5.7 (horse /ɔː/: ball, caught, course, court, draw, fought, score, sport, warm up · bird /ɜː/: circuit, hurt, serve, shirt, work out, world, worse). Remind them: -or after w = /ɜː/ (work, world, worse). Bonus point: after each item, the pair must say which sport goes with the place / word (court → tennis, circuit → Formula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(9 min). 5a (2 min, whole class): 'Do you think being a football referee is a difficult job? Why (not)?' (the photo: Juan Antonio Fernández Marín refereed 200 league and 50 international matches). TG EXTRA SUPPORT: are referees a) well paid, b) respected, c) unpopular? VARIATION: prediction + negative experiences. 5b: 'You're going to listen to an interview with an ex-Champions League football referee from Spain. Listen to Part 1 and choose a, b, or c.' The slide has the book's questions and options. Play 5.9 once, pairs compare, play again if needed. Click 1 – TG ANSWERS: 1 c · 2 b · 3 b · 4 a · 5 a. Details from the audio script, to explain the answers: he was always attracted by the idea (his father was a referee, but that didn't influence him – the opposite); he was invited to join the Referees' Federation at 14; he was a very good handball player; most exciting: impossible to pick one – he remembers his first Real Madrid–Barcelona match; worst: at 16, after the home team lost, he was attacked and injured by players and spectators (a mother with a baby tried to hit him!); more cheating because there's so much money and the game is much faster; simulation = a player pretends to have been fouled, e.g. falls over in the penalty area when nobody has touched him – cheating the referee, the other team AND the spectators.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(6 min). 5c: before listening, pairs predict what the referee is going to say (VARIATION: prediction – they write their guesses in pencil). 5d: play 5.10 once, then again pausing after each answer. Click 1 for answers (TG / audio script): 1 right decisions · 2 fast (everything happens at 100 km an hour) · 3 rules ('things aren't black and white') · 4 exceptions (fair play does exist) · 5 with the ball · 6 typical superstar (his behaviour has always been very normal). The slide sentences 1–6 are the book's wording (SB 5c). 5e (if time, 1 min) – the book's questions for small groups: 1 Do you agree with the referee when he says, 'I think fair play does exist – the players who cheat are the exceptions.' Is it also true of other sports? 2 Are there any sportspeople in your country who are well known for cheating? What kind of things do they do? 3 Do you think new technology makes a referee's job easier or more difficult? Why? 4 Would you like to be a sports referee (or umpire)? Why (not)? Choose one for the whole class (fair play = playing honestly, according to the rules). The full discussion is an EXTRA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PRESENTATION (6 min). 6a: look at the title and the photo – what's it about? Students read the article on p.48 (adapted on the slide, facts and verbs kept) and answer: He helped his brother, and as a result, he didn't win the race (TG). 6b: students find the verbs in paragraph 2. Click 1 for all answers (TG): past continuous – he was winning; his brother, Alistair, was running · past perfect – he'd gone very fast; he hadn't drunk enough; Jonny had stopped; who had been behind them. Why? Past continuous = actions in progress when the main events happened; past perfect = things that happened before the main events. VARIATION: curiosity gap (cover question: 'He was winning. Then…?'). Quick reaction: Would YOU have done the same? (Alistair: 'It was a natural human reaction.')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(6 min). Students open Grammar Bank 5A p.140; play 5.11–5.14 to listen and repeat (copy the rhythm). Examples on the slide are from these tracks. TG grammar notes: these three tenses are the ones we normally use to tell a story / anecdote. Consecutive actions → past simple; we combine it with the past continuous (background, action in progress) and the past perfect (an earlier action). Draw the TG timeline on the board: 'I got home late (X). My wife had finished her dinner (X before). She was watching the news on TV (XXXXX around it).' Then play 5.14 (the short story: It was a cold night and it was raining. I was watching TV… Suddenly I heard a knock at the door… The person who had knocked on the door had disappeared) and ask: why each tense? The 'Watch out!' contrast is our addition for Italian learners (the trapassato is similar, but students often avoid it). Note for students who did English File Pre-intermediate: they studied these tenses separately – this is the first time all three are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(6 min). Students do Grammar Bank 5A a 1–5 and b 1–4 in the book, individually then in pairs. Click 1 for all answers (TG key): a 1 had trained · 2 was cycling · 3 wanted · 4 had already started · 5 hadn't scored. b 1 The accident happened when they were driving home. · 2 The crowd cheered when the referee blew the final whistle. · 3 I didn't recognize Jane at first because she had changed so much. · 4 The police stopped my sister on the motorway because she wasn't wearing a seat belt. The slide gaps are made from the key; the exact prompts are in the book (⚠ check p.140). Students read the full sentences aloud. The rest (a 6–9, b 5–8) is homework. VARIATION: student as teacher – fast finishers draw a timeline for b3. EXTRA SUPPORT: Grammar photocopiable 5A 'My car nightmare' (B1_5A_Photocopiables.pdf, page 1 – see the EXTRA slide). If the class is fast, do SB 6d (Anton Gafarov's skiing story) – answers in the teacher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 INFORMATION GAP (7 min). SB 6e (TG): Students A read about Kenyan runner Abel Mutai (p.107), Students B about Canadian sailor Lawrence Lemieux (p.112). They underline the past continuous and past perfect verbs, then cover the story and tell it to their partner using the prompts. Swap. ⚠ The stories are only in the Student's Book (not in our files) – the example on the slide is just a frame; check p.107 / p.112 before the lesson. 6f (whole class, 1 min): teach heroic /hɪˈrəʊɪk/ (= very brave) – which story is the most heroic? You could say what you think. VARIATION: information gap + forced choice (they must choose ONE hero).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(7 min). SB 7a: 'You're going to tell your partner two anecdotes. Choose two of the topics below and plan what you are going to say.' The five topics 'Tell your partner about…' and their prompt questions are on the slide (book wording; the injury and celebrity prompts are slightly shortened – the full ones are on p.49). TG EXTRA IDEA: one anecdote true, one invented; the partner guesses which is true. Model it first: tell TWO short anecdotes of your own, pause for questions, then the class guesses (1 min). Teach anecdote /ˈænɪkdəʊt/ = an informal true story about something that happened to you. Planning (2 min): think about the verbs you'll need (what was happening, what had happened before, what happened). 7b: 'Work with a partner. Tell each other your two stories. Give as much detail as you can.' Telling an anecdote box (p.49) – Starting an anecdote: I'm going to tell you about a time when… / This happened a few years ago… / When I was younger,… · Listening to an anecdote: Wow! Really? / That sounds terrible / awful. / How amazing! / What happened next / after that / in the end? Listener asks at least 3 questions, then guesses the lie; swap. Monitor but don't correct too much – fluency is the aim (TG). VARIATION: spot the lie + follow-up questions. Nothing too personal: let students choose their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Students choose a face for each can-do. Homework: Workbook 5A 3a, 3b, 3c (narrative tenses) + Grammar Bank 5A a 6–9, b 5–8 + the 5A-2 homework sheet (easier version available). Optional: Writing Telling a story p.118 – read the model, complete the connectors (answers in the key), then write about a journey when they had a problem (three paragraphs, 'A bad journey' box). Answers are in the teacher key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SB 5e (fair play) as a role-play. VARIATION: perspective change (students become the referee) + forced choice. Pairs decide for each situation and justify; then compare with another pair. Book 5e questions are in the notes of the 5.10 slide. Link to the listening: Juan Antonio says simulation (situation 1) cheats the referee, the other team AND the spectators; Grammar Bank 5A b8 – a player got a yellow card for taking off his shirt (situation 2). Fair play = playing honestly and according to the rules. Then whole class: Is there more cheating in football than in other sports?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GAME (7 min). VARIATION: constraint challenge (alternate good / bad news + change of tense). Practises all three narrative tenses and linkers. Listen for had + past participle. Printed alternative: Communicative photocopiable 'Marathon cheats'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(8 min) or HOMEWORK. Grammar photocopiable 5A 'past tenses: simple, continuous, perfect' – print B1_5A_Photocopiables.pdf, page 1 (one per student). Students complete the story with the verbs in brackets, then do the ACTIVATION (cover the column and read the story aloud). OFFICIAL ANSWERS (TG): 1 happened (example) · 2 'd bought · 3 was still feeling · 4 didn't have · 5 didn't matter · 6 knew · 7 had always wanted · 8 called · 9 told · 10 was · 11 was shining · 12 was driving · 13 were chatting · 14 saw · 15 had flown · 16 tried · 17 started · 18 disappeared · 19 felt · 20 had stung · 21 was driving · 22 crashed. VARIATION: memory (activation) – a fast-finisher reads it aloud with the book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(10 min). Communicative photocopiable 5A 'Marathon cheats' – print B1_5A_Photocopiables.pdf, page 2, one per pair, cut into A and B. TG procedure: students read their story and answer the questions in b; then cover the story and use their answers to retell it to their partner; feedback by asking students to retell the stories. EXTRA CHALLENGE (TG): students retell their partner's story. OFFICIAL EXAMPLE ANSWERS (TG) – Student A: 1 The Comrades Marathon is an 89 km ultramarathon. · 2 On 16th June 1999, Sergio Motsoeneng finished ninth and won $1,000. · 3 Nick Bester complained because he said that Sergio hadn't passed him. · 4 Sergio looked different in the two photos. · 5 Sergio and his brother had changed places several times during the race. Student B: 1 On 10th October 2011, Rob Sloan finished third in the Kielder Marathon. · 2 The other runners were surprised because they hadn't seen Rob pass them. · 3 The organizers thought it was suspicious that Rob had run the second half of the race quicker than the first half. · 4 Rob confessed that he had got on a bus to near the finish line and then jumped out of the crowd to run the final section of the race. · 5 Steve Cairns was angry because he felt that Rob had stolen his moment of glory. Listen for the past perfect (had changed, hadn't seen). VARIATION: information gap + forced choice (who was the worst cheat?).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audio" Target="../media/media-2-4.mp3"/><Relationship Id="rId5" Type="http://schemas.microsoft.com/office/2007/relationships/media" Target="../media/media-2-4.mp3"/><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audio" Target="../media/media-3-3.mp3"/><Relationship Id="rId4" Type="http://schemas.microsoft.com/office/2007/relationships/media" Target="../media/media-3-3.mp3"/><Relationship Id="rId5" Type="http://schemas.openxmlformats.org/officeDocument/2006/relationships/image" Target="../media/image-3-5.png"/><Relationship Id="rId6" Type="http://schemas.openxmlformats.org/officeDocument/2006/relationships/image" Target="../media/image-3-6.jp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audio" Target="../media/media-4-3.mp3"/><Relationship Id="rId4" Type="http://schemas.microsoft.com/office/2007/relationships/media" Target="../media/media-4-3.mp3"/><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audio" Target="../media/media-6-3.mp3"/><Relationship Id="rId4" Type="http://schemas.microsoft.com/office/2007/relationships/media" Target="../media/media-6-3.mp3"/><Relationship Id="rId5" Type="http://schemas.openxmlformats.org/officeDocument/2006/relationships/image" Target="../media/image-6-5.png"/><Relationship Id="rId6" Type="http://schemas.openxmlformats.org/officeDocument/2006/relationships/audio" Target="../media/media-6-6.mp3"/><Relationship Id="rId7" Type="http://schemas.microsoft.com/office/2007/relationships/media" Target="../media/media-6-6.mp3"/><Relationship Id="rId8" Type="http://schemas.openxmlformats.org/officeDocument/2006/relationships/image" Target="../media/image-6-8.png"/><Relationship Id="rId9" Type="http://schemas.openxmlformats.org/officeDocument/2006/relationships/audio" Target="../media/media-6-9.mp3"/><Relationship Id="rId10" Type="http://schemas.microsoft.com/office/2007/relationships/media" Target="../media/media-6-9.mp3"/><Relationship Id="rId11" Type="http://schemas.openxmlformats.org/officeDocument/2006/relationships/image" Target="../media/image-6-11.png"/><Relationship Id="rId12" Type="http://schemas.openxmlformats.org/officeDocument/2006/relationships/audio" Target="../media/media-6-12.mp3"/><Relationship Id="rId13" Type="http://schemas.microsoft.com/office/2007/relationships/media" Target="../media/media-6-12.mp3"/><Relationship Id="rId14" Type="http://schemas.openxmlformats.org/officeDocument/2006/relationships/image" Target="../media/image-6-14.pn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204034"/>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5A · Part 2</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4600" dirty="0">
                <a:solidFill>
                  <a:srgbClr val="FFD84D"/>
                </a:solidFill>
                <a:latin typeface="Arial Black" pitchFamily="34" charset="0"/>
                <a:ea typeface="Arial Black" pitchFamily="34" charset="-122"/>
                <a:cs typeface="Arial Black" pitchFamily="34" charset="-120"/>
              </a:rPr>
              <a:t>5A</a:t>
            </a:r>
            <a:endParaRPr lang="en-US" sz="4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100" dirty="0">
                <a:solidFill>
                  <a:srgbClr val="E9E2FB"/>
                </a:solidFill>
                <a:latin typeface="Arial Black" pitchFamily="34" charset="0"/>
                <a:ea typeface="Arial Black" pitchFamily="34" charset="-122"/>
                <a:cs typeface="Arial Black" pitchFamily="34" charset="-120"/>
              </a:rPr>
              <a:t>ENGLISH FILE B1 · 5A · Part 2 · SB pp.48–49</a:t>
            </a:r>
            <a:endParaRPr lang="en-US" sz="1100" dirty="0"/>
          </a:p>
        </p:txBody>
      </p:sp>
      <p:sp>
        <p:nvSpPr>
          <p:cNvPr id="9" name="title_7"/>
          <p:cNvSpPr txBox="1"/>
          <p:nvPr/>
        </p:nvSpPr>
        <p:spPr>
          <a:xfrm rot="120000">
            <a:off x="411480" y="1325880"/>
            <a:ext cx="5120640" cy="777240"/>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200" dirty="0">
                <a:solidFill>
                  <a:srgbClr val="111111"/>
                </a:solidFill>
                <a:latin typeface="Arial Black" pitchFamily="34" charset="0"/>
                <a:ea typeface="Arial Black" pitchFamily="34" charset="-122"/>
                <a:cs typeface="Arial Black" pitchFamily="34" charset="-120"/>
              </a:rPr>
              <a:t>SPORTING SUPERSTITIONS</a:t>
            </a:r>
            <a:endParaRPr lang="en-US" sz="2200" dirty="0"/>
          </a:p>
        </p:txBody>
      </p:sp>
      <p:sp>
        <p:nvSpPr>
          <p:cNvPr id="10" name="stamp_8"/>
          <p:cNvSpPr txBox="1"/>
          <p:nvPr/>
        </p:nvSpPr>
        <p:spPr>
          <a:xfrm>
            <a:off x="457200" y="2468880"/>
            <a:ext cx="4293108" cy="384048"/>
          </a:xfrm>
          <a:prstGeom prst="roundRect">
            <a:avLst>
              <a:gd name="adj" fmla="val 14286"/>
            </a:avLst>
          </a:prstGeom>
          <a:solidFill>
            <a:srgbClr val="204034"/>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LISTENING · An interview with a referee</a:t>
            </a:r>
            <a:endParaRPr lang="en-US" sz="1200" dirty="0"/>
          </a:p>
        </p:txBody>
      </p:sp>
      <p:sp>
        <p:nvSpPr>
          <p:cNvPr id="11" name="stamp_9"/>
          <p:cNvSpPr txBox="1"/>
          <p:nvPr/>
        </p:nvSpPr>
        <p:spPr>
          <a:xfrm>
            <a:off x="457200" y="2944368"/>
            <a:ext cx="4572000" cy="384048"/>
          </a:xfrm>
          <a:prstGeom prst="roundRect">
            <a:avLst>
              <a:gd name="adj" fmla="val 14286"/>
            </a:avLst>
          </a:prstGeom>
          <a:solidFill>
            <a:srgbClr val="204034"/>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GRAMMAR · past simple, continuous, perfect</a:t>
            </a:r>
            <a:endParaRPr lang="en-US" sz="1200" dirty="0"/>
          </a:p>
        </p:txBody>
      </p:sp>
      <p:sp>
        <p:nvSpPr>
          <p:cNvPr id="12" name="stamp_10"/>
          <p:cNvSpPr txBox="1"/>
          <p:nvPr/>
        </p:nvSpPr>
        <p:spPr>
          <a:xfrm>
            <a:off x="457200" y="3419856"/>
            <a:ext cx="3429000" cy="384048"/>
          </a:xfrm>
          <a:prstGeom prst="roundRect">
            <a:avLst>
              <a:gd name="adj" fmla="val 14286"/>
            </a:avLst>
          </a:prstGeom>
          <a:solidFill>
            <a:srgbClr val="204034"/>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SPEAKING · Telling an anecdote</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gi:GiWhistle">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pi:PiMedal">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pi:PiHandshake">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He was winning the race. Then…</a:t>
            </a:r>
            <a:endParaRPr lang="en-US" sz="140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…his brother had stopped!</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A8E6B4"/>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5A part 1 · Sounds + sport</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2</a:t>
            </a:r>
            <a:endParaRPr lang="en-US" sz="1000" dirty="0"/>
          </a:p>
        </p:txBody>
      </p:sp>
      <p:sp>
        <p:nvSpPr>
          <p:cNvPr id="8" name="title_23"/>
          <p:cNvSpPr txBox="1"/>
          <p:nvPr/>
        </p:nvSpPr>
        <p:spPr>
          <a:xfrm rot="90000">
            <a:off x="320040" y="676656"/>
            <a:ext cx="3108960"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Sound intruder!</a:t>
            </a:r>
            <a:endParaRPr lang="en-US" sz="1500" dirty="0"/>
          </a:p>
        </p:txBody>
      </p:sp>
      <p:sp>
        <p:nvSpPr>
          <p:cNvPr id="9" name="tape_2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5"/>
          <p:cNvSpPr/>
          <p:nvPr/>
        </p:nvSpPr>
        <p:spPr>
          <a:xfrm rot="-720000">
            <a:off x="2862072" y="1069848"/>
            <a:ext cx="685800" cy="219456"/>
          </a:xfrm>
          <a:prstGeom prst="rect">
            <a:avLst/>
          </a:prstGeom>
          <a:solidFill>
            <a:srgbClr val="FFD84D">
              <a:alpha val="75000"/>
            </a:srgbClr>
          </a:solidFill>
          <a:ln w="6350">
            <a:solidFill>
              <a:srgbClr val="FFD84D"/>
            </a:solidFill>
            <a:prstDash val="solid"/>
          </a:ln>
        </p:spPr>
      </p:sp>
      <p:sp>
        <p:nvSpPr>
          <p:cNvPr id="11" name="post_2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7"/>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2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Say the words aloud. Which one is the intruder?</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Di' le parole ad alta voce. Qual è l'intruso?</a:t>
            </a:r>
            <a:endParaRPr lang="en-US" sz="1250" dirty="0"/>
          </a:p>
        </p:txBody>
      </p:sp>
      <p:sp>
        <p:nvSpPr>
          <p:cNvPr id="14" name="iconBack_2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30" descr="gi:GiHorseHead">    </p:cNvPr>
          <p:cNvPicPr>
            <a:picLocks noChangeAspect="1"/>
          </p:cNvPicPr>
          <p:nvPr/>
        </p:nvPicPr>
        <p:blipFill>
          <a:blip r:embed="rId3"/>
          <a:stretch>
            <a:fillRect/>
          </a:stretch>
        </p:blipFill>
        <p:spPr>
          <a:xfrm>
            <a:off x="914400" y="3474720"/>
            <a:ext cx="685800" cy="685800"/>
          </a:xfrm>
          <a:prstGeom prst="rect">
            <a:avLst/>
          </a:prstGeom>
        </p:spPr>
      </p:pic>
      <p:sp>
        <p:nvSpPr>
          <p:cNvPr id="16" name="box_31"/>
          <p:cNvSpPr txBox="1"/>
          <p:nvPr/>
        </p:nvSpPr>
        <p:spPr>
          <a:xfrm>
            <a:off x="2788920" y="1371600"/>
            <a:ext cx="3621024"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ball · court · shirt · score</a:t>
            </a:r>
            <a:endParaRPr lang="en-US" sz="1300" dirty="0"/>
          </a:p>
        </p:txBody>
      </p:sp>
      <p:sp>
        <p:nvSpPr>
          <p:cNvPr id="17" name="R1_a0"/>
          <p:cNvSpPr txBox="1"/>
          <p:nvPr/>
        </p:nvSpPr>
        <p:spPr>
          <a:xfrm>
            <a:off x="6464808" y="1408176"/>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shirt  /ɜː/</a:t>
            </a:r>
            <a:endParaRPr lang="en-US" sz="1250" dirty="0"/>
          </a:p>
        </p:txBody>
      </p:sp>
      <p:sp>
        <p:nvSpPr>
          <p:cNvPr id="18" name="box_32"/>
          <p:cNvSpPr txBox="1"/>
          <p:nvPr/>
        </p:nvSpPr>
        <p:spPr>
          <a:xfrm>
            <a:off x="2788920" y="1941576"/>
            <a:ext cx="3621024"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hurt · world · sport · serve</a:t>
            </a:r>
            <a:endParaRPr lang="en-US" sz="1300" dirty="0"/>
          </a:p>
        </p:txBody>
      </p:sp>
      <p:sp>
        <p:nvSpPr>
          <p:cNvPr id="19" name="R2_a1"/>
          <p:cNvSpPr txBox="1"/>
          <p:nvPr/>
        </p:nvSpPr>
        <p:spPr>
          <a:xfrm>
            <a:off x="6464808" y="1978152"/>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sport  /ɔː/</a:t>
            </a:r>
            <a:endParaRPr lang="en-US" sz="1250" dirty="0"/>
          </a:p>
        </p:txBody>
      </p:sp>
      <p:sp>
        <p:nvSpPr>
          <p:cNvPr id="20" name="box_33"/>
          <p:cNvSpPr txBox="1"/>
          <p:nvPr/>
        </p:nvSpPr>
        <p:spPr>
          <a:xfrm>
            <a:off x="2788920" y="2511552"/>
            <a:ext cx="3621024"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caught · fought · worse · draw</a:t>
            </a:r>
            <a:endParaRPr lang="en-US" sz="1300" dirty="0"/>
          </a:p>
        </p:txBody>
      </p:sp>
      <p:sp>
        <p:nvSpPr>
          <p:cNvPr id="21" name="R3_a2"/>
          <p:cNvSpPr txBox="1"/>
          <p:nvPr/>
        </p:nvSpPr>
        <p:spPr>
          <a:xfrm>
            <a:off x="6464808" y="2548128"/>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worse  /ɜː/</a:t>
            </a:r>
            <a:endParaRPr lang="en-US" sz="1250" dirty="0"/>
          </a:p>
        </p:txBody>
      </p:sp>
      <p:sp>
        <p:nvSpPr>
          <p:cNvPr id="22" name="box_34"/>
          <p:cNvSpPr txBox="1"/>
          <p:nvPr/>
        </p:nvSpPr>
        <p:spPr>
          <a:xfrm>
            <a:off x="2788920" y="3081528"/>
            <a:ext cx="3621024"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circuit · course · work out · world</a:t>
            </a:r>
            <a:endParaRPr lang="en-US" sz="1300" dirty="0"/>
          </a:p>
        </p:txBody>
      </p:sp>
      <p:sp>
        <p:nvSpPr>
          <p:cNvPr id="23" name="R4_a3"/>
          <p:cNvSpPr txBox="1"/>
          <p:nvPr/>
        </p:nvSpPr>
        <p:spPr>
          <a:xfrm>
            <a:off x="6464808" y="3118104"/>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course  /ɔː/</a:t>
            </a:r>
            <a:endParaRPr lang="en-US" sz="1250" dirty="0"/>
          </a:p>
        </p:txBody>
      </p:sp>
      <p:sp>
        <p:nvSpPr>
          <p:cNvPr id="24" name="box_35"/>
          <p:cNvSpPr txBox="1"/>
          <p:nvPr/>
        </p:nvSpPr>
        <p:spPr>
          <a:xfrm>
            <a:off x="2788920" y="3651504"/>
            <a:ext cx="3621024"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warm up · court · ball · hurt</a:t>
            </a:r>
            <a:endParaRPr lang="en-US" sz="1300" dirty="0"/>
          </a:p>
        </p:txBody>
      </p:sp>
      <p:sp>
        <p:nvSpPr>
          <p:cNvPr id="25" name="R5_a4"/>
          <p:cNvSpPr txBox="1"/>
          <p:nvPr/>
        </p:nvSpPr>
        <p:spPr>
          <a:xfrm>
            <a:off x="6464808" y="3688080"/>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hurt  /ɜː/</a:t>
            </a:r>
            <a:endParaRPr lang="en-US" sz="1250" dirty="0"/>
          </a:p>
        </p:txBody>
      </p:sp>
      <p:sp>
        <p:nvSpPr>
          <p:cNvPr id="26" name="box_36"/>
          <p:cNvSpPr txBox="1"/>
          <p:nvPr/>
        </p:nvSpPr>
        <p:spPr>
          <a:xfrm>
            <a:off x="2788920" y="4221480"/>
            <a:ext cx="3621024"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6  NOT a place: court · pitch · coach · track</a:t>
            </a:r>
            <a:endParaRPr lang="en-US" sz="1300" dirty="0"/>
          </a:p>
        </p:txBody>
      </p:sp>
      <p:sp>
        <p:nvSpPr>
          <p:cNvPr id="27" name="R6_a5"/>
          <p:cNvSpPr txBox="1"/>
          <p:nvPr/>
        </p:nvSpPr>
        <p:spPr>
          <a:xfrm>
            <a:off x="6464808" y="4258056"/>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coach (a person!)</a:t>
            </a:r>
            <a:endParaRPr lang="en-US" sz="1250" dirty="0"/>
          </a:p>
        </p:txBody>
      </p:sp>
      <p:sp>
        <p:nvSpPr>
          <p:cNvPr id="28" name="pageTag_3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5A pp.46–47 · audio 5.7 · Vocabulary Bank Sport p.157</a:t>
            </a:r>
            <a:endParaRPr lang="en-US" sz="1050" dirty="0"/>
          </a:p>
        </p:txBody>
      </p:sp>
      <p:pic>
        <p:nvPicPr>
          <p:cNvPr id="29" name="Media 0">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6"/>
          <a:stretch>
            <a:fillRect/>
          </a:stretch>
        </p:blipFill>
        <p:spPr>
          <a:xfrm>
            <a:off x="5166360" y="155448"/>
            <a:ext cx="384048" cy="384048"/>
          </a:xfrm>
          <a:prstGeom prst="rect">
            <a:avLst/>
          </a:prstGeom>
        </p:spPr>
      </p:pic>
      <p:sp>
        <p:nvSpPr>
          <p:cNvPr id="30" name="atr_38"/>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5.7</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29"/>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29"/>
                                        </p:tgtEl>
                                      </p:cBhvr>
                                    </p:cmd>
                                  </p:childTnLst>
                                </p:cTn>
                              </p:par>
                            </p:childTnLst>
                          </p:cTn>
                        </p:par>
                      </p:childTnLst>
                    </p:cTn>
                  </p:par>
                </p:childTnLst>
              </p:cTn>
              <p:nextCondLst>
                <p:cond evt="onClick" delay="0">
                  <p:tgtEl>
                    <p:spTgt spid="29"/>
                  </p:tgtEl>
                </p:cond>
              </p:nextCondLst>
            </p:seq>
            <p:audio>
              <p:cMediaNode vol="80000">
                <p:cTn id="38" fill="hold" display="0">
                  <p:stCondLst>
                    <p:cond delay="indefinite"/>
                  </p:stCondLst>
                  <p:endCondLst>
                    <p:cond evt="onStopAudio" delay="0">
                      <p:tgtEl>
                        <p:sldTgt/>
                      </p:tgtEl>
                    </p:cond>
                  </p:endCondLst>
                </p:cTn>
                <p:tgtEl>
                  <p:spTgt spid="29"/>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9"/>
          <p:cNvSpPr/>
          <p:nvPr/>
        </p:nvSpPr>
        <p:spPr>
          <a:xfrm>
            <a:off x="54864" y="54864"/>
            <a:ext cx="9034272" cy="5033772"/>
          </a:xfrm>
          <a:prstGeom prst="rect">
            <a:avLst/>
          </a:prstGeom>
          <a:ln w="114300">
            <a:solidFill>
              <a:srgbClr val="A8E6B4"/>
            </a:solidFill>
            <a:prstDash val="solid"/>
          </a:ln>
        </p:spPr>
      </p:sp>
      <p:pic>
        <p:nvPicPr>
          <p:cNvPr id="4" name="logo_4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4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LISTENING · A referee · audio 5.9</a:t>
            </a:r>
            <a:endParaRPr lang="en-US" sz="900" dirty="0"/>
          </a:p>
        </p:txBody>
      </p:sp>
      <p:sp>
        <p:nvSpPr>
          <p:cNvPr id="6" name="timer_4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9 min</a:t>
            </a:r>
            <a:endParaRPr lang="en-US" sz="1200" dirty="0"/>
          </a:p>
        </p:txBody>
      </p:sp>
      <p:sp>
        <p:nvSpPr>
          <p:cNvPr id="7" name="footer_4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2</a:t>
            </a:r>
            <a:endParaRPr lang="en-US" sz="1000" dirty="0"/>
          </a:p>
        </p:txBody>
      </p:sp>
      <p:sp>
        <p:nvSpPr>
          <p:cNvPr id="8" name="title_44"/>
          <p:cNvSpPr txBox="1"/>
          <p:nvPr/>
        </p:nvSpPr>
        <p:spPr>
          <a:xfrm rot="90000">
            <a:off x="320040" y="676656"/>
            <a:ext cx="467258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The man with the whistle</a:t>
            </a:r>
            <a:endParaRPr lang="en-US" sz="1500" dirty="0"/>
          </a:p>
        </p:txBody>
      </p:sp>
      <p:sp>
        <p:nvSpPr>
          <p:cNvPr id="9" name="tape_45"/>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46"/>
          <p:cNvSpPr/>
          <p:nvPr/>
        </p:nvSpPr>
        <p:spPr>
          <a:xfrm rot="-720000">
            <a:off x="4425696" y="1069848"/>
            <a:ext cx="685800" cy="219456"/>
          </a:xfrm>
          <a:prstGeom prst="rect">
            <a:avLst/>
          </a:prstGeom>
          <a:solidFill>
            <a:srgbClr val="FFD84D">
              <a:alpha val="75000"/>
            </a:srgbClr>
          </a:solidFill>
          <a:ln w="6350">
            <a:solidFill>
              <a:srgbClr val="FFD84D"/>
            </a:solidFill>
            <a:prstDash val="solid"/>
          </a:ln>
        </p:spPr>
      </p:sp>
      <p:sp>
        <p:nvSpPr>
          <p:cNvPr id="11" name="post_47"/>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48"/>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3" name="signB_4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Is being a referee a difficult job? Then listen to Part 1: a, b or c?</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Fare l'arbitro è un lavoro difficile? Poi ascolta la Parte 1: a, b o c?</a:t>
            </a:r>
            <a:endParaRPr lang="en-US" sz="1200" dirty="0"/>
          </a:p>
        </p:txBody>
      </p:sp>
      <p:pic>
        <p:nvPicPr>
          <p:cNvPr id="14" name="Media 0">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2788920" y="1371600"/>
            <a:ext cx="640080" cy="640080"/>
          </a:xfrm>
          <a:prstGeom prst="rect">
            <a:avLst/>
          </a:prstGeom>
        </p:spPr>
      </p:pic>
      <p:sp>
        <p:nvSpPr>
          <p:cNvPr id="15" name="tr_50"/>
          <p:cNvSpPr txBox="1"/>
          <p:nvPr/>
        </p:nvSpPr>
        <p:spPr>
          <a:xfrm>
            <a:off x="3474720" y="1371600"/>
            <a:ext cx="822960" cy="640080"/>
          </a:xfrm>
          <a:prstGeom prst="rect">
            <a:avLst/>
          </a:prstGeom>
          <a:noFill/>
          <a:ln/>
        </p:spPr>
        <p:txBody>
          <a:bodyPr wrap="square" rtlCol="0" anchor="ctr"/>
          <a:lstStyle/>
          <a:p>
            <a:pPr indent="0" marL="0">
              <a:buNone/>
            </a:pPr>
            <a:r>
              <a:rPr lang="en-US" sz="1300" dirty="0">
                <a:solidFill>
                  <a:srgbClr val="062F67"/>
                </a:solidFill>
                <a:latin typeface="Arial Black" pitchFamily="34" charset="0"/>
                <a:ea typeface="Arial Black" pitchFamily="34" charset="-122"/>
                <a:cs typeface="Arial Black" pitchFamily="34" charset="-120"/>
              </a:rPr>
              <a:t>🎧 5.9</a:t>
            </a:r>
            <a:endParaRPr lang="en-US" sz="1300" dirty="0"/>
          </a:p>
        </p:txBody>
      </p:sp>
      <p:sp>
        <p:nvSpPr>
          <p:cNvPr id="16" name="box_51"/>
          <p:cNvSpPr txBox="1"/>
          <p:nvPr/>
        </p:nvSpPr>
        <p:spPr>
          <a:xfrm>
            <a:off x="2788920" y="2103120"/>
            <a:ext cx="5069434" cy="453542"/>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1  Why did he want to become a referee?  a His father was a referee.  b He liked sport, but wasn't good at it.  c He always liked the idea.</a:t>
            </a:r>
            <a:endParaRPr lang="en-US" sz="950" dirty="0"/>
          </a:p>
        </p:txBody>
      </p:sp>
      <p:sp>
        <p:nvSpPr>
          <p:cNvPr id="17" name="R1_la0"/>
          <p:cNvSpPr txBox="1"/>
          <p:nvPr/>
        </p:nvSpPr>
        <p:spPr>
          <a:xfrm>
            <a:off x="7913218" y="2130552"/>
            <a:ext cx="910742" cy="398678"/>
          </a:xfrm>
          <a:prstGeom prst="roundRect">
            <a:avLst>
              <a:gd name="adj" fmla="val 1376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c</a:t>
            </a:r>
            <a:endParaRPr lang="en-US" sz="1400" dirty="0"/>
          </a:p>
        </p:txBody>
      </p:sp>
      <p:sp>
        <p:nvSpPr>
          <p:cNvPr id="18" name="box_52"/>
          <p:cNvSpPr txBox="1"/>
          <p:nvPr/>
        </p:nvSpPr>
        <p:spPr>
          <a:xfrm>
            <a:off x="2788920" y="2629814"/>
            <a:ext cx="5069434" cy="453542"/>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2  What was the most exciting match he ever refereed?  a His first professional match.  b He can't choose just one.  c Real Madrid against Barcelona.</a:t>
            </a:r>
            <a:endParaRPr lang="en-US" sz="950" dirty="0"/>
          </a:p>
        </p:txBody>
      </p:sp>
      <p:sp>
        <p:nvSpPr>
          <p:cNvPr id="19" name="R1_la1"/>
          <p:cNvSpPr txBox="1"/>
          <p:nvPr/>
        </p:nvSpPr>
        <p:spPr>
          <a:xfrm>
            <a:off x="7913218" y="2657246"/>
            <a:ext cx="910742" cy="398678"/>
          </a:xfrm>
          <a:prstGeom prst="roundRect">
            <a:avLst>
              <a:gd name="adj" fmla="val 1376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b</a:t>
            </a:r>
            <a:endParaRPr lang="en-US" sz="1400" dirty="0"/>
          </a:p>
        </p:txBody>
      </p:sp>
      <p:sp>
        <p:nvSpPr>
          <p:cNvPr id="20" name="box_53"/>
          <p:cNvSpPr txBox="1"/>
          <p:nvPr/>
        </p:nvSpPr>
        <p:spPr>
          <a:xfrm>
            <a:off x="2788920" y="3156509"/>
            <a:ext cx="5069434" cy="453542"/>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3  The worst experience he ever had as a referee was when ___ attacked him.  a a player  b a woman  c a child</a:t>
            </a:r>
            <a:endParaRPr lang="en-US" sz="950" dirty="0"/>
          </a:p>
        </p:txBody>
      </p:sp>
      <p:sp>
        <p:nvSpPr>
          <p:cNvPr id="21" name="R1_la2"/>
          <p:cNvSpPr txBox="1"/>
          <p:nvPr/>
        </p:nvSpPr>
        <p:spPr>
          <a:xfrm>
            <a:off x="7913218" y="3183941"/>
            <a:ext cx="910742" cy="398678"/>
          </a:xfrm>
          <a:prstGeom prst="roundRect">
            <a:avLst>
              <a:gd name="adj" fmla="val 1376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b</a:t>
            </a:r>
            <a:endParaRPr lang="en-US" sz="1400" dirty="0"/>
          </a:p>
        </p:txBody>
      </p:sp>
      <p:sp>
        <p:nvSpPr>
          <p:cNvPr id="22" name="box_54"/>
          <p:cNvSpPr txBox="1"/>
          <p:nvPr/>
        </p:nvSpPr>
        <p:spPr>
          <a:xfrm>
            <a:off x="2788920" y="3683203"/>
            <a:ext cx="5069434" cy="453542"/>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4  Why does he think there is more cheating in football today?  a Because football is big business.  b Because the referees are worse.  c Because footballers are better at cheating.</a:t>
            </a:r>
            <a:endParaRPr lang="en-US" sz="900" dirty="0"/>
          </a:p>
        </p:txBody>
      </p:sp>
      <p:sp>
        <p:nvSpPr>
          <p:cNvPr id="23" name="R1_la3"/>
          <p:cNvSpPr txBox="1"/>
          <p:nvPr/>
        </p:nvSpPr>
        <p:spPr>
          <a:xfrm>
            <a:off x="7913218" y="3710635"/>
            <a:ext cx="910742" cy="398678"/>
          </a:xfrm>
          <a:prstGeom prst="roundRect">
            <a:avLst>
              <a:gd name="adj" fmla="val 1376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a</a:t>
            </a:r>
            <a:endParaRPr lang="en-US" sz="1400" dirty="0"/>
          </a:p>
        </p:txBody>
      </p:sp>
      <p:sp>
        <p:nvSpPr>
          <p:cNvPr id="24" name="box_55"/>
          <p:cNvSpPr txBox="1"/>
          <p:nvPr/>
        </p:nvSpPr>
        <p:spPr>
          <a:xfrm>
            <a:off x="2788920" y="4209898"/>
            <a:ext cx="5069434" cy="453542"/>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5  How does he say footballers often cheat?  a They fall over when no one has touched them.  b They accept money to lose matches.  c They touch the ball with their hands.</a:t>
            </a:r>
            <a:endParaRPr lang="en-US" sz="950" dirty="0"/>
          </a:p>
        </p:txBody>
      </p:sp>
      <p:sp>
        <p:nvSpPr>
          <p:cNvPr id="25" name="R1_la4"/>
          <p:cNvSpPr txBox="1"/>
          <p:nvPr/>
        </p:nvSpPr>
        <p:spPr>
          <a:xfrm>
            <a:off x="7913218" y="4237330"/>
            <a:ext cx="910742" cy="398678"/>
          </a:xfrm>
          <a:prstGeom prst="roundRect">
            <a:avLst>
              <a:gd name="adj" fmla="val 1376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a</a:t>
            </a:r>
            <a:endParaRPr lang="en-US" sz="1400" dirty="0"/>
          </a:p>
        </p:txBody>
      </p:sp>
      <p:sp>
        <p:nvSpPr>
          <p:cNvPr id="26" name="pageTag_5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p.48 · 5a, 5b · audio 5.9</a:t>
            </a:r>
            <a:endParaRPr lang="en-US" sz="1050" dirty="0"/>
          </a:p>
        </p:txBody>
      </p:sp>
      <p:sp>
        <p:nvSpPr>
          <p:cNvPr id="27" name="pframe_57"/>
          <p:cNvSpPr/>
          <p:nvPr/>
        </p:nvSpPr>
        <p:spPr>
          <a:xfrm rot="-120000">
            <a:off x="685800" y="3154680"/>
            <a:ext cx="1325880" cy="153619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8" name="pimg_58" descr="Juan Antonio">    </p:cNvPr>
          <p:cNvPicPr>
            <a:picLocks noChangeAspect="1"/>
          </p:cNvPicPr>
          <p:nvPr/>
        </p:nvPicPr>
        <p:blipFill>
          <a:blip r:embed="rId6"/>
          <a:srcRect l="0" r="0" t="0" b="0"/>
          <a:stretch/>
        </p:blipFill>
        <p:spPr>
          <a:xfrm rot="-120000">
            <a:off x="758952" y="3227832"/>
            <a:ext cx="1179576" cy="1115568"/>
          </a:xfrm>
          <a:prstGeom prst="rect">
            <a:avLst/>
          </a:prstGeom>
        </p:spPr>
      </p:pic>
      <p:sp>
        <p:nvSpPr>
          <p:cNvPr id="29" name="pcap_59"/>
          <p:cNvSpPr txBox="1"/>
          <p:nvPr/>
        </p:nvSpPr>
        <p:spPr>
          <a:xfrm rot="-120000">
            <a:off x="685800" y="4352544"/>
            <a:ext cx="132588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Juan Antonio</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400"/>
                                        <p:tgtEl>
                                          <p:spTgt spid="23"/>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0" restart="whenNotActive" fill="hold" evtFilter="cancelBubble" nodeType="interactiveSeq">
                <p:stCondLst>
                  <p:cond evt="onClick" delay="0">
                    <p:tgtEl>
                      <p:spTgt spid="14"/>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14"/>
                                        </p:tgtEl>
                                      </p:cBhvr>
                                    </p:cmd>
                                  </p:childTnLst>
                                </p:cTn>
                              </p:par>
                            </p:childTnLst>
                          </p:cTn>
                        </p:par>
                      </p:childTnLst>
                    </p:cTn>
                  </p:par>
                </p:childTnLst>
              </p:cTn>
              <p:nextCondLst>
                <p:cond evt="onClick" delay="0">
                  <p:tgtEl>
                    <p:spTgt spid="14"/>
                  </p:tgtEl>
                </p:cond>
              </p:nextCondLst>
            </p:seq>
            <p:audio>
              <p:cMediaNode vol="80000">
                <p:cTn id="25" fill="hold" display="0">
                  <p:stCondLst>
                    <p:cond delay="indefinite"/>
                  </p:stCondLst>
                  <p:endCondLst>
                    <p:cond evt="onStopAudio" delay="0">
                      <p:tgtEl>
                        <p:sldTgt/>
                      </p:tgtEl>
                    </p:cond>
                  </p:endCondLst>
                </p:cTn>
                <p:tgtEl>
                  <p:spTgt spid="1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60"/>
          <p:cNvSpPr/>
          <p:nvPr/>
        </p:nvSpPr>
        <p:spPr>
          <a:xfrm>
            <a:off x="54864" y="54864"/>
            <a:ext cx="9034272" cy="5033772"/>
          </a:xfrm>
          <a:prstGeom prst="rect">
            <a:avLst/>
          </a:prstGeom>
          <a:ln w="114300">
            <a:solidFill>
              <a:srgbClr val="A8E6B4"/>
            </a:solidFill>
            <a:prstDash val="solid"/>
          </a:ln>
        </p:spPr>
      </p:sp>
      <p:pic>
        <p:nvPicPr>
          <p:cNvPr id="4" name="logo_6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6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LISTENING · Part 2 · audio 5.10</a:t>
            </a:r>
            <a:endParaRPr lang="en-US" sz="900" dirty="0"/>
          </a:p>
        </p:txBody>
      </p:sp>
      <p:sp>
        <p:nvSpPr>
          <p:cNvPr id="6" name="timer_6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6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2</a:t>
            </a:r>
            <a:endParaRPr lang="en-US" sz="1000" dirty="0"/>
          </a:p>
        </p:txBody>
      </p:sp>
      <p:sp>
        <p:nvSpPr>
          <p:cNvPr id="8" name="title_65"/>
          <p:cNvSpPr txBox="1"/>
          <p:nvPr/>
        </p:nvSpPr>
        <p:spPr>
          <a:xfrm rot="90000">
            <a:off x="320040" y="676656"/>
            <a:ext cx="380390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Fair play and Messi</a:t>
            </a:r>
            <a:endParaRPr lang="en-US" sz="1500" dirty="0"/>
          </a:p>
        </p:txBody>
      </p:sp>
      <p:sp>
        <p:nvSpPr>
          <p:cNvPr id="9" name="tape_66"/>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67"/>
          <p:cNvSpPr/>
          <p:nvPr/>
        </p:nvSpPr>
        <p:spPr>
          <a:xfrm rot="-720000">
            <a:off x="3557016" y="1069848"/>
            <a:ext cx="685800" cy="219456"/>
          </a:xfrm>
          <a:prstGeom prst="rect">
            <a:avLst/>
          </a:prstGeom>
          <a:solidFill>
            <a:srgbClr val="FFD84D">
              <a:alpha val="75000"/>
            </a:srgbClr>
          </a:solidFill>
          <a:ln w="6350">
            <a:solidFill>
              <a:srgbClr val="FFD84D"/>
            </a:solidFill>
            <a:prstDash val="solid"/>
          </a:ln>
        </p:spPr>
      </p:sp>
      <p:sp>
        <p:nvSpPr>
          <p:cNvPr id="11" name="post_68"/>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69"/>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3" name="signB_7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Guess the missing words first. Then listen and check.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Prima indovina le parole mancanti. Poi ascolta e controlla.</a:t>
            </a:r>
            <a:endParaRPr lang="en-US" sz="1250" dirty="0"/>
          </a:p>
        </p:txBody>
      </p:sp>
      <p:pic>
        <p:nvPicPr>
          <p:cNvPr id="14" name="Media 0">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2788920" y="1371600"/>
            <a:ext cx="640080" cy="640080"/>
          </a:xfrm>
          <a:prstGeom prst="rect">
            <a:avLst/>
          </a:prstGeom>
        </p:spPr>
      </p:pic>
      <p:sp>
        <p:nvSpPr>
          <p:cNvPr id="15" name="tr_71"/>
          <p:cNvSpPr txBox="1"/>
          <p:nvPr/>
        </p:nvSpPr>
        <p:spPr>
          <a:xfrm>
            <a:off x="3474720" y="1371600"/>
            <a:ext cx="822960" cy="640080"/>
          </a:xfrm>
          <a:prstGeom prst="rect">
            <a:avLst/>
          </a:prstGeom>
          <a:noFill/>
          <a:ln/>
        </p:spPr>
        <p:txBody>
          <a:bodyPr wrap="square" rtlCol="0" anchor="ctr"/>
          <a:lstStyle/>
          <a:p>
            <a:pPr indent="0" marL="0">
              <a:buNone/>
            </a:pPr>
            <a:r>
              <a:rPr lang="en-US" sz="1300" dirty="0">
                <a:solidFill>
                  <a:srgbClr val="062F67"/>
                </a:solidFill>
                <a:latin typeface="Arial Black" pitchFamily="34" charset="0"/>
                <a:ea typeface="Arial Black" pitchFamily="34" charset="-122"/>
                <a:cs typeface="Arial Black" pitchFamily="34" charset="-120"/>
              </a:rPr>
              <a:t>🎧 5.10</a:t>
            </a:r>
            <a:endParaRPr lang="en-US" sz="1300" dirty="0"/>
          </a:p>
        </p:txBody>
      </p:sp>
      <p:sp>
        <p:nvSpPr>
          <p:cNvPr id="16" name="box_72"/>
          <p:cNvSpPr txBox="1"/>
          <p:nvPr/>
        </p:nvSpPr>
        <p:spPr>
          <a:xfrm>
            <a:off x="2788920" y="2103120"/>
            <a:ext cx="4224528" cy="3657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700" dirty="0">
                <a:solidFill>
                  <a:srgbClr val="111111"/>
                </a:solidFill>
                <a:latin typeface="Calibri" pitchFamily="34" charset="0"/>
                <a:ea typeface="Calibri" pitchFamily="34" charset="-122"/>
                <a:cs typeface="Calibri" pitchFamily="34" charset="-120"/>
              </a:rPr>
              <a:t>1  The most difficult thing for him about being a referee is to make the ___ ___ during a match.</a:t>
            </a:r>
            <a:endParaRPr lang="en-US" sz="700" dirty="0"/>
          </a:p>
        </p:txBody>
      </p:sp>
      <p:sp>
        <p:nvSpPr>
          <p:cNvPr id="17" name="R1_la0"/>
          <p:cNvSpPr txBox="1"/>
          <p:nvPr/>
        </p:nvSpPr>
        <p:spPr>
          <a:xfrm>
            <a:off x="7068312" y="2130552"/>
            <a:ext cx="1755648"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right decisions</a:t>
            </a:r>
            <a:endParaRPr lang="en-US" sz="1200" dirty="0"/>
          </a:p>
        </p:txBody>
      </p:sp>
      <p:sp>
        <p:nvSpPr>
          <p:cNvPr id="18" name="box_73"/>
          <p:cNvSpPr txBox="1"/>
          <p:nvPr/>
        </p:nvSpPr>
        <p:spPr>
          <a:xfrm>
            <a:off x="2788920" y="2542032"/>
            <a:ext cx="4224528" cy="3657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2  One of the reasons it's difficult is because football today is very ___ .</a:t>
            </a:r>
            <a:endParaRPr lang="en-US" sz="950" dirty="0"/>
          </a:p>
        </p:txBody>
      </p:sp>
      <p:sp>
        <p:nvSpPr>
          <p:cNvPr id="19" name="R1_la1"/>
          <p:cNvSpPr txBox="1"/>
          <p:nvPr/>
        </p:nvSpPr>
        <p:spPr>
          <a:xfrm>
            <a:off x="7068312" y="2569464"/>
            <a:ext cx="1755648"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fast</a:t>
            </a:r>
            <a:endParaRPr lang="en-US" sz="1200" dirty="0"/>
          </a:p>
        </p:txBody>
      </p:sp>
      <p:sp>
        <p:nvSpPr>
          <p:cNvPr id="20" name="box_74"/>
          <p:cNvSpPr txBox="1"/>
          <p:nvPr/>
        </p:nvSpPr>
        <p:spPr>
          <a:xfrm>
            <a:off x="2788920" y="2980944"/>
            <a:ext cx="4224528" cy="3657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3  Making correct decisions often depends on the referee's interpretation of the ___ .</a:t>
            </a:r>
            <a:endParaRPr lang="en-US" sz="800" dirty="0"/>
          </a:p>
        </p:txBody>
      </p:sp>
      <p:sp>
        <p:nvSpPr>
          <p:cNvPr id="21" name="R1_la2"/>
          <p:cNvSpPr txBox="1"/>
          <p:nvPr/>
        </p:nvSpPr>
        <p:spPr>
          <a:xfrm>
            <a:off x="7068312" y="3008376"/>
            <a:ext cx="1755648"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rules</a:t>
            </a:r>
            <a:endParaRPr lang="en-US" sz="1200" dirty="0"/>
          </a:p>
        </p:txBody>
      </p:sp>
      <p:sp>
        <p:nvSpPr>
          <p:cNvPr id="22" name="box_75"/>
          <p:cNvSpPr txBox="1"/>
          <p:nvPr/>
        </p:nvSpPr>
        <p:spPr>
          <a:xfrm>
            <a:off x="2788920" y="3419856"/>
            <a:ext cx="4224528" cy="3657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He thinks that players who cheat are the ___ .</a:t>
            </a:r>
            <a:endParaRPr lang="en-US" sz="1100" dirty="0"/>
          </a:p>
        </p:txBody>
      </p:sp>
      <p:sp>
        <p:nvSpPr>
          <p:cNvPr id="23" name="R1_la3"/>
          <p:cNvSpPr txBox="1"/>
          <p:nvPr/>
        </p:nvSpPr>
        <p:spPr>
          <a:xfrm>
            <a:off x="7068312" y="3447288"/>
            <a:ext cx="1755648"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exceptions</a:t>
            </a:r>
            <a:endParaRPr lang="en-US" sz="1200" dirty="0"/>
          </a:p>
        </p:txBody>
      </p:sp>
      <p:sp>
        <p:nvSpPr>
          <p:cNvPr id="24" name="box_76"/>
          <p:cNvSpPr txBox="1"/>
          <p:nvPr/>
        </p:nvSpPr>
        <p:spPr>
          <a:xfrm>
            <a:off x="2788920" y="3858768"/>
            <a:ext cx="4224528" cy="3657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700" dirty="0">
                <a:solidFill>
                  <a:srgbClr val="111111"/>
                </a:solidFill>
                <a:latin typeface="Calibri" pitchFamily="34" charset="0"/>
                <a:ea typeface="Calibri" pitchFamily="34" charset="-122"/>
                <a:cs typeface="Calibri" pitchFamily="34" charset="-120"/>
              </a:rPr>
              <a:t>5  A study that was done on Leo Messi shows that he could run exceptionally fast ___ ___ ___ .</a:t>
            </a:r>
            <a:endParaRPr lang="en-US" sz="700" dirty="0"/>
          </a:p>
        </p:txBody>
      </p:sp>
      <p:sp>
        <p:nvSpPr>
          <p:cNvPr id="25" name="R1_la4"/>
          <p:cNvSpPr txBox="1"/>
          <p:nvPr/>
        </p:nvSpPr>
        <p:spPr>
          <a:xfrm>
            <a:off x="7068312" y="3886200"/>
            <a:ext cx="1755648"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with the ball</a:t>
            </a:r>
            <a:endParaRPr lang="en-US" sz="1200" dirty="0"/>
          </a:p>
        </p:txBody>
      </p:sp>
      <p:sp>
        <p:nvSpPr>
          <p:cNvPr id="26" name="box_77"/>
          <p:cNvSpPr txBox="1"/>
          <p:nvPr/>
        </p:nvSpPr>
        <p:spPr>
          <a:xfrm>
            <a:off x="2788920" y="4297680"/>
            <a:ext cx="4224528" cy="3657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6  He thinks Messi isn't a ___ ___ footballer.</a:t>
            </a:r>
            <a:endParaRPr lang="en-US" sz="1100" dirty="0"/>
          </a:p>
        </p:txBody>
      </p:sp>
      <p:sp>
        <p:nvSpPr>
          <p:cNvPr id="27" name="R1_la5"/>
          <p:cNvSpPr txBox="1"/>
          <p:nvPr/>
        </p:nvSpPr>
        <p:spPr>
          <a:xfrm>
            <a:off x="7068312" y="4325112"/>
            <a:ext cx="1755648"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typical superstar</a:t>
            </a:r>
            <a:endParaRPr lang="en-US" sz="1200" dirty="0"/>
          </a:p>
        </p:txBody>
      </p:sp>
      <p:sp>
        <p:nvSpPr>
          <p:cNvPr id="28" name="pageTag_7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p.48 · 5c, 5d, 5e · audio 5.10</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400"/>
                                        <p:tgtEl>
                                          <p:spTgt spid="23"/>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par>
                                <p:cTn id="20" presetID="10"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4"/>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4"/>
                                        </p:tgtEl>
                                      </p:cBhvr>
                                    </p:cmd>
                                  </p:childTnLst>
                                </p:cTn>
                              </p:par>
                            </p:childTnLst>
                          </p:cTn>
                        </p:par>
                      </p:childTnLst>
                    </p:cTn>
                  </p:par>
                </p:childTnLst>
              </p:cTn>
              <p:nextCondLst>
                <p:cond evt="onClick" delay="0">
                  <p:tgtEl>
                    <p:spTgt spid="14"/>
                  </p:tgtEl>
                </p:cond>
              </p:nextCondLst>
            </p:seq>
            <p:audio>
              <p:cMediaNode vol="80000">
                <p:cTn id="28" fill="hold" display="0">
                  <p:stCondLst>
                    <p:cond delay="indefinite"/>
                  </p:stCondLst>
                  <p:endCondLst>
                    <p:cond evt="onStopAudio" delay="0">
                      <p:tgtEl>
                        <p:sldTgt/>
                      </p:tgtEl>
                    </p:cond>
                  </p:endCondLst>
                </p:cTn>
                <p:tgtEl>
                  <p:spTgt spid="1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79"/>
          <p:cNvSpPr/>
          <p:nvPr/>
        </p:nvSpPr>
        <p:spPr>
          <a:xfrm>
            <a:off x="54864" y="54864"/>
            <a:ext cx="9034272" cy="5033772"/>
          </a:xfrm>
          <a:prstGeom prst="rect">
            <a:avLst/>
          </a:prstGeom>
          <a:ln w="114300">
            <a:solidFill>
              <a:srgbClr val="A8E6B4"/>
            </a:solidFill>
            <a:prstDash val="solid"/>
          </a:ln>
        </p:spPr>
      </p:sp>
      <p:pic>
        <p:nvPicPr>
          <p:cNvPr id="4" name="logo_8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8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Presentation · SB p.48</a:t>
            </a:r>
            <a:endParaRPr lang="en-US" sz="900" dirty="0"/>
          </a:p>
        </p:txBody>
      </p:sp>
      <p:sp>
        <p:nvSpPr>
          <p:cNvPr id="6" name="timer_8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8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2</a:t>
            </a:r>
            <a:endParaRPr lang="en-US" sz="1000" dirty="0"/>
          </a:p>
        </p:txBody>
      </p:sp>
      <p:sp>
        <p:nvSpPr>
          <p:cNvPr id="8" name="title_84"/>
          <p:cNvSpPr txBox="1"/>
          <p:nvPr/>
        </p:nvSpPr>
        <p:spPr>
          <a:xfrm rot="90000">
            <a:off x="320040" y="676656"/>
            <a:ext cx="293522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Brotherly love</a:t>
            </a:r>
            <a:endParaRPr lang="en-US" sz="1500" dirty="0"/>
          </a:p>
        </p:txBody>
      </p:sp>
      <p:sp>
        <p:nvSpPr>
          <p:cNvPr id="9" name="tape_85"/>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86"/>
          <p:cNvSpPr/>
          <p:nvPr/>
        </p:nvSpPr>
        <p:spPr>
          <a:xfrm rot="-720000">
            <a:off x="2688336" y="1069848"/>
            <a:ext cx="685800" cy="219456"/>
          </a:xfrm>
          <a:prstGeom prst="rect">
            <a:avLst/>
          </a:prstGeom>
          <a:solidFill>
            <a:srgbClr val="FFD84D">
              <a:alpha val="75000"/>
            </a:srgbClr>
          </a:solidFill>
          <a:ln w="6350">
            <a:solidFill>
              <a:srgbClr val="FFD84D"/>
            </a:solidFill>
            <a:prstDash val="solid"/>
          </a:ln>
        </p:spPr>
      </p:sp>
      <p:sp>
        <p:nvSpPr>
          <p:cNvPr id="11" name="rsign_87"/>
          <p:cNvSpPr txBox="1"/>
          <p:nvPr/>
        </p:nvSpPr>
        <p:spPr>
          <a:xfrm>
            <a:off x="320040" y="1298448"/>
            <a:ext cx="8503920" cy="384048"/>
          </a:xfrm>
          <a:prstGeom prst="rect">
            <a:avLst/>
          </a:prstGeom>
          <a:solidFill>
            <a:srgbClr val="48BDF2"/>
          </a:solidFill>
          <a:ln w="19050">
            <a:solidFill>
              <a:srgbClr val="111111"/>
            </a:solidFill>
          </a:ln>
        </p:spPr>
        <p:txBody>
          <a:bodyPr wrap="square" lIns="101600" tIns="101600" rIns="101600" bIns="101600" rtlCol="0" anchor="ctr"/>
          <a:lstStyle/>
          <a:p>
            <a:pPr indent="0" marL="0">
              <a:buNone/>
            </a:pPr>
            <a:r>
              <a:rPr lang="en-US" sz="1000" b="1" dirty="0">
                <a:solidFill>
                  <a:srgbClr val="FFFFFF"/>
                </a:solidFill>
                <a:latin typeface="Arial Black" pitchFamily="34" charset="0"/>
                <a:ea typeface="Arial Black" pitchFamily="34" charset="-122"/>
                <a:cs typeface="Arial Black" pitchFamily="34" charset="-120"/>
              </a:rPr>
              <a:t>READ! LEGGI!  </a:t>
            </a:r>
            <a:pPr indent="0" marL="0">
              <a:buNone/>
            </a:pPr>
            <a:r>
              <a:rPr lang="en-US" sz="1000" dirty="0">
                <a:solidFill>
                  <a:srgbClr val="FFFFFF"/>
                </a:solidFill>
                <a:latin typeface="Calibri" pitchFamily="34" charset="0"/>
                <a:ea typeface="Calibri" pitchFamily="34" charset="-122"/>
                <a:cs typeface="Calibri" pitchFamily="34" charset="-120"/>
              </a:rPr>
              <a:t>What did Alistair do? Then find the verbs.  </a:t>
            </a:r>
            <a:pPr indent="0" marL="0">
              <a:buNone/>
            </a:pPr>
            <a:r>
              <a:rPr lang="en-US" sz="950" i="1" dirty="0">
                <a:solidFill>
                  <a:srgbClr val="E2E8F0"/>
                </a:solidFill>
                <a:latin typeface="Calibri" pitchFamily="34" charset="0"/>
                <a:ea typeface="Calibri" pitchFamily="34" charset="-122"/>
                <a:cs typeface="Calibri" pitchFamily="34" charset="-120"/>
              </a:rPr>
              <a:t>Cosa ha fatto Alistair? Poi trova i verbi.</a:t>
            </a:r>
            <a:endParaRPr lang="en-US" sz="1000" dirty="0"/>
          </a:p>
        </p:txBody>
      </p:sp>
      <p:sp>
        <p:nvSpPr>
          <p:cNvPr id="12" name="rtext_88"/>
          <p:cNvSpPr txBox="1"/>
          <p:nvPr/>
        </p:nvSpPr>
        <p:spPr>
          <a:xfrm rot="-30000">
            <a:off x="320040" y="1810512"/>
            <a:ext cx="4572000" cy="2880360"/>
          </a:xfrm>
          <a:prstGeom prst="rect">
            <a:avLst/>
          </a:prstGeom>
          <a:solidFill>
            <a:srgbClr val="FFFDF5"/>
          </a:solidFill>
          <a:ln w="190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400"/>
              </a:spcAft>
              <a:buNone/>
            </a:pPr>
            <a:r>
              <a:rPr lang="en-US" sz="1300" b="1" dirty="0">
                <a:solidFill>
                  <a:srgbClr val="6D3FC0"/>
                </a:solidFill>
                <a:latin typeface="Calibri" pitchFamily="34" charset="0"/>
                <a:ea typeface="Calibri" pitchFamily="34" charset="-122"/>
                <a:cs typeface="Calibri" pitchFamily="34" charset="-120"/>
              </a:rPr>
              <a:t>Alistair sacrifices gold… to help his brother (adapted)</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Mexico, 2016, the world triathlon. As Jonny Brownlee entered the last kilometre of the run, he was winning by a long way – he'd gone very fast in the swimming and cycling. But then he began to feel ill, because he hadn't drunk enough in the heat, and he stopped. His brother, Alistair, was running behind him. When he saw that Jonny had stopped, he didn't run past him. He took his brother's arm and helped him to the finish. Seconds before the line, Henri Schoeman, who had been behind them, ran past and won.</a:t>
            </a:r>
            <a:endParaRPr lang="en-US" sz="1300" dirty="0"/>
          </a:p>
        </p:txBody>
      </p:sp>
      <p:sp>
        <p:nvSpPr>
          <p:cNvPr id="13" name="box_89"/>
          <p:cNvSpPr txBox="1"/>
          <p:nvPr/>
        </p:nvSpPr>
        <p:spPr>
          <a:xfrm>
            <a:off x="5056632" y="1810512"/>
            <a:ext cx="2185050" cy="51755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What did Alistair do?</a:t>
            </a:r>
            <a:endParaRPr lang="en-US" sz="1150" dirty="0"/>
          </a:p>
        </p:txBody>
      </p:sp>
      <p:sp>
        <p:nvSpPr>
          <p:cNvPr id="14" name="R1_ra0"/>
          <p:cNvSpPr txBox="1"/>
          <p:nvPr/>
        </p:nvSpPr>
        <p:spPr>
          <a:xfrm>
            <a:off x="7287402" y="1837944"/>
            <a:ext cx="1536558"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helped his brother – so he didn't win</a:t>
            </a:r>
            <a:endParaRPr lang="en-US" sz="1050" dirty="0"/>
          </a:p>
        </p:txBody>
      </p:sp>
      <p:sp>
        <p:nvSpPr>
          <p:cNvPr id="15" name="box_90"/>
          <p:cNvSpPr txBox="1"/>
          <p:nvPr/>
        </p:nvSpPr>
        <p:spPr>
          <a:xfrm>
            <a:off x="5056632" y="2401214"/>
            <a:ext cx="2185050" cy="51755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Find 2 past continuous verbs.</a:t>
            </a:r>
            <a:endParaRPr lang="en-US" sz="1150" dirty="0"/>
          </a:p>
        </p:txBody>
      </p:sp>
      <p:sp>
        <p:nvSpPr>
          <p:cNvPr id="16" name="R1_ra1"/>
          <p:cNvSpPr txBox="1"/>
          <p:nvPr/>
        </p:nvSpPr>
        <p:spPr>
          <a:xfrm>
            <a:off x="7287402" y="2428646"/>
            <a:ext cx="1536558"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was winning · was running</a:t>
            </a:r>
            <a:endParaRPr lang="en-US" sz="1050" dirty="0"/>
          </a:p>
        </p:txBody>
      </p:sp>
      <p:sp>
        <p:nvSpPr>
          <p:cNvPr id="17" name="box_91"/>
          <p:cNvSpPr txBox="1"/>
          <p:nvPr/>
        </p:nvSpPr>
        <p:spPr>
          <a:xfrm>
            <a:off x="5056632" y="2991917"/>
            <a:ext cx="2185050" cy="51755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Find 4 past perfect verbs.</a:t>
            </a:r>
            <a:endParaRPr lang="en-US" sz="1150" dirty="0"/>
          </a:p>
        </p:txBody>
      </p:sp>
      <p:sp>
        <p:nvSpPr>
          <p:cNvPr id="18" name="R1_ra2"/>
          <p:cNvSpPr txBox="1"/>
          <p:nvPr/>
        </p:nvSpPr>
        <p:spPr>
          <a:xfrm>
            <a:off x="7287402" y="3019349"/>
            <a:ext cx="1536558"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'd gone · hadn't drunk · had stopped · had been</a:t>
            </a:r>
            <a:endParaRPr lang="en-US" sz="1050" dirty="0"/>
          </a:p>
        </p:txBody>
      </p:sp>
      <p:sp>
        <p:nvSpPr>
          <p:cNvPr id="19" name="box_92"/>
          <p:cNvSpPr txBox="1"/>
          <p:nvPr/>
        </p:nvSpPr>
        <p:spPr>
          <a:xfrm>
            <a:off x="5056632" y="3582619"/>
            <a:ext cx="2185050" cy="51755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Why past continuous?</a:t>
            </a:r>
            <a:endParaRPr lang="en-US" sz="1150" dirty="0"/>
          </a:p>
        </p:txBody>
      </p:sp>
      <p:sp>
        <p:nvSpPr>
          <p:cNvPr id="20" name="R1_ra3"/>
          <p:cNvSpPr txBox="1"/>
          <p:nvPr/>
        </p:nvSpPr>
        <p:spPr>
          <a:xfrm>
            <a:off x="7287402" y="3610051"/>
            <a:ext cx="1536558"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in progress when the main events happened</a:t>
            </a:r>
            <a:endParaRPr lang="en-US" sz="1050" dirty="0"/>
          </a:p>
        </p:txBody>
      </p:sp>
      <p:sp>
        <p:nvSpPr>
          <p:cNvPr id="21" name="box_93"/>
          <p:cNvSpPr txBox="1"/>
          <p:nvPr/>
        </p:nvSpPr>
        <p:spPr>
          <a:xfrm>
            <a:off x="5056632" y="4173322"/>
            <a:ext cx="2185050" cy="51755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5  Why past perfect?</a:t>
            </a:r>
            <a:endParaRPr lang="en-US" sz="1150" dirty="0"/>
          </a:p>
        </p:txBody>
      </p:sp>
      <p:sp>
        <p:nvSpPr>
          <p:cNvPr id="22" name="R1_ra4"/>
          <p:cNvSpPr txBox="1"/>
          <p:nvPr/>
        </p:nvSpPr>
        <p:spPr>
          <a:xfrm>
            <a:off x="7287402" y="4200754"/>
            <a:ext cx="1536558"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happened BEFORE the main events</a:t>
            </a:r>
            <a:endParaRPr lang="en-US" sz="1050" dirty="0"/>
          </a:p>
        </p:txBody>
      </p:sp>
      <p:sp>
        <p:nvSpPr>
          <p:cNvPr id="23" name="pageTag_9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p.48 · 6a, 6b</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95"/>
          <p:cNvSpPr/>
          <p:nvPr/>
        </p:nvSpPr>
        <p:spPr>
          <a:xfrm>
            <a:off x="54864" y="54864"/>
            <a:ext cx="9034272" cy="5033772"/>
          </a:xfrm>
          <a:prstGeom prst="rect">
            <a:avLst/>
          </a:prstGeom>
          <a:ln w="114300">
            <a:solidFill>
              <a:srgbClr val="A8E6B4"/>
            </a:solidFill>
            <a:prstDash val="solid"/>
          </a:ln>
        </p:spPr>
      </p:sp>
      <p:pic>
        <p:nvPicPr>
          <p:cNvPr id="4" name="logo_9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9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Grammar Bank 5A p.140</a:t>
            </a:r>
            <a:endParaRPr lang="en-US" sz="900" dirty="0"/>
          </a:p>
        </p:txBody>
      </p:sp>
      <p:sp>
        <p:nvSpPr>
          <p:cNvPr id="6" name="timer_9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9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2</a:t>
            </a:r>
            <a:endParaRPr lang="en-US" sz="1000" dirty="0"/>
          </a:p>
        </p:txBody>
      </p:sp>
      <p:sp>
        <p:nvSpPr>
          <p:cNvPr id="8" name="title_100"/>
          <p:cNvSpPr txBox="1"/>
          <p:nvPr/>
        </p:nvSpPr>
        <p:spPr>
          <a:xfrm rot="90000">
            <a:off x="320040" y="676656"/>
            <a:ext cx="328269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Narrative tenses</a:t>
            </a:r>
            <a:endParaRPr lang="en-US" sz="1500" dirty="0"/>
          </a:p>
        </p:txBody>
      </p:sp>
      <p:sp>
        <p:nvSpPr>
          <p:cNvPr id="9" name="tape_101"/>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02"/>
          <p:cNvSpPr/>
          <p:nvPr/>
        </p:nvSpPr>
        <p:spPr>
          <a:xfrm rot="-720000">
            <a:off x="3035808" y="1069848"/>
            <a:ext cx="685800" cy="219456"/>
          </a:xfrm>
          <a:prstGeom prst="rect">
            <a:avLst/>
          </a:prstGeom>
          <a:solidFill>
            <a:srgbClr val="FFD84D">
              <a:alpha val="75000"/>
            </a:srgbClr>
          </a:solidFill>
          <a:ln w="6350">
            <a:solidFill>
              <a:srgbClr val="FFD84D"/>
            </a:solidFill>
            <a:prstDash val="solid"/>
          </a:ln>
        </p:spPr>
      </p:sp>
      <p:sp>
        <p:nvSpPr>
          <p:cNvPr id="11" name="rh_103"/>
          <p:cNvSpPr txBox="1"/>
          <p:nvPr/>
        </p:nvSpPr>
        <p:spPr>
          <a:xfrm>
            <a:off x="320040" y="1371600"/>
            <a:ext cx="2749296" cy="384048"/>
          </a:xfrm>
          <a:prstGeom prst="rect">
            <a:avLst/>
          </a:prstGeom>
          <a:solidFill>
            <a:srgbClr val="48BDF2"/>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past simple</a:t>
            </a:r>
            <a:endParaRPr lang="en-US" sz="1300" dirty="0"/>
          </a:p>
        </p:txBody>
      </p:sp>
      <p:sp>
        <p:nvSpPr>
          <p:cNvPr id="12" name="rb_104"/>
          <p:cNvSpPr txBox="1"/>
          <p:nvPr/>
        </p:nvSpPr>
        <p:spPr>
          <a:xfrm>
            <a:off x="320040"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A South African won the race.</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The plane didn't arrive on time.</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When I lived in Paris, I often went to watch Paris St-Germain.</a:t>
            </a:r>
            <a:endParaRPr lang="en-US" sz="125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the main events: what happened (first…, then…)</a:t>
            </a:r>
            <a:endParaRPr lang="en-US" sz="1250" dirty="0"/>
          </a:p>
        </p:txBody>
      </p:sp>
      <p:sp>
        <p:nvSpPr>
          <p:cNvPr id="13" name="rh_105"/>
          <p:cNvSpPr txBox="1"/>
          <p:nvPr/>
        </p:nvSpPr>
        <p:spPr>
          <a:xfrm>
            <a:off x="3197352" y="1371600"/>
            <a:ext cx="2749296" cy="384048"/>
          </a:xfrm>
          <a:prstGeom prst="rect">
            <a:avLst/>
          </a:prstGeom>
          <a:solidFill>
            <a:srgbClr val="EF2F2F"/>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past continuous</a:t>
            </a:r>
            <a:endParaRPr lang="en-US" sz="1300" dirty="0"/>
          </a:p>
        </p:txBody>
      </p:sp>
      <p:sp>
        <p:nvSpPr>
          <p:cNvPr id="14" name="rb_106"/>
          <p:cNvSpPr txBox="1"/>
          <p:nvPr/>
        </p:nvSpPr>
        <p:spPr>
          <a:xfrm>
            <a:off x="3197352"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I was driving along the motorway when it started snowing.</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It was a cold night and it was raining.</a:t>
            </a:r>
            <a:endParaRPr lang="en-US" sz="125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was / were + -ing: an action in progress, the background</a:t>
            </a:r>
            <a:endParaRPr lang="en-US" sz="1250" dirty="0"/>
          </a:p>
        </p:txBody>
      </p:sp>
      <p:sp>
        <p:nvSpPr>
          <p:cNvPr id="15" name="rh_107"/>
          <p:cNvSpPr txBox="1"/>
          <p:nvPr/>
        </p:nvSpPr>
        <p:spPr>
          <a:xfrm>
            <a:off x="6074664" y="1371600"/>
            <a:ext cx="2749296" cy="384048"/>
          </a:xfrm>
          <a:prstGeom prst="rect">
            <a:avLst/>
          </a:prstGeom>
          <a:solidFill>
            <a:srgbClr val="1FA463"/>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past perfect</a:t>
            </a:r>
            <a:endParaRPr lang="en-US" sz="1300" dirty="0"/>
          </a:p>
        </p:txBody>
      </p:sp>
      <p:sp>
        <p:nvSpPr>
          <p:cNvPr id="16" name="rb_108"/>
          <p:cNvSpPr txBox="1"/>
          <p:nvPr/>
        </p:nvSpPr>
        <p:spPr>
          <a:xfrm>
            <a:off x="6074664"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When they turned on the TV, the match had already finished.</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We couldn't get a table because we hadn't booked.</a:t>
            </a:r>
            <a:endParaRPr lang="en-US" sz="125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had + past participle: an EARLIER past action</a:t>
            </a:r>
            <a:endParaRPr lang="en-US" sz="1250" dirty="0"/>
          </a:p>
        </p:txBody>
      </p:sp>
      <p:sp>
        <p:nvSpPr>
          <p:cNvPr id="17" name="watch_109"/>
          <p:cNvSpPr txBox="1"/>
          <p:nvPr/>
        </p:nvSpPr>
        <p:spPr>
          <a:xfrm>
            <a:off x="320040" y="4133088"/>
            <a:ext cx="8503920" cy="530352"/>
          </a:xfrm>
          <a:prstGeom prst="rect">
            <a:avLst/>
          </a:prstGeom>
          <a:solidFill>
            <a:srgbClr val="FFE4E6"/>
          </a:solidFill>
          <a:ln w="19050">
            <a:solidFill>
              <a:srgbClr val="111111"/>
            </a:solidFill>
          </a:ln>
        </p:spPr>
        <p:txBody>
          <a:bodyPr wrap="square" lIns="101600" tIns="101600" rIns="101600" bIns="101600" rtlCol="0" anchor="ctr"/>
          <a:lstStyle/>
          <a:p>
            <a:pPr indent="0" marL="0">
              <a:buNone/>
            </a:pPr>
            <a:r>
              <a:rPr lang="en-US" sz="1050" b="1" dirty="0">
                <a:solidFill>
                  <a:srgbClr val="EF2F2F"/>
                </a:solidFill>
                <a:latin typeface="Calibri" pitchFamily="34" charset="0"/>
                <a:ea typeface="Calibri" pitchFamily="34" charset="-122"/>
                <a:cs typeface="Calibri" pitchFamily="34" charset="-120"/>
              </a:rPr>
              <a:t>Watch out!  </a:t>
            </a:r>
            <a:pPr indent="0" marL="0">
              <a:buNone/>
            </a:pPr>
            <a:r>
              <a:rPr lang="en-US" sz="1050" dirty="0">
                <a:solidFill>
                  <a:srgbClr val="111111"/>
                </a:solidFill>
                <a:latin typeface="Calibri" pitchFamily="34" charset="0"/>
                <a:ea typeface="Calibri" pitchFamily="34" charset="-122"/>
                <a:cs typeface="Calibri" pitchFamily="34" charset="-120"/>
              </a:rPr>
              <a:t>When I arrived, the film started (= I saw the start) ≠ the film had started (= I missed the start!).   had gone NOT had went</a:t>
            </a:r>
            <a:endParaRPr lang="en-US" sz="1050" dirty="0"/>
          </a:p>
        </p:txBody>
      </p:sp>
      <p:sp>
        <p:nvSpPr>
          <p:cNvPr id="18" name="pageTag_11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Bank 5A p.140 · audio 5.11, 5.12, 5.13, 5.14</a:t>
            </a:r>
            <a:endParaRPr lang="en-US" sz="1050" dirty="0"/>
          </a:p>
        </p:txBody>
      </p:sp>
      <p:pic>
        <p:nvPicPr>
          <p:cNvPr id="19" name="Media 0">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5166360" y="155448"/>
            <a:ext cx="384048" cy="384048"/>
          </a:xfrm>
          <a:prstGeom prst="rect">
            <a:avLst/>
          </a:prstGeom>
        </p:spPr>
      </p:pic>
      <p:sp>
        <p:nvSpPr>
          <p:cNvPr id="20" name="atr_111"/>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5.11</a:t>
            </a:r>
            <a:endParaRPr lang="en-US" sz="800" dirty="0"/>
          </a:p>
        </p:txBody>
      </p:sp>
      <p:pic>
        <p:nvPicPr>
          <p:cNvPr id="21" name="Media 1">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5641848" y="155448"/>
            <a:ext cx="384048" cy="384048"/>
          </a:xfrm>
          <a:prstGeom prst="rect">
            <a:avLst/>
          </a:prstGeom>
        </p:spPr>
      </p:pic>
      <p:sp>
        <p:nvSpPr>
          <p:cNvPr id="22" name="atr_112"/>
          <p:cNvSpPr txBox="1"/>
          <p:nvPr/>
        </p:nvSpPr>
        <p:spPr>
          <a:xfrm>
            <a:off x="5596128"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5.12</a:t>
            </a:r>
            <a:endParaRPr lang="en-US" sz="800" dirty="0"/>
          </a:p>
        </p:txBody>
      </p:sp>
      <p:pic>
        <p:nvPicPr>
          <p:cNvPr id="23" name="Media 2">
            <a:hlinkClick r:id="" action="ppaction://media"/>
          </p:cNvPr>
          <p:cNvPicPr>
            <a:picLocks noChangeAspect="1"/>
          </p:cNvPicPr>
          <p:nvPr>
            <a:audioFile r:link="rId9"/>
            <p:extLst>
              <p:ext uri="{DAA4B4D4-6D71-4841-9C94-3DE7FCFB9230}">
                <p14:media xmlns:p14="http://schemas.microsoft.com/office/powerpoint/2010/main" r:embed="rId10"/>
              </p:ext>
            </p:extLst>
          </p:nvPr>
        </p:nvPicPr>
        <p:blipFill>
          <a:blip r:embed="rId11"/>
          <a:stretch>
            <a:fillRect/>
          </a:stretch>
        </p:blipFill>
        <p:spPr>
          <a:xfrm>
            <a:off x="6117336" y="155448"/>
            <a:ext cx="384048" cy="384048"/>
          </a:xfrm>
          <a:prstGeom prst="rect">
            <a:avLst/>
          </a:prstGeom>
        </p:spPr>
      </p:pic>
      <p:sp>
        <p:nvSpPr>
          <p:cNvPr id="24" name="atr_113"/>
          <p:cNvSpPr txBox="1"/>
          <p:nvPr/>
        </p:nvSpPr>
        <p:spPr>
          <a:xfrm>
            <a:off x="6071616"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5.13</a:t>
            </a:r>
            <a:endParaRPr lang="en-US" sz="800" dirty="0"/>
          </a:p>
        </p:txBody>
      </p:sp>
      <p:pic>
        <p:nvPicPr>
          <p:cNvPr id="25" name="Media 3">
            <a:hlinkClick r:id="" action="ppaction://media"/>
          </p:cNvPr>
          <p:cNvPicPr>
            <a:picLocks noChangeAspect="1"/>
          </p:cNvPicPr>
          <p:nvPr>
            <a:audioFile r:link="rId12"/>
            <p:extLst>
              <p:ext uri="{DAA4B4D4-6D71-4841-9C94-3DE7FCFB9230}">
                <p14:media xmlns:p14="http://schemas.microsoft.com/office/powerpoint/2010/main" r:embed="rId13"/>
              </p:ext>
            </p:extLst>
          </p:nvPr>
        </p:nvPicPr>
        <p:blipFill>
          <a:blip r:embed="rId14"/>
          <a:stretch>
            <a:fillRect/>
          </a:stretch>
        </p:blipFill>
        <p:spPr>
          <a:xfrm>
            <a:off x="6592824" y="155448"/>
            <a:ext cx="384048" cy="384048"/>
          </a:xfrm>
          <a:prstGeom prst="rect">
            <a:avLst/>
          </a:prstGeom>
        </p:spPr>
      </p:pic>
      <p:sp>
        <p:nvSpPr>
          <p:cNvPr id="26" name="atr_114"/>
          <p:cNvSpPr txBox="1"/>
          <p:nvPr/>
        </p:nvSpPr>
        <p:spPr>
          <a:xfrm>
            <a:off x="6547104"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5.14</a:t>
            </a:r>
            <a:endParaRPr lang="en-US" sz="800" dirty="0"/>
          </a:p>
        </p:txBody>
      </p:sp>
    </p:spTree>
  </p:cSld>
  <p:clrMapOvr>
    <a:masterClrMapping/>
  </p:clrMapOvr>
  <p:transition spd="med">
    <p:push dir="l"/>
  </p:transition>
  <p:timing>
    <p:tnLst>
      <p:par>
        <p:cTn id="1" dur="indefinite" restart="never" nodeType="tmRoot">
          <p:childTnLst>
            <p:seq concurrent="1" nextAc="seek">
              <p:cTn id="3" restart="whenNotActive" fill="hold" evtFilter="cancelBubble" nodeType="interactiveSeq">
                <p:stCondLst>
                  <p:cond evt="onClick" delay="0">
                    <p:tgtEl>
                      <p:spTgt spid="19"/>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p:cTn id="7" dur="1" fill="hold"/>
                                        <p:tgtEl>
                                          <p:spTgt spid="19"/>
                                        </p:tgtEl>
                                      </p:cBhvr>
                                    </p:cmd>
                                  </p:childTnLst>
                                </p:cTn>
                              </p:par>
                            </p:childTnLst>
                          </p:cTn>
                        </p:par>
                      </p:childTnLst>
                    </p:cTn>
                  </p:par>
                </p:childTnLst>
              </p:cTn>
              <p:nextCondLst>
                <p:cond evt="onClick" delay="0">
                  <p:tgtEl>
                    <p:spTgt spid="19"/>
                  </p:tgtEl>
                </p:cond>
              </p:nextCondLst>
            </p:seq>
            <p:seq concurrent="1" nextAc="seek">
              <p:cTn id="8" restart="whenNotActive" fill="hold" evtFilter="cancelBubble" nodeType="interactiveSeq">
                <p:stCondLst>
                  <p:cond evt="onClick" delay="0">
                    <p:tgtEl>
                      <p:spTgt spid="2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1"/>
                                        </p:tgtEl>
                                      </p:cBhvr>
                                    </p:cmd>
                                  </p:childTnLst>
                                </p:cTn>
                              </p:par>
                            </p:childTnLst>
                          </p:cTn>
                        </p:par>
                      </p:childTnLst>
                    </p:cTn>
                  </p:par>
                </p:childTnLst>
              </p:cTn>
              <p:nextCondLst>
                <p:cond evt="onClick" delay="0">
                  <p:tgtEl>
                    <p:spTgt spid="21"/>
                  </p:tgtEl>
                </p:cond>
              </p:nextCondLst>
            </p:seq>
            <p:seq concurrent="1" nextAc="seek">
              <p:cTn id="13" restart="whenNotActive" fill="hold" evtFilter="cancelBubble" nodeType="interactiveSeq">
                <p:stCondLst>
                  <p:cond evt="onClick" delay="0">
                    <p:tgtEl>
                      <p:spTgt spid="23"/>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23"/>
                                        </p:tgtEl>
                                      </p:cBhvr>
                                    </p:cmd>
                                  </p:childTnLst>
                                </p:cTn>
                              </p:par>
                            </p:childTnLst>
                          </p:cTn>
                        </p:par>
                      </p:childTnLst>
                    </p:cTn>
                  </p:par>
                </p:childTnLst>
              </p:cTn>
              <p:nextCondLst>
                <p:cond evt="onClick" delay="0">
                  <p:tgtEl>
                    <p:spTgt spid="23"/>
                  </p:tgtEl>
                </p:cond>
              </p:nextCondLst>
            </p:seq>
            <p:seq concurrent="1" nextAc="seek">
              <p:cTn id="18" restart="whenNotActive" fill="hold" evtFilter="cancelBubble" nodeType="interactiveSeq">
                <p:stCondLst>
                  <p:cond evt="onClick" delay="0">
                    <p:tgtEl>
                      <p:spTgt spid="2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5"/>
                                        </p:tgtEl>
                                      </p:cBhvr>
                                    </p:cmd>
                                  </p:childTnLst>
                                </p:cTn>
                              </p:par>
                            </p:childTnLst>
                          </p:cTn>
                        </p:par>
                      </p:childTnLst>
                    </p:cTn>
                  </p:par>
                </p:childTnLst>
              </p:cTn>
              <p:nextCondLst>
                <p:cond evt="onClick" delay="0">
                  <p:tgtEl>
                    <p:spTgt spid="25"/>
                  </p:tgtEl>
                </p:cond>
              </p:nextCondLst>
            </p:seq>
            <p:audio>
              <p:cMediaNode vol="80000">
                <p:cTn id="23" fill="hold" display="0">
                  <p:stCondLst>
                    <p:cond delay="indefinite"/>
                  </p:stCondLst>
                  <p:endCondLst>
                    <p:cond evt="onStopAudio" delay="0">
                      <p:tgtEl>
                        <p:sldTgt/>
                      </p:tgtEl>
                    </p:cond>
                  </p:endCondLst>
                </p:cTn>
                <p:tgtEl>
                  <p:spTgt spid="19"/>
                </p:tgtEl>
              </p:cMediaNode>
            </p:audio>
            <p:audio>
              <p:cMediaNode vol="80000">
                <p:cTn id="24" fill="hold" display="0">
                  <p:stCondLst>
                    <p:cond delay="indefinite"/>
                  </p:stCondLst>
                  <p:endCondLst>
                    <p:cond evt="onStopAudio" delay="0">
                      <p:tgtEl>
                        <p:sldTgt/>
                      </p:tgtEl>
                    </p:cond>
                  </p:endCondLst>
                </p:cTn>
                <p:tgtEl>
                  <p:spTgt spid="21"/>
                </p:tgtEl>
              </p:cMediaNode>
            </p:audio>
            <p:audio>
              <p:cMediaNode vol="80000">
                <p:cTn id="25" fill="hold" display="0">
                  <p:stCondLst>
                    <p:cond delay="indefinite"/>
                  </p:stCondLst>
                  <p:endCondLst>
                    <p:cond evt="onStopAudio" delay="0">
                      <p:tgtEl>
                        <p:sldTgt/>
                      </p:tgtEl>
                    </p:cond>
                  </p:endCondLst>
                </p:cTn>
                <p:tgtEl>
                  <p:spTgt spid="23"/>
                </p:tgtEl>
              </p:cMediaNode>
            </p:audio>
            <p:audio>
              <p:cMediaNode vol="80000">
                <p:cTn id="26" fill="hold" display="0">
                  <p:stCondLst>
                    <p:cond delay="indefinite"/>
                  </p:stCondLst>
                  <p:endCondLst>
                    <p:cond evt="onStopAudio" delay="0">
                      <p:tgtEl>
                        <p:sldTgt/>
                      </p:tgtEl>
                    </p:cond>
                  </p:endCondLst>
                </p:cTn>
                <p:tgtEl>
                  <p:spTgt spid="25"/>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15"/>
          <p:cNvSpPr/>
          <p:nvPr/>
        </p:nvSpPr>
        <p:spPr>
          <a:xfrm>
            <a:off x="54864" y="54864"/>
            <a:ext cx="9034272" cy="5033772"/>
          </a:xfrm>
          <a:prstGeom prst="rect">
            <a:avLst/>
          </a:prstGeom>
          <a:ln w="114300">
            <a:solidFill>
              <a:srgbClr val="A8E6B4"/>
            </a:solidFill>
            <a:prstDash val="solid"/>
          </a:ln>
        </p:spPr>
      </p:sp>
      <p:pic>
        <p:nvPicPr>
          <p:cNvPr id="4" name="logo_11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1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Grammar Bank 5A · practice</a:t>
            </a:r>
            <a:endParaRPr lang="en-US" sz="900" dirty="0"/>
          </a:p>
        </p:txBody>
      </p:sp>
      <p:sp>
        <p:nvSpPr>
          <p:cNvPr id="6" name="timer_11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1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2</a:t>
            </a:r>
            <a:endParaRPr lang="en-US" sz="1000" dirty="0"/>
          </a:p>
        </p:txBody>
      </p:sp>
      <p:sp>
        <p:nvSpPr>
          <p:cNvPr id="8" name="title_120"/>
          <p:cNvSpPr txBox="1"/>
          <p:nvPr/>
        </p:nvSpPr>
        <p:spPr>
          <a:xfrm rot="90000">
            <a:off x="320040" y="676656"/>
            <a:ext cx="258775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Which tense?</a:t>
            </a:r>
            <a:endParaRPr lang="en-US" sz="1500" dirty="0"/>
          </a:p>
        </p:txBody>
      </p:sp>
      <p:sp>
        <p:nvSpPr>
          <p:cNvPr id="9" name="tape_121"/>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22"/>
          <p:cNvSpPr/>
          <p:nvPr/>
        </p:nvSpPr>
        <p:spPr>
          <a:xfrm rot="-720000">
            <a:off x="2340864" y="1069848"/>
            <a:ext cx="685800" cy="219456"/>
          </a:xfrm>
          <a:prstGeom prst="rect">
            <a:avLst/>
          </a:prstGeom>
          <a:solidFill>
            <a:srgbClr val="FFD84D">
              <a:alpha val="75000"/>
            </a:srgbClr>
          </a:solidFill>
          <a:ln w="6350">
            <a:solidFill>
              <a:srgbClr val="FFD84D"/>
            </a:solidFill>
            <a:prstDash val="solid"/>
          </a:ln>
        </p:spPr>
      </p:sp>
      <p:sp>
        <p:nvSpPr>
          <p:cNvPr id="11" name="post_123"/>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24"/>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3" name="signB_12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Grammar Bank 5A: a 1–5 and b 1–4. Then check!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Grammar Bank 5A: a 1–5 e b 1–4. Poi controlla!</a:t>
            </a:r>
            <a:endParaRPr lang="en-US" sz="1250" dirty="0"/>
          </a:p>
        </p:txBody>
      </p:sp>
      <p:sp>
        <p:nvSpPr>
          <p:cNvPr id="14" name="iconBack_126"/>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27" descr="pi:PiPencilSimple">    </p:cNvPr>
          <p:cNvPicPr>
            <a:picLocks noChangeAspect="1"/>
          </p:cNvPicPr>
          <p:nvPr/>
        </p:nvPicPr>
        <p:blipFill>
          <a:blip r:embed="rId3"/>
          <a:stretch>
            <a:fillRect/>
          </a:stretch>
        </p:blipFill>
        <p:spPr>
          <a:xfrm>
            <a:off x="914400" y="3474720"/>
            <a:ext cx="685800" cy="685800"/>
          </a:xfrm>
          <a:prstGeom prst="rect">
            <a:avLst/>
          </a:prstGeom>
        </p:spPr>
      </p:pic>
      <p:sp>
        <p:nvSpPr>
          <p:cNvPr id="16" name="box_128"/>
          <p:cNvSpPr txBox="1"/>
          <p:nvPr/>
        </p:nvSpPr>
        <p:spPr>
          <a:xfrm>
            <a:off x="2788920" y="1371600"/>
            <a:ext cx="3379622"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a 1–5  (in your book, p.140)</a:t>
            </a:r>
            <a:endParaRPr lang="en-US" sz="1200" dirty="0"/>
          </a:p>
        </p:txBody>
      </p:sp>
      <p:sp>
        <p:nvSpPr>
          <p:cNvPr id="17" name="R1_a0"/>
          <p:cNvSpPr txBox="1"/>
          <p:nvPr/>
        </p:nvSpPr>
        <p:spPr>
          <a:xfrm>
            <a:off x="6223406" y="1408176"/>
            <a:ext cx="260055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1 had trained · 2 was cycling · 3 wanted · 4 had already started · 5 hadn't scored</a:t>
            </a:r>
            <a:endParaRPr lang="en-US" sz="1100" dirty="0"/>
          </a:p>
        </p:txBody>
      </p:sp>
      <p:sp>
        <p:nvSpPr>
          <p:cNvPr id="18" name="box_129"/>
          <p:cNvSpPr txBox="1"/>
          <p:nvPr/>
        </p:nvSpPr>
        <p:spPr>
          <a:xfrm>
            <a:off x="2788920" y="2055571"/>
            <a:ext cx="3379622"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b1  The accident ___ when they ___ home. (happen, drive)</a:t>
            </a:r>
            <a:endParaRPr lang="en-US" sz="1200" dirty="0"/>
          </a:p>
        </p:txBody>
      </p:sp>
      <p:sp>
        <p:nvSpPr>
          <p:cNvPr id="19" name="R1_a1"/>
          <p:cNvSpPr txBox="1"/>
          <p:nvPr/>
        </p:nvSpPr>
        <p:spPr>
          <a:xfrm>
            <a:off x="6223406" y="2092147"/>
            <a:ext cx="260055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happened · were driving</a:t>
            </a:r>
            <a:endParaRPr lang="en-US" sz="1150" dirty="0"/>
          </a:p>
        </p:txBody>
      </p:sp>
      <p:sp>
        <p:nvSpPr>
          <p:cNvPr id="20" name="box_130"/>
          <p:cNvSpPr txBox="1"/>
          <p:nvPr/>
        </p:nvSpPr>
        <p:spPr>
          <a:xfrm>
            <a:off x="2788920" y="2739542"/>
            <a:ext cx="3379622"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b2  The crowd ___ when the referee ___ the final whistle. (cheer, blow)</a:t>
            </a:r>
            <a:endParaRPr lang="en-US" sz="1200" dirty="0"/>
          </a:p>
        </p:txBody>
      </p:sp>
      <p:sp>
        <p:nvSpPr>
          <p:cNvPr id="21" name="R1_a2"/>
          <p:cNvSpPr txBox="1"/>
          <p:nvPr/>
        </p:nvSpPr>
        <p:spPr>
          <a:xfrm>
            <a:off x="6223406" y="2776118"/>
            <a:ext cx="260055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cheered · blew</a:t>
            </a:r>
            <a:endParaRPr lang="en-US" sz="1150" dirty="0"/>
          </a:p>
        </p:txBody>
      </p:sp>
      <p:sp>
        <p:nvSpPr>
          <p:cNvPr id="22" name="box_131"/>
          <p:cNvSpPr txBox="1"/>
          <p:nvPr/>
        </p:nvSpPr>
        <p:spPr>
          <a:xfrm>
            <a:off x="2788920" y="3423514"/>
            <a:ext cx="3379622"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b3  I ___ Jane at first because she ___ so much. (not recognize, change)</a:t>
            </a:r>
            <a:endParaRPr lang="en-US" sz="1200" dirty="0"/>
          </a:p>
        </p:txBody>
      </p:sp>
      <p:sp>
        <p:nvSpPr>
          <p:cNvPr id="23" name="R1_a3"/>
          <p:cNvSpPr txBox="1"/>
          <p:nvPr/>
        </p:nvSpPr>
        <p:spPr>
          <a:xfrm>
            <a:off x="6223406" y="3460090"/>
            <a:ext cx="260055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didn't recognize · had changed</a:t>
            </a:r>
            <a:endParaRPr lang="en-US" sz="1150" dirty="0"/>
          </a:p>
        </p:txBody>
      </p:sp>
      <p:sp>
        <p:nvSpPr>
          <p:cNvPr id="24" name="box_132"/>
          <p:cNvSpPr txBox="1"/>
          <p:nvPr/>
        </p:nvSpPr>
        <p:spPr>
          <a:xfrm>
            <a:off x="2788920" y="4107485"/>
            <a:ext cx="3379622"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b4  The police stopped my sister because she ___ a seat belt. (not wear)</a:t>
            </a:r>
            <a:endParaRPr lang="en-US" sz="1200" dirty="0"/>
          </a:p>
        </p:txBody>
      </p:sp>
      <p:sp>
        <p:nvSpPr>
          <p:cNvPr id="25" name="R1_a4"/>
          <p:cNvSpPr txBox="1"/>
          <p:nvPr/>
        </p:nvSpPr>
        <p:spPr>
          <a:xfrm>
            <a:off x="6223406" y="4144061"/>
            <a:ext cx="2600554"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wasn't wearing</a:t>
            </a:r>
            <a:endParaRPr lang="en-US" sz="1150" dirty="0"/>
          </a:p>
        </p:txBody>
      </p:sp>
      <p:sp>
        <p:nvSpPr>
          <p:cNvPr id="26" name="pageTag_13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Bank 5A p.140 · a 1–5, b 1–4 (a 6–9, b 5–8 = homework)</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400"/>
                                        <p:tgtEl>
                                          <p:spTgt spid="23"/>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34"/>
          <p:cNvSpPr/>
          <p:nvPr/>
        </p:nvSpPr>
        <p:spPr>
          <a:xfrm>
            <a:off x="54864" y="54864"/>
            <a:ext cx="9034272" cy="5033772"/>
          </a:xfrm>
          <a:prstGeom prst="rect">
            <a:avLst/>
          </a:prstGeom>
          <a:ln w="114300">
            <a:solidFill>
              <a:srgbClr val="A8E6B4"/>
            </a:solidFill>
            <a:prstDash val="solid"/>
          </a:ln>
        </p:spPr>
      </p:sp>
      <p:pic>
        <p:nvPicPr>
          <p:cNvPr id="4" name="logo_13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3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Communication p.107 / p.112</a:t>
            </a:r>
            <a:endParaRPr lang="en-US" sz="900" dirty="0"/>
          </a:p>
        </p:txBody>
      </p:sp>
      <p:sp>
        <p:nvSpPr>
          <p:cNvPr id="6" name="timer_13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13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2</a:t>
            </a:r>
            <a:endParaRPr lang="en-US" sz="1000" dirty="0"/>
          </a:p>
        </p:txBody>
      </p:sp>
      <p:sp>
        <p:nvSpPr>
          <p:cNvPr id="8" name="title_139"/>
          <p:cNvSpPr txBox="1"/>
          <p:nvPr/>
        </p:nvSpPr>
        <p:spPr>
          <a:xfrm rot="90000">
            <a:off x="320040" y="676656"/>
            <a:ext cx="363016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Good sportsmanship</a:t>
            </a:r>
            <a:endParaRPr lang="en-US" sz="1500" dirty="0"/>
          </a:p>
        </p:txBody>
      </p:sp>
      <p:sp>
        <p:nvSpPr>
          <p:cNvPr id="9" name="tape_140"/>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41"/>
          <p:cNvSpPr/>
          <p:nvPr/>
        </p:nvSpPr>
        <p:spPr>
          <a:xfrm rot="-720000">
            <a:off x="3383280" y="1069848"/>
            <a:ext cx="685800" cy="219456"/>
          </a:xfrm>
          <a:prstGeom prst="rect">
            <a:avLst/>
          </a:prstGeom>
          <a:solidFill>
            <a:srgbClr val="FFD84D">
              <a:alpha val="75000"/>
            </a:srgbClr>
          </a:solidFill>
          <a:ln w="6350">
            <a:solidFill>
              <a:srgbClr val="FFD84D"/>
            </a:solidFill>
            <a:prstDash val="solid"/>
          </a:ln>
        </p:spPr>
      </p:sp>
      <p:sp>
        <p:nvSpPr>
          <p:cNvPr id="11" name="post_142"/>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43"/>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14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 and B: read a different true story. Then tell it!</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 e B: leggete una storia vera diversa. Poi raccontatela!</a:t>
            </a:r>
            <a:endParaRPr lang="en-US" sz="1250" dirty="0"/>
          </a:p>
        </p:txBody>
      </p:sp>
      <p:sp>
        <p:nvSpPr>
          <p:cNvPr id="14" name="num_145"/>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146"/>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Student A: go to p.107 – Kenyan runner Abel Mutai. Student B: go to p.112 – Canadian sailor Lawrence Lemieux.</a:t>
            </a:r>
            <a:endParaRPr lang="en-US" sz="950" dirty="0"/>
          </a:p>
        </p:txBody>
      </p:sp>
      <p:sp>
        <p:nvSpPr>
          <p:cNvPr id="16" name="num_147"/>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148"/>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Read your story. Underline all the past continuous and past perfect verbs.</a:t>
            </a:r>
            <a:endParaRPr lang="en-US" sz="1250" dirty="0"/>
          </a:p>
        </p:txBody>
      </p:sp>
      <p:sp>
        <p:nvSpPr>
          <p:cNvPr id="18" name="num_149"/>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150"/>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Cover the story. Tell it to your partner using the prompts in the book.</a:t>
            </a:r>
            <a:endParaRPr lang="en-US" sz="1250" dirty="0"/>
          </a:p>
        </p:txBody>
      </p:sp>
      <p:sp>
        <p:nvSpPr>
          <p:cNvPr id="20" name="num_151"/>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152"/>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Listener: ask one question at the end. Then swap.</a:t>
            </a:r>
            <a:endParaRPr lang="en-US" sz="1250" dirty="0"/>
          </a:p>
        </p:txBody>
      </p:sp>
      <p:sp>
        <p:nvSpPr>
          <p:cNvPr id="22" name="num_153"/>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3" name="box_154"/>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Who was more heroic – Alistair, Abel or Lawrence? Why?</a:t>
            </a:r>
            <a:endParaRPr lang="en-US" sz="1250" dirty="0"/>
          </a:p>
        </p:txBody>
      </p:sp>
      <p:sp>
        <p:nvSpPr>
          <p:cNvPr id="24" name="bubble_155"/>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i="1" dirty="0">
                <a:solidFill>
                  <a:srgbClr val="111111"/>
                </a:solidFill>
                <a:latin typeface="Calibri" pitchFamily="34" charset="0"/>
                <a:ea typeface="Calibri" pitchFamily="34" charset="-122"/>
                <a:cs typeface="Calibri" pitchFamily="34" charset="-120"/>
              </a:rPr>
              <a:t>He was running in a race in Spain when… He had thought that… So he…</a:t>
            </a:r>
            <a:endParaRPr lang="en-US" sz="1150" dirty="0"/>
          </a:p>
        </p:txBody>
      </p:sp>
      <p:sp>
        <p:nvSpPr>
          <p:cNvPr id="25" name="pageTag_15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p.48 · 6e, 6f · Communication Good sportsmanship A p.107, B p.112</a:t>
            </a:r>
            <a:endParaRPr lang="en-US" sz="1050" dirty="0"/>
          </a:p>
        </p:txBody>
      </p:sp>
      <p:sp>
        <p:nvSpPr>
          <p:cNvPr id="26" name="pframe_157"/>
          <p:cNvSpPr/>
          <p:nvPr/>
        </p:nvSpPr>
        <p:spPr>
          <a:xfrm rot="-120000">
            <a:off x="685800" y="3154680"/>
            <a:ext cx="1371600" cy="153619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7" name="pimg_158" descr="The Brownlees">    </p:cNvPr>
          <p:cNvPicPr>
            <a:picLocks noChangeAspect="1"/>
          </p:cNvPicPr>
          <p:nvPr/>
        </p:nvPicPr>
        <p:blipFill>
          <a:blip r:embed="rId3"/>
          <a:srcRect l="0" r="0" t="0" b="0"/>
          <a:stretch/>
        </p:blipFill>
        <p:spPr>
          <a:xfrm rot="-120000">
            <a:off x="758952" y="3227832"/>
            <a:ext cx="1225296" cy="1115568"/>
          </a:xfrm>
          <a:prstGeom prst="rect">
            <a:avLst/>
          </a:prstGeom>
        </p:spPr>
      </p:pic>
      <p:sp>
        <p:nvSpPr>
          <p:cNvPr id="28" name="pcap_159"/>
          <p:cNvSpPr txBox="1"/>
          <p:nvPr/>
        </p:nvSpPr>
        <p:spPr>
          <a:xfrm rot="-120000">
            <a:off x="685800" y="4352544"/>
            <a:ext cx="137160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The Brownlees</a:t>
            </a:r>
            <a:endParaRPr lang="en-US" sz="1100" dirty="0"/>
          </a:p>
        </p:txBody>
      </p:sp>
    </p:spTree>
  </p:cSld>
  <p:clrMapOvr>
    <a:masterClrMapping/>
  </p:clrMapOvr>
  <p:transition spd="med">
    <p:push dir="l"/>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60"/>
          <p:cNvSpPr/>
          <p:nvPr/>
        </p:nvSpPr>
        <p:spPr>
          <a:xfrm>
            <a:off x="54864" y="54864"/>
            <a:ext cx="9034272" cy="5033772"/>
          </a:xfrm>
          <a:prstGeom prst="rect">
            <a:avLst/>
          </a:prstGeom>
          <a:ln w="114300">
            <a:solidFill>
              <a:srgbClr val="A8E6B4"/>
            </a:solidFill>
            <a:prstDash val="solid"/>
          </a:ln>
        </p:spPr>
      </p:sp>
      <p:pic>
        <p:nvPicPr>
          <p:cNvPr id="4" name="logo_16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Telling an anecdote</a:t>
            </a:r>
            <a:endParaRPr lang="en-US" sz="900" dirty="0"/>
          </a:p>
        </p:txBody>
      </p:sp>
      <p:sp>
        <p:nvSpPr>
          <p:cNvPr id="6" name="timer_16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16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2</a:t>
            </a:r>
            <a:endParaRPr lang="en-US" sz="1000" dirty="0"/>
          </a:p>
        </p:txBody>
      </p:sp>
      <p:sp>
        <p:nvSpPr>
          <p:cNvPr id="8" name="title_165"/>
          <p:cNvSpPr txBox="1"/>
          <p:nvPr/>
        </p:nvSpPr>
        <p:spPr>
          <a:xfrm rot="90000">
            <a:off x="320040" y="676656"/>
            <a:ext cx="3977640"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Two stories, one lie</a:t>
            </a:r>
            <a:endParaRPr lang="en-US" sz="1500" dirty="0"/>
          </a:p>
        </p:txBody>
      </p:sp>
      <p:sp>
        <p:nvSpPr>
          <p:cNvPr id="9" name="tape_166"/>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67"/>
          <p:cNvSpPr/>
          <p:nvPr/>
        </p:nvSpPr>
        <p:spPr>
          <a:xfrm rot="-720000">
            <a:off x="3730752" y="1069848"/>
            <a:ext cx="685800" cy="219456"/>
          </a:xfrm>
          <a:prstGeom prst="rect">
            <a:avLst/>
          </a:prstGeom>
          <a:solidFill>
            <a:srgbClr val="FFD84D">
              <a:alpha val="75000"/>
            </a:srgbClr>
          </a:solidFill>
          <a:ln w="6350">
            <a:solidFill>
              <a:srgbClr val="FFD84D"/>
            </a:solidFill>
            <a:prstDash val="solid"/>
          </a:ln>
        </p:spPr>
      </p:sp>
      <p:sp>
        <p:nvSpPr>
          <p:cNvPr id="11" name="post_168"/>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69"/>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17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Two topics: one true story, one invented. Guess!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Due argomenti: una storia vera, una inventata. Indovina!</a:t>
            </a:r>
            <a:endParaRPr lang="en-US" sz="1250" dirty="0"/>
          </a:p>
        </p:txBody>
      </p:sp>
      <p:sp>
        <p:nvSpPr>
          <p:cNvPr id="14" name="box_171"/>
          <p:cNvSpPr txBox="1"/>
          <p:nvPr/>
        </p:nvSpPr>
        <p:spPr>
          <a:xfrm>
            <a:off x="2788920" y="1371600"/>
            <a:ext cx="6035040" cy="51206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a really exciting sports event you saw – When and where was it? Who was playing? What happened? Why was it so exciting?</a:t>
            </a:r>
            <a:endParaRPr lang="en-US" sz="1100" dirty="0"/>
          </a:p>
        </p:txBody>
      </p:sp>
      <p:sp>
        <p:nvSpPr>
          <p:cNvPr id="15" name="box_172"/>
          <p:cNvSpPr txBox="1"/>
          <p:nvPr/>
        </p:nvSpPr>
        <p:spPr>
          <a:xfrm>
            <a:off x="2788920" y="2011680"/>
            <a:ext cx="6035040" cy="512064"/>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a time you had an accident or got a sports injury – When and where did it happen? What were you doing? What happened next? How long did it take you to recover?</a:t>
            </a:r>
            <a:endParaRPr lang="en-US" sz="1100" dirty="0"/>
          </a:p>
        </p:txBody>
      </p:sp>
      <p:sp>
        <p:nvSpPr>
          <p:cNvPr id="16" name="box_173"/>
          <p:cNvSpPr txBox="1"/>
          <p:nvPr/>
        </p:nvSpPr>
        <p:spPr>
          <a:xfrm>
            <a:off x="2788920" y="2651760"/>
            <a:ext cx="6035040" cy="512064"/>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a time you saw or met someone famous – When was it? Where were you? Who were you with? What was the celebrity doing? Did you speak to him / her?</a:t>
            </a:r>
            <a:endParaRPr lang="en-US" sz="1100" dirty="0"/>
          </a:p>
        </p:txBody>
      </p:sp>
      <p:sp>
        <p:nvSpPr>
          <p:cNvPr id="17" name="box_174"/>
          <p:cNvSpPr txBox="1"/>
          <p:nvPr/>
        </p:nvSpPr>
        <p:spPr>
          <a:xfrm>
            <a:off x="2788920" y="3291840"/>
            <a:ext cx="6035040" cy="512064"/>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a time you got lost – Where were you going? How were you travelling? Why did you get lost? What happened in the end?</a:t>
            </a:r>
            <a:endParaRPr lang="en-US" sz="1100" dirty="0"/>
          </a:p>
        </p:txBody>
      </p:sp>
      <p:sp>
        <p:nvSpPr>
          <p:cNvPr id="18" name="box_175"/>
          <p:cNvSpPr txBox="1"/>
          <p:nvPr/>
        </p:nvSpPr>
        <p:spPr>
          <a:xfrm>
            <a:off x="2788920" y="3931920"/>
            <a:ext cx="6035040" cy="512064"/>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a time you missed or nearly missed something important (e.g. a flight, an exam, a date, etc.) – What did you miss? Why? How did you feel?</a:t>
            </a:r>
            <a:endParaRPr lang="en-US" sz="1100" dirty="0"/>
          </a:p>
        </p:txBody>
      </p:sp>
      <p:sp>
        <p:nvSpPr>
          <p:cNvPr id="19" name="sticky_176"/>
          <p:cNvSpPr txBox="1"/>
          <p:nvPr/>
        </p:nvSpPr>
        <p:spPr>
          <a:xfrm rot="-120000">
            <a:off x="411480" y="3611880"/>
            <a:ext cx="2194560" cy="105156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I'm going to tell you about a time when… · This happened a few years ago… · Wow! Really? · What happened next?</a:t>
            </a:r>
            <a:endParaRPr lang="en-US" sz="1150" dirty="0"/>
          </a:p>
        </p:txBody>
      </p:sp>
      <p:sp>
        <p:nvSpPr>
          <p:cNvPr id="20" name="pageTag_17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p.49 · 7a, 7b · Telling an anecdote</a:t>
            </a:r>
            <a:endParaRPr lang="en-US" sz="1050" dirty="0"/>
          </a:p>
        </p:txBody>
      </p:sp>
    </p:spTree>
  </p:cSld>
  <p:clrMapOvr>
    <a:masterClrMapping/>
  </p:clrMapOvr>
  <p:transition spd="med">
    <p:push dir="l"/>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78"/>
          <p:cNvSpPr/>
          <p:nvPr/>
        </p:nvSpPr>
        <p:spPr>
          <a:xfrm>
            <a:off x="54864" y="54864"/>
            <a:ext cx="9034272" cy="5033772"/>
          </a:xfrm>
          <a:prstGeom prst="rect">
            <a:avLst/>
          </a:prstGeom>
          <a:ln w="114300">
            <a:solidFill>
              <a:srgbClr val="A8E6B4"/>
            </a:solidFill>
            <a:prstDash val="solid"/>
          </a:ln>
        </p:spPr>
      </p:sp>
      <p:pic>
        <p:nvPicPr>
          <p:cNvPr id="4" name="logo_17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18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2</a:t>
            </a:r>
            <a:endParaRPr lang="en-US" sz="1000" dirty="0"/>
          </a:p>
        </p:txBody>
      </p:sp>
      <p:sp>
        <p:nvSpPr>
          <p:cNvPr id="6" name="title_181"/>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tape_182"/>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8" name="tape_183"/>
          <p:cNvSpPr/>
          <p:nvPr/>
        </p:nvSpPr>
        <p:spPr>
          <a:xfrm rot="-720000">
            <a:off x="3904488" y="1069848"/>
            <a:ext cx="685800" cy="219456"/>
          </a:xfrm>
          <a:prstGeom prst="rect">
            <a:avLst/>
          </a:prstGeom>
          <a:solidFill>
            <a:srgbClr val="FFD84D">
              <a:alpha val="75000"/>
            </a:srgbClr>
          </a:solidFill>
          <a:ln w="6350">
            <a:solidFill>
              <a:srgbClr val="FFD84D"/>
            </a:solidFill>
            <a:prstDash val="solid"/>
          </a:ln>
        </p:spPr>
      </p:sp>
      <p:sp>
        <p:nvSpPr>
          <p:cNvPr id="9" name="sub_184"/>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10" name="box_185"/>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understand an interview with a referee.</a:t>
            </a:r>
            <a:endParaRPr lang="en-US" sz="1350" dirty="0"/>
          </a:p>
        </p:txBody>
      </p:sp>
      <p:sp>
        <p:nvSpPr>
          <p:cNvPr id="11" name="faces_186"/>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187"/>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I can use the past simple, past continuous and past perfect.</a:t>
            </a:r>
            <a:endParaRPr lang="en-US" sz="1200" dirty="0"/>
          </a:p>
        </p:txBody>
      </p:sp>
      <p:sp>
        <p:nvSpPr>
          <p:cNvPr id="13" name="faces_188"/>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box_189"/>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I can tell an anecdote about something that happened to me.</a:t>
            </a:r>
            <a:endParaRPr lang="en-US" sz="1200" dirty="0"/>
          </a:p>
        </p:txBody>
      </p:sp>
      <p:sp>
        <p:nvSpPr>
          <p:cNvPr id="15" name="faces_190"/>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6" name="hw_191"/>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5A: 3a, 3b, 3c</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Grammar Bank 5A: a 6–9, b 5–8</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Writing p.118 (optional)</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5A-2</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7" name="stamp_192"/>
          <p:cNvSpPr txBox="1"/>
          <p:nvPr/>
        </p:nvSpPr>
        <p:spPr>
          <a:xfrm>
            <a:off x="365760" y="3657600"/>
            <a:ext cx="475488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5B part 1 · #thewaywemet · used to</a:t>
            </a:r>
            <a:endParaRPr lang="en-US" sz="120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3"/>
          <p:cNvSpPr/>
          <p:nvPr/>
        </p:nvSpPr>
        <p:spPr>
          <a:xfrm>
            <a:off x="54864" y="54864"/>
            <a:ext cx="9034272" cy="5033772"/>
          </a:xfrm>
          <a:prstGeom prst="rect">
            <a:avLst/>
          </a:prstGeom>
          <a:ln w="114300">
            <a:solidFill>
              <a:srgbClr val="A8E6B4"/>
            </a:solidFill>
            <a:prstDash val="solid"/>
          </a:ln>
        </p:spPr>
      </p:sp>
      <p:pic>
        <p:nvPicPr>
          <p:cNvPr id="4" name="logo_19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9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Fair play</a:t>
            </a:r>
            <a:endParaRPr lang="en-US" sz="900" dirty="0"/>
          </a:p>
        </p:txBody>
      </p:sp>
      <p:sp>
        <p:nvSpPr>
          <p:cNvPr id="6" name="timer_19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197"/>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19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2</a:t>
            </a:r>
            <a:endParaRPr lang="en-US" sz="1000" dirty="0"/>
          </a:p>
        </p:txBody>
      </p:sp>
      <p:sp>
        <p:nvSpPr>
          <p:cNvPr id="9" name="title_199"/>
          <p:cNvSpPr txBox="1"/>
          <p:nvPr/>
        </p:nvSpPr>
        <p:spPr>
          <a:xfrm rot="90000">
            <a:off x="320040" y="676656"/>
            <a:ext cx="380390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You're the referee!</a:t>
            </a:r>
            <a:endParaRPr lang="en-US" sz="1500" dirty="0"/>
          </a:p>
        </p:txBody>
      </p:sp>
      <p:sp>
        <p:nvSpPr>
          <p:cNvPr id="10" name="tape_200"/>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201"/>
          <p:cNvSpPr/>
          <p:nvPr/>
        </p:nvSpPr>
        <p:spPr>
          <a:xfrm rot="-720000">
            <a:off x="3557016" y="1069848"/>
            <a:ext cx="685800" cy="219456"/>
          </a:xfrm>
          <a:prstGeom prst="rect">
            <a:avLst/>
          </a:prstGeom>
          <a:solidFill>
            <a:srgbClr val="FFD84D">
              <a:alpha val="75000"/>
            </a:srgbClr>
          </a:solidFill>
          <a:ln w="6350">
            <a:solidFill>
              <a:srgbClr val="FFD84D"/>
            </a:solidFill>
            <a:prstDash val="solid"/>
          </a:ln>
        </p:spPr>
      </p:sp>
      <p:sp>
        <p:nvSpPr>
          <p:cNvPr id="12" name="post_202"/>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203"/>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4" name="signB_20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Yellow card, red card or play on? Decide and explain!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Cartellino giallo, rosso o si continua? Decidi e spiega!</a:t>
            </a:r>
            <a:endParaRPr lang="en-US" sz="1250" dirty="0"/>
          </a:p>
        </p:txBody>
      </p:sp>
      <p:sp>
        <p:nvSpPr>
          <p:cNvPr id="15" name="box_205"/>
          <p:cNvSpPr txBox="1"/>
          <p:nvPr/>
        </p:nvSpPr>
        <p:spPr>
          <a:xfrm>
            <a:off x="2788920" y="1371600"/>
            <a:ext cx="6035040"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A player falls over in the penalty area – but nobody touched him.</a:t>
            </a:r>
            <a:endParaRPr lang="en-US" sz="1300" dirty="0"/>
          </a:p>
        </p:txBody>
      </p:sp>
      <p:sp>
        <p:nvSpPr>
          <p:cNvPr id="16" name="box_206"/>
          <p:cNvSpPr txBox="1"/>
          <p:nvPr/>
        </p:nvSpPr>
        <p:spPr>
          <a:xfrm>
            <a:off x="2788920" y="2055571"/>
            <a:ext cx="6035040"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A player takes off his shirt after scoring a goal.</a:t>
            </a:r>
            <a:endParaRPr lang="en-US" sz="1300" dirty="0"/>
          </a:p>
        </p:txBody>
      </p:sp>
      <p:sp>
        <p:nvSpPr>
          <p:cNvPr id="17" name="box_207"/>
          <p:cNvSpPr txBox="1"/>
          <p:nvPr/>
        </p:nvSpPr>
        <p:spPr>
          <a:xfrm>
            <a:off x="2788920" y="2739542"/>
            <a:ext cx="6035040"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A player kicks the ball away to waste time.</a:t>
            </a:r>
            <a:endParaRPr lang="en-US" sz="1300" dirty="0"/>
          </a:p>
        </p:txBody>
      </p:sp>
      <p:sp>
        <p:nvSpPr>
          <p:cNvPr id="18" name="box_208"/>
          <p:cNvSpPr txBox="1"/>
          <p:nvPr/>
        </p:nvSpPr>
        <p:spPr>
          <a:xfrm>
            <a:off x="2788920" y="3423514"/>
            <a:ext cx="6035040"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A player stops to help an injured opponent – and the other team scores.</a:t>
            </a:r>
            <a:endParaRPr lang="en-US" sz="1300" dirty="0"/>
          </a:p>
        </p:txBody>
      </p:sp>
      <p:sp>
        <p:nvSpPr>
          <p:cNvPr id="19" name="box_209"/>
          <p:cNvSpPr txBox="1"/>
          <p:nvPr/>
        </p:nvSpPr>
        <p:spPr>
          <a:xfrm>
            <a:off x="2788920" y="4107485"/>
            <a:ext cx="6035040"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A fan runs onto the pitch to take a selfie with a player.</a:t>
            </a:r>
            <a:endParaRPr lang="en-US" sz="1300" dirty="0"/>
          </a:p>
        </p:txBody>
      </p:sp>
      <p:sp>
        <p:nvSpPr>
          <p:cNvPr id="20" name="sticky_210"/>
          <p:cNvSpPr txBox="1"/>
          <p:nvPr/>
        </p:nvSpPr>
        <p:spPr>
          <a:xfrm rot="-120000">
            <a:off x="411480" y="402336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000" b="1" dirty="0">
                <a:solidFill>
                  <a:srgbClr val="111111"/>
                </a:solidFill>
                <a:latin typeface="Calibri" pitchFamily="34" charset="0"/>
                <a:ea typeface="Calibri" pitchFamily="34" charset="-122"/>
                <a:cs typeface="Calibri" pitchFamily="34" charset="-120"/>
              </a:rPr>
              <a:t>I'd give him a… because… · That's cheating! · That's fair play!</a:t>
            </a:r>
            <a:endParaRPr lang="en-US" sz="10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11"/>
          <p:cNvSpPr/>
          <p:nvPr/>
        </p:nvSpPr>
        <p:spPr>
          <a:xfrm>
            <a:off x="54864" y="54864"/>
            <a:ext cx="9034272" cy="5033772"/>
          </a:xfrm>
          <a:prstGeom prst="rect">
            <a:avLst/>
          </a:prstGeom>
          <a:ln w="114300">
            <a:solidFill>
              <a:srgbClr val="A8E6B4"/>
            </a:solidFill>
            <a:prstDash val="solid"/>
          </a:ln>
        </p:spPr>
      </p:sp>
      <p:pic>
        <p:nvPicPr>
          <p:cNvPr id="4" name="logo_21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1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Game · Story chain</a:t>
            </a:r>
            <a:endParaRPr lang="en-US" sz="900" dirty="0"/>
          </a:p>
        </p:txBody>
      </p:sp>
      <p:sp>
        <p:nvSpPr>
          <p:cNvPr id="6" name="timer_21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extra_215"/>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1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2</a:t>
            </a:r>
            <a:endParaRPr lang="en-US" sz="1000" dirty="0"/>
          </a:p>
        </p:txBody>
      </p:sp>
      <p:sp>
        <p:nvSpPr>
          <p:cNvPr id="9" name="title_217"/>
          <p:cNvSpPr txBox="1"/>
          <p:nvPr/>
        </p:nvSpPr>
        <p:spPr>
          <a:xfrm rot="90000">
            <a:off x="320040" y="676656"/>
            <a:ext cx="502005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Fortunately, unfortunately</a:t>
            </a:r>
            <a:endParaRPr lang="en-US" sz="1500" dirty="0"/>
          </a:p>
        </p:txBody>
      </p:sp>
      <p:sp>
        <p:nvSpPr>
          <p:cNvPr id="10" name="tape_218"/>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219"/>
          <p:cNvSpPr/>
          <p:nvPr/>
        </p:nvSpPr>
        <p:spPr>
          <a:xfrm rot="-720000">
            <a:off x="4773168" y="1069848"/>
            <a:ext cx="685800" cy="219456"/>
          </a:xfrm>
          <a:prstGeom prst="rect">
            <a:avLst/>
          </a:prstGeom>
          <a:solidFill>
            <a:srgbClr val="FFD84D">
              <a:alpha val="75000"/>
            </a:srgbClr>
          </a:solidFill>
          <a:ln w="6350">
            <a:solidFill>
              <a:srgbClr val="FFD84D"/>
            </a:solidFill>
            <a:prstDash val="solid"/>
          </a:ln>
        </p:spPr>
      </p:sp>
      <p:sp>
        <p:nvSpPr>
          <p:cNvPr id="12" name="post_220"/>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221"/>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4" name="signB_22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Continue the story! Good news, bad news, good news…</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Continua la storia! Buona notizia, cattiva notizia…</a:t>
            </a:r>
            <a:endParaRPr lang="en-US" sz="1200" dirty="0"/>
          </a:p>
        </p:txBody>
      </p:sp>
      <p:sp>
        <p:nvSpPr>
          <p:cNvPr id="15" name="iconBack_223"/>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224" descr="pi:PiChatsCircle">    </p:cNvPr>
          <p:cNvPicPr>
            <a:picLocks noChangeAspect="1"/>
          </p:cNvPicPr>
          <p:nvPr/>
        </p:nvPicPr>
        <p:blipFill>
          <a:blip r:embed="rId3"/>
          <a:stretch>
            <a:fillRect/>
          </a:stretch>
        </p:blipFill>
        <p:spPr>
          <a:xfrm>
            <a:off x="914400" y="3474720"/>
            <a:ext cx="685800" cy="685800"/>
          </a:xfrm>
          <a:prstGeom prst="rect">
            <a:avLst/>
          </a:prstGeom>
        </p:spPr>
      </p:pic>
      <p:sp>
        <p:nvSpPr>
          <p:cNvPr id="17" name="num_225"/>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8" name="box_226"/>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Groups of 4–5. Teacher gives the first sentence: 'Last Saturday I was playing in the final of a tennis tournament…'</a:t>
            </a:r>
            <a:endParaRPr lang="en-US" sz="950" dirty="0"/>
          </a:p>
        </p:txBody>
      </p:sp>
      <p:sp>
        <p:nvSpPr>
          <p:cNvPr id="19" name="num_227"/>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20" name="box_228"/>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Student 1: 'Fortunately, …'  Student 2: 'Unfortunately, …'  and so on.</a:t>
            </a:r>
            <a:endParaRPr lang="en-US" sz="1300" dirty="0"/>
          </a:p>
        </p:txBody>
      </p:sp>
      <p:sp>
        <p:nvSpPr>
          <p:cNvPr id="21" name="num_229"/>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2" name="box_230"/>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Every sentence must use a different tense from the one before!</a:t>
            </a:r>
            <a:endParaRPr lang="en-US" sz="1300" dirty="0"/>
          </a:p>
        </p:txBody>
      </p:sp>
      <p:sp>
        <p:nvSpPr>
          <p:cNvPr id="23" name="num_231"/>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4" name="box_232"/>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If you can't continue in 10 seconds, you're out.</a:t>
            </a:r>
            <a:endParaRPr lang="en-US" sz="1300" dirty="0"/>
          </a:p>
        </p:txBody>
      </p:sp>
      <p:sp>
        <p:nvSpPr>
          <p:cNvPr id="25" name="num_233"/>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6" name="box_234"/>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The last story-teller in each group wins.</a:t>
            </a:r>
            <a:endParaRPr lang="en-US" sz="1300" dirty="0"/>
          </a:p>
        </p:txBody>
      </p:sp>
      <p:sp>
        <p:nvSpPr>
          <p:cNvPr id="27" name="bubble_235"/>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Unfortunately, I had forgotten my racket. Fortunately, my opponent was carrying two!</a:t>
            </a:r>
            <a:endParaRPr lang="en-US" sz="1100" dirty="0"/>
          </a:p>
        </p:txBody>
      </p:sp>
    </p:spTree>
  </p:cSld>
  <p:clrMapOvr>
    <a:masterClrMapping/>
  </p:clrMapOvr>
  <p:transition spd="med">
    <p:push dir="l"/>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36"/>
          <p:cNvSpPr/>
          <p:nvPr/>
        </p:nvSpPr>
        <p:spPr>
          <a:xfrm>
            <a:off x="54864" y="54864"/>
            <a:ext cx="9034272" cy="5033772"/>
          </a:xfrm>
          <a:prstGeom prst="rect">
            <a:avLst/>
          </a:prstGeom>
          <a:ln w="114300">
            <a:solidFill>
              <a:srgbClr val="A8E6B4"/>
            </a:solidFill>
            <a:prstDash val="solid"/>
          </a:ln>
        </p:spPr>
      </p:sp>
      <p:pic>
        <p:nvPicPr>
          <p:cNvPr id="4" name="logo_23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3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Grammar photocopiable · past tenses</a:t>
            </a:r>
            <a:endParaRPr lang="en-US" sz="900" dirty="0"/>
          </a:p>
        </p:txBody>
      </p:sp>
      <p:sp>
        <p:nvSpPr>
          <p:cNvPr id="6" name="timer_23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extra_240"/>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4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2</a:t>
            </a:r>
            <a:endParaRPr lang="en-US" sz="1000" dirty="0"/>
          </a:p>
        </p:txBody>
      </p:sp>
      <p:sp>
        <p:nvSpPr>
          <p:cNvPr id="9" name="title_242"/>
          <p:cNvSpPr txBox="1"/>
          <p:nvPr/>
        </p:nvSpPr>
        <p:spPr>
          <a:xfrm rot="90000">
            <a:off x="320040" y="676656"/>
            <a:ext cx="328269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My car nightmare</a:t>
            </a:r>
            <a:endParaRPr lang="en-US" sz="1500" dirty="0"/>
          </a:p>
        </p:txBody>
      </p:sp>
      <p:sp>
        <p:nvSpPr>
          <p:cNvPr id="10" name="tape_243"/>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244"/>
          <p:cNvSpPr/>
          <p:nvPr/>
        </p:nvSpPr>
        <p:spPr>
          <a:xfrm rot="-720000">
            <a:off x="3035808" y="1069848"/>
            <a:ext cx="685800" cy="219456"/>
          </a:xfrm>
          <a:prstGeom prst="rect">
            <a:avLst/>
          </a:prstGeom>
          <a:solidFill>
            <a:srgbClr val="FFD84D">
              <a:alpha val="75000"/>
            </a:srgbClr>
          </a:solidFill>
          <a:ln w="6350">
            <a:solidFill>
              <a:srgbClr val="FFD84D"/>
            </a:solidFill>
            <a:prstDash val="solid"/>
          </a:ln>
        </p:spPr>
      </p:sp>
      <p:sp>
        <p:nvSpPr>
          <p:cNvPr id="12" name="post_245"/>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246"/>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4" name="signB_24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Complete the story: past simple, continuous or perfect?</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Completa la storia: past simple, continuous o perfect?</a:t>
            </a:r>
            <a:endParaRPr lang="en-US" sz="1200" dirty="0"/>
          </a:p>
        </p:txBody>
      </p:sp>
      <p:sp>
        <p:nvSpPr>
          <p:cNvPr id="15" name="iconBack_24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249" descr="pi:PiPrinter">    </p:cNvPr>
          <p:cNvPicPr>
            <a:picLocks noChangeAspect="1"/>
          </p:cNvPicPr>
          <p:nvPr/>
        </p:nvPicPr>
        <p:blipFill>
          <a:blip r:embed="rId3"/>
          <a:stretch>
            <a:fillRect/>
          </a:stretch>
        </p:blipFill>
        <p:spPr>
          <a:xfrm>
            <a:off x="914400" y="3474720"/>
            <a:ext cx="685800" cy="685800"/>
          </a:xfrm>
          <a:prstGeom prst="rect">
            <a:avLst/>
          </a:prstGeom>
        </p:spPr>
      </p:pic>
      <p:sp>
        <p:nvSpPr>
          <p:cNvPr id="17" name="num_250"/>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8" name="box_251"/>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Read the story 'My car nightmare'.</a:t>
            </a:r>
            <a:endParaRPr lang="en-US" sz="1300" dirty="0"/>
          </a:p>
        </p:txBody>
      </p:sp>
      <p:sp>
        <p:nvSpPr>
          <p:cNvPr id="19" name="num_252"/>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20" name="box_253"/>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Write the verbs in the right past tense (1 = happened).</a:t>
            </a:r>
            <a:endParaRPr lang="en-US" sz="1300" dirty="0"/>
          </a:p>
        </p:txBody>
      </p:sp>
      <p:sp>
        <p:nvSpPr>
          <p:cNvPr id="21" name="num_254"/>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2" name="box_255"/>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Compare with a partner. Then check.</a:t>
            </a:r>
            <a:endParaRPr lang="en-US" sz="1300" dirty="0"/>
          </a:p>
        </p:txBody>
      </p:sp>
      <p:sp>
        <p:nvSpPr>
          <p:cNvPr id="23" name="num_256"/>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4" name="box_257"/>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Cover the answers: read the story aloud with the right verbs.</a:t>
            </a:r>
            <a:endParaRPr lang="en-US" sz="1300" dirty="0"/>
          </a:p>
        </p:txBody>
      </p:sp>
      <p:sp>
        <p:nvSpPr>
          <p:cNvPr id="25" name="bubble_258"/>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 Print: B1_5A_Photocopiables.pdf, page 1</a:t>
            </a:r>
            <a:endParaRPr lang="en-US" sz="1300" dirty="0"/>
          </a:p>
        </p:txBody>
      </p:sp>
      <p:sp>
        <p:nvSpPr>
          <p:cNvPr id="26" name="pageTag_25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photocopiable 5A past tenses (TG p.157)</a:t>
            </a:r>
            <a:endParaRPr lang="en-US" sz="1050" dirty="0"/>
          </a:p>
        </p:txBody>
      </p:sp>
    </p:spTree>
  </p:cSld>
  <p:clrMapOvr>
    <a:masterClrMapping/>
  </p:clrMapOvr>
  <p:transition spd="med">
    <p:push dir="l"/>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60"/>
          <p:cNvSpPr/>
          <p:nvPr/>
        </p:nvSpPr>
        <p:spPr>
          <a:xfrm>
            <a:off x="54864" y="54864"/>
            <a:ext cx="9034272" cy="5033772"/>
          </a:xfrm>
          <a:prstGeom prst="rect">
            <a:avLst/>
          </a:prstGeom>
          <a:ln w="114300">
            <a:solidFill>
              <a:srgbClr val="A8E6B4"/>
            </a:solidFill>
            <a:prstDash val="solid"/>
          </a:ln>
        </p:spPr>
      </p:sp>
      <p:pic>
        <p:nvPicPr>
          <p:cNvPr id="4" name="logo_26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6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Communicative photocopiable · past tenses</a:t>
            </a:r>
            <a:endParaRPr lang="en-US" sz="900" dirty="0"/>
          </a:p>
        </p:txBody>
      </p:sp>
      <p:sp>
        <p:nvSpPr>
          <p:cNvPr id="6" name="timer_26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10 min</a:t>
            </a:r>
            <a:endParaRPr lang="en-US" sz="1200" dirty="0"/>
          </a:p>
        </p:txBody>
      </p:sp>
      <p:sp>
        <p:nvSpPr>
          <p:cNvPr id="7" name="extra_264"/>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6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5A · Part 2</a:t>
            </a:r>
            <a:endParaRPr lang="en-US" sz="1000" dirty="0"/>
          </a:p>
        </p:txBody>
      </p:sp>
      <p:sp>
        <p:nvSpPr>
          <p:cNvPr id="9" name="title_266"/>
          <p:cNvSpPr txBox="1"/>
          <p:nvPr/>
        </p:nvSpPr>
        <p:spPr>
          <a:xfrm rot="90000">
            <a:off x="320040" y="676656"/>
            <a:ext cx="3108960"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Marathon cheats</a:t>
            </a:r>
            <a:endParaRPr lang="en-US" sz="1500" dirty="0"/>
          </a:p>
        </p:txBody>
      </p:sp>
      <p:sp>
        <p:nvSpPr>
          <p:cNvPr id="10" name="tape_267"/>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268"/>
          <p:cNvSpPr/>
          <p:nvPr/>
        </p:nvSpPr>
        <p:spPr>
          <a:xfrm rot="-720000">
            <a:off x="2862072" y="1069848"/>
            <a:ext cx="685800" cy="219456"/>
          </a:xfrm>
          <a:prstGeom prst="rect">
            <a:avLst/>
          </a:prstGeom>
          <a:solidFill>
            <a:srgbClr val="FFD84D">
              <a:alpha val="75000"/>
            </a:srgbClr>
          </a:solidFill>
          <a:ln w="6350">
            <a:solidFill>
              <a:srgbClr val="FFD84D"/>
            </a:solidFill>
            <a:prstDash val="solid"/>
          </a:ln>
        </p:spPr>
      </p:sp>
      <p:sp>
        <p:nvSpPr>
          <p:cNvPr id="12" name="post_269"/>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270"/>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4" name="signB_27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A and B: read your cheat story. Then tell it to your partner.</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A e B: leggete la vostra storia. Poi raccontatela al compagno.</a:t>
            </a:r>
            <a:endParaRPr lang="en-US" sz="1200" dirty="0"/>
          </a:p>
        </p:txBody>
      </p:sp>
      <p:sp>
        <p:nvSpPr>
          <p:cNvPr id="15" name="iconBack_272"/>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273" descr="pi:PiPersonSimpleRun">    </p:cNvPr>
          <p:cNvPicPr>
            <a:picLocks noChangeAspect="1"/>
          </p:cNvPicPr>
          <p:nvPr/>
        </p:nvPicPr>
        <p:blipFill>
          <a:blip r:embed="rId3"/>
          <a:stretch>
            <a:fillRect/>
          </a:stretch>
        </p:blipFill>
        <p:spPr>
          <a:xfrm>
            <a:off x="914400" y="3474720"/>
            <a:ext cx="685800" cy="685800"/>
          </a:xfrm>
          <a:prstGeom prst="rect">
            <a:avLst/>
          </a:prstGeom>
        </p:spPr>
      </p:pic>
      <p:sp>
        <p:nvSpPr>
          <p:cNvPr id="17" name="num_274"/>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8" name="box_275"/>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Pairs: A reads 'Seeing double', B reads 'The bus ride'.</a:t>
            </a:r>
            <a:endParaRPr lang="en-US" sz="1300" dirty="0"/>
          </a:p>
        </p:txBody>
      </p:sp>
      <p:sp>
        <p:nvSpPr>
          <p:cNvPr id="19" name="num_276"/>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20" name="box_277"/>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Answer the 5 questions about your story.</a:t>
            </a:r>
            <a:endParaRPr lang="en-US" sz="1300" dirty="0"/>
          </a:p>
        </p:txBody>
      </p:sp>
      <p:sp>
        <p:nvSpPr>
          <p:cNvPr id="21" name="num_278"/>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2" name="box_279"/>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Cover the text. Use your answers to tell your story to your partner.</a:t>
            </a:r>
            <a:endParaRPr lang="en-US" sz="1300" dirty="0"/>
          </a:p>
        </p:txBody>
      </p:sp>
      <p:sp>
        <p:nvSpPr>
          <p:cNvPr id="23" name="num_280"/>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4" name="box_281"/>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Listen to your partner's story. Who was the worst cheat?</a:t>
            </a:r>
            <a:endParaRPr lang="en-US" sz="1300" dirty="0"/>
          </a:p>
        </p:txBody>
      </p:sp>
      <p:sp>
        <p:nvSpPr>
          <p:cNvPr id="25" name="bubble_282"/>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 Print: B1_5A_Photocopiables.pdf, page 2 (cut into A and B)</a:t>
            </a:r>
            <a:endParaRPr lang="en-US" sz="1300" dirty="0"/>
          </a:p>
        </p:txBody>
      </p:sp>
      <p:sp>
        <p:nvSpPr>
          <p:cNvPr id="26" name="pageTag_28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Communicative photocopiable 5A Marathon cheats (TG p.186)</a:t>
            </a:r>
            <a:endParaRPr lang="en-US" sz="105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5A-2 Sporting superstitions</dc:title>
  <dc:subject>PptxGenJS Presentation</dc:subject>
  <dc:creator>London Language School</dc:creator>
  <cp:lastModifiedBy>London Language School</cp:lastModifiedBy>
  <cp:revision>1</cp:revision>
  <dcterms:created xsi:type="dcterms:W3CDTF">2026-10-05T09:39:29Z</dcterms:created>
  <dcterms:modified xsi:type="dcterms:W3CDTF">2026-10-05T09:39:29Z</dcterms:modified>
</cp:coreProperties>
</file>