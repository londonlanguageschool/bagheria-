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 (60 min). Aims: kitchen hazards, must / mustn't / have to / don't have to, the 4 Cs of food safety.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Chef B looks away while Chef A reads the A numbers, then swap. Check spelling of the words too. Quick extra: 2 'Can you…?' questions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Click 1. Italian: scivolare, bruciarsi, tagliarsi, contaminazione crociata.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Kitchen plasters are blue so they're easy to see if one falls into food. Students make sentences: You use a probe thermometer to check the chicken.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Check: 'You don't have to wear gloves' vs 'You mustn't wear gloves' — very different!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Check the difference mustn't (forbidden) / don't have to (not necessary).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(6 min). VARIATION: opposites — 'What would make this terrible?'. Funny, and it produces must / mustn't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Teacher's own text based on standard UK food safety guidance (FSA: cleaning, chilling, cooking, cross-contamination). Mention UK colour-coded boards: red raw meat, blue raw fish, yellow cooked meat, green salad &amp; fruit, brown vegetables, white bread &amp; dairy.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 DEBATE (6 min). VARIATION: mild controversy + mini debate: 30 s to choose, 1 argument, partner responds. Keep it friendly; there is no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(10 min). B should hide 5 problems in the description. Teacher keeps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L7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VIDEO (8 min). Official FAO channel; link checked October 2026. Preview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l7iGCxaA3Q" TargetMode="External"/><Relationship Id="rId4" Type="http://schemas.openxmlformats.org/officeDocument/2006/relationships/hyperlink" Target="https://www.youtube.com/watch?v=Hl7iGCxaA3Q" TargetMode="Externa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L7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7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34340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&amp; SAFETY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621024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hazards and hygiene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813048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must / mustn't / have to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621024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the kitchen inspector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so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w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firsta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No. 1 rule in your kitchen?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wash your hands!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6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 dictation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reads list A. B writes. Then swap and check!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legge la lista A. B scrive. Poi scambiatevi!</a:t>
            </a:r>
            <a:endParaRPr lang="en-US" sz="1250" dirty="0"/>
          </a:p>
        </p:txBody>
      </p:sp>
      <p:sp>
        <p:nvSpPr>
          <p:cNvPr id="12" name="box_27"/>
          <p:cNvSpPr txBox="1"/>
          <p:nvPr/>
        </p:nvSpPr>
        <p:spPr>
          <a:xfrm>
            <a:off x="2788920" y="1371600"/>
            <a:ext cx="2953512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A: 250 g</a:t>
            </a:r>
            <a:endParaRPr lang="en-US" sz="1400" dirty="0"/>
          </a:p>
        </p:txBody>
      </p:sp>
      <p:sp>
        <p:nvSpPr>
          <p:cNvPr id="13" name="box_28"/>
          <p:cNvSpPr txBox="1"/>
          <p:nvPr/>
        </p:nvSpPr>
        <p:spPr>
          <a:xfrm>
            <a:off x="5870448" y="1371600"/>
            <a:ext cx="2953512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B: 1.5 kg</a:t>
            </a:r>
            <a:endParaRPr lang="en-US" sz="1400" dirty="0"/>
          </a:p>
        </p:txBody>
      </p:sp>
      <p:sp>
        <p:nvSpPr>
          <p:cNvPr id="14" name="box_29"/>
          <p:cNvSpPr txBox="1"/>
          <p:nvPr/>
        </p:nvSpPr>
        <p:spPr>
          <a:xfrm>
            <a:off x="2788920" y="2226564"/>
            <a:ext cx="2953512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A: –18°C</a:t>
            </a:r>
            <a:endParaRPr lang="en-US" sz="1400" dirty="0"/>
          </a:p>
        </p:txBody>
      </p:sp>
      <p:sp>
        <p:nvSpPr>
          <p:cNvPr id="15" name="box_30"/>
          <p:cNvSpPr txBox="1"/>
          <p:nvPr/>
        </p:nvSpPr>
        <p:spPr>
          <a:xfrm>
            <a:off x="5870448" y="2226564"/>
            <a:ext cx="2953512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B: 180°C</a:t>
            </a:r>
            <a:endParaRPr lang="en-US" sz="1400" dirty="0"/>
          </a:p>
        </p:txBody>
      </p:sp>
      <p:sp>
        <p:nvSpPr>
          <p:cNvPr id="16" name="box_31"/>
          <p:cNvSpPr txBox="1"/>
          <p:nvPr/>
        </p:nvSpPr>
        <p:spPr>
          <a:xfrm>
            <a:off x="2788920" y="3081528"/>
            <a:ext cx="2953512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A: 3 tbsp</a:t>
            </a:r>
            <a:endParaRPr lang="en-US" sz="1400" dirty="0"/>
          </a:p>
        </p:txBody>
      </p:sp>
      <p:sp>
        <p:nvSpPr>
          <p:cNvPr id="17" name="box_32"/>
          <p:cNvSpPr txBox="1"/>
          <p:nvPr/>
        </p:nvSpPr>
        <p:spPr>
          <a:xfrm>
            <a:off x="5870448" y="3081528"/>
            <a:ext cx="2953512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B: 750 ml</a:t>
            </a:r>
            <a:endParaRPr lang="en-US" sz="1400" dirty="0"/>
          </a:p>
        </p:txBody>
      </p:sp>
      <p:sp>
        <p:nvSpPr>
          <p:cNvPr id="18" name="box_33"/>
          <p:cNvSpPr txBox="1"/>
          <p:nvPr/>
        </p:nvSpPr>
        <p:spPr>
          <a:xfrm>
            <a:off x="2788920" y="3936492"/>
            <a:ext cx="2953512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A: 45 minutes</a:t>
            </a:r>
            <a:endParaRPr lang="en-US" sz="1400" dirty="0"/>
          </a:p>
        </p:txBody>
      </p:sp>
      <p:sp>
        <p:nvSpPr>
          <p:cNvPr id="19" name="box_34"/>
          <p:cNvSpPr txBox="1"/>
          <p:nvPr/>
        </p:nvSpPr>
        <p:spPr>
          <a:xfrm>
            <a:off x="5870448" y="3936492"/>
            <a:ext cx="2953512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B: a quarter past ten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Hazards</a:t>
            </a:r>
            <a:endParaRPr lang="en-US" sz="900" dirty="0"/>
          </a:p>
        </p:txBody>
      </p:sp>
      <p:sp>
        <p:nvSpPr>
          <p:cNvPr id="6" name="timer_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40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the danger?</a:t>
            </a:r>
            <a:endParaRPr lang="en-US" sz="1500" dirty="0"/>
          </a:p>
        </p:txBody>
      </p:sp>
      <p:sp>
        <p:nvSpPr>
          <p:cNvPr id="9" name="post_4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4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hazard and the danger.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 il pericolo e la conseguenza.</a:t>
            </a:r>
            <a:endParaRPr lang="en-US" sz="1250" dirty="0"/>
          </a:p>
        </p:txBody>
      </p:sp>
      <p:sp>
        <p:nvSpPr>
          <p:cNvPr id="12" name="iconBack_44"/>
          <p:cNvSpPr/>
          <p:nvPr/>
        </p:nvSpPr>
        <p:spPr>
          <a:xfrm>
            <a:off x="2788920" y="137160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3" name="icon_45" descr="w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463040"/>
            <a:ext cx="274320" cy="274320"/>
          </a:xfrm>
          <a:prstGeom prst="rect">
            <a:avLst/>
          </a:prstGeom>
        </p:spPr>
      </p:pic>
      <p:sp>
        <p:nvSpPr>
          <p:cNvPr id="14" name="box_46"/>
          <p:cNvSpPr txBox="1"/>
          <p:nvPr/>
        </p:nvSpPr>
        <p:spPr>
          <a:xfrm>
            <a:off x="3300984" y="1371600"/>
            <a:ext cx="2505456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wet floor</a:t>
            </a:r>
            <a:endParaRPr lang="en-US" sz="1250" dirty="0"/>
          </a:p>
        </p:txBody>
      </p:sp>
      <p:sp>
        <p:nvSpPr>
          <p:cNvPr id="15" name="R1_m0"/>
          <p:cNvSpPr txBox="1"/>
          <p:nvPr/>
        </p:nvSpPr>
        <p:spPr>
          <a:xfrm>
            <a:off x="5879592" y="1389888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and fall</a:t>
            </a:r>
            <a:endParaRPr lang="en-US" sz="1150" dirty="0"/>
          </a:p>
        </p:txBody>
      </p:sp>
      <p:sp>
        <p:nvSpPr>
          <p:cNvPr id="16" name="iconBack_47"/>
          <p:cNvSpPr/>
          <p:nvPr/>
        </p:nvSpPr>
        <p:spPr>
          <a:xfrm>
            <a:off x="2788920" y="190195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7" name="icon_48" descr="fi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993392"/>
            <a:ext cx="274320" cy="274320"/>
          </a:xfrm>
          <a:prstGeom prst="rect">
            <a:avLst/>
          </a:prstGeom>
        </p:spPr>
      </p:pic>
      <p:sp>
        <p:nvSpPr>
          <p:cNvPr id="18" name="box_49"/>
          <p:cNvSpPr txBox="1"/>
          <p:nvPr/>
        </p:nvSpPr>
        <p:spPr>
          <a:xfrm>
            <a:off x="3300984" y="1901952"/>
            <a:ext cx="2505456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hot oil</a:t>
            </a:r>
            <a:endParaRPr lang="en-US" sz="1250" dirty="0"/>
          </a:p>
        </p:txBody>
      </p:sp>
      <p:sp>
        <p:nvSpPr>
          <p:cNvPr id="19" name="R1_m1"/>
          <p:cNvSpPr txBox="1"/>
          <p:nvPr/>
        </p:nvSpPr>
        <p:spPr>
          <a:xfrm>
            <a:off x="5879592" y="1920240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yourself</a:t>
            </a:r>
            <a:endParaRPr lang="en-US" sz="1150" dirty="0"/>
          </a:p>
        </p:txBody>
      </p:sp>
      <p:sp>
        <p:nvSpPr>
          <p:cNvPr id="20" name="iconBack_50"/>
          <p:cNvSpPr/>
          <p:nvPr/>
        </p:nvSpPr>
        <p:spPr>
          <a:xfrm>
            <a:off x="2788920" y="243230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1" name="icon_51" descr="knif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2523744"/>
            <a:ext cx="274320" cy="274320"/>
          </a:xfrm>
          <a:prstGeom prst="rect">
            <a:avLst/>
          </a:prstGeom>
        </p:spPr>
      </p:pic>
      <p:sp>
        <p:nvSpPr>
          <p:cNvPr id="22" name="box_52"/>
          <p:cNvSpPr txBox="1"/>
          <p:nvPr/>
        </p:nvSpPr>
        <p:spPr>
          <a:xfrm>
            <a:off x="3300984" y="2432304"/>
            <a:ext cx="2505456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sharp knife in the sink</a:t>
            </a:r>
            <a:endParaRPr lang="en-US" sz="1250" dirty="0"/>
          </a:p>
        </p:txBody>
      </p:sp>
      <p:sp>
        <p:nvSpPr>
          <p:cNvPr id="23" name="R1_m2"/>
          <p:cNvSpPr txBox="1"/>
          <p:nvPr/>
        </p:nvSpPr>
        <p:spPr>
          <a:xfrm>
            <a:off x="5879592" y="2450592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yourself</a:t>
            </a:r>
            <a:endParaRPr lang="en-US" sz="1150" dirty="0"/>
          </a:p>
        </p:txBody>
      </p:sp>
      <p:sp>
        <p:nvSpPr>
          <p:cNvPr id="24" name="iconBack_53"/>
          <p:cNvSpPr/>
          <p:nvPr/>
        </p:nvSpPr>
        <p:spPr>
          <a:xfrm>
            <a:off x="2788920" y="296265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5" name="icon_54" descr="chick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3054096"/>
            <a:ext cx="274320" cy="274320"/>
          </a:xfrm>
          <a:prstGeom prst="rect">
            <a:avLst/>
          </a:prstGeom>
        </p:spPr>
      </p:pic>
      <p:sp>
        <p:nvSpPr>
          <p:cNvPr id="26" name="box_55"/>
          <p:cNvSpPr txBox="1"/>
          <p:nvPr/>
        </p:nvSpPr>
        <p:spPr>
          <a:xfrm>
            <a:off x="3300984" y="2962656"/>
            <a:ext cx="2505456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raw chicken next to salad</a:t>
            </a:r>
            <a:endParaRPr lang="en-US" sz="1250" dirty="0"/>
          </a:p>
        </p:txBody>
      </p:sp>
      <p:sp>
        <p:nvSpPr>
          <p:cNvPr id="27" name="R1_m3"/>
          <p:cNvSpPr txBox="1"/>
          <p:nvPr/>
        </p:nvSpPr>
        <p:spPr>
          <a:xfrm>
            <a:off x="5879592" y="2980944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cross-contamination</a:t>
            </a:r>
            <a:endParaRPr lang="en-US" sz="1150" dirty="0"/>
          </a:p>
        </p:txBody>
      </p:sp>
      <p:sp>
        <p:nvSpPr>
          <p:cNvPr id="28" name="iconBack_56"/>
          <p:cNvSpPr/>
          <p:nvPr/>
        </p:nvSpPr>
        <p:spPr>
          <a:xfrm>
            <a:off x="2788920" y="349300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9" name="icon_57" descr="bacteri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3584448"/>
            <a:ext cx="274320" cy="274320"/>
          </a:xfrm>
          <a:prstGeom prst="rect">
            <a:avLst/>
          </a:prstGeom>
        </p:spPr>
      </p:pic>
      <p:sp>
        <p:nvSpPr>
          <p:cNvPr id="30" name="box_58"/>
          <p:cNvSpPr txBox="1"/>
          <p:nvPr/>
        </p:nvSpPr>
        <p:spPr>
          <a:xfrm>
            <a:off x="3300984" y="3493008"/>
            <a:ext cx="2505456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dirty cloth</a:t>
            </a:r>
            <a:endParaRPr lang="en-US" sz="1250" dirty="0"/>
          </a:p>
        </p:txBody>
      </p:sp>
      <p:sp>
        <p:nvSpPr>
          <p:cNvPr id="31" name="R1_m4"/>
          <p:cNvSpPr txBox="1"/>
          <p:nvPr/>
        </p:nvSpPr>
        <p:spPr>
          <a:xfrm>
            <a:off x="5879592" y="3511296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spread</a:t>
            </a:r>
            <a:endParaRPr lang="en-US" sz="1150" dirty="0"/>
          </a:p>
        </p:txBody>
      </p:sp>
      <p:sp>
        <p:nvSpPr>
          <p:cNvPr id="32" name="iconBack_59"/>
          <p:cNvSpPr/>
          <p:nvPr/>
        </p:nvSpPr>
        <p:spPr>
          <a:xfrm>
            <a:off x="2788920" y="40233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3" name="icon_60" descr="therm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360" y="4114800"/>
            <a:ext cx="274320" cy="274320"/>
          </a:xfrm>
          <a:prstGeom prst="rect">
            <a:avLst/>
          </a:prstGeom>
        </p:spPr>
      </p:pic>
      <p:sp>
        <p:nvSpPr>
          <p:cNvPr id="34" name="box_61"/>
          <p:cNvSpPr txBox="1"/>
          <p:nvPr/>
        </p:nvSpPr>
        <p:spPr>
          <a:xfrm>
            <a:off x="3300984" y="4023360"/>
            <a:ext cx="2505456" cy="45720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food left out of the fridge</a:t>
            </a:r>
            <a:endParaRPr lang="en-US" sz="1250" dirty="0"/>
          </a:p>
        </p:txBody>
      </p:sp>
      <p:sp>
        <p:nvSpPr>
          <p:cNvPr id="35" name="R1_m5"/>
          <p:cNvSpPr txBox="1"/>
          <p:nvPr/>
        </p:nvSpPr>
        <p:spPr>
          <a:xfrm>
            <a:off x="5879592" y="4041648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grow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6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Safety kit</a:t>
            </a:r>
            <a:endParaRPr lang="en-US" sz="900" dirty="0"/>
          </a:p>
        </p:txBody>
      </p:sp>
      <p:sp>
        <p:nvSpPr>
          <p:cNvPr id="6" name="timer_6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6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67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we use?</a:t>
            </a:r>
            <a:endParaRPr lang="en-US" sz="1500" dirty="0"/>
          </a:p>
        </p:txBody>
      </p:sp>
      <p:sp>
        <p:nvSpPr>
          <p:cNvPr id="9" name="post_6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6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7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it is and when you use it.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cos'è e quando lo usi.</a:t>
            </a:r>
            <a:endParaRPr lang="en-US" sz="1250" dirty="0"/>
          </a:p>
        </p:txBody>
      </p:sp>
      <p:sp>
        <p:nvSpPr>
          <p:cNvPr id="12" name="tile_71"/>
          <p:cNvSpPr/>
          <p:nvPr/>
        </p:nvSpPr>
        <p:spPr>
          <a:xfrm>
            <a:off x="2788920" y="137160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72" descr="glov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426464"/>
            <a:ext cx="457200" cy="457200"/>
          </a:xfrm>
          <a:prstGeom prst="rect">
            <a:avLst/>
          </a:prstGeom>
        </p:spPr>
      </p:pic>
      <p:sp>
        <p:nvSpPr>
          <p:cNvPr id="14" name="tw_73"/>
          <p:cNvSpPr txBox="1"/>
          <p:nvPr/>
        </p:nvSpPr>
        <p:spPr>
          <a:xfrm>
            <a:off x="2825496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50" dirty="0"/>
          </a:p>
        </p:txBody>
      </p:sp>
      <p:sp>
        <p:nvSpPr>
          <p:cNvPr id="15" name="R1_it0"/>
          <p:cNvSpPr txBox="1"/>
          <p:nvPr/>
        </p:nvSpPr>
        <p:spPr>
          <a:xfrm>
            <a:off x="2825496" y="213055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guanti</a:t>
            </a:r>
            <a:endParaRPr lang="en-US" sz="1050" dirty="0"/>
          </a:p>
        </p:txBody>
      </p:sp>
      <p:sp>
        <p:nvSpPr>
          <p:cNvPr id="16" name="tile_74"/>
          <p:cNvSpPr/>
          <p:nvPr/>
        </p:nvSpPr>
        <p:spPr>
          <a:xfrm>
            <a:off x="4325112" y="137160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75" descr="a blue plas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426464"/>
            <a:ext cx="457200" cy="457200"/>
          </a:xfrm>
          <a:prstGeom prst="rect">
            <a:avLst/>
          </a:prstGeom>
        </p:spPr>
      </p:pic>
      <p:sp>
        <p:nvSpPr>
          <p:cNvPr id="18" name="tw_76"/>
          <p:cNvSpPr txBox="1"/>
          <p:nvPr/>
        </p:nvSpPr>
        <p:spPr>
          <a:xfrm>
            <a:off x="4361688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 plaster</a:t>
            </a:r>
            <a:endParaRPr lang="en-US" sz="1250" dirty="0"/>
          </a:p>
        </p:txBody>
      </p:sp>
      <p:sp>
        <p:nvSpPr>
          <p:cNvPr id="19" name="R1_it1"/>
          <p:cNvSpPr txBox="1"/>
          <p:nvPr/>
        </p:nvSpPr>
        <p:spPr>
          <a:xfrm>
            <a:off x="4361688" y="213055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cerotto blu</a:t>
            </a:r>
            <a:endParaRPr lang="en-US" sz="1050" dirty="0"/>
          </a:p>
        </p:txBody>
      </p:sp>
      <p:sp>
        <p:nvSpPr>
          <p:cNvPr id="20" name="tile_77"/>
          <p:cNvSpPr/>
          <p:nvPr/>
        </p:nvSpPr>
        <p:spPr>
          <a:xfrm>
            <a:off x="5861304" y="137160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78" descr="first aid k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426464"/>
            <a:ext cx="457200" cy="457200"/>
          </a:xfrm>
          <a:prstGeom prst="rect">
            <a:avLst/>
          </a:prstGeom>
        </p:spPr>
      </p:pic>
      <p:sp>
        <p:nvSpPr>
          <p:cNvPr id="22" name="tw_79"/>
          <p:cNvSpPr txBox="1"/>
          <p:nvPr/>
        </p:nvSpPr>
        <p:spPr>
          <a:xfrm>
            <a:off x="589788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kit</a:t>
            </a:r>
            <a:endParaRPr lang="en-US" sz="1250" dirty="0"/>
          </a:p>
        </p:txBody>
      </p:sp>
      <p:sp>
        <p:nvSpPr>
          <p:cNvPr id="23" name="R1_it2"/>
          <p:cNvSpPr txBox="1"/>
          <p:nvPr/>
        </p:nvSpPr>
        <p:spPr>
          <a:xfrm>
            <a:off x="5897880" y="213055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pronto soccorso</a:t>
            </a:r>
            <a:endParaRPr lang="en-US" sz="1050" dirty="0"/>
          </a:p>
        </p:txBody>
      </p:sp>
      <p:sp>
        <p:nvSpPr>
          <p:cNvPr id="24" name="tile_80"/>
          <p:cNvSpPr/>
          <p:nvPr/>
        </p:nvSpPr>
        <p:spPr>
          <a:xfrm>
            <a:off x="7397496" y="137160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81" descr="hand-wash bas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1426464"/>
            <a:ext cx="457200" cy="457200"/>
          </a:xfrm>
          <a:prstGeom prst="rect">
            <a:avLst/>
          </a:prstGeom>
        </p:spPr>
      </p:pic>
      <p:sp>
        <p:nvSpPr>
          <p:cNvPr id="26" name="tw_82"/>
          <p:cNvSpPr txBox="1"/>
          <p:nvPr/>
        </p:nvSpPr>
        <p:spPr>
          <a:xfrm>
            <a:off x="7434072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hand-wash basin</a:t>
            </a:r>
            <a:endParaRPr lang="en-US" sz="1250" dirty="0"/>
          </a:p>
        </p:txBody>
      </p:sp>
      <p:sp>
        <p:nvSpPr>
          <p:cNvPr id="27" name="R1_it3"/>
          <p:cNvSpPr txBox="1"/>
          <p:nvPr/>
        </p:nvSpPr>
        <p:spPr>
          <a:xfrm>
            <a:off x="7434072" y="213055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lavamani</a:t>
            </a:r>
            <a:endParaRPr lang="en-US" sz="1050" dirty="0"/>
          </a:p>
        </p:txBody>
      </p:sp>
      <p:sp>
        <p:nvSpPr>
          <p:cNvPr id="28" name="tile_83"/>
          <p:cNvSpPr/>
          <p:nvPr/>
        </p:nvSpPr>
        <p:spPr>
          <a:xfrm>
            <a:off x="2788920" y="2624328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84" descr="wet floor sig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2679192"/>
            <a:ext cx="457200" cy="457200"/>
          </a:xfrm>
          <a:prstGeom prst="rect">
            <a:avLst/>
          </a:prstGeom>
        </p:spPr>
      </p:pic>
      <p:sp>
        <p:nvSpPr>
          <p:cNvPr id="30" name="tw_85"/>
          <p:cNvSpPr txBox="1"/>
          <p:nvPr/>
        </p:nvSpPr>
        <p:spPr>
          <a:xfrm>
            <a:off x="2825496" y="31546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floor sign</a:t>
            </a:r>
            <a:endParaRPr lang="en-US" sz="1250" dirty="0"/>
          </a:p>
        </p:txBody>
      </p:sp>
      <p:sp>
        <p:nvSpPr>
          <p:cNvPr id="31" name="R1_it4"/>
          <p:cNvSpPr txBox="1"/>
          <p:nvPr/>
        </p:nvSpPr>
        <p:spPr>
          <a:xfrm>
            <a:off x="2825496" y="3383280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cartello pavimento bagnato</a:t>
            </a:r>
            <a:endParaRPr lang="en-US" sz="1050" dirty="0"/>
          </a:p>
        </p:txBody>
      </p:sp>
      <p:sp>
        <p:nvSpPr>
          <p:cNvPr id="32" name="tile_86"/>
          <p:cNvSpPr/>
          <p:nvPr/>
        </p:nvSpPr>
        <p:spPr>
          <a:xfrm>
            <a:off x="4325112" y="2624328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87" descr="hat / hairne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2679192"/>
            <a:ext cx="457200" cy="457200"/>
          </a:xfrm>
          <a:prstGeom prst="rect">
            <a:avLst/>
          </a:prstGeom>
        </p:spPr>
      </p:pic>
      <p:sp>
        <p:nvSpPr>
          <p:cNvPr id="34" name="tw_88"/>
          <p:cNvSpPr txBox="1"/>
          <p:nvPr/>
        </p:nvSpPr>
        <p:spPr>
          <a:xfrm>
            <a:off x="4361688" y="31546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/ hairnet</a:t>
            </a:r>
            <a:endParaRPr lang="en-US" sz="1250" dirty="0"/>
          </a:p>
        </p:txBody>
      </p:sp>
      <p:sp>
        <p:nvSpPr>
          <p:cNvPr id="35" name="R1_it5"/>
          <p:cNvSpPr txBox="1"/>
          <p:nvPr/>
        </p:nvSpPr>
        <p:spPr>
          <a:xfrm>
            <a:off x="4361688" y="3383280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cappello / retina</a:t>
            </a:r>
            <a:endParaRPr lang="en-US" sz="1050" dirty="0"/>
          </a:p>
        </p:txBody>
      </p:sp>
      <p:sp>
        <p:nvSpPr>
          <p:cNvPr id="36" name="tile_89"/>
          <p:cNvSpPr/>
          <p:nvPr/>
        </p:nvSpPr>
        <p:spPr>
          <a:xfrm>
            <a:off x="5861304" y="2624328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90" descr="probe thermomet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2679192"/>
            <a:ext cx="457200" cy="457200"/>
          </a:xfrm>
          <a:prstGeom prst="rect">
            <a:avLst/>
          </a:prstGeom>
        </p:spPr>
      </p:pic>
      <p:sp>
        <p:nvSpPr>
          <p:cNvPr id="38" name="tw_91"/>
          <p:cNvSpPr txBox="1"/>
          <p:nvPr/>
        </p:nvSpPr>
        <p:spPr>
          <a:xfrm>
            <a:off x="5897880" y="31546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thermometer</a:t>
            </a:r>
            <a:endParaRPr lang="en-US" sz="1100" dirty="0"/>
          </a:p>
        </p:txBody>
      </p:sp>
      <p:sp>
        <p:nvSpPr>
          <p:cNvPr id="39" name="R1_it6"/>
          <p:cNvSpPr txBox="1"/>
          <p:nvPr/>
        </p:nvSpPr>
        <p:spPr>
          <a:xfrm>
            <a:off x="5897880" y="3383280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termometro a sonda</a:t>
            </a:r>
            <a:endParaRPr lang="en-US" sz="1050" dirty="0"/>
          </a:p>
        </p:txBody>
      </p:sp>
      <p:sp>
        <p:nvSpPr>
          <p:cNvPr id="40" name="tile_92"/>
          <p:cNvSpPr/>
          <p:nvPr/>
        </p:nvSpPr>
        <p:spPr>
          <a:xfrm>
            <a:off x="7397496" y="2624328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93" descr="fire blanke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2128" y="2679192"/>
            <a:ext cx="457200" cy="457200"/>
          </a:xfrm>
          <a:prstGeom prst="rect">
            <a:avLst/>
          </a:prstGeom>
        </p:spPr>
      </p:pic>
      <p:sp>
        <p:nvSpPr>
          <p:cNvPr id="42" name="tw_94"/>
          <p:cNvSpPr txBox="1"/>
          <p:nvPr/>
        </p:nvSpPr>
        <p:spPr>
          <a:xfrm>
            <a:off x="7434072" y="31546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blanket</a:t>
            </a:r>
            <a:endParaRPr lang="en-US" sz="1250" dirty="0"/>
          </a:p>
        </p:txBody>
      </p:sp>
      <p:sp>
        <p:nvSpPr>
          <p:cNvPr id="43" name="R1_it7"/>
          <p:cNvSpPr txBox="1"/>
          <p:nvPr/>
        </p:nvSpPr>
        <p:spPr>
          <a:xfrm>
            <a:off x="7434072" y="3383280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coperta antifiamma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9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Rules</a:t>
            </a:r>
            <a:endParaRPr lang="en-US" sz="900" dirty="0"/>
          </a:p>
        </p:txBody>
      </p:sp>
      <p:sp>
        <p:nvSpPr>
          <p:cNvPr id="6" name="timer_9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9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100"/>
          <p:cNvSpPr txBox="1"/>
          <p:nvPr/>
        </p:nvSpPr>
        <p:spPr>
          <a:xfrm rot="-120000">
            <a:off x="320040" y="676656"/>
            <a:ext cx="467258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must wash your hands</a:t>
            </a:r>
            <a:endParaRPr lang="en-US" sz="1500" dirty="0"/>
          </a:p>
        </p:txBody>
      </p:sp>
      <p:sp>
        <p:nvSpPr>
          <p:cNvPr id="9" name="rh_101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 / have to</a:t>
            </a:r>
            <a:endParaRPr lang="en-US" sz="1300" dirty="0"/>
          </a:p>
        </p:txBody>
      </p:sp>
      <p:sp>
        <p:nvSpPr>
          <p:cNvPr id="10" name="rb_102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necessary / the rule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wash your hands.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to wear a hat.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</a:t>
            </a:r>
            <a:endParaRPr lang="en-US" sz="1350" dirty="0"/>
          </a:p>
        </p:txBody>
      </p:sp>
      <p:sp>
        <p:nvSpPr>
          <p:cNvPr id="11" name="rh_103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mustn't</a:t>
            </a:r>
            <a:endParaRPr lang="en-US" sz="1300" dirty="0"/>
          </a:p>
        </p:txBody>
      </p:sp>
      <p:sp>
        <p:nvSpPr>
          <p:cNvPr id="12" name="rb_104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it's prohibited!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wear jewellery.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use your phone.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vietato</a:t>
            </a:r>
            <a:endParaRPr lang="en-US" sz="1350" dirty="0"/>
          </a:p>
        </p:txBody>
      </p:sp>
      <p:sp>
        <p:nvSpPr>
          <p:cNvPr id="13" name="rh_105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have to</a:t>
            </a:r>
            <a:endParaRPr lang="en-US" sz="1300" dirty="0"/>
          </a:p>
        </p:txBody>
      </p:sp>
      <p:sp>
        <p:nvSpPr>
          <p:cNvPr id="14" name="rb_106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not necessary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come in on Monday.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necessario</a:t>
            </a:r>
            <a:endParaRPr lang="en-US" sz="1350" dirty="0"/>
          </a:p>
        </p:txBody>
      </p:sp>
      <p:sp>
        <p:nvSpPr>
          <p:cNvPr id="15" name="watch_107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≠ don't have to!     ✗ You must to wash → ✓ You must wash.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timer_11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113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must, mustn't, don't have to?</a:t>
            </a:r>
            <a:endParaRPr lang="en-US" sz="1500" dirty="0"/>
          </a:p>
        </p:txBody>
      </p:sp>
      <p:sp>
        <p:nvSpPr>
          <p:cNvPr id="9" name="post_11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1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must · mustn't · don't have to.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Scegli: must / mustn't / don't have to.</a:t>
            </a:r>
            <a:endParaRPr lang="en-US" sz="1250" dirty="0"/>
          </a:p>
        </p:txBody>
      </p:sp>
      <p:sp>
        <p:nvSpPr>
          <p:cNvPr id="12" name="box_117"/>
          <p:cNvSpPr txBox="1"/>
          <p:nvPr/>
        </p:nvSpPr>
        <p:spPr>
          <a:xfrm>
            <a:off x="2788920" y="1371600"/>
            <a:ext cx="44659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___ wear a blue plaster on a cut.</a:t>
            </a:r>
            <a:endParaRPr lang="en-US" sz="1350" dirty="0"/>
          </a:p>
        </p:txBody>
      </p:sp>
      <p:sp>
        <p:nvSpPr>
          <p:cNvPr id="13" name="R1_a0"/>
          <p:cNvSpPr txBox="1"/>
          <p:nvPr/>
        </p:nvSpPr>
        <p:spPr>
          <a:xfrm>
            <a:off x="7309714" y="1408176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200" dirty="0"/>
          </a:p>
        </p:txBody>
      </p:sp>
      <p:sp>
        <p:nvSpPr>
          <p:cNvPr id="14" name="box_118"/>
          <p:cNvSpPr txBox="1"/>
          <p:nvPr/>
        </p:nvSpPr>
        <p:spPr>
          <a:xfrm>
            <a:off x="2788920" y="2055571"/>
            <a:ext cx="44659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You ___ wear a watch in the kitchen.</a:t>
            </a:r>
            <a:endParaRPr lang="en-US" sz="1350" dirty="0"/>
          </a:p>
        </p:txBody>
      </p:sp>
      <p:sp>
        <p:nvSpPr>
          <p:cNvPr id="15" name="R1_a1"/>
          <p:cNvSpPr txBox="1"/>
          <p:nvPr/>
        </p:nvSpPr>
        <p:spPr>
          <a:xfrm>
            <a:off x="7309714" y="2092147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200" dirty="0"/>
          </a:p>
        </p:txBody>
      </p:sp>
      <p:sp>
        <p:nvSpPr>
          <p:cNvPr id="16" name="box_119"/>
          <p:cNvSpPr txBox="1"/>
          <p:nvPr/>
        </p:nvSpPr>
        <p:spPr>
          <a:xfrm>
            <a:off x="2788920" y="2739542"/>
            <a:ext cx="44659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___ wear gloves to wash salad, but you can.</a:t>
            </a:r>
            <a:endParaRPr lang="en-US" sz="1350" dirty="0"/>
          </a:p>
        </p:txBody>
      </p:sp>
      <p:sp>
        <p:nvSpPr>
          <p:cNvPr id="17" name="R1_a2"/>
          <p:cNvSpPr txBox="1"/>
          <p:nvPr/>
        </p:nvSpPr>
        <p:spPr>
          <a:xfrm>
            <a:off x="7309714" y="2776118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</a:t>
            </a:r>
            <a:endParaRPr lang="en-US" sz="1200" dirty="0"/>
          </a:p>
        </p:txBody>
      </p:sp>
      <p:sp>
        <p:nvSpPr>
          <p:cNvPr id="18" name="box_120"/>
          <p:cNvSpPr txBox="1"/>
          <p:nvPr/>
        </p:nvSpPr>
        <p:spPr>
          <a:xfrm>
            <a:off x="2788920" y="3423514"/>
            <a:ext cx="44659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___ put raw chicken above cooked food.</a:t>
            </a:r>
            <a:endParaRPr lang="en-US" sz="1350" dirty="0"/>
          </a:p>
        </p:txBody>
      </p:sp>
      <p:sp>
        <p:nvSpPr>
          <p:cNvPr id="19" name="R1_a3"/>
          <p:cNvSpPr txBox="1"/>
          <p:nvPr/>
        </p:nvSpPr>
        <p:spPr>
          <a:xfrm>
            <a:off x="7309714" y="3460090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200" dirty="0"/>
          </a:p>
        </p:txBody>
      </p:sp>
      <p:sp>
        <p:nvSpPr>
          <p:cNvPr id="20" name="box_121"/>
          <p:cNvSpPr txBox="1"/>
          <p:nvPr/>
        </p:nvSpPr>
        <p:spPr>
          <a:xfrm>
            <a:off x="2788920" y="4107485"/>
            <a:ext cx="44659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Part-time staff ___ come to the Monday meeting.</a:t>
            </a:r>
            <a:endParaRPr lang="en-US" sz="1350" dirty="0"/>
          </a:p>
        </p:txBody>
      </p:sp>
      <p:sp>
        <p:nvSpPr>
          <p:cNvPr id="21" name="R1_a4"/>
          <p:cNvSpPr txBox="1"/>
          <p:nvPr/>
        </p:nvSpPr>
        <p:spPr>
          <a:xfrm>
            <a:off x="7309714" y="4144061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2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WRITING · Opposites</a:t>
            </a:r>
            <a:endParaRPr lang="en-US" sz="900" dirty="0"/>
          </a:p>
        </p:txBody>
      </p:sp>
      <p:sp>
        <p:nvSpPr>
          <p:cNvPr id="6" name="timer_12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2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127"/>
          <p:cNvSpPr txBox="1"/>
          <p:nvPr/>
        </p:nvSpPr>
        <p:spPr>
          <a:xfrm rot="-120000">
            <a:off x="320040" y="676656"/>
            <a:ext cx="571500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worst kitchen in the world</a:t>
            </a:r>
            <a:endParaRPr lang="en-US" sz="1500" dirty="0"/>
          </a:p>
        </p:txBody>
      </p:sp>
      <p:sp>
        <p:nvSpPr>
          <p:cNvPr id="9" name="post_1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rules for a TERRIBLE kitchen. Then fix them!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5 regole per una cucina TERRIBILE. Poi correggile!</a:t>
            </a:r>
            <a:endParaRPr lang="en-US" sz="1200" dirty="0"/>
          </a:p>
        </p:txBody>
      </p:sp>
      <p:sp>
        <p:nvSpPr>
          <p:cNvPr id="12" name="iconBack_1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32" descr="bacter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33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34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write 5 rules for the worst kitchen ever.</a:t>
            </a:r>
            <a:endParaRPr lang="en-US" sz="1300" dirty="0"/>
          </a:p>
        </p:txBody>
      </p:sp>
      <p:sp>
        <p:nvSpPr>
          <p:cNvPr id="16" name="num_135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36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leave the fridge door open! Never wash the boards!</a:t>
            </a:r>
            <a:endParaRPr lang="en-US" sz="1300" dirty="0"/>
          </a:p>
        </p:txBody>
      </p:sp>
      <p:sp>
        <p:nvSpPr>
          <p:cNvPr id="18" name="num_137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38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lists. Change each rule into a real rule with must / mustn't.</a:t>
            </a:r>
            <a:endParaRPr lang="en-US" sz="1300" dirty="0"/>
          </a:p>
        </p:txBody>
      </p:sp>
      <p:sp>
        <p:nvSpPr>
          <p:cNvPr id="20" name="num_139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40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leave the fridge door open. You must wash the boards.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4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The 4 Cs</a:t>
            </a:r>
            <a:endParaRPr lang="en-US" sz="900" dirty="0"/>
          </a:p>
        </p:txBody>
      </p:sp>
      <p:sp>
        <p:nvSpPr>
          <p:cNvPr id="6" name="timer_14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4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146"/>
          <p:cNvSpPr txBox="1"/>
          <p:nvPr/>
        </p:nvSpPr>
        <p:spPr>
          <a:xfrm rot="-120000">
            <a:off x="320040" y="676656"/>
            <a:ext cx="449884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4 Cs of food safety</a:t>
            </a:r>
            <a:endParaRPr lang="en-US" sz="1500" dirty="0"/>
          </a:p>
        </p:txBody>
      </p:sp>
      <p:sp>
        <p:nvSpPr>
          <p:cNvPr id="9" name="post_1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1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rule to one of the 4 Cs.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 ogni regola a una delle 4 C.</a:t>
            </a:r>
            <a:endParaRPr lang="en-US" sz="1250" dirty="0"/>
          </a:p>
        </p:txBody>
      </p:sp>
      <p:sp>
        <p:nvSpPr>
          <p:cNvPr id="12" name="box_150"/>
          <p:cNvSpPr txBox="1"/>
          <p:nvPr/>
        </p:nvSpPr>
        <p:spPr>
          <a:xfrm>
            <a:off x="2788920" y="1371600"/>
            <a:ext cx="3983126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Cook food until it is steaming hot all the way through.</a:t>
            </a:r>
            <a:endParaRPr lang="en-US" sz="1100" dirty="0"/>
          </a:p>
        </p:txBody>
      </p:sp>
      <p:sp>
        <p:nvSpPr>
          <p:cNvPr id="13" name="R1_m0"/>
          <p:cNvSpPr txBox="1"/>
          <p:nvPr/>
        </p:nvSpPr>
        <p:spPr>
          <a:xfrm>
            <a:off x="6845198" y="1389888"/>
            <a:ext cx="197876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1150" dirty="0"/>
          </a:p>
        </p:txBody>
      </p:sp>
      <p:sp>
        <p:nvSpPr>
          <p:cNvPr id="14" name="box_151"/>
          <p:cNvSpPr txBox="1"/>
          <p:nvPr/>
        </p:nvSpPr>
        <p:spPr>
          <a:xfrm>
            <a:off x="2788920" y="1901952"/>
            <a:ext cx="3983126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Keep the fridge at 5°C or below.</a:t>
            </a:r>
            <a:endParaRPr lang="en-US" sz="1250" dirty="0"/>
          </a:p>
        </p:txBody>
      </p:sp>
      <p:sp>
        <p:nvSpPr>
          <p:cNvPr id="15" name="R1_m1"/>
          <p:cNvSpPr txBox="1"/>
          <p:nvPr/>
        </p:nvSpPr>
        <p:spPr>
          <a:xfrm>
            <a:off x="6845198" y="1920240"/>
            <a:ext cx="197876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Chilling</a:t>
            </a:r>
            <a:endParaRPr lang="en-US" sz="1150" dirty="0"/>
          </a:p>
        </p:txBody>
      </p:sp>
      <p:sp>
        <p:nvSpPr>
          <p:cNvPr id="16" name="box_152"/>
          <p:cNvSpPr txBox="1"/>
          <p:nvPr/>
        </p:nvSpPr>
        <p:spPr>
          <a:xfrm>
            <a:off x="2788920" y="2432304"/>
            <a:ext cx="3983126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Use different boards for raw meat and ready-to-eat food.</a:t>
            </a:r>
            <a:endParaRPr lang="en-US" sz="1050" dirty="0"/>
          </a:p>
        </p:txBody>
      </p:sp>
      <p:sp>
        <p:nvSpPr>
          <p:cNvPr id="17" name="R1_m2"/>
          <p:cNvSpPr txBox="1"/>
          <p:nvPr/>
        </p:nvSpPr>
        <p:spPr>
          <a:xfrm>
            <a:off x="6845198" y="2450592"/>
            <a:ext cx="197876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Cross-contamination</a:t>
            </a:r>
            <a:endParaRPr lang="en-US" sz="1150" dirty="0"/>
          </a:p>
        </p:txBody>
      </p:sp>
      <p:sp>
        <p:nvSpPr>
          <p:cNvPr id="18" name="box_153"/>
          <p:cNvSpPr txBox="1"/>
          <p:nvPr/>
        </p:nvSpPr>
        <p:spPr>
          <a:xfrm>
            <a:off x="2788920" y="2962656"/>
            <a:ext cx="3983126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Clean as you go – wash surfaces and equipment.</a:t>
            </a:r>
            <a:endParaRPr lang="en-US" sz="1250" dirty="0"/>
          </a:p>
        </p:txBody>
      </p:sp>
      <p:sp>
        <p:nvSpPr>
          <p:cNvPr id="19" name="R1_m3"/>
          <p:cNvSpPr txBox="1"/>
          <p:nvPr/>
        </p:nvSpPr>
        <p:spPr>
          <a:xfrm>
            <a:off x="6845198" y="2980944"/>
            <a:ext cx="197876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20" name="box_154"/>
          <p:cNvSpPr txBox="1"/>
          <p:nvPr/>
        </p:nvSpPr>
        <p:spPr>
          <a:xfrm>
            <a:off x="2788920" y="3493008"/>
            <a:ext cx="3983126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Cool food quickly and put it in the fridge.</a:t>
            </a:r>
            <a:endParaRPr lang="en-US" sz="1250" dirty="0"/>
          </a:p>
        </p:txBody>
      </p:sp>
      <p:sp>
        <p:nvSpPr>
          <p:cNvPr id="21" name="R1_m4"/>
          <p:cNvSpPr txBox="1"/>
          <p:nvPr/>
        </p:nvSpPr>
        <p:spPr>
          <a:xfrm>
            <a:off x="6845198" y="3511296"/>
            <a:ext cx="197876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Chilling</a:t>
            </a:r>
            <a:endParaRPr lang="en-US" sz="1150" dirty="0"/>
          </a:p>
        </p:txBody>
      </p:sp>
      <p:sp>
        <p:nvSpPr>
          <p:cNvPr id="22" name="box_155"/>
          <p:cNvSpPr txBox="1"/>
          <p:nvPr/>
        </p:nvSpPr>
        <p:spPr>
          <a:xfrm>
            <a:off x="2788920" y="4023360"/>
            <a:ext cx="3983126" cy="45720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Wash your hands after you touch raw meat.</a:t>
            </a:r>
            <a:endParaRPr lang="en-US" sz="1250" dirty="0"/>
          </a:p>
        </p:txBody>
      </p:sp>
      <p:sp>
        <p:nvSpPr>
          <p:cNvPr id="23" name="R1_m5"/>
          <p:cNvSpPr txBox="1"/>
          <p:nvPr/>
        </p:nvSpPr>
        <p:spPr>
          <a:xfrm>
            <a:off x="6845198" y="4041648"/>
            <a:ext cx="197876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/ Cross-cont.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Mini debate</a:t>
            </a:r>
            <a:endParaRPr lang="en-US" sz="900" dirty="0"/>
          </a:p>
        </p:txBody>
      </p:sp>
      <p:sp>
        <p:nvSpPr>
          <p:cNvPr id="6" name="timer_1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6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161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 or no way?</a:t>
            </a:r>
            <a:endParaRPr lang="en-US" sz="1500" dirty="0"/>
          </a:p>
        </p:txBody>
      </p:sp>
      <p:sp>
        <p:nvSpPr>
          <p:cNvPr id="9" name="post_16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6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agree or no way? Give one reason in 30 seconds!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Scegli: d'accordo o no? Un motivo in 30 secondi!</a:t>
            </a:r>
            <a:endParaRPr lang="en-US" sz="1200" dirty="0"/>
          </a:p>
        </p:txBody>
      </p:sp>
      <p:sp>
        <p:nvSpPr>
          <p:cNvPr id="12" name="box_165"/>
          <p:cNvSpPr txBox="1"/>
          <p:nvPr/>
        </p:nvSpPr>
        <p:spPr>
          <a:xfrm>
            <a:off x="2788920" y="1371600"/>
            <a:ext cx="4572000" cy="5669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"Shouting in the kitchen is necessary."</a:t>
            </a:r>
            <a:endParaRPr lang="en-US" sz="1350" dirty="0"/>
          </a:p>
        </p:txBody>
      </p:sp>
      <p:sp>
        <p:nvSpPr>
          <p:cNvPr id="13" name="stamp_166"/>
          <p:cNvSpPr txBox="1"/>
          <p:nvPr/>
        </p:nvSpPr>
        <p:spPr>
          <a:xfrm>
            <a:off x="7434072" y="1417320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14" name="stamp_167"/>
          <p:cNvSpPr txBox="1"/>
          <p:nvPr/>
        </p:nvSpPr>
        <p:spPr>
          <a:xfrm>
            <a:off x="8129016" y="1417320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15" name="box_168"/>
          <p:cNvSpPr txBox="1"/>
          <p:nvPr/>
        </p:nvSpPr>
        <p:spPr>
          <a:xfrm>
            <a:off x="2788920" y="2029968"/>
            <a:ext cx="4572000" cy="5669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"Chefs should be allowed to use their phones at work."</a:t>
            </a:r>
            <a:endParaRPr lang="en-US" sz="1350" dirty="0"/>
          </a:p>
        </p:txBody>
      </p:sp>
      <p:sp>
        <p:nvSpPr>
          <p:cNvPr id="16" name="stamp_169"/>
          <p:cNvSpPr txBox="1"/>
          <p:nvPr/>
        </p:nvSpPr>
        <p:spPr>
          <a:xfrm>
            <a:off x="7434072" y="2075688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17" name="stamp_170"/>
          <p:cNvSpPr txBox="1"/>
          <p:nvPr/>
        </p:nvSpPr>
        <p:spPr>
          <a:xfrm>
            <a:off x="8129016" y="2075688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18" name="box_171"/>
          <p:cNvSpPr txBox="1"/>
          <p:nvPr/>
        </p:nvSpPr>
        <p:spPr>
          <a:xfrm>
            <a:off x="2788920" y="2688336"/>
            <a:ext cx="4572000" cy="5669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"Tasting with your finger is OK if your hands are clean."</a:t>
            </a:r>
            <a:endParaRPr lang="en-US" sz="1350" dirty="0"/>
          </a:p>
        </p:txBody>
      </p:sp>
      <p:sp>
        <p:nvSpPr>
          <p:cNvPr id="19" name="stamp_172"/>
          <p:cNvSpPr txBox="1"/>
          <p:nvPr/>
        </p:nvSpPr>
        <p:spPr>
          <a:xfrm>
            <a:off x="7434072" y="2734056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0" name="stamp_173"/>
          <p:cNvSpPr txBox="1"/>
          <p:nvPr/>
        </p:nvSpPr>
        <p:spPr>
          <a:xfrm>
            <a:off x="8129016" y="2734056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1" name="box_174"/>
          <p:cNvSpPr txBox="1"/>
          <p:nvPr/>
        </p:nvSpPr>
        <p:spPr>
          <a:xfrm>
            <a:off x="2788920" y="3346704"/>
            <a:ext cx="4572000" cy="56692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kitchens are better than closed kitchens."</a:t>
            </a:r>
            <a:endParaRPr lang="en-US" sz="1350" dirty="0"/>
          </a:p>
        </p:txBody>
      </p:sp>
      <p:sp>
        <p:nvSpPr>
          <p:cNvPr id="22" name="stamp_175"/>
          <p:cNvSpPr txBox="1"/>
          <p:nvPr/>
        </p:nvSpPr>
        <p:spPr>
          <a:xfrm>
            <a:off x="7434072" y="3392424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</a:t>
            </a:r>
            <a:endParaRPr lang="en-US" sz="950" dirty="0"/>
          </a:p>
        </p:txBody>
      </p:sp>
      <p:sp>
        <p:nvSpPr>
          <p:cNvPr id="23" name="stamp_176"/>
          <p:cNvSpPr txBox="1"/>
          <p:nvPr/>
        </p:nvSpPr>
        <p:spPr>
          <a:xfrm>
            <a:off x="8129016" y="3392424"/>
            <a:ext cx="69494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WAY</a:t>
            </a:r>
            <a:endParaRPr lang="en-US" sz="950" dirty="0"/>
          </a:p>
        </p:txBody>
      </p:sp>
      <p:sp>
        <p:nvSpPr>
          <p:cNvPr id="24" name="bubble_177"/>
          <p:cNvSpPr txBox="1"/>
          <p:nvPr/>
        </p:nvSpPr>
        <p:spPr>
          <a:xfrm>
            <a:off x="2788920" y="4160520"/>
            <a:ext cx="60350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your partner answers you: I see your point, but…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7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Role-play</a:t>
            </a:r>
            <a:endParaRPr lang="en-US" sz="900" dirty="0"/>
          </a:p>
        </p:txBody>
      </p:sp>
      <p:sp>
        <p:nvSpPr>
          <p:cNvPr id="6" name="timer_18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18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8" name="title_183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kitchen inspector</a:t>
            </a:r>
            <a:endParaRPr lang="en-US" sz="1500" dirty="0"/>
          </a:p>
        </p:txBody>
      </p:sp>
      <p:sp>
        <p:nvSpPr>
          <p:cNvPr id="9" name="post_18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8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18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is the inspector. Find 5 problems!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è l'ispettore. Trova 5 problemi!</a:t>
            </a:r>
            <a:endParaRPr lang="en-US" sz="1250" dirty="0"/>
          </a:p>
        </p:txBody>
      </p:sp>
      <p:sp>
        <p:nvSpPr>
          <p:cNvPr id="12" name="iconBack_18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88" descr="clip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8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9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B describes his / her kitchen – true or invented: There's a cake on the table. The fridge is at 9°C…</a:t>
            </a:r>
            <a:endParaRPr lang="en-US" sz="1300" dirty="0"/>
          </a:p>
        </p:txBody>
      </p:sp>
      <p:sp>
        <p:nvSpPr>
          <p:cNvPr id="16" name="num_19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9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finds the problems: You mustn't… / You have to…</a:t>
            </a:r>
            <a:endParaRPr lang="en-US" sz="1300" dirty="0"/>
          </a:p>
        </p:txBody>
      </p:sp>
      <p:sp>
        <p:nvSpPr>
          <p:cNvPr id="18" name="num_19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9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found = 1 point. Each hidden problem not found = 1 point for B!</a:t>
            </a:r>
            <a:endParaRPr lang="en-US" sz="1300" dirty="0"/>
          </a:p>
        </p:txBody>
      </p:sp>
      <p:sp>
        <p:nvSpPr>
          <p:cNvPr id="20" name="num_19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9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roles.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9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6" name="title_20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01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02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kitchen hazards.</a:t>
            </a:r>
            <a:endParaRPr lang="en-US" sz="1350" dirty="0"/>
          </a:p>
        </p:txBody>
      </p:sp>
      <p:sp>
        <p:nvSpPr>
          <p:cNvPr id="9" name="faces_203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04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must, mustn't, have to, don't have to.</a:t>
            </a:r>
            <a:endParaRPr lang="en-US" sz="1350" dirty="0"/>
          </a:p>
        </p:txBody>
      </p:sp>
      <p:sp>
        <p:nvSpPr>
          <p:cNvPr id="11" name="faces_205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06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the 4 Cs of food safety.</a:t>
            </a:r>
            <a:endParaRPr lang="en-US" sz="1350" dirty="0"/>
          </a:p>
        </p:txBody>
      </p:sp>
      <p:sp>
        <p:nvSpPr>
          <p:cNvPr id="13" name="faces_207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08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8 rules for your kitchen in English. Put them on the wall at work!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5" name="stamp_209"/>
          <p:cNvSpPr txBox="1"/>
          <p:nvPr/>
        </p:nvSpPr>
        <p:spPr>
          <a:xfrm>
            <a:off x="365760" y="365760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L8 · Allergens &amp; special diets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1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Video · food safety</a:t>
            </a:r>
            <a:endParaRPr lang="en-US" sz="900" dirty="0"/>
          </a:p>
        </p:txBody>
      </p:sp>
      <p:sp>
        <p:nvSpPr>
          <p:cNvPr id="6" name="timer_21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1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1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L7</a:t>
            </a:r>
            <a:endParaRPr lang="en-US" sz="1000" dirty="0"/>
          </a:p>
        </p:txBody>
      </p:sp>
      <p:sp>
        <p:nvSpPr>
          <p:cNvPr id="9" name="title_216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four Cs</a:t>
            </a:r>
            <a:endParaRPr lang="en-US" sz="1500" dirty="0"/>
          </a:p>
        </p:txBody>
      </p:sp>
      <p:sp>
        <p:nvSpPr>
          <p:cNvPr id="10" name="post_21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1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2" name="signB_21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Write one rule for each C.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Scrivi una regola per ogni C.</a:t>
            </a:r>
            <a:endParaRPr lang="en-US" sz="1250" dirty="0"/>
          </a:p>
        </p:txBody>
      </p:sp>
      <p:sp>
        <p:nvSpPr>
          <p:cNvPr id="13" name="screen_220"/>
          <p:cNvSpPr/>
          <p:nvPr/>
        </p:nvSpPr>
        <p:spPr>
          <a:xfrm>
            <a:off x="2788920" y="13716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1F163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play_221">
            <a:hlinkClick r:id="rId3" tooltip="The four Cs of food safety"/>
          </p:cNvPr>
          <p:cNvSpPr txBox="1"/>
          <p:nvPr/>
        </p:nvSpPr>
        <p:spPr>
          <a:xfrm>
            <a:off x="3749040" y="1874520"/>
            <a:ext cx="822960" cy="822960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The four Cs of food safet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600" dirty="0"/>
          </a:p>
        </p:txBody>
      </p:sp>
      <p:sp>
        <p:nvSpPr>
          <p:cNvPr id="15" name="vt_222"/>
          <p:cNvSpPr txBox="1"/>
          <p:nvPr/>
        </p:nvSpPr>
        <p:spPr>
          <a:xfrm>
            <a:off x="2788920" y="3310128"/>
            <a:ext cx="27432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four Cs of food safety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(UN) · short · click ▶ to open</a:t>
            </a:r>
            <a:endParaRPr lang="en-US" sz="1200" dirty="0"/>
          </a:p>
        </p:txBody>
      </p:sp>
      <p:sp>
        <p:nvSpPr>
          <p:cNvPr id="16" name="wyw_223"/>
          <p:cNvSpPr txBox="1"/>
          <p:nvPr/>
        </p:nvSpPr>
        <p:spPr>
          <a:xfrm>
            <a:off x="5669280" y="1371600"/>
            <a:ext cx="315468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7" name="box_224"/>
          <p:cNvSpPr txBox="1"/>
          <p:nvPr/>
        </p:nvSpPr>
        <p:spPr>
          <a:xfrm>
            <a:off x="5669280" y="1810512"/>
            <a:ext cx="3154680" cy="63550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Cleaning: you must…</a:t>
            </a:r>
            <a:endParaRPr lang="en-US" sz="1250" dirty="0"/>
          </a:p>
        </p:txBody>
      </p:sp>
      <p:sp>
        <p:nvSpPr>
          <p:cNvPr id="18" name="box_225"/>
          <p:cNvSpPr txBox="1"/>
          <p:nvPr/>
        </p:nvSpPr>
        <p:spPr>
          <a:xfrm>
            <a:off x="5669280" y="2537460"/>
            <a:ext cx="3154680" cy="63550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Cooking: you must…</a:t>
            </a:r>
            <a:endParaRPr lang="en-US" sz="1250" dirty="0"/>
          </a:p>
        </p:txBody>
      </p:sp>
      <p:sp>
        <p:nvSpPr>
          <p:cNvPr id="19" name="box_226"/>
          <p:cNvSpPr txBox="1"/>
          <p:nvPr/>
        </p:nvSpPr>
        <p:spPr>
          <a:xfrm>
            <a:off x="5669280" y="3264408"/>
            <a:ext cx="3154680" cy="63550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Chilling: you mustn't…</a:t>
            </a:r>
            <a:endParaRPr lang="en-US" sz="1250" dirty="0"/>
          </a:p>
        </p:txBody>
      </p:sp>
      <p:sp>
        <p:nvSpPr>
          <p:cNvPr id="20" name="box_227"/>
          <p:cNvSpPr txBox="1"/>
          <p:nvPr/>
        </p:nvSpPr>
        <p:spPr>
          <a:xfrm>
            <a:off x="5669280" y="3991356"/>
            <a:ext cx="3154680" cy="63550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Cross-contamination: you mustn't…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L7 Health &amp; safety</dc:title>
  <dc:subject>PptxGenJS Presentation</dc:subject>
  <dc:creator>London Language School</dc:creator>
  <cp:lastModifiedBy>London Language School</cp:lastModifiedBy>
  <cp:revision>1</cp:revision>
  <dcterms:created xsi:type="dcterms:W3CDTF">2026-10-05T06:50:57Z</dcterms:created>
  <dcterms:modified xsi:type="dcterms:W3CDTF">2026-10-05T06:50:57Z</dcterms:modified>
</cp:coreProperties>
</file>