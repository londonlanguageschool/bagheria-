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6B PART 1 (60 min) · SB pp.60–61. Aims: read a light-hearted article about profile photos; modals of deduction must / might / may / could / can't (Grammar Bank 6B); make deductions about people from their appearance (Communication 'Judging by appearances' p.107). Timing: cover 2 · revision 5 · lead-in 5 · reading 8 · debate 4 · listening 6.10 5 · rule 6 · practice 6 · Communication 7 · game 6 · exit 3 = 57 min. Click 1: question; let them guess before click 2 (the answer already uses today's grammar — don't explain it yet: 'You'll see why we say must in 20 minutes').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6A part 2 (5 min). VARIATION: beat the clock (speed + team competition). Two teams. Read definition 1; teams have 15 seconds to write the word (team secretary writes, no shouting). Click once per item to show its answer (answers appear one per click). 1 point per correct word, +1 bonus for correct pronunciation of tricky words: soundtrack, sequel /ˈsiːkwəl/, subtitles /ˈsʌbtaɪtlz/. Definitions are from Vocabulary Bank Cinema (TG 6A). Item 6 recalls the 6A listening (audio 6.7: Dagmara, a student from Krakow, interpreted for Steven Spielberg on Schindler's List). If there's time, quick follow-up: 'Name a film that is dubbed / was shot on location / is based on a true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 PREDICTION (5 min). SB 1a: 'Do you have a profile photo or photos that you use on social media? Show any that you can to your partner. Why did you choose them? How often do you change them?' Then show the 8 types (A–H = the article's headings: The portrait · The childhood photo · The pet · The wedding photo · The family photo · The popular culture reference · The party photo · No photo at all). VARIATION: prediction + curiosity gap — before reading, pairs predict what each type of photo 'says' about the person (e.g. 'Someone with a party photo must love going out'). Keep 2–3 predictions on the board to check after reading. Click 1 shows the Italian. Privacy: nobody has to show their own photo — they can describe it or choose 'a friend's'. Teach: profile photo, selfie, cute, adorable.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(8 min). 1b (3 min): students read the article on p.60 quickly and tick the two true statements: 1 The writer only likes certain types of profile photos. 2 The writer jokes about why people choose common types of photos. 3 The article is funny because the writer is rude about common types of profile photos. ANSWER: 2 and 3. Check their predictions from the previous slide: were they right? 1c (5 min): the article is rude and funny; now students read 'a positive interpretation of each type of profile photo and match it to A–H' (the book's sentences 1–8 are on the slide). Pairs compare, click 1 for all answers: 1 C · 2 A · 3 E · 4 H · 5 F · 6 G · 7 D · 8 B. VARIATION: perspective change — the same photo, a negative and a positive interpretation. Vocabulary to check: adore, dedicated, private, up to date, accomplish, incompetent, annoying.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(4 min). SB 1d – book: 'Talk to a partner. Is your profile photo type included? If yes, do you agree with any of the positive or negative interpretations of your profile photo(s)? If not, what is your interpretation of your photo? Can you think of any friends or family members whose photos fit with the interpretations in the article?' Ask 1–2 of these first, then the statements. VARIATION: mild controversy / mini debate. Pairs choose AGREE or NO WAY for each statement and must give a reason; then find one person in the class who disagrees with them. Feedback: one statement, show of hands. If you have a profile photo, tell them which type yours is and whether the article is right about you (TG suggestion). Keep it light — nobody has to show their own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 PRESENTATION (5 min). VARIATION: prediction. Books open at the photo on p.61: pairs guess how old the child is and where (1 minute — they will naturally say 'maybe', 'I'm sure'). Play 6.10 once; students complete the gaps; play again if needed. Click 1 for answers (from the audio script): 1 must · 2 might · 3 can't · 4 could. Why can't it be the south of France? — She's wearing boots and a sweater, and it doesn't look like a Mediterranean beach. 2b: 'Look at the highlighted modal verbs and answer the questions. 1 Which modal verbs mean it's possible? might, ___ 2 Which modal verb means it's very probable? 3 Which modal verb means it's impossible?' – answers (TG): 1 could; 2 must; 3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Students open Grammar Bank 6B p.143; play 6.11–6.13 to listen and repeat (copy the rhythm). The example sentences on the slide are from audio 6.11–6.13. Rules (TG grammar notes + Grammar Bank examples): we use must, might / may / could and can't + infinitive (no 'to') to make deductions = guesses based on evidence. must = we're almost sure something is true; might / may / could = it's possibly true; might not / may not = possibly not true; can't = we're almost sure something is NOT true. They can be used with any verb, not only be (She must have a lot of money), and with be + -ing (She can't be working very hard). Italian learners: the opposite of must here is can't, NOT mustn't (mustn't = prohibition); can is not used for a possibility (✗ He can be Spanish). Quick check: hold up your phone — 'Who might be calling me?' — elicit 3 deductions.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(6 min). Students do Grammar Bank 6B a 1–5 and b 1–5 in the book, individually then in pairs. Click 1 for the answers (TG key): a 1 I · 2 J · 3 A · 4 C · 5 H. b 1 must earn · 2 might not like · 3 must speak · 4 can't be · 5 might be (may is also correct where the key has might). Get them to read the full sentences aloud with natural stress. The slide shows B's lines from the key with the modal + verb gapped; students work from the full exercise in the book (⚠ the exact prompt wording is only in the Student's Book). The rest (a 6–9, b 6–10) is homework. VARIATION: student as teacher — fast finishers explain to their partner WHY (what is the evidence?). EXTRA SUPPORT: Grammar photocopiable p.160 (modals of deduction) if the class needs more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 INFORMATION GAP (7 min). 2d (3 min): 'Look at the photos of four people. Make four deductions about each person, one with must, one with might / could / may, and one with can't + the phrases in the list. You can use the phrases more than once.' (the phrase list is on the slide, step 2; the four photos are in the picture). Elicit a few deductions for each photo but DON'T say if they're right. 2e (4 min): 'Communication Judging by appearances p.107. Find out who the four people are. Were you surprised?' — to make it a real information gap, A reads about the first half of the people and B about the second half, then they tell each other and say if they're surprised (⚠ check p.107 before the lesson and split the people between A and B — the page is not in our files). VARIATION: curiosity gap + perspective change (first impressions vs reality). Feedback: Who was the biggest surprise? Why do we judge people by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constraint challenge — guesses only count if they use a modal of deduction, so the grammar is needed to score. Two teams; a clue-giver from team A, then team B, alternating. Model first: 'I work with my hands. I use a lot of water. I don't work in an office.' → 'You might be a plumber! You can't be a teacher!' After each correct answer the clue-giver's team gets the point only if the guess used must / might / can't. Fewer clues = better: you can give 2 points if they guess after 1–2 clues.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6B 1a, 1b, 1c (grammar) + Grammar Bank 6B a 6–9, b 6–10 + the 6B-1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(8 min) if there's time, or as a warmer in part 2. VARIATION: student-generated content (round 2). Real objects work best — bring an old bag with 5 things in it. There are no 'right' answers: reward good evidence. Printed alternative: Communicative photocopiable 'Who do you think they might be?'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forbidden easy answer — 'I don't know' is not allowed; every pair must give 3 deductions (one must, one might, one can't) for each situation, with evidence. Then the class votes for the funniest and the most logical deduction.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or HOMEWORK. Grammar photocopiable 6B 'modals of deduction: might, can't, must' – print B1_6B_Photocopiables.pdf, page 1. OFFICIAL ANSWERS (TG): a 1 can't (example) · 2 might · 3 must · 4 can't · 5 can't · 6 may. b 1 (must – example) can't / might not, must · 2 can't, might, might, might · 3 can't, must / might, might · 4 can't, must. ACTIVATION: practise the conversations with a partner. VARIATION: change the energy – act the Karen dialogue in a whisper, as if she's at the next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(10 min) – or use it instead of the 'You must be a…!' game if the class needs more must / might / can't. Communicative photocopiable 6B 'Who do you think they might be?' – print B1_6B_Photocopiables.pdf, page 2 (one per pair). TG procedure: go through the jobs; tell students they are all real people who do one of these jobs; students first think alone, then in pairs focus on photo 1 – elicit a sentence why she can't be a boxer (e.g. She can't be a boxer because she has long hair) – then they do c and d for every photo, always saying why. Check they've made a final decision for each person, elicit opinions, then give the answers. EXTRA SUPPORT: write We think he / she must be… on the board. OFFICIAL ANSWERS (TG): 1 Gloria de Piero – a British politician and journalist, first elected in 2010 · 2 Richard Ward – an award-winning hairdresser to Royals and celebrities · 3 Sheku Kanneh-Mason – a musician, plays the cello; BBC Young Musician of the Year 2016 · 4 Ina Menzer – a German boxer, World Champion 2005–2010 · 5 Rachel Riley – a mathematician (studied at Oxford), also a TV presenter on the quiz show Countdown · 6 John Cooper Clarke – a British poet who performs his poems in front of an audience and records them · 7 Jessamyn Stanley – a yoga teacher who works to make yoga available to everyone · 8 Terry Hollands – a model for the clothes company Big Tall Order. VARIATION: curiosity gap + judging by appearances (link to 2e).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audio" Target="../media/media-2-7.mp3"/><Relationship Id="rId8" Type="http://schemas.microsoft.com/office/2007/relationships/media" Target="../media/media-2-7.mp3"/><Relationship Id="rId9" Type="http://schemas.openxmlformats.org/officeDocument/2006/relationships/image" Target="../media/image-2-9.png"/><Relationship Id="rId10" Type="http://schemas.openxmlformats.org/officeDocument/2006/relationships/audio" Target="../media/media-2-10.mp3"/><Relationship Id="rId11" Type="http://schemas.microsoft.com/office/2007/relationships/media" Target="../media/media-2-10.mp3"/><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audio" Target="../media/media-7-6.mp3"/><Relationship Id="rId7" Type="http://schemas.microsoft.com/office/2007/relationships/media" Target="../media/media-7-6.mp3"/><Relationship Id="rId8" Type="http://schemas.openxmlformats.org/officeDocument/2006/relationships/image" Target="../media/image-7-8.png"/><Relationship Id="rId9" Type="http://schemas.openxmlformats.org/officeDocument/2006/relationships/audio" Target="../media/media-7-9.mp3"/><Relationship Id="rId10" Type="http://schemas.microsoft.com/office/2007/relationships/media" Target="../media/media-7-9.mp3"/><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6B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6B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6B · Part 1 · SB pp.60–61</a:t>
            </a:r>
            <a:endParaRPr lang="en-US" sz="1100" dirty="0"/>
          </a:p>
        </p:txBody>
      </p:sp>
      <p:sp>
        <p:nvSpPr>
          <p:cNvPr id="9"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1850" dirty="0">
                <a:solidFill>
                  <a:srgbClr val="111111"/>
                </a:solidFill>
                <a:latin typeface="Arial Black" pitchFamily="34" charset="0"/>
                <a:ea typeface="Arial Black" pitchFamily="34" charset="-122"/>
                <a:cs typeface="Arial Black" pitchFamily="34" charset="-120"/>
              </a:rPr>
              <a:t>EVERY PICTURE TELLS A STORY</a:t>
            </a:r>
            <a:endParaRPr lang="en-US" sz="1850" dirty="0"/>
          </a:p>
        </p:txBody>
      </p:sp>
      <p:sp>
        <p:nvSpPr>
          <p:cNvPr id="10" name="stamp_8"/>
          <p:cNvSpPr txBox="1"/>
          <p:nvPr/>
        </p:nvSpPr>
        <p:spPr>
          <a:xfrm>
            <a:off x="457200" y="2468880"/>
            <a:ext cx="4197096"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What your profile photo says</a:t>
            </a:r>
            <a:endParaRPr lang="en-US" sz="1200" dirty="0"/>
          </a:p>
        </p:txBody>
      </p:sp>
      <p:sp>
        <p:nvSpPr>
          <p:cNvPr id="11" name="stamp_9"/>
          <p:cNvSpPr txBox="1"/>
          <p:nvPr/>
        </p:nvSpPr>
        <p:spPr>
          <a:xfrm>
            <a:off x="457200" y="2944368"/>
            <a:ext cx="438912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must, might, can't (deduction)</a:t>
            </a:r>
            <a:endParaRPr lang="en-US" sz="1200" dirty="0"/>
          </a:p>
        </p:txBody>
      </p:sp>
      <p:sp>
        <p:nvSpPr>
          <p:cNvPr id="12" name="stamp_10"/>
          <p:cNvSpPr txBox="1"/>
          <p:nvPr/>
        </p:nvSpPr>
        <p:spPr>
          <a:xfrm>
            <a:off x="457200" y="3419856"/>
            <a:ext cx="3717036"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Judging by appearances</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gi:GiMagnifyingGlass">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Camera">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UserCircle">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A photo of a dog. Whose profile is it?</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It must be an animal lover!</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6A part 2 · Cinema</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23"/>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Beat the clock!</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Two teams. 15 seconds for each answer!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Due squadre. 15 secondi per ogni risposta!</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38624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all the people who act in a film</a:t>
            </a:r>
            <a:endParaRPr lang="en-US" sz="1250" dirty="0"/>
          </a:p>
        </p:txBody>
      </p:sp>
      <p:sp>
        <p:nvSpPr>
          <p:cNvPr id="15" name="R1_a0"/>
          <p:cNvSpPr txBox="1"/>
          <p:nvPr/>
        </p:nvSpPr>
        <p:spPr>
          <a:xfrm>
            <a:off x="6706210" y="1408176"/>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 cast</a:t>
            </a:r>
            <a:endParaRPr lang="en-US" sz="1200" dirty="0"/>
          </a:p>
        </p:txBody>
      </p:sp>
      <p:sp>
        <p:nvSpPr>
          <p:cNvPr id="16" name="box_30"/>
          <p:cNvSpPr txBox="1"/>
          <p:nvPr/>
        </p:nvSpPr>
        <p:spPr>
          <a:xfrm>
            <a:off x="2788920" y="1941576"/>
            <a:ext cx="38624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the music of a film</a:t>
            </a:r>
            <a:endParaRPr lang="en-US" sz="1250" dirty="0"/>
          </a:p>
        </p:txBody>
      </p:sp>
      <p:sp>
        <p:nvSpPr>
          <p:cNvPr id="17" name="R2_a1"/>
          <p:cNvSpPr txBox="1"/>
          <p:nvPr/>
        </p:nvSpPr>
        <p:spPr>
          <a:xfrm>
            <a:off x="6706210" y="1978152"/>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 soundtrack</a:t>
            </a:r>
            <a:endParaRPr lang="en-US" sz="1200" dirty="0"/>
          </a:p>
        </p:txBody>
      </p:sp>
      <p:sp>
        <p:nvSpPr>
          <p:cNvPr id="18" name="box_31"/>
          <p:cNvSpPr txBox="1"/>
          <p:nvPr/>
        </p:nvSpPr>
        <p:spPr>
          <a:xfrm>
            <a:off x="2788920" y="2511552"/>
            <a:ext cx="38624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a film which continues the story of an earlier film</a:t>
            </a:r>
            <a:endParaRPr lang="en-US" sz="1250" dirty="0"/>
          </a:p>
        </p:txBody>
      </p:sp>
      <p:sp>
        <p:nvSpPr>
          <p:cNvPr id="19" name="R3_a2"/>
          <p:cNvSpPr txBox="1"/>
          <p:nvPr/>
        </p:nvSpPr>
        <p:spPr>
          <a:xfrm>
            <a:off x="6706210" y="2548128"/>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 sequel</a:t>
            </a:r>
            <a:endParaRPr lang="en-US" sz="1200" dirty="0"/>
          </a:p>
        </p:txBody>
      </p:sp>
      <p:sp>
        <p:nvSpPr>
          <p:cNvPr id="20" name="box_32"/>
          <p:cNvSpPr txBox="1"/>
          <p:nvPr/>
        </p:nvSpPr>
        <p:spPr>
          <a:xfrm>
            <a:off x="2788920" y="3081528"/>
            <a:ext cx="38624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a person who plays a very small part, e.g. in a crowd</a:t>
            </a:r>
            <a:endParaRPr lang="en-US" sz="1100" dirty="0"/>
          </a:p>
        </p:txBody>
      </p:sp>
      <p:sp>
        <p:nvSpPr>
          <p:cNvPr id="21" name="R4_a3"/>
          <p:cNvSpPr txBox="1"/>
          <p:nvPr/>
        </p:nvSpPr>
        <p:spPr>
          <a:xfrm>
            <a:off x="6706210" y="3118104"/>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an extra</a:t>
            </a:r>
            <a:endParaRPr lang="en-US" sz="1200" dirty="0"/>
          </a:p>
        </p:txBody>
      </p:sp>
      <p:sp>
        <p:nvSpPr>
          <p:cNvPr id="22" name="box_33"/>
          <p:cNvSpPr txBox="1"/>
          <p:nvPr/>
        </p:nvSpPr>
        <p:spPr>
          <a:xfrm>
            <a:off x="2788920" y="3651504"/>
            <a:ext cx="38624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the translation of the dialogue on the screen</a:t>
            </a:r>
            <a:endParaRPr lang="en-US" sz="1250" dirty="0"/>
          </a:p>
        </p:txBody>
      </p:sp>
      <p:sp>
        <p:nvSpPr>
          <p:cNvPr id="23" name="R5_a4"/>
          <p:cNvSpPr txBox="1"/>
          <p:nvPr/>
        </p:nvSpPr>
        <p:spPr>
          <a:xfrm>
            <a:off x="6706210" y="3688080"/>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subtitles</a:t>
            </a:r>
            <a:endParaRPr lang="en-US" sz="1200" dirty="0"/>
          </a:p>
        </p:txBody>
      </p:sp>
      <p:sp>
        <p:nvSpPr>
          <p:cNvPr id="24" name="box_34"/>
          <p:cNvSpPr txBox="1"/>
          <p:nvPr/>
        </p:nvSpPr>
        <p:spPr>
          <a:xfrm>
            <a:off x="2788920" y="4221480"/>
            <a:ext cx="38624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6  Dagmara interpreted for which director? On which film?</a:t>
            </a:r>
            <a:endParaRPr lang="en-US" sz="1050" dirty="0"/>
          </a:p>
        </p:txBody>
      </p:sp>
      <p:sp>
        <p:nvSpPr>
          <p:cNvPr id="25" name="R6_a5"/>
          <p:cNvSpPr txBox="1"/>
          <p:nvPr/>
        </p:nvSpPr>
        <p:spPr>
          <a:xfrm>
            <a:off x="6706210" y="4258056"/>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Steven Spielberg · Schindler's List</a:t>
            </a:r>
            <a:endParaRPr lang="en-US" sz="100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6A pp.58–59 · Vocabulary Bank Cinema p.159 · audio 6.7–6.9</a:t>
            </a:r>
            <a:endParaRPr lang="en-US" sz="1050" dirty="0"/>
          </a:p>
        </p:txBody>
      </p:sp>
      <p:pic>
        <p:nvPicPr>
          <p:cNvPr id="27"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8" name="atr_3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6.7</a:t>
            </a:r>
            <a:endParaRPr lang="en-US" sz="800" dirty="0"/>
          </a:p>
        </p:txBody>
      </p:sp>
      <p:pic>
        <p:nvPicPr>
          <p:cNvPr id="29" name="Media 1">
            <a:hlinkClick r:id="" action="ppaction://media"/>
          </p:cNvPr>
          <p:cNvPicPr>
            <a:picLocks noChangeAspect="1"/>
          </p:cNvPicPr>
          <p:nvPr>
            <a:audioFile r:link="rId7"/>
            <p:extLst>
              <p:ext uri="{DAA4B4D4-6D71-4841-9C94-3DE7FCFB9230}">
                <p14:media xmlns:p14="http://schemas.microsoft.com/office/powerpoint/2010/main" r:embed="rId8"/>
              </p:ext>
            </p:extLst>
          </p:nvPr>
        </p:nvPicPr>
        <p:blipFill>
          <a:blip r:embed="rId9"/>
          <a:stretch>
            <a:fillRect/>
          </a:stretch>
        </p:blipFill>
        <p:spPr>
          <a:xfrm>
            <a:off x="5641848" y="155448"/>
            <a:ext cx="384048" cy="384048"/>
          </a:xfrm>
          <a:prstGeom prst="rect">
            <a:avLst/>
          </a:prstGeom>
        </p:spPr>
      </p:pic>
      <p:sp>
        <p:nvSpPr>
          <p:cNvPr id="30" name="atr_37"/>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6.8</a:t>
            </a:r>
            <a:endParaRPr lang="en-US" sz="800" dirty="0"/>
          </a:p>
        </p:txBody>
      </p:sp>
      <p:pic>
        <p:nvPicPr>
          <p:cNvPr id="31" name="Media 2">
            <a:hlinkClick r:id="" action="ppaction://media"/>
          </p:cNvPr>
          <p:cNvPicPr>
            <a:picLocks noChangeAspect="1"/>
          </p:cNvPicPr>
          <p:nvPr>
            <a:audioFile r:link="rId10"/>
            <p:extLst>
              <p:ext uri="{DAA4B4D4-6D71-4841-9C94-3DE7FCFB9230}">
                <p14:media xmlns:p14="http://schemas.microsoft.com/office/powerpoint/2010/main" r:embed="rId11"/>
              </p:ext>
            </p:extLst>
          </p:nvPr>
        </p:nvPicPr>
        <p:blipFill>
          <a:blip r:embed="rId12"/>
          <a:stretch>
            <a:fillRect/>
          </a:stretch>
        </p:blipFill>
        <p:spPr>
          <a:xfrm>
            <a:off x="6117336" y="155448"/>
            <a:ext cx="384048" cy="384048"/>
          </a:xfrm>
          <a:prstGeom prst="rect">
            <a:avLst/>
          </a:prstGeom>
        </p:spPr>
      </p:pic>
      <p:sp>
        <p:nvSpPr>
          <p:cNvPr id="32" name="atr_38"/>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6.9</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7"/>
                                        </p:tgtEl>
                                      </p:cBhvr>
                                    </p:cmd>
                                  </p:childTnLst>
                                </p:cTn>
                              </p:par>
                            </p:childTnLst>
                          </p:cTn>
                        </p:par>
                      </p:childTnLst>
                    </p:cTn>
                  </p:par>
                </p:childTnLst>
              </p:cTn>
              <p:nextCondLst>
                <p:cond evt="onClick" delay="0">
                  <p:tgtEl>
                    <p:spTgt spid="27"/>
                  </p:tgtEl>
                </p:cond>
              </p:nextCondLst>
            </p:seq>
            <p:seq concurrent="1" nextAc="seek">
              <p:cTn id="38" restart="whenNotActive" fill="hold" evtFilter="cancelBubble" nodeType="interactiveSeq">
                <p:stCondLst>
                  <p:cond evt="onClick" delay="0">
                    <p:tgtEl>
                      <p:spTgt spid="29"/>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9"/>
                                        </p:tgtEl>
                                      </p:cBhvr>
                                    </p:cmd>
                                  </p:childTnLst>
                                </p:cTn>
                              </p:par>
                            </p:childTnLst>
                          </p:cTn>
                        </p:par>
                      </p:childTnLst>
                    </p:cTn>
                  </p:par>
                </p:childTnLst>
              </p:cTn>
              <p:nextCondLst>
                <p:cond evt="onClick" delay="0">
                  <p:tgtEl>
                    <p:spTgt spid="29"/>
                  </p:tgtEl>
                </p:cond>
              </p:nextCondLst>
            </p:seq>
            <p:seq concurrent="1" nextAc="seek">
              <p:cTn id="43" restart="whenNotActive" fill="hold" evtFilter="cancelBubble" nodeType="interactiveSeq">
                <p:stCondLst>
                  <p:cond evt="onClick" delay="0">
                    <p:tgtEl>
                      <p:spTgt spid="31"/>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31"/>
                                        </p:tgtEl>
                                      </p:cBhvr>
                                    </p:cmd>
                                  </p:childTnLst>
                                </p:cTn>
                              </p:par>
                            </p:childTnLst>
                          </p:cTn>
                        </p:par>
                      </p:childTnLst>
                    </p:cTn>
                  </p:par>
                </p:childTnLst>
              </p:cTn>
              <p:nextCondLst>
                <p:cond evt="onClick" delay="0">
                  <p:tgtEl>
                    <p:spTgt spid="31"/>
                  </p:tgtEl>
                </p:cond>
              </p:nextCondLst>
            </p:seq>
            <p:audio>
              <p:cMediaNode vol="80000">
                <p:cTn id="48" fill="hold" display="0">
                  <p:stCondLst>
                    <p:cond delay="indefinite"/>
                  </p:stCondLst>
                  <p:endCondLst>
                    <p:cond evt="onStopAudio" delay="0">
                      <p:tgtEl>
                        <p:sldTgt/>
                      </p:tgtEl>
                    </p:cond>
                  </p:endCondLst>
                </p:cTn>
                <p:tgtEl>
                  <p:spTgt spid="27"/>
                </p:tgtEl>
              </p:cMediaNode>
            </p:audio>
            <p:audio>
              <p:cMediaNode vol="80000">
                <p:cTn id="49" fill="hold" display="0">
                  <p:stCondLst>
                    <p:cond delay="indefinite"/>
                  </p:stCondLst>
                  <p:endCondLst>
                    <p:cond evt="onStopAudio" delay="0">
                      <p:tgtEl>
                        <p:sldTgt/>
                      </p:tgtEl>
                    </p:cond>
                  </p:endCondLst>
                </p:cTn>
                <p:tgtEl>
                  <p:spTgt spid="29"/>
                </p:tgtEl>
              </p:cMediaNode>
            </p:audio>
            <p:audio>
              <p:cMediaNode vol="80000">
                <p:cTn id="50" fill="hold" display="0">
                  <p:stCondLst>
                    <p:cond delay="indefinite"/>
                  </p:stCondLst>
                  <p:endCondLst>
                    <p:cond evt="onStopAudio" delay="0">
                      <p:tgtEl>
                        <p:sldTgt/>
                      </p:tgtEl>
                    </p:cond>
                  </p:endCondLst>
                </p:cTn>
                <p:tgtEl>
                  <p:spTgt spid="3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9"/>
          <p:cNvSpPr/>
          <p:nvPr/>
        </p:nvSpPr>
        <p:spPr>
          <a:xfrm>
            <a:off x="54864" y="54864"/>
            <a:ext cx="9034272" cy="5033772"/>
          </a:xfrm>
          <a:prstGeom prst="rect">
            <a:avLst/>
          </a:prstGeom>
          <a:ln w="114300">
            <a:solidFill>
              <a:srgbClr val="A8E6B4"/>
            </a:solidFill>
            <a:prstDash val="solid"/>
          </a:ln>
        </p:spPr>
      </p:sp>
      <p:pic>
        <p:nvPicPr>
          <p:cNvPr id="4" name="logo_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Lead-in · Prediction</a:t>
            </a:r>
            <a:endParaRPr lang="en-US" sz="900" dirty="0"/>
          </a:p>
        </p:txBody>
      </p:sp>
      <p:sp>
        <p:nvSpPr>
          <p:cNvPr id="6" name="timer_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44"/>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your profile photo?</a:t>
            </a:r>
            <a:endParaRPr lang="en-US" sz="1500" dirty="0"/>
          </a:p>
        </p:txBody>
      </p:sp>
      <p:sp>
        <p:nvSpPr>
          <p:cNvPr id="9"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Which one is YOUR profile photo? What does it say about you?</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Qual è la TUA foto profilo? Cosa dice di te?</a:t>
            </a:r>
            <a:endParaRPr lang="en-US" sz="1200" dirty="0"/>
          </a:p>
        </p:txBody>
      </p:sp>
      <p:sp>
        <p:nvSpPr>
          <p:cNvPr id="12" name="iconBack_4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49" descr="pi:PiCamera">    </p:cNvPr>
          <p:cNvPicPr>
            <a:picLocks noChangeAspect="1"/>
          </p:cNvPicPr>
          <p:nvPr/>
        </p:nvPicPr>
        <p:blipFill>
          <a:blip r:embed="rId3"/>
          <a:stretch>
            <a:fillRect/>
          </a:stretch>
        </p:blipFill>
        <p:spPr>
          <a:xfrm>
            <a:off x="914400" y="3474720"/>
            <a:ext cx="685800" cy="685800"/>
          </a:xfrm>
          <a:prstGeom prst="rect">
            <a:avLst/>
          </a:prstGeom>
        </p:spPr>
      </p:pic>
      <p:sp>
        <p:nvSpPr>
          <p:cNvPr id="14" name="tile_50"/>
          <p:cNvSpPr/>
          <p:nvPr/>
        </p:nvSpPr>
        <p:spPr>
          <a:xfrm>
            <a:off x="2788920" y="1371600"/>
            <a:ext cx="2962656" cy="745236"/>
          </a:xfrm>
          <a:prstGeom prst="roundRect">
            <a:avLst>
              <a:gd name="adj" fmla="val 9816"/>
            </a:avLst>
          </a:prstGeom>
          <a:solidFill>
            <a:srgbClr val="FFFFFF"/>
          </a:solidFill>
          <a:ln w="19050">
            <a:solidFill>
              <a:srgbClr val="111111"/>
            </a:solidFill>
            <a:prstDash val="solid"/>
          </a:ln>
        </p:spPr>
      </p:sp>
      <p:pic>
        <p:nvPicPr>
          <p:cNvPr id="15" name="ti_51" descr="A  The portrait">    </p:cNvPr>
          <p:cNvPicPr>
            <a:picLocks noChangeAspect="1"/>
          </p:cNvPicPr>
          <p:nvPr/>
        </p:nvPicPr>
        <p:blipFill>
          <a:blip r:embed="rId4"/>
          <a:stretch>
            <a:fillRect/>
          </a:stretch>
        </p:blipFill>
        <p:spPr>
          <a:xfrm>
            <a:off x="2862072" y="1447838"/>
            <a:ext cx="409880" cy="409880"/>
          </a:xfrm>
          <a:prstGeom prst="rect">
            <a:avLst/>
          </a:prstGeom>
        </p:spPr>
      </p:pic>
      <p:sp>
        <p:nvSpPr>
          <p:cNvPr id="16" name="tw_52"/>
          <p:cNvSpPr txBox="1"/>
          <p:nvPr/>
        </p:nvSpPr>
        <p:spPr>
          <a:xfrm>
            <a:off x="3290240" y="1417320"/>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The portrait</a:t>
            </a:r>
            <a:endParaRPr lang="en-US" sz="1300" dirty="0"/>
          </a:p>
        </p:txBody>
      </p:sp>
      <p:sp>
        <p:nvSpPr>
          <p:cNvPr id="17" name="R1_it0"/>
          <p:cNvSpPr txBox="1"/>
          <p:nvPr/>
        </p:nvSpPr>
        <p:spPr>
          <a:xfrm>
            <a:off x="3290240" y="1744218"/>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primo piano / selfie</a:t>
            </a:r>
            <a:endParaRPr lang="en-US" sz="1150" dirty="0"/>
          </a:p>
        </p:txBody>
      </p:sp>
      <p:sp>
        <p:nvSpPr>
          <p:cNvPr id="18" name="tile_53"/>
          <p:cNvSpPr/>
          <p:nvPr/>
        </p:nvSpPr>
        <p:spPr>
          <a:xfrm>
            <a:off x="5861304" y="1371600"/>
            <a:ext cx="2962656" cy="745236"/>
          </a:xfrm>
          <a:prstGeom prst="roundRect">
            <a:avLst>
              <a:gd name="adj" fmla="val 9816"/>
            </a:avLst>
          </a:prstGeom>
          <a:solidFill>
            <a:srgbClr val="FFFFFF"/>
          </a:solidFill>
          <a:ln w="19050">
            <a:solidFill>
              <a:srgbClr val="111111"/>
            </a:solidFill>
            <a:prstDash val="solid"/>
          </a:ln>
        </p:spPr>
      </p:sp>
      <p:pic>
        <p:nvPicPr>
          <p:cNvPr id="19" name="ti_54" descr="B  The childhood photo">    </p:cNvPr>
          <p:cNvPicPr>
            <a:picLocks noChangeAspect="1"/>
          </p:cNvPicPr>
          <p:nvPr/>
        </p:nvPicPr>
        <p:blipFill>
          <a:blip r:embed="rId5"/>
          <a:stretch>
            <a:fillRect/>
          </a:stretch>
        </p:blipFill>
        <p:spPr>
          <a:xfrm>
            <a:off x="5934456" y="1447838"/>
            <a:ext cx="409880" cy="409880"/>
          </a:xfrm>
          <a:prstGeom prst="rect">
            <a:avLst/>
          </a:prstGeom>
        </p:spPr>
      </p:pic>
      <p:sp>
        <p:nvSpPr>
          <p:cNvPr id="20" name="tw_55"/>
          <p:cNvSpPr txBox="1"/>
          <p:nvPr/>
        </p:nvSpPr>
        <p:spPr>
          <a:xfrm>
            <a:off x="6362624" y="1417320"/>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B  The childhood photo</a:t>
            </a:r>
            <a:endParaRPr lang="en-US" sz="1300" dirty="0"/>
          </a:p>
        </p:txBody>
      </p:sp>
      <p:sp>
        <p:nvSpPr>
          <p:cNvPr id="21" name="R1_it1"/>
          <p:cNvSpPr txBox="1"/>
          <p:nvPr/>
        </p:nvSpPr>
        <p:spPr>
          <a:xfrm>
            <a:off x="6362624" y="1744218"/>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da bambino</a:t>
            </a:r>
            <a:endParaRPr lang="en-US" sz="1150" dirty="0"/>
          </a:p>
        </p:txBody>
      </p:sp>
      <p:sp>
        <p:nvSpPr>
          <p:cNvPr id="22" name="tile_56"/>
          <p:cNvSpPr/>
          <p:nvPr/>
        </p:nvSpPr>
        <p:spPr>
          <a:xfrm>
            <a:off x="2788920" y="2226564"/>
            <a:ext cx="2962656" cy="745236"/>
          </a:xfrm>
          <a:prstGeom prst="roundRect">
            <a:avLst>
              <a:gd name="adj" fmla="val 9816"/>
            </a:avLst>
          </a:prstGeom>
          <a:solidFill>
            <a:srgbClr val="FFFFFF"/>
          </a:solidFill>
          <a:ln w="19050">
            <a:solidFill>
              <a:srgbClr val="111111"/>
            </a:solidFill>
            <a:prstDash val="solid"/>
          </a:ln>
        </p:spPr>
      </p:sp>
      <p:pic>
        <p:nvPicPr>
          <p:cNvPr id="23" name="ti_57" descr="C  The pet">    </p:cNvPr>
          <p:cNvPicPr>
            <a:picLocks noChangeAspect="1"/>
          </p:cNvPicPr>
          <p:nvPr/>
        </p:nvPicPr>
        <p:blipFill>
          <a:blip r:embed="rId6"/>
          <a:stretch>
            <a:fillRect/>
          </a:stretch>
        </p:blipFill>
        <p:spPr>
          <a:xfrm>
            <a:off x="2862072" y="2302802"/>
            <a:ext cx="409880" cy="409880"/>
          </a:xfrm>
          <a:prstGeom prst="rect">
            <a:avLst/>
          </a:prstGeom>
        </p:spPr>
      </p:pic>
      <p:sp>
        <p:nvSpPr>
          <p:cNvPr id="24" name="tw_58"/>
          <p:cNvSpPr txBox="1"/>
          <p:nvPr/>
        </p:nvSpPr>
        <p:spPr>
          <a:xfrm>
            <a:off x="3290240" y="2272284"/>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  The pet</a:t>
            </a:r>
            <a:endParaRPr lang="en-US" sz="1300" dirty="0"/>
          </a:p>
        </p:txBody>
      </p:sp>
      <p:sp>
        <p:nvSpPr>
          <p:cNvPr id="25" name="R1_it2"/>
          <p:cNvSpPr txBox="1"/>
          <p:nvPr/>
        </p:nvSpPr>
        <p:spPr>
          <a:xfrm>
            <a:off x="3290240" y="2599182"/>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animale domestico</a:t>
            </a:r>
            <a:endParaRPr lang="en-US" sz="1150" dirty="0"/>
          </a:p>
        </p:txBody>
      </p:sp>
      <p:sp>
        <p:nvSpPr>
          <p:cNvPr id="26" name="tile_59"/>
          <p:cNvSpPr/>
          <p:nvPr/>
        </p:nvSpPr>
        <p:spPr>
          <a:xfrm>
            <a:off x="5861304" y="2226564"/>
            <a:ext cx="2962656" cy="745236"/>
          </a:xfrm>
          <a:prstGeom prst="roundRect">
            <a:avLst>
              <a:gd name="adj" fmla="val 9816"/>
            </a:avLst>
          </a:prstGeom>
          <a:solidFill>
            <a:srgbClr val="FFFFFF"/>
          </a:solidFill>
          <a:ln w="19050">
            <a:solidFill>
              <a:srgbClr val="111111"/>
            </a:solidFill>
            <a:prstDash val="solid"/>
          </a:ln>
        </p:spPr>
      </p:sp>
      <p:pic>
        <p:nvPicPr>
          <p:cNvPr id="27" name="ti_60" descr="D  The wedding photo">    </p:cNvPr>
          <p:cNvPicPr>
            <a:picLocks noChangeAspect="1"/>
          </p:cNvPicPr>
          <p:nvPr/>
        </p:nvPicPr>
        <p:blipFill>
          <a:blip r:embed="rId7"/>
          <a:stretch>
            <a:fillRect/>
          </a:stretch>
        </p:blipFill>
        <p:spPr>
          <a:xfrm>
            <a:off x="5934456" y="2302802"/>
            <a:ext cx="409880" cy="409880"/>
          </a:xfrm>
          <a:prstGeom prst="rect">
            <a:avLst/>
          </a:prstGeom>
        </p:spPr>
      </p:pic>
      <p:sp>
        <p:nvSpPr>
          <p:cNvPr id="28" name="tw_61"/>
          <p:cNvSpPr txBox="1"/>
          <p:nvPr/>
        </p:nvSpPr>
        <p:spPr>
          <a:xfrm>
            <a:off x="6362624" y="2272284"/>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D  The wedding photo</a:t>
            </a:r>
            <a:endParaRPr lang="en-US" sz="1300" dirty="0"/>
          </a:p>
        </p:txBody>
      </p:sp>
      <p:sp>
        <p:nvSpPr>
          <p:cNvPr id="29" name="R1_it3"/>
          <p:cNvSpPr txBox="1"/>
          <p:nvPr/>
        </p:nvSpPr>
        <p:spPr>
          <a:xfrm>
            <a:off x="6362624" y="2599182"/>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del matrimonio</a:t>
            </a:r>
            <a:endParaRPr lang="en-US" sz="1150" dirty="0"/>
          </a:p>
        </p:txBody>
      </p:sp>
      <p:sp>
        <p:nvSpPr>
          <p:cNvPr id="30" name="tile_62"/>
          <p:cNvSpPr/>
          <p:nvPr/>
        </p:nvSpPr>
        <p:spPr>
          <a:xfrm>
            <a:off x="2788920" y="3081528"/>
            <a:ext cx="2962656" cy="745236"/>
          </a:xfrm>
          <a:prstGeom prst="roundRect">
            <a:avLst>
              <a:gd name="adj" fmla="val 9816"/>
            </a:avLst>
          </a:prstGeom>
          <a:solidFill>
            <a:srgbClr val="FFFFFF"/>
          </a:solidFill>
          <a:ln w="19050">
            <a:solidFill>
              <a:srgbClr val="111111"/>
            </a:solidFill>
            <a:prstDash val="solid"/>
          </a:ln>
        </p:spPr>
      </p:sp>
      <p:pic>
        <p:nvPicPr>
          <p:cNvPr id="31" name="ti_63" descr="E  The family photo">    </p:cNvPr>
          <p:cNvPicPr>
            <a:picLocks noChangeAspect="1"/>
          </p:cNvPicPr>
          <p:nvPr/>
        </p:nvPicPr>
        <p:blipFill>
          <a:blip r:embed="rId8"/>
          <a:stretch>
            <a:fillRect/>
          </a:stretch>
        </p:blipFill>
        <p:spPr>
          <a:xfrm>
            <a:off x="2862072" y="3157766"/>
            <a:ext cx="409880" cy="409880"/>
          </a:xfrm>
          <a:prstGeom prst="rect">
            <a:avLst/>
          </a:prstGeom>
        </p:spPr>
      </p:pic>
      <p:sp>
        <p:nvSpPr>
          <p:cNvPr id="32" name="tw_64"/>
          <p:cNvSpPr txBox="1"/>
          <p:nvPr/>
        </p:nvSpPr>
        <p:spPr>
          <a:xfrm>
            <a:off x="3290240" y="3127248"/>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E  The family photo</a:t>
            </a:r>
            <a:endParaRPr lang="en-US" sz="1300" dirty="0"/>
          </a:p>
        </p:txBody>
      </p:sp>
      <p:sp>
        <p:nvSpPr>
          <p:cNvPr id="33" name="R1_it4"/>
          <p:cNvSpPr txBox="1"/>
          <p:nvPr/>
        </p:nvSpPr>
        <p:spPr>
          <a:xfrm>
            <a:off x="3290240" y="3454146"/>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di famiglia</a:t>
            </a:r>
            <a:endParaRPr lang="en-US" sz="1150" dirty="0"/>
          </a:p>
        </p:txBody>
      </p:sp>
      <p:sp>
        <p:nvSpPr>
          <p:cNvPr id="34" name="tile_65"/>
          <p:cNvSpPr/>
          <p:nvPr/>
        </p:nvSpPr>
        <p:spPr>
          <a:xfrm>
            <a:off x="5861304" y="3081528"/>
            <a:ext cx="2962656" cy="745236"/>
          </a:xfrm>
          <a:prstGeom prst="roundRect">
            <a:avLst>
              <a:gd name="adj" fmla="val 9816"/>
            </a:avLst>
          </a:prstGeom>
          <a:solidFill>
            <a:srgbClr val="FFFFFF"/>
          </a:solidFill>
          <a:ln w="19050">
            <a:solidFill>
              <a:srgbClr val="111111"/>
            </a:solidFill>
            <a:prstDash val="solid"/>
          </a:ln>
        </p:spPr>
      </p:sp>
      <p:pic>
        <p:nvPicPr>
          <p:cNvPr id="35" name="ti_66" descr="F  The popular culture reference">    </p:cNvPr>
          <p:cNvPicPr>
            <a:picLocks noChangeAspect="1"/>
          </p:cNvPicPr>
          <p:nvPr/>
        </p:nvPicPr>
        <p:blipFill>
          <a:blip r:embed="rId9"/>
          <a:stretch>
            <a:fillRect/>
          </a:stretch>
        </p:blipFill>
        <p:spPr>
          <a:xfrm>
            <a:off x="5934456" y="3157766"/>
            <a:ext cx="409880" cy="409880"/>
          </a:xfrm>
          <a:prstGeom prst="rect">
            <a:avLst/>
          </a:prstGeom>
        </p:spPr>
      </p:pic>
      <p:sp>
        <p:nvSpPr>
          <p:cNvPr id="36" name="tw_67"/>
          <p:cNvSpPr txBox="1"/>
          <p:nvPr/>
        </p:nvSpPr>
        <p:spPr>
          <a:xfrm>
            <a:off x="6362624" y="3127248"/>
            <a:ext cx="2424760" cy="372618"/>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F  The popular culture reference</a:t>
            </a:r>
            <a:endParaRPr lang="en-US" sz="1150" dirty="0"/>
          </a:p>
        </p:txBody>
      </p:sp>
      <p:sp>
        <p:nvSpPr>
          <p:cNvPr id="37" name="R1_it5"/>
          <p:cNvSpPr txBox="1"/>
          <p:nvPr/>
        </p:nvSpPr>
        <p:spPr>
          <a:xfrm>
            <a:off x="6362624" y="3454146"/>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film, cartone, cantante…</a:t>
            </a:r>
            <a:endParaRPr lang="en-US" sz="1150" dirty="0"/>
          </a:p>
        </p:txBody>
      </p:sp>
      <p:sp>
        <p:nvSpPr>
          <p:cNvPr id="38" name="tile_68"/>
          <p:cNvSpPr/>
          <p:nvPr/>
        </p:nvSpPr>
        <p:spPr>
          <a:xfrm>
            <a:off x="2788920" y="3936492"/>
            <a:ext cx="2962656" cy="745236"/>
          </a:xfrm>
          <a:prstGeom prst="roundRect">
            <a:avLst>
              <a:gd name="adj" fmla="val 9816"/>
            </a:avLst>
          </a:prstGeom>
          <a:solidFill>
            <a:srgbClr val="FFFFFF"/>
          </a:solidFill>
          <a:ln w="19050">
            <a:solidFill>
              <a:srgbClr val="111111"/>
            </a:solidFill>
            <a:prstDash val="solid"/>
          </a:ln>
        </p:spPr>
      </p:sp>
      <p:pic>
        <p:nvPicPr>
          <p:cNvPr id="39" name="ti_69" descr="G  The party photo">    </p:cNvPr>
          <p:cNvPicPr>
            <a:picLocks noChangeAspect="1"/>
          </p:cNvPicPr>
          <p:nvPr/>
        </p:nvPicPr>
        <p:blipFill>
          <a:blip r:embed="rId10"/>
          <a:stretch>
            <a:fillRect/>
          </a:stretch>
        </p:blipFill>
        <p:spPr>
          <a:xfrm>
            <a:off x="2862072" y="4012730"/>
            <a:ext cx="409880" cy="409880"/>
          </a:xfrm>
          <a:prstGeom prst="rect">
            <a:avLst/>
          </a:prstGeom>
        </p:spPr>
      </p:pic>
      <p:sp>
        <p:nvSpPr>
          <p:cNvPr id="40" name="tw_70"/>
          <p:cNvSpPr txBox="1"/>
          <p:nvPr/>
        </p:nvSpPr>
        <p:spPr>
          <a:xfrm>
            <a:off x="3290240" y="3982212"/>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G  The party photo</a:t>
            </a:r>
            <a:endParaRPr lang="en-US" sz="1300" dirty="0"/>
          </a:p>
        </p:txBody>
      </p:sp>
      <p:sp>
        <p:nvSpPr>
          <p:cNvPr id="41" name="R1_it6"/>
          <p:cNvSpPr txBox="1"/>
          <p:nvPr/>
        </p:nvSpPr>
        <p:spPr>
          <a:xfrm>
            <a:off x="3290240" y="4309110"/>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a una festa</a:t>
            </a:r>
            <a:endParaRPr lang="en-US" sz="1150" dirty="0"/>
          </a:p>
        </p:txBody>
      </p:sp>
      <p:sp>
        <p:nvSpPr>
          <p:cNvPr id="42" name="tile_71"/>
          <p:cNvSpPr/>
          <p:nvPr/>
        </p:nvSpPr>
        <p:spPr>
          <a:xfrm>
            <a:off x="5861304" y="3936492"/>
            <a:ext cx="2962656" cy="745236"/>
          </a:xfrm>
          <a:prstGeom prst="roundRect">
            <a:avLst>
              <a:gd name="adj" fmla="val 9816"/>
            </a:avLst>
          </a:prstGeom>
          <a:solidFill>
            <a:srgbClr val="FFFFFF"/>
          </a:solidFill>
          <a:ln w="19050">
            <a:solidFill>
              <a:srgbClr val="111111"/>
            </a:solidFill>
            <a:prstDash val="solid"/>
          </a:ln>
        </p:spPr>
      </p:sp>
      <p:pic>
        <p:nvPicPr>
          <p:cNvPr id="43" name="ti_72" descr="H  No photo at all">    </p:cNvPr>
          <p:cNvPicPr>
            <a:picLocks noChangeAspect="1"/>
          </p:cNvPicPr>
          <p:nvPr/>
        </p:nvPicPr>
        <p:blipFill>
          <a:blip r:embed="rId11"/>
          <a:stretch>
            <a:fillRect/>
          </a:stretch>
        </p:blipFill>
        <p:spPr>
          <a:xfrm>
            <a:off x="5934456" y="4012730"/>
            <a:ext cx="409880" cy="409880"/>
          </a:xfrm>
          <a:prstGeom prst="rect">
            <a:avLst/>
          </a:prstGeom>
        </p:spPr>
      </p:pic>
      <p:sp>
        <p:nvSpPr>
          <p:cNvPr id="44" name="tw_73"/>
          <p:cNvSpPr txBox="1"/>
          <p:nvPr/>
        </p:nvSpPr>
        <p:spPr>
          <a:xfrm>
            <a:off x="6362624" y="3982212"/>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H  No photo at all</a:t>
            </a:r>
            <a:endParaRPr lang="en-US" sz="1300" dirty="0"/>
          </a:p>
        </p:txBody>
      </p:sp>
      <p:sp>
        <p:nvSpPr>
          <p:cNvPr id="45" name="R1_it7"/>
          <p:cNvSpPr txBox="1"/>
          <p:nvPr/>
        </p:nvSpPr>
        <p:spPr>
          <a:xfrm>
            <a:off x="6362624" y="4309110"/>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nessuna foto, solo un'icona</a:t>
            </a:r>
            <a:endParaRPr lang="en-US" sz="1150" dirty="0"/>
          </a:p>
        </p:txBody>
      </p:sp>
      <p:sp>
        <p:nvSpPr>
          <p:cNvPr id="46" name="pageTag_7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p.60 · 1a</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5"/>
          <p:cNvSpPr/>
          <p:nvPr/>
        </p:nvSpPr>
        <p:spPr>
          <a:xfrm>
            <a:off x="54864" y="54864"/>
            <a:ext cx="9034272" cy="5033772"/>
          </a:xfrm>
          <a:prstGeom prst="rect">
            <a:avLst/>
          </a:prstGeom>
          <a:ln w="114300">
            <a:solidFill>
              <a:srgbClr val="A8E6B4"/>
            </a:solidFill>
            <a:prstDash val="solid"/>
          </a:ln>
        </p:spPr>
      </p:sp>
      <p:pic>
        <p:nvPicPr>
          <p:cNvPr id="4" name="logo_7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What your profile photo says</a:t>
            </a:r>
            <a:endParaRPr lang="en-US" sz="900" dirty="0"/>
          </a:p>
        </p:txBody>
      </p:sp>
      <p:sp>
        <p:nvSpPr>
          <p:cNvPr id="6" name="timer_7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7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80"/>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positive version</a:t>
            </a:r>
            <a:endParaRPr lang="en-US" sz="1500" dirty="0"/>
          </a:p>
        </p:txBody>
      </p:sp>
      <p:sp>
        <p:nvSpPr>
          <p:cNvPr id="9" name="post_8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82"/>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1" name="signB_8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Read the article. Then match each reason to a photo type.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Leggi l'articolo. Poi abbina ogni motivo a un tipo di foto.</a:t>
            </a:r>
            <a:endParaRPr lang="en-US" sz="1200" dirty="0"/>
          </a:p>
        </p:txBody>
      </p:sp>
      <p:sp>
        <p:nvSpPr>
          <p:cNvPr id="12" name="iconBack_8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85" descr="pi:PiBookOpen">    </p:cNvPr>
          <p:cNvPicPr>
            <a:picLocks noChangeAspect="1"/>
          </p:cNvPicPr>
          <p:nvPr/>
        </p:nvPicPr>
        <p:blipFill>
          <a:blip r:embed="rId3"/>
          <a:stretch>
            <a:fillRect/>
          </a:stretch>
        </p:blipFill>
        <p:spPr>
          <a:xfrm>
            <a:off x="914400" y="3474720"/>
            <a:ext cx="685800" cy="685800"/>
          </a:xfrm>
          <a:prstGeom prst="rect">
            <a:avLst/>
          </a:prstGeom>
        </p:spPr>
      </p:pic>
      <p:sp>
        <p:nvSpPr>
          <p:cNvPr id="14" name="box_86"/>
          <p:cNvSpPr txBox="1"/>
          <p:nvPr/>
        </p:nvSpPr>
        <p:spPr>
          <a:xfrm>
            <a:off x="2788920" y="1371600"/>
            <a:ext cx="4224528"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1  You adore animals – in fact, in many ways, you prefer them to people.</a:t>
            </a:r>
            <a:endParaRPr lang="en-US" sz="950" dirty="0"/>
          </a:p>
        </p:txBody>
      </p:sp>
      <p:sp>
        <p:nvSpPr>
          <p:cNvPr id="15" name="R1_m0"/>
          <p:cNvSpPr txBox="1"/>
          <p:nvPr/>
        </p:nvSpPr>
        <p:spPr>
          <a:xfrm>
            <a:off x="7086600" y="138988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 the pet</a:t>
            </a:r>
            <a:endParaRPr lang="en-US" sz="1050" dirty="0"/>
          </a:p>
        </p:txBody>
      </p:sp>
      <p:sp>
        <p:nvSpPr>
          <p:cNvPr id="16" name="box_87"/>
          <p:cNvSpPr txBox="1"/>
          <p:nvPr/>
        </p:nvSpPr>
        <p:spPr>
          <a:xfrm>
            <a:off x="2788920" y="1794510"/>
            <a:ext cx="4224528"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2  You are a normal person and are happy with your appearance.</a:t>
            </a:r>
            <a:endParaRPr lang="en-US" sz="1050" dirty="0"/>
          </a:p>
        </p:txBody>
      </p:sp>
      <p:sp>
        <p:nvSpPr>
          <p:cNvPr id="17" name="R1_m1"/>
          <p:cNvSpPr txBox="1"/>
          <p:nvPr/>
        </p:nvSpPr>
        <p:spPr>
          <a:xfrm>
            <a:off x="7086600" y="181279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 the portrait</a:t>
            </a:r>
            <a:endParaRPr lang="en-US" sz="1050" dirty="0"/>
          </a:p>
        </p:txBody>
      </p:sp>
      <p:sp>
        <p:nvSpPr>
          <p:cNvPr id="18" name="box_88"/>
          <p:cNvSpPr txBox="1"/>
          <p:nvPr/>
        </p:nvSpPr>
        <p:spPr>
          <a:xfrm>
            <a:off x="2788920" y="2217420"/>
            <a:ext cx="4224528" cy="3497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You're a dedicated parent and your children always come first.</a:t>
            </a:r>
            <a:endParaRPr lang="en-US" sz="1050" dirty="0"/>
          </a:p>
        </p:txBody>
      </p:sp>
      <p:sp>
        <p:nvSpPr>
          <p:cNvPr id="19" name="R1_m2"/>
          <p:cNvSpPr txBox="1"/>
          <p:nvPr/>
        </p:nvSpPr>
        <p:spPr>
          <a:xfrm>
            <a:off x="7086600" y="223570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 · the family photo</a:t>
            </a:r>
            <a:endParaRPr lang="en-US" sz="1050" dirty="0"/>
          </a:p>
        </p:txBody>
      </p:sp>
      <p:sp>
        <p:nvSpPr>
          <p:cNvPr id="20" name="box_89"/>
          <p:cNvSpPr txBox="1"/>
          <p:nvPr/>
        </p:nvSpPr>
        <p:spPr>
          <a:xfrm>
            <a:off x="2788920" y="2640330"/>
            <a:ext cx="4224528" cy="3497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700" dirty="0">
                <a:solidFill>
                  <a:srgbClr val="111111"/>
                </a:solidFill>
                <a:latin typeface="Calibri" pitchFamily="34" charset="0"/>
                <a:ea typeface="Calibri" pitchFamily="34" charset="-122"/>
                <a:cs typeface="Calibri" pitchFamily="34" charset="-120"/>
              </a:rPr>
              <a:t>4  You're a very private person. You prefer to talk to people face to face rather than use social media.</a:t>
            </a:r>
            <a:endParaRPr lang="en-US" sz="700" dirty="0"/>
          </a:p>
        </p:txBody>
      </p:sp>
      <p:sp>
        <p:nvSpPr>
          <p:cNvPr id="21" name="R1_m3"/>
          <p:cNvSpPr txBox="1"/>
          <p:nvPr/>
        </p:nvSpPr>
        <p:spPr>
          <a:xfrm>
            <a:off x="7086600" y="265861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 · no photo</a:t>
            </a:r>
            <a:endParaRPr lang="en-US" sz="1050" dirty="0"/>
          </a:p>
        </p:txBody>
      </p:sp>
      <p:sp>
        <p:nvSpPr>
          <p:cNvPr id="22" name="box_90"/>
          <p:cNvSpPr txBox="1"/>
          <p:nvPr/>
        </p:nvSpPr>
        <p:spPr>
          <a:xfrm>
            <a:off x="2788920" y="3063240"/>
            <a:ext cx="4224528" cy="3497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5  You're very up to date – you know everything about the latest films, TV, and books.</a:t>
            </a:r>
            <a:endParaRPr lang="en-US" sz="800" dirty="0"/>
          </a:p>
        </p:txBody>
      </p:sp>
      <p:sp>
        <p:nvSpPr>
          <p:cNvPr id="23" name="R1_m4"/>
          <p:cNvSpPr txBox="1"/>
          <p:nvPr/>
        </p:nvSpPr>
        <p:spPr>
          <a:xfrm>
            <a:off x="7086600" y="308152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 · popular culture</a:t>
            </a:r>
            <a:endParaRPr lang="en-US" sz="1050" dirty="0"/>
          </a:p>
        </p:txBody>
      </p:sp>
      <p:sp>
        <p:nvSpPr>
          <p:cNvPr id="24" name="box_91"/>
          <p:cNvSpPr txBox="1"/>
          <p:nvPr/>
        </p:nvSpPr>
        <p:spPr>
          <a:xfrm>
            <a:off x="2788920" y="3486150"/>
            <a:ext cx="4224528" cy="3497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6  Your friends and your social life are what matter most to you.</a:t>
            </a:r>
            <a:endParaRPr lang="en-US" sz="1050" dirty="0"/>
          </a:p>
        </p:txBody>
      </p:sp>
      <p:sp>
        <p:nvSpPr>
          <p:cNvPr id="25" name="R1_m5"/>
          <p:cNvSpPr txBox="1"/>
          <p:nvPr/>
        </p:nvSpPr>
        <p:spPr>
          <a:xfrm>
            <a:off x="7086600" y="350443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G · the party photo</a:t>
            </a:r>
            <a:endParaRPr lang="en-US" sz="1050" dirty="0"/>
          </a:p>
        </p:txBody>
      </p:sp>
      <p:sp>
        <p:nvSpPr>
          <p:cNvPr id="26" name="box_92"/>
          <p:cNvSpPr txBox="1"/>
          <p:nvPr/>
        </p:nvSpPr>
        <p:spPr>
          <a:xfrm>
            <a:off x="2788920" y="3909060"/>
            <a:ext cx="4224528"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7  The day you got married was the happiest day of your life.</a:t>
            </a:r>
            <a:endParaRPr lang="en-US" sz="1050" dirty="0"/>
          </a:p>
        </p:txBody>
      </p:sp>
      <p:sp>
        <p:nvSpPr>
          <p:cNvPr id="27" name="R1_m6"/>
          <p:cNvSpPr txBox="1"/>
          <p:nvPr/>
        </p:nvSpPr>
        <p:spPr>
          <a:xfrm>
            <a:off x="7086600" y="392734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 · the wedding photo</a:t>
            </a:r>
            <a:endParaRPr lang="en-US" sz="1050" dirty="0"/>
          </a:p>
        </p:txBody>
      </p:sp>
      <p:sp>
        <p:nvSpPr>
          <p:cNvPr id="28" name="box_93"/>
          <p:cNvSpPr txBox="1"/>
          <p:nvPr/>
        </p:nvSpPr>
        <p:spPr>
          <a:xfrm>
            <a:off x="2788920" y="4331970"/>
            <a:ext cx="4224528"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8  You had a wonderful childhood.</a:t>
            </a:r>
            <a:endParaRPr lang="en-US" sz="1050" dirty="0"/>
          </a:p>
        </p:txBody>
      </p:sp>
      <p:sp>
        <p:nvSpPr>
          <p:cNvPr id="29" name="R1_m7"/>
          <p:cNvSpPr txBox="1"/>
          <p:nvPr/>
        </p:nvSpPr>
        <p:spPr>
          <a:xfrm>
            <a:off x="7086600" y="435025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 · the childhood photo</a:t>
            </a:r>
            <a:endParaRPr lang="en-US" sz="1050" dirty="0"/>
          </a:p>
        </p:txBody>
      </p:sp>
      <p:sp>
        <p:nvSpPr>
          <p:cNvPr id="30" name="pageTag_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p.60 · 1b, 1c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5"/>
          <p:cNvSpPr/>
          <p:nvPr/>
        </p:nvSpPr>
        <p:spPr>
          <a:xfrm>
            <a:off x="54864" y="54864"/>
            <a:ext cx="9034272" cy="5033772"/>
          </a:xfrm>
          <a:prstGeom prst="rect">
            <a:avLst/>
          </a:prstGeom>
          <a:ln w="114300">
            <a:solidFill>
              <a:srgbClr val="A8E6B4"/>
            </a:solidFill>
            <a:prstDash val="solid"/>
          </a:ln>
        </p:spPr>
      </p:sp>
      <p:pic>
        <p:nvPicPr>
          <p:cNvPr id="4" name="logo_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Mini debate</a:t>
            </a:r>
            <a:endParaRPr lang="en-US" sz="900" dirty="0"/>
          </a:p>
        </p:txBody>
      </p:sp>
      <p:sp>
        <p:nvSpPr>
          <p:cNvPr id="6" name="timer_9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100"/>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Agree or no way?</a:t>
            </a:r>
            <a:endParaRPr lang="en-US" sz="1500" dirty="0"/>
          </a:p>
        </p:txBody>
      </p:sp>
      <p:sp>
        <p:nvSpPr>
          <p:cNvPr id="9" name="post_10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02"/>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motivo!</a:t>
            </a:r>
            <a:endParaRPr lang="en-US" sz="1250" dirty="0"/>
          </a:p>
        </p:txBody>
      </p:sp>
      <p:sp>
        <p:nvSpPr>
          <p:cNvPr id="12" name="iconBack_10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05" descr="pi:PiScales">    </p:cNvPr>
          <p:cNvPicPr>
            <a:picLocks noChangeAspect="1"/>
          </p:cNvPicPr>
          <p:nvPr/>
        </p:nvPicPr>
        <p:blipFill>
          <a:blip r:embed="rId3"/>
          <a:stretch>
            <a:fillRect/>
          </a:stretch>
        </p:blipFill>
        <p:spPr>
          <a:xfrm>
            <a:off x="914400" y="3474720"/>
            <a:ext cx="685800" cy="685800"/>
          </a:xfrm>
          <a:prstGeom prst="rect">
            <a:avLst/>
          </a:prstGeom>
        </p:spPr>
      </p:pic>
      <p:sp>
        <p:nvSpPr>
          <p:cNvPr id="14" name="box_106"/>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can tell a lot about a person from their profile photo."</a:t>
            </a:r>
            <a:endParaRPr lang="en-US" sz="1350" dirty="0"/>
          </a:p>
        </p:txBody>
      </p:sp>
      <p:sp>
        <p:nvSpPr>
          <p:cNvPr id="15" name="stamp_107"/>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6" name="stamp_108"/>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7" name="box_109"/>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"A selfie as a profile photo is annoying."</a:t>
            </a:r>
            <a:endParaRPr lang="en-US" sz="1350" dirty="0"/>
          </a:p>
        </p:txBody>
      </p:sp>
      <p:sp>
        <p:nvSpPr>
          <p:cNvPr id="18" name="stamp_110"/>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9" name="stamp_111"/>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0" name="box_112"/>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"Having no profile photo is cool."</a:t>
            </a:r>
            <a:endParaRPr lang="en-US" sz="1350" dirty="0"/>
          </a:p>
        </p:txBody>
      </p:sp>
      <p:sp>
        <p:nvSpPr>
          <p:cNvPr id="21" name="stamp_113"/>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2" name="stamp_114"/>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3" name="box_115"/>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should have the same profile photo for friends and for work."</a:t>
            </a:r>
            <a:endParaRPr lang="en-US" sz="1350" dirty="0"/>
          </a:p>
        </p:txBody>
      </p:sp>
      <p:sp>
        <p:nvSpPr>
          <p:cNvPr id="24" name="stamp_116"/>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5" name="stamp_117"/>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6" name="bubble_118"/>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agree, because… · I'm not so sure… · No way! In my opinion…</a:t>
            </a:r>
            <a:endParaRPr lang="en-US" sz="1250" dirty="0"/>
          </a:p>
        </p:txBody>
      </p:sp>
      <p:sp>
        <p:nvSpPr>
          <p:cNvPr id="27" name="pageTag_11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p.60 · 1d</a:t>
            </a:r>
            <a:endParaRPr lang="en-US" sz="105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0"/>
          <p:cNvSpPr/>
          <p:nvPr/>
        </p:nvSpPr>
        <p:spPr>
          <a:xfrm>
            <a:off x="54864" y="54864"/>
            <a:ext cx="9034272" cy="5033772"/>
          </a:xfrm>
          <a:prstGeom prst="rect">
            <a:avLst/>
          </a:prstGeom>
          <a:ln w="114300">
            <a:solidFill>
              <a:srgbClr val="A8E6B4"/>
            </a:solidFill>
            <a:prstDash val="solid"/>
          </a:ln>
        </p:spPr>
      </p:sp>
      <p:pic>
        <p:nvPicPr>
          <p:cNvPr id="4" name="logo_12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Presentation · audio 6.10</a:t>
            </a:r>
            <a:endParaRPr lang="en-US" sz="900" dirty="0"/>
          </a:p>
        </p:txBody>
      </p:sp>
      <p:sp>
        <p:nvSpPr>
          <p:cNvPr id="6" name="timer_12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2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125"/>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Where is she?</a:t>
            </a:r>
            <a:endParaRPr lang="en-US" sz="1500" dirty="0"/>
          </a:p>
        </p:txBody>
      </p:sp>
      <p:sp>
        <p:nvSpPr>
          <p:cNvPr id="9" name="post_12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27"/>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1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Look at the photo on p.61. Guess first! Then listen and complete.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Guarda la foto a p.61. Indovina prima! Poi ascolta e completa.</a:t>
            </a:r>
            <a:endParaRPr lang="en-US" sz="1200" dirty="0"/>
          </a:p>
        </p:txBody>
      </p:sp>
      <p:pic>
        <p:nvPicPr>
          <p:cNvPr id="12"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3" name="tr_129"/>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6.10</a:t>
            </a:r>
            <a:endParaRPr lang="en-US" sz="1300" dirty="0"/>
          </a:p>
        </p:txBody>
      </p:sp>
      <p:sp>
        <p:nvSpPr>
          <p:cNvPr id="14" name="box_130"/>
          <p:cNvSpPr txBox="1"/>
          <p:nvPr/>
        </p:nvSpPr>
        <p:spPr>
          <a:xfrm>
            <a:off x="2788920" y="2103120"/>
            <a:ext cx="6035040"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A: I love your profile picture. How old are you in the photo? Where are you?</a:t>
            </a:r>
            <a:endParaRPr lang="en-US" sz="1150" dirty="0"/>
          </a:p>
        </p:txBody>
      </p:sp>
      <p:sp>
        <p:nvSpPr>
          <p:cNvPr id="15" name="box_131"/>
          <p:cNvSpPr txBox="1"/>
          <p:nvPr/>
        </p:nvSpPr>
        <p:spPr>
          <a:xfrm>
            <a:off x="2788920" y="2542032"/>
            <a:ext cx="3741725"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2  B: I ___ be about five or six. Definitely not more than that.</a:t>
            </a:r>
            <a:endParaRPr lang="en-US" sz="1000" dirty="0"/>
          </a:p>
        </p:txBody>
      </p:sp>
      <p:sp>
        <p:nvSpPr>
          <p:cNvPr id="16" name="R1_la1"/>
          <p:cNvSpPr txBox="1"/>
          <p:nvPr/>
        </p:nvSpPr>
        <p:spPr>
          <a:xfrm>
            <a:off x="6585509" y="2569464"/>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must</a:t>
            </a:r>
            <a:endParaRPr lang="en-US" sz="1200" dirty="0"/>
          </a:p>
        </p:txBody>
      </p:sp>
      <p:sp>
        <p:nvSpPr>
          <p:cNvPr id="17" name="box_132"/>
          <p:cNvSpPr txBox="1"/>
          <p:nvPr/>
        </p:nvSpPr>
        <p:spPr>
          <a:xfrm>
            <a:off x="2788920" y="2980944"/>
            <a:ext cx="3741725"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3  B: Do you know, I can't remember. It ___ be the south of France.</a:t>
            </a:r>
            <a:endParaRPr lang="en-US" sz="900" dirty="0"/>
          </a:p>
        </p:txBody>
      </p:sp>
      <p:sp>
        <p:nvSpPr>
          <p:cNvPr id="18" name="R1_la2"/>
          <p:cNvSpPr txBox="1"/>
          <p:nvPr/>
        </p:nvSpPr>
        <p:spPr>
          <a:xfrm>
            <a:off x="6585509" y="3008376"/>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might</a:t>
            </a:r>
            <a:endParaRPr lang="en-US" sz="1200" dirty="0"/>
          </a:p>
        </p:txBody>
      </p:sp>
      <p:sp>
        <p:nvSpPr>
          <p:cNvPr id="19" name="box_133"/>
          <p:cNvSpPr txBox="1"/>
          <p:nvPr/>
        </p:nvSpPr>
        <p:spPr>
          <a:xfrm>
            <a:off x="2788920" y="3419856"/>
            <a:ext cx="3741725"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A: It ___ be the south of France – not in summer.</a:t>
            </a:r>
            <a:endParaRPr lang="en-US" sz="1150" dirty="0"/>
          </a:p>
        </p:txBody>
      </p:sp>
      <p:sp>
        <p:nvSpPr>
          <p:cNvPr id="20" name="R1_la3"/>
          <p:cNvSpPr txBox="1"/>
          <p:nvPr/>
        </p:nvSpPr>
        <p:spPr>
          <a:xfrm>
            <a:off x="6585509" y="3447288"/>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can't</a:t>
            </a:r>
            <a:endParaRPr lang="en-US" sz="1200" dirty="0"/>
          </a:p>
        </p:txBody>
      </p:sp>
      <p:sp>
        <p:nvSpPr>
          <p:cNvPr id="21" name="box_134"/>
          <p:cNvSpPr txBox="1"/>
          <p:nvPr/>
        </p:nvSpPr>
        <p:spPr>
          <a:xfrm>
            <a:off x="2788920" y="3858768"/>
            <a:ext cx="3741725"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B: No, you're right. It ___ be Scotland, then.</a:t>
            </a:r>
            <a:endParaRPr lang="en-US" sz="1150" dirty="0"/>
          </a:p>
        </p:txBody>
      </p:sp>
      <p:sp>
        <p:nvSpPr>
          <p:cNvPr id="22" name="R1_la4"/>
          <p:cNvSpPr txBox="1"/>
          <p:nvPr/>
        </p:nvSpPr>
        <p:spPr>
          <a:xfrm>
            <a:off x="6585509" y="3886200"/>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could</a:t>
            </a:r>
            <a:endParaRPr lang="en-US" sz="1200" dirty="0"/>
          </a:p>
        </p:txBody>
      </p:sp>
      <p:sp>
        <p:nvSpPr>
          <p:cNvPr id="23" name="box_135"/>
          <p:cNvSpPr txBox="1"/>
          <p:nvPr/>
        </p:nvSpPr>
        <p:spPr>
          <a:xfrm>
            <a:off x="2788920" y="4297680"/>
            <a:ext cx="3741725"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6  2b It's possible? might, ___ · very probable? · impossible?</a:t>
            </a:r>
            <a:endParaRPr lang="en-US" sz="1000" dirty="0"/>
          </a:p>
        </p:txBody>
      </p:sp>
      <p:sp>
        <p:nvSpPr>
          <p:cNvPr id="24" name="R1_la5"/>
          <p:cNvSpPr txBox="1"/>
          <p:nvPr/>
        </p:nvSpPr>
        <p:spPr>
          <a:xfrm>
            <a:off x="6585509" y="432511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could · must · can't</a:t>
            </a:r>
            <a:endParaRPr lang="en-US" sz="1200" dirty="0"/>
          </a:p>
        </p:txBody>
      </p:sp>
      <p:sp>
        <p:nvSpPr>
          <p:cNvPr id="25" name="pageTag_1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p.61 · 2a, 2b · audio 6.10</a:t>
            </a:r>
            <a:endParaRPr lang="en-US" sz="1050" dirty="0"/>
          </a:p>
        </p:txBody>
      </p:sp>
      <p:sp>
        <p:nvSpPr>
          <p:cNvPr id="26" name="pframe_137"/>
          <p:cNvSpPr/>
          <p:nvPr/>
        </p:nvSpPr>
        <p:spPr>
          <a:xfrm rot="-120000">
            <a:off x="822960" y="3154680"/>
            <a:ext cx="1097280" cy="151790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7" name="pimg_138" descr="picture">    </p:cNvPr>
          <p:cNvPicPr>
            <a:picLocks noChangeAspect="1"/>
          </p:cNvPicPr>
          <p:nvPr/>
        </p:nvPicPr>
        <p:blipFill>
          <a:blip r:embed="rId6"/>
          <a:srcRect l="0" r="0" t="0" b="0"/>
          <a:stretch/>
        </p:blipFill>
        <p:spPr>
          <a:xfrm rot="-120000">
            <a:off x="896112" y="3227832"/>
            <a:ext cx="950976" cy="129844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2"/>
                                        </p:tgtEl>
                                      </p:cBhvr>
                                    </p:cmd>
                                  </p:childTnLst>
                                </p:cTn>
                              </p:par>
                            </p:childTnLst>
                          </p:cTn>
                        </p:par>
                      </p:childTnLst>
                    </p:cTn>
                  </p:par>
                </p:childTnLst>
              </p:cTn>
              <p:nextCondLst>
                <p:cond evt="onClick" delay="0">
                  <p:tgtEl>
                    <p:spTgt spid="12"/>
                  </p:tgtEl>
                </p:cond>
              </p:nextCondLst>
            </p:seq>
            <p:audio>
              <p:cMediaNode vol="80000">
                <p:cTn id="25" fill="hold" display="0">
                  <p:stCondLst>
                    <p:cond delay="indefinite"/>
                  </p:stCondLst>
                  <p:endCondLst>
                    <p:cond evt="onStopAudio" delay="0">
                      <p:tgtEl>
                        <p:sldTgt/>
                      </p:tgtEl>
                    </p:cond>
                  </p:endCondLst>
                </p:cTn>
                <p:tgtEl>
                  <p:spTgt spid="1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9"/>
          <p:cNvSpPr/>
          <p:nvPr/>
        </p:nvSpPr>
        <p:spPr>
          <a:xfrm>
            <a:off x="54864" y="54864"/>
            <a:ext cx="9034272" cy="5033772"/>
          </a:xfrm>
          <a:prstGeom prst="rect">
            <a:avLst/>
          </a:prstGeom>
          <a:ln w="114300">
            <a:solidFill>
              <a:srgbClr val="A8E6B4"/>
            </a:solidFill>
            <a:prstDash val="solid"/>
          </a:ln>
        </p:spPr>
      </p:sp>
      <p:pic>
        <p:nvPicPr>
          <p:cNvPr id="4" name="logo_1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6B p.143</a:t>
            </a:r>
            <a:endParaRPr lang="en-US" sz="900" dirty="0"/>
          </a:p>
        </p:txBody>
      </p:sp>
      <p:sp>
        <p:nvSpPr>
          <p:cNvPr id="6" name="timer_1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144"/>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must, might, can't</a:t>
            </a:r>
            <a:endParaRPr lang="en-US" sz="1500" dirty="0"/>
          </a:p>
        </p:txBody>
      </p:sp>
      <p:sp>
        <p:nvSpPr>
          <p:cNvPr id="9" name="rh_145"/>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must ✓✓</a:t>
            </a:r>
            <a:endParaRPr lang="en-US" sz="1300" dirty="0"/>
          </a:p>
        </p:txBody>
      </p:sp>
      <p:sp>
        <p:nvSpPr>
          <p:cNvPr id="10" name="rb_146"/>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The neighbours must be out. There aren't any lights on.</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Your sister must have a lot of money if she drives a Porsche.</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sono quasi sicuro che è vero (deve essere)</a:t>
            </a:r>
            <a:endParaRPr lang="en-US" sz="1500" dirty="0"/>
          </a:p>
        </p:txBody>
      </p:sp>
      <p:sp>
        <p:nvSpPr>
          <p:cNvPr id="11" name="rh_147"/>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might / may / could ?</a:t>
            </a:r>
            <a:endParaRPr lang="en-US" sz="1300" dirty="0"/>
          </a:p>
        </p:txBody>
      </p:sp>
      <p:sp>
        <p:nvSpPr>
          <p:cNvPr id="12" name="rb_148"/>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Tony's phone is off. He might be on the plane now.</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It could be Scotland.</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Laura might not / may not like that skirt.</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forse (potrebbe essere)</a:t>
            </a:r>
            <a:endParaRPr lang="en-US" sz="1500" dirty="0"/>
          </a:p>
        </p:txBody>
      </p:sp>
      <p:sp>
        <p:nvSpPr>
          <p:cNvPr id="13" name="rh_149"/>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can't ✗✗</a:t>
            </a:r>
            <a:endParaRPr lang="en-US" sz="1300" dirty="0"/>
          </a:p>
        </p:txBody>
      </p:sp>
      <p:sp>
        <p:nvSpPr>
          <p:cNvPr id="14" name="rb_150"/>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That woman can't be Jack's wife. Jack's wife has dark hair.</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Nigel can't earn much money.</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sono sicuro che NON è vero (non può essere)</a:t>
            </a:r>
            <a:endParaRPr lang="en-US" sz="1500" dirty="0"/>
          </a:p>
        </p:txBody>
      </p:sp>
      <p:sp>
        <p:nvSpPr>
          <p:cNvPr id="15" name="watch_151"/>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000" b="1" dirty="0">
                <a:solidFill>
                  <a:srgbClr val="EF2F2F"/>
                </a:solidFill>
                <a:latin typeface="Calibri" pitchFamily="34" charset="0"/>
                <a:ea typeface="Calibri" pitchFamily="34" charset="-122"/>
                <a:cs typeface="Calibri" pitchFamily="34" charset="-120"/>
              </a:rPr>
              <a:t>Watch out!  </a:t>
            </a:r>
            <a:pPr indent="0" marL="0">
              <a:buNone/>
            </a:pPr>
            <a:r>
              <a:rPr lang="en-US" sz="1000" dirty="0">
                <a:solidFill>
                  <a:srgbClr val="111111"/>
                </a:solidFill>
                <a:latin typeface="Calibri" pitchFamily="34" charset="0"/>
                <a:ea typeface="Calibri" pitchFamily="34" charset="-122"/>
                <a:cs typeface="Calibri" pitchFamily="34" charset="-120"/>
              </a:rPr>
              <a:t>✗ It mustn't be true → ✓ It can't be true.   ✗ He can be Spanish → ✓ He might / could be Spanish.   ✗ must to be → ✓ must be</a:t>
            </a:r>
            <a:endParaRPr lang="en-US" sz="1000" dirty="0"/>
          </a:p>
        </p:txBody>
      </p:sp>
      <p:sp>
        <p:nvSpPr>
          <p:cNvPr id="16" name="pageTag_15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6B p.143 · audio 6.11, 6.12, 6.13</a:t>
            </a:r>
            <a:endParaRPr lang="en-US" sz="1050" dirty="0"/>
          </a:p>
        </p:txBody>
      </p:sp>
      <p:pic>
        <p:nvPicPr>
          <p:cNvPr id="17"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18" name="atr_153"/>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6.11</a:t>
            </a:r>
            <a:endParaRPr lang="en-US" sz="800" dirty="0"/>
          </a:p>
        </p:txBody>
      </p:sp>
      <p:pic>
        <p:nvPicPr>
          <p:cNvPr id="19" name="Media 1">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20" name="atr_154"/>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6.12</a:t>
            </a:r>
            <a:endParaRPr lang="en-US" sz="800" dirty="0"/>
          </a:p>
        </p:txBody>
      </p:sp>
      <p:pic>
        <p:nvPicPr>
          <p:cNvPr id="21" name="Media 2">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6117336" y="155448"/>
            <a:ext cx="384048" cy="384048"/>
          </a:xfrm>
          <a:prstGeom prst="rect">
            <a:avLst/>
          </a:prstGeom>
        </p:spPr>
      </p:pic>
      <p:sp>
        <p:nvSpPr>
          <p:cNvPr id="22" name="atr_155"/>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6.13</a:t>
            </a:r>
            <a:endParaRPr lang="en-US" sz="800" dirty="0"/>
          </a:p>
        </p:txBody>
      </p:sp>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17"/>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17"/>
                                        </p:tgtEl>
                                      </p:cBhvr>
                                    </p:cmd>
                                  </p:childTnLst>
                                </p:cTn>
                              </p:par>
                            </p:childTnLst>
                          </p:cTn>
                        </p:par>
                      </p:childTnLst>
                    </p:cTn>
                  </p:par>
                </p:childTnLst>
              </p:cTn>
              <p:nextCondLst>
                <p:cond evt="onClick" delay="0">
                  <p:tgtEl>
                    <p:spTgt spid="17"/>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seq concurrent="1" nextAc="seek">
              <p:cTn id="13" restart="whenNotActive" fill="hold" evtFilter="cancelBubble" nodeType="interactiveSeq">
                <p:stCondLst>
                  <p:cond evt="onClick" delay="0">
                    <p:tgtEl>
                      <p:spTgt spid="21"/>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1"/>
                                        </p:tgtEl>
                                      </p:cBhvr>
                                    </p:cmd>
                                  </p:childTnLst>
                                </p:cTn>
                              </p:par>
                            </p:childTnLst>
                          </p:cTn>
                        </p:par>
                      </p:childTnLst>
                    </p:cTn>
                  </p:par>
                </p:childTnLst>
              </p:cTn>
              <p:nextCondLst>
                <p:cond evt="onClick" delay="0">
                  <p:tgtEl>
                    <p:spTgt spid="21"/>
                  </p:tgtEl>
                </p:cond>
              </p:nextCondLst>
            </p:seq>
            <p:audio>
              <p:cMediaNode vol="80000">
                <p:cTn id="18" fill="hold" display="0">
                  <p:stCondLst>
                    <p:cond delay="indefinite"/>
                  </p:stCondLst>
                  <p:endCondLst>
                    <p:cond evt="onStopAudio" delay="0">
                      <p:tgtEl>
                        <p:sldTgt/>
                      </p:tgtEl>
                    </p:cond>
                  </p:endCondLst>
                </p:cTn>
                <p:tgtEl>
                  <p:spTgt spid="17"/>
                </p:tgtEl>
              </p:cMediaNode>
            </p:audio>
            <p:audio>
              <p:cMediaNode vol="80000">
                <p:cTn id="19" fill="hold" display="0">
                  <p:stCondLst>
                    <p:cond delay="indefinite"/>
                  </p:stCondLst>
                  <p:endCondLst>
                    <p:cond evt="onStopAudio" delay="0">
                      <p:tgtEl>
                        <p:sldTgt/>
                      </p:tgtEl>
                    </p:cond>
                  </p:endCondLst>
                </p:cTn>
                <p:tgtEl>
                  <p:spTgt spid="19"/>
                </p:tgtEl>
              </p:cMediaNode>
            </p:audio>
            <p:audio>
              <p:cMediaNode vol="80000">
                <p:cTn id="20" fill="hold" display="0">
                  <p:stCondLst>
                    <p:cond delay="indefinite"/>
                  </p:stCondLst>
                  <p:endCondLst>
                    <p:cond evt="onStopAudio" delay="0">
                      <p:tgtEl>
                        <p:sldTgt/>
                      </p:tgtEl>
                    </p:cond>
                  </p:endCondLst>
                </p:cTn>
                <p:tgtEl>
                  <p:spTgt spid="2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6"/>
          <p:cNvSpPr/>
          <p:nvPr/>
        </p:nvSpPr>
        <p:spPr>
          <a:xfrm>
            <a:off x="54864" y="54864"/>
            <a:ext cx="9034272" cy="5033772"/>
          </a:xfrm>
          <a:prstGeom prst="rect">
            <a:avLst/>
          </a:prstGeom>
          <a:ln w="114300">
            <a:solidFill>
              <a:srgbClr val="A8E6B4"/>
            </a:solidFill>
            <a:prstDash val="solid"/>
          </a:ln>
        </p:spPr>
      </p:sp>
      <p:pic>
        <p:nvPicPr>
          <p:cNvPr id="4" name="logo_1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6B · practice</a:t>
            </a:r>
            <a:endParaRPr lang="en-US" sz="900" dirty="0"/>
          </a:p>
        </p:txBody>
      </p:sp>
      <p:sp>
        <p:nvSpPr>
          <p:cNvPr id="6" name="timer_15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6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161"/>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Complete B's answer</a:t>
            </a:r>
            <a:endParaRPr lang="en-US" sz="1500" dirty="0"/>
          </a:p>
        </p:txBody>
      </p:sp>
      <p:sp>
        <p:nvSpPr>
          <p:cNvPr id="9" name="post_16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3"/>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6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6B: a 1–5 and b 1–5.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6B: a 1–5 e b 1–5. Poi controlla!</a:t>
            </a:r>
            <a:endParaRPr lang="en-US" sz="1250" dirty="0"/>
          </a:p>
        </p:txBody>
      </p:sp>
      <p:sp>
        <p:nvSpPr>
          <p:cNvPr id="12" name="iconBack_16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66"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4" name="box_167"/>
          <p:cNvSpPr txBox="1"/>
          <p:nvPr/>
        </p:nvSpPr>
        <p:spPr>
          <a:xfrm>
            <a:off x="2788920" y="1371600"/>
            <a:ext cx="39831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a 1–5  (match in your book, p.143)</a:t>
            </a:r>
            <a:endParaRPr lang="en-US" sz="1200" dirty="0"/>
          </a:p>
        </p:txBody>
      </p:sp>
      <p:sp>
        <p:nvSpPr>
          <p:cNvPr id="15" name="R1_a0"/>
          <p:cNvSpPr txBox="1"/>
          <p:nvPr/>
        </p:nvSpPr>
        <p:spPr>
          <a:xfrm>
            <a:off x="6826910" y="140817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I · 2 J · 3 A · 4 C · 5 H</a:t>
            </a:r>
            <a:endParaRPr lang="en-US" sz="1200" dirty="0"/>
          </a:p>
        </p:txBody>
      </p:sp>
      <p:sp>
        <p:nvSpPr>
          <p:cNvPr id="16" name="box_168"/>
          <p:cNvSpPr txBox="1"/>
          <p:nvPr/>
        </p:nvSpPr>
        <p:spPr>
          <a:xfrm>
            <a:off x="2788920" y="1941576"/>
            <a:ext cx="39831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b1  …I don't know his salary, but he ___ a fortune!</a:t>
            </a:r>
            <a:endParaRPr lang="en-US" sz="1200" dirty="0"/>
          </a:p>
        </p:txBody>
      </p:sp>
      <p:sp>
        <p:nvSpPr>
          <p:cNvPr id="17" name="R1_a1"/>
          <p:cNvSpPr txBox="1"/>
          <p:nvPr/>
        </p:nvSpPr>
        <p:spPr>
          <a:xfrm>
            <a:off x="6826910" y="1978152"/>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must earn</a:t>
            </a:r>
            <a:endParaRPr lang="en-US" sz="1200" dirty="0"/>
          </a:p>
        </p:txBody>
      </p:sp>
      <p:sp>
        <p:nvSpPr>
          <p:cNvPr id="18" name="box_169"/>
          <p:cNvSpPr txBox="1"/>
          <p:nvPr/>
        </p:nvSpPr>
        <p:spPr>
          <a:xfrm>
            <a:off x="2788920" y="2511552"/>
            <a:ext cx="39831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b2  I'm not sure. She ___ it. It's a bit short for her.</a:t>
            </a:r>
            <a:endParaRPr lang="en-US" sz="1200" dirty="0"/>
          </a:p>
        </p:txBody>
      </p:sp>
      <p:sp>
        <p:nvSpPr>
          <p:cNvPr id="19" name="R1_a2"/>
          <p:cNvSpPr txBox="1"/>
          <p:nvPr/>
        </p:nvSpPr>
        <p:spPr>
          <a:xfrm>
            <a:off x="6826910" y="2548128"/>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might not like</a:t>
            </a:r>
            <a:endParaRPr lang="en-US" sz="1200" dirty="0"/>
          </a:p>
        </p:txBody>
      </p:sp>
      <p:sp>
        <p:nvSpPr>
          <p:cNvPr id="20" name="box_170"/>
          <p:cNvSpPr txBox="1"/>
          <p:nvPr/>
        </p:nvSpPr>
        <p:spPr>
          <a:xfrm>
            <a:off x="2788920" y="3081528"/>
            <a:ext cx="39831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b3  She ___ a lot of languages to work there.</a:t>
            </a:r>
            <a:endParaRPr lang="en-US" sz="1200" dirty="0"/>
          </a:p>
        </p:txBody>
      </p:sp>
      <p:sp>
        <p:nvSpPr>
          <p:cNvPr id="21" name="R1_a3"/>
          <p:cNvSpPr txBox="1"/>
          <p:nvPr/>
        </p:nvSpPr>
        <p:spPr>
          <a:xfrm>
            <a:off x="6826910" y="3118104"/>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must speak</a:t>
            </a:r>
            <a:endParaRPr lang="en-US" sz="1200" dirty="0"/>
          </a:p>
        </p:txBody>
      </p:sp>
      <p:sp>
        <p:nvSpPr>
          <p:cNvPr id="22" name="box_171"/>
          <p:cNvSpPr txBox="1"/>
          <p:nvPr/>
        </p:nvSpPr>
        <p:spPr>
          <a:xfrm>
            <a:off x="2788920" y="3651504"/>
            <a:ext cx="39831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b4  Poor Andy. He ___ very happy about that.</a:t>
            </a:r>
            <a:endParaRPr lang="en-US" sz="1200" dirty="0"/>
          </a:p>
        </p:txBody>
      </p:sp>
      <p:sp>
        <p:nvSpPr>
          <p:cNvPr id="23" name="R1_a4"/>
          <p:cNvSpPr txBox="1"/>
          <p:nvPr/>
        </p:nvSpPr>
        <p:spPr>
          <a:xfrm>
            <a:off x="6826910" y="3688080"/>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can't be</a:t>
            </a:r>
            <a:endParaRPr lang="en-US" sz="1200" dirty="0"/>
          </a:p>
        </p:txBody>
      </p:sp>
      <p:sp>
        <p:nvSpPr>
          <p:cNvPr id="24" name="box_172"/>
          <p:cNvSpPr txBox="1"/>
          <p:nvPr/>
        </p:nvSpPr>
        <p:spPr>
          <a:xfrm>
            <a:off x="2788920" y="4221480"/>
            <a:ext cx="39831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b5  I'm not sure. I suppose they ___ on holiday.</a:t>
            </a:r>
            <a:endParaRPr lang="en-US" sz="1200" dirty="0"/>
          </a:p>
        </p:txBody>
      </p:sp>
      <p:sp>
        <p:nvSpPr>
          <p:cNvPr id="25" name="R1_a5"/>
          <p:cNvSpPr txBox="1"/>
          <p:nvPr/>
        </p:nvSpPr>
        <p:spPr>
          <a:xfrm>
            <a:off x="6826910" y="425805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might be</a:t>
            </a:r>
            <a:endParaRPr lang="en-US" sz="1200" dirty="0"/>
          </a:p>
        </p:txBody>
      </p:sp>
      <p:sp>
        <p:nvSpPr>
          <p:cNvPr id="26" name="pageTag_17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6B p.143 · a 1–5, b 1–5 (a 6–9, b 6–10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4"/>
          <p:cNvSpPr/>
          <p:nvPr/>
        </p:nvSpPr>
        <p:spPr>
          <a:xfrm>
            <a:off x="54864" y="54864"/>
            <a:ext cx="9034272" cy="5033772"/>
          </a:xfrm>
          <a:prstGeom prst="rect">
            <a:avLst/>
          </a:prstGeom>
          <a:ln w="114300">
            <a:solidFill>
              <a:srgbClr val="A8E6B4"/>
            </a:solidFill>
            <a:prstDash val="solid"/>
          </a:ln>
        </p:spPr>
      </p:sp>
      <p:pic>
        <p:nvPicPr>
          <p:cNvPr id="4" name="logo_17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Communication p.107</a:t>
            </a:r>
            <a:endParaRPr lang="en-US" sz="900" dirty="0"/>
          </a:p>
        </p:txBody>
      </p:sp>
      <p:sp>
        <p:nvSpPr>
          <p:cNvPr id="6" name="timer_17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17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179"/>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Judging by appearances</a:t>
            </a:r>
            <a:endParaRPr lang="en-US" sz="1500" dirty="0"/>
          </a:p>
        </p:txBody>
      </p:sp>
      <p:sp>
        <p:nvSpPr>
          <p:cNvPr id="9" name="post_180"/>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81"/>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8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Pairs: who are they? Make deductions. Then check on p.107!</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In coppia: chi sono? Fate deduzioni. Poi controllate a p.107!</a:t>
            </a:r>
            <a:endParaRPr lang="en-US" sz="1200" dirty="0"/>
          </a:p>
        </p:txBody>
      </p:sp>
      <p:sp>
        <p:nvSpPr>
          <p:cNvPr id="12" name="num_183"/>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box_184"/>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The four people in 2d (p.61): four deductions each – with must, might / could / may and can't.</a:t>
            </a:r>
            <a:endParaRPr lang="en-US" sz="1000" dirty="0"/>
          </a:p>
        </p:txBody>
      </p:sp>
      <p:sp>
        <p:nvSpPr>
          <p:cNvPr id="14" name="num_185"/>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box_186"/>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be American / Asian / English… · be a criminal / a model… · have a degree / an Olympic medal… · be in his / her 20s / 30s / 50s / 80s</a:t>
            </a:r>
            <a:endParaRPr lang="en-US" sz="1000" dirty="0"/>
          </a:p>
        </p:txBody>
      </p:sp>
      <p:sp>
        <p:nvSpPr>
          <p:cNvPr id="16" name="num_187"/>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box_188"/>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Go to Communication 'Judging by appearances', p.107. Student A reads the information about the first half of the people, Student B the second half.</a:t>
            </a:r>
            <a:endParaRPr lang="en-US" sz="1000" dirty="0"/>
          </a:p>
        </p:txBody>
      </p:sp>
      <p:sp>
        <p:nvSpPr>
          <p:cNvPr id="18" name="num_189"/>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box_190"/>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Tell your partner what you read – don't show the page! Were your deductions right?</a:t>
            </a:r>
            <a:endParaRPr lang="en-US" sz="1100" dirty="0"/>
          </a:p>
        </p:txBody>
      </p:sp>
      <p:sp>
        <p:nvSpPr>
          <p:cNvPr id="20" name="num_191"/>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box_192"/>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React: I knew it! / I'm really surprised – I thought she might be…</a:t>
            </a:r>
            <a:endParaRPr lang="en-US" sz="1150" dirty="0"/>
          </a:p>
        </p:txBody>
      </p:sp>
      <p:sp>
        <p:nvSpPr>
          <p:cNvPr id="22" name="bubble_19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b="1" i="1" dirty="0">
                <a:solidFill>
                  <a:srgbClr val="111111"/>
                </a:solidFill>
                <a:latin typeface="Calibri" pitchFamily="34" charset="0"/>
                <a:ea typeface="Calibri" pitchFamily="34" charset="-122"/>
                <a:cs typeface="Calibri" pitchFamily="34" charset="-120"/>
              </a:rPr>
              <a:t>(I think) he might be English. – True, but he could be American, too.</a:t>
            </a:r>
            <a:endParaRPr lang="en-US" sz="1250" dirty="0"/>
          </a:p>
        </p:txBody>
      </p:sp>
      <p:sp>
        <p:nvSpPr>
          <p:cNvPr id="23" name="pageTag_1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p.61 · 2d, 2e · Communication p.107</a:t>
            </a:r>
            <a:endParaRPr lang="en-US" sz="1050" dirty="0"/>
          </a:p>
        </p:txBody>
      </p:sp>
      <p:sp>
        <p:nvSpPr>
          <p:cNvPr id="24" name="pframe_195"/>
          <p:cNvSpPr/>
          <p:nvPr/>
        </p:nvSpPr>
        <p:spPr>
          <a:xfrm rot="-120000">
            <a:off x="640080" y="3108960"/>
            <a:ext cx="1463040" cy="162763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5" name="pimg_196" descr="picture">    </p:cNvPr>
          <p:cNvPicPr>
            <a:picLocks noChangeAspect="1"/>
          </p:cNvPicPr>
          <p:nvPr/>
        </p:nvPicPr>
        <p:blipFill>
          <a:blip r:embed="rId3"/>
          <a:srcRect l="0" r="0" t="0" b="0"/>
          <a:stretch/>
        </p:blipFill>
        <p:spPr>
          <a:xfrm rot="-120000">
            <a:off x="713232" y="3182112"/>
            <a:ext cx="1316736" cy="1408176"/>
          </a:xfrm>
          <a:prstGeom prst="rect">
            <a:avLst/>
          </a:prstGeom>
        </p:spPr>
      </p:pic>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7"/>
          <p:cNvSpPr/>
          <p:nvPr/>
        </p:nvSpPr>
        <p:spPr>
          <a:xfrm>
            <a:off x="54864" y="54864"/>
            <a:ext cx="9034272" cy="5033772"/>
          </a:xfrm>
          <a:prstGeom prst="rect">
            <a:avLst/>
          </a:prstGeom>
          <a:ln w="114300">
            <a:solidFill>
              <a:srgbClr val="A8E6B4"/>
            </a:solidFill>
            <a:prstDash val="solid"/>
          </a:ln>
        </p:spPr>
      </p:sp>
      <p:pic>
        <p:nvPicPr>
          <p:cNvPr id="4" name="logo_1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a:t>
            </a:r>
            <a:endParaRPr lang="en-US" sz="900" dirty="0"/>
          </a:p>
        </p:txBody>
      </p:sp>
      <p:sp>
        <p:nvSpPr>
          <p:cNvPr id="6" name="timer_20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20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202"/>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You must be a…!</a:t>
            </a:r>
            <a:endParaRPr lang="en-US" sz="1500" dirty="0"/>
          </a:p>
        </p:txBody>
      </p:sp>
      <p:sp>
        <p:nvSpPr>
          <p:cNvPr id="9" name="post_20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4"/>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0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Listen to the clues. Answer only with must, might or can't!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Ascolta gli indizi. Rispondi solo con must, might o can't!</a:t>
            </a:r>
            <a:endParaRPr lang="en-US" sz="1200" dirty="0"/>
          </a:p>
        </p:txBody>
      </p:sp>
      <p:sp>
        <p:nvSpPr>
          <p:cNvPr id="12" name="n_206"/>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207"/>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CLUE-GIVER stands next to the screen, looking at it.</a:t>
            </a:r>
            <a:endParaRPr lang="en-US" sz="1400" dirty="0"/>
          </a:p>
        </p:txBody>
      </p:sp>
      <p:sp>
        <p:nvSpPr>
          <p:cNvPr id="14" name="n_208"/>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209"/>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6" name="n_210"/>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211"/>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clicks → a secret job. The clue-giver gives ONE clue at a time: I work at night. I wear a uniform…</a:t>
            </a:r>
            <a:endParaRPr lang="en-US" sz="1250" dirty="0"/>
          </a:p>
        </p:txBody>
      </p:sp>
      <p:sp>
        <p:nvSpPr>
          <p:cNvPr id="18" name="n_212"/>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213"/>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Teams answer only with deductions: You might be a nurse! You can't be a pilot! You must be a…!</a:t>
            </a:r>
            <a:endParaRPr lang="en-US" sz="1250" dirty="0"/>
          </a:p>
        </p:txBody>
      </p:sp>
      <p:sp>
        <p:nvSpPr>
          <p:cNvPr id="20" name="n_214"/>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215"/>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'You're a chef' = 0 points. 'You must be a chef!' + correct = 1 point. Red words = no point.</a:t>
            </a:r>
            <a:endParaRPr lang="en-US" sz="1250" dirty="0"/>
          </a:p>
        </p:txBody>
      </p:sp>
      <p:sp>
        <p:nvSpPr>
          <p:cNvPr id="22" name="pageTag_21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extra practice of Grammar Bank 6B (modals of deduction)</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7"/>
          <p:cNvSpPr/>
          <p:nvPr/>
        </p:nvSpPr>
        <p:spPr>
          <a:xfrm>
            <a:off x="54864" y="54864"/>
            <a:ext cx="9034272" cy="5033772"/>
          </a:xfrm>
          <a:prstGeom prst="rect">
            <a:avLst/>
          </a:prstGeom>
          <a:ln w="114300">
            <a:solidFill>
              <a:srgbClr val="A8E6B4"/>
            </a:solidFill>
            <a:prstDash val="solid"/>
          </a:ln>
        </p:spPr>
      </p:sp>
      <p:pic>
        <p:nvPicPr>
          <p:cNvPr id="4" name="logo_21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 · card 1 of 6</a:t>
            </a:r>
            <a:endParaRPr lang="en-US" sz="900" dirty="0"/>
          </a:p>
        </p:txBody>
      </p:sp>
      <p:sp>
        <p:nvSpPr>
          <p:cNvPr id="6" name="footer_22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warn_22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PILOT</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plane · fly · airport</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2"/>
          <p:cNvSpPr/>
          <p:nvPr/>
        </p:nvSpPr>
        <p:spPr>
          <a:xfrm>
            <a:off x="54864" y="54864"/>
            <a:ext cx="9034272" cy="5033772"/>
          </a:xfrm>
          <a:prstGeom prst="rect">
            <a:avLst/>
          </a:prstGeom>
          <a:ln w="114300">
            <a:solidFill>
              <a:srgbClr val="A8E6B4"/>
            </a:solidFill>
            <a:prstDash val="solid"/>
          </a:ln>
        </p:spPr>
      </p:sp>
      <p:pic>
        <p:nvPicPr>
          <p:cNvPr id="4" name="logo_22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 · card 2 of 6</a:t>
            </a:r>
            <a:endParaRPr lang="en-US" sz="900" dirty="0"/>
          </a:p>
        </p:txBody>
      </p:sp>
      <p:sp>
        <p:nvSpPr>
          <p:cNvPr id="6" name="footer_22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warn_22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CHEF</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cook · kitchen · food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7"/>
          <p:cNvSpPr/>
          <p:nvPr/>
        </p:nvSpPr>
        <p:spPr>
          <a:xfrm>
            <a:off x="54864" y="54864"/>
            <a:ext cx="9034272" cy="5033772"/>
          </a:xfrm>
          <a:prstGeom prst="rect">
            <a:avLst/>
          </a:prstGeom>
          <a:ln w="114300">
            <a:solidFill>
              <a:srgbClr val="A8E6B4"/>
            </a:solidFill>
            <a:prstDash val="solid"/>
          </a:ln>
        </p:spPr>
      </p:sp>
      <p:pic>
        <p:nvPicPr>
          <p:cNvPr id="4" name="logo_22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 · card 3 of 6</a:t>
            </a:r>
            <a:endParaRPr lang="en-US" sz="900" dirty="0"/>
          </a:p>
        </p:txBody>
      </p:sp>
      <p:sp>
        <p:nvSpPr>
          <p:cNvPr id="6" name="footer_23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warn_23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DENTIST</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teeth · doctor · mouth</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2"/>
          <p:cNvSpPr/>
          <p:nvPr/>
        </p:nvSpPr>
        <p:spPr>
          <a:xfrm>
            <a:off x="54864" y="54864"/>
            <a:ext cx="9034272" cy="5033772"/>
          </a:xfrm>
          <a:prstGeom prst="rect">
            <a:avLst/>
          </a:prstGeom>
          <a:ln w="114300">
            <a:solidFill>
              <a:srgbClr val="A8E6B4"/>
            </a:solidFill>
            <a:prstDash val="solid"/>
          </a:ln>
        </p:spPr>
      </p:sp>
      <p:pic>
        <p:nvPicPr>
          <p:cNvPr id="4" name="logo_23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 · card 4 of 6</a:t>
            </a:r>
            <a:endParaRPr lang="en-US" sz="900" dirty="0"/>
          </a:p>
        </p:txBody>
      </p:sp>
      <p:sp>
        <p:nvSpPr>
          <p:cNvPr id="6" name="footer_23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warn_23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PHOTOGRAPHER</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photo · camera · picture</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7"/>
          <p:cNvSpPr/>
          <p:nvPr/>
        </p:nvSpPr>
        <p:spPr>
          <a:xfrm>
            <a:off x="54864" y="54864"/>
            <a:ext cx="9034272" cy="5033772"/>
          </a:xfrm>
          <a:prstGeom prst="rect">
            <a:avLst/>
          </a:prstGeom>
          <a:ln w="114300">
            <a:solidFill>
              <a:srgbClr val="A8E6B4"/>
            </a:solidFill>
            <a:prstDash val="solid"/>
          </a:ln>
        </p:spPr>
      </p:sp>
      <p:pic>
        <p:nvPicPr>
          <p:cNvPr id="4" name="logo_2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 · card 5 of 6</a:t>
            </a:r>
            <a:endParaRPr lang="en-US" sz="900" dirty="0"/>
          </a:p>
        </p:txBody>
      </p:sp>
      <p:sp>
        <p:nvSpPr>
          <p:cNvPr id="6" name="footer_2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warn_24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FOOTBALLER</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ball · football · goal</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2"/>
          <p:cNvSpPr/>
          <p:nvPr/>
        </p:nvSpPr>
        <p:spPr>
          <a:xfrm>
            <a:off x="54864" y="54864"/>
            <a:ext cx="9034272" cy="5033772"/>
          </a:xfrm>
          <a:prstGeom prst="rect">
            <a:avLst/>
          </a:prstGeom>
          <a:ln w="114300">
            <a:solidFill>
              <a:srgbClr val="A8E6B4"/>
            </a:solidFill>
            <a:prstDash val="solid"/>
          </a:ln>
        </p:spPr>
      </p:sp>
      <p:pic>
        <p:nvPicPr>
          <p:cNvPr id="4" name="logo_2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Clues + deductions · card 6 of 6</a:t>
            </a:r>
            <a:endParaRPr lang="en-US" sz="900" dirty="0"/>
          </a:p>
        </p:txBody>
      </p:sp>
      <p:sp>
        <p:nvSpPr>
          <p:cNvPr id="6" name="footer_24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warn_24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FIREFIGHTER</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fire · water · truck</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7"/>
          <p:cNvSpPr/>
          <p:nvPr/>
        </p:nvSpPr>
        <p:spPr>
          <a:xfrm>
            <a:off x="54864" y="54864"/>
            <a:ext cx="9034272" cy="5033772"/>
          </a:xfrm>
          <a:prstGeom prst="rect">
            <a:avLst/>
          </a:prstGeom>
          <a:ln w="114300">
            <a:solidFill>
              <a:srgbClr val="A8E6B4"/>
            </a:solidFill>
            <a:prstDash val="solid"/>
          </a:ln>
        </p:spPr>
      </p:sp>
      <p:pic>
        <p:nvPicPr>
          <p:cNvPr id="4" name="logo_2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title_250"/>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251"/>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252"/>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article about profile photos.</a:t>
            </a:r>
            <a:endParaRPr lang="en-US" sz="1350" dirty="0"/>
          </a:p>
        </p:txBody>
      </p:sp>
      <p:sp>
        <p:nvSpPr>
          <p:cNvPr id="9" name="faces_253"/>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254"/>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make deductions with must, might and can't.</a:t>
            </a:r>
            <a:endParaRPr lang="en-US" sz="1350" dirty="0"/>
          </a:p>
        </p:txBody>
      </p:sp>
      <p:sp>
        <p:nvSpPr>
          <p:cNvPr id="11" name="faces_255"/>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56"/>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guess who people are from their appearance.</a:t>
            </a:r>
            <a:endParaRPr lang="en-US" sz="1350" dirty="0"/>
          </a:p>
        </p:txBody>
      </p:sp>
      <p:sp>
        <p:nvSpPr>
          <p:cNvPr id="13" name="faces_257"/>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58"/>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6B: 1a, 1b, 1c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6B: a 6–9, b 6–10</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6B-1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59"/>
          <p:cNvSpPr txBox="1"/>
          <p:nvPr/>
        </p:nvSpPr>
        <p:spPr>
          <a:xfrm>
            <a:off x="365760" y="3657600"/>
            <a:ext cx="448056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6B part 2 · The body · Charisma</a:t>
            </a:r>
            <a:endParaRPr lang="en-US" sz="120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0"/>
          <p:cNvSpPr/>
          <p:nvPr/>
        </p:nvSpPr>
        <p:spPr>
          <a:xfrm>
            <a:off x="54864" y="54864"/>
            <a:ext cx="9034272" cy="5033772"/>
          </a:xfrm>
          <a:prstGeom prst="rect">
            <a:avLst/>
          </a:prstGeom>
          <a:ln w="114300">
            <a:solidFill>
              <a:srgbClr val="A8E6B4"/>
            </a:solidFill>
            <a:prstDash val="solid"/>
          </a:ln>
        </p:spPr>
      </p:sp>
      <p:pic>
        <p:nvPicPr>
          <p:cNvPr id="4" name="logo_2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Deductions</a:t>
            </a:r>
            <a:endParaRPr lang="en-US" sz="900" dirty="0"/>
          </a:p>
        </p:txBody>
      </p:sp>
      <p:sp>
        <p:nvSpPr>
          <p:cNvPr id="6" name="timer_2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6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9" name="title_266"/>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Whose bag is it?</a:t>
            </a:r>
            <a:endParaRPr lang="en-US" sz="1500" dirty="0"/>
          </a:p>
        </p:txBody>
      </p:sp>
      <p:sp>
        <p:nvSpPr>
          <p:cNvPr id="10" name="post_267"/>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6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6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what's in the bag. Who is the owner?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cosa c'è nella borsa. Di chi è?</a:t>
            </a:r>
            <a:endParaRPr lang="en-US" sz="1250" dirty="0"/>
          </a:p>
        </p:txBody>
      </p:sp>
      <p:sp>
        <p:nvSpPr>
          <p:cNvPr id="13" name="iconBack_27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71" descr="pi:PiShoppingBag">    </p:cNvPr>
          <p:cNvPicPr>
            <a:picLocks noChangeAspect="1"/>
          </p:cNvPicPr>
          <p:nvPr/>
        </p:nvPicPr>
        <p:blipFill>
          <a:blip r:embed="rId3"/>
          <a:stretch>
            <a:fillRect/>
          </a:stretch>
        </p:blipFill>
        <p:spPr>
          <a:xfrm>
            <a:off x="914400" y="3474720"/>
            <a:ext cx="685800" cy="685800"/>
          </a:xfrm>
          <a:prstGeom prst="rect">
            <a:avLst/>
          </a:prstGeom>
        </p:spPr>
      </p:pic>
      <p:sp>
        <p:nvSpPr>
          <p:cNvPr id="15" name="num_272"/>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73"/>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Teacher shows (or lists on the board) 5 objects 'found' in a bag: e.g. a train ticket to Catania, a guitar pick, sun cream, a dog lead, a library card.</a:t>
            </a:r>
            <a:endParaRPr lang="en-US" sz="950" dirty="0"/>
          </a:p>
        </p:txBody>
      </p:sp>
      <p:sp>
        <p:nvSpPr>
          <p:cNvPr id="17" name="num_274"/>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75"/>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Pairs make 5 deductions about the owner: age, job, hobbies, where he / she lives.</a:t>
            </a:r>
            <a:endParaRPr lang="en-US" sz="1100" dirty="0"/>
          </a:p>
        </p:txBody>
      </p:sp>
      <p:sp>
        <p:nvSpPr>
          <p:cNvPr id="19" name="num_276"/>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77"/>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Use must, might / could, can't + evidence: She must have a dog because…</a:t>
            </a:r>
            <a:endParaRPr lang="en-US" sz="1200" dirty="0"/>
          </a:p>
        </p:txBody>
      </p:sp>
      <p:sp>
        <p:nvSpPr>
          <p:cNvPr id="21" name="num_278"/>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79"/>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another pair. The most convincing 'portrait' wins!</a:t>
            </a:r>
            <a:endParaRPr lang="en-US" sz="1300" dirty="0"/>
          </a:p>
        </p:txBody>
      </p:sp>
      <p:sp>
        <p:nvSpPr>
          <p:cNvPr id="23" name="num_280"/>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281"/>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Round 2: pairs invent a bag for another pair.</a:t>
            </a:r>
            <a:endParaRPr lang="en-US" sz="1300" dirty="0"/>
          </a:p>
        </p:txBody>
      </p:sp>
      <p:sp>
        <p:nvSpPr>
          <p:cNvPr id="25" name="bubble_28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The owner must play the guitar. She can't live in Catania – she's got a ticket to go there.</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3"/>
          <p:cNvSpPr/>
          <p:nvPr/>
        </p:nvSpPr>
        <p:spPr>
          <a:xfrm>
            <a:off x="54864" y="54864"/>
            <a:ext cx="9034272" cy="5033772"/>
          </a:xfrm>
          <a:prstGeom prst="rect">
            <a:avLst/>
          </a:prstGeom>
          <a:ln w="114300">
            <a:solidFill>
              <a:srgbClr val="A8E6B4"/>
            </a:solidFill>
            <a:prstDash val="solid"/>
          </a:ln>
        </p:spPr>
      </p:sp>
      <p:pic>
        <p:nvPicPr>
          <p:cNvPr id="4" name="logo_28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Deductions</a:t>
            </a:r>
            <a:endParaRPr lang="en-US" sz="900" dirty="0"/>
          </a:p>
        </p:txBody>
      </p:sp>
      <p:sp>
        <p:nvSpPr>
          <p:cNvPr id="6" name="timer_28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8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8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9" name="title_289"/>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going on?</a:t>
            </a:r>
            <a:endParaRPr lang="en-US" sz="1500" dirty="0"/>
          </a:p>
        </p:txBody>
      </p:sp>
      <p:sp>
        <p:nvSpPr>
          <p:cNvPr id="10" name="post_29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91"/>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9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Make 3 deductions for each situation: must / might / can't.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Fai 3 deduzioni per ogni situazione: must / might / can't.</a:t>
            </a:r>
            <a:endParaRPr lang="en-US" sz="1200" dirty="0"/>
          </a:p>
        </p:txBody>
      </p:sp>
      <p:sp>
        <p:nvSpPr>
          <p:cNvPr id="13" name="box_293"/>
          <p:cNvSpPr txBox="1"/>
          <p:nvPr/>
        </p:nvSpPr>
        <p:spPr>
          <a:xfrm>
            <a:off x="2788920" y="1371600"/>
            <a:ext cx="603504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Your friend is smiling at her phone and won't tell you why.</a:t>
            </a:r>
            <a:endParaRPr lang="en-US" sz="1300" dirty="0"/>
          </a:p>
        </p:txBody>
      </p:sp>
      <p:sp>
        <p:nvSpPr>
          <p:cNvPr id="14" name="box_294"/>
          <p:cNvSpPr txBox="1"/>
          <p:nvPr/>
        </p:nvSpPr>
        <p:spPr>
          <a:xfrm>
            <a:off x="2788920" y="2055571"/>
            <a:ext cx="603504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There's a lot of noise and music from the flat next door.</a:t>
            </a:r>
            <a:endParaRPr lang="en-US" sz="1300" dirty="0"/>
          </a:p>
        </p:txBody>
      </p:sp>
      <p:sp>
        <p:nvSpPr>
          <p:cNvPr id="15" name="box_295"/>
          <p:cNvSpPr txBox="1"/>
          <p:nvPr/>
        </p:nvSpPr>
        <p:spPr>
          <a:xfrm>
            <a:off x="2788920" y="2739542"/>
            <a:ext cx="603504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Your teacher arrives with a big cake.</a:t>
            </a:r>
            <a:endParaRPr lang="en-US" sz="1300" dirty="0"/>
          </a:p>
        </p:txBody>
      </p:sp>
      <p:sp>
        <p:nvSpPr>
          <p:cNvPr id="16" name="box_296"/>
          <p:cNvSpPr txBox="1"/>
          <p:nvPr/>
        </p:nvSpPr>
        <p:spPr>
          <a:xfrm>
            <a:off x="2788920" y="3423514"/>
            <a:ext cx="603504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A man is standing outside the school with a lot of flowers.</a:t>
            </a:r>
            <a:endParaRPr lang="en-US" sz="1300" dirty="0"/>
          </a:p>
        </p:txBody>
      </p:sp>
      <p:sp>
        <p:nvSpPr>
          <p:cNvPr id="17" name="box_297"/>
          <p:cNvSpPr txBox="1"/>
          <p:nvPr/>
        </p:nvSpPr>
        <p:spPr>
          <a:xfrm>
            <a:off x="2788920" y="4107485"/>
            <a:ext cx="603504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Your brother comes home very wet and very happy.</a:t>
            </a:r>
            <a:endParaRPr lang="en-US" sz="1300" dirty="0"/>
          </a:p>
        </p:txBody>
      </p:sp>
      <p:sp>
        <p:nvSpPr>
          <p:cNvPr id="18" name="sticky_298"/>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It must be… / He might have… / She can't be…</a:t>
            </a:r>
            <a:endParaRPr lang="en-US" sz="115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9"/>
          <p:cNvSpPr/>
          <p:nvPr/>
        </p:nvSpPr>
        <p:spPr>
          <a:xfrm>
            <a:off x="54864" y="54864"/>
            <a:ext cx="9034272" cy="5033772"/>
          </a:xfrm>
          <a:prstGeom prst="rect">
            <a:avLst/>
          </a:prstGeom>
          <a:ln w="114300">
            <a:solidFill>
              <a:srgbClr val="A8E6B4"/>
            </a:solidFill>
            <a:prstDash val="solid"/>
          </a:ln>
        </p:spPr>
      </p:sp>
      <p:pic>
        <p:nvPicPr>
          <p:cNvPr id="4" name="logo_30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0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Grammar photocopiable · must / might / can't</a:t>
            </a:r>
            <a:endParaRPr lang="en-US" sz="900" dirty="0"/>
          </a:p>
        </p:txBody>
      </p:sp>
      <p:sp>
        <p:nvSpPr>
          <p:cNvPr id="6" name="timer_30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30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0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9" name="title_305"/>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Isn't that Karen?</a:t>
            </a:r>
            <a:endParaRPr lang="en-US" sz="1500" dirty="0"/>
          </a:p>
        </p:txBody>
      </p:sp>
      <p:sp>
        <p:nvSpPr>
          <p:cNvPr id="10" name="post_306"/>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07"/>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30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a Circle the right verb. b Complete with must, might, might not or can't.</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a Cerchia il verbo giusto. b Completa con must, might, might not o can't.</a:t>
            </a:r>
            <a:endParaRPr lang="en-US" sz="1050" dirty="0"/>
          </a:p>
        </p:txBody>
      </p:sp>
      <p:sp>
        <p:nvSpPr>
          <p:cNvPr id="13" name="iconBack_30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10"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5" name="num_31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31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read the conversation about Karen. Circle the right verb.</a:t>
            </a:r>
            <a:endParaRPr lang="en-US" sz="1300" dirty="0"/>
          </a:p>
        </p:txBody>
      </p:sp>
      <p:sp>
        <p:nvSpPr>
          <p:cNvPr id="17" name="num_31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31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complete conversations 1–4. Sometimes more than one answer is possible!</a:t>
            </a:r>
            <a:endParaRPr lang="en-US" sz="1300" dirty="0"/>
          </a:p>
        </p:txBody>
      </p:sp>
      <p:sp>
        <p:nvSpPr>
          <p:cNvPr id="19" name="num_31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31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 partner. Then check.</a:t>
            </a:r>
            <a:endParaRPr lang="en-US" sz="1300" dirty="0"/>
          </a:p>
        </p:txBody>
      </p:sp>
      <p:sp>
        <p:nvSpPr>
          <p:cNvPr id="21" name="num_31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31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Practise the conversations with a partner.</a:t>
            </a:r>
            <a:endParaRPr lang="en-US" sz="1300" dirty="0"/>
          </a:p>
        </p:txBody>
      </p:sp>
      <p:sp>
        <p:nvSpPr>
          <p:cNvPr id="23" name="bubble_31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B1_6B_Photocopiables.pdf, page 1</a:t>
            </a:r>
            <a:endParaRPr lang="en-US" sz="1300" dirty="0"/>
          </a:p>
        </p:txBody>
      </p:sp>
      <p:sp>
        <p:nvSpPr>
          <p:cNvPr id="24" name="pageTag_32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photocopiable 6B modals of deduction (TG p.160)</a:t>
            </a:r>
            <a:endParaRPr lang="en-US" sz="105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21"/>
          <p:cNvSpPr/>
          <p:nvPr/>
        </p:nvSpPr>
        <p:spPr>
          <a:xfrm>
            <a:off x="54864" y="54864"/>
            <a:ext cx="9034272" cy="5033772"/>
          </a:xfrm>
          <a:prstGeom prst="rect">
            <a:avLst/>
          </a:prstGeom>
          <a:ln w="114300">
            <a:solidFill>
              <a:srgbClr val="A8E6B4"/>
            </a:solidFill>
            <a:prstDash val="solid"/>
          </a:ln>
        </p:spPr>
      </p:sp>
      <p:pic>
        <p:nvPicPr>
          <p:cNvPr id="4" name="logo_32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2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Communicative photocopiable · deduction</a:t>
            </a:r>
            <a:endParaRPr lang="en-US" sz="900" dirty="0"/>
          </a:p>
        </p:txBody>
      </p:sp>
      <p:sp>
        <p:nvSpPr>
          <p:cNvPr id="6" name="timer_32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32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2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9" name="title_327"/>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Who might they be?</a:t>
            </a:r>
            <a:endParaRPr lang="en-US" sz="1500" dirty="0"/>
          </a:p>
        </p:txBody>
      </p:sp>
      <p:sp>
        <p:nvSpPr>
          <p:cNvPr id="10" name="post_328"/>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2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33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8 photos, 8 jobs. Who does which job? Say why!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8 foto, 8 lavori. Chi fa quale lavoro? Spiega perché!</a:t>
            </a:r>
            <a:endParaRPr lang="en-US" sz="1250" dirty="0"/>
          </a:p>
        </p:txBody>
      </p:sp>
      <p:sp>
        <p:nvSpPr>
          <p:cNvPr id="13" name="iconBack_33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32" descr="pi:PiUsersThree">    </p:cNvPr>
          <p:cNvPicPr>
            <a:picLocks noChangeAspect="1"/>
          </p:cNvPicPr>
          <p:nvPr/>
        </p:nvPicPr>
        <p:blipFill>
          <a:blip r:embed="rId3"/>
          <a:stretch>
            <a:fillRect/>
          </a:stretch>
        </p:blipFill>
        <p:spPr>
          <a:xfrm>
            <a:off x="914400" y="3474720"/>
            <a:ext cx="685800" cy="685800"/>
          </a:xfrm>
          <a:prstGeom prst="rect">
            <a:avLst/>
          </a:prstGeom>
        </p:spPr>
      </p:pic>
      <p:sp>
        <p:nvSpPr>
          <p:cNvPr id="15" name="num_333"/>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334"/>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Jobs: boxer · hairdresser · mathematician · model · musician · poet · politician · yoga teacher.</a:t>
            </a:r>
            <a:endParaRPr lang="en-US" sz="950" dirty="0"/>
          </a:p>
        </p:txBody>
      </p:sp>
      <p:sp>
        <p:nvSpPr>
          <p:cNvPr id="17" name="num_335"/>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336"/>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Alone: think which person might do which job.</a:t>
            </a:r>
            <a:endParaRPr lang="en-US" sz="1300" dirty="0"/>
          </a:p>
        </p:txBody>
      </p:sp>
      <p:sp>
        <p:nvSpPr>
          <p:cNvPr id="19" name="num_337"/>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338"/>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eliminate jobs – He / She can't be a… because…</a:t>
            </a:r>
            <a:endParaRPr lang="en-US" sz="1300" dirty="0"/>
          </a:p>
        </p:txBody>
      </p:sp>
      <p:sp>
        <p:nvSpPr>
          <p:cNvPr id="21" name="num_339"/>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340"/>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Possible jobs: He / She might be… Final choice: He / She must be… because…</a:t>
            </a:r>
            <a:endParaRPr lang="en-US" sz="1100" dirty="0"/>
          </a:p>
        </p:txBody>
      </p:sp>
      <p:sp>
        <p:nvSpPr>
          <p:cNvPr id="23" name="num_341"/>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342"/>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gives the answers. Who got the most right?</a:t>
            </a:r>
            <a:endParaRPr lang="en-US" sz="1300" dirty="0"/>
          </a:p>
        </p:txBody>
      </p:sp>
      <p:sp>
        <p:nvSpPr>
          <p:cNvPr id="25" name="bubble_34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 Print: B1_6B_Photocopiables.pdf, page 2 · She can't be a boxer because she has long hair.</a:t>
            </a:r>
            <a:endParaRPr lang="en-US" sz="1100" dirty="0"/>
          </a:p>
        </p:txBody>
      </p:sp>
      <p:sp>
        <p:nvSpPr>
          <p:cNvPr id="26" name="pageTag_34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Communicative photocopiable 6B Who do you think they might be? (TG p.189)</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6B-1 Every picture tells a story</dc:title>
  <dc:subject>PptxGenJS Presentation</dc:subject>
  <dc:creator>London Language School</dc:creator>
  <cp:lastModifiedBy>London Language School</cp:lastModifiedBy>
  <cp:revision>1</cp:revision>
  <dcterms:created xsi:type="dcterms:W3CDTF">2026-10-05T09:39:31Z</dcterms:created>
  <dcterms:modified xsi:type="dcterms:W3CDTF">2026-10-05T09:39:31Z</dcterms:modified>
</cp:coreProperties>
</file>