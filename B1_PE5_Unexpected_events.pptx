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ENGLISH EPISODE 5 'Unexpected events' (60 min) · SB pp.94–95 — the final episode of the story (Rob, Jenny, Paul in New York). Aims: indirect questions (Could you tell me…? Do you know if…? I wonder if…); Social English phrases. Videos: the Practical English Episode 5 clips are EMBEDDED in the slides (Jenny gets a surprise 2'38" · Indirect questions 2'14" · listen and check 1'02" · listen and repeat 0'57" · Rob gets serious 1'54"); if a video doesn't play, use audio 9.21–9.26 (same soundtrack) or Online Practice. There is no Social English video clip for this episode – use audio 9.26. Timing: cover 2 · revision 5 · video 1 7 · video 2 6 · listen and check 3 · listen and repeat 2 · rule 4 · practice 4 · Communication 7 · video 3 5 · Social English 4 · board race 5 · exit 3 = 57 min. Click 1: the question — elicit what happened in Episode 4 (TG optional lead-in: Where did Rob and Paul go? Where did Jenny go? Why didn't she go with them? ⚠ Episode 4 events: check your notes / the previous lesson) — then click 2.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of 9B part 2 (5 min). VARIATION: sound intruder (phonological). Pairs MUST say the words aloud — whisper if needed. 30 seconds per line, click once per line (one answer per click). The ough / augh words and sounds are from audio 9.19 (horse /ɔː/: bought, brought, caught, daughter, thought · up /ʌ/: enough, tough · phone /əʊ/: although · car /ɑː/: laugh · boot /uː/: through · clock /ɒ/: cough); the other words are simple model words. Final 1-minute challenge (quantifiers): 'Make one true sentence about your phone with too many / not enough / plenty of.'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1 (7 min). The video is embedded (2 min 38 s) – watch twice. 1a: books open, look at the photos: Where is Jenny? (outside Rob's apartment building) What do you think Rob is saying? PREDICTION (yellow box). Play once: How do Jenny and Rob feel at the end? → Jenny is upset and Rob is furious (TG) – keep the prediction on the board: Jenny is outside Rob's building – what's going to happen? 1b: students read the 6 sentences (the book's, shortened on the slide), watch again and mark T / F, correcting the false ones. Click 1 for answers. TG answers: 1 T · 2 F (Paul tells Jenny that Rob is planning to go back to London) · 3 F (Rob arrives with bagels for breakfast) · 4 T · 5 T · 6 F (Rob says he will buy Paul's ticket to Boston). Useful: 'What's the big deal?' = why is it important? · 'You're joking, mate.' (mate = friend, British).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2 (6 min). The video is embedded (2 min 14 s) – watch twice. 2a: play once — do they resolve their problems? → No, they don't (TG). 2b: students read questions 1–5 (the book's, shortened on the slide: 1 What reason does Rob give for Paul being in his flat? 2 How does Rob know that Paul is really leaving? 3 Why doesn't Jenny believe that Rob wants to stay in New York? 4 According to Jenny, how did Rob behave when he was with Paul? 5 What does Jenny think about their relationship?), watch again and answer; click 1. TG answers: 1 Paul couldn't get a ticket to Boston because all the buses were full · 2 because Rob bought Paul's ticket to Boston · 3 because he told Kerri that he misses London · 4 he behaved like a different person · 5 she doesn't know if it is going to work out. At the end Don arrives: 'Can you tell me what you decided at the last meeting?' — a polite indirect question from a boss. VARIATION: perspective change (yellow box) — vote: who do you believe?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CHECK (3 min). The video is embedded (1 min 02 s): the five extracts from the scene. 2c: give students a minute to guess the missing words in the book (VARIATION: prediction), then play the clip. Click 1 for answers (TG / video script 9.23): 1 tell · 2 know · 3 like · 4 wonder · 5 Can. Ask: Why does Jenny say 'Could you tell me why…' and not 'Why is Paul…?' → she's being (ironically!) polite / formal; Don is the boss, so he is polite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AND REPEAT (2 min). The video is embedded (57 s); the five phrases on the slide are the video script 9.24. 2d: students repeat each phrase, copying the rhythm and the polite (rising) intonation – pause the video if they need more time. 2e (if time, or as a 1-minute pair drill): pairs practise the short conversations in 2c, then swap roles. VARIATION: change the energy – first exaggeratedly polite, then annoyed like Jenny.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(4 min). Go through the Indirect questions box in the book. Key points: we use indirect questions to be more polite, e.g. with strangers or a boss (Don!); after the opening phrase the word order is like a positive sentence — subject + verb — and we don't use the auxiliary do / does / did; for yes / no questions we use if or whether (Do you know if he's got one now?). I wonder… and I'd like to know… are statements, so they end with a full stop. Italian learners: in Italian the word order often doesn't change ('Sai dov'è la stazione?') — so they say ✗ where is the station. Drill the examples on the slide (the indirect ones are from 9.23 and the 2f key).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(4 min). 2f: students complete the five indirect questions in the book; compare; click 1 for answers (TG): 1 where the station is · 2 what he said · 3 if / whether she likes me · 4 if / whether your brother is coming tonight · 5 what time the shop closes. The direct questions and openings on the slide are the book's. VARIATION: upgrade the language — fast finishers make each one even politer: 'Sorry to bother you, but could you tell me…?'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COMMUNICATION / INFORMATION GAP (7 min). TG: go through the instructions carefully; give students time to write their indirect questions (instruction a); Sts A are the tourists and start by saying Excuse me; monitor and help; swap roles; feedback. ⚠ The Communication pages are not in our files — check them before the lesson (the example on the slide is ours). VARIATION: change the interaction — stand up, A walks to B as if in the street. Monitor for word-order mistakes (✗ where is the…) and correct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3 (5 min). The video is embedded (1 min 54 s). 3a: look at the photo — What's happening? How do they look? Elicit opinions: happy or sad ending? (VARIATION: prediction). Play once. TG: it's a happy ending (assuming you think marriage is a happy ending!). 3b: students complete sentences 1–6 (the book's, slightly shortened on the slide) with no more than four words; play again. TG answers: 1 is serious · 2 go back to London · 3 life in New York · 4 Jenny's parents · 5 the chocolates · 6 marry him. Teach: propose (= ask someone to marry you), on one knee, Are you for real?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ENGLISH (4 min). 3c: in pairs, students try to remember the missing words (VARIATION: memory challenge). 3d: play audio 9.26 to check (no separate video clip for the Social English phrases in this episode – or replay the end of the Rob gets serious video); click 1 for answers (TG): 1 obvious · 2 course · 3 either · 4 guess · 5 What · 6 stop. Play again: listen and repeat. Translate: It's obvious… = È ovvio che… · Of course = Certo · either (negative: neanche) · I guess = suppongo · What if…? = E se…? · stop it = smettila. 3e: complete conversations A–F with Social English phrases 1–6 = the EXTRA slide 'Complete the conversations' (TG answers: A 2 · B 6 · C 3 · D 4 · E 5 · F 1); pairs practise them. Finish with the CAN YOU…? questions at the bottom of p.95.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(5 min). VARIATION: change the energy + upgrade the language (from rude to polite). With 5 minutes, do 5–6 of the 8 questions. Questions to read (with model answers): 1 Where's the toilet? → Could you tell me where the toilet is? · 2 What time does the film start? → Do you know what time the film starts? · 3 Is the museum open on Sundays? → Do you know if the museum is open on Sundays? · 4 How much does this cost? → Can you tell me how much this costs? · 5 Where did you buy your shoes? → Could you tell me where you bought your shoes? · 6 Has the bus left? → Do you know if the bus has left? · 7 Why is Paul still here? → Could you tell me why Paul is still here? · 8 Does Jenny want to marry Rob? → I wonder if Jenny wants to marry Rob. Any correct opening phrase is OK. If the board is small: teams write on A4 paper and run it to the teacher.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Homework: Workbook Practical English 5 1a, 1b, 1c (indirect questions) and 3 (Social English) + Can you remember…? 1–9 (revision of Files 1–9) + the PE5 homework sheet (easier version available). Students can watch the episode again on Online Practice. Answers are in the teacher key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(5 min) = SB 3e: complete conversations A–F with Social English phrases 1–6 (the book's conversations; click 1 for answers). TG: A 2 (Of course) · B 6 (stop it) · C 3 (either) · D 4 (I guess) · E 5 (What if) · F 1 (It's obvious). Pairs practise the conversations, then swap roles. VARIATION: change the energy – B reads the replies with exaggerated emotion (bored, annoyed, excited).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(7 min). VARIATION: local personalisation — the tourist is visiting Bagheria (villas, the beach at Aspra, the train to Palermo…). One line per click. ⚠ The facts in the model (opening days, prices) are invented placeholders — the 'assistant' can invent answers too. Pairs write a new 6-line conversation and perform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student-generated content + perspective change. Recycles the whole episode.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video" Target="../media/media-3-3.mp4"/><Relationship Id="rId4" Type="http://schemas.microsoft.com/office/2007/relationships/media" Target="../media/media-3-3.mp4"/><Relationship Id="rId5" Type="http://schemas.openxmlformats.org/officeDocument/2006/relationships/image" Target="../media/image-3-5.pn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video" Target="../media/media-4-3.mp4"/><Relationship Id="rId4" Type="http://schemas.microsoft.com/office/2007/relationships/media" Target="../media/media-4-3.mp4"/><Relationship Id="rId5" Type="http://schemas.openxmlformats.org/officeDocument/2006/relationships/image" Target="../media/image-4-5.pn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video" Target="../media/media-5-3.mp4"/><Relationship Id="rId4" Type="http://schemas.microsoft.com/office/2007/relationships/media" Target="../media/media-5-3.mp4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video" Target="../media/media-6-3.mp4"/><Relationship Id="rId4" Type="http://schemas.microsoft.com/office/2007/relationships/media" Target="../media/media-6-3.mp4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video" Target="../media/media-10-3.mp4"/><Relationship Id="rId4" Type="http://schemas.microsoft.com/office/2007/relationships/media" Target="../media/media-10-3.mp4"/><Relationship Id="rId5" Type="http://schemas.openxmlformats.org/officeDocument/2006/relationships/image" Target="../media/image-10-5.pn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8E6B4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062F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PE5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210312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FILE B1 · PE5 · Part 1 · SB pp.94–95</a:t>
            </a:r>
            <a:endParaRPr lang="en-US" sz="105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837176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UNEXPECTED EVENTS</a:t>
            </a:r>
            <a:endParaRPr lang="en-US" sz="250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PRACTICAL ENGLISH · Episode 5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· indirect questions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062F67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ENGLISH · It's obvious… · I guess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gi:GiDiamond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i:PiChats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A8E6B4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pi:PiMapP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is still in Rob's flat. Is that a problem?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why he's still there?!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9B part 2 · ough / augh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Sound intruder!</a:t>
            </a:r>
            <a:endParaRPr lang="en-US" sz="1500" dirty="0"/>
          </a:p>
        </p:txBody>
      </p:sp>
      <p:sp>
        <p:nvSpPr>
          <p:cNvPr id="9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1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words aloud. Which one has a DIFFERENT sound?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le parole ad alta voce. Quale ha un suono DIVERSO?</a:t>
            </a:r>
            <a:endParaRPr lang="en-US" sz="1200" dirty="0"/>
          </a:p>
        </p:txBody>
      </p:sp>
      <p:sp>
        <p:nvSpPr>
          <p:cNvPr id="12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8" descr="pi:PiSpeakerHig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29"/>
          <p:cNvSpPr txBox="1"/>
          <p:nvPr/>
        </p:nvSpPr>
        <p:spPr>
          <a:xfrm>
            <a:off x="2788920" y="1371600"/>
            <a:ext cx="3621024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bought · brought · daughter · laugh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6464808" y="1408176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laugh /ɑː/ – the others /ɔː/</a:t>
            </a:r>
            <a:endParaRPr lang="en-US" sz="1200" dirty="0"/>
          </a:p>
        </p:txBody>
      </p:sp>
      <p:sp>
        <p:nvSpPr>
          <p:cNvPr id="16" name="box_30"/>
          <p:cNvSpPr txBox="1"/>
          <p:nvPr/>
        </p:nvSpPr>
        <p:spPr>
          <a:xfrm>
            <a:off x="2788920" y="1941576"/>
            <a:ext cx="3621024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enough · tough · cough · up</a:t>
            </a:r>
            <a:endParaRPr lang="en-US" sz="1300" dirty="0"/>
          </a:p>
        </p:txBody>
      </p:sp>
      <p:sp>
        <p:nvSpPr>
          <p:cNvPr id="17" name="R2_a1"/>
          <p:cNvSpPr txBox="1"/>
          <p:nvPr/>
        </p:nvSpPr>
        <p:spPr>
          <a:xfrm>
            <a:off x="6464808" y="1978152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/ɒ/ – the others /ʌ/</a:t>
            </a:r>
            <a:endParaRPr lang="en-US" sz="120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511552"/>
            <a:ext cx="3621024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although · phone · know · thought</a:t>
            </a:r>
            <a:endParaRPr lang="en-US" sz="1300" dirty="0"/>
          </a:p>
        </p:txBody>
      </p:sp>
      <p:sp>
        <p:nvSpPr>
          <p:cNvPr id="19" name="R3_a2"/>
          <p:cNvSpPr txBox="1"/>
          <p:nvPr/>
        </p:nvSpPr>
        <p:spPr>
          <a:xfrm>
            <a:off x="6464808" y="2548128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/ɔː/ – the others /əʊ/</a:t>
            </a:r>
            <a:endParaRPr lang="en-US" sz="1200" dirty="0"/>
          </a:p>
        </p:txBody>
      </p:sp>
      <p:sp>
        <p:nvSpPr>
          <p:cNvPr id="20" name="box_32"/>
          <p:cNvSpPr txBox="1"/>
          <p:nvPr/>
        </p:nvSpPr>
        <p:spPr>
          <a:xfrm>
            <a:off x="2788920" y="3081528"/>
            <a:ext cx="3621024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through · boot · new · tough</a:t>
            </a:r>
            <a:endParaRPr lang="en-US" sz="1300" dirty="0"/>
          </a:p>
        </p:txBody>
      </p:sp>
      <p:sp>
        <p:nvSpPr>
          <p:cNvPr id="21" name="R4_a3"/>
          <p:cNvSpPr txBox="1"/>
          <p:nvPr/>
        </p:nvSpPr>
        <p:spPr>
          <a:xfrm>
            <a:off x="6464808" y="3118104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 /ʌ/ – the others /uː/</a:t>
            </a:r>
            <a:endParaRPr lang="en-US" sz="120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651504"/>
            <a:ext cx="3621024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caught · horse · enough · daughter</a:t>
            </a:r>
            <a:endParaRPr lang="en-US" sz="1300" dirty="0"/>
          </a:p>
        </p:txBody>
      </p:sp>
      <p:sp>
        <p:nvSpPr>
          <p:cNvPr id="23" name="R5_a4"/>
          <p:cNvSpPr txBox="1"/>
          <p:nvPr/>
        </p:nvSpPr>
        <p:spPr>
          <a:xfrm>
            <a:off x="6464808" y="3688080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/ʌ/ – the others /ɔː/</a:t>
            </a:r>
            <a:endParaRPr lang="en-US" sz="1200" dirty="0"/>
          </a:p>
        </p:txBody>
      </p:sp>
      <p:sp>
        <p:nvSpPr>
          <p:cNvPr id="24" name="box_34"/>
          <p:cNvSpPr txBox="1"/>
          <p:nvPr/>
        </p:nvSpPr>
        <p:spPr>
          <a:xfrm>
            <a:off x="2788920" y="4221480"/>
            <a:ext cx="3621024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laugh · car · half · cough</a:t>
            </a:r>
            <a:endParaRPr lang="en-US" sz="1300" dirty="0"/>
          </a:p>
        </p:txBody>
      </p:sp>
      <p:sp>
        <p:nvSpPr>
          <p:cNvPr id="25" name="R6_a5"/>
          <p:cNvSpPr txBox="1"/>
          <p:nvPr/>
        </p:nvSpPr>
        <p:spPr>
          <a:xfrm>
            <a:off x="6464808" y="4258056"/>
            <a:ext cx="2359152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 /ɒ/ – the others /ɑː/</a:t>
            </a:r>
            <a:endParaRPr lang="en-US" sz="1200" dirty="0"/>
          </a:p>
        </p:txBody>
      </p:sp>
      <p:sp>
        <p:nvSpPr>
          <p:cNvPr id="26" name="pageTag_3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revision of 9B pp.92–93 · audio 9.19, 9.20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3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· Jenny gets a surprise · 9.21</a:t>
            </a:r>
            <a:endParaRPr lang="en-US" sz="900" dirty="0"/>
          </a:p>
        </p:txBody>
      </p:sp>
      <p:sp>
        <p:nvSpPr>
          <p:cNvPr id="6" name="timer_3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4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41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Jenny gets a surprise</a:t>
            </a:r>
            <a:endParaRPr lang="en-US" sz="1500" dirty="0"/>
          </a:p>
        </p:txBody>
      </p:sp>
      <p:sp>
        <p:nvSpPr>
          <p:cNvPr id="9" name="post_4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4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1" name="signB_4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How do Jenny and Rob feel at the end?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Come si sentono Jenny e Rob alla fine?</a:t>
            </a:r>
            <a:endParaRPr lang="en-US" sz="125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3" name="vt_45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5 · Scene 1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English Episode 5 · video 9.21 (2'38")</a:t>
            </a:r>
            <a:endParaRPr lang="en-US" sz="1250" dirty="0"/>
          </a:p>
        </p:txBody>
      </p:sp>
      <p:sp>
        <p:nvSpPr>
          <p:cNvPr id="14" name="wyw_46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47"/>
          <p:cNvSpPr txBox="1"/>
          <p:nvPr/>
        </p:nvSpPr>
        <p:spPr>
          <a:xfrm>
            <a:off x="5852160" y="1810512"/>
            <a:ext cx="1783080" cy="4145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Jenny didn't expect Paul to be there.</a:t>
            </a:r>
            <a:endParaRPr lang="en-US" sz="800" dirty="0"/>
          </a:p>
        </p:txBody>
      </p:sp>
      <p:sp>
        <p:nvSpPr>
          <p:cNvPr id="16" name="R1_va0"/>
          <p:cNvSpPr txBox="1"/>
          <p:nvPr/>
        </p:nvSpPr>
        <p:spPr>
          <a:xfrm>
            <a:off x="7680960" y="183794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17" name="box_48"/>
          <p:cNvSpPr txBox="1"/>
          <p:nvPr/>
        </p:nvSpPr>
        <p:spPr>
          <a:xfrm>
            <a:off x="5852160" y="2298192"/>
            <a:ext cx="1783080" cy="4145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Paul says Rob plans to stay in New York.</a:t>
            </a:r>
            <a:endParaRPr lang="en-US" sz="800" dirty="0"/>
          </a:p>
        </p:txBody>
      </p:sp>
      <p:sp>
        <p:nvSpPr>
          <p:cNvPr id="18" name="R1_va1"/>
          <p:cNvSpPr txBox="1"/>
          <p:nvPr/>
        </p:nvSpPr>
        <p:spPr>
          <a:xfrm>
            <a:off x="7680960" y="232562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go back to London</a:t>
            </a:r>
            <a:endParaRPr lang="en-US" sz="950" dirty="0"/>
          </a:p>
        </p:txBody>
      </p:sp>
      <p:sp>
        <p:nvSpPr>
          <p:cNvPr id="19" name="box_49"/>
          <p:cNvSpPr txBox="1"/>
          <p:nvPr/>
        </p:nvSpPr>
        <p:spPr>
          <a:xfrm>
            <a:off x="5852160" y="2785872"/>
            <a:ext cx="1783080" cy="4145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Rob arrives with croissants.</a:t>
            </a:r>
            <a:endParaRPr lang="en-US" sz="900" dirty="0"/>
          </a:p>
        </p:txBody>
      </p:sp>
      <p:sp>
        <p:nvSpPr>
          <p:cNvPr id="20" name="R1_va2"/>
          <p:cNvSpPr txBox="1"/>
          <p:nvPr/>
        </p:nvSpPr>
        <p:spPr>
          <a:xfrm>
            <a:off x="7680960" y="281330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bagels</a:t>
            </a:r>
            <a:endParaRPr lang="en-US" sz="1050" dirty="0"/>
          </a:p>
        </p:txBody>
      </p:sp>
      <p:sp>
        <p:nvSpPr>
          <p:cNvPr id="21" name="box_50"/>
          <p:cNvSpPr txBox="1"/>
          <p:nvPr/>
        </p:nvSpPr>
        <p:spPr>
          <a:xfrm>
            <a:off x="5852160" y="3273552"/>
            <a:ext cx="1783080" cy="41452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Paul lies to Jenny about Rob's plans.</a:t>
            </a:r>
            <a:endParaRPr lang="en-US" sz="800" dirty="0"/>
          </a:p>
        </p:txBody>
      </p:sp>
      <p:sp>
        <p:nvSpPr>
          <p:cNvPr id="22" name="R1_va3"/>
          <p:cNvSpPr txBox="1"/>
          <p:nvPr/>
        </p:nvSpPr>
        <p:spPr>
          <a:xfrm>
            <a:off x="7680960" y="330098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3" name="box_51"/>
          <p:cNvSpPr txBox="1"/>
          <p:nvPr/>
        </p:nvSpPr>
        <p:spPr>
          <a:xfrm>
            <a:off x="5852160" y="3761232"/>
            <a:ext cx="1783080" cy="41452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Rob insists he's serious about Jenny.</a:t>
            </a:r>
            <a:endParaRPr lang="en-US" sz="800" dirty="0"/>
          </a:p>
        </p:txBody>
      </p:sp>
      <p:sp>
        <p:nvSpPr>
          <p:cNvPr id="24" name="R1_va4"/>
          <p:cNvSpPr txBox="1"/>
          <p:nvPr/>
        </p:nvSpPr>
        <p:spPr>
          <a:xfrm>
            <a:off x="7680960" y="378866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50" dirty="0"/>
          </a:p>
        </p:txBody>
      </p:sp>
      <p:sp>
        <p:nvSpPr>
          <p:cNvPr id="25" name="box_52"/>
          <p:cNvSpPr txBox="1"/>
          <p:nvPr/>
        </p:nvSpPr>
        <p:spPr>
          <a:xfrm>
            <a:off x="5852160" y="4248912"/>
            <a:ext cx="1783080" cy="41452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Rob will drive Paul to Boston.</a:t>
            </a:r>
            <a:endParaRPr lang="en-US" sz="850" dirty="0"/>
          </a:p>
        </p:txBody>
      </p:sp>
      <p:sp>
        <p:nvSpPr>
          <p:cNvPr id="26" name="R1_va5"/>
          <p:cNvSpPr txBox="1"/>
          <p:nvPr/>
        </p:nvSpPr>
        <p:spPr>
          <a:xfrm>
            <a:off x="7680960" y="427634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– buy his ticket</a:t>
            </a:r>
            <a:endParaRPr lang="en-US" sz="1050" dirty="0"/>
          </a:p>
        </p:txBody>
      </p:sp>
      <p:sp>
        <p:nvSpPr>
          <p:cNvPr id="27" name="pageTag_5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p.94 · 1a, 1b · video / audio 9.21</a:t>
            </a:r>
            <a:endParaRPr lang="en-US" sz="1050" dirty="0"/>
          </a:p>
        </p:txBody>
      </p:sp>
      <p:sp>
        <p:nvSpPr>
          <p:cNvPr id="28" name="pframe_54"/>
          <p:cNvSpPr/>
          <p:nvPr/>
        </p:nvSpPr>
        <p:spPr>
          <a:xfrm rot="-120000">
            <a:off x="411480" y="3108960"/>
            <a:ext cx="20116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9" name="pimg_55" descr="Jenny gets a surpri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120000">
            <a:off x="484632" y="3182112"/>
            <a:ext cx="1865376" cy="1133856"/>
          </a:xfrm>
          <a:prstGeom prst="rect">
            <a:avLst/>
          </a:prstGeom>
        </p:spPr>
      </p:pic>
      <p:sp>
        <p:nvSpPr>
          <p:cNvPr id="30" name="pcap_56"/>
          <p:cNvSpPr txBox="1"/>
          <p:nvPr/>
        </p:nvSpPr>
        <p:spPr>
          <a:xfrm rot="-120000">
            <a:off x="411480" y="4325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gets a surprise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5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· Indirect questions · 9.22</a:t>
            </a:r>
            <a:endParaRPr lang="en-US" sz="900" dirty="0"/>
          </a:p>
        </p:txBody>
      </p:sp>
      <p:sp>
        <p:nvSpPr>
          <p:cNvPr id="6" name="timer_6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62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 they sort it out?</a:t>
            </a:r>
            <a:endParaRPr lang="en-US" sz="1500" dirty="0"/>
          </a:p>
        </p:txBody>
      </p:sp>
      <p:sp>
        <p:nvSpPr>
          <p:cNvPr id="9" name="post_6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6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1" name="signB_6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Do Rob and Jenny resolve their problems?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Rob e Jenny risolvono i loro problemi?</a:t>
            </a:r>
            <a:endParaRPr lang="en-US" sz="125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3" name="vt_66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5 · Scene 2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English Episode 5 · video 9.22 (2'14")</a:t>
            </a:r>
            <a:endParaRPr lang="en-US" sz="1250" dirty="0"/>
          </a:p>
        </p:txBody>
      </p:sp>
      <p:sp>
        <p:nvSpPr>
          <p:cNvPr id="14" name="wyw_67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68"/>
          <p:cNvSpPr txBox="1"/>
          <p:nvPr/>
        </p:nvSpPr>
        <p:spPr>
          <a:xfrm>
            <a:off x="5852160" y="1810512"/>
            <a:ext cx="1783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Rob's reason for Paul being there?</a:t>
            </a:r>
            <a:endParaRPr lang="en-US" sz="1100" dirty="0"/>
          </a:p>
        </p:txBody>
      </p:sp>
      <p:sp>
        <p:nvSpPr>
          <p:cNvPr id="16" name="R1_va0"/>
          <p:cNvSpPr txBox="1"/>
          <p:nvPr/>
        </p:nvSpPr>
        <p:spPr>
          <a:xfrm>
            <a:off x="7680960" y="183794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 to Boston were full</a:t>
            </a:r>
            <a:endParaRPr lang="en-US" sz="1050" dirty="0"/>
          </a:p>
        </p:txBody>
      </p:sp>
      <p:sp>
        <p:nvSpPr>
          <p:cNvPr id="17" name="box_69"/>
          <p:cNvSpPr txBox="1"/>
          <p:nvPr/>
        </p:nvSpPr>
        <p:spPr>
          <a:xfrm>
            <a:off x="5852160" y="2395728"/>
            <a:ext cx="1783080" cy="51206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does Rob know Paul is leaving?</a:t>
            </a:r>
            <a:endParaRPr lang="en-US" sz="1100" dirty="0"/>
          </a:p>
        </p:txBody>
      </p:sp>
      <p:sp>
        <p:nvSpPr>
          <p:cNvPr id="18" name="R1_va1"/>
          <p:cNvSpPr txBox="1"/>
          <p:nvPr/>
        </p:nvSpPr>
        <p:spPr>
          <a:xfrm>
            <a:off x="7680960" y="24231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bought his ticket</a:t>
            </a:r>
            <a:endParaRPr lang="en-US" sz="1050" dirty="0"/>
          </a:p>
        </p:txBody>
      </p:sp>
      <p:sp>
        <p:nvSpPr>
          <p:cNvPr id="19" name="box_70"/>
          <p:cNvSpPr txBox="1"/>
          <p:nvPr/>
        </p:nvSpPr>
        <p:spPr>
          <a:xfrm>
            <a:off x="5852160" y="2980944"/>
            <a:ext cx="1783080" cy="51206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Why doesn't Jenny believe he'll stay?</a:t>
            </a:r>
            <a:endParaRPr lang="en-US" sz="1100" dirty="0"/>
          </a:p>
        </p:txBody>
      </p:sp>
      <p:sp>
        <p:nvSpPr>
          <p:cNvPr id="20" name="R1_va2"/>
          <p:cNvSpPr txBox="1"/>
          <p:nvPr/>
        </p:nvSpPr>
        <p:spPr>
          <a:xfrm>
            <a:off x="7680960" y="3008376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told Kerri he misses London</a:t>
            </a:r>
            <a:endParaRPr lang="en-US" sz="1050" dirty="0"/>
          </a:p>
        </p:txBody>
      </p:sp>
      <p:sp>
        <p:nvSpPr>
          <p:cNvPr id="21" name="box_71"/>
          <p:cNvSpPr txBox="1"/>
          <p:nvPr/>
        </p:nvSpPr>
        <p:spPr>
          <a:xfrm>
            <a:off x="5852160" y="3566160"/>
            <a:ext cx="1783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How was Rob with Paul, says Jenny?</a:t>
            </a:r>
            <a:endParaRPr lang="en-US" sz="1100" dirty="0"/>
          </a:p>
        </p:txBody>
      </p:sp>
      <p:sp>
        <p:nvSpPr>
          <p:cNvPr id="22" name="R1_va3"/>
          <p:cNvSpPr txBox="1"/>
          <p:nvPr/>
        </p:nvSpPr>
        <p:spPr>
          <a:xfrm>
            <a:off x="7680960" y="35935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different person</a:t>
            </a:r>
            <a:endParaRPr lang="en-US" sz="1050" dirty="0"/>
          </a:p>
        </p:txBody>
      </p:sp>
      <p:sp>
        <p:nvSpPr>
          <p:cNvPr id="23" name="box_72"/>
          <p:cNvSpPr txBox="1"/>
          <p:nvPr/>
        </p:nvSpPr>
        <p:spPr>
          <a:xfrm>
            <a:off x="5852160" y="4151376"/>
            <a:ext cx="1783080" cy="51206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Jenny's view of their relationship?</a:t>
            </a:r>
            <a:endParaRPr lang="en-US" sz="1100" dirty="0"/>
          </a:p>
        </p:txBody>
      </p:sp>
      <p:sp>
        <p:nvSpPr>
          <p:cNvPr id="24" name="R1_va4"/>
          <p:cNvSpPr txBox="1"/>
          <p:nvPr/>
        </p:nvSpPr>
        <p:spPr>
          <a:xfrm>
            <a:off x="7680960" y="4178808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if it'll work out</a:t>
            </a:r>
            <a:endParaRPr lang="en-US" sz="1050" dirty="0"/>
          </a:p>
        </p:txBody>
      </p:sp>
      <p:sp>
        <p:nvSpPr>
          <p:cNvPr id="25" name="bubble_73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you believe: Rob or Paul? Why?</a:t>
            </a:r>
            <a:endParaRPr lang="en-US" sz="1200" dirty="0"/>
          </a:p>
        </p:txBody>
      </p:sp>
      <p:sp>
        <p:nvSpPr>
          <p:cNvPr id="26" name="pageTag_7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p.94 · 2a, 2b · video / audio 9.22</a:t>
            </a:r>
            <a:endParaRPr lang="en-US" sz="1050" dirty="0"/>
          </a:p>
        </p:txBody>
      </p:sp>
      <p:sp>
        <p:nvSpPr>
          <p:cNvPr id="27" name="pframe_75"/>
          <p:cNvSpPr/>
          <p:nvPr/>
        </p:nvSpPr>
        <p:spPr>
          <a:xfrm rot="-120000">
            <a:off x="411480" y="3108960"/>
            <a:ext cx="201168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8" name="pimg_76" descr="pictur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120000">
            <a:off x="484632" y="3182112"/>
            <a:ext cx="1865376" cy="122529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7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7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7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INDIRECT QUESTIONS · video 9.23</a:t>
            </a:r>
            <a:endParaRPr lang="en-US" sz="900" dirty="0"/>
          </a:p>
        </p:txBody>
      </p:sp>
      <p:sp>
        <p:nvSpPr>
          <p:cNvPr id="6" name="timer_8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</a:t>
            </a:r>
            <a:endParaRPr lang="en-US" sz="1200" dirty="0"/>
          </a:p>
        </p:txBody>
      </p:sp>
      <p:sp>
        <p:nvSpPr>
          <p:cNvPr id="7" name="footer_8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82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the extracts</a:t>
            </a:r>
            <a:endParaRPr lang="en-US" sz="1500" dirty="0"/>
          </a:p>
        </p:txBody>
      </p:sp>
      <p:sp>
        <p:nvSpPr>
          <p:cNvPr id="9" name="post_8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8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ASCOLTA!</a:t>
            </a:r>
            <a:endParaRPr lang="en-US" sz="1500" dirty="0"/>
          </a:p>
        </p:txBody>
      </p:sp>
      <p:sp>
        <p:nvSpPr>
          <p:cNvPr id="11" name="signB_8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missing word. Then watch and check.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Indovina la parola mancante. Poi guarda e controlla.</a:t>
            </a:r>
            <a:endParaRPr lang="en-US" sz="125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3" name="vt_86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questions · listen and check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English Episode 5 · video 9.23 (1'02")</a:t>
            </a:r>
            <a:endParaRPr lang="en-US" sz="1200" dirty="0"/>
          </a:p>
        </p:txBody>
      </p:sp>
      <p:sp>
        <p:nvSpPr>
          <p:cNvPr id="14" name="wyw_87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88"/>
          <p:cNvSpPr txBox="1"/>
          <p:nvPr/>
        </p:nvSpPr>
        <p:spPr>
          <a:xfrm>
            <a:off x="5852160" y="1810512"/>
            <a:ext cx="178308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Could you ___ me why Paul is still in your apartment?</a:t>
            </a:r>
            <a:endParaRPr lang="en-US" sz="900" dirty="0"/>
          </a:p>
        </p:txBody>
      </p:sp>
      <p:sp>
        <p:nvSpPr>
          <p:cNvPr id="16" name="R1_va0"/>
          <p:cNvSpPr txBox="1"/>
          <p:nvPr/>
        </p:nvSpPr>
        <p:spPr>
          <a:xfrm>
            <a:off x="7680960" y="1837944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1050" dirty="0"/>
          </a:p>
        </p:txBody>
      </p:sp>
      <p:sp>
        <p:nvSpPr>
          <p:cNvPr id="17" name="box_89"/>
          <p:cNvSpPr txBox="1"/>
          <p:nvPr/>
        </p:nvSpPr>
        <p:spPr>
          <a:xfrm>
            <a:off x="5852160" y="2395728"/>
            <a:ext cx="1783080" cy="51206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 you ___ if he's got one now?</a:t>
            </a:r>
            <a:endParaRPr lang="en-US" sz="1100" dirty="0"/>
          </a:p>
        </p:txBody>
      </p:sp>
      <p:sp>
        <p:nvSpPr>
          <p:cNvPr id="18" name="R1_va1"/>
          <p:cNvSpPr txBox="1"/>
          <p:nvPr/>
        </p:nvSpPr>
        <p:spPr>
          <a:xfrm>
            <a:off x="7680960" y="242316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</a:t>
            </a:r>
            <a:endParaRPr lang="en-US" sz="1050" dirty="0"/>
          </a:p>
        </p:txBody>
      </p:sp>
      <p:sp>
        <p:nvSpPr>
          <p:cNvPr id="19" name="box_90"/>
          <p:cNvSpPr txBox="1"/>
          <p:nvPr/>
        </p:nvSpPr>
        <p:spPr>
          <a:xfrm>
            <a:off x="5852160" y="2980944"/>
            <a:ext cx="1783080" cy="51206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Look, Rob, I'd ___ to know what you really want.</a:t>
            </a:r>
            <a:endParaRPr lang="en-US" sz="1000" dirty="0"/>
          </a:p>
        </p:txBody>
      </p:sp>
      <p:sp>
        <p:nvSpPr>
          <p:cNvPr id="20" name="R1_va2"/>
          <p:cNvSpPr txBox="1"/>
          <p:nvPr/>
        </p:nvSpPr>
        <p:spPr>
          <a:xfrm>
            <a:off x="7680960" y="3008376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1050" dirty="0"/>
          </a:p>
        </p:txBody>
      </p:sp>
      <p:sp>
        <p:nvSpPr>
          <p:cNvPr id="21" name="box_91"/>
          <p:cNvSpPr txBox="1"/>
          <p:nvPr/>
        </p:nvSpPr>
        <p:spPr>
          <a:xfrm>
            <a:off x="5852160" y="3566160"/>
            <a:ext cx="178308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___ if you really want to be here.</a:t>
            </a:r>
            <a:endParaRPr lang="en-US" sz="1100" dirty="0"/>
          </a:p>
        </p:txBody>
      </p:sp>
      <p:sp>
        <p:nvSpPr>
          <p:cNvPr id="22" name="R1_va3"/>
          <p:cNvSpPr txBox="1"/>
          <p:nvPr/>
        </p:nvSpPr>
        <p:spPr>
          <a:xfrm>
            <a:off x="7680960" y="3593592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</a:t>
            </a:r>
            <a:endParaRPr lang="en-US" sz="1050" dirty="0"/>
          </a:p>
        </p:txBody>
      </p:sp>
      <p:sp>
        <p:nvSpPr>
          <p:cNvPr id="23" name="box_92"/>
          <p:cNvSpPr txBox="1"/>
          <p:nvPr/>
        </p:nvSpPr>
        <p:spPr>
          <a:xfrm>
            <a:off x="5852160" y="4151376"/>
            <a:ext cx="1783080" cy="51206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___ you tell me what you decided at the last meeting?</a:t>
            </a:r>
            <a:endParaRPr lang="en-US" sz="950" dirty="0"/>
          </a:p>
        </p:txBody>
      </p:sp>
      <p:sp>
        <p:nvSpPr>
          <p:cNvPr id="24" name="R1_va4"/>
          <p:cNvSpPr txBox="1"/>
          <p:nvPr/>
        </p:nvSpPr>
        <p:spPr>
          <a:xfrm>
            <a:off x="7680960" y="4178808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050" dirty="0"/>
          </a:p>
        </p:txBody>
      </p:sp>
      <p:sp>
        <p:nvSpPr>
          <p:cNvPr id="25" name="pageTag_93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p.94 · 2c · video / audio 9.23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9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9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9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INDIRECT QUESTIONS · video 9.24</a:t>
            </a:r>
            <a:endParaRPr lang="en-US" sz="900" dirty="0"/>
          </a:p>
        </p:txBody>
      </p:sp>
      <p:sp>
        <p:nvSpPr>
          <p:cNvPr id="6" name="timer_9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</a:t>
            </a:r>
            <a:endParaRPr lang="en-US" sz="1200" dirty="0"/>
          </a:p>
        </p:txBody>
      </p:sp>
      <p:sp>
        <p:nvSpPr>
          <p:cNvPr id="7" name="footer_9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99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9" name="post_10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0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0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and repeat. Copy the rhythm and the polite intonation!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 ripeti. Copia il ritmo e l'intonazione cortese!</a:t>
            </a:r>
            <a:endParaRPr lang="en-US" sz="120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3" name="vt_103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questions · listen and repeat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English Episode 5 · video 9.24 (0'57")</a:t>
            </a:r>
            <a:endParaRPr lang="en-US" sz="1200" dirty="0"/>
          </a:p>
        </p:txBody>
      </p:sp>
      <p:sp>
        <p:nvSpPr>
          <p:cNvPr id="14" name="wyw_104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105"/>
          <p:cNvSpPr txBox="1"/>
          <p:nvPr/>
        </p:nvSpPr>
        <p:spPr>
          <a:xfrm>
            <a:off x="5852160" y="1810512"/>
            <a:ext cx="2971800" cy="51206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Could you tell me why Paul is still in your apartment?</a:t>
            </a:r>
            <a:endParaRPr lang="en-US" sz="1100" dirty="0"/>
          </a:p>
        </p:txBody>
      </p:sp>
      <p:sp>
        <p:nvSpPr>
          <p:cNvPr id="16" name="box_106"/>
          <p:cNvSpPr txBox="1"/>
          <p:nvPr/>
        </p:nvSpPr>
        <p:spPr>
          <a:xfrm>
            <a:off x="5852160" y="2395728"/>
            <a:ext cx="2971800" cy="51206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Do you know if he's got one now?</a:t>
            </a:r>
            <a:endParaRPr lang="en-US" sz="1250" dirty="0"/>
          </a:p>
        </p:txBody>
      </p:sp>
      <p:sp>
        <p:nvSpPr>
          <p:cNvPr id="17" name="box_107"/>
          <p:cNvSpPr txBox="1"/>
          <p:nvPr/>
        </p:nvSpPr>
        <p:spPr>
          <a:xfrm>
            <a:off x="5852160" y="2980944"/>
            <a:ext cx="2971800" cy="51206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I'd like to know what you really want.</a:t>
            </a:r>
            <a:endParaRPr lang="en-US" sz="1200" dirty="0"/>
          </a:p>
        </p:txBody>
      </p:sp>
      <p:sp>
        <p:nvSpPr>
          <p:cNvPr id="18" name="box_108"/>
          <p:cNvSpPr txBox="1"/>
          <p:nvPr/>
        </p:nvSpPr>
        <p:spPr>
          <a:xfrm>
            <a:off x="5852160" y="3566160"/>
            <a:ext cx="2971800" cy="51206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 wonder if you really want to be here.</a:t>
            </a:r>
            <a:endParaRPr lang="en-US" sz="1200" dirty="0"/>
          </a:p>
        </p:txBody>
      </p:sp>
      <p:sp>
        <p:nvSpPr>
          <p:cNvPr id="19" name="box_109"/>
          <p:cNvSpPr txBox="1"/>
          <p:nvPr/>
        </p:nvSpPr>
        <p:spPr>
          <a:xfrm>
            <a:off x="5852160" y="4151376"/>
            <a:ext cx="2971800" cy="51206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Can you tell me what you decided at the last meeting?</a:t>
            </a:r>
            <a:endParaRPr lang="en-US" sz="1100" dirty="0"/>
          </a:p>
        </p:txBody>
      </p:sp>
      <p:sp>
        <p:nvSpPr>
          <p:cNvPr id="20" name="bubble_110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practise the conversations in 2c with a partner!</a:t>
            </a:r>
            <a:endParaRPr lang="en-US" sz="1200" dirty="0"/>
          </a:p>
        </p:txBody>
      </p:sp>
      <p:sp>
        <p:nvSpPr>
          <p:cNvPr id="21" name="pageTag_111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p.94 · 2d, 2e · video / audio 9.24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1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1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· Indirect questions box</a:t>
            </a:r>
            <a:endParaRPr lang="en-US" sz="900" dirty="0"/>
          </a:p>
        </p:txBody>
      </p:sp>
      <p:sp>
        <p:nvSpPr>
          <p:cNvPr id="6" name="timer_11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1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117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Polite questions</a:t>
            </a:r>
            <a:endParaRPr lang="en-US" sz="1500" dirty="0"/>
          </a:p>
        </p:txBody>
      </p:sp>
      <p:sp>
        <p:nvSpPr>
          <p:cNvPr id="9" name="rh_118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</a:t>
            </a:r>
            <a:endParaRPr lang="en-US" sz="1300" dirty="0"/>
          </a:p>
        </p:txBody>
      </p:sp>
      <p:sp>
        <p:nvSpPr>
          <p:cNvPr id="10" name="rb_119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station?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he say?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 like me?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question word order</a:t>
            </a:r>
            <a:endParaRPr lang="en-US" sz="1300" dirty="0"/>
          </a:p>
        </p:txBody>
      </p:sp>
      <p:sp>
        <p:nvSpPr>
          <p:cNvPr id="11" name="rh_120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Indirect</a:t>
            </a:r>
            <a:endParaRPr lang="en-US" sz="1300" dirty="0"/>
          </a:p>
        </p:txBody>
      </p:sp>
      <p:sp>
        <p:nvSpPr>
          <p:cNvPr id="12" name="rb_121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 where the station is?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what he said?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wonder if she likes me.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gentile, più formale</a:t>
            </a:r>
            <a:endParaRPr lang="en-US" sz="1300" dirty="0"/>
          </a:p>
        </p:txBody>
      </p:sp>
      <p:sp>
        <p:nvSpPr>
          <p:cNvPr id="13" name="rh_122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How?</a:t>
            </a:r>
            <a:endParaRPr lang="en-US" sz="1300" dirty="0"/>
          </a:p>
        </p:txBody>
      </p:sp>
      <p:sp>
        <p:nvSpPr>
          <p:cNvPr id="14" name="rb_123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me… / Can you tell me… / Do you know… / I'd like to know… / I wonder…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subject + verb (no do / does / did)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question → if / whether</a:t>
            </a:r>
            <a:endParaRPr lang="en-US" sz="1300" dirty="0"/>
          </a:p>
        </p:txBody>
      </p:sp>
      <p:sp>
        <p:nvSpPr>
          <p:cNvPr id="15" name="watch_124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Could you tell me where is the station? → ✓ where the station is   ✗ Do you know what time does it close? → ✓ what time it closes</a:t>
            </a:r>
            <a:endParaRPr lang="en-US" sz="1000" dirty="0"/>
          </a:p>
        </p:txBody>
      </p:sp>
      <p:sp>
        <p:nvSpPr>
          <p:cNvPr id="16" name="pageTag_12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p.94 · 2f · Indirect questions box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2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2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 · Practice · 2f</a:t>
            </a:r>
            <a:endParaRPr lang="en-US" sz="900" dirty="0"/>
          </a:p>
        </p:txBody>
      </p:sp>
      <p:sp>
        <p:nvSpPr>
          <p:cNvPr id="6" name="timer_12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3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131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it polite</a:t>
            </a:r>
            <a:endParaRPr lang="en-US" sz="1500" dirty="0"/>
          </a:p>
        </p:txBody>
      </p:sp>
      <p:sp>
        <p:nvSpPr>
          <p:cNvPr id="9" name="post_13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3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13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indirect questions. Careful with the word order!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le domande indirette. Attenzione all'ordine delle parole!</a:t>
            </a:r>
            <a:endParaRPr lang="en-US" sz="1200" dirty="0"/>
          </a:p>
        </p:txBody>
      </p:sp>
      <p:sp>
        <p:nvSpPr>
          <p:cNvPr id="12" name="iconBack_135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36" descr="pi:PiPencilSimp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box_137"/>
          <p:cNvSpPr txBox="1"/>
          <p:nvPr/>
        </p:nvSpPr>
        <p:spPr>
          <a:xfrm>
            <a:off x="2788920" y="1371600"/>
            <a:ext cx="2896819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Where's the station? → Excuse me, can you tell me…</a:t>
            </a:r>
            <a:endParaRPr lang="en-US" sz="1300" dirty="0"/>
          </a:p>
        </p:txBody>
      </p:sp>
      <p:sp>
        <p:nvSpPr>
          <p:cNvPr id="15" name="R1_a0"/>
          <p:cNvSpPr txBox="1"/>
          <p:nvPr/>
        </p:nvSpPr>
        <p:spPr>
          <a:xfrm>
            <a:off x="5740603" y="1408176"/>
            <a:ext cx="308335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…where the station is?</a:t>
            </a:r>
            <a:endParaRPr lang="en-US" sz="1250" dirty="0"/>
          </a:p>
        </p:txBody>
      </p:sp>
      <p:sp>
        <p:nvSpPr>
          <p:cNvPr id="16" name="box_138"/>
          <p:cNvSpPr txBox="1"/>
          <p:nvPr/>
        </p:nvSpPr>
        <p:spPr>
          <a:xfrm>
            <a:off x="2788920" y="2055571"/>
            <a:ext cx="2896819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What did he say? → I'd like to know…</a:t>
            </a:r>
            <a:endParaRPr lang="en-US" sz="1300" dirty="0"/>
          </a:p>
        </p:txBody>
      </p:sp>
      <p:sp>
        <p:nvSpPr>
          <p:cNvPr id="17" name="R1_a1"/>
          <p:cNvSpPr txBox="1"/>
          <p:nvPr/>
        </p:nvSpPr>
        <p:spPr>
          <a:xfrm>
            <a:off x="5740603" y="2092147"/>
            <a:ext cx="308335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…what he said.</a:t>
            </a:r>
            <a:endParaRPr lang="en-US" sz="1250" dirty="0"/>
          </a:p>
        </p:txBody>
      </p:sp>
      <p:sp>
        <p:nvSpPr>
          <p:cNvPr id="18" name="box_139"/>
          <p:cNvSpPr txBox="1"/>
          <p:nvPr/>
        </p:nvSpPr>
        <p:spPr>
          <a:xfrm>
            <a:off x="2788920" y="2739542"/>
            <a:ext cx="2896819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Does she like me? → I wonder…</a:t>
            </a:r>
            <a:endParaRPr lang="en-US" sz="1300" dirty="0"/>
          </a:p>
        </p:txBody>
      </p:sp>
      <p:sp>
        <p:nvSpPr>
          <p:cNvPr id="19" name="R1_a2"/>
          <p:cNvSpPr txBox="1"/>
          <p:nvPr/>
        </p:nvSpPr>
        <p:spPr>
          <a:xfrm>
            <a:off x="5740603" y="2776118"/>
            <a:ext cx="308335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…if / whether she likes me.</a:t>
            </a:r>
            <a:endParaRPr lang="en-US" sz="1250" dirty="0"/>
          </a:p>
        </p:txBody>
      </p:sp>
      <p:sp>
        <p:nvSpPr>
          <p:cNvPr id="20" name="box_140"/>
          <p:cNvSpPr txBox="1"/>
          <p:nvPr/>
        </p:nvSpPr>
        <p:spPr>
          <a:xfrm>
            <a:off x="2788920" y="3423514"/>
            <a:ext cx="2896819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Is your brother coming tonight? → Do you know…</a:t>
            </a:r>
            <a:endParaRPr lang="en-US" sz="1300" dirty="0"/>
          </a:p>
        </p:txBody>
      </p:sp>
      <p:sp>
        <p:nvSpPr>
          <p:cNvPr id="21" name="R1_a3"/>
          <p:cNvSpPr txBox="1"/>
          <p:nvPr/>
        </p:nvSpPr>
        <p:spPr>
          <a:xfrm>
            <a:off x="5740603" y="3460090"/>
            <a:ext cx="308335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…if / whether your brother is coming tonight?</a:t>
            </a:r>
            <a:endParaRPr lang="en-US" sz="1250" dirty="0"/>
          </a:p>
        </p:txBody>
      </p:sp>
      <p:sp>
        <p:nvSpPr>
          <p:cNvPr id="22" name="box_141"/>
          <p:cNvSpPr txBox="1"/>
          <p:nvPr/>
        </p:nvSpPr>
        <p:spPr>
          <a:xfrm>
            <a:off x="2788920" y="4107485"/>
            <a:ext cx="2896819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time does the shop close? → Could you tell me…</a:t>
            </a:r>
            <a:endParaRPr lang="en-US" sz="1300" dirty="0"/>
          </a:p>
        </p:txBody>
      </p:sp>
      <p:sp>
        <p:nvSpPr>
          <p:cNvPr id="23" name="R1_a4"/>
          <p:cNvSpPr txBox="1"/>
          <p:nvPr/>
        </p:nvSpPr>
        <p:spPr>
          <a:xfrm>
            <a:off x="5740603" y="4144061"/>
            <a:ext cx="3083357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…what time the shop closes?</a:t>
            </a:r>
            <a:endParaRPr lang="en-US" sz="1250" dirty="0"/>
          </a:p>
        </p:txBody>
      </p:sp>
      <p:sp>
        <p:nvSpPr>
          <p:cNvPr id="24" name="pageTag_14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p.94 · 2f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4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4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Communication p.110 / p.114</a:t>
            </a:r>
            <a:endParaRPr lang="en-US" sz="900" dirty="0"/>
          </a:p>
        </p:txBody>
      </p:sp>
      <p:sp>
        <p:nvSpPr>
          <p:cNvPr id="6" name="timer_14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footer_14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148"/>
          <p:cNvSpPr txBox="1"/>
          <p:nvPr/>
        </p:nvSpPr>
        <p:spPr>
          <a:xfrm rot="-120000">
            <a:off x="320040" y="676656"/>
            <a:ext cx="310896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Asking politely</a:t>
            </a:r>
            <a:endParaRPr lang="en-US" sz="1500" dirty="0"/>
          </a:p>
        </p:txBody>
      </p:sp>
      <p:sp>
        <p:nvSpPr>
          <p:cNvPr id="9" name="post_14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5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15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p.110, B = p.114. Write the questions, then role-play!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p.110, B = p.114. Scrivi le domande, poi fate il role-play!</a:t>
            </a:r>
            <a:endParaRPr lang="en-US" sz="1200" dirty="0"/>
          </a:p>
        </p:txBody>
      </p:sp>
      <p:sp>
        <p:nvSpPr>
          <p:cNvPr id="12" name="iconBack_15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53" descr="pi:PiMapP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54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55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A: go to p.110. Student B: go to p.114. Don't show your page!</a:t>
            </a:r>
            <a:endParaRPr lang="en-US" sz="1250" dirty="0"/>
          </a:p>
        </p:txBody>
      </p:sp>
      <p:sp>
        <p:nvSpPr>
          <p:cNvPr id="16" name="num_156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57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instruction a and write your indirect questions (2 minutes).</a:t>
            </a:r>
            <a:endParaRPr lang="en-US" sz="1250" dirty="0"/>
          </a:p>
        </p:txBody>
      </p:sp>
      <p:sp>
        <p:nvSpPr>
          <p:cNvPr id="18" name="num_158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159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a tourist. Start with: Excuse me… Ask B your polite questions.</a:t>
            </a:r>
            <a:endParaRPr lang="en-US" sz="1250" dirty="0"/>
          </a:p>
        </p:txBody>
      </p:sp>
      <p:sp>
        <p:nvSpPr>
          <p:cNvPr id="20" name="num_160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161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answers using the information on p.114.</a:t>
            </a:r>
            <a:endParaRPr lang="en-US" sz="1250" dirty="0"/>
          </a:p>
        </p:txBody>
      </p:sp>
      <p:sp>
        <p:nvSpPr>
          <p:cNvPr id="22" name="num_162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163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roles. Which questions were the most polite?</a:t>
            </a:r>
            <a:endParaRPr lang="en-US" sz="1250" dirty="0"/>
          </a:p>
        </p:txBody>
      </p:sp>
      <p:sp>
        <p:nvSpPr>
          <p:cNvPr id="24" name="bubble_164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 me, could you tell me where the nearest chemist's is?</a:t>
            </a:r>
            <a:endParaRPr lang="en-US" sz="1300" dirty="0"/>
          </a:p>
        </p:txBody>
      </p:sp>
      <p:sp>
        <p:nvSpPr>
          <p:cNvPr id="25" name="pageTag_16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Communication 'Asking politely for information' A p.110, B p.114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6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VIDEO · Rob gets serious · 9.25</a:t>
            </a:r>
            <a:endParaRPr lang="en-US" sz="900" dirty="0"/>
          </a:p>
        </p:txBody>
      </p:sp>
      <p:sp>
        <p:nvSpPr>
          <p:cNvPr id="6" name="timer_16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17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171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 gets serious</a:t>
            </a:r>
            <a:endParaRPr lang="en-US" sz="1500" dirty="0"/>
          </a:p>
        </p:txBody>
      </p:sp>
      <p:sp>
        <p:nvSpPr>
          <p:cNvPr id="9" name="post_172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73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1" name="signB_174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first: happy or sad ending? Watch and check.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 indovina: finale felice o triste? Guarda e controlla.</a:t>
            </a:r>
            <a:endParaRPr lang="en-US" sz="1250" dirty="0"/>
          </a:p>
        </p:txBody>
      </p:sp>
      <p:pic>
        <p:nvPicPr>
          <p:cNvPr id="12" name="Media 0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788920" y="1371600"/>
            <a:ext cx="2926080" cy="1645920"/>
          </a:xfrm>
          <a:prstGeom prst="rect">
            <a:avLst/>
          </a:prstGeom>
        </p:spPr>
      </p:pic>
      <p:sp>
        <p:nvSpPr>
          <p:cNvPr id="13" name="vt_175"/>
          <p:cNvSpPr txBox="1"/>
          <p:nvPr/>
        </p:nvSpPr>
        <p:spPr>
          <a:xfrm>
            <a:off x="2788920" y="3090672"/>
            <a:ext cx="29260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5 · Scene 3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English Episode 5 · video 9.25 (1'54")</a:t>
            </a:r>
            <a:endParaRPr lang="en-US" sz="1250" dirty="0"/>
          </a:p>
        </p:txBody>
      </p:sp>
      <p:sp>
        <p:nvSpPr>
          <p:cNvPr id="14" name="wyw_176"/>
          <p:cNvSpPr txBox="1"/>
          <p:nvPr/>
        </p:nvSpPr>
        <p:spPr>
          <a:xfrm>
            <a:off x="5852160" y="1371600"/>
            <a:ext cx="297180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177"/>
          <p:cNvSpPr txBox="1"/>
          <p:nvPr/>
        </p:nvSpPr>
        <p:spPr>
          <a:xfrm>
            <a:off x="5852160" y="1810512"/>
            <a:ext cx="1783080" cy="41452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Rob wants to convince Jenny he ___.</a:t>
            </a:r>
            <a:endParaRPr lang="en-US" sz="800" dirty="0"/>
          </a:p>
        </p:txBody>
      </p:sp>
      <p:sp>
        <p:nvSpPr>
          <p:cNvPr id="16" name="R1_va0"/>
          <p:cNvSpPr txBox="1"/>
          <p:nvPr/>
        </p:nvSpPr>
        <p:spPr>
          <a:xfrm>
            <a:off x="7680960" y="183794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serious</a:t>
            </a:r>
            <a:endParaRPr lang="en-US" sz="1050" dirty="0"/>
          </a:p>
        </p:txBody>
      </p:sp>
      <p:sp>
        <p:nvSpPr>
          <p:cNvPr id="17" name="box_178"/>
          <p:cNvSpPr txBox="1"/>
          <p:nvPr/>
        </p:nvSpPr>
        <p:spPr>
          <a:xfrm>
            <a:off x="5852160" y="2298192"/>
            <a:ext cx="1783080" cy="41452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Jenny's sure Rob wants to ___.</a:t>
            </a:r>
            <a:endParaRPr lang="en-US" sz="800" dirty="0"/>
          </a:p>
        </p:txBody>
      </p:sp>
      <p:sp>
        <p:nvSpPr>
          <p:cNvPr id="18" name="R1_va1"/>
          <p:cNvSpPr txBox="1"/>
          <p:nvPr/>
        </p:nvSpPr>
        <p:spPr>
          <a:xfrm>
            <a:off x="7680960" y="232562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London</a:t>
            </a:r>
            <a:endParaRPr lang="en-US" sz="1000" dirty="0"/>
          </a:p>
        </p:txBody>
      </p:sp>
      <p:sp>
        <p:nvSpPr>
          <p:cNvPr id="19" name="box_179"/>
          <p:cNvSpPr txBox="1"/>
          <p:nvPr/>
        </p:nvSpPr>
        <p:spPr>
          <a:xfrm>
            <a:off x="5852160" y="2785872"/>
            <a:ext cx="1783080" cy="41452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Rob says he loves his ___.</a:t>
            </a:r>
            <a:endParaRPr lang="en-US" sz="950" dirty="0"/>
          </a:p>
        </p:txBody>
      </p:sp>
      <p:sp>
        <p:nvSpPr>
          <p:cNvPr id="20" name="R1_va2"/>
          <p:cNvSpPr txBox="1"/>
          <p:nvPr/>
        </p:nvSpPr>
        <p:spPr>
          <a:xfrm>
            <a:off x="7680960" y="281330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 New York</a:t>
            </a:r>
            <a:endParaRPr lang="en-US" sz="1050" dirty="0"/>
          </a:p>
        </p:txBody>
      </p:sp>
      <p:sp>
        <p:nvSpPr>
          <p:cNvPr id="21" name="box_180"/>
          <p:cNvSpPr txBox="1"/>
          <p:nvPr/>
        </p:nvSpPr>
        <p:spPr>
          <a:xfrm>
            <a:off x="5852160" y="3273552"/>
            <a:ext cx="1783080" cy="41452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They're going to visit ___.</a:t>
            </a:r>
            <a:endParaRPr lang="en-US" sz="950" dirty="0"/>
          </a:p>
        </p:txBody>
      </p:sp>
      <p:sp>
        <p:nvSpPr>
          <p:cNvPr id="22" name="R1_va3"/>
          <p:cNvSpPr txBox="1"/>
          <p:nvPr/>
        </p:nvSpPr>
        <p:spPr>
          <a:xfrm>
            <a:off x="7680960" y="330098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Jenny's parents</a:t>
            </a:r>
            <a:endParaRPr lang="en-US" sz="1050" dirty="0"/>
          </a:p>
        </p:txBody>
      </p:sp>
      <p:sp>
        <p:nvSpPr>
          <p:cNvPr id="23" name="box_181"/>
          <p:cNvSpPr txBox="1"/>
          <p:nvPr/>
        </p:nvSpPr>
        <p:spPr>
          <a:xfrm>
            <a:off x="5852160" y="3761232"/>
            <a:ext cx="1783080" cy="41452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Rob promises not to forget ___.</a:t>
            </a:r>
            <a:endParaRPr lang="en-US" sz="800" dirty="0"/>
          </a:p>
        </p:txBody>
      </p:sp>
      <p:sp>
        <p:nvSpPr>
          <p:cNvPr id="24" name="R1_va4"/>
          <p:cNvSpPr txBox="1"/>
          <p:nvPr/>
        </p:nvSpPr>
        <p:spPr>
          <a:xfrm>
            <a:off x="7680960" y="378866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chocolates</a:t>
            </a:r>
            <a:endParaRPr lang="en-US" sz="1050" dirty="0"/>
          </a:p>
        </p:txBody>
      </p:sp>
      <p:sp>
        <p:nvSpPr>
          <p:cNvPr id="25" name="box_182"/>
          <p:cNvSpPr txBox="1"/>
          <p:nvPr/>
        </p:nvSpPr>
        <p:spPr>
          <a:xfrm>
            <a:off x="5852160" y="4248912"/>
            <a:ext cx="1783080" cy="41452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Rob asks Jenny to ___.</a:t>
            </a:r>
            <a:endParaRPr lang="en-US" sz="1050" dirty="0"/>
          </a:p>
        </p:txBody>
      </p:sp>
      <p:sp>
        <p:nvSpPr>
          <p:cNvPr id="26" name="R1_va5"/>
          <p:cNvSpPr txBox="1"/>
          <p:nvPr/>
        </p:nvSpPr>
        <p:spPr>
          <a:xfrm>
            <a:off x="7680960" y="4276344"/>
            <a:ext cx="1143000" cy="359664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marry him</a:t>
            </a:r>
            <a:endParaRPr lang="en-US" sz="1050" dirty="0"/>
          </a:p>
        </p:txBody>
      </p:sp>
      <p:sp>
        <p:nvSpPr>
          <p:cNvPr id="27" name="bubble_183"/>
          <p:cNvSpPr txBox="1"/>
          <p:nvPr/>
        </p:nvSpPr>
        <p:spPr>
          <a:xfrm>
            <a:off x="2788920" y="3931920"/>
            <a:ext cx="2926080" cy="7315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ending? What do YOU think happens next?</a:t>
            </a:r>
            <a:endParaRPr lang="en-US" sz="1200" dirty="0"/>
          </a:p>
        </p:txBody>
      </p:sp>
      <p:sp>
        <p:nvSpPr>
          <p:cNvPr id="28" name="pageTag_184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p.95 · 3a, 3b · video / audio 9.25</a:t>
            </a:r>
            <a:endParaRPr lang="en-US" sz="1050" dirty="0"/>
          </a:p>
        </p:txBody>
      </p:sp>
      <p:sp>
        <p:nvSpPr>
          <p:cNvPr id="29" name="pframe_185"/>
          <p:cNvSpPr/>
          <p:nvPr/>
        </p:nvSpPr>
        <p:spPr>
          <a:xfrm rot="-120000">
            <a:off x="411480" y="3108960"/>
            <a:ext cx="2011680" cy="1444752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30" name="pimg_186" descr="pictur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 rot="-120000">
            <a:off x="484632" y="3182112"/>
            <a:ext cx="1865376" cy="122529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video>
              <p:cMediaNode vol="80000">
                <p:cTn id="28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18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8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ENGLISH · audio 9.26</a:t>
            </a:r>
            <a:endParaRPr lang="en-US" sz="900" dirty="0"/>
          </a:p>
        </p:txBody>
      </p:sp>
      <p:sp>
        <p:nvSpPr>
          <p:cNvPr id="6" name="timer_19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</a:t>
            </a:r>
            <a:endParaRPr lang="en-US" sz="1200" dirty="0"/>
          </a:p>
        </p:txBody>
      </p:sp>
      <p:sp>
        <p:nvSpPr>
          <p:cNvPr id="7" name="footer_19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192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English</a:t>
            </a:r>
            <a:endParaRPr lang="en-US" sz="1500" dirty="0"/>
          </a:p>
        </p:txBody>
      </p:sp>
      <p:sp>
        <p:nvSpPr>
          <p:cNvPr id="9" name="post_19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9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B45309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REMEMBER!</a:t>
            </a:r>
            <a:pPr indent="0" marL="0">
              <a:buNone/>
            </a:pPr>
            <a:r>
              <a:rPr lang="en-US" sz="9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RICORDA!</a:t>
            </a:r>
            <a:endParaRPr lang="en-US" sz="1500" dirty="0"/>
          </a:p>
        </p:txBody>
      </p:sp>
      <p:sp>
        <p:nvSpPr>
          <p:cNvPr id="11" name="signB_19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remember the missing word? Then listen and check.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Ricordi la parola mancante? Poi ascolta e controlla.</a:t>
            </a:r>
            <a:endParaRPr lang="en-US" sz="1200" dirty="0"/>
          </a:p>
        </p:txBody>
      </p:sp>
      <p:sp>
        <p:nvSpPr>
          <p:cNvPr id="12" name="box_196"/>
          <p:cNvSpPr txBox="1"/>
          <p:nvPr/>
        </p:nvSpPr>
        <p:spPr>
          <a:xfrm>
            <a:off x="2788920" y="1371600"/>
            <a:ext cx="4465930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It's ___ you want to go back.</a:t>
            </a:r>
            <a:endParaRPr lang="en-US" sz="1300" dirty="0"/>
          </a:p>
        </p:txBody>
      </p:sp>
      <p:sp>
        <p:nvSpPr>
          <p:cNvPr id="13" name="R1_a0"/>
          <p:cNvSpPr txBox="1"/>
          <p:nvPr/>
        </p:nvSpPr>
        <p:spPr>
          <a:xfrm>
            <a:off x="7309714" y="1408176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obvious</a:t>
            </a:r>
            <a:endParaRPr lang="en-US" sz="1300" dirty="0"/>
          </a:p>
        </p:txBody>
      </p:sp>
      <p:sp>
        <p:nvSpPr>
          <p:cNvPr id="14" name="box_197"/>
          <p:cNvSpPr txBox="1"/>
          <p:nvPr/>
        </p:nvSpPr>
        <p:spPr>
          <a:xfrm>
            <a:off x="2788920" y="1941576"/>
            <a:ext cx="4465930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Of ___ I miss London, but I love my life here.</a:t>
            </a:r>
            <a:endParaRPr lang="en-US" sz="1300" dirty="0"/>
          </a:p>
        </p:txBody>
      </p:sp>
      <p:sp>
        <p:nvSpPr>
          <p:cNvPr id="15" name="R1_a1"/>
          <p:cNvSpPr txBox="1"/>
          <p:nvPr/>
        </p:nvSpPr>
        <p:spPr>
          <a:xfrm>
            <a:off x="7309714" y="1978152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300" dirty="0"/>
          </a:p>
        </p:txBody>
      </p:sp>
      <p:sp>
        <p:nvSpPr>
          <p:cNvPr id="16" name="box_198"/>
          <p:cNvSpPr txBox="1"/>
          <p:nvPr/>
        </p:nvSpPr>
        <p:spPr>
          <a:xfrm>
            <a:off x="2788920" y="2511552"/>
            <a:ext cx="4465930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And I won't forget the chocolates this time ___.</a:t>
            </a:r>
            <a:endParaRPr lang="en-US" sz="1300" dirty="0"/>
          </a:p>
        </p:txBody>
      </p:sp>
      <p:sp>
        <p:nvSpPr>
          <p:cNvPr id="17" name="R1_a2"/>
          <p:cNvSpPr txBox="1"/>
          <p:nvPr/>
        </p:nvSpPr>
        <p:spPr>
          <a:xfrm>
            <a:off x="7309714" y="2548128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endParaRPr lang="en-US" sz="1300" dirty="0"/>
          </a:p>
        </p:txBody>
      </p:sp>
      <p:sp>
        <p:nvSpPr>
          <p:cNvPr id="18" name="box_199"/>
          <p:cNvSpPr txBox="1"/>
          <p:nvPr/>
        </p:nvSpPr>
        <p:spPr>
          <a:xfrm>
            <a:off x="2788920" y="3081528"/>
            <a:ext cx="4465930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Well, that's a start, I ___.</a:t>
            </a:r>
            <a:endParaRPr lang="en-US" sz="1300" dirty="0"/>
          </a:p>
        </p:txBody>
      </p:sp>
      <p:sp>
        <p:nvSpPr>
          <p:cNvPr id="19" name="R1_a3"/>
          <p:cNvSpPr txBox="1"/>
          <p:nvPr/>
        </p:nvSpPr>
        <p:spPr>
          <a:xfrm>
            <a:off x="7309714" y="3118104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</a:t>
            </a:r>
            <a:endParaRPr lang="en-US" sz="1300" dirty="0"/>
          </a:p>
        </p:txBody>
      </p:sp>
      <p:sp>
        <p:nvSpPr>
          <p:cNvPr id="20" name="box_200"/>
          <p:cNvSpPr txBox="1"/>
          <p:nvPr/>
        </p:nvSpPr>
        <p:spPr>
          <a:xfrm>
            <a:off x="2788920" y="3651504"/>
            <a:ext cx="4465930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___ if I proposed to you?</a:t>
            </a:r>
            <a:endParaRPr lang="en-US" sz="1300" dirty="0"/>
          </a:p>
        </p:txBody>
      </p:sp>
      <p:sp>
        <p:nvSpPr>
          <p:cNvPr id="21" name="R1_a4"/>
          <p:cNvSpPr txBox="1"/>
          <p:nvPr/>
        </p:nvSpPr>
        <p:spPr>
          <a:xfrm>
            <a:off x="7309714" y="3688080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22" name="box_201"/>
          <p:cNvSpPr txBox="1"/>
          <p:nvPr/>
        </p:nvSpPr>
        <p:spPr>
          <a:xfrm>
            <a:off x="2788920" y="4221480"/>
            <a:ext cx="4465930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Rob, ___ it. It's embarrassing.</a:t>
            </a:r>
            <a:endParaRPr lang="en-US" sz="1300" dirty="0"/>
          </a:p>
        </p:txBody>
      </p:sp>
      <p:sp>
        <p:nvSpPr>
          <p:cNvPr id="23" name="R1_a5"/>
          <p:cNvSpPr txBox="1"/>
          <p:nvPr/>
        </p:nvSpPr>
        <p:spPr>
          <a:xfrm>
            <a:off x="7309714" y="4258056"/>
            <a:ext cx="1514246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300" dirty="0"/>
          </a:p>
        </p:txBody>
      </p:sp>
      <p:sp>
        <p:nvSpPr>
          <p:cNvPr id="24" name="pageTag_202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p.95 · 3c, 3d, 3e · audio 9.26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0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0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Board race</a:t>
            </a:r>
            <a:endParaRPr lang="en-US" sz="900" dirty="0"/>
          </a:p>
        </p:txBody>
      </p:sp>
      <p:sp>
        <p:nvSpPr>
          <p:cNvPr id="6" name="timer_20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0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8" name="title_208"/>
          <p:cNvSpPr txBox="1"/>
          <p:nvPr/>
        </p:nvSpPr>
        <p:spPr>
          <a:xfrm rot="-120000">
            <a:off x="320040" y="676656"/>
            <a:ext cx="519379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Polite or rude? Board race!</a:t>
            </a:r>
            <a:endParaRPr lang="en-US" sz="1500" dirty="0"/>
          </a:p>
        </p:txBody>
      </p:sp>
      <p:sp>
        <p:nvSpPr>
          <p:cNvPr id="9" name="post_20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21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teams. Run to the board and make the question polite!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squadre. Corri alla lavagna e rendi la domanda gentile!</a:t>
            </a:r>
            <a:endParaRPr lang="en-US" sz="1200" dirty="0"/>
          </a:p>
        </p:txBody>
      </p:sp>
      <p:sp>
        <p:nvSpPr>
          <p:cNvPr id="12" name="iconBack_21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13" descr="pi:PiPersonSimpleR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14"/>
          <p:cNvSpPr txBox="1"/>
          <p:nvPr/>
        </p:nvSpPr>
        <p:spPr>
          <a:xfrm>
            <a:off x="2788920" y="1412748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215"/>
          <p:cNvSpPr txBox="1"/>
          <p:nvPr/>
        </p:nvSpPr>
        <p:spPr>
          <a:xfrm>
            <a:off x="3264408" y="1371600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in lines. The first student of each team holds a board pen.</a:t>
            </a:r>
            <a:endParaRPr lang="en-US" sz="1250" dirty="0"/>
          </a:p>
        </p:txBody>
      </p:sp>
      <p:sp>
        <p:nvSpPr>
          <p:cNvPr id="16" name="num_216"/>
          <p:cNvSpPr txBox="1"/>
          <p:nvPr/>
        </p:nvSpPr>
        <p:spPr>
          <a:xfrm>
            <a:off x="2788920" y="1970532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217"/>
          <p:cNvSpPr txBox="1"/>
          <p:nvPr/>
        </p:nvSpPr>
        <p:spPr>
          <a:xfrm>
            <a:off x="3264408" y="1929384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reads a RUDE direct question: Where's the toilet?</a:t>
            </a:r>
            <a:endParaRPr lang="en-US" sz="1250" dirty="0"/>
          </a:p>
        </p:txBody>
      </p:sp>
      <p:sp>
        <p:nvSpPr>
          <p:cNvPr id="18" name="num_218"/>
          <p:cNvSpPr txBox="1"/>
          <p:nvPr/>
        </p:nvSpPr>
        <p:spPr>
          <a:xfrm>
            <a:off x="2788920" y="252831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219"/>
          <p:cNvSpPr txBox="1"/>
          <p:nvPr/>
        </p:nvSpPr>
        <p:spPr>
          <a:xfrm>
            <a:off x="3264408" y="2487168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Run! Write a polite indirect question on the board: Could you tell me where the toilet is?</a:t>
            </a:r>
            <a:endParaRPr lang="en-US" sz="1050" dirty="0"/>
          </a:p>
        </p:txBody>
      </p:sp>
      <p:sp>
        <p:nvSpPr>
          <p:cNvPr id="20" name="num_220"/>
          <p:cNvSpPr txBox="1"/>
          <p:nvPr/>
        </p:nvSpPr>
        <p:spPr>
          <a:xfrm>
            <a:off x="2788920" y="3086100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221"/>
          <p:cNvSpPr txBox="1"/>
          <p:nvPr/>
        </p:nvSpPr>
        <p:spPr>
          <a:xfrm>
            <a:off x="3264408" y="3044952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word order = 1 point. First correct team = +1 bonus.</a:t>
            </a:r>
            <a:endParaRPr lang="en-US" sz="1250" dirty="0"/>
          </a:p>
        </p:txBody>
      </p:sp>
      <p:sp>
        <p:nvSpPr>
          <p:cNvPr id="22" name="num_222"/>
          <p:cNvSpPr txBox="1"/>
          <p:nvPr/>
        </p:nvSpPr>
        <p:spPr>
          <a:xfrm>
            <a:off x="2788920" y="3643884"/>
            <a:ext cx="384048" cy="384048"/>
          </a:xfrm>
          <a:prstGeom prst="ellipse">
            <a:avLst/>
          </a:prstGeom>
          <a:solidFill>
            <a:srgbClr val="6D3FC0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box_223"/>
          <p:cNvSpPr txBox="1"/>
          <p:nvPr/>
        </p:nvSpPr>
        <p:spPr>
          <a:xfrm>
            <a:off x="3264408" y="3602736"/>
            <a:ext cx="5559552" cy="466344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pen to the next student. Then the next question!</a:t>
            </a:r>
            <a:endParaRPr lang="en-US" sz="1250" dirty="0"/>
          </a:p>
        </p:txBody>
      </p:sp>
      <p:sp>
        <p:nvSpPr>
          <p:cNvPr id="24" name="bubble_224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does the film start? → Do you know what time the film starts?</a:t>
            </a:r>
            <a:endParaRPr lang="en-US" sz="1150" dirty="0"/>
          </a:p>
        </p:txBody>
      </p:sp>
      <p:sp>
        <p:nvSpPr>
          <p:cNvPr id="25" name="pageTag_22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extra practice of indirect questions (Practical English 5)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2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2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22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6" name="title_229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sub_230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8" name="box_231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understand the end of the story in a video.</a:t>
            </a:r>
            <a:endParaRPr lang="en-US" sz="1350" dirty="0"/>
          </a:p>
        </p:txBody>
      </p:sp>
      <p:sp>
        <p:nvSpPr>
          <p:cNvPr id="9" name="faces_232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0" name="box_233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ask indirect questions: Could you tell me where…?</a:t>
            </a:r>
            <a:endParaRPr lang="en-US" sz="1200" dirty="0"/>
          </a:p>
        </p:txBody>
      </p:sp>
      <p:sp>
        <p:nvSpPr>
          <p:cNvPr id="11" name="faces_234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235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Social English: It's obvious… · I guess · What if…?</a:t>
            </a:r>
            <a:endParaRPr lang="en-US" sz="1200" dirty="0"/>
          </a:p>
        </p:txBody>
      </p:sp>
      <p:sp>
        <p:nvSpPr>
          <p:cNvPr id="13" name="faces_236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hw_237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Practical English 5: 1a, 1b, 1c, 3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Workbook Can you remember…? 1–9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Homework sheet PE5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Hand it in on the LLS app · Consegna nell'app LLS</a:t>
            </a:r>
            <a:endParaRPr lang="en-US" sz="1250" dirty="0"/>
          </a:p>
        </p:txBody>
      </p:sp>
      <p:sp>
        <p:nvSpPr>
          <p:cNvPr id="15" name="stamp_238"/>
          <p:cNvSpPr txBox="1"/>
          <p:nvPr/>
        </p:nvSpPr>
        <p:spPr>
          <a:xfrm>
            <a:off x="365760" y="365760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10A part 1 · Idols and icons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Social English · 3e</a:t>
            </a:r>
            <a:endParaRPr lang="en-US" sz="900" dirty="0"/>
          </a:p>
        </p:txBody>
      </p:sp>
      <p:sp>
        <p:nvSpPr>
          <p:cNvPr id="6" name="timer_2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extra_243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4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9" name="title_245"/>
          <p:cNvSpPr txBox="1"/>
          <p:nvPr/>
        </p:nvSpPr>
        <p:spPr>
          <a:xfrm rot="-120000">
            <a:off x="320040" y="676656"/>
            <a:ext cx="502005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the conversations</a:t>
            </a:r>
            <a:endParaRPr lang="en-US" sz="1500" dirty="0"/>
          </a:p>
        </p:txBody>
      </p:sp>
      <p:sp>
        <p:nvSpPr>
          <p:cNvPr id="10" name="post_24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4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4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A–F with a Social English phrase. Then practise!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A–F con una frase di Social English. Poi esercitati!</a:t>
            </a:r>
            <a:endParaRPr lang="en-US" sz="1200" dirty="0"/>
          </a:p>
        </p:txBody>
      </p:sp>
      <p:sp>
        <p:nvSpPr>
          <p:cNvPr id="13" name="box_249"/>
          <p:cNvSpPr txBox="1"/>
          <p:nvPr/>
        </p:nvSpPr>
        <p:spPr>
          <a:xfrm>
            <a:off x="2788920" y="1371600"/>
            <a:ext cx="3741725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Are you sure you want to come out with me tonight? – ___ I want to come. I'm looking forward to it.</a:t>
            </a:r>
            <a:endParaRPr lang="en-US" sz="950" dirty="0"/>
          </a:p>
        </p:txBody>
      </p:sp>
      <p:sp>
        <p:nvSpPr>
          <p:cNvPr id="14" name="R1_m0"/>
          <p:cNvSpPr txBox="1"/>
          <p:nvPr/>
        </p:nvSpPr>
        <p:spPr>
          <a:xfrm>
            <a:off x="6603797" y="1389888"/>
            <a:ext cx="2220163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</a:t>
            </a:r>
            <a:endParaRPr lang="en-US" sz="1150" dirty="0"/>
          </a:p>
        </p:txBody>
      </p:sp>
      <p:sp>
        <p:nvSpPr>
          <p:cNvPr id="15" name="box_250"/>
          <p:cNvSpPr txBox="1"/>
          <p:nvPr/>
        </p:nvSpPr>
        <p:spPr>
          <a:xfrm>
            <a:off x="2788920" y="1901952"/>
            <a:ext cx="3741725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 Ten times one is ten, ten times two is twenty… – Please ___. You're really annoying me.</a:t>
            </a:r>
            <a:endParaRPr lang="en-US" sz="950" dirty="0"/>
          </a:p>
        </p:txBody>
      </p:sp>
      <p:sp>
        <p:nvSpPr>
          <p:cNvPr id="16" name="R1_m1"/>
          <p:cNvSpPr txBox="1"/>
          <p:nvPr/>
        </p:nvSpPr>
        <p:spPr>
          <a:xfrm>
            <a:off x="6603797" y="1920240"/>
            <a:ext cx="2220163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it</a:t>
            </a:r>
            <a:endParaRPr lang="en-US" sz="1150" dirty="0"/>
          </a:p>
        </p:txBody>
      </p:sp>
      <p:sp>
        <p:nvSpPr>
          <p:cNvPr id="17" name="box_251"/>
          <p:cNvSpPr txBox="1"/>
          <p:nvPr/>
        </p:nvSpPr>
        <p:spPr>
          <a:xfrm>
            <a:off x="2788920" y="2432304"/>
            <a:ext cx="3741725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 What shall I get, spinach or cauliflower? – I don't like spinach and I don't really like cauliflower ___.</a:t>
            </a:r>
            <a:endParaRPr lang="en-US" sz="950" dirty="0"/>
          </a:p>
        </p:txBody>
      </p:sp>
      <p:sp>
        <p:nvSpPr>
          <p:cNvPr id="18" name="R1_m2"/>
          <p:cNvSpPr txBox="1"/>
          <p:nvPr/>
        </p:nvSpPr>
        <p:spPr>
          <a:xfrm>
            <a:off x="6603797" y="2450592"/>
            <a:ext cx="2220163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endParaRPr lang="en-US" sz="1150" dirty="0"/>
          </a:p>
        </p:txBody>
      </p:sp>
      <p:sp>
        <p:nvSpPr>
          <p:cNvPr id="19" name="box_252"/>
          <p:cNvSpPr txBox="1"/>
          <p:nvPr/>
        </p:nvSpPr>
        <p:spPr>
          <a:xfrm>
            <a:off x="2788920" y="2962656"/>
            <a:ext cx="3741725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 When's the best day for us to meet? – Tomorrow or Thursday, ___. You decide.</a:t>
            </a:r>
            <a:endParaRPr lang="en-US" sz="950" dirty="0"/>
          </a:p>
        </p:txBody>
      </p:sp>
      <p:sp>
        <p:nvSpPr>
          <p:cNvPr id="20" name="R1_m3"/>
          <p:cNvSpPr txBox="1"/>
          <p:nvPr/>
        </p:nvSpPr>
        <p:spPr>
          <a:xfrm>
            <a:off x="6603797" y="2980944"/>
            <a:ext cx="2220163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guess</a:t>
            </a:r>
            <a:endParaRPr lang="en-US" sz="1150" dirty="0"/>
          </a:p>
        </p:txBody>
      </p:sp>
      <p:sp>
        <p:nvSpPr>
          <p:cNvPr id="21" name="box_253"/>
          <p:cNvSpPr txBox="1"/>
          <p:nvPr/>
        </p:nvSpPr>
        <p:spPr>
          <a:xfrm>
            <a:off x="2788920" y="3493008"/>
            <a:ext cx="3741725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E I still can't decide which restaurant to book. – ___ we stayed at home and got a takeaway?</a:t>
            </a:r>
            <a:endParaRPr lang="en-US" sz="950" dirty="0"/>
          </a:p>
        </p:txBody>
      </p:sp>
      <p:sp>
        <p:nvSpPr>
          <p:cNvPr id="22" name="R1_m4"/>
          <p:cNvSpPr txBox="1"/>
          <p:nvPr/>
        </p:nvSpPr>
        <p:spPr>
          <a:xfrm>
            <a:off x="6603797" y="3511296"/>
            <a:ext cx="2220163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</a:t>
            </a:r>
            <a:endParaRPr lang="en-US" sz="1150" dirty="0"/>
          </a:p>
        </p:txBody>
      </p:sp>
      <p:sp>
        <p:nvSpPr>
          <p:cNvPr id="23" name="box_254"/>
          <p:cNvSpPr txBox="1"/>
          <p:nvPr/>
        </p:nvSpPr>
        <p:spPr>
          <a:xfrm>
            <a:off x="2788920" y="4023360"/>
            <a:ext cx="3741725" cy="45720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F Do you think we could leave now? I'm really tired. – OK. ___ you're really not enjoying the party.</a:t>
            </a:r>
            <a:endParaRPr lang="en-US" sz="950" dirty="0"/>
          </a:p>
        </p:txBody>
      </p:sp>
      <p:sp>
        <p:nvSpPr>
          <p:cNvPr id="24" name="R1_m5"/>
          <p:cNvSpPr txBox="1"/>
          <p:nvPr/>
        </p:nvSpPr>
        <p:spPr>
          <a:xfrm>
            <a:off x="6603797" y="4041648"/>
            <a:ext cx="2220163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obvious</a:t>
            </a:r>
            <a:endParaRPr lang="en-US" sz="1150" dirty="0"/>
          </a:p>
        </p:txBody>
      </p:sp>
      <p:sp>
        <p:nvSpPr>
          <p:cNvPr id="25" name="pageTag_255"/>
          <p:cNvSpPr txBox="1"/>
          <p:nvPr/>
        </p:nvSpPr>
        <p:spPr>
          <a:xfrm>
            <a:off x="320040" y="4773168"/>
            <a:ext cx="6720840" cy="2468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Teacher: Student's Book p.95 · 3e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5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5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5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Role-play · At the tourist office</a:t>
            </a:r>
            <a:endParaRPr lang="en-US" sz="900" dirty="0"/>
          </a:p>
        </p:txBody>
      </p:sp>
      <p:sp>
        <p:nvSpPr>
          <p:cNvPr id="6" name="timer_25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7" name="extra_260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6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9" name="title_262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the tourist office</a:t>
            </a:r>
            <a:endParaRPr lang="en-US" sz="1500" dirty="0"/>
          </a:p>
        </p:txBody>
      </p:sp>
      <p:sp>
        <p:nvSpPr>
          <p:cNvPr id="10" name="post_26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6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2" name="signB_26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model. Then make your own conversation – polite questions only!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modello. Poi crea la tua conversazione – solo domande gentili!</a:t>
            </a:r>
            <a:endParaRPr lang="en-US" sz="1000" dirty="0"/>
          </a:p>
        </p:txBody>
      </p:sp>
      <p:sp>
        <p:nvSpPr>
          <p:cNvPr id="13" name="R1_l0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Excuse me. Could you tell me where Villa Palagonia is?</a:t>
            </a:r>
            <a:endParaRPr lang="en-US" sz="950" dirty="0"/>
          </a:p>
        </p:txBody>
      </p:sp>
      <p:sp>
        <p:nvSpPr>
          <p:cNvPr id="14" name="R2_l1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</a:t>
            </a:r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 It's in the centre of Bagheria.</a:t>
            </a:r>
            <a:endParaRPr lang="en-US" sz="1100" dirty="0"/>
          </a:p>
        </p:txBody>
      </p:sp>
      <p:sp>
        <p:nvSpPr>
          <p:cNvPr id="15" name="R3_l2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if it's open on Mondays?</a:t>
            </a:r>
            <a:endParaRPr lang="en-US" sz="1250" dirty="0"/>
          </a:p>
        </p:txBody>
      </p:sp>
      <p:sp>
        <p:nvSpPr>
          <p:cNvPr id="16" name="R4_l3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sure. I'll check… Yes, it is.</a:t>
            </a:r>
            <a:endParaRPr lang="en-US" sz="1250" dirty="0"/>
          </a:p>
        </p:txBody>
      </p:sp>
      <p:sp>
        <p:nvSpPr>
          <p:cNvPr id="17" name="R5_l4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Tourist: </a:t>
            </a:r>
            <a:pPr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Great. And I'd like to know how much the tickets cost.</a:t>
            </a:r>
            <a:endParaRPr lang="en-US" sz="950" dirty="0"/>
          </a:p>
        </p:txBody>
      </p:sp>
      <p:sp>
        <p:nvSpPr>
          <p:cNvPr id="18" name="R6_l5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see…</a:t>
            </a:r>
            <a:endParaRPr lang="en-US" sz="1250" dirty="0"/>
          </a:p>
        </p:txBody>
      </p:sp>
      <p:sp>
        <p:nvSpPr>
          <p:cNvPr id="19" name="phrases_266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tell me…?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if…?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to know…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wonder if…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sure. I'll check.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26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A8E6B4"/>
            </a:solidFill>
            <a:prstDash val="solid"/>
          </a:ln>
        </p:spPr>
      </p:sp>
      <p:pic>
        <p:nvPicPr>
          <p:cNvPr id="4" name="logo_26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6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Creative</a:t>
            </a:r>
            <a:endParaRPr lang="en-US" sz="900" dirty="0"/>
          </a:p>
        </p:txBody>
      </p:sp>
      <p:sp>
        <p:nvSpPr>
          <p:cNvPr id="6" name="timer_27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271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27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PE5 · Part 1</a:t>
            </a:r>
            <a:endParaRPr lang="en-US" sz="1000" dirty="0"/>
          </a:p>
        </p:txBody>
      </p:sp>
      <p:sp>
        <p:nvSpPr>
          <p:cNvPr id="9" name="title_273"/>
          <p:cNvSpPr txBox="1"/>
          <p:nvPr/>
        </p:nvSpPr>
        <p:spPr>
          <a:xfrm rot="-120000">
            <a:off x="320040" y="676656"/>
            <a:ext cx="432511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Episode 6: the wedding</a:t>
            </a:r>
            <a:endParaRPr lang="en-US" sz="1500" dirty="0"/>
          </a:p>
        </p:txBody>
      </p:sp>
      <p:sp>
        <p:nvSpPr>
          <p:cNvPr id="10" name="post_27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1" name="signA_27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2" name="signB_27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Episode 6… so write it! What happens next?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c'è l'episodio 6… scrivetelo voi! Cosa succede dopo?</a:t>
            </a:r>
            <a:endParaRPr lang="en-US" sz="1250" dirty="0"/>
          </a:p>
        </p:txBody>
      </p:sp>
      <p:sp>
        <p:nvSpPr>
          <p:cNvPr id="13" name="iconBack_27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278" descr="gi:GiDiamond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5" name="num_279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box_280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3: Rob, Jenny and a third character (Paul? Jenny's parents? Don?).</a:t>
            </a:r>
            <a:endParaRPr lang="en-US" sz="1300" dirty="0"/>
          </a:p>
        </p:txBody>
      </p:sp>
      <p:sp>
        <p:nvSpPr>
          <p:cNvPr id="17" name="num_281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box_282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where are they? What's the problem? (Paul is the best man?)</a:t>
            </a:r>
            <a:endParaRPr lang="en-US" sz="1300" dirty="0"/>
          </a:p>
        </p:txBody>
      </p:sp>
      <p:sp>
        <p:nvSpPr>
          <p:cNvPr id="19" name="num_283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box_284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scene: 8–10 lines. Use 2 indirect questions and 2 Social English phrases.</a:t>
            </a:r>
            <a:endParaRPr lang="en-US" sz="1300" dirty="0"/>
          </a:p>
        </p:txBody>
      </p:sp>
      <p:sp>
        <p:nvSpPr>
          <p:cNvPr id="21" name="num_285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box_286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and perform it. The class votes for the best ending!</a:t>
            </a:r>
            <a:endParaRPr lang="en-US" sz="1300" dirty="0"/>
          </a:p>
        </p:txBody>
      </p:sp>
      <p:sp>
        <p:nvSpPr>
          <p:cNvPr id="23" name="bubble_28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Paul: Could you tell me why I'm not the best man, mate?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 PE5 Unexpected events</dc:title>
  <dc:subject>PptxGenJS Presentation</dc:subject>
  <dc:creator>London Language School</dc:creator>
  <cp:lastModifiedBy>London Language School</cp:lastModifiedBy>
  <cp:revision>1</cp:revision>
  <dcterms:created xsi:type="dcterms:W3CDTF">2026-10-05T09:39:36Z</dcterms:created>
  <dcterms:modified xsi:type="dcterms:W3CDTF">2026-10-05T09:39:36Z</dcterms:modified>
</cp:coreProperties>
</file>