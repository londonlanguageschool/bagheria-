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ENGLISH EPISODE 4 (60 min) · SB pp.74–75 · 'Boys' night out'. Function: making and responding to suggestions (Why don't we…? What about…? That's a great idea.), making an excuse and apologizing. Story (TG): Rob and Paul play pool and Paul says Rob has become 'American' because of Jenny; Jenny joins them for a meal but they can't agree what to do — Paul and Rob go to Kerri's gig and Jenny, upset, goes to Monica's; the next morning Rob phones in sick and misses the meeting with Don. The episode VIDEOS are embedded: Rob and Paul catch up (7.23, 2'41"), Making suggestions (7.24, 3'27"), listen and check (7.25), listen and repeat (7.26), The morning after the night before (7.27, 2'04"), Social English phrases (7.28). Each scene is watched first on a video slide; the detail task comes on the next slide, where the audio of the same scene is embedded for the second play (or go back one slide and play the video again). Timing: cover 2 · revision 5 · scene 1 video 3 + T/F 4 · scene 2 video 5 · who said it? 4 · listen and check 2 · suggestions rule 3 · listen and repeat 2 · class party 6 · scene 3 video 3 + sentences 4 · Social English recall 2 + video 3 · excuses game 5 · exit 3 = 56 min. OPTIONAL LEAD-IN (TG): what do they remember about Episode 3? Who is Monica? What is her big news? (she's getting married) Whose friend is Paul? What do Rob and Paul do at the end? (go out for a pizza – a boys' night out).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7B part 2 (5 min). VARIATION: spot the lie + correction — teams hold up a green card (TRUE) or red card (LIE), or simply stand up for LIE. 1 point for the right decision, +1 for the correction. Click once per item. Facts from audio 7.21 (Handel was not allowed to buy the house as a foreigner and continued to rent it; the servants had their rooms in the attic; Kathy Etchingham found the flat; Hendrix died in a London hotel in 1970). Item 5 (TG vocabulary notes): a terrace is on the ground floor, a balcony is outside a window on an upper floor. Item 6: letter c (7.20). Fast finishers: invent one lie about the house for the other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 – FIRST VIEWING (3 min). The video is embedded (2 min 41 s). 1a: books open; this is the day after Episode 3, after work. Look at the photos — what's happening? Teach pool (the game). Play the video once: What does Paul think of Jenny? Answer (TG): he clearly doesn't like her, and implies that she is bossy / controlling. Evidence (video script): 'Jenny seems to know what she wants – and she probably gets it'; 'If you don't come back to London soon, you'll become an all-American boy!' Click 1 for the answers. VARIATION: perspective change — 'Is Paul a good friend? Is Rob happy?' (30 seconds). Note the 7A grammar in the script: 'If you don't come back…, you'll become…' (first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1 – DETAIL (4 min). 1b: students read the six sentences (book sentences 1–6 on the slide), then play the scene again — the audio 7.23 is embedded here (same soundtrack), or go back one slide and play the video. Pairs compare and correct the false sentences. Click once per sentence; answers (TG): 1 T · 2 F (He doesn't have much free time. / His job keeps him busy.) · 3 T · 4 T · 5 F (Jenny gave Rob the shirt he's wearing.) · 6 T. VARIATION: forbidden easy answer — for every F they must give the correct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2 (5 min). The video is embedded (3 min 27 s). Teach a gig /gɪg/ = a performance by musicians playing popular music or jazz in front of an audience (TG). VARIATION: prediction — after the photos, pairs predict what the three will do tonight and who will be unhappy. Play the video once; click 1 for answers (TG): Paul and Rob decide to go and see Kerri playing in a gig; Jenny says she has a busy day the next day; she ends up going to Monica's house. Last question from the script: she calls Monica late ('it's not too late to call, is it?… I need to talk') and Monica says 'Why don't you take a cab?'. Kerri is the singer from Episode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SAID IT? (4 min). 2b: students read the suggestions and guess who made each one before listening again — VARIATION: prediction (it's easy to guess from their personalities: Paul = party, Jenny = sensible). Play the scene again (go back one slide and replay the video, or play audio 7.24); click 1 for answers (TG): 1 P · 2 J · 3 P · 4 J · 5 J · 6 P · 7 R. The slide has the book's 'Who suggests…?' list. The exact lines from audio 7.24: 1 'Let's go dancing!' · 2 'Why don't you join me?' (running) · 3 'We could go there.' (Deep Space) · 4 'What about going to the late show at MOMA?' · 5 '…staying in and watching a movie on TV?' · 6 'So shall we go there?' · 7 'We could meet her outside and go together.' MOMA = the Museum of Modern Art (a Kandinsky exhibition). Ask: how does Paul REFUSE each of Jenny's ideas? ('No, thanks. I'm not very keen on running.' / 'That isn't exactly my idea of a great night out.' / 'I can watch TV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CHECK (2 min). The clip is embedded (1 min 24 s). 2c: students complete the six extracts in the book (1–2 min, pairs), then play the clip to check; click 1 for answers (TG): 1 do, Let's · 2 don't, keen, could · 3 How · 4 What · 5 shall, Why · 6 could, idea. The video clip has 'How about going to the late show?' and 'What about staying in?' (= the TG key); the SB audio script 7.25 has 'What about…' in 3 — accept both. VARIATION: prediction (complete before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 (3 min). 2d Verb forms box: Let's, Shall we, Why don't we, We could + infinitive without to; What / How about + -ing. The most emphatic = Let's (TG). Ask the class to find each form in the extracts they have just checked (2c, previous slide). Responding: positive (That's a great idea! · Why not?) and negative (No, thanks. I'm not very keen on… · I'm not crazy about… · That isn't exactly my idea of a great night out.). All examples on the slide are from the video script 7.24 / 7.25. Italian learners: 'Why don't we…?' is a suggestion, not a real question — intonation goes down. VARIATION: spot the error (Why don't we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REPEAT (2 min). The clip is embedded (1 min 50 s). 2e: students watch and repeat the highlighted phrases, copying the rhythm and intonation (enthusiastic for 'That's a great idea!'). The phrases on the slide are from the clip (video script 7.26). 2f (if time, else go straight to the party): pairs practise the conversations in 2c, then swap roles. VARIATION: change the energy — the class repeats in chorus, then in two halves (A side / B side of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(6 min). SB 2g: in small groups, students organize their end-of-term class party using the expressions for making suggestions (TG). VARIATION: constraint challenge — every suggestion must use a different phrase, and each student must politely refuse one idea and offer an alternative. Monitor and note good / wrong forms (What about go…) for quick feedback. Make it age-appropriate: no alcohol; a budget of €10 each if you want a realistic constraint. Feedback: each group presents in 30 seconds; class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3 – FIRST VIEWING (3 min). The video is embedded (2 min 04 s). 3a: look at the photos — where are Rob and Jenny? What's happening? Play the video once: Rob and Jenny have a meeting with Don, but Rob hasn't come in to work because he isn't feeling well (TG). Script: 'I'm at home. I'm feeling terrible.' · 'That's why I'm calling. I'm not going to make it.' · Jenny: 'I'll cover for you this time, but I won't be able to do it again.' Click 1 for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SCENE 3 – DETAIL (4 min). The audio 7.27 is embedded here (same soundtrack), or go back one slide and replay the video. 3b: students complete sentences 1–7 in the book with 1–3 words; play again, pausing if necessary. Click once per sentence; answers (TG): 1 terrible · 2 a party · 3 the meeting · 4 important meeting · 5 it won't happen · 6 is leaving · 7 a professional. The sentences on the slide are the book's. VARIATION: mild controversy — 'Is Jenny right to cover for Rob? Is Rob really ill?' (forced choice, 1 min). Notice Jenny's irony: 'You know Rob. He's such a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ENGLISH – RECALL (2 min). 3c: pairs try to remember the missing words BEFORE watching (EXTRA CHALLENGE in the book). Don't click yet: check with the video on the next slide, then come back and click once per phrase if you want them on this slide too. Answers (TG / video script 7.28): 1 anyway · 2 why · 3 happen · 4 off · 5 that · 6 word · 7 such. VARIATION: memory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ENGLISH – CHECK (3 min). The clip is embedded (1 min 17 s). 3d: play the clip to check; click 1 for answers (TG / video script): 1 Where are you anyway? · 2 That's why I'm calling. I'm not going to make it. · 3 It won't happen again. · 4 He's off to Boston this afternoon. · 5 I mean, it's not that I don't like Paul, but… · 6 I wanted to have a word with him before the meeting. · 7 He's such a professional. Play again for repetition. Translate (TG suggests L1): anyway = comunque; That's why… = è per questo che…; I'm not going to make it = non ce la faccio a venire; He's off to… = parte per…; have a word with = scambiare due parole con. 3e: students complete conversations A–G in the book with phrases 1–7: A 7 (Your mum's such a darling!) · B 2 (That's why I'm ordering takeaway) · C 6 (I need to have a word with him) · D 5 (It's not that I don't like it…) · E 3 (It won't happen again) · F 4 (He's off to Manchester…) · G 1 (And anyway, I don't like cabbage) (TG), then practise the mini-conversations in pairs. Finally the CAN YOU…? questions in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(5 min). VARIATION: change the energy + role-play with an information gap (the class doesn't know the situation and must guess it from the phone call). The red line under each situation is the ATTITUDE the caller must show (a mini acting challenge). Model first: you are Rob phoning Jenny. The 'boss' can answer like Jenny: 'Rob! It's a very important meeting!' / 'I'll cover for you this time, but…'. Two or three calls per team; stop after 5 minutes.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 the CAN YOU…? questions in the book). Homework: Workbook Practical English 4 (Making suggestions 1a, 1b; Verb forms 2; Social English 3) + the PE4 homework sheet (easier version available). If they need more practice: Online Practice Practical English 4 (watch the episode again). Optional review: Workbook 'Can you remember…?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perspective change — groups of three replay scene 2 but this time JENNY must win: they find a plan that all three like. The first lines are from audio 7.24. Then the groups perform; the class votes for the most realistic ending. Alternatively, mime the story of the whole episode in 6 freeze-frames and the class tells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(5 min). VARIATION: mild controversy + second conditional recycling ('If I were Rob, I'd…'). Pairs choose AGREE or NO WAY for each statement with a reason; then find someone who disagrees. Prediction for Episode 5: what will happen between Rob and Jenny?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video" Target="../media/media-3-3.mp4"/><Relationship Id="rId4" Type="http://schemas.microsoft.com/office/2007/relationships/media" Target="../media/media-3-3.mp4"/><Relationship Id="rId5" Type="http://schemas.openxmlformats.org/officeDocument/2006/relationships/image" Target="../media/image-3-5.pn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video" Target="../media/media-5-3.mp4"/><Relationship Id="rId4" Type="http://schemas.microsoft.com/office/2007/relationships/media" Target="../media/media-5-3.mp4"/><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video" Target="../media/media-7-4.mp4"/><Relationship Id="rId5" Type="http://schemas.microsoft.com/office/2007/relationships/media" Target="../media/media-7-4.mp4"/><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video" Target="../media/media-9-4.mp4"/><Relationship Id="rId5" Type="http://schemas.microsoft.com/office/2007/relationships/media" Target="../media/media-9-4.mp4"/><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video" Target="../media/media-11-3.mp4"/><Relationship Id="rId4" Type="http://schemas.microsoft.com/office/2007/relationships/media" Target="../media/media-11-3.mp4"/><Relationship Id="rId5" Type="http://schemas.openxmlformats.org/officeDocument/2006/relationships/image" Target="../media/image-11-5.png"/><Relationship Id="rId6" Type="http://schemas.openxmlformats.org/officeDocument/2006/relationships/image" Target="../media/image-11-6.jp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video" Target="../media/media-14-4.mp4"/><Relationship Id="rId5" Type="http://schemas.microsoft.com/office/2007/relationships/media" Target="../media/media-14-4.mp4"/><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PE4 · Part 1</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PE4</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050" dirty="0">
                <a:solidFill>
                  <a:srgbClr val="E9E2FB"/>
                </a:solidFill>
                <a:latin typeface="Arial Black" pitchFamily="34" charset="0"/>
                <a:ea typeface="Arial Black" pitchFamily="34" charset="-122"/>
                <a:cs typeface="Arial Black" pitchFamily="34" charset="-120"/>
              </a:rPr>
              <a:t>ENGLISH FILE B1 · PE4 · Part 1 · SB pp.74–75</a:t>
            </a:r>
            <a:endParaRPr lang="en-US" sz="1050" dirty="0"/>
          </a:p>
        </p:txBody>
      </p:sp>
      <p:sp>
        <p:nvSpPr>
          <p:cNvPr id="9" name="title_7"/>
          <p:cNvSpPr txBox="1"/>
          <p:nvPr/>
        </p:nvSpPr>
        <p:spPr>
          <a:xfrm rot="-180000">
            <a:off x="411480" y="1325880"/>
            <a:ext cx="434340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BOYS' NIGHT OUT</a:t>
            </a:r>
            <a:endParaRPr lang="en-US" sz="2650" dirty="0"/>
          </a:p>
        </p:txBody>
      </p:sp>
      <p:sp>
        <p:nvSpPr>
          <p:cNvPr id="10" name="stamp_8"/>
          <p:cNvSpPr txBox="1"/>
          <p:nvPr/>
        </p:nvSpPr>
        <p:spPr>
          <a:xfrm>
            <a:off x="457200" y="2468880"/>
            <a:ext cx="4572000"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FUNCTION · making and responding to suggestions</a:t>
            </a:r>
            <a:endParaRPr lang="en-US" sz="1150" dirty="0"/>
          </a:p>
        </p:txBody>
      </p:sp>
      <p:sp>
        <p:nvSpPr>
          <p:cNvPr id="11" name="stamp_9"/>
          <p:cNvSpPr txBox="1"/>
          <p:nvPr/>
        </p:nvSpPr>
        <p:spPr>
          <a:xfrm>
            <a:off x="457200" y="2944368"/>
            <a:ext cx="438912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FUNCTION · making an excuse, apologising</a:t>
            </a:r>
            <a:endParaRPr lang="en-US" sz="1200" dirty="0"/>
          </a:p>
        </p:txBody>
      </p:sp>
      <p:sp>
        <p:nvSpPr>
          <p:cNvPr id="12" name="stamp_10"/>
          <p:cNvSpPr txBox="1"/>
          <p:nvPr/>
        </p:nvSpPr>
        <p:spPr>
          <a:xfrm>
            <a:off x="457200" y="3419856"/>
            <a:ext cx="4293108"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SOCIAL ENGLISH · It won't happen again.</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MicrophoneStage">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ChatsCircle">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PhoneCall">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Dancing, a museum or a gig?</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Why don't we stay in?</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7B part 2 · Houses + Handel Hendrix</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23"/>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Lie detector!</a:t>
            </a:r>
            <a:endParaRPr lang="en-US" sz="1500" dirty="0"/>
          </a:p>
        </p:txBody>
      </p:sp>
      <p:sp>
        <p:nvSpPr>
          <p:cNvPr id="9"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1"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True or a lie? If it's a lie, correct it!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Vero o bugia? Se è una bugia, correggila!</a:t>
            </a:r>
            <a:endParaRPr lang="en-US" sz="1250" dirty="0"/>
          </a:p>
        </p:txBody>
      </p:sp>
      <p:sp>
        <p:nvSpPr>
          <p:cNvPr id="12"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8" descr="pi:PiDetective">    </p:cNvPr>
          <p:cNvPicPr>
            <a:picLocks noChangeAspect="1"/>
          </p:cNvPicPr>
          <p:nvPr/>
        </p:nvPicPr>
        <p:blipFill>
          <a:blip r:embed="rId3"/>
          <a:stretch>
            <a:fillRect/>
          </a:stretch>
        </p:blipFill>
        <p:spPr>
          <a:xfrm>
            <a:off x="914400" y="3474720"/>
            <a:ext cx="685800" cy="685800"/>
          </a:xfrm>
          <a:prstGeom prst="rect">
            <a:avLst/>
          </a:prstGeom>
        </p:spPr>
      </p:pic>
      <p:sp>
        <p:nvSpPr>
          <p:cNvPr id="14" name="box_29"/>
          <p:cNvSpPr txBox="1"/>
          <p:nvPr/>
        </p:nvSpPr>
        <p:spPr>
          <a:xfrm>
            <a:off x="2788920" y="1371600"/>
            <a:ext cx="3741725"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Handel bought the house in Brook Street.</a:t>
            </a:r>
            <a:endParaRPr lang="en-US" sz="1250" dirty="0"/>
          </a:p>
        </p:txBody>
      </p:sp>
      <p:sp>
        <p:nvSpPr>
          <p:cNvPr id="15" name="R1_a0"/>
          <p:cNvSpPr txBox="1"/>
          <p:nvPr/>
        </p:nvSpPr>
        <p:spPr>
          <a:xfrm>
            <a:off x="6585509" y="140817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LIE – he rented it (a foreigner)</a:t>
            </a:r>
            <a:endParaRPr lang="en-US" sz="1150" dirty="0"/>
          </a:p>
        </p:txBody>
      </p:sp>
      <p:sp>
        <p:nvSpPr>
          <p:cNvPr id="16" name="box_30"/>
          <p:cNvSpPr txBox="1"/>
          <p:nvPr/>
        </p:nvSpPr>
        <p:spPr>
          <a:xfrm>
            <a:off x="2788920" y="1941576"/>
            <a:ext cx="3741725"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Handel's servants slept in the basement.</a:t>
            </a:r>
            <a:endParaRPr lang="en-US" sz="1250" dirty="0"/>
          </a:p>
        </p:txBody>
      </p:sp>
      <p:sp>
        <p:nvSpPr>
          <p:cNvPr id="17" name="R2_a1"/>
          <p:cNvSpPr txBox="1"/>
          <p:nvPr/>
        </p:nvSpPr>
        <p:spPr>
          <a:xfrm>
            <a:off x="6585509" y="1978152"/>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LIE – in the attic</a:t>
            </a:r>
            <a:endParaRPr lang="en-US" sz="1150" dirty="0"/>
          </a:p>
        </p:txBody>
      </p:sp>
      <p:sp>
        <p:nvSpPr>
          <p:cNvPr id="18" name="box_31"/>
          <p:cNvSpPr txBox="1"/>
          <p:nvPr/>
        </p:nvSpPr>
        <p:spPr>
          <a:xfrm>
            <a:off x="2788920" y="2511552"/>
            <a:ext cx="3741725"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Hendrix's girlfriend found the flat.</a:t>
            </a:r>
            <a:endParaRPr lang="en-US" sz="1250" dirty="0"/>
          </a:p>
        </p:txBody>
      </p:sp>
      <p:sp>
        <p:nvSpPr>
          <p:cNvPr id="19" name="R3_a2"/>
          <p:cNvSpPr txBox="1"/>
          <p:nvPr/>
        </p:nvSpPr>
        <p:spPr>
          <a:xfrm>
            <a:off x="6585509" y="2548128"/>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TRUE – Kathy Etchingham</a:t>
            </a:r>
            <a:endParaRPr lang="en-US" sz="1150" dirty="0"/>
          </a:p>
        </p:txBody>
      </p:sp>
      <p:sp>
        <p:nvSpPr>
          <p:cNvPr id="20" name="box_32"/>
          <p:cNvSpPr txBox="1"/>
          <p:nvPr/>
        </p:nvSpPr>
        <p:spPr>
          <a:xfrm>
            <a:off x="2788920" y="3081528"/>
            <a:ext cx="3741725"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Hendrix died in his Brook Street flat.</a:t>
            </a:r>
            <a:endParaRPr lang="en-US" sz="1250" dirty="0"/>
          </a:p>
        </p:txBody>
      </p:sp>
      <p:sp>
        <p:nvSpPr>
          <p:cNvPr id="21" name="R4_a3"/>
          <p:cNvSpPr txBox="1"/>
          <p:nvPr/>
        </p:nvSpPr>
        <p:spPr>
          <a:xfrm>
            <a:off x="6585509" y="3118104"/>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LIE – in a London hotel</a:t>
            </a:r>
            <a:endParaRPr lang="en-US" sz="1150" dirty="0"/>
          </a:p>
        </p:txBody>
      </p:sp>
      <p:sp>
        <p:nvSpPr>
          <p:cNvPr id="22" name="box_33"/>
          <p:cNvSpPr txBox="1"/>
          <p:nvPr/>
        </p:nvSpPr>
        <p:spPr>
          <a:xfrm>
            <a:off x="2788920" y="3651504"/>
            <a:ext cx="3741725"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A balcony is outside, on the ground floor.</a:t>
            </a:r>
            <a:endParaRPr lang="en-US" sz="1250" dirty="0"/>
          </a:p>
        </p:txBody>
      </p:sp>
      <p:sp>
        <p:nvSpPr>
          <p:cNvPr id="23" name="R5_a4"/>
          <p:cNvSpPr txBox="1"/>
          <p:nvPr/>
        </p:nvSpPr>
        <p:spPr>
          <a:xfrm>
            <a:off x="6585509" y="3688080"/>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LIE – that's a terrace</a:t>
            </a:r>
            <a:endParaRPr lang="en-US" sz="1150" dirty="0"/>
          </a:p>
        </p:txBody>
      </p:sp>
      <p:sp>
        <p:nvSpPr>
          <p:cNvPr id="24" name="box_34"/>
          <p:cNvSpPr txBox="1"/>
          <p:nvPr/>
        </p:nvSpPr>
        <p:spPr>
          <a:xfrm>
            <a:off x="2788920" y="4221480"/>
            <a:ext cx="3741725"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In 'special', c is pronounced /ʃ/.</a:t>
            </a:r>
            <a:endParaRPr lang="en-US" sz="1250" dirty="0"/>
          </a:p>
        </p:txBody>
      </p:sp>
      <p:sp>
        <p:nvSpPr>
          <p:cNvPr id="25" name="R6_a5"/>
          <p:cNvSpPr txBox="1"/>
          <p:nvPr/>
        </p:nvSpPr>
        <p:spPr>
          <a:xfrm>
            <a:off x="6585509" y="4258056"/>
            <a:ext cx="2238451"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TRUE – c + i + vowel</a:t>
            </a:r>
            <a:endParaRPr lang="en-US" sz="1150" dirty="0"/>
          </a:p>
        </p:txBody>
      </p:sp>
      <p:sp>
        <p:nvSpPr>
          <p:cNvPr id="26"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7B part 2 · audio 7.21 · Vocabulary Bank Houses p.162</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6"/>
          <p:cNvSpPr/>
          <p:nvPr/>
        </p:nvSpPr>
        <p:spPr>
          <a:xfrm>
            <a:off x="54864" y="54864"/>
            <a:ext cx="9034272" cy="5033772"/>
          </a:xfrm>
          <a:prstGeom prst="rect">
            <a:avLst/>
          </a:prstGeom>
          <a:ln w="114300">
            <a:solidFill>
              <a:srgbClr val="A8E6B4"/>
            </a:solidFill>
            <a:prstDash val="solid"/>
          </a:ln>
        </p:spPr>
      </p:sp>
      <p:pic>
        <p:nvPicPr>
          <p:cNvPr id="4" name="logo_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Scene 1 · 7.23</a:t>
            </a:r>
            <a:endParaRPr lang="en-US" sz="900" dirty="0"/>
          </a:p>
        </p:txBody>
      </p:sp>
      <p:sp>
        <p:nvSpPr>
          <p:cNvPr id="6" name="timer_3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41"/>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Rob and Paul catch up</a:t>
            </a:r>
            <a:endParaRPr lang="en-US" sz="1500" dirty="0"/>
          </a:p>
        </p:txBody>
      </p:sp>
      <p:sp>
        <p:nvSpPr>
          <p:cNvPr id="9" name="post_42"/>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43"/>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4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Watch. What are they playing? What does Paul think of Jenny?</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Guarda. A cosa giocano? Cosa pensa Paul di Jenny?</a:t>
            </a:r>
            <a:endParaRPr lang="en-US" sz="120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45"/>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Episode 4 · Rob and Paul catch up</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4 · class video · 7.23 (2'41")</a:t>
            </a:r>
            <a:endParaRPr lang="en-US" sz="1250" dirty="0"/>
          </a:p>
        </p:txBody>
      </p:sp>
      <p:sp>
        <p:nvSpPr>
          <p:cNvPr id="14" name="wyw_46"/>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47"/>
          <p:cNvSpPr txBox="1"/>
          <p:nvPr/>
        </p:nvSpPr>
        <p:spPr>
          <a:xfrm>
            <a:off x="5852160" y="1810512"/>
            <a:ext cx="1783080" cy="65836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What game are they playing?</a:t>
            </a:r>
            <a:endParaRPr lang="en-US" sz="1250" dirty="0"/>
          </a:p>
        </p:txBody>
      </p:sp>
      <p:sp>
        <p:nvSpPr>
          <p:cNvPr id="16" name="R1_va0"/>
          <p:cNvSpPr txBox="1"/>
          <p:nvPr/>
        </p:nvSpPr>
        <p:spPr>
          <a:xfrm>
            <a:off x="7680960" y="183794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pool</a:t>
            </a:r>
            <a:endParaRPr lang="en-US" sz="1050" dirty="0"/>
          </a:p>
        </p:txBody>
      </p:sp>
      <p:sp>
        <p:nvSpPr>
          <p:cNvPr id="17" name="box_48"/>
          <p:cNvSpPr txBox="1"/>
          <p:nvPr/>
        </p:nvSpPr>
        <p:spPr>
          <a:xfrm>
            <a:off x="5852160" y="2542032"/>
            <a:ext cx="1783080" cy="65836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What does Paul think of Jenny?</a:t>
            </a:r>
            <a:endParaRPr lang="en-US" sz="1250" dirty="0"/>
          </a:p>
        </p:txBody>
      </p:sp>
      <p:sp>
        <p:nvSpPr>
          <p:cNvPr id="18" name="R1_va1"/>
          <p:cNvSpPr txBox="1"/>
          <p:nvPr/>
        </p:nvSpPr>
        <p:spPr>
          <a:xfrm>
            <a:off x="7680960" y="256946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doesn't like her – bossy</a:t>
            </a:r>
            <a:endParaRPr lang="en-US" sz="1050" dirty="0"/>
          </a:p>
        </p:txBody>
      </p:sp>
      <p:sp>
        <p:nvSpPr>
          <p:cNvPr id="19" name="bubble_49"/>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Is Paul a good friend? Is Rob happy?</a:t>
            </a:r>
            <a:endParaRPr lang="en-US" sz="1200" dirty="0"/>
          </a:p>
        </p:txBody>
      </p:sp>
      <p:sp>
        <p:nvSpPr>
          <p:cNvPr id="20" name="pageTag_5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1a · video / audio 7.23</a:t>
            </a:r>
            <a:endParaRPr lang="en-US" sz="1050" dirty="0"/>
          </a:p>
        </p:txBody>
      </p:sp>
      <p:sp>
        <p:nvSpPr>
          <p:cNvPr id="21" name="pframe_51"/>
          <p:cNvSpPr/>
          <p:nvPr/>
        </p:nvSpPr>
        <p:spPr>
          <a:xfrm rot="-120000">
            <a:off x="685800" y="3154680"/>
            <a:ext cx="1234440" cy="160934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2" name="pimg_52" descr="picture">    </p:cNvPr>
          <p:cNvPicPr>
            <a:picLocks noChangeAspect="1"/>
          </p:cNvPicPr>
          <p:nvPr/>
        </p:nvPicPr>
        <p:blipFill>
          <a:blip r:embed="rId6"/>
          <a:srcRect l="0" r="0" t="0" b="0"/>
          <a:stretch/>
        </p:blipFill>
        <p:spPr>
          <a:xfrm rot="-120000">
            <a:off x="758952" y="3227832"/>
            <a:ext cx="1088136" cy="138988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12"/>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2"/>
                                        </p:tgtEl>
                                      </p:cBhvr>
                                    </p:cmd>
                                  </p:childTnLst>
                                </p:cTn>
                              </p:par>
                            </p:childTnLst>
                          </p:cTn>
                        </p:par>
                      </p:childTnLst>
                    </p:cTn>
                  </p:par>
                </p:childTnLst>
              </p:cTn>
              <p:nextCondLst>
                <p:cond evt="onClick" delay="0">
                  <p:tgtEl>
                    <p:spTgt spid="12"/>
                  </p:tgtEl>
                </p:cond>
              </p:nextCondLst>
            </p:seq>
            <p:video>
              <p:cMediaNode vol="80000">
                <p:cTn id="16" fill="hold" display="0">
                  <p:stCondLst>
                    <p:cond delay="indefinite"/>
                  </p:stCondLst>
                </p:cTn>
                <p:tgtEl>
                  <p:spTgt spid="1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3"/>
          <p:cNvSpPr/>
          <p:nvPr/>
        </p:nvSpPr>
        <p:spPr>
          <a:xfrm>
            <a:off x="54864" y="54864"/>
            <a:ext cx="9034272" cy="5033772"/>
          </a:xfrm>
          <a:prstGeom prst="rect">
            <a:avLst/>
          </a:prstGeom>
          <a:ln w="114300">
            <a:solidFill>
              <a:srgbClr val="A8E6B4"/>
            </a:solidFill>
            <a:prstDash val="solid"/>
          </a:ln>
        </p:spPr>
      </p:sp>
      <p:pic>
        <p:nvPicPr>
          <p:cNvPr id="4" name="logo_5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LISTENING · Scene 1 · 1b · audio 7.23</a:t>
            </a:r>
            <a:endParaRPr lang="en-US" sz="900" dirty="0"/>
          </a:p>
        </p:txBody>
      </p:sp>
      <p:sp>
        <p:nvSpPr>
          <p:cNvPr id="6" name="timer_5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5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58"/>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True or false?</a:t>
            </a:r>
            <a:endParaRPr lang="en-US" sz="1500" dirty="0"/>
          </a:p>
        </p:txBody>
      </p:sp>
      <p:sp>
        <p:nvSpPr>
          <p:cNvPr id="9" name="post_59"/>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60"/>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6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Watch or listen again. True or false? Correct the false ones.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Riguarda o riascolta. Vero o falso? Correggi quelle false.</a:t>
            </a:r>
            <a:endParaRPr lang="en-US" sz="1200" dirty="0"/>
          </a:p>
        </p:txBody>
      </p:sp>
      <p:sp>
        <p:nvSpPr>
          <p:cNvPr id="12" name="tr_62"/>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7.23</a:t>
            </a:r>
            <a:endParaRPr lang="en-US" sz="1400" dirty="0"/>
          </a:p>
        </p:txBody>
      </p:sp>
      <p:sp>
        <p:nvSpPr>
          <p:cNvPr id="13" name="box_63"/>
          <p:cNvSpPr txBox="1"/>
          <p:nvPr/>
        </p:nvSpPr>
        <p:spPr>
          <a:xfrm>
            <a:off x="2788920" y="2103120"/>
            <a:ext cx="3741725"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Rob used to play pool when he was younger.</a:t>
            </a:r>
            <a:endParaRPr lang="en-US" sz="1200" dirty="0"/>
          </a:p>
        </p:txBody>
      </p:sp>
      <p:sp>
        <p:nvSpPr>
          <p:cNvPr id="14" name="R1_la0"/>
          <p:cNvSpPr txBox="1"/>
          <p:nvPr/>
        </p:nvSpPr>
        <p:spPr>
          <a:xfrm>
            <a:off x="6585509" y="213055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a:t>
            </a:r>
            <a:endParaRPr lang="en-US" sz="1100" dirty="0"/>
          </a:p>
        </p:txBody>
      </p:sp>
      <p:sp>
        <p:nvSpPr>
          <p:cNvPr id="15" name="box_64"/>
          <p:cNvSpPr txBox="1"/>
          <p:nvPr/>
        </p:nvSpPr>
        <p:spPr>
          <a:xfrm>
            <a:off x="2788920" y="2542032"/>
            <a:ext cx="3741725"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Rob has a lot of free time.</a:t>
            </a:r>
            <a:endParaRPr lang="en-US" sz="1200" dirty="0"/>
          </a:p>
        </p:txBody>
      </p:sp>
      <p:sp>
        <p:nvSpPr>
          <p:cNvPr id="16" name="R2_la1"/>
          <p:cNvSpPr txBox="1"/>
          <p:nvPr/>
        </p:nvSpPr>
        <p:spPr>
          <a:xfrm>
            <a:off x="6585509" y="2569464"/>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 – his job keeps him busy</a:t>
            </a:r>
            <a:endParaRPr lang="en-US" sz="1100" dirty="0"/>
          </a:p>
        </p:txBody>
      </p:sp>
      <p:sp>
        <p:nvSpPr>
          <p:cNvPr id="17" name="box_65"/>
          <p:cNvSpPr txBox="1"/>
          <p:nvPr/>
        </p:nvSpPr>
        <p:spPr>
          <a:xfrm>
            <a:off x="2788920" y="2980944"/>
            <a:ext cx="3741725"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Rob had fair hair the last time Paul saw him.</a:t>
            </a:r>
            <a:endParaRPr lang="en-US" sz="1200" dirty="0"/>
          </a:p>
        </p:txBody>
      </p:sp>
      <p:sp>
        <p:nvSpPr>
          <p:cNvPr id="18" name="R3_la2"/>
          <p:cNvSpPr txBox="1"/>
          <p:nvPr/>
        </p:nvSpPr>
        <p:spPr>
          <a:xfrm>
            <a:off x="6585509" y="3008376"/>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a:t>
            </a:r>
            <a:endParaRPr lang="en-US" sz="1100" dirty="0"/>
          </a:p>
        </p:txBody>
      </p:sp>
      <p:sp>
        <p:nvSpPr>
          <p:cNvPr id="19" name="box_66"/>
          <p:cNvSpPr txBox="1"/>
          <p:nvPr/>
        </p:nvSpPr>
        <p:spPr>
          <a:xfrm>
            <a:off x="2788920" y="3419856"/>
            <a:ext cx="3741725"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Paul thinks Rob has changed a lot.</a:t>
            </a:r>
            <a:endParaRPr lang="en-US" sz="1200" dirty="0"/>
          </a:p>
        </p:txBody>
      </p:sp>
      <p:sp>
        <p:nvSpPr>
          <p:cNvPr id="20" name="R4_la3"/>
          <p:cNvSpPr txBox="1"/>
          <p:nvPr/>
        </p:nvSpPr>
        <p:spPr>
          <a:xfrm>
            <a:off x="6585509" y="3447288"/>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a:t>
            </a:r>
            <a:endParaRPr lang="en-US" sz="1100" dirty="0"/>
          </a:p>
        </p:txBody>
      </p:sp>
      <p:sp>
        <p:nvSpPr>
          <p:cNvPr id="21" name="box_67"/>
          <p:cNvSpPr txBox="1"/>
          <p:nvPr/>
        </p:nvSpPr>
        <p:spPr>
          <a:xfrm>
            <a:off x="2788920" y="3858768"/>
            <a:ext cx="3741725"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Jenny's parents gave Rob the shirt he's wearing.</a:t>
            </a:r>
            <a:endParaRPr lang="en-US" sz="1200" dirty="0"/>
          </a:p>
        </p:txBody>
      </p:sp>
      <p:sp>
        <p:nvSpPr>
          <p:cNvPr id="22" name="R5_la4"/>
          <p:cNvSpPr txBox="1"/>
          <p:nvPr/>
        </p:nvSpPr>
        <p:spPr>
          <a:xfrm>
            <a:off x="6585509" y="3886200"/>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 – Jenny gave it to him</a:t>
            </a:r>
            <a:endParaRPr lang="en-US" sz="1100" dirty="0"/>
          </a:p>
        </p:txBody>
      </p:sp>
      <p:sp>
        <p:nvSpPr>
          <p:cNvPr id="23" name="box_68"/>
          <p:cNvSpPr txBox="1"/>
          <p:nvPr/>
        </p:nvSpPr>
        <p:spPr>
          <a:xfrm>
            <a:off x="2788920" y="4297680"/>
            <a:ext cx="3741725"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Rob doesn't want to keep Jenny waiting.</a:t>
            </a:r>
            <a:endParaRPr lang="en-US" sz="1200" dirty="0"/>
          </a:p>
        </p:txBody>
      </p:sp>
      <p:sp>
        <p:nvSpPr>
          <p:cNvPr id="24" name="R6_la5"/>
          <p:cNvSpPr txBox="1"/>
          <p:nvPr/>
        </p:nvSpPr>
        <p:spPr>
          <a:xfrm>
            <a:off x="6585509" y="432511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a:t>
            </a:r>
            <a:endParaRPr lang="en-US" sz="1100" dirty="0"/>
          </a:p>
        </p:txBody>
      </p:sp>
      <p:sp>
        <p:nvSpPr>
          <p:cNvPr id="25" name="pageTag_6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1b · audio 7.23 (or the video on the previous slide)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70"/>
          <p:cNvSpPr/>
          <p:nvPr/>
        </p:nvSpPr>
        <p:spPr>
          <a:xfrm>
            <a:off x="54864" y="54864"/>
            <a:ext cx="9034272" cy="5033772"/>
          </a:xfrm>
          <a:prstGeom prst="rect">
            <a:avLst/>
          </a:prstGeom>
          <a:ln w="114300">
            <a:solidFill>
              <a:srgbClr val="A8E6B4"/>
            </a:solidFill>
            <a:prstDash val="solid"/>
          </a:ln>
        </p:spPr>
      </p:sp>
      <p:pic>
        <p:nvPicPr>
          <p:cNvPr id="4" name="logo_7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7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Scene 2 · 7.24</a:t>
            </a:r>
            <a:endParaRPr lang="en-US" sz="900" dirty="0"/>
          </a:p>
        </p:txBody>
      </p:sp>
      <p:sp>
        <p:nvSpPr>
          <p:cNvPr id="6" name="timer_7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7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75"/>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 shall we do now?</a:t>
            </a:r>
            <a:endParaRPr lang="en-US" sz="1500" dirty="0"/>
          </a:p>
        </p:txBody>
      </p:sp>
      <p:sp>
        <p:nvSpPr>
          <p:cNvPr id="9" name="post_7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77"/>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7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 first! Then watch and answer.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Indovina prima! Poi guarda e rispondi.</a:t>
            </a:r>
            <a:endParaRPr lang="en-US" sz="125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79"/>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Episode 4 · Making suggestions</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4 · class video · 7.24 (3'27")</a:t>
            </a:r>
            <a:endParaRPr lang="en-US" sz="1250" dirty="0"/>
          </a:p>
        </p:txBody>
      </p:sp>
      <p:sp>
        <p:nvSpPr>
          <p:cNvPr id="14" name="wyw_80"/>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81"/>
          <p:cNvSpPr txBox="1"/>
          <p:nvPr/>
        </p:nvSpPr>
        <p:spPr>
          <a:xfrm>
            <a:off x="5852160" y="1810512"/>
            <a:ext cx="297180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PREDICT: what will they do tonight?</a:t>
            </a:r>
            <a:endParaRPr lang="en-US" sz="1250" dirty="0"/>
          </a:p>
        </p:txBody>
      </p:sp>
      <p:sp>
        <p:nvSpPr>
          <p:cNvPr id="16" name="box_82"/>
          <p:cNvSpPr txBox="1"/>
          <p:nvPr/>
        </p:nvSpPr>
        <p:spPr>
          <a:xfrm>
            <a:off x="5852160" y="2395728"/>
            <a:ext cx="178308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What do Paul and Rob decide?</a:t>
            </a:r>
            <a:endParaRPr lang="en-US" sz="1100" dirty="0"/>
          </a:p>
        </p:txBody>
      </p:sp>
      <p:sp>
        <p:nvSpPr>
          <p:cNvPr id="17" name="R1_va1"/>
          <p:cNvSpPr txBox="1"/>
          <p:nvPr/>
        </p:nvSpPr>
        <p:spPr>
          <a:xfrm>
            <a:off x="7680960" y="2423160"/>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go to Kerri's gig</a:t>
            </a:r>
            <a:endParaRPr lang="en-US" sz="1050" dirty="0"/>
          </a:p>
        </p:txBody>
      </p:sp>
      <p:sp>
        <p:nvSpPr>
          <p:cNvPr id="18" name="box_83"/>
          <p:cNvSpPr txBox="1"/>
          <p:nvPr/>
        </p:nvSpPr>
        <p:spPr>
          <a:xfrm>
            <a:off x="5852160" y="2980944"/>
            <a:ext cx="178308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Jenny's excuse?</a:t>
            </a:r>
            <a:endParaRPr lang="en-US" sz="1250" dirty="0"/>
          </a:p>
        </p:txBody>
      </p:sp>
      <p:sp>
        <p:nvSpPr>
          <p:cNvPr id="19" name="R1_va2"/>
          <p:cNvSpPr txBox="1"/>
          <p:nvPr/>
        </p:nvSpPr>
        <p:spPr>
          <a:xfrm>
            <a:off x="7680960" y="3008376"/>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busy day tomorrow</a:t>
            </a:r>
            <a:endParaRPr lang="en-US" sz="1050" dirty="0"/>
          </a:p>
        </p:txBody>
      </p:sp>
      <p:sp>
        <p:nvSpPr>
          <p:cNvPr id="20" name="box_84"/>
          <p:cNvSpPr txBox="1"/>
          <p:nvPr/>
        </p:nvSpPr>
        <p:spPr>
          <a:xfrm>
            <a:off x="5852160" y="3566160"/>
            <a:ext cx="178308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Where does Jenny go?</a:t>
            </a:r>
            <a:endParaRPr lang="en-US" sz="1100" dirty="0"/>
          </a:p>
        </p:txBody>
      </p:sp>
      <p:sp>
        <p:nvSpPr>
          <p:cNvPr id="21" name="R1_va3"/>
          <p:cNvSpPr txBox="1"/>
          <p:nvPr/>
        </p:nvSpPr>
        <p:spPr>
          <a:xfrm>
            <a:off x="7680960" y="3593592"/>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to Monica's house</a:t>
            </a:r>
            <a:endParaRPr lang="en-US" sz="1050" dirty="0"/>
          </a:p>
        </p:txBody>
      </p:sp>
      <p:sp>
        <p:nvSpPr>
          <p:cNvPr id="22" name="box_85"/>
          <p:cNvSpPr txBox="1"/>
          <p:nvPr/>
        </p:nvSpPr>
        <p:spPr>
          <a:xfrm>
            <a:off x="5852160" y="4151376"/>
            <a:ext cx="178308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How does Jenny feel?</a:t>
            </a:r>
            <a:endParaRPr lang="en-US" sz="1100" dirty="0"/>
          </a:p>
        </p:txBody>
      </p:sp>
      <p:sp>
        <p:nvSpPr>
          <p:cNvPr id="23" name="R1_va4"/>
          <p:cNvSpPr txBox="1"/>
          <p:nvPr/>
        </p:nvSpPr>
        <p:spPr>
          <a:xfrm>
            <a:off x="7680960" y="4178808"/>
            <a:ext cx="1143000" cy="457200"/>
          </a:xfrm>
          <a:prstGeom prst="roundRect">
            <a:avLst>
              <a:gd name="adj" fmla="val 12000"/>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upset – 'I need to talk'</a:t>
            </a:r>
            <a:endParaRPr lang="en-US" sz="1050" dirty="0"/>
          </a:p>
        </p:txBody>
      </p:sp>
      <p:sp>
        <p:nvSpPr>
          <p:cNvPr id="24" name="pageTag_8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2a · video / audio 7.24</a:t>
            </a:r>
            <a:endParaRPr lang="en-US" sz="1050" dirty="0"/>
          </a:p>
        </p:txBody>
      </p:sp>
      <p:sp>
        <p:nvSpPr>
          <p:cNvPr id="25" name="pframe_87"/>
          <p:cNvSpPr/>
          <p:nvPr/>
        </p:nvSpPr>
        <p:spPr>
          <a:xfrm rot="120000">
            <a:off x="411480" y="3246120"/>
            <a:ext cx="1783080" cy="138074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6" name="pimg_88" descr="picture">    </p:cNvPr>
          <p:cNvPicPr>
            <a:picLocks noChangeAspect="1"/>
          </p:cNvPicPr>
          <p:nvPr/>
        </p:nvPicPr>
        <p:blipFill>
          <a:blip r:embed="rId6"/>
          <a:srcRect l="0" r="0" t="0" b="0"/>
          <a:stretch/>
        </p:blipFill>
        <p:spPr>
          <a:xfrm rot="120000">
            <a:off x="484632" y="3319272"/>
            <a:ext cx="1636776" cy="116128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7" restart="whenNotActive" fill="hold" evtFilter="cancelBubble" nodeType="interactiveSeq">
                <p:stCondLst>
                  <p:cond evt="onClick" delay="0">
                    <p:tgtEl>
                      <p:spTgt spid="12"/>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12"/>
                                        </p:tgtEl>
                                      </p:cBhvr>
                                    </p:cmd>
                                  </p:childTnLst>
                                </p:cTn>
                              </p:par>
                            </p:childTnLst>
                          </p:cTn>
                        </p:par>
                      </p:childTnLst>
                    </p:cTn>
                  </p:par>
                </p:childTnLst>
              </p:cTn>
              <p:nextCondLst>
                <p:cond evt="onClick" delay="0">
                  <p:tgtEl>
                    <p:spTgt spid="12"/>
                  </p:tgtEl>
                </p:cond>
              </p:nextCondLst>
            </p:seq>
            <p:video>
              <p:cMediaNode vol="80000">
                <p:cTn id="22" fill="hold" display="0">
                  <p:stCondLst>
                    <p:cond delay="indefinite"/>
                  </p:stCondLst>
                </p:cTn>
                <p:tgtEl>
                  <p:spTgt spid="12"/>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9"/>
          <p:cNvSpPr/>
          <p:nvPr/>
        </p:nvSpPr>
        <p:spPr>
          <a:xfrm>
            <a:off x="54864" y="54864"/>
            <a:ext cx="9034272" cy="5033772"/>
          </a:xfrm>
          <a:prstGeom prst="rect">
            <a:avLst/>
          </a:prstGeom>
          <a:ln w="114300">
            <a:solidFill>
              <a:srgbClr val="A8E6B4"/>
            </a:solidFill>
            <a:prstDash val="solid"/>
          </a:ln>
        </p:spPr>
      </p:sp>
      <p:pic>
        <p:nvPicPr>
          <p:cNvPr id="4" name="logo_9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9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Who suggested it?</a:t>
            </a:r>
            <a:endParaRPr lang="en-US" sz="900" dirty="0"/>
          </a:p>
        </p:txBody>
      </p:sp>
      <p:sp>
        <p:nvSpPr>
          <p:cNvPr id="6" name="timer_9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9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94"/>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Paul, Jenny or Rob?</a:t>
            </a:r>
            <a:endParaRPr lang="en-US" sz="1500" dirty="0"/>
          </a:p>
        </p:txBody>
      </p:sp>
      <p:sp>
        <p:nvSpPr>
          <p:cNvPr id="9" name="post_9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96"/>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9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Who made each suggestion? Write P, J or 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Chi ha fatto ogni proposta? Scrivi P, J o R.</a:t>
            </a:r>
            <a:endParaRPr lang="en-US" sz="1250" dirty="0"/>
          </a:p>
        </p:txBody>
      </p:sp>
      <p:sp>
        <p:nvSpPr>
          <p:cNvPr id="12" name="iconBack_9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99" descr="pi:PiUsersThree">    </p:cNvPr>
          <p:cNvPicPr>
            <a:picLocks noChangeAspect="1"/>
          </p:cNvPicPr>
          <p:nvPr/>
        </p:nvPicPr>
        <p:blipFill>
          <a:blip r:embed="rId3"/>
          <a:stretch>
            <a:fillRect/>
          </a:stretch>
        </p:blipFill>
        <p:spPr>
          <a:xfrm>
            <a:off x="914400" y="3474720"/>
            <a:ext cx="685800" cy="685800"/>
          </a:xfrm>
          <a:prstGeom prst="rect">
            <a:avLst/>
          </a:prstGeom>
        </p:spPr>
      </p:pic>
      <p:sp>
        <p:nvSpPr>
          <p:cNvPr id="14" name="box_100"/>
          <p:cNvSpPr txBox="1"/>
          <p:nvPr/>
        </p:nvSpPr>
        <p:spPr>
          <a:xfrm>
            <a:off x="2788920" y="1371600"/>
            <a:ext cx="3983126"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going dancing</a:t>
            </a:r>
            <a:endParaRPr lang="en-US" sz="1200" dirty="0"/>
          </a:p>
        </p:txBody>
      </p:sp>
      <p:sp>
        <p:nvSpPr>
          <p:cNvPr id="15" name="R1_m0"/>
          <p:cNvSpPr txBox="1"/>
          <p:nvPr/>
        </p:nvSpPr>
        <p:spPr>
          <a:xfrm>
            <a:off x="6845198" y="1389888"/>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a:t>
            </a:r>
            <a:endParaRPr lang="en-US" sz="1300" dirty="0"/>
          </a:p>
        </p:txBody>
      </p:sp>
      <p:sp>
        <p:nvSpPr>
          <p:cNvPr id="16" name="box_101"/>
          <p:cNvSpPr txBox="1"/>
          <p:nvPr/>
        </p:nvSpPr>
        <p:spPr>
          <a:xfrm>
            <a:off x="2788920" y="1854926"/>
            <a:ext cx="3983126" cy="41017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doing some exercise</a:t>
            </a:r>
            <a:endParaRPr lang="en-US" sz="1200" dirty="0"/>
          </a:p>
        </p:txBody>
      </p:sp>
      <p:sp>
        <p:nvSpPr>
          <p:cNvPr id="17" name="R1_m1"/>
          <p:cNvSpPr txBox="1"/>
          <p:nvPr/>
        </p:nvSpPr>
        <p:spPr>
          <a:xfrm>
            <a:off x="6845198" y="1873214"/>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J</a:t>
            </a:r>
            <a:endParaRPr lang="en-US" sz="1300" dirty="0"/>
          </a:p>
        </p:txBody>
      </p:sp>
      <p:sp>
        <p:nvSpPr>
          <p:cNvPr id="18" name="box_102"/>
          <p:cNvSpPr txBox="1"/>
          <p:nvPr/>
        </p:nvSpPr>
        <p:spPr>
          <a:xfrm>
            <a:off x="2788920" y="2338251"/>
            <a:ext cx="3983126" cy="41017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going to a club</a:t>
            </a:r>
            <a:endParaRPr lang="en-US" sz="1200" dirty="0"/>
          </a:p>
        </p:txBody>
      </p:sp>
      <p:sp>
        <p:nvSpPr>
          <p:cNvPr id="19" name="R1_m2"/>
          <p:cNvSpPr txBox="1"/>
          <p:nvPr/>
        </p:nvSpPr>
        <p:spPr>
          <a:xfrm>
            <a:off x="6845198" y="2356539"/>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a:t>
            </a:r>
            <a:endParaRPr lang="en-US" sz="1300" dirty="0"/>
          </a:p>
        </p:txBody>
      </p:sp>
      <p:sp>
        <p:nvSpPr>
          <p:cNvPr id="20" name="box_103"/>
          <p:cNvSpPr txBox="1"/>
          <p:nvPr/>
        </p:nvSpPr>
        <p:spPr>
          <a:xfrm>
            <a:off x="2788920" y="2821577"/>
            <a:ext cx="3983126" cy="41017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going to an art gallery</a:t>
            </a:r>
            <a:endParaRPr lang="en-US" sz="1200" dirty="0"/>
          </a:p>
        </p:txBody>
      </p:sp>
      <p:sp>
        <p:nvSpPr>
          <p:cNvPr id="21" name="R1_m3"/>
          <p:cNvSpPr txBox="1"/>
          <p:nvPr/>
        </p:nvSpPr>
        <p:spPr>
          <a:xfrm>
            <a:off x="6845198" y="2839865"/>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J</a:t>
            </a:r>
            <a:endParaRPr lang="en-US" sz="1300" dirty="0"/>
          </a:p>
        </p:txBody>
      </p:sp>
      <p:sp>
        <p:nvSpPr>
          <p:cNvPr id="22" name="box_104"/>
          <p:cNvSpPr txBox="1"/>
          <p:nvPr/>
        </p:nvSpPr>
        <p:spPr>
          <a:xfrm>
            <a:off x="2788920" y="3304903"/>
            <a:ext cx="3983126" cy="41017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staying at home</a:t>
            </a:r>
            <a:endParaRPr lang="en-US" sz="1200" dirty="0"/>
          </a:p>
        </p:txBody>
      </p:sp>
      <p:sp>
        <p:nvSpPr>
          <p:cNvPr id="23" name="R1_m4"/>
          <p:cNvSpPr txBox="1"/>
          <p:nvPr/>
        </p:nvSpPr>
        <p:spPr>
          <a:xfrm>
            <a:off x="6845198" y="3323191"/>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J</a:t>
            </a:r>
            <a:endParaRPr lang="en-US" sz="1300" dirty="0"/>
          </a:p>
        </p:txBody>
      </p:sp>
      <p:sp>
        <p:nvSpPr>
          <p:cNvPr id="24" name="box_105"/>
          <p:cNvSpPr txBox="1"/>
          <p:nvPr/>
        </p:nvSpPr>
        <p:spPr>
          <a:xfrm>
            <a:off x="2788920" y="3788229"/>
            <a:ext cx="3983126" cy="410174"/>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going to a gig</a:t>
            </a:r>
            <a:endParaRPr lang="en-US" sz="1200" dirty="0"/>
          </a:p>
        </p:txBody>
      </p:sp>
      <p:sp>
        <p:nvSpPr>
          <p:cNvPr id="25" name="R1_m5"/>
          <p:cNvSpPr txBox="1"/>
          <p:nvPr/>
        </p:nvSpPr>
        <p:spPr>
          <a:xfrm>
            <a:off x="6845198" y="3806517"/>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a:t>
            </a:r>
            <a:endParaRPr lang="en-US" sz="1300" dirty="0"/>
          </a:p>
        </p:txBody>
      </p:sp>
      <p:sp>
        <p:nvSpPr>
          <p:cNvPr id="26" name="box_106"/>
          <p:cNvSpPr txBox="1"/>
          <p:nvPr/>
        </p:nvSpPr>
        <p:spPr>
          <a:xfrm>
            <a:off x="2788920" y="4271554"/>
            <a:ext cx="3983126" cy="41017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7  meeting Kerri</a:t>
            </a:r>
            <a:endParaRPr lang="en-US" sz="1200" dirty="0"/>
          </a:p>
        </p:txBody>
      </p:sp>
      <p:sp>
        <p:nvSpPr>
          <p:cNvPr id="27" name="R1_m6"/>
          <p:cNvSpPr txBox="1"/>
          <p:nvPr/>
        </p:nvSpPr>
        <p:spPr>
          <a:xfrm>
            <a:off x="6845198" y="4289842"/>
            <a:ext cx="1978762" cy="373598"/>
          </a:xfrm>
          <a:prstGeom prst="roundRect">
            <a:avLst>
              <a:gd name="adj" fmla="val 1468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R</a:t>
            </a:r>
            <a:endParaRPr lang="en-US" sz="1300" dirty="0"/>
          </a:p>
        </p:txBody>
      </p:sp>
      <p:sp>
        <p:nvSpPr>
          <p:cNvPr id="28" name="pageTag_10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2b · video on the previous slide / audio 7.24</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8"/>
          <p:cNvSpPr/>
          <p:nvPr/>
        </p:nvSpPr>
        <p:spPr>
          <a:xfrm>
            <a:off x="54864" y="54864"/>
            <a:ext cx="9034272" cy="5033772"/>
          </a:xfrm>
          <a:prstGeom prst="rect">
            <a:avLst/>
          </a:prstGeom>
          <a:ln w="114300">
            <a:solidFill>
              <a:srgbClr val="A8E6B4"/>
            </a:solidFill>
            <a:prstDash val="solid"/>
          </a:ln>
        </p:spPr>
      </p:sp>
      <p:pic>
        <p:nvPicPr>
          <p:cNvPr id="4" name="logo_10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FUNCTION · Making suggestions · 7.25</a:t>
            </a:r>
            <a:endParaRPr lang="en-US" sz="900" dirty="0"/>
          </a:p>
        </p:txBody>
      </p:sp>
      <p:sp>
        <p:nvSpPr>
          <p:cNvPr id="6" name="timer_11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11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113"/>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Listen and check</a:t>
            </a:r>
            <a:endParaRPr lang="en-US" sz="1500" dirty="0"/>
          </a:p>
        </p:txBody>
      </p:sp>
      <p:sp>
        <p:nvSpPr>
          <p:cNvPr id="9" name="post_114"/>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15"/>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11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Complete the extracts in your book. Then watch and check.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Completa gli estratti nel libro. Poi guarda e controlla.</a:t>
            </a:r>
            <a:endParaRPr lang="en-US" sz="1200" dirty="0"/>
          </a:p>
        </p:txBody>
      </p:sp>
      <p:sp>
        <p:nvSpPr>
          <p:cNvPr id="12" name="iconBack_11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18" descr="pi:PiChatsCircle">    </p:cNvPr>
          <p:cNvPicPr>
            <a:picLocks noChangeAspect="1"/>
          </p:cNvPicPr>
          <p:nvPr/>
        </p:nvPicPr>
        <p:blipFill>
          <a:blip r:embed="rId3"/>
          <a:stretch>
            <a:fillRect/>
          </a:stretch>
        </p:blipFill>
        <p:spPr>
          <a:xfrm>
            <a:off x="914400" y="3474720"/>
            <a:ext cx="685800" cy="685800"/>
          </a:xfrm>
          <a:prstGeom prst="rect">
            <a:avLst/>
          </a:prstGeom>
        </p:spPr>
      </p:pic>
      <p:pic>
        <p:nvPicPr>
          <p:cNvPr id="14"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788920" y="1371600"/>
            <a:ext cx="2926080" cy="1645920"/>
          </a:xfrm>
          <a:prstGeom prst="rect">
            <a:avLst/>
          </a:prstGeom>
        </p:spPr>
      </p:pic>
      <p:sp>
        <p:nvSpPr>
          <p:cNvPr id="15" name="vt_119"/>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Making suggestions · listen and check</a:t>
            </a:r>
            <a:endParaRPr lang="en-US" sz="1200" dirty="0"/>
          </a:p>
          <a:p>
            <a:pPr indent="0" marL="0">
              <a:buNone/>
            </a:pPr>
            <a:r>
              <a:rPr lang="en-US" sz="1000" dirty="0">
                <a:solidFill>
                  <a:srgbClr val="475569"/>
                </a:solidFill>
                <a:latin typeface="Calibri" pitchFamily="34" charset="0"/>
                <a:ea typeface="Calibri" pitchFamily="34" charset="-122"/>
                <a:cs typeface="Calibri" pitchFamily="34" charset="-120"/>
              </a:rPr>
              <a:t>Practical English Episode 4 · 2c · 7.25 (1'24")</a:t>
            </a:r>
            <a:endParaRPr lang="en-US" sz="1200" dirty="0"/>
          </a:p>
        </p:txBody>
      </p:sp>
      <p:sp>
        <p:nvSpPr>
          <p:cNvPr id="16" name="wyw_120"/>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7" name="box_121"/>
          <p:cNvSpPr txBox="1"/>
          <p:nvPr/>
        </p:nvSpPr>
        <p:spPr>
          <a:xfrm>
            <a:off x="5852160" y="1810512"/>
            <a:ext cx="1783080" cy="4145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Paul – dancing</a:t>
            </a:r>
            <a:endParaRPr lang="en-US" sz="1250" dirty="0"/>
          </a:p>
        </p:txBody>
      </p:sp>
      <p:sp>
        <p:nvSpPr>
          <p:cNvPr id="18" name="R1_va0"/>
          <p:cNvSpPr txBox="1"/>
          <p:nvPr/>
        </p:nvSpPr>
        <p:spPr>
          <a:xfrm>
            <a:off x="7680960" y="18379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do · Let's</a:t>
            </a:r>
            <a:endParaRPr lang="en-US" sz="1050" dirty="0"/>
          </a:p>
        </p:txBody>
      </p:sp>
      <p:sp>
        <p:nvSpPr>
          <p:cNvPr id="19" name="box_122"/>
          <p:cNvSpPr txBox="1"/>
          <p:nvPr/>
        </p:nvSpPr>
        <p:spPr>
          <a:xfrm>
            <a:off x="5852160" y="2298192"/>
            <a:ext cx="1783080" cy="4145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Jenny – running</a:t>
            </a:r>
            <a:endParaRPr lang="en-US" sz="1250" dirty="0"/>
          </a:p>
        </p:txBody>
      </p:sp>
      <p:sp>
        <p:nvSpPr>
          <p:cNvPr id="20" name="R1_va1"/>
          <p:cNvSpPr txBox="1"/>
          <p:nvPr/>
        </p:nvSpPr>
        <p:spPr>
          <a:xfrm>
            <a:off x="7680960" y="232562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don't · keen · could</a:t>
            </a:r>
            <a:endParaRPr lang="en-US" sz="950" dirty="0"/>
          </a:p>
        </p:txBody>
      </p:sp>
      <p:sp>
        <p:nvSpPr>
          <p:cNvPr id="21" name="box_123"/>
          <p:cNvSpPr txBox="1"/>
          <p:nvPr/>
        </p:nvSpPr>
        <p:spPr>
          <a:xfrm>
            <a:off x="5852160" y="2785872"/>
            <a:ext cx="1783080" cy="4145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Jenny – MOMA</a:t>
            </a:r>
            <a:endParaRPr lang="en-US" sz="1250" dirty="0"/>
          </a:p>
        </p:txBody>
      </p:sp>
      <p:sp>
        <p:nvSpPr>
          <p:cNvPr id="22" name="R1_va2"/>
          <p:cNvSpPr txBox="1"/>
          <p:nvPr/>
        </p:nvSpPr>
        <p:spPr>
          <a:xfrm>
            <a:off x="7680960" y="281330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How</a:t>
            </a:r>
            <a:endParaRPr lang="en-US" sz="1050" dirty="0"/>
          </a:p>
        </p:txBody>
      </p:sp>
      <p:sp>
        <p:nvSpPr>
          <p:cNvPr id="23" name="box_124"/>
          <p:cNvSpPr txBox="1"/>
          <p:nvPr/>
        </p:nvSpPr>
        <p:spPr>
          <a:xfrm>
            <a:off x="5852160" y="3273552"/>
            <a:ext cx="1783080" cy="4145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Jenny – staying in</a:t>
            </a:r>
            <a:endParaRPr lang="en-US" sz="1250" dirty="0"/>
          </a:p>
        </p:txBody>
      </p:sp>
      <p:sp>
        <p:nvSpPr>
          <p:cNvPr id="24" name="R1_va3"/>
          <p:cNvSpPr txBox="1"/>
          <p:nvPr/>
        </p:nvSpPr>
        <p:spPr>
          <a:xfrm>
            <a:off x="7680960" y="330098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What</a:t>
            </a:r>
            <a:endParaRPr lang="en-US" sz="1050" dirty="0"/>
          </a:p>
        </p:txBody>
      </p:sp>
      <p:sp>
        <p:nvSpPr>
          <p:cNvPr id="25" name="box_125"/>
          <p:cNvSpPr txBox="1"/>
          <p:nvPr/>
        </p:nvSpPr>
        <p:spPr>
          <a:xfrm>
            <a:off x="5852160" y="3761232"/>
            <a:ext cx="1783080" cy="41452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Paul – the gig</a:t>
            </a:r>
            <a:endParaRPr lang="en-US" sz="1250" dirty="0"/>
          </a:p>
        </p:txBody>
      </p:sp>
      <p:sp>
        <p:nvSpPr>
          <p:cNvPr id="26" name="R1_va4"/>
          <p:cNvSpPr txBox="1"/>
          <p:nvPr/>
        </p:nvSpPr>
        <p:spPr>
          <a:xfrm>
            <a:off x="7680960" y="378866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shall · Why</a:t>
            </a:r>
            <a:endParaRPr lang="en-US" sz="1050" dirty="0"/>
          </a:p>
        </p:txBody>
      </p:sp>
      <p:sp>
        <p:nvSpPr>
          <p:cNvPr id="27" name="box_126"/>
          <p:cNvSpPr txBox="1"/>
          <p:nvPr/>
        </p:nvSpPr>
        <p:spPr>
          <a:xfrm>
            <a:off x="5852160" y="4248912"/>
            <a:ext cx="1783080" cy="41452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Rob – meet Kerri</a:t>
            </a:r>
            <a:endParaRPr lang="en-US" sz="1250" dirty="0"/>
          </a:p>
        </p:txBody>
      </p:sp>
      <p:sp>
        <p:nvSpPr>
          <p:cNvPr id="28" name="R1_va5"/>
          <p:cNvSpPr txBox="1"/>
          <p:nvPr/>
        </p:nvSpPr>
        <p:spPr>
          <a:xfrm>
            <a:off x="7680960" y="42763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could · idea</a:t>
            </a:r>
            <a:endParaRPr lang="en-US" sz="1050" dirty="0"/>
          </a:p>
        </p:txBody>
      </p:sp>
      <p:sp>
        <p:nvSpPr>
          <p:cNvPr id="29" name="pageTag_12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2c · video / audio 7.25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video>
              <p:cMediaNode vol="80000">
                <p:cTn id="28" fill="hold" display="0">
                  <p:stCondLst>
                    <p:cond delay="indefinite"/>
                  </p:stCondLst>
                </p:cTn>
                <p:tgtEl>
                  <p:spTgt spid="1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8"/>
          <p:cNvSpPr/>
          <p:nvPr/>
        </p:nvSpPr>
        <p:spPr>
          <a:xfrm>
            <a:off x="54864" y="54864"/>
            <a:ext cx="9034272" cy="5033772"/>
          </a:xfrm>
          <a:prstGeom prst="rect">
            <a:avLst/>
          </a:prstGeom>
          <a:ln w="114300">
            <a:solidFill>
              <a:srgbClr val="A8E6B4"/>
            </a:solidFill>
            <a:prstDash val="solid"/>
          </a:ln>
        </p:spPr>
      </p:sp>
      <p:pic>
        <p:nvPicPr>
          <p:cNvPr id="4" name="logo_12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FUNCTION · Making suggestions · 2d</a:t>
            </a:r>
            <a:endParaRPr lang="en-US" sz="900" dirty="0"/>
          </a:p>
        </p:txBody>
      </p:sp>
      <p:sp>
        <p:nvSpPr>
          <p:cNvPr id="6" name="timer_13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3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133"/>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Why don't we…?</a:t>
            </a:r>
            <a:endParaRPr lang="en-US" sz="1500" dirty="0"/>
          </a:p>
        </p:txBody>
      </p:sp>
      <p:sp>
        <p:nvSpPr>
          <p:cNvPr id="9" name="rh_134"/>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infinitive</a:t>
            </a:r>
            <a:endParaRPr lang="en-US" sz="1300" dirty="0"/>
          </a:p>
        </p:txBody>
      </p:sp>
      <p:sp>
        <p:nvSpPr>
          <p:cNvPr id="10" name="rb_135"/>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Let's go dancing!</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Shall we go there?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Why don't you join me?</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We could meet her outside.</a:t>
            </a:r>
            <a:endParaRPr lang="en-US" sz="12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Let's = the most emphatic (2d)</a:t>
            </a:r>
            <a:endParaRPr lang="en-US" sz="1250" dirty="0"/>
          </a:p>
        </p:txBody>
      </p:sp>
      <p:sp>
        <p:nvSpPr>
          <p:cNvPr id="11" name="rh_136"/>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 -ing</a:t>
            </a:r>
            <a:endParaRPr lang="en-US" sz="1300" dirty="0"/>
          </a:p>
        </p:txBody>
      </p:sp>
      <p:sp>
        <p:nvSpPr>
          <p:cNvPr id="12" name="rb_137"/>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What about going to the late show?</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How about staying in?</a:t>
            </a:r>
            <a:endParaRPr lang="en-US" sz="125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What / How about + -ing</a:t>
            </a:r>
            <a:endParaRPr lang="en-US" sz="1250" dirty="0"/>
          </a:p>
        </p:txBody>
      </p:sp>
      <p:sp>
        <p:nvSpPr>
          <p:cNvPr id="13" name="rh_138"/>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Responding</a:t>
            </a:r>
            <a:endParaRPr lang="en-US" sz="1300" dirty="0"/>
          </a:p>
        </p:txBody>
      </p:sp>
      <p:sp>
        <p:nvSpPr>
          <p:cNvPr id="14" name="rb_139"/>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 That's a great idea! · Why not? · OK.</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 No, thanks. I'm not very keen on running.</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 I'm not crazy about her music.</a:t>
            </a:r>
            <a:endParaRPr lang="en-US" sz="1250" dirty="0"/>
          </a:p>
          <a:p>
            <a:pPr indent="0" marL="0">
              <a:spcAft>
                <a:spcPts val="400"/>
              </a:spcAft>
              <a:buNone/>
            </a:pPr>
            <a:r>
              <a:rPr lang="en-US" sz="1250" dirty="0">
                <a:solidFill>
                  <a:srgbClr val="111111"/>
                </a:solidFill>
                <a:latin typeface="Calibri" pitchFamily="34" charset="0"/>
                <a:ea typeface="Calibri" pitchFamily="34" charset="-122"/>
                <a:cs typeface="Calibri" pitchFamily="34" charset="-120"/>
              </a:rPr>
              <a:t>✗ That isn't exactly my idea of a great night out.</a:t>
            </a:r>
            <a:endParaRPr lang="en-US" sz="1250" dirty="0"/>
          </a:p>
        </p:txBody>
      </p:sp>
      <p:sp>
        <p:nvSpPr>
          <p:cNvPr id="15" name="watch_140"/>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000" b="1" dirty="0">
                <a:solidFill>
                  <a:srgbClr val="EF2F2F"/>
                </a:solidFill>
                <a:latin typeface="Calibri" pitchFamily="34" charset="0"/>
                <a:ea typeface="Calibri" pitchFamily="34" charset="-122"/>
                <a:cs typeface="Calibri" pitchFamily="34" charset="-120"/>
              </a:rPr>
              <a:t>Watch out!  </a:t>
            </a:r>
            <a:pPr indent="0" marL="0">
              <a:buNone/>
            </a:pPr>
            <a:r>
              <a:rPr lang="en-US" sz="1000" dirty="0">
                <a:solidFill>
                  <a:srgbClr val="111111"/>
                </a:solidFill>
                <a:latin typeface="Calibri" pitchFamily="34" charset="0"/>
                <a:ea typeface="Calibri" pitchFamily="34" charset="-122"/>
                <a:cs typeface="Calibri" pitchFamily="34" charset="-120"/>
              </a:rPr>
              <a:t>✗ Why don't we to go…? → ✓ Why don't we go…?   ✗ What about go…? → ✓ What about going…?   ✗ Let's to go → ✓ Let's go</a:t>
            </a:r>
            <a:endParaRPr lang="en-US" sz="1000" dirty="0"/>
          </a:p>
        </p:txBody>
      </p:sp>
      <p:sp>
        <p:nvSpPr>
          <p:cNvPr id="16" name="pageTag_14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2d (Verb forms box)</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2"/>
          <p:cNvSpPr/>
          <p:nvPr/>
        </p:nvSpPr>
        <p:spPr>
          <a:xfrm>
            <a:off x="54864" y="54864"/>
            <a:ext cx="9034272" cy="5033772"/>
          </a:xfrm>
          <a:prstGeom prst="rect">
            <a:avLst/>
          </a:prstGeom>
          <a:ln w="114300">
            <a:solidFill>
              <a:srgbClr val="A8E6B4"/>
            </a:solidFill>
            <a:prstDash val="solid"/>
          </a:ln>
        </p:spPr>
      </p:sp>
      <p:pic>
        <p:nvPicPr>
          <p:cNvPr id="4" name="logo_1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FUNCTION · Making suggestions · 7.26</a:t>
            </a:r>
            <a:endParaRPr lang="en-US" sz="900" dirty="0"/>
          </a:p>
        </p:txBody>
      </p:sp>
      <p:sp>
        <p:nvSpPr>
          <p:cNvPr id="6" name="timer_14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147"/>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Listen and repeat</a:t>
            </a:r>
            <a:endParaRPr lang="en-US" sz="1500" dirty="0"/>
          </a:p>
        </p:txBody>
      </p:sp>
      <p:sp>
        <p:nvSpPr>
          <p:cNvPr id="9" name="post_14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49"/>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1" name="signB_15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and repeat. Copy the rhythm and intonation!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e ripeti. Copia il ritmo e l'intonazione!</a:t>
            </a:r>
            <a:endParaRPr lang="en-US" sz="1250" dirty="0"/>
          </a:p>
        </p:txBody>
      </p:sp>
      <p:sp>
        <p:nvSpPr>
          <p:cNvPr id="12" name="iconBack_15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52" descr="pi:PiMicrophoneStage">    </p:cNvPr>
          <p:cNvPicPr>
            <a:picLocks noChangeAspect="1"/>
          </p:cNvPicPr>
          <p:nvPr/>
        </p:nvPicPr>
        <p:blipFill>
          <a:blip r:embed="rId3"/>
          <a:stretch>
            <a:fillRect/>
          </a:stretch>
        </p:blipFill>
        <p:spPr>
          <a:xfrm>
            <a:off x="914400" y="3474720"/>
            <a:ext cx="685800" cy="685800"/>
          </a:xfrm>
          <a:prstGeom prst="rect">
            <a:avLst/>
          </a:prstGeom>
        </p:spPr>
      </p:pic>
      <p:pic>
        <p:nvPicPr>
          <p:cNvPr id="14"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788920" y="1371600"/>
            <a:ext cx="2926080" cy="1645920"/>
          </a:xfrm>
          <a:prstGeom prst="rect">
            <a:avLst/>
          </a:prstGeom>
        </p:spPr>
      </p:pic>
      <p:sp>
        <p:nvSpPr>
          <p:cNvPr id="15" name="vt_153"/>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Making suggestions · listen and repeat</a:t>
            </a:r>
            <a:endParaRPr lang="en-US" sz="1200" dirty="0"/>
          </a:p>
          <a:p>
            <a:pPr indent="0" marL="0">
              <a:buNone/>
            </a:pPr>
            <a:r>
              <a:rPr lang="en-US" sz="1000" dirty="0">
                <a:solidFill>
                  <a:srgbClr val="475569"/>
                </a:solidFill>
                <a:latin typeface="Calibri" pitchFamily="34" charset="0"/>
                <a:ea typeface="Calibri" pitchFamily="34" charset="-122"/>
                <a:cs typeface="Calibri" pitchFamily="34" charset="-120"/>
              </a:rPr>
              <a:t>Practical English Episode 4 · 2e · 7.26 (1'50")</a:t>
            </a:r>
            <a:endParaRPr lang="en-US" sz="1200" dirty="0"/>
          </a:p>
        </p:txBody>
      </p:sp>
      <p:sp>
        <p:nvSpPr>
          <p:cNvPr id="16" name="wyw_154"/>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7" name="box_155"/>
          <p:cNvSpPr txBox="1"/>
          <p:nvPr/>
        </p:nvSpPr>
        <p:spPr>
          <a:xfrm>
            <a:off x="5852160" y="1810512"/>
            <a:ext cx="2971800" cy="512064"/>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Let's go dancing!</a:t>
            </a:r>
            <a:endParaRPr lang="en-US" sz="1250" dirty="0"/>
          </a:p>
        </p:txBody>
      </p:sp>
      <p:sp>
        <p:nvSpPr>
          <p:cNvPr id="18" name="box_156"/>
          <p:cNvSpPr txBox="1"/>
          <p:nvPr/>
        </p:nvSpPr>
        <p:spPr>
          <a:xfrm>
            <a:off x="5852160" y="2395728"/>
            <a:ext cx="2971800" cy="512064"/>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Why don't you join me?</a:t>
            </a:r>
            <a:endParaRPr lang="en-US" sz="1250" dirty="0"/>
          </a:p>
        </p:txBody>
      </p:sp>
      <p:sp>
        <p:nvSpPr>
          <p:cNvPr id="19" name="box_157"/>
          <p:cNvSpPr txBox="1"/>
          <p:nvPr/>
        </p:nvSpPr>
        <p:spPr>
          <a:xfrm>
            <a:off x="5852160" y="2980944"/>
            <a:ext cx="2971800" cy="512064"/>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I'm not very keen on running.</a:t>
            </a:r>
            <a:endParaRPr lang="en-US" sz="1250" dirty="0"/>
          </a:p>
        </p:txBody>
      </p:sp>
      <p:sp>
        <p:nvSpPr>
          <p:cNvPr id="20" name="box_158"/>
          <p:cNvSpPr txBox="1"/>
          <p:nvPr/>
        </p:nvSpPr>
        <p:spPr>
          <a:xfrm>
            <a:off x="5852160" y="3566160"/>
            <a:ext cx="2971800" cy="512064"/>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Shall we go there? – Why not?</a:t>
            </a:r>
            <a:endParaRPr lang="en-US" sz="1250" dirty="0"/>
          </a:p>
        </p:txBody>
      </p:sp>
      <p:sp>
        <p:nvSpPr>
          <p:cNvPr id="21" name="box_159"/>
          <p:cNvSpPr txBox="1"/>
          <p:nvPr/>
        </p:nvSpPr>
        <p:spPr>
          <a:xfrm>
            <a:off x="5852160" y="4151376"/>
            <a:ext cx="2971800" cy="512064"/>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That's a great idea!</a:t>
            </a:r>
            <a:endParaRPr lang="en-US" sz="1250" dirty="0"/>
          </a:p>
        </p:txBody>
      </p:sp>
      <p:sp>
        <p:nvSpPr>
          <p:cNvPr id="22" name="bubble_160"/>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2f: practise the conversations in 2c in pairs. Then swap!</a:t>
            </a:r>
            <a:endParaRPr lang="en-US" sz="1200" dirty="0"/>
          </a:p>
        </p:txBody>
      </p:sp>
      <p:sp>
        <p:nvSpPr>
          <p:cNvPr id="23" name="pageTag_16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2e, 2f · video / audio 7.26</a:t>
            </a:r>
            <a:endParaRPr lang="en-US" sz="1050" dirty="0"/>
          </a:p>
        </p:txBody>
      </p:sp>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1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14"/>
                                        </p:tgtEl>
                                      </p:cBhvr>
                                    </p:cmd>
                                  </p:childTnLst>
                                </p:cTn>
                              </p:par>
                            </p:childTnLst>
                          </p:cTn>
                        </p:par>
                      </p:childTnLst>
                    </p:cTn>
                  </p:par>
                </p:childTnLst>
              </p:cTn>
              <p:nextCondLst>
                <p:cond evt="onClick" delay="0">
                  <p:tgtEl>
                    <p:spTgt spid="14"/>
                  </p:tgtEl>
                </p:cond>
              </p:nextCondLst>
            </p:seq>
            <p:video>
              <p:cMediaNode vol="80000">
                <p:cTn id="8" fill="hold" display="0">
                  <p:stCondLst>
                    <p:cond delay="indefinite"/>
                  </p:stCondLst>
                </p:cTn>
                <p:tgtEl>
                  <p:spTgt spid="1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62"/>
          <p:cNvSpPr/>
          <p:nvPr/>
        </p:nvSpPr>
        <p:spPr>
          <a:xfrm>
            <a:off x="54864" y="54864"/>
            <a:ext cx="9034272" cy="5033772"/>
          </a:xfrm>
          <a:prstGeom prst="rect">
            <a:avLst/>
          </a:prstGeom>
          <a:ln w="114300">
            <a:solidFill>
              <a:srgbClr val="A8E6B4"/>
            </a:solidFill>
            <a:prstDash val="solid"/>
          </a:ln>
        </p:spPr>
      </p:sp>
      <p:pic>
        <p:nvPicPr>
          <p:cNvPr id="4" name="logo_16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Plan a class party</a:t>
            </a:r>
            <a:endParaRPr lang="en-US" sz="900" dirty="0"/>
          </a:p>
        </p:txBody>
      </p:sp>
      <p:sp>
        <p:nvSpPr>
          <p:cNvPr id="6" name="timer_16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6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167"/>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end-of-term party</a:t>
            </a:r>
            <a:endParaRPr lang="en-US" sz="1500" dirty="0"/>
          </a:p>
        </p:txBody>
      </p:sp>
      <p:sp>
        <p:nvSpPr>
          <p:cNvPr id="9" name="post_16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6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17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50" dirty="0">
                <a:solidFill>
                  <a:srgbClr val="111111"/>
                </a:solidFill>
                <a:latin typeface="Calibri" pitchFamily="34" charset="0"/>
                <a:ea typeface="Calibri" pitchFamily="34" charset="-122"/>
                <a:cs typeface="Calibri" pitchFamily="34" charset="-120"/>
              </a:rPr>
              <a:t>Groups: plan the party. Suggest, accept, refuse – politely!</a:t>
            </a:r>
            <a:endParaRPr lang="en-US" sz="1050" dirty="0"/>
          </a:p>
          <a:p>
            <a:pPr indent="0" marL="0">
              <a:buNone/>
            </a:pPr>
            <a:r>
              <a:rPr lang="en-US" sz="950" i="1" dirty="0">
                <a:solidFill>
                  <a:srgbClr val="334155"/>
                </a:solidFill>
                <a:latin typeface="Calibri" pitchFamily="34" charset="0"/>
                <a:ea typeface="Calibri" pitchFamily="34" charset="-122"/>
                <a:cs typeface="Calibri" pitchFamily="34" charset="-120"/>
              </a:rPr>
              <a:t>In gruppo: organizzate la festa. Proponete, accettate, rifiutate – con gentilezza!</a:t>
            </a:r>
            <a:endParaRPr lang="en-US" sz="1050" dirty="0"/>
          </a:p>
        </p:txBody>
      </p:sp>
      <p:sp>
        <p:nvSpPr>
          <p:cNvPr id="12" name="iconBack_17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72" descr="pi:PiConfetti">    </p:cNvPr>
          <p:cNvPicPr>
            <a:picLocks noChangeAspect="1"/>
          </p:cNvPicPr>
          <p:nvPr/>
        </p:nvPicPr>
        <p:blipFill>
          <a:blip r:embed="rId3"/>
          <a:stretch>
            <a:fillRect/>
          </a:stretch>
        </p:blipFill>
        <p:spPr>
          <a:xfrm>
            <a:off x="914400" y="3474720"/>
            <a:ext cx="685800" cy="685800"/>
          </a:xfrm>
          <a:prstGeom prst="rect">
            <a:avLst/>
          </a:prstGeom>
        </p:spPr>
      </p:pic>
      <p:sp>
        <p:nvSpPr>
          <p:cNvPr id="14" name="num_173"/>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174"/>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Groups of 4. Decide: WHERE? WHEN? FOOD? MUSIC? an ACTIVITY?</a:t>
            </a:r>
            <a:endParaRPr lang="en-US" sz="1250" dirty="0"/>
          </a:p>
        </p:txBody>
      </p:sp>
      <p:sp>
        <p:nvSpPr>
          <p:cNvPr id="16" name="num_175"/>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176"/>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Each person must make at least 3 suggestions – use a different phrase each time.</a:t>
            </a:r>
            <a:endParaRPr lang="en-US" sz="1100" dirty="0"/>
          </a:p>
        </p:txBody>
      </p:sp>
      <p:sp>
        <p:nvSpPr>
          <p:cNvPr id="18" name="num_177"/>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178"/>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Refuse at least one idea politely: I'm not very keen on… What about…?</a:t>
            </a:r>
            <a:endParaRPr lang="en-US" sz="1250" dirty="0"/>
          </a:p>
        </p:txBody>
      </p:sp>
      <p:sp>
        <p:nvSpPr>
          <p:cNvPr id="20" name="num_179"/>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180"/>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You have 4 minutes. Then one person presents your plan to the class.</a:t>
            </a:r>
            <a:endParaRPr lang="en-US" sz="1250" dirty="0"/>
          </a:p>
        </p:txBody>
      </p:sp>
      <p:sp>
        <p:nvSpPr>
          <p:cNvPr id="22" name="num_181"/>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182"/>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Class vote: which party would you go to?</a:t>
            </a:r>
            <a:endParaRPr lang="en-US" sz="1250" dirty="0"/>
          </a:p>
        </p:txBody>
      </p:sp>
      <p:sp>
        <p:nvSpPr>
          <p:cNvPr id="24" name="bubble_18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Why don't we have it at the beach in Aspra? – I'm not very keen on… What about…?</a:t>
            </a:r>
            <a:endParaRPr lang="en-US" sz="1100" dirty="0"/>
          </a:p>
        </p:txBody>
      </p:sp>
      <p:sp>
        <p:nvSpPr>
          <p:cNvPr id="25" name="pageTag_18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p.74 · 2g</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5"/>
          <p:cNvSpPr/>
          <p:nvPr/>
        </p:nvSpPr>
        <p:spPr>
          <a:xfrm>
            <a:off x="54864" y="54864"/>
            <a:ext cx="9034272" cy="5033772"/>
          </a:xfrm>
          <a:prstGeom prst="rect">
            <a:avLst/>
          </a:prstGeom>
          <a:ln w="114300">
            <a:solidFill>
              <a:srgbClr val="A8E6B4"/>
            </a:solidFill>
            <a:prstDash val="solid"/>
          </a:ln>
        </p:spPr>
      </p:sp>
      <p:pic>
        <p:nvPicPr>
          <p:cNvPr id="4" name="logo_18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8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Scene 3 · 7.27</a:t>
            </a:r>
            <a:endParaRPr lang="en-US" sz="900" dirty="0"/>
          </a:p>
        </p:txBody>
      </p:sp>
      <p:sp>
        <p:nvSpPr>
          <p:cNvPr id="6" name="timer_18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8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190"/>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morning after</a:t>
            </a:r>
            <a:endParaRPr lang="en-US" sz="1500" dirty="0"/>
          </a:p>
        </p:txBody>
      </p:sp>
      <p:sp>
        <p:nvSpPr>
          <p:cNvPr id="9" name="post_191"/>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192"/>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19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Where is Rob? What's the problem?</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Dov'è Rob? Qual è il problema?</a:t>
            </a:r>
            <a:endParaRPr lang="en-US" sz="1250" dirty="0"/>
          </a:p>
        </p:txBody>
      </p:sp>
      <p:pic>
        <p:nvPicPr>
          <p:cNvPr id="12"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2926080" cy="1645920"/>
          </a:xfrm>
          <a:prstGeom prst="rect">
            <a:avLst/>
          </a:prstGeom>
        </p:spPr>
      </p:pic>
      <p:sp>
        <p:nvSpPr>
          <p:cNvPr id="13" name="vt_194"/>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Episode 4 · The morning after the night before</a:t>
            </a:r>
            <a:endParaRPr lang="en-US" sz="1000" dirty="0"/>
          </a:p>
          <a:p>
            <a:pPr indent="0" marL="0">
              <a:buNone/>
            </a:pPr>
            <a:r>
              <a:rPr lang="en-US" sz="850" dirty="0">
                <a:solidFill>
                  <a:srgbClr val="475569"/>
                </a:solidFill>
                <a:latin typeface="Calibri" pitchFamily="34" charset="0"/>
                <a:ea typeface="Calibri" pitchFamily="34" charset="-122"/>
                <a:cs typeface="Calibri" pitchFamily="34" charset="-120"/>
              </a:rPr>
              <a:t>Practical English Episode 4 · class video · 7.27 (2'04")</a:t>
            </a:r>
            <a:endParaRPr lang="en-US" sz="1000" dirty="0"/>
          </a:p>
        </p:txBody>
      </p:sp>
      <p:sp>
        <p:nvSpPr>
          <p:cNvPr id="14" name="wyw_195"/>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5" name="box_196"/>
          <p:cNvSpPr txBox="1"/>
          <p:nvPr/>
        </p:nvSpPr>
        <p:spPr>
          <a:xfrm>
            <a:off x="5852160" y="1810512"/>
            <a:ext cx="1783080" cy="65836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Where is Rob?</a:t>
            </a:r>
            <a:endParaRPr lang="en-US" sz="1250" dirty="0"/>
          </a:p>
        </p:txBody>
      </p:sp>
      <p:sp>
        <p:nvSpPr>
          <p:cNvPr id="16" name="R1_va0"/>
          <p:cNvSpPr txBox="1"/>
          <p:nvPr/>
        </p:nvSpPr>
        <p:spPr>
          <a:xfrm>
            <a:off x="7680960" y="183794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at home</a:t>
            </a:r>
            <a:endParaRPr lang="en-US" sz="1050" dirty="0"/>
          </a:p>
        </p:txBody>
      </p:sp>
      <p:sp>
        <p:nvSpPr>
          <p:cNvPr id="17" name="box_197"/>
          <p:cNvSpPr txBox="1"/>
          <p:nvPr/>
        </p:nvSpPr>
        <p:spPr>
          <a:xfrm>
            <a:off x="5852160" y="2542032"/>
            <a:ext cx="1783080" cy="65836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What's the problem?</a:t>
            </a:r>
            <a:endParaRPr lang="en-US" sz="1250" dirty="0"/>
          </a:p>
        </p:txBody>
      </p:sp>
      <p:sp>
        <p:nvSpPr>
          <p:cNvPr id="18" name="R1_va1"/>
          <p:cNvSpPr txBox="1"/>
          <p:nvPr/>
        </p:nvSpPr>
        <p:spPr>
          <a:xfrm>
            <a:off x="7680960" y="256946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he can't make the meeting with Don</a:t>
            </a:r>
            <a:endParaRPr lang="en-US" sz="1050" dirty="0"/>
          </a:p>
        </p:txBody>
      </p:sp>
      <p:sp>
        <p:nvSpPr>
          <p:cNvPr id="19" name="box_198"/>
          <p:cNvSpPr txBox="1"/>
          <p:nvPr/>
        </p:nvSpPr>
        <p:spPr>
          <a:xfrm>
            <a:off x="5852160" y="3273552"/>
            <a:ext cx="1783080" cy="65836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Who covers for him?</a:t>
            </a:r>
            <a:endParaRPr lang="en-US" sz="1250" dirty="0"/>
          </a:p>
        </p:txBody>
      </p:sp>
      <p:sp>
        <p:nvSpPr>
          <p:cNvPr id="20" name="R1_va2"/>
          <p:cNvSpPr txBox="1"/>
          <p:nvPr/>
        </p:nvSpPr>
        <p:spPr>
          <a:xfrm>
            <a:off x="7680960" y="330098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Jenny</a:t>
            </a:r>
            <a:endParaRPr lang="en-US" sz="1050" dirty="0"/>
          </a:p>
        </p:txBody>
      </p:sp>
      <p:sp>
        <p:nvSpPr>
          <p:cNvPr id="21" name="pageTag_19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p.75 · 3a · video / audio 7.27</a:t>
            </a:r>
            <a:endParaRPr lang="en-US" sz="1050" dirty="0"/>
          </a:p>
        </p:txBody>
      </p:sp>
      <p:sp>
        <p:nvSpPr>
          <p:cNvPr id="22" name="pframe_200"/>
          <p:cNvSpPr/>
          <p:nvPr/>
        </p:nvSpPr>
        <p:spPr>
          <a:xfrm rot="-120000">
            <a:off x="320040" y="3429000"/>
            <a:ext cx="2331720" cy="101498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3" name="pimg_201" descr="picture">    </p:cNvPr>
          <p:cNvPicPr>
            <a:picLocks noChangeAspect="1"/>
          </p:cNvPicPr>
          <p:nvPr/>
        </p:nvPicPr>
        <p:blipFill>
          <a:blip r:embed="rId6"/>
          <a:srcRect l="0" r="0" t="0" b="0"/>
          <a:stretch/>
        </p:blipFill>
        <p:spPr>
          <a:xfrm rot="-120000">
            <a:off x="393192" y="3502152"/>
            <a:ext cx="2185416" cy="79552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2"/>
                                        </p:tgtEl>
                                      </p:cBhvr>
                                    </p:cmd>
                                  </p:childTnLst>
                                </p:cTn>
                              </p:par>
                            </p:childTnLst>
                          </p:cTn>
                        </p:par>
                      </p:childTnLst>
                    </p:cTn>
                  </p:par>
                </p:childTnLst>
              </p:cTn>
              <p:nextCondLst>
                <p:cond evt="onClick" delay="0">
                  <p:tgtEl>
                    <p:spTgt spid="12"/>
                  </p:tgtEl>
                </p:cond>
              </p:nextCondLst>
            </p:seq>
            <p:video>
              <p:cMediaNode vol="80000">
                <p:cTn id="19" fill="hold" display="0">
                  <p:stCondLst>
                    <p:cond delay="indefinite"/>
                  </p:stCondLst>
                </p:cTn>
                <p:tgtEl>
                  <p:spTgt spid="1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02"/>
          <p:cNvSpPr/>
          <p:nvPr/>
        </p:nvSpPr>
        <p:spPr>
          <a:xfrm>
            <a:off x="54864" y="54864"/>
            <a:ext cx="9034272" cy="5033772"/>
          </a:xfrm>
          <a:prstGeom prst="rect">
            <a:avLst/>
          </a:prstGeom>
          <a:ln w="114300">
            <a:solidFill>
              <a:srgbClr val="A8E6B4"/>
            </a:solidFill>
            <a:prstDash val="solid"/>
          </a:ln>
        </p:spPr>
      </p:sp>
      <p:pic>
        <p:nvPicPr>
          <p:cNvPr id="4" name="logo_20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 LISTENING · Scene 3 · 3b · audio 7.27</a:t>
            </a:r>
            <a:endParaRPr lang="en-US" sz="900" dirty="0"/>
          </a:p>
        </p:txBody>
      </p:sp>
      <p:sp>
        <p:nvSpPr>
          <p:cNvPr id="6" name="timer_20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20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207"/>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Complete the sentences</a:t>
            </a:r>
            <a:endParaRPr lang="en-US" sz="1500" dirty="0"/>
          </a:p>
        </p:txBody>
      </p:sp>
      <p:sp>
        <p:nvSpPr>
          <p:cNvPr id="9" name="post_20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09"/>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21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or listen again. Complete with 1–3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Riguarda o riascolta. Completa con 1–3 parole.</a:t>
            </a:r>
            <a:endParaRPr lang="en-US" sz="1250" dirty="0"/>
          </a:p>
        </p:txBody>
      </p:sp>
      <p:sp>
        <p:nvSpPr>
          <p:cNvPr id="12" name="tr_211"/>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7.27</a:t>
            </a:r>
            <a:endParaRPr lang="en-US" sz="1400" dirty="0"/>
          </a:p>
        </p:txBody>
      </p:sp>
      <p:sp>
        <p:nvSpPr>
          <p:cNvPr id="13" name="box_212"/>
          <p:cNvSpPr txBox="1"/>
          <p:nvPr/>
        </p:nvSpPr>
        <p:spPr>
          <a:xfrm>
            <a:off x="2788920" y="2103120"/>
            <a:ext cx="3741725" cy="3030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1  Rob says that he's feeling ___.</a:t>
            </a:r>
            <a:endParaRPr lang="en-US" sz="900" dirty="0"/>
          </a:p>
        </p:txBody>
      </p:sp>
      <p:sp>
        <p:nvSpPr>
          <p:cNvPr id="14" name="R1_la0"/>
          <p:cNvSpPr txBox="1"/>
          <p:nvPr/>
        </p:nvSpPr>
        <p:spPr>
          <a:xfrm>
            <a:off x="6585509" y="2130552"/>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terrible</a:t>
            </a:r>
            <a:endParaRPr lang="en-US" sz="1200" dirty="0"/>
          </a:p>
        </p:txBody>
      </p:sp>
      <p:sp>
        <p:nvSpPr>
          <p:cNvPr id="15" name="box_213"/>
          <p:cNvSpPr txBox="1"/>
          <p:nvPr/>
        </p:nvSpPr>
        <p:spPr>
          <a:xfrm>
            <a:off x="2788920" y="2479330"/>
            <a:ext cx="3741725" cy="3030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2  Kerri invited Rob and Paul to ___.</a:t>
            </a:r>
            <a:endParaRPr lang="en-US" sz="900" dirty="0"/>
          </a:p>
        </p:txBody>
      </p:sp>
      <p:sp>
        <p:nvSpPr>
          <p:cNvPr id="16" name="R2_la1"/>
          <p:cNvSpPr txBox="1"/>
          <p:nvPr/>
        </p:nvSpPr>
        <p:spPr>
          <a:xfrm>
            <a:off x="6585509" y="2506762"/>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 party</a:t>
            </a:r>
            <a:endParaRPr lang="en-US" sz="1200" dirty="0"/>
          </a:p>
        </p:txBody>
      </p:sp>
      <p:sp>
        <p:nvSpPr>
          <p:cNvPr id="17" name="box_214"/>
          <p:cNvSpPr txBox="1"/>
          <p:nvPr/>
        </p:nvSpPr>
        <p:spPr>
          <a:xfrm>
            <a:off x="2788920" y="2855541"/>
            <a:ext cx="3741725" cy="3030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3  Rob says that he can't make ___.</a:t>
            </a:r>
            <a:endParaRPr lang="en-US" sz="900" dirty="0"/>
          </a:p>
        </p:txBody>
      </p:sp>
      <p:sp>
        <p:nvSpPr>
          <p:cNvPr id="18" name="R3_la2"/>
          <p:cNvSpPr txBox="1"/>
          <p:nvPr/>
        </p:nvSpPr>
        <p:spPr>
          <a:xfrm>
            <a:off x="6585509" y="2882973"/>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 meeting</a:t>
            </a:r>
            <a:endParaRPr lang="en-US" sz="1200" dirty="0"/>
          </a:p>
        </p:txBody>
      </p:sp>
      <p:sp>
        <p:nvSpPr>
          <p:cNvPr id="19" name="box_215"/>
          <p:cNvSpPr txBox="1"/>
          <p:nvPr/>
        </p:nvSpPr>
        <p:spPr>
          <a:xfrm>
            <a:off x="2788920" y="3231751"/>
            <a:ext cx="3741725" cy="3030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4  Jenny is upset because it's an ___.</a:t>
            </a:r>
            <a:endParaRPr lang="en-US" sz="900" dirty="0"/>
          </a:p>
        </p:txBody>
      </p:sp>
      <p:sp>
        <p:nvSpPr>
          <p:cNvPr id="20" name="R4_la3"/>
          <p:cNvSpPr txBox="1"/>
          <p:nvPr/>
        </p:nvSpPr>
        <p:spPr>
          <a:xfrm>
            <a:off x="6585509" y="3259183"/>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important meeting</a:t>
            </a:r>
            <a:endParaRPr lang="en-US" sz="1200" dirty="0"/>
          </a:p>
        </p:txBody>
      </p:sp>
      <p:sp>
        <p:nvSpPr>
          <p:cNvPr id="21" name="box_216"/>
          <p:cNvSpPr txBox="1"/>
          <p:nvPr/>
        </p:nvSpPr>
        <p:spPr>
          <a:xfrm>
            <a:off x="2788920" y="3607961"/>
            <a:ext cx="3741725" cy="3030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5  Rob promises that ___ again.</a:t>
            </a:r>
            <a:endParaRPr lang="en-US" sz="900" dirty="0"/>
          </a:p>
        </p:txBody>
      </p:sp>
      <p:sp>
        <p:nvSpPr>
          <p:cNvPr id="22" name="R5_la4"/>
          <p:cNvSpPr txBox="1"/>
          <p:nvPr/>
        </p:nvSpPr>
        <p:spPr>
          <a:xfrm>
            <a:off x="6585509" y="3635393"/>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it won't happen</a:t>
            </a:r>
            <a:endParaRPr lang="en-US" sz="1200" dirty="0"/>
          </a:p>
        </p:txBody>
      </p:sp>
      <p:sp>
        <p:nvSpPr>
          <p:cNvPr id="23" name="box_217"/>
          <p:cNvSpPr txBox="1"/>
          <p:nvPr/>
        </p:nvSpPr>
        <p:spPr>
          <a:xfrm>
            <a:off x="2788920" y="3984171"/>
            <a:ext cx="3741725" cy="3030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Rob also says that Paul ___ that afternoon.</a:t>
            </a:r>
            <a:endParaRPr lang="en-US" sz="900" dirty="0"/>
          </a:p>
        </p:txBody>
      </p:sp>
      <p:sp>
        <p:nvSpPr>
          <p:cNvPr id="24" name="R6_la5"/>
          <p:cNvSpPr txBox="1"/>
          <p:nvPr/>
        </p:nvSpPr>
        <p:spPr>
          <a:xfrm>
            <a:off x="6585509" y="4011603"/>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is leaving</a:t>
            </a:r>
            <a:endParaRPr lang="en-US" sz="1200" dirty="0"/>
          </a:p>
        </p:txBody>
      </p:sp>
      <p:sp>
        <p:nvSpPr>
          <p:cNvPr id="25" name="box_218"/>
          <p:cNvSpPr txBox="1"/>
          <p:nvPr/>
        </p:nvSpPr>
        <p:spPr>
          <a:xfrm>
            <a:off x="2788920" y="4360382"/>
            <a:ext cx="3741725" cy="3030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7  Jenny tells Don that Rob is such ___.</a:t>
            </a:r>
            <a:endParaRPr lang="en-US" sz="900" dirty="0"/>
          </a:p>
        </p:txBody>
      </p:sp>
      <p:sp>
        <p:nvSpPr>
          <p:cNvPr id="26" name="R7_la6"/>
          <p:cNvSpPr txBox="1"/>
          <p:nvPr/>
        </p:nvSpPr>
        <p:spPr>
          <a:xfrm>
            <a:off x="6585509" y="4387814"/>
            <a:ext cx="2238451" cy="248194"/>
          </a:xfrm>
          <a:prstGeom prst="roundRect">
            <a:avLst>
              <a:gd name="adj" fmla="val 22105"/>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 professional</a:t>
            </a:r>
            <a:endParaRPr lang="en-US" sz="1200" dirty="0"/>
          </a:p>
        </p:txBody>
      </p:sp>
      <p:sp>
        <p:nvSpPr>
          <p:cNvPr id="27" name="pageTag_21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p.75 · 3b · audio 7.27 (or the video on the previous slide)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0"/>
          <p:cNvSpPr/>
          <p:nvPr/>
        </p:nvSpPr>
        <p:spPr>
          <a:xfrm>
            <a:off x="54864" y="54864"/>
            <a:ext cx="9034272" cy="5033772"/>
          </a:xfrm>
          <a:prstGeom prst="rect">
            <a:avLst/>
          </a:prstGeom>
          <a:ln w="114300">
            <a:solidFill>
              <a:srgbClr val="A8E6B4"/>
            </a:solidFill>
            <a:prstDash val="solid"/>
          </a:ln>
        </p:spPr>
      </p:sp>
      <p:pic>
        <p:nvPicPr>
          <p:cNvPr id="4" name="logo_22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SOCIAL ENGLISH · 3c</a:t>
            </a:r>
            <a:endParaRPr lang="en-US" sz="900" dirty="0"/>
          </a:p>
        </p:txBody>
      </p:sp>
      <p:sp>
        <p:nvSpPr>
          <p:cNvPr id="6" name="timer_22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2 min</a:t>
            </a:r>
            <a:endParaRPr lang="en-US" sz="1200" dirty="0"/>
          </a:p>
        </p:txBody>
      </p:sp>
      <p:sp>
        <p:nvSpPr>
          <p:cNvPr id="7" name="footer_22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225"/>
          <p:cNvSpPr txBox="1"/>
          <p:nvPr/>
        </p:nvSpPr>
        <p:spPr>
          <a:xfrm rot="-120000">
            <a:off x="320040" y="676656"/>
            <a:ext cx="293522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Social English</a:t>
            </a:r>
            <a:endParaRPr lang="en-US" sz="1500" dirty="0"/>
          </a:p>
        </p:txBody>
      </p:sp>
      <p:sp>
        <p:nvSpPr>
          <p:cNvPr id="9" name="post_22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27"/>
          <p:cNvSpPr txBox="1"/>
          <p:nvPr/>
        </p:nvSpPr>
        <p:spPr>
          <a:xfrm rot="-180000">
            <a:off x="320040" y="1371600"/>
            <a:ext cx="2240280" cy="457200"/>
          </a:xfrm>
          <a:prstGeom prst="homePlate">
            <a:avLst/>
          </a:prstGeom>
          <a:solidFill>
            <a:srgbClr val="B45309"/>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REMEMBER!</a:t>
            </a:r>
            <a:pPr indent="0" marL="0">
              <a:buNone/>
            </a:pPr>
            <a:r>
              <a:rPr lang="en-US" sz="900" dirty="0">
                <a:solidFill>
                  <a:srgbClr val="FFF3B0"/>
                </a:solidFill>
                <a:latin typeface="Arial Black" pitchFamily="34" charset="0"/>
                <a:ea typeface="Arial Black" pitchFamily="34" charset="-122"/>
                <a:cs typeface="Arial Black" pitchFamily="34" charset="-120"/>
              </a:rPr>
              <a:t>  RICORDA!</a:t>
            </a:r>
            <a:endParaRPr lang="en-US" sz="1500" dirty="0"/>
          </a:p>
        </p:txBody>
      </p:sp>
      <p:sp>
        <p:nvSpPr>
          <p:cNvPr id="11" name="signB_2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Can you remember the missing words? Then watch and check.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Ricordi le parole mancanti? Poi guarda e controlla.</a:t>
            </a:r>
            <a:endParaRPr lang="en-US" sz="1200" dirty="0"/>
          </a:p>
        </p:txBody>
      </p:sp>
      <p:sp>
        <p:nvSpPr>
          <p:cNvPr id="12" name="iconBack_2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30" descr="pi:PiChatTeardropText">    </p:cNvPr>
          <p:cNvPicPr>
            <a:picLocks noChangeAspect="1"/>
          </p:cNvPicPr>
          <p:nvPr/>
        </p:nvPicPr>
        <p:blipFill>
          <a:blip r:embed="rId3"/>
          <a:stretch>
            <a:fillRect/>
          </a:stretch>
        </p:blipFill>
        <p:spPr>
          <a:xfrm>
            <a:off x="914400" y="3474720"/>
            <a:ext cx="685800" cy="685800"/>
          </a:xfrm>
          <a:prstGeom prst="rect">
            <a:avLst/>
          </a:prstGeom>
        </p:spPr>
      </p:pic>
      <p:sp>
        <p:nvSpPr>
          <p:cNvPr id="14" name="box_231"/>
          <p:cNvSpPr txBox="1"/>
          <p:nvPr/>
        </p:nvSpPr>
        <p:spPr>
          <a:xfrm>
            <a:off x="2788920" y="1371600"/>
            <a:ext cx="4345229"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Where are you, ___?</a:t>
            </a:r>
            <a:endParaRPr lang="en-US" sz="1250" dirty="0"/>
          </a:p>
        </p:txBody>
      </p:sp>
      <p:sp>
        <p:nvSpPr>
          <p:cNvPr id="15" name="R1_a0"/>
          <p:cNvSpPr txBox="1"/>
          <p:nvPr/>
        </p:nvSpPr>
        <p:spPr>
          <a:xfrm>
            <a:off x="7189013" y="1408176"/>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anyway</a:t>
            </a:r>
            <a:endParaRPr lang="en-US" sz="1300" dirty="0"/>
          </a:p>
        </p:txBody>
      </p:sp>
      <p:sp>
        <p:nvSpPr>
          <p:cNvPr id="16" name="box_232"/>
          <p:cNvSpPr txBox="1"/>
          <p:nvPr/>
        </p:nvSpPr>
        <p:spPr>
          <a:xfrm>
            <a:off x="2788920" y="1860151"/>
            <a:ext cx="4345229"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That's ___ I'm calling. I'm not going to make it.</a:t>
            </a:r>
            <a:endParaRPr lang="en-US" sz="1250" dirty="0"/>
          </a:p>
        </p:txBody>
      </p:sp>
      <p:sp>
        <p:nvSpPr>
          <p:cNvPr id="17" name="R1_a1"/>
          <p:cNvSpPr txBox="1"/>
          <p:nvPr/>
        </p:nvSpPr>
        <p:spPr>
          <a:xfrm>
            <a:off x="7189013" y="1896727"/>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why</a:t>
            </a:r>
            <a:endParaRPr lang="en-US" sz="1300" dirty="0"/>
          </a:p>
        </p:txBody>
      </p:sp>
      <p:sp>
        <p:nvSpPr>
          <p:cNvPr id="18" name="box_233"/>
          <p:cNvSpPr txBox="1"/>
          <p:nvPr/>
        </p:nvSpPr>
        <p:spPr>
          <a:xfrm>
            <a:off x="2788920" y="2348702"/>
            <a:ext cx="4345229"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It won't ___ again.</a:t>
            </a:r>
            <a:endParaRPr lang="en-US" sz="1250" dirty="0"/>
          </a:p>
        </p:txBody>
      </p:sp>
      <p:sp>
        <p:nvSpPr>
          <p:cNvPr id="19" name="R1_a2"/>
          <p:cNvSpPr txBox="1"/>
          <p:nvPr/>
        </p:nvSpPr>
        <p:spPr>
          <a:xfrm>
            <a:off x="7189013" y="2385278"/>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happen</a:t>
            </a:r>
            <a:endParaRPr lang="en-US" sz="1300" dirty="0"/>
          </a:p>
        </p:txBody>
      </p:sp>
      <p:sp>
        <p:nvSpPr>
          <p:cNvPr id="20" name="box_234"/>
          <p:cNvSpPr txBox="1"/>
          <p:nvPr/>
        </p:nvSpPr>
        <p:spPr>
          <a:xfrm>
            <a:off x="2788920" y="2837253"/>
            <a:ext cx="4345229"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He's ___ to Boston this afternoon.</a:t>
            </a:r>
            <a:endParaRPr lang="en-US" sz="1250" dirty="0"/>
          </a:p>
        </p:txBody>
      </p:sp>
      <p:sp>
        <p:nvSpPr>
          <p:cNvPr id="21" name="R1_a3"/>
          <p:cNvSpPr txBox="1"/>
          <p:nvPr/>
        </p:nvSpPr>
        <p:spPr>
          <a:xfrm>
            <a:off x="7189013" y="2873829"/>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off</a:t>
            </a:r>
            <a:endParaRPr lang="en-US" sz="1300" dirty="0"/>
          </a:p>
        </p:txBody>
      </p:sp>
      <p:sp>
        <p:nvSpPr>
          <p:cNvPr id="22" name="box_235"/>
          <p:cNvSpPr txBox="1"/>
          <p:nvPr/>
        </p:nvSpPr>
        <p:spPr>
          <a:xfrm>
            <a:off x="2788920" y="3325803"/>
            <a:ext cx="4345229"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I mean, it's not ___ I don't like Paul, but…</a:t>
            </a:r>
            <a:endParaRPr lang="en-US" sz="1250" dirty="0"/>
          </a:p>
        </p:txBody>
      </p:sp>
      <p:sp>
        <p:nvSpPr>
          <p:cNvPr id="23" name="R1_a4"/>
          <p:cNvSpPr txBox="1"/>
          <p:nvPr/>
        </p:nvSpPr>
        <p:spPr>
          <a:xfrm>
            <a:off x="7189013" y="3362379"/>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that</a:t>
            </a:r>
            <a:endParaRPr lang="en-US" sz="1300" dirty="0"/>
          </a:p>
        </p:txBody>
      </p:sp>
      <p:sp>
        <p:nvSpPr>
          <p:cNvPr id="24" name="box_236"/>
          <p:cNvSpPr txBox="1"/>
          <p:nvPr/>
        </p:nvSpPr>
        <p:spPr>
          <a:xfrm>
            <a:off x="2788920" y="3814354"/>
            <a:ext cx="4345229"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I wanted to have a ___ with him.</a:t>
            </a:r>
            <a:endParaRPr lang="en-US" sz="1250" dirty="0"/>
          </a:p>
        </p:txBody>
      </p:sp>
      <p:sp>
        <p:nvSpPr>
          <p:cNvPr id="25" name="R1_a5"/>
          <p:cNvSpPr txBox="1"/>
          <p:nvPr/>
        </p:nvSpPr>
        <p:spPr>
          <a:xfrm>
            <a:off x="7189013" y="3850930"/>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word</a:t>
            </a:r>
            <a:endParaRPr lang="en-US" sz="1300" dirty="0"/>
          </a:p>
        </p:txBody>
      </p:sp>
      <p:sp>
        <p:nvSpPr>
          <p:cNvPr id="26" name="box_237"/>
          <p:cNvSpPr txBox="1"/>
          <p:nvPr/>
        </p:nvSpPr>
        <p:spPr>
          <a:xfrm>
            <a:off x="2788920" y="4302905"/>
            <a:ext cx="4345229"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He's ___ a professional.</a:t>
            </a:r>
            <a:endParaRPr lang="en-US" sz="1250" dirty="0"/>
          </a:p>
        </p:txBody>
      </p:sp>
      <p:sp>
        <p:nvSpPr>
          <p:cNvPr id="27" name="R1_a6"/>
          <p:cNvSpPr txBox="1"/>
          <p:nvPr/>
        </p:nvSpPr>
        <p:spPr>
          <a:xfrm>
            <a:off x="7189013" y="4339481"/>
            <a:ext cx="1634947"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such</a:t>
            </a:r>
            <a:endParaRPr lang="en-US" sz="1300" dirty="0"/>
          </a:p>
        </p:txBody>
      </p:sp>
      <p:sp>
        <p:nvSpPr>
          <p:cNvPr id="28" name="pageTag_23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p.75 · 3c (check on the next slide)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39"/>
          <p:cNvSpPr/>
          <p:nvPr/>
        </p:nvSpPr>
        <p:spPr>
          <a:xfrm>
            <a:off x="54864" y="54864"/>
            <a:ext cx="9034272" cy="5033772"/>
          </a:xfrm>
          <a:prstGeom prst="rect">
            <a:avLst/>
          </a:prstGeom>
          <a:ln w="114300">
            <a:solidFill>
              <a:srgbClr val="A8E6B4"/>
            </a:solidFill>
            <a:prstDash val="solid"/>
          </a:ln>
        </p:spPr>
      </p:sp>
      <p:pic>
        <p:nvPicPr>
          <p:cNvPr id="4" name="logo_2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SOCIAL ENGLISH · 3d, 3e · 7.28</a:t>
            </a:r>
            <a:endParaRPr lang="en-US" sz="900" dirty="0"/>
          </a:p>
        </p:txBody>
      </p:sp>
      <p:sp>
        <p:nvSpPr>
          <p:cNvPr id="6" name="timer_2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2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244"/>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Watch and check</a:t>
            </a:r>
            <a:endParaRPr lang="en-US" sz="1500" dirty="0"/>
          </a:p>
        </p:txBody>
      </p:sp>
      <p:sp>
        <p:nvSpPr>
          <p:cNvPr id="9" name="post_245"/>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46"/>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1" name="signB_2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and check. Then repeat the phrases!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e controlla. Poi ripeti le frasi!</a:t>
            </a:r>
            <a:endParaRPr lang="en-US" sz="1250" dirty="0"/>
          </a:p>
        </p:txBody>
      </p:sp>
      <p:sp>
        <p:nvSpPr>
          <p:cNvPr id="12" name="iconBack_24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49" descr="pi:PiChatTeardropText">    </p:cNvPr>
          <p:cNvPicPr>
            <a:picLocks noChangeAspect="1"/>
          </p:cNvPicPr>
          <p:nvPr/>
        </p:nvPicPr>
        <p:blipFill>
          <a:blip r:embed="rId3"/>
          <a:stretch>
            <a:fillRect/>
          </a:stretch>
        </p:blipFill>
        <p:spPr>
          <a:xfrm>
            <a:off x="914400" y="3474720"/>
            <a:ext cx="685800" cy="685800"/>
          </a:xfrm>
          <a:prstGeom prst="rect">
            <a:avLst/>
          </a:prstGeom>
        </p:spPr>
      </p:pic>
      <p:pic>
        <p:nvPicPr>
          <p:cNvPr id="14"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788920" y="1371600"/>
            <a:ext cx="2926080" cy="1645920"/>
          </a:xfrm>
          <a:prstGeom prst="rect">
            <a:avLst/>
          </a:prstGeom>
        </p:spPr>
      </p:pic>
      <p:sp>
        <p:nvSpPr>
          <p:cNvPr id="15" name="vt_250"/>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Episode 4 · Social English phrases</a:t>
            </a:r>
            <a:endParaRPr lang="en-US" sz="1250" dirty="0"/>
          </a:p>
          <a:p>
            <a:pPr indent="0" marL="0">
              <a:buNone/>
            </a:pPr>
            <a:r>
              <a:rPr lang="en-US" sz="1050" dirty="0">
                <a:solidFill>
                  <a:srgbClr val="475569"/>
                </a:solidFill>
                <a:latin typeface="Calibri" pitchFamily="34" charset="0"/>
                <a:ea typeface="Calibri" pitchFamily="34" charset="-122"/>
                <a:cs typeface="Calibri" pitchFamily="34" charset="-120"/>
              </a:rPr>
              <a:t>Practical English Episode 4 · 3d · 7.28 (1'17")</a:t>
            </a:r>
            <a:endParaRPr lang="en-US" sz="1250" dirty="0"/>
          </a:p>
        </p:txBody>
      </p:sp>
      <p:sp>
        <p:nvSpPr>
          <p:cNvPr id="16" name="wyw_251"/>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7" name="box_252"/>
          <p:cNvSpPr txBox="1"/>
          <p:nvPr/>
        </p:nvSpPr>
        <p:spPr>
          <a:xfrm>
            <a:off x="5852160" y="1810512"/>
            <a:ext cx="1783080" cy="65836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1 · 2 · 3</a:t>
            </a:r>
            <a:endParaRPr lang="en-US" sz="1250" dirty="0"/>
          </a:p>
        </p:txBody>
      </p:sp>
      <p:sp>
        <p:nvSpPr>
          <p:cNvPr id="18" name="R1_va0"/>
          <p:cNvSpPr txBox="1"/>
          <p:nvPr/>
        </p:nvSpPr>
        <p:spPr>
          <a:xfrm>
            <a:off x="7680960" y="183794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anyway · why · happen</a:t>
            </a:r>
            <a:endParaRPr lang="en-US" sz="1050" dirty="0"/>
          </a:p>
        </p:txBody>
      </p:sp>
      <p:sp>
        <p:nvSpPr>
          <p:cNvPr id="19" name="box_253"/>
          <p:cNvSpPr txBox="1"/>
          <p:nvPr/>
        </p:nvSpPr>
        <p:spPr>
          <a:xfrm>
            <a:off x="5852160" y="2542032"/>
            <a:ext cx="1783080" cy="65836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4 · 5</a:t>
            </a:r>
            <a:endParaRPr lang="en-US" sz="1250" dirty="0"/>
          </a:p>
        </p:txBody>
      </p:sp>
      <p:sp>
        <p:nvSpPr>
          <p:cNvPr id="20" name="R1_va1"/>
          <p:cNvSpPr txBox="1"/>
          <p:nvPr/>
        </p:nvSpPr>
        <p:spPr>
          <a:xfrm>
            <a:off x="7680960" y="256946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off · that</a:t>
            </a:r>
            <a:endParaRPr lang="en-US" sz="1050" dirty="0"/>
          </a:p>
        </p:txBody>
      </p:sp>
      <p:sp>
        <p:nvSpPr>
          <p:cNvPr id="21" name="box_254"/>
          <p:cNvSpPr txBox="1"/>
          <p:nvPr/>
        </p:nvSpPr>
        <p:spPr>
          <a:xfrm>
            <a:off x="5852160" y="3273552"/>
            <a:ext cx="1783080" cy="65836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6 · 7</a:t>
            </a:r>
            <a:endParaRPr lang="en-US" sz="1250" dirty="0"/>
          </a:p>
        </p:txBody>
      </p:sp>
      <p:sp>
        <p:nvSpPr>
          <p:cNvPr id="22" name="R1_va2"/>
          <p:cNvSpPr txBox="1"/>
          <p:nvPr/>
        </p:nvSpPr>
        <p:spPr>
          <a:xfrm>
            <a:off x="7680960" y="3300984"/>
            <a:ext cx="1143000" cy="603504"/>
          </a:xfrm>
          <a:prstGeom prst="roundRect">
            <a:avLst>
              <a:gd name="adj" fmla="val 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word · such</a:t>
            </a:r>
            <a:endParaRPr lang="en-US" sz="1050" dirty="0"/>
          </a:p>
        </p:txBody>
      </p:sp>
      <p:sp>
        <p:nvSpPr>
          <p:cNvPr id="23" name="bubble_255"/>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3e: match phrases 1–7 to conversations A–G in the book.</a:t>
            </a:r>
            <a:endParaRPr lang="en-US" sz="1200" dirty="0"/>
          </a:p>
        </p:txBody>
      </p:sp>
      <p:sp>
        <p:nvSpPr>
          <p:cNvPr id="24" name="pageTag_25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p.75 · 3d, 3e · video / audio 7.28</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4"/>
                                        </p:tgtEl>
                                      </p:cBhvr>
                                    </p:cmd>
                                  </p:childTnLst>
                                </p:cTn>
                              </p:par>
                            </p:childTnLst>
                          </p:cTn>
                        </p:par>
                      </p:childTnLst>
                    </p:cTn>
                  </p:par>
                </p:childTnLst>
              </p:cTn>
              <p:nextCondLst>
                <p:cond evt="onClick" delay="0">
                  <p:tgtEl>
                    <p:spTgt spid="14"/>
                  </p:tgtEl>
                </p:cond>
              </p:nextCondLst>
            </p:seq>
            <p:video>
              <p:cMediaNode vol="80000">
                <p:cTn id="19" fill="hold" display="0">
                  <p:stCondLst>
                    <p:cond delay="indefinite"/>
                  </p:stCondLst>
                </p:cTn>
                <p:tgtEl>
                  <p:spTgt spid="1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7"/>
          <p:cNvSpPr/>
          <p:nvPr/>
        </p:nvSpPr>
        <p:spPr>
          <a:xfrm>
            <a:off x="54864" y="54864"/>
            <a:ext cx="9034272" cy="5033772"/>
          </a:xfrm>
          <a:prstGeom prst="rect">
            <a:avLst/>
          </a:prstGeom>
          <a:ln w="114300">
            <a:solidFill>
              <a:srgbClr val="A8E6B4"/>
            </a:solidFill>
            <a:prstDash val="solid"/>
          </a:ln>
        </p:spPr>
      </p:sp>
      <p:pic>
        <p:nvPicPr>
          <p:cNvPr id="4" name="logo_25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a:t>
            </a:r>
            <a:endParaRPr lang="en-US" sz="900" dirty="0"/>
          </a:p>
        </p:txBody>
      </p:sp>
      <p:sp>
        <p:nvSpPr>
          <p:cNvPr id="6" name="timer_26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6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8" name="title_262"/>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Excuses, excuses!</a:t>
            </a:r>
            <a:endParaRPr lang="en-US" sz="1500" dirty="0"/>
          </a:p>
        </p:txBody>
      </p:sp>
      <p:sp>
        <p:nvSpPr>
          <p:cNvPr id="9" name="post_263"/>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64"/>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6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Phone your 'boss'. Make an excuse and apologise!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Telefona al tuo 'capo'. Trova una scusa e chiedi scusa!</a:t>
            </a:r>
            <a:endParaRPr lang="en-US" sz="1250" dirty="0"/>
          </a:p>
        </p:txBody>
      </p:sp>
      <p:sp>
        <p:nvSpPr>
          <p:cNvPr id="12" name="n_266"/>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3" name="st_267"/>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CALLER faces the screen. The 'boss' (teacher or a student) has their back to it.</a:t>
            </a:r>
            <a:endParaRPr lang="en-US" sz="1250" dirty="0"/>
          </a:p>
        </p:txBody>
      </p:sp>
      <p:sp>
        <p:nvSpPr>
          <p:cNvPr id="14" name="n_268"/>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5" name="st_269"/>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6" name="n_270"/>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7" name="st_271"/>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clicks → the situation appears. The caller phones the boss: That's why I'm calling…</a:t>
            </a:r>
            <a:endParaRPr lang="en-US" sz="1250" dirty="0"/>
          </a:p>
        </p:txBody>
      </p:sp>
      <p:sp>
        <p:nvSpPr>
          <p:cNvPr id="18" name="n_272"/>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9" name="st_273"/>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caller must use: I'm really sorry · I'm not going to make it · It won't happen again.</a:t>
            </a:r>
            <a:endParaRPr lang="en-US" sz="1250" dirty="0"/>
          </a:p>
        </p:txBody>
      </p:sp>
      <p:sp>
        <p:nvSpPr>
          <p:cNvPr id="20" name="n_274"/>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1" name="st_275"/>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class guesses what the situation was. Correct guess = 1 point for each team.</a:t>
            </a:r>
            <a:endParaRPr lang="en-US" sz="1250" dirty="0"/>
          </a:p>
        </p:txBody>
      </p:sp>
      <p:sp>
        <p:nvSpPr>
          <p:cNvPr id="22" name="pageTag_27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p.75 · extra practice of Social English (7.28)</a:t>
            </a:r>
            <a:endParaRPr lang="en-US" sz="1050" dirty="0"/>
          </a:p>
        </p:txBody>
      </p:sp>
    </p:spTree>
  </p:cSld>
  <p:clrMapOvr>
    <a:masterClrMapping/>
  </p:clrMapOvr>
  <p:transition spd="med">
    <p:push dir="l"/>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77"/>
          <p:cNvSpPr/>
          <p:nvPr/>
        </p:nvSpPr>
        <p:spPr>
          <a:xfrm>
            <a:off x="54864" y="54864"/>
            <a:ext cx="9034272" cy="5033772"/>
          </a:xfrm>
          <a:prstGeom prst="rect">
            <a:avLst/>
          </a:prstGeom>
          <a:ln w="114300">
            <a:solidFill>
              <a:srgbClr val="A8E6B4"/>
            </a:solidFill>
            <a:prstDash val="solid"/>
          </a:ln>
        </p:spPr>
      </p:sp>
      <p:pic>
        <p:nvPicPr>
          <p:cNvPr id="4" name="logo_2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7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 · card 1 of 6</a:t>
            </a:r>
            <a:endParaRPr lang="en-US" sz="900" dirty="0"/>
          </a:p>
        </p:txBody>
      </p:sp>
      <p:sp>
        <p:nvSpPr>
          <p:cNvPr id="6" name="footer_28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7" name="warn_28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850" dirty="0">
                <a:solidFill>
                  <a:srgbClr val="062F67"/>
                </a:solidFill>
                <a:latin typeface="Arial Black" pitchFamily="34" charset="0"/>
                <a:ea typeface="Arial Black" pitchFamily="34" charset="-122"/>
                <a:cs typeface="Arial Black" pitchFamily="34" charset="-120"/>
              </a:rPr>
              <a:t>YOU'RE STUCK IN A LIFT</a:t>
            </a:r>
            <a:endParaRPr lang="en-US" sz="285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Use: I'm really sorry · It won't happen again</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 very calm</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2"/>
          <p:cNvSpPr/>
          <p:nvPr/>
        </p:nvSpPr>
        <p:spPr>
          <a:xfrm>
            <a:off x="54864" y="54864"/>
            <a:ext cx="9034272" cy="5033772"/>
          </a:xfrm>
          <a:prstGeom prst="rect">
            <a:avLst/>
          </a:prstGeom>
          <a:ln w="114300">
            <a:solidFill>
              <a:srgbClr val="A8E6B4"/>
            </a:solidFill>
            <a:prstDash val="solid"/>
          </a:ln>
        </p:spPr>
      </p:sp>
      <p:pic>
        <p:nvPicPr>
          <p:cNvPr id="4" name="logo_28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 · card 2 of 6</a:t>
            </a:r>
            <a:endParaRPr lang="en-US" sz="900" dirty="0"/>
          </a:p>
        </p:txBody>
      </p:sp>
      <p:sp>
        <p:nvSpPr>
          <p:cNvPr id="6" name="footer_28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7" name="warn_28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850" dirty="0">
                <a:solidFill>
                  <a:srgbClr val="062F67"/>
                </a:solidFill>
                <a:latin typeface="Arial Black" pitchFamily="34" charset="0"/>
                <a:ea typeface="Arial Black" pitchFamily="34" charset="-122"/>
                <a:cs typeface="Arial Black" pitchFamily="34" charset="-120"/>
              </a:rPr>
              <a:t>YOUR DOG ATE YOUR KEYS</a:t>
            </a:r>
            <a:endParaRPr lang="en-US" sz="285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Use: I'm really sorry · It won't happen again</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 very embarrassed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7"/>
          <p:cNvSpPr/>
          <p:nvPr/>
        </p:nvSpPr>
        <p:spPr>
          <a:xfrm>
            <a:off x="54864" y="54864"/>
            <a:ext cx="9034272" cy="5033772"/>
          </a:xfrm>
          <a:prstGeom prst="rect">
            <a:avLst/>
          </a:prstGeom>
          <a:ln w="114300">
            <a:solidFill>
              <a:srgbClr val="A8E6B4"/>
            </a:solidFill>
            <a:prstDash val="solid"/>
          </a:ln>
        </p:spPr>
      </p:sp>
      <p:pic>
        <p:nvPicPr>
          <p:cNvPr id="4" name="logo_2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 · card 3 of 6</a:t>
            </a:r>
            <a:endParaRPr lang="en-US" sz="900" dirty="0"/>
          </a:p>
        </p:txBody>
      </p:sp>
      <p:sp>
        <p:nvSpPr>
          <p:cNvPr id="6" name="footer_29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7" name="warn_29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550" dirty="0">
                <a:solidFill>
                  <a:srgbClr val="062F67"/>
                </a:solidFill>
                <a:latin typeface="Arial Black" pitchFamily="34" charset="0"/>
                <a:ea typeface="Arial Black" pitchFamily="34" charset="-122"/>
                <a:cs typeface="Arial Black" pitchFamily="34" charset="-120"/>
              </a:rPr>
              <a:t>YOU WENT TO A CONCERT AND OVERSLEPT</a:t>
            </a:r>
            <a:endParaRPr lang="en-US" sz="255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Use: I'm really sorry · It won't happen again</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 honest!</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2"/>
          <p:cNvSpPr/>
          <p:nvPr/>
        </p:nvSpPr>
        <p:spPr>
          <a:xfrm>
            <a:off x="54864" y="54864"/>
            <a:ext cx="9034272" cy="5033772"/>
          </a:xfrm>
          <a:prstGeom prst="rect">
            <a:avLst/>
          </a:prstGeom>
          <a:ln w="114300">
            <a:solidFill>
              <a:srgbClr val="A8E6B4"/>
            </a:solidFill>
            <a:prstDash val="solid"/>
          </a:ln>
        </p:spPr>
      </p:sp>
      <p:pic>
        <p:nvPicPr>
          <p:cNvPr id="4" name="logo_29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 · card 4 of 6</a:t>
            </a:r>
            <a:endParaRPr lang="en-US" sz="900" dirty="0"/>
          </a:p>
        </p:txBody>
      </p:sp>
      <p:sp>
        <p:nvSpPr>
          <p:cNvPr id="6" name="footer_29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7" name="warn_29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700" dirty="0">
                <a:solidFill>
                  <a:srgbClr val="062F67"/>
                </a:solidFill>
                <a:latin typeface="Arial Black" pitchFamily="34" charset="0"/>
                <a:ea typeface="Arial Black" pitchFamily="34" charset="-122"/>
                <a:cs typeface="Arial Black" pitchFamily="34" charset="-120"/>
              </a:rPr>
              <a:t>YOUR CAR HAS BROKEN DOWN IN THE COUNTRY</a:t>
            </a:r>
            <a:endParaRPr lang="en-US" sz="27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Use: I'm really sorry · It won't happen again</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 stressed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7"/>
          <p:cNvSpPr/>
          <p:nvPr/>
        </p:nvSpPr>
        <p:spPr>
          <a:xfrm>
            <a:off x="54864" y="54864"/>
            <a:ext cx="9034272" cy="5033772"/>
          </a:xfrm>
          <a:prstGeom prst="rect">
            <a:avLst/>
          </a:prstGeom>
          <a:ln w="114300">
            <a:solidFill>
              <a:srgbClr val="A8E6B4"/>
            </a:solidFill>
            <a:prstDash val="solid"/>
          </a:ln>
        </p:spPr>
      </p:sp>
      <p:pic>
        <p:nvPicPr>
          <p:cNvPr id="4" name="logo_2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 · card 5 of 6</a:t>
            </a:r>
            <a:endParaRPr lang="en-US" sz="900" dirty="0"/>
          </a:p>
        </p:txBody>
      </p:sp>
      <p:sp>
        <p:nvSpPr>
          <p:cNvPr id="6" name="footer_30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7" name="warn_30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850" dirty="0">
                <a:solidFill>
                  <a:srgbClr val="062F67"/>
                </a:solidFill>
                <a:latin typeface="Arial Black" pitchFamily="34" charset="0"/>
                <a:ea typeface="Arial Black" pitchFamily="34" charset="-122"/>
                <a:cs typeface="Arial Black" pitchFamily="34" charset="-120"/>
              </a:rPr>
              <a:t>YOU'RE AT THE WRONG OFFICE IN PALERMO</a:t>
            </a:r>
            <a:endParaRPr lang="en-US" sz="285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Use: I'm really sorry · It won't happen again</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 confused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2"/>
          <p:cNvSpPr/>
          <p:nvPr/>
        </p:nvSpPr>
        <p:spPr>
          <a:xfrm>
            <a:off x="54864" y="54864"/>
            <a:ext cx="9034272" cy="5033772"/>
          </a:xfrm>
          <a:prstGeom prst="rect">
            <a:avLst/>
          </a:prstGeom>
          <a:ln w="114300">
            <a:solidFill>
              <a:srgbClr val="A8E6B4"/>
            </a:solidFill>
            <a:prstDash val="solid"/>
          </a:ln>
        </p:spPr>
      </p:sp>
      <p:pic>
        <p:nvPicPr>
          <p:cNvPr id="4" name="logo_30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0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Excuses, excuses! · card 6 of 6</a:t>
            </a:r>
            <a:endParaRPr lang="en-US" sz="900" dirty="0"/>
          </a:p>
        </p:txBody>
      </p:sp>
      <p:sp>
        <p:nvSpPr>
          <p:cNvPr id="6" name="footer_30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7" name="warn_30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2850" dirty="0">
                <a:solidFill>
                  <a:srgbClr val="062F67"/>
                </a:solidFill>
                <a:latin typeface="Arial Black" pitchFamily="34" charset="0"/>
                <a:ea typeface="Arial Black" pitchFamily="34" charset="-122"/>
                <a:cs typeface="Arial Black" pitchFamily="34" charset="-120"/>
              </a:rPr>
              <a:t>YOUR GRANDMOTHER IS VISITING</a:t>
            </a:r>
            <a:endParaRPr lang="en-US" sz="285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Use: I'm really sorry · It won't happen again</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be polite</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7"/>
          <p:cNvSpPr/>
          <p:nvPr/>
        </p:nvSpPr>
        <p:spPr>
          <a:xfrm>
            <a:off x="54864" y="54864"/>
            <a:ext cx="9034272" cy="5033772"/>
          </a:xfrm>
          <a:prstGeom prst="rect">
            <a:avLst/>
          </a:prstGeom>
          <a:ln w="114300">
            <a:solidFill>
              <a:srgbClr val="A8E6B4"/>
            </a:solidFill>
            <a:prstDash val="solid"/>
          </a:ln>
        </p:spPr>
      </p:sp>
      <p:pic>
        <p:nvPicPr>
          <p:cNvPr id="4" name="logo_30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30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6" name="title_310"/>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sub_311"/>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8" name="box_312"/>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make, accept and refuse suggestions.</a:t>
            </a:r>
            <a:endParaRPr lang="en-US" sz="1350" dirty="0"/>
          </a:p>
        </p:txBody>
      </p:sp>
      <p:sp>
        <p:nvSpPr>
          <p:cNvPr id="9" name="faces_313"/>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0" name="box_314"/>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make an excuse and apologise.</a:t>
            </a:r>
            <a:endParaRPr lang="en-US" sz="1350" dirty="0"/>
          </a:p>
        </p:txBody>
      </p:sp>
      <p:sp>
        <p:nvSpPr>
          <p:cNvPr id="11" name="faces_315"/>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316"/>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 story in a video episode.</a:t>
            </a:r>
            <a:endParaRPr lang="en-US" sz="1350" dirty="0"/>
          </a:p>
        </p:txBody>
      </p:sp>
      <p:sp>
        <p:nvSpPr>
          <p:cNvPr id="13" name="faces_317"/>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hw_318"/>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Practical English 4: 1a, 1b, 2, 3</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PE4</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5" name="stamp_319"/>
          <p:cNvSpPr txBox="1"/>
          <p:nvPr/>
        </p:nvSpPr>
        <p:spPr>
          <a:xfrm>
            <a:off x="365760" y="3657600"/>
            <a:ext cx="466344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8A part 1 · The right job for you</a:t>
            </a:r>
            <a:endParaRPr lang="en-US" sz="120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20"/>
          <p:cNvSpPr/>
          <p:nvPr/>
        </p:nvSpPr>
        <p:spPr>
          <a:xfrm>
            <a:off x="54864" y="54864"/>
            <a:ext cx="9034272" cy="5033772"/>
          </a:xfrm>
          <a:prstGeom prst="rect">
            <a:avLst/>
          </a:prstGeom>
          <a:ln w="114300">
            <a:solidFill>
              <a:srgbClr val="A8E6B4"/>
            </a:solidFill>
            <a:prstDash val="solid"/>
          </a:ln>
        </p:spPr>
      </p:sp>
      <p:pic>
        <p:nvPicPr>
          <p:cNvPr id="4" name="logo_32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2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Role-play</a:t>
            </a:r>
            <a:endParaRPr lang="en-US" sz="900" dirty="0"/>
          </a:p>
        </p:txBody>
      </p:sp>
      <p:sp>
        <p:nvSpPr>
          <p:cNvPr id="6" name="timer_32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32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2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9" name="title_326"/>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You choose the evening</a:t>
            </a:r>
            <a:endParaRPr lang="en-US" sz="1500" dirty="0"/>
          </a:p>
        </p:txBody>
      </p:sp>
      <p:sp>
        <p:nvSpPr>
          <p:cNvPr id="10" name="post_327"/>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28"/>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32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Groups of 3: Paul, Jenny, Rob. Change the ending!</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Gruppi di 3: Paul, Jenny, Rob. Cambiate il finale!</a:t>
            </a:r>
            <a:endParaRPr lang="en-US" sz="1250" dirty="0"/>
          </a:p>
        </p:txBody>
      </p:sp>
      <p:sp>
        <p:nvSpPr>
          <p:cNvPr id="13" name="iconBack_33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31" descr="pi:PiMaskHappy">    </p:cNvPr>
          <p:cNvPicPr>
            <a:picLocks noChangeAspect="1"/>
          </p:cNvPicPr>
          <p:nvPr/>
        </p:nvPicPr>
        <p:blipFill>
          <a:blip r:embed="rId3"/>
          <a:stretch>
            <a:fillRect/>
          </a:stretch>
        </p:blipFill>
        <p:spPr>
          <a:xfrm>
            <a:off x="914400" y="3474720"/>
            <a:ext cx="685800" cy="685800"/>
          </a:xfrm>
          <a:prstGeom prst="rect">
            <a:avLst/>
          </a:prstGeom>
        </p:spPr>
      </p:pic>
      <p:sp>
        <p:nvSpPr>
          <p:cNvPr id="15" name="line_332"/>
          <p:cNvSpPr txBox="1"/>
          <p:nvPr/>
        </p:nvSpPr>
        <p:spPr>
          <a:xfrm>
            <a:off x="2788920" y="137160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Paul: </a:t>
            </a:r>
            <a:pPr indent="0" marL="0">
              <a:buNone/>
            </a:pPr>
            <a:r>
              <a:rPr lang="en-US" sz="1250" dirty="0">
                <a:solidFill>
                  <a:srgbClr val="111111"/>
                </a:solidFill>
                <a:latin typeface="Calibri" pitchFamily="34" charset="0"/>
                <a:ea typeface="Calibri" pitchFamily="34" charset="-122"/>
                <a:cs typeface="Calibri" pitchFamily="34" charset="-120"/>
              </a:rPr>
              <a:t>So! What shall we do now?</a:t>
            </a:r>
            <a:endParaRPr lang="en-US" sz="1250" dirty="0"/>
          </a:p>
        </p:txBody>
      </p:sp>
      <p:sp>
        <p:nvSpPr>
          <p:cNvPr id="16" name="line_333"/>
          <p:cNvSpPr txBox="1"/>
          <p:nvPr/>
        </p:nvSpPr>
        <p:spPr>
          <a:xfrm>
            <a:off x="3108960" y="193548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Rob: </a:t>
            </a:r>
            <a:pPr indent="0" marL="0">
              <a:buNone/>
            </a:pPr>
            <a:r>
              <a:rPr lang="en-US" sz="1250" dirty="0">
                <a:solidFill>
                  <a:srgbClr val="111111"/>
                </a:solidFill>
                <a:latin typeface="Calibri" pitchFamily="34" charset="0"/>
                <a:ea typeface="Calibri" pitchFamily="34" charset="-122"/>
                <a:cs typeface="Calibri" pitchFamily="34" charset="-120"/>
              </a:rPr>
              <a:t>What do you want to do?</a:t>
            </a:r>
            <a:endParaRPr lang="en-US" sz="1250" dirty="0"/>
          </a:p>
        </p:txBody>
      </p:sp>
      <p:sp>
        <p:nvSpPr>
          <p:cNvPr id="17" name="line_334"/>
          <p:cNvSpPr txBox="1"/>
          <p:nvPr/>
        </p:nvSpPr>
        <p:spPr>
          <a:xfrm>
            <a:off x="2788920" y="249936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Paul: </a:t>
            </a:r>
            <a:pPr indent="0" marL="0">
              <a:buNone/>
            </a:pPr>
            <a:r>
              <a:rPr lang="en-US" sz="1250" dirty="0">
                <a:solidFill>
                  <a:srgbClr val="111111"/>
                </a:solidFill>
                <a:latin typeface="Calibri" pitchFamily="34" charset="0"/>
                <a:ea typeface="Calibri" pitchFamily="34" charset="-122"/>
                <a:cs typeface="Calibri" pitchFamily="34" charset="-120"/>
              </a:rPr>
              <a:t>Let's go dancing.</a:t>
            </a:r>
            <a:endParaRPr lang="en-US" sz="1250" dirty="0"/>
          </a:p>
        </p:txBody>
      </p:sp>
      <p:sp>
        <p:nvSpPr>
          <p:cNvPr id="18" name="line_335"/>
          <p:cNvSpPr txBox="1"/>
          <p:nvPr/>
        </p:nvSpPr>
        <p:spPr>
          <a:xfrm>
            <a:off x="3108960" y="306324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100" b="1" dirty="0">
                <a:solidFill>
                  <a:srgbClr val="062F67"/>
                </a:solidFill>
                <a:latin typeface="Calibri" pitchFamily="34" charset="0"/>
                <a:ea typeface="Calibri" pitchFamily="34" charset="-122"/>
                <a:cs typeface="Calibri" pitchFamily="34" charset="-120"/>
              </a:rPr>
              <a:t>Jenny: </a:t>
            </a:r>
            <a:pPr indent="0" marL="0">
              <a:buNone/>
            </a:pPr>
            <a:r>
              <a:rPr lang="en-US" sz="1100" dirty="0">
                <a:solidFill>
                  <a:srgbClr val="111111"/>
                </a:solidFill>
                <a:latin typeface="Calibri" pitchFamily="34" charset="0"/>
                <a:ea typeface="Calibri" pitchFamily="34" charset="-122"/>
                <a:cs typeface="Calibri" pitchFamily="34" charset="-120"/>
              </a:rPr>
              <a:t>Not on a Wednesday night. What about…?</a:t>
            </a:r>
            <a:endParaRPr lang="en-US" sz="1100" dirty="0"/>
          </a:p>
        </p:txBody>
      </p:sp>
      <p:sp>
        <p:nvSpPr>
          <p:cNvPr id="19" name="line_336"/>
          <p:cNvSpPr txBox="1"/>
          <p:nvPr/>
        </p:nvSpPr>
        <p:spPr>
          <a:xfrm>
            <a:off x="2788920" y="3627120"/>
            <a:ext cx="3611880" cy="490728"/>
          </a:xfrm>
          <a:prstGeom prst="roundRect">
            <a:avLst>
              <a:gd name="adj" fmla="val 14907"/>
            </a:avLst>
          </a:prstGeom>
          <a:solidFill>
            <a:srgbClr val="FFF1F2"/>
          </a:solidFill>
          <a:ln w="15875">
            <a:solidFill>
              <a:srgbClr val="111111"/>
            </a:solidFill>
          </a:ln>
        </p:spPr>
        <p:txBody>
          <a:bodyPr wrap="square" lIns="88900" tIns="88900" rIns="88900" bIns="889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Paul: </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p:txBody>
      </p:sp>
      <p:sp>
        <p:nvSpPr>
          <p:cNvPr id="20" name="line_337"/>
          <p:cNvSpPr txBox="1"/>
          <p:nvPr/>
        </p:nvSpPr>
        <p:spPr>
          <a:xfrm>
            <a:off x="3108960" y="4191000"/>
            <a:ext cx="3611880" cy="490728"/>
          </a:xfrm>
          <a:prstGeom prst="roundRect">
            <a:avLst>
              <a:gd name="adj" fmla="val 14907"/>
            </a:avLst>
          </a:prstGeom>
          <a:solidFill>
            <a:srgbClr val="EFF6FF"/>
          </a:solidFill>
          <a:ln w="15875">
            <a:solidFill>
              <a:srgbClr val="111111"/>
            </a:solidFill>
          </a:ln>
        </p:spPr>
        <p:txBody>
          <a:bodyPr wrap="square" lIns="88900" tIns="88900" rIns="88900" bIns="88900" rtlCol="0" anchor="ctr"/>
          <a:lstStyle/>
          <a:p>
            <a:pPr indent="0" marL="0">
              <a:buNone/>
            </a:pPr>
            <a:r>
              <a:rPr lang="en-US" sz="1250" b="1" dirty="0">
                <a:solidFill>
                  <a:srgbClr val="062F67"/>
                </a:solidFill>
                <a:latin typeface="Calibri" pitchFamily="34" charset="0"/>
                <a:ea typeface="Calibri" pitchFamily="34" charset="-122"/>
                <a:cs typeface="Calibri" pitchFamily="34" charset="-120"/>
              </a:rPr>
              <a:t>Rob: </a:t>
            </a:r>
            <a:pPr indent="0" marL="0">
              <a:buNone/>
            </a:pPr>
            <a:r>
              <a:rPr lang="en-US" sz="1250" dirty="0">
                <a:solidFill>
                  <a:srgbClr val="111111"/>
                </a:solidFill>
                <a:latin typeface="Calibri" pitchFamily="34" charset="0"/>
                <a:ea typeface="Calibri" pitchFamily="34" charset="-122"/>
                <a:cs typeface="Calibri" pitchFamily="34" charset="-120"/>
              </a:rPr>
              <a:t>…</a:t>
            </a:r>
            <a:endParaRPr lang="en-US" sz="1250" dirty="0"/>
          </a:p>
        </p:txBody>
      </p:sp>
      <p:sp>
        <p:nvSpPr>
          <p:cNvPr id="21" name="phrases_338"/>
          <p:cNvSpPr txBox="1"/>
          <p:nvPr/>
        </p:nvSpPr>
        <p:spPr>
          <a:xfrm rot="90000">
            <a:off x="6858000" y="1371600"/>
            <a:ext cx="1965960" cy="3310128"/>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101600" tIns="101600" rIns="101600" bIns="101600" rtlCol="0" anchor="t"/>
          <a:lstStyle/>
          <a:p>
            <a:pPr indent="0" marL="0">
              <a:spcAft>
                <a:spcPts val="300"/>
              </a:spcAft>
              <a:buNone/>
            </a:pPr>
            <a:r>
              <a:rPr lang="en-US" sz="1200" b="1" dirty="0">
                <a:solidFill>
                  <a:srgbClr val="6D3FC0"/>
                </a:solidFill>
                <a:latin typeface="Calibri" pitchFamily="34" charset="0"/>
                <a:ea typeface="Calibri" pitchFamily="34" charset="-122"/>
                <a:cs typeface="Calibri" pitchFamily="34" charset="-120"/>
              </a:rPr>
              <a:t>Useful phrases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Let's…</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Why don't we…?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What / How about + -ing?</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We could…</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Shall we…?</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That's a great idea!</a:t>
            </a:r>
            <a:endParaRPr lang="en-US" sz="1200" dirty="0"/>
          </a:p>
          <a:p>
            <a:pPr indent="0" marL="0">
              <a:spcAft>
                <a:spcPts val="300"/>
              </a:spcAft>
              <a:buNone/>
            </a:pPr>
            <a:r>
              <a:rPr lang="en-US" sz="1200" dirty="0">
                <a:solidFill>
                  <a:srgbClr val="111111"/>
                </a:solidFill>
                <a:latin typeface="Calibri" pitchFamily="34" charset="0"/>
                <a:ea typeface="Calibri" pitchFamily="34" charset="-122"/>
                <a:cs typeface="Calibri" pitchFamily="34" charset="-120"/>
              </a:rPr>
              <a:t>I'm not very keen on…</a:t>
            </a:r>
            <a:endParaRPr lang="en-US" sz="1200" dirty="0"/>
          </a:p>
        </p:txBody>
      </p:sp>
    </p:spTree>
  </p:cSld>
  <p:clrMapOvr>
    <a:masterClrMapping/>
  </p:clrMapOvr>
  <p:transition spd="med">
    <p:push dir="l"/>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39"/>
          <p:cNvSpPr/>
          <p:nvPr/>
        </p:nvSpPr>
        <p:spPr>
          <a:xfrm>
            <a:off x="54864" y="54864"/>
            <a:ext cx="9034272" cy="5033772"/>
          </a:xfrm>
          <a:prstGeom prst="rect">
            <a:avLst/>
          </a:prstGeom>
          <a:ln w="114300">
            <a:solidFill>
              <a:srgbClr val="A8E6B4"/>
            </a:solidFill>
            <a:prstDash val="solid"/>
          </a:ln>
        </p:spPr>
      </p:sp>
      <p:pic>
        <p:nvPicPr>
          <p:cNvPr id="4" name="logo_3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Mini debate</a:t>
            </a:r>
            <a:endParaRPr lang="en-US" sz="900" dirty="0"/>
          </a:p>
        </p:txBody>
      </p:sp>
      <p:sp>
        <p:nvSpPr>
          <p:cNvPr id="6" name="timer_3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extra_34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4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PE4 · Part 1</a:t>
            </a:r>
            <a:endParaRPr lang="en-US" sz="1000" dirty="0"/>
          </a:p>
        </p:txBody>
      </p:sp>
      <p:sp>
        <p:nvSpPr>
          <p:cNvPr id="9" name="title_345"/>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Whose side are you on?</a:t>
            </a:r>
            <a:endParaRPr lang="en-US" sz="1500" dirty="0"/>
          </a:p>
        </p:txBody>
      </p:sp>
      <p:sp>
        <p:nvSpPr>
          <p:cNvPr id="10" name="post_346"/>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34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34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motivo!</a:t>
            </a:r>
            <a:endParaRPr lang="en-US" sz="1250" dirty="0"/>
          </a:p>
        </p:txBody>
      </p:sp>
      <p:sp>
        <p:nvSpPr>
          <p:cNvPr id="13" name="iconBack_34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50" descr="pi:PiScales">    </p:cNvPr>
          <p:cNvPicPr>
            <a:picLocks noChangeAspect="1"/>
          </p:cNvPicPr>
          <p:nvPr/>
        </p:nvPicPr>
        <p:blipFill>
          <a:blip r:embed="rId3"/>
          <a:stretch>
            <a:fillRect/>
          </a:stretch>
        </p:blipFill>
        <p:spPr>
          <a:xfrm>
            <a:off x="914400" y="3474720"/>
            <a:ext cx="685800" cy="685800"/>
          </a:xfrm>
          <a:prstGeom prst="rect">
            <a:avLst/>
          </a:prstGeom>
        </p:spPr>
      </p:pic>
      <p:sp>
        <p:nvSpPr>
          <p:cNvPr id="15" name="box_351"/>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"Paul is a bad influence on Rob."</a:t>
            </a:r>
            <a:endParaRPr lang="en-US" sz="1350" dirty="0"/>
          </a:p>
        </p:txBody>
      </p:sp>
      <p:sp>
        <p:nvSpPr>
          <p:cNvPr id="16" name="stamp_352"/>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7" name="stamp_353"/>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8" name="box_354"/>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"Jenny was wrong not to go to the gig."</a:t>
            </a:r>
            <a:endParaRPr lang="en-US" sz="1350" dirty="0"/>
          </a:p>
        </p:txBody>
      </p:sp>
      <p:sp>
        <p:nvSpPr>
          <p:cNvPr id="19" name="stamp_355"/>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0" name="stamp_356"/>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1" name="box_357"/>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"Rob was wrong to miss the meeting."</a:t>
            </a:r>
            <a:endParaRPr lang="en-US" sz="1350" dirty="0"/>
          </a:p>
        </p:txBody>
      </p:sp>
      <p:sp>
        <p:nvSpPr>
          <p:cNvPr id="22" name="stamp_358"/>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3" name="stamp_359"/>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4" name="box_360"/>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"Jenny was right to cover for Rob."</a:t>
            </a:r>
            <a:endParaRPr lang="en-US" sz="1350" dirty="0"/>
          </a:p>
        </p:txBody>
      </p:sp>
      <p:sp>
        <p:nvSpPr>
          <p:cNvPr id="25" name="stamp_361"/>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6" name="stamp_362"/>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7" name="bubble_363"/>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think… because… · On the other hand… · No way! If I were Jenny, I'd…</a:t>
            </a:r>
            <a:endParaRPr lang="en-US" sz="12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PE4 Boys' night out</dc:title>
  <dc:subject>PptxGenJS Presentation</dc:subject>
  <dc:creator>London Language School</dc:creator>
  <cp:lastModifiedBy>London Language School</cp:lastModifiedBy>
  <cp:revision>1</cp:revision>
  <dcterms:created xsi:type="dcterms:W3CDTF">2026-10-05T09:39:34Z</dcterms:created>
  <dcterms:modified xsi:type="dcterms:W3CDTF">2026-10-05T09:39:34Z</dcterms:modified>
</cp:coreProperties>
</file>