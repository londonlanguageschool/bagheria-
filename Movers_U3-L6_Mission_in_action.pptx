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(2 min, TB40). 'Let's practise for a speaking exam!' Explain Movers Speaking Part 2: four pictures that make a story; the name of the story is at the top. You look and think about the story, then tell the examiner. The name of the main character is given.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RETRIEVAL OF LESSONS 4–5 – SPOT THE LIE (4 min). SEE: 3 sentences per row, answers hidden. TEACHER: read row 1 aloud as full sentences with a 'poker face' (Matt wants to be a superhero. Ludo is a cat. Emily is a pop star.). STUDENTS: teams have 10 seconds to agree and hold up 1, 2 or 3 fingers (commit) – THEN click. GROUPING: 2–3 teams. SCORE: 1 point for the lie, +1 if the team corrects it in a full sentence ('Ludo is a dog!'). LANGUAGE: story recall (L5) + jobs and places (L4). Round 4 (if time): a team invents 2 truths + 1 lie about themselves for the others. (TB40 'Draw a party' warm-up: optional, only if you have extra time.)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EX.1 (4 min, TB40). Ask about picture 1: 'What's the boy's name? (Jim) What has he got? (A present) What's he wearing? (A pirate costume) Whose birthday is it? (Zoe's)'. Pairs read and tick. KEY (TB40): 1, 3. Extra support: read the sentences as a class and decide together which to tick.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EX.2 (4 min, TB40). Point to picture 2: 'Who's this girl? (Zoe) Jim's giving his present to Zoe. Is Zoe wearing a costume? What costume is it? (Pop star)'. 'Look at pictures 3 and 4. What's happening? What's the story about?' Read the three titles; students vote. KEY (TB40): Zoe's present.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PRONUNCIATION + TRAP (3 min). Italian learners mix 'he's' /hiːz/ and 'his' /hɪz/, and drop the h. SEE: gapped sentences, answers hidden. TEACHER: read each sentence saying ONE of the two words clearly. STUDENTS: hold up 1 finger (he's – long smiley 'eee') or 2 fingers (his – short 'i'), then click. CATCH IT: say 'is present' / 'er hair' without h – students catch you. Whisper → normal → monster voice: 'His hair is long. Her hair is pink.' Then into the story-telling.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EX.3 (8 min, both slides, TB40). Read the phrases in the box: Zoe's/Jim's … · Zoe's/Jim's got … · The kitten's walking … · …'s happy/sad · … are looking/pointing · There's / There are …. Elicit sentences about each picture, then pairs describe pictures 2–4. KEY (possible answers, TB40): Zoe's wearing a pop star costume. She's got long, pink hair. Zoe likes the present. Zoe's happy. It's a comic (book). The comic book's on the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(possible answers, TB40): The window's open. There's a kitten. The kitten's walking on Zoe's present. Zoe's sad. The other children are looking at the kitten. A girl is pointing at the kitten. MONKEY TIP (TB40): don't worry if you don't follow the story at first or can't find the words – the examiner can ask questions to help you, e.g. 'What's the kitten doing?'. EXTENSION: students imagine what happens next and draw 4 pictures with a title; partners tell each other's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QUIZ (5 min, TB41 warm-up). SEE: treasure picture + 6 clues, answers hidden. TEACHER: read a clue. STUDENTS: teams write the word on a mini whiteboard in 10 seconds and hold it up together (commit). GROUPING: 3–4 teams. SCORE: 1 point per correct word, +1 if spelt correctly. LANGUAGE: Unit 3 words from definitions. REVEAL: click after all boards are up. KEY: a farmer, a moustache, doctor/nurse/dentist/firefighter/police officer (any two), blonde/fair/black/brown (any two), a pirate, a present. (Hangman is the Review's 'Shark attack', so not here.)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TPR – SHOW ME! (3 min). Warm up the actors before the show. SEE: 6 feeling faces; actions on click. TEACHER: say a feeling – everyone shows it with face and body. Then add a line: 'Say Oh no! – SAD voice!', 'Say Thank you! – HAPPY voice!', 'Say Help! – SCARED voice!'. GROUPING: whole class. SCORE: none – a 'best actor' leads the next round. LANGUAGE: feelings + useful lines for the Mission scene.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MISSION IN ACTION (15 min with the next slide, TB41). Go through the stages. Model: pretend you're presenting a scene – say a title, mime with a picture of your character and describe yourself; say 'Here is our scene' and act it out. Mission groups (from Lessons 2–4) get time to practise presenting their characters and rehearsing the scene. Use props / costumes if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SHOWTIME. Groups take turns to present and act. Remind them to thank the audience ('Thank you for watching and listening!'). After each scene ask the audience: 'Who's the helper? What's the problem?' Then each group gets a star for each criterion. Take a short video for the parents if the school's privacy rules allow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SELF-ASSESSMENT (TB41). 'Did you like the Plan and act out a scene Mission?' Students draw a happy, neutral or sad face. 'Was this Mission better than the last one?' (thumbs). Next Mission: 'Act out a visit to my cousins' new home.' Students write one thing they can do better (e.g. 'I can talk more in groups.'). AB p.30: look at the 'I can' leaves (colour green/orange) and add 5 new words to the word stack (AB p.120). Give the completion sticker: 'You have finished your Mission! Well done!'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– BOARD GAME (8 min, AB p.41). SEE: the AB board. TEACHER: groups of 3–4 with a dice and counters (or 2 teams on the screen: a child moves the team's counter). STUDENTS: roll, move, describe the person on the square: 'The farmer's tall. He's got fair hair and a moustache.' GROUPING: small groups / 2 teams. SCORE: a correct 2-detail description = stay; wrong or 1 detail = back 1 square; first to FINISH wins. LANGUAGE: He's/She's + adjective, He's/She's got + adjective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– NOUGHTS AND CROSSES (5 min). SEE: 9 words in 3 rows (draw them as a 3×3 grid on the board, or use the real flashcards). TEACHER: draws the grid; Team O starts. STUDENTS: the team chooses a square and makes a correct sentence about it ('He's got a beard.' / 'A nurse works in a hospital.'). GROUPING: 2 teams, a different speaker each turn. SCORE: correct sentence = O/X; three in a row wins. LANGUAGE: Unit 3 description + jobs sentences. REVEAL: teacher accepts/rejects each sentence (class helps correct).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jp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UNIT 3 · LESSON 6</a:t>
            </a:r>
            <a:endParaRPr lang="en-US" sz="1600" dirty="0"/>
          </a:p>
        </p:txBody>
      </p:sp>
      <p:sp>
        <p:nvSpPr>
          <p:cNvPr id="4" name="bm_2"/>
          <p:cNvSpPr/>
          <p:nvPr/>
        </p:nvSpPr>
        <p:spPr>
          <a:xfrm rot="-120000">
            <a:off x="228600" y="493776"/>
            <a:ext cx="48463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Mission in action!</a:t>
            </a:r>
            <a:endParaRPr lang="en-US" sz="2700" dirty="0"/>
          </a:p>
        </p:txBody>
      </p:sp>
      <p:sp>
        <p:nvSpPr>
          <p:cNvPr id="5" name="in_3"/>
          <p:cNvSpPr/>
          <p:nvPr/>
        </p:nvSpPr>
        <p:spPr>
          <a:xfrm>
            <a:off x="5212080" y="182880"/>
            <a:ext cx="37033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Today: picture stories + our show! 🎭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Oggi: storie illustrate + spettacolo!</a:t>
            </a:r>
            <a:endParaRPr lang="en-US" sz="1400" dirty="0"/>
          </a:p>
        </p:txBody>
      </p:sp>
      <p:sp>
        <p:nvSpPr>
          <p:cNvPr id="6" name="st_4"/>
          <p:cNvSpPr/>
          <p:nvPr/>
        </p:nvSpPr>
        <p:spPr>
          <a:xfrm>
            <a:off x="228600" y="137160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n_5"/>
          <p:cNvSpPr/>
          <p:nvPr/>
        </p:nvSpPr>
        <p:spPr>
          <a:xfrm>
            <a:off x="118872" y="1261872"/>
            <a:ext cx="384048" cy="384048"/>
          </a:xfrm>
          <a:prstGeom prst="ellipse">
            <a:avLst/>
          </a:prstGeom>
          <a:solidFill>
            <a:srgbClr val="FFD23F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k_6"/>
          <p:cNvSpPr/>
          <p:nvPr/>
        </p:nvSpPr>
        <p:spPr>
          <a:xfrm>
            <a:off x="521208" y="14081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👀 LOOK</a:t>
            </a:r>
            <a:endParaRPr lang="en-US" sz="1300" dirty="0"/>
          </a:p>
        </p:txBody>
      </p:sp>
      <p:sp>
        <p:nvSpPr>
          <p:cNvPr id="9" name="se_7"/>
          <p:cNvSpPr/>
          <p:nvPr/>
        </p:nvSpPr>
        <p:spPr>
          <a:xfrm>
            <a:off x="338328" y="170078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at a picture story.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una storia illustrata.</a:t>
            </a:r>
            <a:endParaRPr lang="en-US" sz="1050" dirty="0"/>
          </a:p>
        </p:txBody>
      </p:sp>
      <p:sp>
        <p:nvSpPr>
          <p:cNvPr id="10" name="st_8"/>
          <p:cNvSpPr/>
          <p:nvPr/>
        </p:nvSpPr>
        <p:spPr>
          <a:xfrm>
            <a:off x="228600" y="237744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FF5DA2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sn_9"/>
          <p:cNvSpPr/>
          <p:nvPr/>
        </p:nvSpPr>
        <p:spPr>
          <a:xfrm>
            <a:off x="118872" y="2267712"/>
            <a:ext cx="384048" cy="384048"/>
          </a:xfrm>
          <a:prstGeom prst="ellipse">
            <a:avLst/>
          </a:prstGeom>
          <a:solidFill>
            <a:srgbClr val="FF5DA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k_10"/>
          <p:cNvSpPr/>
          <p:nvPr/>
        </p:nvSpPr>
        <p:spPr>
          <a:xfrm>
            <a:off x="521208" y="24140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SPEAK</a:t>
            </a:r>
            <a:endParaRPr lang="en-US" sz="1300" dirty="0"/>
          </a:p>
        </p:txBody>
      </p:sp>
      <p:sp>
        <p:nvSpPr>
          <p:cNvPr id="13" name="se_11"/>
          <p:cNvSpPr/>
          <p:nvPr/>
        </p:nvSpPr>
        <p:spPr>
          <a:xfrm>
            <a:off x="338328" y="270662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the story like in the Movers exam.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Racconta la storia come all'esame Movers.</a:t>
            </a:r>
            <a:endParaRPr lang="en-US" sz="1050" dirty="0"/>
          </a:p>
        </p:txBody>
      </p:sp>
      <p:sp>
        <p:nvSpPr>
          <p:cNvPr id="14" name="st_12"/>
          <p:cNvSpPr/>
          <p:nvPr/>
        </p:nvSpPr>
        <p:spPr>
          <a:xfrm>
            <a:off x="228600" y="338328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6CCB3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sn_13"/>
          <p:cNvSpPr/>
          <p:nvPr/>
        </p:nvSpPr>
        <p:spPr>
          <a:xfrm>
            <a:off x="118872" y="3273552"/>
            <a:ext cx="384048" cy="384048"/>
          </a:xfrm>
          <a:prstGeom prst="ellipse">
            <a:avLst/>
          </a:prstGeom>
          <a:solidFill>
            <a:srgbClr val="6CCB3B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k_14"/>
          <p:cNvSpPr/>
          <p:nvPr/>
        </p:nvSpPr>
        <p:spPr>
          <a:xfrm>
            <a:off x="521208" y="34198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⚙️ DO</a:t>
            </a:r>
            <a:endParaRPr lang="en-US" sz="1300" dirty="0"/>
          </a:p>
        </p:txBody>
      </p:sp>
      <p:sp>
        <p:nvSpPr>
          <p:cNvPr id="17" name="se_15"/>
          <p:cNvSpPr/>
          <p:nvPr/>
        </p:nvSpPr>
        <p:spPr>
          <a:xfrm>
            <a:off x="338328" y="371246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out our Mission scene!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Recitiamo la scena della Missione!</a:t>
            </a:r>
            <a:endParaRPr lang="en-US" sz="1050" dirty="0"/>
          </a:p>
        </p:txBody>
      </p:sp>
      <p:sp>
        <p:nvSpPr>
          <p:cNvPr id="18" name="pf_16"/>
          <p:cNvSpPr/>
          <p:nvPr/>
        </p:nvSpPr>
        <p:spPr>
          <a:xfrm>
            <a:off x="3191256" y="1271016"/>
            <a:ext cx="3355848" cy="3264408"/>
          </a:xfrm>
          <a:prstGeom prst="roundRect">
            <a:avLst>
              <a:gd name="adj" fmla="val 280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9" name="pic_17" descr="/home/claude/movers/img/crop/u3-p41-phot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2019016"/>
            <a:ext cx="3246120" cy="1768409"/>
          </a:xfrm>
          <a:prstGeom prst="rect">
            <a:avLst/>
          </a:prstGeom>
        </p:spPr>
      </p:pic>
      <p:sp>
        <p:nvSpPr>
          <p:cNvPr id="20" name="cd_18"/>
          <p:cNvSpPr/>
          <p:nvPr/>
        </p:nvSpPr>
        <p:spPr>
          <a:xfrm>
            <a:off x="6720840" y="301752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1" name="ci_19" descr="/home/claude/movers/img/fc/clow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2" y="3090672"/>
            <a:ext cx="905256" cy="905256"/>
          </a:xfrm>
          <a:prstGeom prst="rect">
            <a:avLst/>
          </a:prstGeom>
        </p:spPr>
      </p:pic>
      <p:sp>
        <p:nvSpPr>
          <p:cNvPr id="22" name="cd_20"/>
          <p:cNvSpPr/>
          <p:nvPr/>
        </p:nvSpPr>
        <p:spPr>
          <a:xfrm>
            <a:off x="7863840" y="301752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3" name="ci_21" descr="/home/claude/movers/img/fc/docto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992" y="3090672"/>
            <a:ext cx="905256" cy="905256"/>
          </a:xfrm>
          <a:prstGeom prst="rect">
            <a:avLst/>
          </a:prstGeom>
        </p:spPr>
      </p:pic>
      <p:sp>
        <p:nvSpPr>
          <p:cNvPr id="24" name="bb_22"/>
          <p:cNvSpPr/>
          <p:nvPr/>
        </p:nvSpPr>
        <p:spPr>
          <a:xfrm>
            <a:off x="6675120" y="1874520"/>
            <a:ext cx="224028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A5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Lights, camera, action!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Luci, camera, azione!</a:t>
            </a:r>
            <a:endParaRPr lang="en-US" sz="1500" dirty="0"/>
          </a:p>
        </p:txBody>
      </p:sp>
      <p:sp>
        <p:nvSpPr>
          <p:cNvPr id="25" name="bk_23"/>
          <p:cNvSpPr/>
          <p:nvPr/>
        </p:nvSpPr>
        <p:spPr>
          <a:xfrm>
            <a:off x="228600" y="4681728"/>
            <a:ext cx="2103120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p.40–41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4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REMEMBER?</a:t>
            </a:r>
            <a:endParaRPr lang="en-US" sz="1600" dirty="0"/>
          </a:p>
        </p:txBody>
      </p:sp>
      <p:sp>
        <p:nvSpPr>
          <p:cNvPr id="4" name="bm_25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Spot the lie!</a:t>
            </a:r>
            <a:endParaRPr lang="en-US" sz="2700" dirty="0"/>
          </a:p>
        </p:txBody>
      </p:sp>
      <p:sp>
        <p:nvSpPr>
          <p:cNvPr id="5" name="in_26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Two are true. One is a LIE! Which one?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Due sono vere. Una è una BUGIA! Quale?</a:t>
            </a:r>
            <a:endParaRPr lang="en-US" sz="1400" dirty="0"/>
          </a:p>
        </p:txBody>
      </p:sp>
      <p:sp>
        <p:nvSpPr>
          <p:cNvPr id="6" name="mode_27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👥👥 TEAMS · ⏱ 4 MIN</a:t>
            </a:r>
            <a:endParaRPr lang="en-US" sz="1000" dirty="0"/>
          </a:p>
        </p:txBody>
      </p:sp>
      <p:sp>
        <p:nvSpPr>
          <p:cNvPr id="7" name="diff_28"/>
          <p:cNvSpPr/>
          <p:nvPr/>
        </p:nvSpPr>
        <p:spPr>
          <a:xfrm>
            <a:off x="4343400" y="4681728"/>
            <a:ext cx="224028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FD23F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Number … is a lie!</a:t>
            </a:r>
            <a:endParaRPr lang="en-US" sz="950" dirty="0"/>
          </a:p>
        </p:txBody>
      </p:sp>
      <p:sp>
        <p:nvSpPr>
          <p:cNvPr id="8" name="diff_29"/>
          <p:cNvSpPr/>
          <p:nvPr/>
        </p:nvSpPr>
        <p:spPr>
          <a:xfrm>
            <a:off x="6675120" y="4681728"/>
            <a:ext cx="224028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2545B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🔥 Correct the lie!</a:t>
            </a:r>
            <a:endParaRPr lang="en-US" sz="950" dirty="0"/>
          </a:p>
        </p:txBody>
      </p:sp>
      <p:sp>
        <p:nvSpPr>
          <p:cNvPr id="9" name="pf_30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0" name="pic_31" descr="/home/claude/movers/img/e-u3li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020" y="1325880"/>
            <a:ext cx="3246120" cy="3246120"/>
          </a:xfrm>
          <a:prstGeom prst="rect">
            <a:avLst/>
          </a:prstGeom>
        </p:spPr>
      </p:pic>
      <p:sp>
        <p:nvSpPr>
          <p:cNvPr id="11" name="q_32"/>
          <p:cNvSpPr/>
          <p:nvPr/>
        </p:nvSpPr>
        <p:spPr>
          <a:xfrm>
            <a:off x="5760720" y="132588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① Matt: superhero  ② Ludo: cat  ③ Emily: pop star</a:t>
            </a:r>
            <a:endParaRPr lang="en-US" sz="1250" dirty="0"/>
          </a:p>
        </p:txBody>
      </p:sp>
      <p:sp>
        <p:nvSpPr>
          <p:cNvPr id="12" name="R1_a33"/>
          <p:cNvSpPr/>
          <p:nvPr/>
        </p:nvSpPr>
        <p:spPr>
          <a:xfrm>
            <a:off x="5989320" y="177759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② Ludo is a DOG!</a:t>
            </a:r>
            <a:endParaRPr lang="en-US" sz="1250" dirty="0"/>
          </a:p>
        </p:txBody>
      </p:sp>
      <p:sp>
        <p:nvSpPr>
          <p:cNvPr id="13" name="q_34"/>
          <p:cNvSpPr/>
          <p:nvPr/>
        </p:nvSpPr>
        <p:spPr>
          <a:xfrm>
            <a:off x="5760720" y="219456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① Mum: an idea  ② Harry: pirate  ③ everyone: laughs</a:t>
            </a:r>
            <a:endParaRPr lang="en-US" sz="1250" dirty="0"/>
          </a:p>
        </p:txBody>
      </p:sp>
      <p:sp>
        <p:nvSpPr>
          <p:cNvPr id="14" name="R2_a35"/>
          <p:cNvSpPr/>
          <p:nvPr/>
        </p:nvSpPr>
        <p:spPr>
          <a:xfrm>
            <a:off x="5989320" y="264627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② Harry is a superhero!</a:t>
            </a:r>
            <a:endParaRPr lang="en-US" sz="1250" dirty="0"/>
          </a:p>
        </p:txBody>
      </p:sp>
      <p:sp>
        <p:nvSpPr>
          <p:cNvPr id="15" name="q_36"/>
          <p:cNvSpPr/>
          <p:nvPr/>
        </p:nvSpPr>
        <p:spPr>
          <a:xfrm>
            <a:off x="5760720" y="306324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① firefighter: hospital  ② dentist: teeth  ③ Sally: teacher</a:t>
            </a:r>
            <a:endParaRPr lang="en-US" sz="1250" dirty="0"/>
          </a:p>
        </p:txBody>
      </p:sp>
      <p:sp>
        <p:nvSpPr>
          <p:cNvPr id="16" name="R3_a37"/>
          <p:cNvSpPr/>
          <p:nvPr/>
        </p:nvSpPr>
        <p:spPr>
          <a:xfrm>
            <a:off x="5989320" y="351495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① fire station!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38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A1 MOVERS</a:t>
            </a:r>
            <a:endParaRPr lang="en-US" sz="1600" dirty="0"/>
          </a:p>
        </p:txBody>
      </p:sp>
      <p:sp>
        <p:nvSpPr>
          <p:cNvPr id="4" name="bm_39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Tick the sentences</a:t>
            </a:r>
            <a:endParaRPr lang="en-US" sz="2700" dirty="0"/>
          </a:p>
        </p:txBody>
      </p:sp>
      <p:sp>
        <p:nvSpPr>
          <p:cNvPr id="5" name="in_40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 and read. Tick ✓ the sentences which describe the picture.</a:t>
            </a:r>
            <a:endParaRPr lang="en-US" sz="110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 e leggi. Spunta ✓ le frasi che descrivono l'immagine.</a:t>
            </a:r>
            <a:endParaRPr lang="en-US" sz="1100" dirty="0"/>
          </a:p>
        </p:txBody>
      </p:sp>
      <p:sp>
        <p:nvSpPr>
          <p:cNvPr id="6" name="mode_41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 PAIRS · ⏱ 3 MIN</a:t>
            </a:r>
            <a:endParaRPr lang="en-US" sz="1000" dirty="0"/>
          </a:p>
        </p:txBody>
      </p:sp>
      <p:sp>
        <p:nvSpPr>
          <p:cNvPr id="7" name="pf_42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pic_43" descr="/home/claude/movers/img/crop/u3-p40-ex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936" y="1325880"/>
            <a:ext cx="4778289" cy="3246120"/>
          </a:xfrm>
          <a:prstGeom prst="rect">
            <a:avLst/>
          </a:prstGeom>
        </p:spPr>
      </p:pic>
      <p:sp>
        <p:nvSpPr>
          <p:cNvPr id="9" name="q_44"/>
          <p:cNvSpPr/>
          <p:nvPr/>
        </p:nvSpPr>
        <p:spPr>
          <a:xfrm>
            <a:off x="5760720" y="132588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Jim is going to a costume party.</a:t>
            </a:r>
            <a:endParaRPr lang="en-US" sz="1250" dirty="0"/>
          </a:p>
        </p:txBody>
      </p:sp>
      <p:sp>
        <p:nvSpPr>
          <p:cNvPr id="10" name="R1_a45"/>
          <p:cNvSpPr/>
          <p:nvPr/>
        </p:nvSpPr>
        <p:spPr>
          <a:xfrm>
            <a:off x="5989320" y="175381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✓</a:t>
            </a:r>
            <a:endParaRPr lang="en-US" sz="1250" dirty="0"/>
          </a:p>
        </p:txBody>
      </p:sp>
      <p:sp>
        <p:nvSpPr>
          <p:cNvPr id="11" name="q_46"/>
          <p:cNvSpPr/>
          <p:nvPr/>
        </p:nvSpPr>
        <p:spPr>
          <a:xfrm>
            <a:off x="5760720" y="214884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Jim's having a party at his house.</a:t>
            </a:r>
            <a:endParaRPr lang="en-US" sz="1250" dirty="0"/>
          </a:p>
        </p:txBody>
      </p:sp>
      <p:sp>
        <p:nvSpPr>
          <p:cNvPr id="12" name="R2_a47"/>
          <p:cNvSpPr/>
          <p:nvPr/>
        </p:nvSpPr>
        <p:spPr>
          <a:xfrm>
            <a:off x="5989320" y="257677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✗</a:t>
            </a:r>
            <a:endParaRPr lang="en-US" sz="1250" dirty="0"/>
          </a:p>
        </p:txBody>
      </p:sp>
      <p:sp>
        <p:nvSpPr>
          <p:cNvPr id="13" name="q_48"/>
          <p:cNvSpPr/>
          <p:nvPr/>
        </p:nvSpPr>
        <p:spPr>
          <a:xfrm>
            <a:off x="5760720" y="297180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He's got a present for his friend, Zoe.</a:t>
            </a:r>
            <a:endParaRPr lang="en-US" sz="1250" dirty="0"/>
          </a:p>
        </p:txBody>
      </p:sp>
      <p:sp>
        <p:nvSpPr>
          <p:cNvPr id="14" name="R3_a49"/>
          <p:cNvSpPr/>
          <p:nvPr/>
        </p:nvSpPr>
        <p:spPr>
          <a:xfrm>
            <a:off x="5989320" y="339973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✓</a:t>
            </a:r>
            <a:endParaRPr lang="en-US" sz="1250" dirty="0"/>
          </a:p>
        </p:txBody>
      </p:sp>
      <p:sp>
        <p:nvSpPr>
          <p:cNvPr id="15" name="q_50"/>
          <p:cNvSpPr/>
          <p:nvPr/>
        </p:nvSpPr>
        <p:spPr>
          <a:xfrm>
            <a:off x="5760720" y="379476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He's opening a present.</a:t>
            </a:r>
            <a:endParaRPr lang="en-US" sz="1250" dirty="0"/>
          </a:p>
        </p:txBody>
      </p:sp>
      <p:sp>
        <p:nvSpPr>
          <p:cNvPr id="16" name="R4_a51"/>
          <p:cNvSpPr/>
          <p:nvPr/>
        </p:nvSpPr>
        <p:spPr>
          <a:xfrm>
            <a:off x="5989320" y="422269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✗</a:t>
            </a:r>
            <a:endParaRPr lang="en-US" sz="1250" dirty="0"/>
          </a:p>
        </p:txBody>
      </p:sp>
      <p:sp>
        <p:nvSpPr>
          <p:cNvPr id="17" name="bk_52"/>
          <p:cNvSpPr/>
          <p:nvPr/>
        </p:nvSpPr>
        <p:spPr>
          <a:xfrm>
            <a:off x="228600" y="4681728"/>
            <a:ext cx="2414016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p.40 · ex.1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53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A1 MOVERS</a:t>
            </a:r>
            <a:endParaRPr lang="en-US" sz="1600" dirty="0"/>
          </a:p>
        </p:txBody>
      </p:sp>
      <p:sp>
        <p:nvSpPr>
          <p:cNvPr id="4" name="bm_54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it called?</a:t>
            </a:r>
            <a:endParaRPr lang="en-US" sz="2700" dirty="0"/>
          </a:p>
        </p:txBody>
      </p:sp>
      <p:sp>
        <p:nvSpPr>
          <p:cNvPr id="5" name="in_55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 at pictures 2–4. What's the story called? Circle.</a:t>
            </a:r>
            <a:endParaRPr lang="en-US" sz="1200" dirty="0"/>
          </a:p>
          <a:p>
            <a:pPr indent="0" marL="0">
              <a:buNone/>
            </a:pPr>
            <a:r>
              <a:rPr lang="en-US" sz="10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 le figure 2–4. Come si chiama la storia? Cerchia.</a:t>
            </a:r>
            <a:endParaRPr lang="en-US" sz="1200" dirty="0"/>
          </a:p>
        </p:txBody>
      </p:sp>
      <p:sp>
        <p:nvSpPr>
          <p:cNvPr id="6" name="mode_56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👥👥 VOTE · ⏱ 3 MIN</a:t>
            </a:r>
            <a:endParaRPr lang="en-US" sz="1000" dirty="0"/>
          </a:p>
        </p:txBody>
      </p:sp>
      <p:sp>
        <p:nvSpPr>
          <p:cNvPr id="7" name="pf_57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pic_58" descr="/home/claude/movers/img/crop/u3-p40-ex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78400"/>
            <a:ext cx="5120640" cy="1941080"/>
          </a:xfrm>
          <a:prstGeom prst="rect">
            <a:avLst/>
          </a:prstGeom>
        </p:spPr>
      </p:pic>
      <p:sp>
        <p:nvSpPr>
          <p:cNvPr id="9" name="q_59"/>
          <p:cNvSpPr/>
          <p:nvPr/>
        </p:nvSpPr>
        <p:spPr>
          <a:xfrm>
            <a:off x="5760720" y="132588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Who's this girl?</a:t>
            </a:r>
            <a:endParaRPr lang="en-US" sz="1250" dirty="0"/>
          </a:p>
        </p:txBody>
      </p:sp>
      <p:sp>
        <p:nvSpPr>
          <p:cNvPr id="10" name="R1_a60"/>
          <p:cNvSpPr/>
          <p:nvPr/>
        </p:nvSpPr>
        <p:spPr>
          <a:xfrm>
            <a:off x="5989320" y="175381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Zoe</a:t>
            </a:r>
            <a:endParaRPr lang="en-US" sz="1250" dirty="0"/>
          </a:p>
        </p:txBody>
      </p:sp>
      <p:sp>
        <p:nvSpPr>
          <p:cNvPr id="11" name="q_61"/>
          <p:cNvSpPr/>
          <p:nvPr/>
        </p:nvSpPr>
        <p:spPr>
          <a:xfrm>
            <a:off x="5760720" y="214884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What's Jim giving to Zoe?</a:t>
            </a:r>
            <a:endParaRPr lang="en-US" sz="1250" dirty="0"/>
          </a:p>
        </p:txBody>
      </p:sp>
      <p:sp>
        <p:nvSpPr>
          <p:cNvPr id="12" name="R2_a62"/>
          <p:cNvSpPr/>
          <p:nvPr/>
        </p:nvSpPr>
        <p:spPr>
          <a:xfrm>
            <a:off x="5989320" y="257677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his present 🎁</a:t>
            </a:r>
            <a:endParaRPr lang="en-US" sz="1250" dirty="0"/>
          </a:p>
        </p:txBody>
      </p:sp>
      <p:sp>
        <p:nvSpPr>
          <p:cNvPr id="13" name="q_63"/>
          <p:cNvSpPr/>
          <p:nvPr/>
        </p:nvSpPr>
        <p:spPr>
          <a:xfrm>
            <a:off x="5760720" y="297180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Is Zoe wearing a costume? Which one?</a:t>
            </a:r>
            <a:endParaRPr lang="en-US" sz="1250" dirty="0"/>
          </a:p>
        </p:txBody>
      </p:sp>
      <p:sp>
        <p:nvSpPr>
          <p:cNvPr id="14" name="R3_a64"/>
          <p:cNvSpPr/>
          <p:nvPr/>
        </p:nvSpPr>
        <p:spPr>
          <a:xfrm>
            <a:off x="5989320" y="339973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Yes – a pop star costume.</a:t>
            </a:r>
            <a:endParaRPr lang="en-US" sz="1250" dirty="0"/>
          </a:p>
        </p:txBody>
      </p:sp>
      <p:sp>
        <p:nvSpPr>
          <p:cNvPr id="15" name="q_65"/>
          <p:cNvSpPr/>
          <p:nvPr/>
        </p:nvSpPr>
        <p:spPr>
          <a:xfrm>
            <a:off x="5760720" y="379476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Jim's kitten / Zoe's present / Jim's party?</a:t>
            </a:r>
            <a:endParaRPr lang="en-US" sz="1250" dirty="0"/>
          </a:p>
        </p:txBody>
      </p:sp>
      <p:sp>
        <p:nvSpPr>
          <p:cNvPr id="16" name="R4_a66"/>
          <p:cNvSpPr/>
          <p:nvPr/>
        </p:nvSpPr>
        <p:spPr>
          <a:xfrm>
            <a:off x="5989320" y="422269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Zoe's present ✓</a:t>
            </a:r>
            <a:endParaRPr lang="en-US" sz="1250" dirty="0"/>
          </a:p>
        </p:txBody>
      </p:sp>
      <p:sp>
        <p:nvSpPr>
          <p:cNvPr id="17" name="bk_67"/>
          <p:cNvSpPr/>
          <p:nvPr/>
        </p:nvSpPr>
        <p:spPr>
          <a:xfrm>
            <a:off x="228600" y="4681728"/>
            <a:ext cx="2414016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p.40 · ex.2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68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SAY IT!</a:t>
            </a:r>
            <a:endParaRPr lang="en-US" sz="1600" dirty="0"/>
          </a:p>
        </p:txBody>
      </p:sp>
      <p:sp>
        <p:nvSpPr>
          <p:cNvPr id="4" name="bm_69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He's or his?</a:t>
            </a:r>
            <a:endParaRPr lang="en-US" sz="3200" dirty="0"/>
          </a:p>
        </p:txBody>
      </p:sp>
      <p:sp>
        <p:nvSpPr>
          <p:cNvPr id="5" name="in_70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Listen. 1 = he's   2 = his. Show me!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Ascolta. 1 = he's   2 = his. Mostra!</a:t>
            </a:r>
            <a:endParaRPr lang="en-US" sz="1400" dirty="0"/>
          </a:p>
        </p:txBody>
      </p:sp>
      <p:sp>
        <p:nvSpPr>
          <p:cNvPr id="6" name="mode_71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🗣 CLASS · ⏱ 3 MIN</a:t>
            </a:r>
            <a:endParaRPr lang="en-US" sz="1000" dirty="0"/>
          </a:p>
        </p:txBody>
      </p:sp>
      <p:sp>
        <p:nvSpPr>
          <p:cNvPr id="7" name="diff_72"/>
          <p:cNvSpPr/>
          <p:nvPr/>
        </p:nvSpPr>
        <p:spPr>
          <a:xfrm>
            <a:off x="4343400" y="4681728"/>
            <a:ext cx="457200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2545B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🔥 Say: His hair's pink!</a:t>
            </a:r>
            <a:endParaRPr lang="en-US" sz="950" dirty="0"/>
          </a:p>
        </p:txBody>
      </p:sp>
      <p:sp>
        <p:nvSpPr>
          <p:cNvPr id="8" name="pf_73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9" name="pic_74" descr="/home/claude/movers/img/e-u3twi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020" y="1325880"/>
            <a:ext cx="3246120" cy="3246120"/>
          </a:xfrm>
          <a:prstGeom prst="rect">
            <a:avLst/>
          </a:prstGeom>
        </p:spPr>
      </p:pic>
      <p:sp>
        <p:nvSpPr>
          <p:cNvPr id="10" name="q_75"/>
          <p:cNvSpPr/>
          <p:nvPr/>
        </p:nvSpPr>
        <p:spPr>
          <a:xfrm>
            <a:off x="5760720" y="1325880"/>
            <a:ext cx="3017520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___ wearing a pirate costume.</a:t>
            </a:r>
            <a:endParaRPr lang="en-US" sz="1250" dirty="0"/>
          </a:p>
        </p:txBody>
      </p:sp>
      <p:sp>
        <p:nvSpPr>
          <p:cNvPr id="11" name="R1_a76"/>
          <p:cNvSpPr/>
          <p:nvPr/>
        </p:nvSpPr>
        <p:spPr>
          <a:xfrm>
            <a:off x="5989320" y="1668231"/>
            <a:ext cx="2788920" cy="302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He's (= he is)</a:t>
            </a:r>
            <a:endParaRPr lang="en-US" sz="1250" dirty="0"/>
          </a:p>
        </p:txBody>
      </p:sp>
      <p:sp>
        <p:nvSpPr>
          <p:cNvPr id="12" name="q_77"/>
          <p:cNvSpPr/>
          <p:nvPr/>
        </p:nvSpPr>
        <p:spPr>
          <a:xfrm>
            <a:off x="5760720" y="1984248"/>
            <a:ext cx="3017520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___ present is a comic.</a:t>
            </a:r>
            <a:endParaRPr lang="en-US" sz="1250" dirty="0"/>
          </a:p>
        </p:txBody>
      </p:sp>
      <p:sp>
        <p:nvSpPr>
          <p:cNvPr id="13" name="R2_a78"/>
          <p:cNvSpPr/>
          <p:nvPr/>
        </p:nvSpPr>
        <p:spPr>
          <a:xfrm>
            <a:off x="5989320" y="2326599"/>
            <a:ext cx="2788920" cy="302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His</a:t>
            </a:r>
            <a:endParaRPr lang="en-US" sz="1250" dirty="0"/>
          </a:p>
        </p:txBody>
      </p:sp>
      <p:sp>
        <p:nvSpPr>
          <p:cNvPr id="14" name="q_79"/>
          <p:cNvSpPr/>
          <p:nvPr/>
        </p:nvSpPr>
        <p:spPr>
          <a:xfrm>
            <a:off x="5760720" y="2642616"/>
            <a:ext cx="3017520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___ got a present for Zoe.</a:t>
            </a:r>
            <a:endParaRPr lang="en-US" sz="1250" dirty="0"/>
          </a:p>
        </p:txBody>
      </p:sp>
      <p:sp>
        <p:nvSpPr>
          <p:cNvPr id="15" name="R3_a80"/>
          <p:cNvSpPr/>
          <p:nvPr/>
        </p:nvSpPr>
        <p:spPr>
          <a:xfrm>
            <a:off x="5989320" y="2984967"/>
            <a:ext cx="2788920" cy="302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He's (= he has)</a:t>
            </a:r>
            <a:endParaRPr lang="en-US" sz="1250" dirty="0"/>
          </a:p>
        </p:txBody>
      </p:sp>
      <p:sp>
        <p:nvSpPr>
          <p:cNvPr id="16" name="q_81"/>
          <p:cNvSpPr/>
          <p:nvPr/>
        </p:nvSpPr>
        <p:spPr>
          <a:xfrm>
            <a:off x="5760720" y="3300984"/>
            <a:ext cx="3017520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Zoe's sad. ___ present!</a:t>
            </a:r>
            <a:endParaRPr lang="en-US" sz="1250" dirty="0"/>
          </a:p>
        </p:txBody>
      </p:sp>
      <p:sp>
        <p:nvSpPr>
          <p:cNvPr id="17" name="R4_a82"/>
          <p:cNvSpPr/>
          <p:nvPr/>
        </p:nvSpPr>
        <p:spPr>
          <a:xfrm>
            <a:off x="5989320" y="3643335"/>
            <a:ext cx="2788920" cy="302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Her! (girl = her)</a:t>
            </a:r>
            <a:endParaRPr lang="en-US" sz="1250" dirty="0"/>
          </a:p>
        </p:txBody>
      </p:sp>
      <p:sp>
        <p:nvSpPr>
          <p:cNvPr id="18" name="q_83"/>
          <p:cNvSpPr/>
          <p:nvPr/>
        </p:nvSpPr>
        <p:spPr>
          <a:xfrm>
            <a:off x="5760720" y="3959352"/>
            <a:ext cx="3017520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Her hair / Air hair?</a:t>
            </a:r>
            <a:endParaRPr lang="en-US" sz="1250" dirty="0"/>
          </a:p>
        </p:txBody>
      </p:sp>
      <p:sp>
        <p:nvSpPr>
          <p:cNvPr id="19" name="R5_a84"/>
          <p:cNvSpPr/>
          <p:nvPr/>
        </p:nvSpPr>
        <p:spPr>
          <a:xfrm>
            <a:off x="5989320" y="4301703"/>
            <a:ext cx="2788920" cy="302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HER HAIR – breathe the H! ✋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85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A1 MOVERS</a:t>
            </a:r>
            <a:endParaRPr lang="en-US" sz="1600" dirty="0"/>
          </a:p>
        </p:txBody>
      </p:sp>
      <p:sp>
        <p:nvSpPr>
          <p:cNvPr id="4" name="bm_86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Tell the story! 1</a:t>
            </a:r>
            <a:endParaRPr lang="en-US" sz="2700" dirty="0"/>
          </a:p>
        </p:txBody>
      </p:sp>
      <p:sp>
        <p:nvSpPr>
          <p:cNvPr id="5" name="in_87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Make sentences about the pictures. Use these words.</a:t>
            </a:r>
            <a:endParaRPr lang="en-US" sz="1350" dirty="0"/>
          </a:p>
          <a:p>
            <a:pPr indent="0" marL="0">
              <a:buNone/>
            </a:pPr>
            <a:r>
              <a:rPr lang="en-US" sz="115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Fai delle frasi sulle immagini. Usa queste parole.</a:t>
            </a:r>
            <a:endParaRPr lang="en-US" sz="1350" dirty="0"/>
          </a:p>
        </p:txBody>
      </p:sp>
      <p:sp>
        <p:nvSpPr>
          <p:cNvPr id="6" name="mode_88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 PAIRS · 🗣 · ⏱ 4 MIN</a:t>
            </a:r>
            <a:endParaRPr lang="en-US" sz="1000" dirty="0"/>
          </a:p>
        </p:txBody>
      </p:sp>
      <p:sp>
        <p:nvSpPr>
          <p:cNvPr id="7" name="diff_89"/>
          <p:cNvSpPr/>
          <p:nvPr/>
        </p:nvSpPr>
        <p:spPr>
          <a:xfrm>
            <a:off x="4343400" y="4681728"/>
            <a:ext cx="224028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FD23F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Zoe's … · There's a …</a:t>
            </a:r>
            <a:endParaRPr lang="en-US" sz="950" dirty="0"/>
          </a:p>
        </p:txBody>
      </p:sp>
      <p:sp>
        <p:nvSpPr>
          <p:cNvPr id="8" name="diff_90"/>
          <p:cNvSpPr/>
          <p:nvPr/>
        </p:nvSpPr>
        <p:spPr>
          <a:xfrm>
            <a:off x="6675120" y="4681728"/>
            <a:ext cx="224028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2545B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🔥 Add: because …</a:t>
            </a:r>
            <a:endParaRPr lang="en-US" sz="950" dirty="0"/>
          </a:p>
        </p:txBody>
      </p:sp>
      <p:sp>
        <p:nvSpPr>
          <p:cNvPr id="9" name="pf_91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0" name="pic_92" descr="/home/claude/movers/img/crop/u3-p40-ex3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82762"/>
            <a:ext cx="5120640" cy="1732356"/>
          </a:xfrm>
          <a:prstGeom prst="rect">
            <a:avLst/>
          </a:prstGeom>
        </p:spPr>
      </p:pic>
      <p:sp>
        <p:nvSpPr>
          <p:cNvPr id="11" name="q_93"/>
          <p:cNvSpPr/>
          <p:nvPr/>
        </p:nvSpPr>
        <p:spPr>
          <a:xfrm>
            <a:off x="5760720" y="132588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Picture 2: What's Zoe wearing?</a:t>
            </a:r>
            <a:endParaRPr lang="en-US" sz="1250" dirty="0"/>
          </a:p>
        </p:txBody>
      </p:sp>
      <p:sp>
        <p:nvSpPr>
          <p:cNvPr id="12" name="R1_a94"/>
          <p:cNvSpPr/>
          <p:nvPr/>
        </p:nvSpPr>
        <p:spPr>
          <a:xfrm>
            <a:off x="5989320" y="175381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She's wearing a pop star costume. She's got long, pink hair.</a:t>
            </a:r>
            <a:endParaRPr lang="en-US" sz="1200" dirty="0"/>
          </a:p>
        </p:txBody>
      </p:sp>
      <p:sp>
        <p:nvSpPr>
          <p:cNvPr id="13" name="q_95"/>
          <p:cNvSpPr/>
          <p:nvPr/>
        </p:nvSpPr>
        <p:spPr>
          <a:xfrm>
            <a:off x="5760720" y="214884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does Zoe feel?</a:t>
            </a:r>
            <a:endParaRPr lang="en-US" sz="1250" dirty="0"/>
          </a:p>
        </p:txBody>
      </p:sp>
      <p:sp>
        <p:nvSpPr>
          <p:cNvPr id="14" name="R2_a96"/>
          <p:cNvSpPr/>
          <p:nvPr/>
        </p:nvSpPr>
        <p:spPr>
          <a:xfrm>
            <a:off x="5989320" y="257677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Zoe likes the present. Zoe's happy.</a:t>
            </a:r>
            <a:endParaRPr lang="en-US" sz="1200" dirty="0"/>
          </a:p>
        </p:txBody>
      </p:sp>
      <p:sp>
        <p:nvSpPr>
          <p:cNvPr id="15" name="q_97"/>
          <p:cNvSpPr/>
          <p:nvPr/>
        </p:nvSpPr>
        <p:spPr>
          <a:xfrm>
            <a:off x="5760720" y="297180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Picture 3: What's the present?</a:t>
            </a:r>
            <a:endParaRPr lang="en-US" sz="1250" dirty="0"/>
          </a:p>
        </p:txBody>
      </p:sp>
      <p:sp>
        <p:nvSpPr>
          <p:cNvPr id="16" name="R3_a98"/>
          <p:cNvSpPr/>
          <p:nvPr/>
        </p:nvSpPr>
        <p:spPr>
          <a:xfrm>
            <a:off x="5989320" y="339973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It's a comic (book).</a:t>
            </a:r>
            <a:endParaRPr lang="en-US" sz="1250" dirty="0"/>
          </a:p>
        </p:txBody>
      </p:sp>
      <p:sp>
        <p:nvSpPr>
          <p:cNvPr id="17" name="q_99"/>
          <p:cNvSpPr/>
          <p:nvPr/>
        </p:nvSpPr>
        <p:spPr>
          <a:xfrm>
            <a:off x="5760720" y="379476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Where's the comic book?</a:t>
            </a:r>
            <a:endParaRPr lang="en-US" sz="1250" dirty="0"/>
          </a:p>
        </p:txBody>
      </p:sp>
      <p:sp>
        <p:nvSpPr>
          <p:cNvPr id="18" name="R4_a100"/>
          <p:cNvSpPr/>
          <p:nvPr/>
        </p:nvSpPr>
        <p:spPr>
          <a:xfrm>
            <a:off x="5989320" y="422269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on the table</a:t>
            </a:r>
            <a:endParaRPr lang="en-US" sz="1250" dirty="0"/>
          </a:p>
        </p:txBody>
      </p:sp>
      <p:sp>
        <p:nvSpPr>
          <p:cNvPr id="19" name="bk_101"/>
          <p:cNvSpPr/>
          <p:nvPr/>
        </p:nvSpPr>
        <p:spPr>
          <a:xfrm>
            <a:off x="228600" y="4681728"/>
            <a:ext cx="2414016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p.40 · ex.3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02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A1 MOVERS</a:t>
            </a:r>
            <a:endParaRPr lang="en-US" sz="1600" dirty="0"/>
          </a:p>
        </p:txBody>
      </p:sp>
      <p:sp>
        <p:nvSpPr>
          <p:cNvPr id="4" name="bm_103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Tell the story! 2</a:t>
            </a:r>
            <a:endParaRPr lang="en-US" sz="2700" dirty="0"/>
          </a:p>
        </p:txBody>
      </p:sp>
      <p:sp>
        <p:nvSpPr>
          <p:cNvPr id="5" name="in_104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What's happening? Tell the examiner!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Cosa succede? Raccontalo all'esaminatore!</a:t>
            </a:r>
            <a:endParaRPr lang="en-US" sz="1400" dirty="0"/>
          </a:p>
        </p:txBody>
      </p:sp>
      <p:sp>
        <p:nvSpPr>
          <p:cNvPr id="6" name="mode_105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 PAIRS · 🗣 · ⏱ 4 MIN</a:t>
            </a:r>
            <a:endParaRPr lang="en-US" sz="1000" dirty="0"/>
          </a:p>
        </p:txBody>
      </p:sp>
      <p:sp>
        <p:nvSpPr>
          <p:cNvPr id="7" name="diff_106"/>
          <p:cNvSpPr/>
          <p:nvPr/>
        </p:nvSpPr>
        <p:spPr>
          <a:xfrm>
            <a:off x="4343400" y="4681728"/>
            <a:ext cx="224028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FD23F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The kitten's …ing</a:t>
            </a:r>
            <a:endParaRPr lang="en-US" sz="950" dirty="0"/>
          </a:p>
        </p:txBody>
      </p:sp>
      <p:sp>
        <p:nvSpPr>
          <p:cNvPr id="8" name="diff_107"/>
          <p:cNvSpPr/>
          <p:nvPr/>
        </p:nvSpPr>
        <p:spPr>
          <a:xfrm>
            <a:off x="6675120" y="4681728"/>
            <a:ext cx="224028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2545B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🔥 What happens next?</a:t>
            </a:r>
            <a:endParaRPr lang="en-US" sz="950" dirty="0"/>
          </a:p>
        </p:txBody>
      </p:sp>
      <p:sp>
        <p:nvSpPr>
          <p:cNvPr id="9" name="pf_108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0" name="pic_109" descr="/home/claude/movers/img/crop/u3-p40-ex3b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082" y="1325880"/>
            <a:ext cx="4819996" cy="3246120"/>
          </a:xfrm>
          <a:prstGeom prst="rect">
            <a:avLst/>
          </a:prstGeom>
        </p:spPr>
      </p:pic>
      <p:sp>
        <p:nvSpPr>
          <p:cNvPr id="11" name="q_110"/>
          <p:cNvSpPr/>
          <p:nvPr/>
        </p:nvSpPr>
        <p:spPr>
          <a:xfrm>
            <a:off x="5760720" y="132588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What's open?</a:t>
            </a:r>
            <a:endParaRPr lang="en-US" sz="1250" dirty="0"/>
          </a:p>
        </p:txBody>
      </p:sp>
      <p:sp>
        <p:nvSpPr>
          <p:cNvPr id="12" name="R1_a111"/>
          <p:cNvSpPr/>
          <p:nvPr/>
        </p:nvSpPr>
        <p:spPr>
          <a:xfrm>
            <a:off x="5989320" y="175381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 window's open.</a:t>
            </a:r>
            <a:endParaRPr lang="en-US" sz="1250" dirty="0"/>
          </a:p>
        </p:txBody>
      </p:sp>
      <p:sp>
        <p:nvSpPr>
          <p:cNvPr id="13" name="q_112"/>
          <p:cNvSpPr/>
          <p:nvPr/>
        </p:nvSpPr>
        <p:spPr>
          <a:xfrm>
            <a:off x="5760720" y="214884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What's the kitten doing?</a:t>
            </a:r>
            <a:endParaRPr lang="en-US" sz="1250" dirty="0"/>
          </a:p>
        </p:txBody>
      </p:sp>
      <p:sp>
        <p:nvSpPr>
          <p:cNvPr id="14" name="R2_a113"/>
          <p:cNvSpPr/>
          <p:nvPr/>
        </p:nvSpPr>
        <p:spPr>
          <a:xfrm>
            <a:off x="5989320" y="257677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 kitten's walking on Zoe's present.</a:t>
            </a:r>
            <a:endParaRPr lang="en-US" sz="1200" dirty="0"/>
          </a:p>
        </p:txBody>
      </p:sp>
      <p:sp>
        <p:nvSpPr>
          <p:cNvPr id="15" name="q_114"/>
          <p:cNvSpPr/>
          <p:nvPr/>
        </p:nvSpPr>
        <p:spPr>
          <a:xfrm>
            <a:off x="5760720" y="297180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does Zoe feel?</a:t>
            </a:r>
            <a:endParaRPr lang="en-US" sz="1250" dirty="0"/>
          </a:p>
        </p:txBody>
      </p:sp>
      <p:sp>
        <p:nvSpPr>
          <p:cNvPr id="16" name="R3_a115"/>
          <p:cNvSpPr/>
          <p:nvPr/>
        </p:nvSpPr>
        <p:spPr>
          <a:xfrm>
            <a:off x="5989320" y="339973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Zoe's sad. 😢</a:t>
            </a:r>
            <a:endParaRPr lang="en-US" sz="1250" dirty="0"/>
          </a:p>
        </p:txBody>
      </p:sp>
      <p:sp>
        <p:nvSpPr>
          <p:cNvPr id="17" name="q_116"/>
          <p:cNvSpPr/>
          <p:nvPr/>
        </p:nvSpPr>
        <p:spPr>
          <a:xfrm>
            <a:off x="5760720" y="379476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are the other children doing?</a:t>
            </a:r>
            <a:endParaRPr lang="en-US" sz="1250" dirty="0"/>
          </a:p>
        </p:txBody>
      </p:sp>
      <p:sp>
        <p:nvSpPr>
          <p:cNvPr id="18" name="R4_a117"/>
          <p:cNvSpPr/>
          <p:nvPr/>
        </p:nvSpPr>
        <p:spPr>
          <a:xfrm>
            <a:off x="5989320" y="422269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They're looking at the kitten. A girl is pointing at it.</a:t>
            </a:r>
            <a:endParaRPr lang="en-US" sz="1200" dirty="0"/>
          </a:p>
        </p:txBody>
      </p:sp>
      <p:sp>
        <p:nvSpPr>
          <p:cNvPr id="19" name="bk_118"/>
          <p:cNvSpPr/>
          <p:nvPr/>
        </p:nvSpPr>
        <p:spPr>
          <a:xfrm>
            <a:off x="228600" y="4681728"/>
            <a:ext cx="2414016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p.40 · ex.3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19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</a:t>
            </a:r>
            <a:endParaRPr lang="en-US" sz="1600" dirty="0"/>
          </a:p>
        </p:txBody>
      </p:sp>
      <p:sp>
        <p:nvSpPr>
          <p:cNvPr id="4" name="bm_120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quiz!</a:t>
            </a:r>
            <a:endParaRPr lang="en-US" sz="3200" dirty="0"/>
          </a:p>
        </p:txBody>
      </p:sp>
      <p:sp>
        <p:nvSpPr>
          <p:cNvPr id="5" name="in_121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 to the clue. Find the flashcard word!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Ascolta l'indizio. Trova la parola!</a:t>
            </a:r>
            <a:endParaRPr lang="en-US" sz="1400" dirty="0"/>
          </a:p>
        </p:txBody>
      </p:sp>
      <p:sp>
        <p:nvSpPr>
          <p:cNvPr id="6" name="mode_122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👥👥 TEAMS · ✍ · ⏱ 5 MIN</a:t>
            </a:r>
            <a:endParaRPr lang="en-US" sz="1000" dirty="0"/>
          </a:p>
        </p:txBody>
      </p:sp>
      <p:sp>
        <p:nvSpPr>
          <p:cNvPr id="7" name="diff_123"/>
          <p:cNvSpPr/>
          <p:nvPr/>
        </p:nvSpPr>
        <p:spPr>
          <a:xfrm>
            <a:off x="4343400" y="4681728"/>
            <a:ext cx="457200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2545B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🔥 Spell it right: +1!</a:t>
            </a:r>
            <a:endParaRPr lang="en-US" sz="950" dirty="0"/>
          </a:p>
        </p:txBody>
      </p:sp>
      <p:sp>
        <p:nvSpPr>
          <p:cNvPr id="8" name="pf_124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9" name="pic_125" descr="/home/claude/movers/img/fc/treasu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504" y="1325880"/>
            <a:ext cx="2447152" cy="3246120"/>
          </a:xfrm>
          <a:prstGeom prst="rect">
            <a:avLst/>
          </a:prstGeom>
        </p:spPr>
      </p:pic>
      <p:sp>
        <p:nvSpPr>
          <p:cNvPr id="10" name="q_126"/>
          <p:cNvSpPr/>
          <p:nvPr/>
        </p:nvSpPr>
        <p:spPr>
          <a:xfrm>
            <a:off x="5760720" y="1325880"/>
            <a:ext cx="301752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Someone who works with animals.</a:t>
            </a:r>
            <a:endParaRPr lang="en-US" sz="1100" dirty="0"/>
          </a:p>
        </p:txBody>
      </p:sp>
      <p:sp>
        <p:nvSpPr>
          <p:cNvPr id="11" name="R1_a127"/>
          <p:cNvSpPr/>
          <p:nvPr/>
        </p:nvSpPr>
        <p:spPr>
          <a:xfrm>
            <a:off x="5989320" y="1611173"/>
            <a:ext cx="278892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farmer</a:t>
            </a:r>
            <a:endParaRPr lang="en-US" sz="1100" dirty="0"/>
          </a:p>
        </p:txBody>
      </p:sp>
      <p:sp>
        <p:nvSpPr>
          <p:cNvPr id="12" name="q_128"/>
          <p:cNvSpPr/>
          <p:nvPr/>
        </p:nvSpPr>
        <p:spPr>
          <a:xfrm>
            <a:off x="5760720" y="1874520"/>
            <a:ext cx="301752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9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Hair men sometimes have above their mouths.</a:t>
            </a:r>
            <a:endParaRPr lang="en-US" sz="900" dirty="0"/>
          </a:p>
        </p:txBody>
      </p:sp>
      <p:sp>
        <p:nvSpPr>
          <p:cNvPr id="13" name="R2_a129"/>
          <p:cNvSpPr/>
          <p:nvPr/>
        </p:nvSpPr>
        <p:spPr>
          <a:xfrm>
            <a:off x="5989320" y="2159813"/>
            <a:ext cx="278892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moustache</a:t>
            </a:r>
            <a:endParaRPr lang="en-US" sz="1100" dirty="0"/>
          </a:p>
        </p:txBody>
      </p:sp>
      <p:sp>
        <p:nvSpPr>
          <p:cNvPr id="14" name="q_130"/>
          <p:cNvSpPr/>
          <p:nvPr/>
        </p:nvSpPr>
        <p:spPr>
          <a:xfrm>
            <a:off x="5760720" y="2423160"/>
            <a:ext cx="301752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Two jobs which help us.</a:t>
            </a:r>
            <a:endParaRPr lang="en-US" sz="1100" dirty="0"/>
          </a:p>
        </p:txBody>
      </p:sp>
      <p:sp>
        <p:nvSpPr>
          <p:cNvPr id="15" name="R3_a131"/>
          <p:cNvSpPr/>
          <p:nvPr/>
        </p:nvSpPr>
        <p:spPr>
          <a:xfrm>
            <a:off x="5989320" y="2708453"/>
            <a:ext cx="278892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doctor, nurse, dentist, firefighter…</a:t>
            </a:r>
            <a:endParaRPr lang="en-US" sz="1100" dirty="0"/>
          </a:p>
        </p:txBody>
      </p:sp>
      <p:sp>
        <p:nvSpPr>
          <p:cNvPr id="16" name="q_132"/>
          <p:cNvSpPr/>
          <p:nvPr/>
        </p:nvSpPr>
        <p:spPr>
          <a:xfrm>
            <a:off x="5760720" y="2971800"/>
            <a:ext cx="301752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 </a:t>
            </a:r>
            <a:pPr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Two words for hair colour.</a:t>
            </a:r>
            <a:endParaRPr lang="en-US" sz="1100" dirty="0"/>
          </a:p>
        </p:txBody>
      </p:sp>
      <p:sp>
        <p:nvSpPr>
          <p:cNvPr id="17" name="R4_a133"/>
          <p:cNvSpPr/>
          <p:nvPr/>
        </p:nvSpPr>
        <p:spPr>
          <a:xfrm>
            <a:off x="5989320" y="3257093"/>
            <a:ext cx="278892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blonde, fair (black, brown…)</a:t>
            </a:r>
            <a:endParaRPr lang="en-US" sz="1100" dirty="0"/>
          </a:p>
        </p:txBody>
      </p:sp>
      <p:sp>
        <p:nvSpPr>
          <p:cNvPr id="18" name="q_134"/>
          <p:cNvSpPr/>
          <p:nvPr/>
        </p:nvSpPr>
        <p:spPr>
          <a:xfrm>
            <a:off x="5760720" y="3520440"/>
            <a:ext cx="301752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  </a:t>
            </a:r>
            <a:pPr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Someone who likes treasure.</a:t>
            </a:r>
            <a:endParaRPr lang="en-US" sz="1100" dirty="0"/>
          </a:p>
        </p:txBody>
      </p:sp>
      <p:sp>
        <p:nvSpPr>
          <p:cNvPr id="19" name="R5_a135"/>
          <p:cNvSpPr/>
          <p:nvPr/>
        </p:nvSpPr>
        <p:spPr>
          <a:xfrm>
            <a:off x="5989320" y="3805733"/>
            <a:ext cx="278892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pirate</a:t>
            </a:r>
            <a:endParaRPr lang="en-US" sz="1100" dirty="0"/>
          </a:p>
        </p:txBody>
      </p:sp>
      <p:sp>
        <p:nvSpPr>
          <p:cNvPr id="20" name="q_136"/>
          <p:cNvSpPr/>
          <p:nvPr/>
        </p:nvSpPr>
        <p:spPr>
          <a:xfrm>
            <a:off x="5760720" y="4069080"/>
            <a:ext cx="301752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  </a:t>
            </a:r>
            <a:pPr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Something we give at a birthday party.</a:t>
            </a:r>
            <a:endParaRPr lang="en-US" sz="1100" dirty="0"/>
          </a:p>
        </p:txBody>
      </p:sp>
      <p:sp>
        <p:nvSpPr>
          <p:cNvPr id="21" name="R6_a137"/>
          <p:cNvSpPr/>
          <p:nvPr/>
        </p:nvSpPr>
        <p:spPr>
          <a:xfrm>
            <a:off x="5989320" y="4354373"/>
            <a:ext cx="278892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present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38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</a:t>
            </a:r>
            <a:endParaRPr lang="en-US" sz="1600" dirty="0"/>
          </a:p>
        </p:txBody>
      </p:sp>
      <p:sp>
        <p:nvSpPr>
          <p:cNvPr id="4" name="bm_139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6CCB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Show me!</a:t>
            </a:r>
            <a:endParaRPr lang="en-US" sz="3200" dirty="0"/>
          </a:p>
        </p:txBody>
      </p:sp>
      <p:sp>
        <p:nvSpPr>
          <p:cNvPr id="5" name="in_140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Actors! Show the feeling with your face and body!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Attori! Mostra l'emozione con faccia e corpo!</a:t>
            </a:r>
            <a:endParaRPr lang="en-US" sz="1400" dirty="0"/>
          </a:p>
        </p:txBody>
      </p:sp>
      <p:sp>
        <p:nvSpPr>
          <p:cNvPr id="6" name="mode_141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🏃 CLASS · ⏱ 3 MIN</a:t>
            </a:r>
            <a:endParaRPr lang="en-US" sz="1000" dirty="0"/>
          </a:p>
        </p:txBody>
      </p:sp>
      <p:sp>
        <p:nvSpPr>
          <p:cNvPr id="7" name="cd_142"/>
          <p:cNvSpPr/>
          <p:nvPr/>
        </p:nvSpPr>
        <p:spPr>
          <a:xfrm>
            <a:off x="274320" y="1325880"/>
            <a:ext cx="1280160" cy="13258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ci_143" descr="/home/claude/movers/img/e-u3happ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399032"/>
            <a:ext cx="1133856" cy="1133856"/>
          </a:xfrm>
          <a:prstGeom prst="rect">
            <a:avLst/>
          </a:prstGeom>
        </p:spPr>
      </p:pic>
      <p:sp>
        <p:nvSpPr>
          <p:cNvPr id="9" name="R1_a144"/>
          <p:cNvSpPr/>
          <p:nvPr/>
        </p:nvSpPr>
        <p:spPr>
          <a:xfrm>
            <a:off x="1627632" y="1463040"/>
            <a:ext cx="144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Happy! Big smile! 😀</a:t>
            </a:r>
            <a:endParaRPr lang="en-US" sz="1250" dirty="0"/>
          </a:p>
        </p:txBody>
      </p:sp>
      <p:sp>
        <p:nvSpPr>
          <p:cNvPr id="10" name="cd_145"/>
          <p:cNvSpPr/>
          <p:nvPr/>
        </p:nvSpPr>
        <p:spPr>
          <a:xfrm>
            <a:off x="3139440" y="1325880"/>
            <a:ext cx="1280160" cy="13258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1" name="ci_146" descr="/home/claude/movers/img/e-u3s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2592" y="1399032"/>
            <a:ext cx="1133856" cy="1133856"/>
          </a:xfrm>
          <a:prstGeom prst="rect">
            <a:avLst/>
          </a:prstGeom>
        </p:spPr>
      </p:pic>
      <p:sp>
        <p:nvSpPr>
          <p:cNvPr id="12" name="R2_a147"/>
          <p:cNvSpPr/>
          <p:nvPr/>
        </p:nvSpPr>
        <p:spPr>
          <a:xfrm>
            <a:off x="4492752" y="1463040"/>
            <a:ext cx="144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Sad! Cry! Boo-hoo!</a:t>
            </a:r>
            <a:endParaRPr lang="en-US" sz="1250" dirty="0"/>
          </a:p>
        </p:txBody>
      </p:sp>
      <p:sp>
        <p:nvSpPr>
          <p:cNvPr id="13" name="cd_148"/>
          <p:cNvSpPr/>
          <p:nvPr/>
        </p:nvSpPr>
        <p:spPr>
          <a:xfrm>
            <a:off x="6004560" y="1325880"/>
            <a:ext cx="1280160" cy="13258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4" name="ci_149" descr="/home/claude/movers/img/e-u3surpris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7712" y="1399032"/>
            <a:ext cx="1133856" cy="1133856"/>
          </a:xfrm>
          <a:prstGeom prst="rect">
            <a:avLst/>
          </a:prstGeom>
        </p:spPr>
      </p:pic>
      <p:sp>
        <p:nvSpPr>
          <p:cNvPr id="15" name="R3_a150"/>
          <p:cNvSpPr/>
          <p:nvPr/>
        </p:nvSpPr>
        <p:spPr>
          <a:xfrm>
            <a:off x="7357872" y="1463040"/>
            <a:ext cx="144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Surprised! 'Wow!' 😮</a:t>
            </a:r>
            <a:endParaRPr lang="en-US" sz="1250" dirty="0"/>
          </a:p>
        </p:txBody>
      </p:sp>
      <p:sp>
        <p:nvSpPr>
          <p:cNvPr id="16" name="cd_151"/>
          <p:cNvSpPr/>
          <p:nvPr/>
        </p:nvSpPr>
        <p:spPr>
          <a:xfrm>
            <a:off x="274320" y="2926080"/>
            <a:ext cx="1280160" cy="13258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7" name="ci_152" descr="/home/claude/movers/img/e-u3ouc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2999232"/>
            <a:ext cx="1133856" cy="1133856"/>
          </a:xfrm>
          <a:prstGeom prst="rect">
            <a:avLst/>
          </a:prstGeom>
        </p:spPr>
      </p:pic>
      <p:sp>
        <p:nvSpPr>
          <p:cNvPr id="18" name="R4_a153"/>
          <p:cNvSpPr/>
          <p:nvPr/>
        </p:nvSpPr>
        <p:spPr>
          <a:xfrm>
            <a:off x="1627632" y="3063240"/>
            <a:ext cx="144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Ouch! My leg! 🤕</a:t>
            </a:r>
            <a:endParaRPr lang="en-US" sz="1250" dirty="0"/>
          </a:p>
        </p:txBody>
      </p:sp>
      <p:sp>
        <p:nvSpPr>
          <p:cNvPr id="19" name="cd_154"/>
          <p:cNvSpPr/>
          <p:nvPr/>
        </p:nvSpPr>
        <p:spPr>
          <a:xfrm>
            <a:off x="3139440" y="2926080"/>
            <a:ext cx="1280160" cy="13258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0" name="ci_155" descr="/home/claude/movers/img/e-u3laug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2592" y="2999232"/>
            <a:ext cx="1133856" cy="1133856"/>
          </a:xfrm>
          <a:prstGeom prst="rect">
            <a:avLst/>
          </a:prstGeom>
        </p:spPr>
      </p:pic>
      <p:sp>
        <p:nvSpPr>
          <p:cNvPr id="21" name="R5_a156"/>
          <p:cNvSpPr/>
          <p:nvPr/>
        </p:nvSpPr>
        <p:spPr>
          <a:xfrm>
            <a:off x="4492752" y="3063240"/>
            <a:ext cx="144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Laugh! Ha ha ha!</a:t>
            </a:r>
            <a:endParaRPr lang="en-US" sz="1250" dirty="0"/>
          </a:p>
        </p:txBody>
      </p:sp>
      <p:sp>
        <p:nvSpPr>
          <p:cNvPr id="22" name="cd_157"/>
          <p:cNvSpPr/>
          <p:nvPr/>
        </p:nvSpPr>
        <p:spPr>
          <a:xfrm>
            <a:off x="6004560" y="2926080"/>
            <a:ext cx="1280160" cy="13258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3" name="ci_158" descr="/home/claude/movers/img/e-u3scar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7712" y="2999232"/>
            <a:ext cx="1133856" cy="1133856"/>
          </a:xfrm>
          <a:prstGeom prst="rect">
            <a:avLst/>
          </a:prstGeom>
        </p:spPr>
      </p:pic>
      <p:sp>
        <p:nvSpPr>
          <p:cNvPr id="24" name="R6_a159"/>
          <p:cNvSpPr/>
          <p:nvPr/>
        </p:nvSpPr>
        <p:spPr>
          <a:xfrm>
            <a:off x="7357872" y="3063240"/>
            <a:ext cx="144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Scared! 'Help!' 😱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60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MISSION</a:t>
            </a:r>
            <a:endParaRPr lang="en-US" sz="1600" dirty="0"/>
          </a:p>
        </p:txBody>
      </p:sp>
      <p:sp>
        <p:nvSpPr>
          <p:cNvPr id="4" name="bm_161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Mission in action!</a:t>
            </a:r>
            <a:endParaRPr lang="en-US" sz="2700" dirty="0"/>
          </a:p>
        </p:txBody>
      </p:sp>
      <p:sp>
        <p:nvSpPr>
          <p:cNvPr id="5" name="in_162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Act out your scene for the class.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Recitate la vostra scena per la classe.</a:t>
            </a:r>
            <a:endParaRPr lang="en-US" sz="1400" dirty="0"/>
          </a:p>
        </p:txBody>
      </p:sp>
      <p:sp>
        <p:nvSpPr>
          <p:cNvPr id="6" name="mode_163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👥👥 GROUPS · ⏱ 8 MIN</a:t>
            </a:r>
            <a:endParaRPr lang="en-US" sz="1000" dirty="0"/>
          </a:p>
        </p:txBody>
      </p:sp>
      <p:sp>
        <p:nvSpPr>
          <p:cNvPr id="7" name="diff_164"/>
          <p:cNvSpPr/>
          <p:nvPr/>
        </p:nvSpPr>
        <p:spPr>
          <a:xfrm>
            <a:off x="4343400" y="4681728"/>
            <a:ext cx="457200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FD23F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Hello, everyone! This is …</a:t>
            </a:r>
            <a:endParaRPr lang="en-US" sz="950" dirty="0"/>
          </a:p>
        </p:txBody>
      </p:sp>
      <p:sp>
        <p:nvSpPr>
          <p:cNvPr id="8" name="pf_165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9" name="pic_166" descr="/home/claude/movers/img/crop/u3-p41-step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94" y="1325880"/>
            <a:ext cx="4999771" cy="3246120"/>
          </a:xfrm>
          <a:prstGeom prst="rect">
            <a:avLst/>
          </a:prstGeom>
        </p:spPr>
      </p:pic>
      <p:sp>
        <p:nvSpPr>
          <p:cNvPr id="10" name="q_167"/>
          <p:cNvSpPr/>
          <p:nvPr/>
        </p:nvSpPr>
        <p:spPr>
          <a:xfrm>
            <a:off x="5760720" y="132588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Say the name of your scene.</a:t>
            </a:r>
            <a:endParaRPr lang="en-US" sz="1250" dirty="0"/>
          </a:p>
        </p:txBody>
      </p:sp>
      <p:sp>
        <p:nvSpPr>
          <p:cNvPr id="11" name="R1_a168"/>
          <p:cNvSpPr/>
          <p:nvPr/>
        </p:nvSpPr>
        <p:spPr>
          <a:xfrm>
            <a:off x="5989320" y="175381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Hello, everyone! This is 'What a silly clown!'</a:t>
            </a:r>
            <a:endParaRPr lang="en-US" sz="1200" dirty="0"/>
          </a:p>
        </p:txBody>
      </p:sp>
      <p:sp>
        <p:nvSpPr>
          <p:cNvPr id="12" name="q_169"/>
          <p:cNvSpPr/>
          <p:nvPr/>
        </p:nvSpPr>
        <p:spPr>
          <a:xfrm>
            <a:off x="5760720" y="214884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Say who you are.</a:t>
            </a:r>
            <a:endParaRPr lang="en-US" sz="1250" dirty="0"/>
          </a:p>
        </p:txBody>
      </p:sp>
      <p:sp>
        <p:nvSpPr>
          <p:cNvPr id="13" name="R2_a170"/>
          <p:cNvSpPr/>
          <p:nvPr/>
        </p:nvSpPr>
        <p:spPr>
          <a:xfrm>
            <a:off x="5989320" y="257677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Hi! I'm Daisy. I'm a doctor.</a:t>
            </a:r>
            <a:endParaRPr lang="en-US" sz="1250" dirty="0"/>
          </a:p>
        </p:txBody>
      </p:sp>
      <p:sp>
        <p:nvSpPr>
          <p:cNvPr id="14" name="q_171"/>
          <p:cNvSpPr/>
          <p:nvPr/>
        </p:nvSpPr>
        <p:spPr>
          <a:xfrm>
            <a:off x="5760720" y="297180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Act out your scene.</a:t>
            </a:r>
            <a:endParaRPr lang="en-US" sz="1250" dirty="0"/>
          </a:p>
        </p:txBody>
      </p:sp>
      <p:sp>
        <p:nvSpPr>
          <p:cNvPr id="15" name="R3_a172"/>
          <p:cNvSpPr/>
          <p:nvPr/>
        </p:nvSpPr>
        <p:spPr>
          <a:xfrm>
            <a:off x="5989320" y="339973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Oh no! Look at the clown's leg!</a:t>
            </a:r>
            <a:endParaRPr lang="en-US" sz="1250" dirty="0"/>
          </a:p>
        </p:txBody>
      </p:sp>
      <p:sp>
        <p:nvSpPr>
          <p:cNvPr id="16" name="q_173"/>
          <p:cNvSpPr/>
          <p:nvPr/>
        </p:nvSpPr>
        <p:spPr>
          <a:xfrm>
            <a:off x="5760720" y="379476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Thank the class.</a:t>
            </a:r>
            <a:endParaRPr lang="en-US" sz="1250" dirty="0"/>
          </a:p>
        </p:txBody>
      </p:sp>
      <p:sp>
        <p:nvSpPr>
          <p:cNvPr id="17" name="R4_a174"/>
          <p:cNvSpPr/>
          <p:nvPr/>
        </p:nvSpPr>
        <p:spPr>
          <a:xfrm>
            <a:off x="5989320" y="422269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Thank you for watching and listening!</a:t>
            </a:r>
            <a:endParaRPr lang="en-US" sz="1200" dirty="0"/>
          </a:p>
        </p:txBody>
      </p:sp>
      <p:sp>
        <p:nvSpPr>
          <p:cNvPr id="18" name="bk_175"/>
          <p:cNvSpPr/>
          <p:nvPr/>
        </p:nvSpPr>
        <p:spPr>
          <a:xfrm>
            <a:off x="228600" y="4681728"/>
            <a:ext cx="3502152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p.41 · Activity Book p.30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76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</a:t>
            </a:r>
            <a:endParaRPr lang="en-US" sz="1600" dirty="0"/>
          </a:p>
        </p:txBody>
      </p:sp>
      <p:sp>
        <p:nvSpPr>
          <p:cNvPr id="4" name="bm_177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6CCB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Showtime! 🎭</a:t>
            </a:r>
            <a:endParaRPr lang="en-US" sz="3200" dirty="0"/>
          </a:p>
        </p:txBody>
      </p:sp>
      <p:sp>
        <p:nvSpPr>
          <p:cNvPr id="5" name="in_178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Watch your friends' scenes. Be a great audience!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 le scene dei compagni. Sii un bravo pubblico!</a:t>
            </a:r>
            <a:endParaRPr lang="en-US" sz="1400" dirty="0"/>
          </a:p>
        </p:txBody>
      </p:sp>
      <p:sp>
        <p:nvSpPr>
          <p:cNvPr id="6" name="mode_179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👀 WATCH · ⏱ 10 MIN</a:t>
            </a:r>
            <a:endParaRPr lang="en-US" sz="1000" dirty="0"/>
          </a:p>
        </p:txBody>
      </p:sp>
      <p:sp>
        <p:nvSpPr>
          <p:cNvPr id="7" name="st_180"/>
          <p:cNvSpPr/>
          <p:nvPr/>
        </p:nvSpPr>
        <p:spPr>
          <a:xfrm>
            <a:off x="228600" y="13258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2545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sn_181"/>
          <p:cNvSpPr/>
          <p:nvPr/>
        </p:nvSpPr>
        <p:spPr>
          <a:xfrm>
            <a:off x="118872" y="1216152"/>
            <a:ext cx="384048" cy="384048"/>
          </a:xfrm>
          <a:prstGeom prst="ellipse">
            <a:avLst/>
          </a:prstGeom>
          <a:solidFill>
            <a:srgbClr val="F2545B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k_182"/>
          <p:cNvSpPr/>
          <p:nvPr/>
        </p:nvSpPr>
        <p:spPr>
          <a:xfrm>
            <a:off x="521208" y="1362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🎬 WATCH</a:t>
            </a:r>
            <a:endParaRPr lang="en-US" sz="1300" dirty="0"/>
          </a:p>
        </p:txBody>
      </p:sp>
      <p:sp>
        <p:nvSpPr>
          <p:cNvPr id="10" name="se_183"/>
          <p:cNvSpPr/>
          <p:nvPr/>
        </p:nvSpPr>
        <p:spPr>
          <a:xfrm>
            <a:off x="338328" y="16550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and listen. Shhh!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e ascolta. Shhh!</a:t>
            </a:r>
            <a:endParaRPr lang="en-US" sz="1050" dirty="0"/>
          </a:p>
        </p:txBody>
      </p:sp>
      <p:sp>
        <p:nvSpPr>
          <p:cNvPr id="11" name="st_184"/>
          <p:cNvSpPr/>
          <p:nvPr/>
        </p:nvSpPr>
        <p:spPr>
          <a:xfrm>
            <a:off x="228600" y="23926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5DA2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n_185"/>
          <p:cNvSpPr/>
          <p:nvPr/>
        </p:nvSpPr>
        <p:spPr>
          <a:xfrm>
            <a:off x="118872" y="2282952"/>
            <a:ext cx="384048" cy="384048"/>
          </a:xfrm>
          <a:prstGeom prst="ellipse">
            <a:avLst/>
          </a:prstGeom>
          <a:solidFill>
            <a:srgbClr val="FF5DA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k_186"/>
          <p:cNvSpPr/>
          <p:nvPr/>
        </p:nvSpPr>
        <p:spPr>
          <a:xfrm>
            <a:off x="521208" y="2429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SPEAK</a:t>
            </a:r>
            <a:endParaRPr lang="en-US" sz="1300" dirty="0"/>
          </a:p>
        </p:txBody>
      </p:sp>
      <p:sp>
        <p:nvSpPr>
          <p:cNvPr id="14" name="se_187"/>
          <p:cNvSpPr/>
          <p:nvPr/>
        </p:nvSpPr>
        <p:spPr>
          <a:xfrm>
            <a:off x="338328" y="27218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Who's the helper? What's the problem?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aiuta? Qual è il problema?</a:t>
            </a:r>
            <a:endParaRPr lang="en-US" sz="1050" dirty="0"/>
          </a:p>
        </p:txBody>
      </p:sp>
      <p:sp>
        <p:nvSpPr>
          <p:cNvPr id="15" name="st_188"/>
          <p:cNvSpPr/>
          <p:nvPr/>
        </p:nvSpPr>
        <p:spPr>
          <a:xfrm>
            <a:off x="228600" y="34594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6CCB3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n_189"/>
          <p:cNvSpPr/>
          <p:nvPr/>
        </p:nvSpPr>
        <p:spPr>
          <a:xfrm>
            <a:off x="118872" y="3349752"/>
            <a:ext cx="384048" cy="384048"/>
          </a:xfrm>
          <a:prstGeom prst="ellipse">
            <a:avLst/>
          </a:prstGeom>
          <a:solidFill>
            <a:srgbClr val="6CCB3B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k_190"/>
          <p:cNvSpPr/>
          <p:nvPr/>
        </p:nvSpPr>
        <p:spPr>
          <a:xfrm>
            <a:off x="521208" y="34960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⚙️ DO</a:t>
            </a:r>
            <a:endParaRPr lang="en-US" sz="1300" dirty="0"/>
          </a:p>
        </p:txBody>
      </p:sp>
      <p:sp>
        <p:nvSpPr>
          <p:cNvPr id="18" name="se_191"/>
          <p:cNvSpPr/>
          <p:nvPr/>
        </p:nvSpPr>
        <p:spPr>
          <a:xfrm>
            <a:off x="338328" y="37886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Clap! ⭐ Give 3 stars!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Applaudi! ⭐ Dai 3 stelle!</a:t>
            </a:r>
            <a:endParaRPr lang="en-US" sz="1050" dirty="0"/>
          </a:p>
        </p:txBody>
      </p:sp>
      <p:sp>
        <p:nvSpPr>
          <p:cNvPr id="19" name="gl_192"/>
          <p:cNvSpPr/>
          <p:nvPr/>
        </p:nvSpPr>
        <p:spPr>
          <a:xfrm>
            <a:off x="3108960" y="1325880"/>
            <a:ext cx="5715000" cy="3200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Big, clear voices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Good acting (faces + bodies!)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English all the time!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Audience: 'Thank you! Well done!' 👏</a:t>
            </a:r>
            <a:endParaRPr lang="en-US" sz="1400" dirty="0"/>
          </a:p>
        </p:txBody>
      </p:sp>
    </p:spTree>
  </p:cSld>
  <p:clrMapOvr>
    <a:masterClrMapping/>
  </p:clrMapOvr>
  <p:transition spd="med">
    <p:push dir="l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93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WELL DONE!</a:t>
            </a:r>
            <a:endParaRPr lang="en-US" sz="1600" dirty="0"/>
          </a:p>
        </p:txBody>
      </p:sp>
      <p:sp>
        <p:nvSpPr>
          <p:cNvPr id="4" name="bm_194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Bye bye! 👋</a:t>
            </a:r>
            <a:endParaRPr lang="en-US" sz="3200" dirty="0"/>
          </a:p>
        </p:txBody>
      </p:sp>
      <p:sp>
        <p:nvSpPr>
          <p:cNvPr id="5" name="in_195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I can… · Oggi so…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Show me with your thumbs! 👍 👌 👎</a:t>
            </a:r>
            <a:endParaRPr lang="en-US" sz="1400" dirty="0"/>
          </a:p>
        </p:txBody>
      </p:sp>
      <p:sp>
        <p:nvSpPr>
          <p:cNvPr id="6" name="can_196"/>
          <p:cNvSpPr/>
          <p:nvPr/>
        </p:nvSpPr>
        <p:spPr>
          <a:xfrm>
            <a:off x="320040" y="1325880"/>
            <a:ext cx="47548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1750">
            <a:solidFill>
              <a:srgbClr val="6CCB3B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</a:t>
            </a:r>
            <a:pPr indent="0" marL="0">
              <a:buNone/>
            </a:pPr>
            <a:r>
              <a:rPr lang="en-US" sz="125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can tell a picture story (Movers Speaking Part 2).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So raccontare una storia illustrata.</a:t>
            </a:r>
            <a:endParaRPr lang="en-US" sz="1250" dirty="0"/>
          </a:p>
        </p:txBody>
      </p:sp>
      <p:sp>
        <p:nvSpPr>
          <p:cNvPr id="7" name="can_197"/>
          <p:cNvSpPr/>
          <p:nvPr/>
        </p:nvSpPr>
        <p:spPr>
          <a:xfrm>
            <a:off x="320040" y="2057400"/>
            <a:ext cx="47548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1750">
            <a:solidFill>
              <a:srgbClr val="6CCB3B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</a:t>
            </a:r>
            <a:pPr indent="0" marL="0">
              <a:buNone/>
            </a:pPr>
            <a:r>
              <a:rPr lang="en-US" sz="13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can act out a scene in English!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So recitare una scena in inglese!</a:t>
            </a:r>
            <a:endParaRPr lang="en-US" sz="1300" dirty="0"/>
          </a:p>
        </p:txBody>
      </p:sp>
      <p:sp>
        <p:nvSpPr>
          <p:cNvPr id="8" name="can_198"/>
          <p:cNvSpPr/>
          <p:nvPr/>
        </p:nvSpPr>
        <p:spPr>
          <a:xfrm>
            <a:off x="320040" y="2788920"/>
            <a:ext cx="47548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1750">
            <a:solidFill>
              <a:srgbClr val="6CCB3B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</a:t>
            </a:r>
            <a:pPr indent="0" marL="0">
              <a:buNone/>
            </a:pPr>
            <a:r>
              <a:rPr lang="en-US" sz="13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know all the Unit 3 words.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Conosco tutte le parole dell'Unità 3.</a:t>
            </a:r>
            <a:endParaRPr lang="en-US" sz="1300" dirty="0"/>
          </a:p>
        </p:txBody>
      </p:sp>
      <p:sp>
        <p:nvSpPr>
          <p:cNvPr id="9" name="hw_199"/>
          <p:cNvSpPr/>
          <p:nvPr/>
        </p:nvSpPr>
        <p:spPr>
          <a:xfrm>
            <a:off x="5303520" y="132588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🏠 HOMEWORK · COMPITI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• Homework sheet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• Activity Book p.40: ex.1 (tell the story)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• Activity Book p.41: play the game!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• Activity Book p.30: My mission diary</a:t>
            </a:r>
            <a:endParaRPr lang="en-US" sz="1250" dirty="0"/>
          </a:p>
        </p:txBody>
      </p:sp>
      <p:sp>
        <p:nvSpPr>
          <p:cNvPr id="10" name="nx_200"/>
          <p:cNvSpPr/>
          <p:nvPr/>
        </p:nvSpPr>
        <p:spPr>
          <a:xfrm>
            <a:off x="5303520" y="38404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➡ Next: Review Units 1–3 – games day! 🎲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01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</a:t>
            </a:r>
            <a:endParaRPr lang="en-US" sz="1600" dirty="0"/>
          </a:p>
        </p:txBody>
      </p:sp>
      <p:sp>
        <p:nvSpPr>
          <p:cNvPr id="4" name="bm_202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EXTRA: Dice game!</a:t>
            </a:r>
            <a:endParaRPr lang="en-US" sz="2700" dirty="0"/>
          </a:p>
        </p:txBody>
      </p:sp>
      <p:sp>
        <p:nvSpPr>
          <p:cNvPr id="5" name="in_203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Roll the dice and move. Describe the person!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Lancia il dado e muoviti. Descrivi la persona!</a:t>
            </a:r>
            <a:endParaRPr lang="en-US" sz="1400" dirty="0"/>
          </a:p>
        </p:txBody>
      </p:sp>
      <p:sp>
        <p:nvSpPr>
          <p:cNvPr id="6" name="mode_204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👥👥 GROUPS · ⏱ 8 MIN</a:t>
            </a:r>
            <a:endParaRPr lang="en-US" sz="1000" dirty="0"/>
          </a:p>
        </p:txBody>
      </p:sp>
      <p:sp>
        <p:nvSpPr>
          <p:cNvPr id="7" name="diff_205"/>
          <p:cNvSpPr/>
          <p:nvPr/>
        </p:nvSpPr>
        <p:spPr>
          <a:xfrm>
            <a:off x="4343400" y="4681728"/>
            <a:ext cx="457200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FD23F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He's … He's got …</a:t>
            </a:r>
            <a:endParaRPr lang="en-US" sz="950" dirty="0"/>
          </a:p>
        </p:txBody>
      </p:sp>
      <p:sp>
        <p:nvSpPr>
          <p:cNvPr id="8" name="pf_206"/>
          <p:cNvSpPr/>
          <p:nvPr/>
        </p:nvSpPr>
        <p:spPr>
          <a:xfrm>
            <a:off x="310896" y="1271016"/>
            <a:ext cx="852220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9" name="pic_207" descr="/home/claude/movers/img/crop/u3-ab41-gam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405" y="1325880"/>
            <a:ext cx="3163190" cy="3246120"/>
          </a:xfrm>
          <a:prstGeom prst="rect">
            <a:avLst/>
          </a:prstGeom>
        </p:spPr>
      </p:pic>
      <p:sp>
        <p:nvSpPr>
          <p:cNvPr id="10" name="bk_208"/>
          <p:cNvSpPr/>
          <p:nvPr/>
        </p:nvSpPr>
        <p:spPr>
          <a:xfrm>
            <a:off x="228600" y="4681728"/>
            <a:ext cx="1947672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Activity Book p.41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09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</a:t>
            </a:r>
            <a:endParaRPr lang="en-US" sz="1600" dirty="0"/>
          </a:p>
        </p:txBody>
      </p:sp>
      <p:sp>
        <p:nvSpPr>
          <p:cNvPr id="4" name="bm_210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6CCB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EXTRA: X and O!</a:t>
            </a:r>
            <a:endParaRPr lang="en-US" sz="2700" dirty="0"/>
          </a:p>
        </p:txBody>
      </p:sp>
      <p:sp>
        <p:nvSpPr>
          <p:cNvPr id="5" name="in_211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Two teams: O and X. Say the word and a sentence!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Due squadre: O e X. Di' la parola e una frase!</a:t>
            </a:r>
            <a:endParaRPr lang="en-US" sz="1400" dirty="0"/>
          </a:p>
        </p:txBody>
      </p:sp>
      <p:sp>
        <p:nvSpPr>
          <p:cNvPr id="6" name="mode_212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👥👥 TEAMS · ⏱ 5 MIN</a:t>
            </a:r>
            <a:endParaRPr lang="en-US" sz="1000" dirty="0"/>
          </a:p>
        </p:txBody>
      </p:sp>
      <p:sp>
        <p:nvSpPr>
          <p:cNvPr id="7" name="st_213"/>
          <p:cNvSpPr/>
          <p:nvPr/>
        </p:nvSpPr>
        <p:spPr>
          <a:xfrm>
            <a:off x="228600" y="13258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sn_214"/>
          <p:cNvSpPr/>
          <p:nvPr/>
        </p:nvSpPr>
        <p:spPr>
          <a:xfrm>
            <a:off x="118872" y="1216152"/>
            <a:ext cx="384048" cy="384048"/>
          </a:xfrm>
          <a:prstGeom prst="ellipse">
            <a:avLst/>
          </a:prstGeom>
          <a:solidFill>
            <a:srgbClr val="FFD23F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k_215"/>
          <p:cNvSpPr/>
          <p:nvPr/>
        </p:nvSpPr>
        <p:spPr>
          <a:xfrm>
            <a:off x="521208" y="1362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👀 LOOK</a:t>
            </a:r>
            <a:endParaRPr lang="en-US" sz="1300" dirty="0"/>
          </a:p>
        </p:txBody>
      </p:sp>
      <p:sp>
        <p:nvSpPr>
          <p:cNvPr id="10" name="se_216"/>
          <p:cNvSpPr/>
          <p:nvPr/>
        </p:nvSpPr>
        <p:spPr>
          <a:xfrm>
            <a:off x="338328" y="16550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square.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Scegli una casella.</a:t>
            </a:r>
            <a:endParaRPr lang="en-US" sz="1050" dirty="0"/>
          </a:p>
        </p:txBody>
      </p:sp>
      <p:sp>
        <p:nvSpPr>
          <p:cNvPr id="11" name="st_217"/>
          <p:cNvSpPr/>
          <p:nvPr/>
        </p:nvSpPr>
        <p:spPr>
          <a:xfrm>
            <a:off x="228600" y="23926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5DA2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n_218"/>
          <p:cNvSpPr/>
          <p:nvPr/>
        </p:nvSpPr>
        <p:spPr>
          <a:xfrm>
            <a:off x="118872" y="2282952"/>
            <a:ext cx="384048" cy="384048"/>
          </a:xfrm>
          <a:prstGeom prst="ellipse">
            <a:avLst/>
          </a:prstGeom>
          <a:solidFill>
            <a:srgbClr val="FF5DA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k_219"/>
          <p:cNvSpPr/>
          <p:nvPr/>
        </p:nvSpPr>
        <p:spPr>
          <a:xfrm>
            <a:off x="521208" y="2429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SPEAK</a:t>
            </a:r>
            <a:endParaRPr lang="en-US" sz="1300" dirty="0"/>
          </a:p>
        </p:txBody>
      </p:sp>
      <p:sp>
        <p:nvSpPr>
          <p:cNvPr id="14" name="se_220"/>
          <p:cNvSpPr/>
          <p:nvPr/>
        </p:nvSpPr>
        <p:spPr>
          <a:xfrm>
            <a:off x="338328" y="27218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a sentence: 'He's got a beard.'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Di' una frase: 'He's got a beard.'</a:t>
            </a:r>
            <a:endParaRPr lang="en-US" sz="1050" dirty="0"/>
          </a:p>
        </p:txBody>
      </p:sp>
      <p:sp>
        <p:nvSpPr>
          <p:cNvPr id="15" name="st_221"/>
          <p:cNvSpPr/>
          <p:nvPr/>
        </p:nvSpPr>
        <p:spPr>
          <a:xfrm>
            <a:off x="228600" y="34594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8A3D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n_222"/>
          <p:cNvSpPr/>
          <p:nvPr/>
        </p:nvSpPr>
        <p:spPr>
          <a:xfrm>
            <a:off x="118872" y="3349752"/>
            <a:ext cx="384048" cy="384048"/>
          </a:xfrm>
          <a:prstGeom prst="ellipse">
            <a:avLst/>
          </a:prstGeom>
          <a:solidFill>
            <a:srgbClr val="FF8A3D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k_223"/>
          <p:cNvSpPr/>
          <p:nvPr/>
        </p:nvSpPr>
        <p:spPr>
          <a:xfrm>
            <a:off x="521208" y="34960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🎲 PLAY</a:t>
            </a:r>
            <a:endParaRPr lang="en-US" sz="1300" dirty="0"/>
          </a:p>
        </p:txBody>
      </p:sp>
      <p:sp>
        <p:nvSpPr>
          <p:cNvPr id="18" name="se_224"/>
          <p:cNvSpPr/>
          <p:nvPr/>
        </p:nvSpPr>
        <p:spPr>
          <a:xfrm>
            <a:off x="338328" y="37886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Correct? Put your O or X! 3 in a row wins.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Giusto? Metti O o X! Tris vince.</a:t>
            </a:r>
            <a:endParaRPr lang="en-US" sz="1050" dirty="0"/>
          </a:p>
        </p:txBody>
      </p:sp>
      <p:sp>
        <p:nvSpPr>
          <p:cNvPr id="19" name="gl_225"/>
          <p:cNvSpPr/>
          <p:nvPr/>
        </p:nvSpPr>
        <p:spPr>
          <a:xfrm>
            <a:off x="3108960" y="1325880"/>
            <a:ext cx="5715000" cy="3200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Row 1:  beard  ·  nurse  ·  curly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Row 2:  firefighter  ·  treasure  ·  tall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Row 3:  dentist  ·  moustache  ·  pop star</a:t>
            </a:r>
            <a:endParaRPr lang="en-US" sz="1400" dirty="0"/>
          </a:p>
        </p:txBody>
      </p:sp>
    </p:spTree>
  </p:cSld>
  <p:clrMapOvr>
    <a:masterClrMapping/>
  </p:clrMapOvr>
  <p:transition spd="med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Movers · UNIT 3 · LESSON 6 · Mission in action!</dc:title>
  <dc:subject>PptxGenJS Presentation</dc:subject>
  <dc:creator>PptxGenJS</dc:creator>
  <cp:lastModifiedBy>PptxGenJS</cp:lastModifiedBy>
  <cp:revision>1</cp:revision>
  <dcterms:created xsi:type="dcterms:W3CDTF">2026-10-06T10:51:39Z</dcterms:created>
  <dcterms:modified xsi:type="dcterms:W3CDTF">2026-10-06T10:51:39Z</dcterms:modified>
</cp:coreProperties>
</file>