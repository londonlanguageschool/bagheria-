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7B PART 2 (60 min) · SB pp.72–73. Aims: vocabulary of houses and where people live (Vocabulary Bank Houses p.162); the three pronunciations of the letter c; listen to an audio guide about the Handel Hendrix house in London; describe a dream house. Timing: cover 2 · revision 5 · where people live 4 · parts of a house 5 · what's the difference? 5 · letter c 5 · prediction 3 · Handel 4 · Hendrix 4 · words 3 · dream house 7 · 20 questions 5 · exit 3 = 55 min. The writing (Writing p.120, describing a house) is optional homework. Click 1: question — what could they have in common? Click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7B part 1 (5 min). VARIATION: beat the clock + forced choice (teams must decide 1st or 2nd before they write). Two teams, team secretaries write. 20 seconds per prompt; click once per item to show a model answer. 1 point for a correct sentence; +1 if they can say WHY (1st = real / possible, 2nd = imaginary / unlikely). Accept other logical answers: item 2 could be 2nd if they say 'it never rains in July in Bagheria – imaginary!' if the form is right. Items 4 and 6 recycle Marco and Carlos from the online comments (SB p.71). Typical errors: ✗ If I would win · ✗ If it will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(4 min). Vocabulary Bank Houses p.162, 1 Where people live: students write the prepositions in the column; play 7.17 to check. Click 1 for answers (from audio 7.17): 1 in · 2 on · 3 in · 4 in · 5 on · 6 in. Vocabulary notes (TG): a suburb is simply a residential area outside the city centre — not a negative word like 'slum'; the outskirts = the area of a town furthest from the centre. ACTIVATION (pairs): describe where you live — 'I live in Bagheria, a town about 15 km from Palermo. I live on the second floor of a block of flats, on the outskirts…' (⚠ check the distance you give). VARIATION: personalisation with boundaries — they can describe the area, not the exact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Quick start (SB 4a, 1 min): pairs write three more words in each column of the chart on p.72 — living room (table), kitchen (washing machine), bedroom (lamp). Then Vocabulary Bank p.162, 2 Parts of a house: students match the words and the picture; play 7.18 to check (numbers in the key). 3 Describing a house or flat: play 7.19 — a modern flat in the city centre (spacious, light, wooden floors, big windows) and a cottage in the country (old, made of stone, low ceilings, an open fire, cosy). Click 1 shows the Italian. Notes (TG): a terrace is outside on the ground floor; a balcony is always outside a window on an upper floor; a fireplace = the open space for a fire in the wall; an open fire = a fireplace with a wood fire in it. ACTIVATION: A points to a tile, B says the word and 'inside or outside?'. VARIATION: change the energy — 'Stand up if it's outside the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(5 min). SB 4c: 'What's the difference between…?' — pairs discuss the seven pairs (book order, same as the slide). Click once per pair for the TG definitions. VARIATION: student as teacher + forbidden easy answer — they must explain in English, no translation (then give the Italian at the end: tetto / soffitto, balcone / terrazza, comignolo / caminetto, piano terra / primo piano). Italian traps: ceiling ≠ roof (both 'tetto' in everyday Italian), first floor = primo piano (same as British English — but warn them about American English). Model and drill: ceiling /ˈsiːlɪŋ/, wooden /ˈwʊdn/, suburb /ˈsʌbɜːb/.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(5 min). 5a: pairs say the words in groups 1–5 to each other (all the book words are on the slide). 5b: pairs complete rules 1–5 (book wording on the click: '1 c before a, o, or u is pronounced …'). 5c: play 7.20 to check; click once per group. Answers (TG): 1 /k/ · 2 /s/ · 3 /ʃ/ · 4 /k/ · 5 /ks/. Rules (TG pronunciation notes): c is usually /k/ before a, o, u and consonants; /s/ before e, i, y; /ʃ/ only before i + vowel (spacious, special, musician); with double c, /ks/ if the second c comes before e or i (success, accent) and /k/ before a, o, u (account, accommodation); c can be silent after s (science, scene). Play 7.20 again for repetition. VARIATION: phonological branching — each pair adds one more word to each group (e.g. /s/ Sicily, /ʃ/ delicious, /ks/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(3 min). 6a (whole class): what do they know about George Frideric Handel and Jimi Hendrix? Don't worry if they don't know — they'll find out. VARIATION: curiosity gap + prediction — make them guess before they read. 6b: students read the poster on p.73 and check. Click once per question (TG): they were both musicians; they both left their countries to live in London (Handel in the 18th century, Hendrix in the 1960s); they lived in the same building in London. Then: which bedroom do they like best, and why? (photos on p.73).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+ 4 min on the next slide). 6c: students read the eight extracts in the book (check the Glossary) and guess: Handel or Hendrix? 6d: play 7.21 once to check: 1 Han · 2 Hen · 3 Han · 4 Han · 5 Hen · 6 Hen · 7 Hen · 8 Han (TG). 6e: play again, pausing after the Handel part, for questions 1–5 (TG answers; the slide has the book's questions — slide rows 2–6 = book 1–5; rows 1–5 on the next slide = book 6–10): 1 nobody – he was the first occupant · 2 because he was a foreigner · 3 entertaining and working (and he rehearsed and composed there, e.g. the Messiah) · 4 a bedroom (at the front) and a dressing room (at the back) · 5 the servants. Extra facts from the script: he rented 25 Brook Street from 1723; his rent in 1742 was £50 a year; he was blind by 1754; he died in the house in 1759. Click 1 for all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Before playing: the two bedrooms on the slide (from the poster) — which is Handel's and which is Hendrix's? (left: Hendrix's flat · right: Handel's house). Play the Hendrix part of 7.21. Pairs compare; click 1 for answers (TG): 6 four years · 7 Hendrix's girlfriend (Kathy Etchingham, who saw an advert in an evening newspaper) · 8 in March 1969 (he went back to New York and never lived there again) · 9 in a London hotel, in 1970, at the age of 27 — not in the flat · 10 as an office (until the Handel House Trust took it over in 2000; it opened to the public on 10 February 2016). Extra details: he bought curtains and cushions from John Lewis and ornaments from Portobello Road market; he called it 'my first real home of my own'. 6g (whole class, last question): have they ever visited the house of a famous person? (In Sicily: e.g. the house of Pirandello near Agrigento.) If there's time, students read the script on p.129.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FROM THE LISTENING (3 min). 6f: pairs complete the six extracts (sentences from audio 7.22); play 7.22 to check; click 1 for the answers (TG): 1 settle · 2 moved · 3 occupant · 4 upper · 5 decorating · 6 venue. Check meaning and drill: occupant /ˈɒkjəpənt/, venue /ˈvenjuː/. These words are useful for the dream-house description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(7 min). 7a: give students 2 minutes to plan (help with vocabulary not in the Vocabulary Bank — swimming pool, garage, view of the sea…). 7b: groups of 3–5; each student describes their dream house in as much detail as possible; the others ask questions and finally say which house they like best. Feedback: the most popular house in each group. VARIATION: constraint challenge — each description must include at least 5 words from today (parts of a house + describing words: cosy, spacious, light, wooden, low ceilings…) and one second conditional: 'If I lived there,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(5 min). VARIATION: curiosity gap + question-forming practice (Is it…? Has it got…? Can you…? Do people usually…?). Two teams take turns to ask; the team that guesses gets the points. The teacher counts the questions on the board. If the class is quick, the knower can also secretly choose any word from Vocabulary Bank Houses p.162. IMPORTANT: guessers must not see the screen. Check they have turned round BEFORE you click each card. Every card is on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3.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4.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5.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6.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7.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8. Check the guessers can't see the screen, THEN click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7B 2c (letter c), 3a, 3b, 3c (houses) + Vocabulary Bank Houses p.162 (cover and test yourself) + the 7B-2 homework sheet (easier version available). Optional: Writing 'Describing a house or flat' p.120 — read the two posts and do d (a four-paragraph description for a holiday-rental website; TG possible answers for c: a fully-equipped kitchen, a sunny terrace, stunning views, a large garden, lovely beaches, ideal for a family). 2d is audio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WRITING (10 min) — or set it as homework. a: pairs choose a post and explain (teach villa). b: underline the attractive adjectives in the Florence post (stunning = extremely attractive or impressive). c: improve the Turkish villa description — TG possible answers: a fully-equipped kitchen, a sunny terrace, stunning views, a large garden, lovely beaches, ideal for a family. Go through the Describing location box. d (homework): write their own post, 4 paragraphs, 15–20 minutes; they can invent a home. VARIATION: upgrade the language (boring →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(8 min). VARIATION: perspective change + humour (turning negatives into positives — but never dishonestly: they can't invent things that aren't there). Good preparation for 8A (Dragons' Den pitches). Problem houses: a tiny flat on the top floor with no lift · an old cottage with low ceilings and no heating · a basement flat with no windows · a house next to a football stadium. For a written vocabulary check, use the EXTRA slide 'Houses for sale and rent' (Vocabulary photocopiable, 📄 B1_7B_Photocopiables.pdf, page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VOCABULARY PHOTOCOPIABLE (6 min) – or homework. 📄 Print: B1_7B_Photocopiables.pdf, page 3 (one per student). Official procedure (TG): set a time limit, e.g. three minutes; students read the three house descriptions and complete them with the correct words – the first letter or two is given (1 suburb = example). Check answers (official key): 2 second floor · 3 balcony · 4 entrance · 5 wall · 6 gate · 7 roof · 8 chimney · 9 outskirts · 10 path · 11 terrace · 12 steps · 13 ground floor · 14 top floor · 15 basement. Activation: pairs tell each other which home they prefer and why; get feedback. VARIATION: beat the clock (3-minute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slideLayout" Target="../slideLayouts/slideLayout1.xml"/><Relationship Id="rId2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7B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7B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7B · Part 2 · SB pp.72–73</a:t>
            </a:r>
            <a:endParaRPr lang="en-US" sz="1100" dirty="0"/>
          </a:p>
        </p:txBody>
      </p:sp>
      <p:sp>
        <p:nvSpPr>
          <p:cNvPr id="9" name="title_7"/>
          <p:cNvSpPr txBox="1"/>
          <p:nvPr/>
        </p:nvSpPr>
        <p:spPr>
          <a:xfrm rot="120000">
            <a:off x="411480" y="1325880"/>
            <a:ext cx="5120640"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000" dirty="0">
                <a:solidFill>
                  <a:srgbClr val="111111"/>
                </a:solidFill>
                <a:latin typeface="Arial Black" pitchFamily="34" charset="0"/>
                <a:ea typeface="Arial Black" pitchFamily="34" charset="-122"/>
                <a:cs typeface="Arial Black" pitchFamily="34" charset="-120"/>
              </a:rPr>
              <a:t>THE HOTEL OF MUM AND DAD</a:t>
            </a:r>
            <a:endParaRPr lang="en-US" sz="2000" dirty="0"/>
          </a:p>
        </p:txBody>
      </p:sp>
      <p:sp>
        <p:nvSpPr>
          <p:cNvPr id="10" name="stamp_8"/>
          <p:cNvSpPr txBox="1"/>
          <p:nvPr/>
        </p:nvSpPr>
        <p:spPr>
          <a:xfrm>
            <a:off x="457200" y="2468880"/>
            <a:ext cx="237286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houses</a:t>
            </a:r>
            <a:endParaRPr lang="en-US" sz="1200" dirty="0"/>
          </a:p>
        </p:txBody>
      </p:sp>
      <p:sp>
        <p:nvSpPr>
          <p:cNvPr id="11" name="stamp_9"/>
          <p:cNvSpPr txBox="1"/>
          <p:nvPr/>
        </p:nvSpPr>
        <p:spPr>
          <a:xfrm>
            <a:off x="457200" y="2944368"/>
            <a:ext cx="3236976"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PRONUNCIATION · the letter c</a:t>
            </a:r>
            <a:endParaRPr lang="en-US" sz="1200" dirty="0"/>
          </a:p>
        </p:txBody>
      </p:sp>
      <p:sp>
        <p:nvSpPr>
          <p:cNvPr id="12" name="stamp_10"/>
          <p:cNvSpPr txBox="1"/>
          <p:nvPr/>
        </p:nvSpPr>
        <p:spPr>
          <a:xfrm>
            <a:off x="457200" y="3419856"/>
            <a:ext cx="4005072"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LISTENING · The Handel Hendrix house</a:t>
            </a:r>
            <a:endParaRPr lang="en-US" sz="1200" dirty="0"/>
          </a:p>
        </p:txBody>
      </p:sp>
      <p:sp>
        <p:nvSpPr>
          <p:cNvPr id="13" name="iconBack_11"/>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4" name="icon_12" descr="pi:PiHouse">    </p:cNvPr>
          <p:cNvPicPr>
            <a:picLocks noChangeAspect="1"/>
          </p:cNvPicPr>
          <p:nvPr/>
        </p:nvPicPr>
        <p:blipFill>
          <a:blip r:embed="rId3"/>
          <a:stretch>
            <a:fillRect/>
          </a:stretch>
        </p:blipFill>
        <p:spPr>
          <a:xfrm>
            <a:off x="6016752" y="1033272"/>
            <a:ext cx="1042416" cy="1042416"/>
          </a:xfrm>
          <a:prstGeom prst="rect">
            <a:avLst/>
          </a:prstGeom>
        </p:spPr>
      </p:pic>
      <p:sp>
        <p:nvSpPr>
          <p:cNvPr id="15" name="iconBack_13"/>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14" descr="pi:PiGuitar">    </p:cNvPr>
          <p:cNvPicPr>
            <a:picLocks noChangeAspect="1"/>
          </p:cNvPicPr>
          <p:nvPr/>
        </p:nvPicPr>
        <p:blipFill>
          <a:blip r:embed="rId4"/>
          <a:stretch>
            <a:fillRect/>
          </a:stretch>
        </p:blipFill>
        <p:spPr>
          <a:xfrm>
            <a:off x="7534656" y="1728216"/>
            <a:ext cx="658368" cy="658368"/>
          </a:xfrm>
          <a:prstGeom prst="rect">
            <a:avLst/>
          </a:prstGeom>
        </p:spPr>
      </p:pic>
      <p:sp>
        <p:nvSpPr>
          <p:cNvPr id="17" name="iconBack_15"/>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8" name="icon_16" descr="pi:PiPianoKeys">    </p:cNvPr>
          <p:cNvPicPr>
            <a:picLocks noChangeAspect="1"/>
          </p:cNvPicPr>
          <p:nvPr/>
        </p:nvPicPr>
        <p:blipFill>
          <a:blip r:embed="rId5"/>
          <a:stretch>
            <a:fillRect/>
          </a:stretch>
        </p:blipFill>
        <p:spPr>
          <a:xfrm>
            <a:off x="5678424" y="2706624"/>
            <a:ext cx="576072" cy="576072"/>
          </a:xfrm>
          <a:prstGeom prst="rect">
            <a:avLst/>
          </a:prstGeom>
        </p:spPr>
      </p:pic>
      <p:sp>
        <p:nvSpPr>
          <p:cNvPr id="19"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A composer and a rock star…</a:t>
            </a:r>
            <a:endParaRPr lang="en-US" sz="1400" dirty="0"/>
          </a:p>
        </p:txBody>
      </p:sp>
      <p:sp>
        <p:nvSpPr>
          <p:cNvPr id="20"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…in the same house?!</a:t>
            </a:r>
            <a:endParaRPr lang="en-US" sz="1300" dirty="0"/>
          </a:p>
        </p:txBody>
      </p:sp>
      <p:sp>
        <p:nvSpPr>
          <p:cNvPr id="21" name="tnote_17"/>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8"/>
          <p:cNvSpPr/>
          <p:nvPr/>
        </p:nvSpPr>
        <p:spPr>
          <a:xfrm>
            <a:off x="54864" y="54864"/>
            <a:ext cx="9034272" cy="5033772"/>
          </a:xfrm>
          <a:prstGeom prst="rect">
            <a:avLst/>
          </a:prstGeom>
          <a:ln w="114300">
            <a:solidFill>
              <a:srgbClr val="A8E6B4"/>
            </a:solidFill>
            <a:prstDash val="solid"/>
          </a:ln>
        </p:spPr>
      </p:sp>
      <p:pic>
        <p:nvPicPr>
          <p:cNvPr id="4" name="logo_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7B part 1 · Conditionals</a:t>
            </a:r>
            <a:endParaRPr lang="en-US" sz="900" dirty="0"/>
          </a:p>
        </p:txBody>
      </p:sp>
      <p:sp>
        <p:nvSpPr>
          <p:cNvPr id="6" name="timer_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23"/>
          <p:cNvSpPr txBox="1"/>
          <p:nvPr/>
        </p:nvSpPr>
        <p:spPr>
          <a:xfrm rot="90000">
            <a:off x="320040" y="676656"/>
            <a:ext cx="519379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Beat the clock: 1st or 2nd?</a:t>
            </a:r>
            <a:endParaRPr lang="en-US" sz="1500" dirty="0"/>
          </a:p>
        </p:txBody>
      </p:sp>
      <p:sp>
        <p:nvSpPr>
          <p:cNvPr id="9" name="tape_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5"/>
          <p:cNvSpPr/>
          <p:nvPr/>
        </p:nvSpPr>
        <p:spPr>
          <a:xfrm rot="-720000">
            <a:off x="4946904" y="1069848"/>
            <a:ext cx="685800" cy="219456"/>
          </a:xfrm>
          <a:prstGeom prst="rect">
            <a:avLst/>
          </a:prstGeom>
          <a:solidFill>
            <a:srgbClr val="FFD84D">
              <a:alpha val="75000"/>
            </a:srgbClr>
          </a:solidFill>
          <a:ln w="6350">
            <a:solidFill>
              <a:srgbClr val="FFD84D"/>
            </a:solidFill>
            <a:prstDash val="solid"/>
          </a:ln>
        </p:spPr>
      </p:sp>
      <p:sp>
        <p:nvSpPr>
          <p:cNvPr id="11" name="post_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Teams: 20 seconds! Make the sentence. Real or imaginary?</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Squadre: 20 secondi! Fate la frase. Reale o immaginaria?</a:t>
            </a:r>
            <a:endParaRPr lang="en-US" sz="1200" dirty="0"/>
          </a:p>
        </p:txBody>
      </p:sp>
      <p:sp>
        <p:nvSpPr>
          <p:cNvPr id="14" name="iconBack_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30"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6" name="box_31"/>
          <p:cNvSpPr txBox="1"/>
          <p:nvPr/>
        </p:nvSpPr>
        <p:spPr>
          <a:xfrm>
            <a:off x="2788920" y="1371600"/>
            <a:ext cx="2534717"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I / win the lottery / buy a boat</a:t>
            </a:r>
            <a:endParaRPr lang="en-US" sz="1300" dirty="0"/>
          </a:p>
        </p:txBody>
      </p:sp>
      <p:sp>
        <p:nvSpPr>
          <p:cNvPr id="17" name="R1_a0"/>
          <p:cNvSpPr txBox="1"/>
          <p:nvPr/>
        </p:nvSpPr>
        <p:spPr>
          <a:xfrm>
            <a:off x="5378501" y="1408176"/>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I won the lottery, I'd buy a boat. (2nd)</a:t>
            </a:r>
            <a:endParaRPr lang="en-US" sz="1150" dirty="0"/>
          </a:p>
        </p:txBody>
      </p:sp>
      <p:sp>
        <p:nvSpPr>
          <p:cNvPr id="18" name="box_32"/>
          <p:cNvSpPr txBox="1"/>
          <p:nvPr/>
        </p:nvSpPr>
        <p:spPr>
          <a:xfrm>
            <a:off x="2788920" y="1941576"/>
            <a:ext cx="2534717"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it / rain tomorrow / we / stay in</a:t>
            </a:r>
            <a:endParaRPr lang="en-US" sz="1250" dirty="0"/>
          </a:p>
        </p:txBody>
      </p:sp>
      <p:sp>
        <p:nvSpPr>
          <p:cNvPr id="19" name="R2_a1"/>
          <p:cNvSpPr txBox="1"/>
          <p:nvPr/>
        </p:nvSpPr>
        <p:spPr>
          <a:xfrm>
            <a:off x="5378501" y="1978152"/>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it rains tomorrow, we'll stay in. (1st)</a:t>
            </a:r>
            <a:endParaRPr lang="en-US" sz="1150" dirty="0"/>
          </a:p>
        </p:txBody>
      </p:sp>
      <p:sp>
        <p:nvSpPr>
          <p:cNvPr id="20" name="box_33"/>
          <p:cNvSpPr txBox="1"/>
          <p:nvPr/>
        </p:nvSpPr>
        <p:spPr>
          <a:xfrm>
            <a:off x="2788920" y="2511552"/>
            <a:ext cx="2534717"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I / be you / talk to her</a:t>
            </a:r>
            <a:endParaRPr lang="en-US" sz="1300" dirty="0"/>
          </a:p>
        </p:txBody>
      </p:sp>
      <p:sp>
        <p:nvSpPr>
          <p:cNvPr id="21" name="R3_a2"/>
          <p:cNvSpPr txBox="1"/>
          <p:nvPr/>
        </p:nvSpPr>
        <p:spPr>
          <a:xfrm>
            <a:off x="5378501" y="2548128"/>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I were you, I'd talk to her. (2nd)</a:t>
            </a:r>
            <a:endParaRPr lang="en-US" sz="1150" dirty="0"/>
          </a:p>
        </p:txBody>
      </p:sp>
      <p:sp>
        <p:nvSpPr>
          <p:cNvPr id="22" name="box_34"/>
          <p:cNvSpPr txBox="1"/>
          <p:nvPr/>
        </p:nvSpPr>
        <p:spPr>
          <a:xfrm>
            <a:off x="2788920" y="3081528"/>
            <a:ext cx="2534717"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Marco / leave home / have to cook</a:t>
            </a:r>
            <a:endParaRPr lang="en-US" sz="1100" dirty="0"/>
          </a:p>
        </p:txBody>
      </p:sp>
      <p:sp>
        <p:nvSpPr>
          <p:cNvPr id="23" name="R4_a3"/>
          <p:cNvSpPr txBox="1"/>
          <p:nvPr/>
        </p:nvSpPr>
        <p:spPr>
          <a:xfrm>
            <a:off x="5378501" y="3118104"/>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Marco left home, he'd have to cook. (2nd)</a:t>
            </a:r>
            <a:endParaRPr lang="en-US" sz="1150" dirty="0"/>
          </a:p>
        </p:txBody>
      </p:sp>
      <p:sp>
        <p:nvSpPr>
          <p:cNvPr id="24" name="box_35"/>
          <p:cNvSpPr txBox="1"/>
          <p:nvPr/>
        </p:nvSpPr>
        <p:spPr>
          <a:xfrm>
            <a:off x="2788920" y="3651504"/>
            <a:ext cx="2534717"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you / not hurry / miss the bus</a:t>
            </a:r>
            <a:endParaRPr lang="en-US" sz="1300" dirty="0"/>
          </a:p>
        </p:txBody>
      </p:sp>
      <p:sp>
        <p:nvSpPr>
          <p:cNvPr id="25" name="R5_a4"/>
          <p:cNvSpPr txBox="1"/>
          <p:nvPr/>
        </p:nvSpPr>
        <p:spPr>
          <a:xfrm>
            <a:off x="5378501" y="3688080"/>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you don't hurry, you'll miss the bus. (1st)</a:t>
            </a:r>
            <a:endParaRPr lang="en-US" sz="1150" dirty="0"/>
          </a:p>
        </p:txBody>
      </p:sp>
      <p:sp>
        <p:nvSpPr>
          <p:cNvPr id="26" name="box_36"/>
          <p:cNvSpPr txBox="1"/>
          <p:nvPr/>
        </p:nvSpPr>
        <p:spPr>
          <a:xfrm>
            <a:off x="2788920" y="4221480"/>
            <a:ext cx="2534717"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6  Carlos / have a dog / be happier</a:t>
            </a:r>
            <a:endParaRPr lang="en-US" sz="1150" dirty="0"/>
          </a:p>
        </p:txBody>
      </p:sp>
      <p:sp>
        <p:nvSpPr>
          <p:cNvPr id="27" name="R6_a5"/>
          <p:cNvSpPr txBox="1"/>
          <p:nvPr/>
        </p:nvSpPr>
        <p:spPr>
          <a:xfrm>
            <a:off x="5378501" y="4258056"/>
            <a:ext cx="3445459"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If Carlos had a dog, he'd be happier. (2nd)</a:t>
            </a:r>
            <a:endParaRPr lang="en-US" sz="1150" dirty="0"/>
          </a:p>
        </p:txBody>
      </p:sp>
      <p:sp>
        <p:nvSpPr>
          <p:cNvPr id="28" name="pageTag_3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7B part 1 · Grammar Bank 7B p.145</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8"/>
          <p:cNvSpPr/>
          <p:nvPr/>
        </p:nvSpPr>
        <p:spPr>
          <a:xfrm>
            <a:off x="54864" y="54864"/>
            <a:ext cx="9034272" cy="5033772"/>
          </a:xfrm>
          <a:prstGeom prst="rect">
            <a:avLst/>
          </a:prstGeom>
          <a:ln w="114300">
            <a:solidFill>
              <a:srgbClr val="A8E6B4"/>
            </a:solidFill>
            <a:prstDash val="solid"/>
          </a:ln>
        </p:spPr>
      </p:sp>
      <p:pic>
        <p:nvPicPr>
          <p:cNvPr id="4" name="logo_3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Vocabulary Bank Houses p.162</a:t>
            </a:r>
            <a:endParaRPr lang="en-US" sz="900" dirty="0"/>
          </a:p>
        </p:txBody>
      </p:sp>
      <p:sp>
        <p:nvSpPr>
          <p:cNvPr id="6" name="timer_4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4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43"/>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Where do you live?</a:t>
            </a:r>
            <a:endParaRPr lang="en-US" sz="1500" dirty="0"/>
          </a:p>
        </p:txBody>
      </p:sp>
      <p:sp>
        <p:nvSpPr>
          <p:cNvPr id="9" name="tape_4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5"/>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4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4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4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in or on? Then say where YOU live.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 oppure on? Poi di' dove vivi TU.</a:t>
            </a:r>
            <a:endParaRPr lang="en-US" sz="1250" dirty="0"/>
          </a:p>
        </p:txBody>
      </p:sp>
      <p:sp>
        <p:nvSpPr>
          <p:cNvPr id="14" name="iconBack_4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50" descr="pi:PiMapPin">    </p:cNvPr>
          <p:cNvPicPr>
            <a:picLocks noChangeAspect="1"/>
          </p:cNvPicPr>
          <p:nvPr/>
        </p:nvPicPr>
        <p:blipFill>
          <a:blip r:embed="rId3"/>
          <a:stretch>
            <a:fillRect/>
          </a:stretch>
        </p:blipFill>
        <p:spPr>
          <a:xfrm>
            <a:off x="914400" y="3474720"/>
            <a:ext cx="685800" cy="685800"/>
          </a:xfrm>
          <a:prstGeom prst="rect">
            <a:avLst/>
          </a:prstGeom>
        </p:spPr>
      </p:pic>
      <p:sp>
        <p:nvSpPr>
          <p:cNvPr id="16" name="box_51"/>
          <p:cNvSpPr txBox="1"/>
          <p:nvPr/>
        </p:nvSpPr>
        <p:spPr>
          <a:xfrm>
            <a:off x="2788920" y="1371600"/>
            <a:ext cx="2244669"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I live ___ the country, surrounded by fields.</a:t>
            </a:r>
            <a:endParaRPr lang="en-US" sz="1250" dirty="0"/>
          </a:p>
        </p:txBody>
      </p:sp>
      <p:sp>
        <p:nvSpPr>
          <p:cNvPr id="17" name="R1_a0"/>
          <p:cNvSpPr txBox="1"/>
          <p:nvPr/>
        </p:nvSpPr>
        <p:spPr>
          <a:xfrm>
            <a:off x="5088453" y="1408176"/>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in</a:t>
            </a:r>
            <a:endParaRPr lang="en-US" sz="1300" dirty="0"/>
          </a:p>
        </p:txBody>
      </p:sp>
      <p:sp>
        <p:nvSpPr>
          <p:cNvPr id="18" name="box_52"/>
          <p:cNvSpPr txBox="1"/>
          <p:nvPr/>
        </p:nvSpPr>
        <p:spPr>
          <a:xfrm>
            <a:off x="5870448" y="1371600"/>
            <a:ext cx="2244669"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I live ___ the outskirts of Oxford.</a:t>
            </a:r>
            <a:endParaRPr lang="en-US" sz="1250" dirty="0"/>
          </a:p>
        </p:txBody>
      </p:sp>
      <p:sp>
        <p:nvSpPr>
          <p:cNvPr id="19" name="R1_a1"/>
          <p:cNvSpPr txBox="1"/>
          <p:nvPr/>
        </p:nvSpPr>
        <p:spPr>
          <a:xfrm>
            <a:off x="8169981" y="1408176"/>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on</a:t>
            </a:r>
            <a:endParaRPr lang="en-US" sz="1300" dirty="0"/>
          </a:p>
        </p:txBody>
      </p:sp>
      <p:sp>
        <p:nvSpPr>
          <p:cNvPr id="20" name="box_53"/>
          <p:cNvSpPr txBox="1"/>
          <p:nvPr/>
        </p:nvSpPr>
        <p:spPr>
          <a:xfrm>
            <a:off x="2788920" y="2368296"/>
            <a:ext cx="2244669"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I live ___ a village.</a:t>
            </a:r>
            <a:endParaRPr lang="en-US" sz="1250" dirty="0"/>
          </a:p>
        </p:txBody>
      </p:sp>
      <p:sp>
        <p:nvSpPr>
          <p:cNvPr id="21" name="R1_a2"/>
          <p:cNvSpPr txBox="1"/>
          <p:nvPr/>
        </p:nvSpPr>
        <p:spPr>
          <a:xfrm>
            <a:off x="5088453" y="2404872"/>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in</a:t>
            </a:r>
            <a:endParaRPr lang="en-US" sz="1300" dirty="0"/>
          </a:p>
        </p:txBody>
      </p:sp>
      <p:sp>
        <p:nvSpPr>
          <p:cNvPr id="22" name="box_54"/>
          <p:cNvSpPr txBox="1"/>
          <p:nvPr/>
        </p:nvSpPr>
        <p:spPr>
          <a:xfrm>
            <a:off x="5870448" y="2368296"/>
            <a:ext cx="2244669"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I live ___ Cromer, a small town.</a:t>
            </a:r>
            <a:endParaRPr lang="en-US" sz="1250" dirty="0"/>
          </a:p>
        </p:txBody>
      </p:sp>
      <p:sp>
        <p:nvSpPr>
          <p:cNvPr id="23" name="R1_a3"/>
          <p:cNvSpPr txBox="1"/>
          <p:nvPr/>
        </p:nvSpPr>
        <p:spPr>
          <a:xfrm>
            <a:off x="8169981" y="2404872"/>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in</a:t>
            </a:r>
            <a:endParaRPr lang="en-US" sz="1300" dirty="0"/>
          </a:p>
        </p:txBody>
      </p:sp>
      <p:sp>
        <p:nvSpPr>
          <p:cNvPr id="24" name="box_55"/>
          <p:cNvSpPr txBox="1"/>
          <p:nvPr/>
        </p:nvSpPr>
        <p:spPr>
          <a:xfrm>
            <a:off x="2788920" y="3364992"/>
            <a:ext cx="2244669"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I live ___ the second floor of a block of flats.</a:t>
            </a:r>
            <a:endParaRPr lang="en-US" sz="1250" dirty="0"/>
          </a:p>
        </p:txBody>
      </p:sp>
      <p:sp>
        <p:nvSpPr>
          <p:cNvPr id="25" name="R1_a4"/>
          <p:cNvSpPr txBox="1"/>
          <p:nvPr/>
        </p:nvSpPr>
        <p:spPr>
          <a:xfrm>
            <a:off x="5088453" y="3401568"/>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on</a:t>
            </a:r>
            <a:endParaRPr lang="en-US" sz="1300" dirty="0"/>
          </a:p>
        </p:txBody>
      </p:sp>
      <p:sp>
        <p:nvSpPr>
          <p:cNvPr id="26" name="box_56"/>
          <p:cNvSpPr txBox="1"/>
          <p:nvPr/>
        </p:nvSpPr>
        <p:spPr>
          <a:xfrm>
            <a:off x="5870448" y="3364992"/>
            <a:ext cx="2244669"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I live ___ Croydon, a suburb of London.</a:t>
            </a:r>
            <a:endParaRPr lang="en-US" sz="1250" dirty="0"/>
          </a:p>
        </p:txBody>
      </p:sp>
      <p:sp>
        <p:nvSpPr>
          <p:cNvPr id="27" name="R1_a5"/>
          <p:cNvSpPr txBox="1"/>
          <p:nvPr/>
        </p:nvSpPr>
        <p:spPr>
          <a:xfrm>
            <a:off x="8169981" y="3401568"/>
            <a:ext cx="653979" cy="795528"/>
          </a:xfrm>
          <a:prstGeom prst="roundRect">
            <a:avLst>
              <a:gd name="adj" fmla="val 8389"/>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in</a:t>
            </a:r>
            <a:endParaRPr lang="en-US" sz="1300" dirty="0"/>
          </a:p>
        </p:txBody>
      </p:sp>
      <p:sp>
        <p:nvSpPr>
          <p:cNvPr id="28" name="pageTag_5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Houses p.162 · 1 Where people live · audio 7.17</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58"/>
          <p:cNvSpPr/>
          <p:nvPr/>
        </p:nvSpPr>
        <p:spPr>
          <a:xfrm>
            <a:off x="54864" y="54864"/>
            <a:ext cx="9034272" cy="5033772"/>
          </a:xfrm>
          <a:prstGeom prst="rect">
            <a:avLst/>
          </a:prstGeom>
          <a:ln w="114300">
            <a:solidFill>
              <a:srgbClr val="A8E6B4"/>
            </a:solidFill>
            <a:prstDash val="solid"/>
          </a:ln>
        </p:spPr>
      </p:sp>
      <p:pic>
        <p:nvPicPr>
          <p:cNvPr id="4" name="logo_5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Parts of a house · audio 7.18</a:t>
            </a:r>
            <a:endParaRPr lang="en-US" sz="900" dirty="0"/>
          </a:p>
        </p:txBody>
      </p:sp>
      <p:sp>
        <p:nvSpPr>
          <p:cNvPr id="6" name="timer_6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6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63"/>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Parts of a house</a:t>
            </a:r>
            <a:endParaRPr lang="en-US" sz="1500" dirty="0"/>
          </a:p>
        </p:txBody>
      </p:sp>
      <p:sp>
        <p:nvSpPr>
          <p:cNvPr id="9" name="tape_6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65"/>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6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6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6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Say the words. Where is it? Inside or outside?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le parole. Dov'è? Dentro o fuori?</a:t>
            </a:r>
            <a:endParaRPr lang="en-US" sz="1250" dirty="0"/>
          </a:p>
        </p:txBody>
      </p:sp>
      <p:sp>
        <p:nvSpPr>
          <p:cNvPr id="14" name="tile_69"/>
          <p:cNvSpPr/>
          <p:nvPr/>
        </p:nvSpPr>
        <p:spPr>
          <a:xfrm>
            <a:off x="2788920" y="1371600"/>
            <a:ext cx="1426464" cy="745236"/>
          </a:xfrm>
          <a:prstGeom prst="roundRect">
            <a:avLst>
              <a:gd name="adj" fmla="val 9816"/>
            </a:avLst>
          </a:prstGeom>
          <a:solidFill>
            <a:srgbClr val="FFFFFF"/>
          </a:solidFill>
          <a:ln w="19050">
            <a:solidFill>
              <a:srgbClr val="111111"/>
            </a:solidFill>
            <a:prstDash val="solid"/>
          </a:ln>
        </p:spPr>
      </p:sp>
      <p:pic>
        <p:nvPicPr>
          <p:cNvPr id="15" name="ti_70" descr="roof">    </p:cNvPr>
          <p:cNvPicPr>
            <a:picLocks noChangeAspect="1"/>
          </p:cNvPicPr>
          <p:nvPr/>
        </p:nvPicPr>
        <p:blipFill>
          <a:blip r:embed="rId3"/>
          <a:stretch>
            <a:fillRect/>
          </a:stretch>
        </p:blipFill>
        <p:spPr>
          <a:xfrm>
            <a:off x="3353105" y="1426464"/>
            <a:ext cx="298094" cy="298094"/>
          </a:xfrm>
          <a:prstGeom prst="rect">
            <a:avLst/>
          </a:prstGeom>
        </p:spPr>
      </p:pic>
      <p:sp>
        <p:nvSpPr>
          <p:cNvPr id="16" name="tw_71"/>
          <p:cNvSpPr txBox="1"/>
          <p:nvPr/>
        </p:nvSpPr>
        <p:spPr>
          <a:xfrm>
            <a:off x="2825496"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roof</a:t>
            </a:r>
            <a:endParaRPr lang="en-US" sz="1250" dirty="0"/>
          </a:p>
        </p:txBody>
      </p:sp>
      <p:sp>
        <p:nvSpPr>
          <p:cNvPr id="17" name="R1_it0"/>
          <p:cNvSpPr txBox="1"/>
          <p:nvPr/>
        </p:nvSpPr>
        <p:spPr>
          <a:xfrm>
            <a:off x="2825496"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tetto</a:t>
            </a:r>
            <a:endParaRPr lang="en-US" sz="1050" dirty="0"/>
          </a:p>
        </p:txBody>
      </p:sp>
      <p:sp>
        <p:nvSpPr>
          <p:cNvPr id="18" name="tile_72"/>
          <p:cNvSpPr/>
          <p:nvPr/>
        </p:nvSpPr>
        <p:spPr>
          <a:xfrm>
            <a:off x="4325112" y="1371600"/>
            <a:ext cx="1426464" cy="745236"/>
          </a:xfrm>
          <a:prstGeom prst="roundRect">
            <a:avLst>
              <a:gd name="adj" fmla="val 9816"/>
            </a:avLst>
          </a:prstGeom>
          <a:solidFill>
            <a:srgbClr val="FFFFFF"/>
          </a:solidFill>
          <a:ln w="19050">
            <a:solidFill>
              <a:srgbClr val="111111"/>
            </a:solidFill>
            <a:prstDash val="solid"/>
          </a:ln>
        </p:spPr>
      </p:sp>
      <p:pic>
        <p:nvPicPr>
          <p:cNvPr id="19" name="ti_73" descr="chimney">    </p:cNvPr>
          <p:cNvPicPr>
            <a:picLocks noChangeAspect="1"/>
          </p:cNvPicPr>
          <p:nvPr/>
        </p:nvPicPr>
        <p:blipFill>
          <a:blip r:embed="rId4"/>
          <a:stretch>
            <a:fillRect/>
          </a:stretch>
        </p:blipFill>
        <p:spPr>
          <a:xfrm>
            <a:off x="4889297" y="1426464"/>
            <a:ext cx="298094" cy="298094"/>
          </a:xfrm>
          <a:prstGeom prst="rect">
            <a:avLst/>
          </a:prstGeom>
        </p:spPr>
      </p:pic>
      <p:sp>
        <p:nvSpPr>
          <p:cNvPr id="20" name="tw_74"/>
          <p:cNvSpPr txBox="1"/>
          <p:nvPr/>
        </p:nvSpPr>
        <p:spPr>
          <a:xfrm>
            <a:off x="4361688"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chimney</a:t>
            </a:r>
            <a:endParaRPr lang="en-US" sz="1250" dirty="0"/>
          </a:p>
        </p:txBody>
      </p:sp>
      <p:sp>
        <p:nvSpPr>
          <p:cNvPr id="21" name="R1_it1"/>
          <p:cNvSpPr txBox="1"/>
          <p:nvPr/>
        </p:nvSpPr>
        <p:spPr>
          <a:xfrm>
            <a:off x="4361688"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comignolo</a:t>
            </a:r>
            <a:endParaRPr lang="en-US" sz="1050" dirty="0"/>
          </a:p>
        </p:txBody>
      </p:sp>
      <p:sp>
        <p:nvSpPr>
          <p:cNvPr id="22" name="tile_75"/>
          <p:cNvSpPr/>
          <p:nvPr/>
        </p:nvSpPr>
        <p:spPr>
          <a:xfrm>
            <a:off x="5861304" y="1371600"/>
            <a:ext cx="1426464" cy="745236"/>
          </a:xfrm>
          <a:prstGeom prst="roundRect">
            <a:avLst>
              <a:gd name="adj" fmla="val 9816"/>
            </a:avLst>
          </a:prstGeom>
          <a:solidFill>
            <a:srgbClr val="FFFFFF"/>
          </a:solidFill>
          <a:ln w="19050">
            <a:solidFill>
              <a:srgbClr val="111111"/>
            </a:solidFill>
            <a:prstDash val="solid"/>
          </a:ln>
        </p:spPr>
      </p:sp>
      <p:pic>
        <p:nvPicPr>
          <p:cNvPr id="23" name="ti_76" descr="attic">    </p:cNvPr>
          <p:cNvPicPr>
            <a:picLocks noChangeAspect="1"/>
          </p:cNvPicPr>
          <p:nvPr/>
        </p:nvPicPr>
        <p:blipFill>
          <a:blip r:embed="rId5"/>
          <a:stretch>
            <a:fillRect/>
          </a:stretch>
        </p:blipFill>
        <p:spPr>
          <a:xfrm>
            <a:off x="6425489" y="1426464"/>
            <a:ext cx="298094" cy="298094"/>
          </a:xfrm>
          <a:prstGeom prst="rect">
            <a:avLst/>
          </a:prstGeom>
        </p:spPr>
      </p:pic>
      <p:sp>
        <p:nvSpPr>
          <p:cNvPr id="24" name="tw_77"/>
          <p:cNvSpPr txBox="1"/>
          <p:nvPr/>
        </p:nvSpPr>
        <p:spPr>
          <a:xfrm>
            <a:off x="5897880"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attic</a:t>
            </a:r>
            <a:endParaRPr lang="en-US" sz="1250" dirty="0"/>
          </a:p>
        </p:txBody>
      </p:sp>
      <p:sp>
        <p:nvSpPr>
          <p:cNvPr id="25" name="R1_it2"/>
          <p:cNvSpPr txBox="1"/>
          <p:nvPr/>
        </p:nvSpPr>
        <p:spPr>
          <a:xfrm>
            <a:off x="5897880"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soffitta</a:t>
            </a:r>
            <a:endParaRPr lang="en-US" sz="1050" dirty="0"/>
          </a:p>
        </p:txBody>
      </p:sp>
      <p:sp>
        <p:nvSpPr>
          <p:cNvPr id="26" name="tile_78"/>
          <p:cNvSpPr/>
          <p:nvPr/>
        </p:nvSpPr>
        <p:spPr>
          <a:xfrm>
            <a:off x="7397496" y="1371600"/>
            <a:ext cx="1426464" cy="745236"/>
          </a:xfrm>
          <a:prstGeom prst="roundRect">
            <a:avLst>
              <a:gd name="adj" fmla="val 9816"/>
            </a:avLst>
          </a:prstGeom>
          <a:solidFill>
            <a:srgbClr val="FFFFFF"/>
          </a:solidFill>
          <a:ln w="19050">
            <a:solidFill>
              <a:srgbClr val="111111"/>
            </a:solidFill>
            <a:prstDash val="solid"/>
          </a:ln>
        </p:spPr>
      </p:sp>
      <p:pic>
        <p:nvPicPr>
          <p:cNvPr id="27" name="ti_79" descr="top floor">    </p:cNvPr>
          <p:cNvPicPr>
            <a:picLocks noChangeAspect="1"/>
          </p:cNvPicPr>
          <p:nvPr/>
        </p:nvPicPr>
        <p:blipFill>
          <a:blip r:embed="rId6"/>
          <a:stretch>
            <a:fillRect/>
          </a:stretch>
        </p:blipFill>
        <p:spPr>
          <a:xfrm>
            <a:off x="7961681" y="1426464"/>
            <a:ext cx="298094" cy="298094"/>
          </a:xfrm>
          <a:prstGeom prst="rect">
            <a:avLst/>
          </a:prstGeom>
        </p:spPr>
      </p:pic>
      <p:sp>
        <p:nvSpPr>
          <p:cNvPr id="28" name="tw_80"/>
          <p:cNvSpPr txBox="1"/>
          <p:nvPr/>
        </p:nvSpPr>
        <p:spPr>
          <a:xfrm>
            <a:off x="7434072" y="1742846"/>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top floor</a:t>
            </a:r>
            <a:endParaRPr lang="en-US" sz="1250" dirty="0"/>
          </a:p>
        </p:txBody>
      </p:sp>
      <p:sp>
        <p:nvSpPr>
          <p:cNvPr id="29" name="R1_it3"/>
          <p:cNvSpPr txBox="1"/>
          <p:nvPr/>
        </p:nvSpPr>
        <p:spPr>
          <a:xfrm>
            <a:off x="7434072" y="1971446"/>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ultimo piano</a:t>
            </a:r>
            <a:endParaRPr lang="en-US" sz="1050" dirty="0"/>
          </a:p>
        </p:txBody>
      </p:sp>
      <p:sp>
        <p:nvSpPr>
          <p:cNvPr id="30" name="tile_81"/>
          <p:cNvSpPr/>
          <p:nvPr/>
        </p:nvSpPr>
        <p:spPr>
          <a:xfrm>
            <a:off x="2788920" y="2226564"/>
            <a:ext cx="1426464" cy="745236"/>
          </a:xfrm>
          <a:prstGeom prst="roundRect">
            <a:avLst>
              <a:gd name="adj" fmla="val 9816"/>
            </a:avLst>
          </a:prstGeom>
          <a:solidFill>
            <a:srgbClr val="FFFFFF"/>
          </a:solidFill>
          <a:ln w="19050">
            <a:solidFill>
              <a:srgbClr val="111111"/>
            </a:solidFill>
            <a:prstDash val="solid"/>
          </a:ln>
        </p:spPr>
      </p:sp>
      <p:pic>
        <p:nvPicPr>
          <p:cNvPr id="31" name="ti_82" descr="balcony">    </p:cNvPr>
          <p:cNvPicPr>
            <a:picLocks noChangeAspect="1"/>
          </p:cNvPicPr>
          <p:nvPr/>
        </p:nvPicPr>
        <p:blipFill>
          <a:blip r:embed="rId7"/>
          <a:stretch>
            <a:fillRect/>
          </a:stretch>
        </p:blipFill>
        <p:spPr>
          <a:xfrm>
            <a:off x="3353105" y="2281428"/>
            <a:ext cx="298094" cy="298094"/>
          </a:xfrm>
          <a:prstGeom prst="rect">
            <a:avLst/>
          </a:prstGeom>
        </p:spPr>
      </p:pic>
      <p:sp>
        <p:nvSpPr>
          <p:cNvPr id="32" name="tw_83"/>
          <p:cNvSpPr txBox="1"/>
          <p:nvPr/>
        </p:nvSpPr>
        <p:spPr>
          <a:xfrm>
            <a:off x="2825496"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balcony</a:t>
            </a:r>
            <a:endParaRPr lang="en-US" sz="1250" dirty="0"/>
          </a:p>
        </p:txBody>
      </p:sp>
      <p:sp>
        <p:nvSpPr>
          <p:cNvPr id="33" name="R1_it4"/>
          <p:cNvSpPr txBox="1"/>
          <p:nvPr/>
        </p:nvSpPr>
        <p:spPr>
          <a:xfrm>
            <a:off x="2825496"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balcone</a:t>
            </a:r>
            <a:endParaRPr lang="en-US" sz="1050" dirty="0"/>
          </a:p>
        </p:txBody>
      </p:sp>
      <p:sp>
        <p:nvSpPr>
          <p:cNvPr id="34" name="tile_84"/>
          <p:cNvSpPr/>
          <p:nvPr/>
        </p:nvSpPr>
        <p:spPr>
          <a:xfrm>
            <a:off x="4325112" y="2226564"/>
            <a:ext cx="1426464" cy="745236"/>
          </a:xfrm>
          <a:prstGeom prst="roundRect">
            <a:avLst>
              <a:gd name="adj" fmla="val 9816"/>
            </a:avLst>
          </a:prstGeom>
          <a:solidFill>
            <a:srgbClr val="FFFFFF"/>
          </a:solidFill>
          <a:ln w="19050">
            <a:solidFill>
              <a:srgbClr val="111111"/>
            </a:solidFill>
            <a:prstDash val="solid"/>
          </a:ln>
        </p:spPr>
      </p:sp>
      <p:pic>
        <p:nvPicPr>
          <p:cNvPr id="35" name="ti_85" descr="ground floor">    </p:cNvPr>
          <p:cNvPicPr>
            <a:picLocks noChangeAspect="1"/>
          </p:cNvPicPr>
          <p:nvPr/>
        </p:nvPicPr>
        <p:blipFill>
          <a:blip r:embed="rId8"/>
          <a:stretch>
            <a:fillRect/>
          </a:stretch>
        </p:blipFill>
        <p:spPr>
          <a:xfrm>
            <a:off x="4889297" y="2281428"/>
            <a:ext cx="298094" cy="298094"/>
          </a:xfrm>
          <a:prstGeom prst="rect">
            <a:avLst/>
          </a:prstGeom>
        </p:spPr>
      </p:pic>
      <p:sp>
        <p:nvSpPr>
          <p:cNvPr id="36" name="tw_86"/>
          <p:cNvSpPr txBox="1"/>
          <p:nvPr/>
        </p:nvSpPr>
        <p:spPr>
          <a:xfrm>
            <a:off x="4361688"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ground floor</a:t>
            </a:r>
            <a:endParaRPr lang="en-US" sz="1250" dirty="0"/>
          </a:p>
        </p:txBody>
      </p:sp>
      <p:sp>
        <p:nvSpPr>
          <p:cNvPr id="37" name="R1_it5"/>
          <p:cNvSpPr txBox="1"/>
          <p:nvPr/>
        </p:nvSpPr>
        <p:spPr>
          <a:xfrm>
            <a:off x="4361688"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piano terra</a:t>
            </a:r>
            <a:endParaRPr lang="en-US" sz="1050" dirty="0"/>
          </a:p>
        </p:txBody>
      </p:sp>
      <p:sp>
        <p:nvSpPr>
          <p:cNvPr id="38" name="tile_87"/>
          <p:cNvSpPr/>
          <p:nvPr/>
        </p:nvSpPr>
        <p:spPr>
          <a:xfrm>
            <a:off x="5861304" y="2226564"/>
            <a:ext cx="1426464" cy="745236"/>
          </a:xfrm>
          <a:prstGeom prst="roundRect">
            <a:avLst>
              <a:gd name="adj" fmla="val 9816"/>
            </a:avLst>
          </a:prstGeom>
          <a:solidFill>
            <a:srgbClr val="FFFFFF"/>
          </a:solidFill>
          <a:ln w="19050">
            <a:solidFill>
              <a:srgbClr val="111111"/>
            </a:solidFill>
            <a:prstDash val="solid"/>
          </a:ln>
        </p:spPr>
      </p:sp>
      <p:pic>
        <p:nvPicPr>
          <p:cNvPr id="39" name="ti_88" descr="entrance">    </p:cNvPr>
          <p:cNvPicPr>
            <a:picLocks noChangeAspect="1"/>
          </p:cNvPicPr>
          <p:nvPr/>
        </p:nvPicPr>
        <p:blipFill>
          <a:blip r:embed="rId9"/>
          <a:stretch>
            <a:fillRect/>
          </a:stretch>
        </p:blipFill>
        <p:spPr>
          <a:xfrm>
            <a:off x="6425489" y="2281428"/>
            <a:ext cx="298094" cy="298094"/>
          </a:xfrm>
          <a:prstGeom prst="rect">
            <a:avLst/>
          </a:prstGeom>
        </p:spPr>
      </p:pic>
      <p:sp>
        <p:nvSpPr>
          <p:cNvPr id="40" name="tw_89"/>
          <p:cNvSpPr txBox="1"/>
          <p:nvPr/>
        </p:nvSpPr>
        <p:spPr>
          <a:xfrm>
            <a:off x="5897880"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entrance</a:t>
            </a:r>
            <a:endParaRPr lang="en-US" sz="1250" dirty="0"/>
          </a:p>
        </p:txBody>
      </p:sp>
      <p:sp>
        <p:nvSpPr>
          <p:cNvPr id="41" name="R1_it6"/>
          <p:cNvSpPr txBox="1"/>
          <p:nvPr/>
        </p:nvSpPr>
        <p:spPr>
          <a:xfrm>
            <a:off x="5897880"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ingresso</a:t>
            </a:r>
            <a:endParaRPr lang="en-US" sz="1050" dirty="0"/>
          </a:p>
        </p:txBody>
      </p:sp>
      <p:sp>
        <p:nvSpPr>
          <p:cNvPr id="42" name="tile_90"/>
          <p:cNvSpPr/>
          <p:nvPr/>
        </p:nvSpPr>
        <p:spPr>
          <a:xfrm>
            <a:off x="7397496" y="2226564"/>
            <a:ext cx="1426464" cy="745236"/>
          </a:xfrm>
          <a:prstGeom prst="roundRect">
            <a:avLst>
              <a:gd name="adj" fmla="val 9816"/>
            </a:avLst>
          </a:prstGeom>
          <a:solidFill>
            <a:srgbClr val="FFFFFF"/>
          </a:solidFill>
          <a:ln w="19050">
            <a:solidFill>
              <a:srgbClr val="111111"/>
            </a:solidFill>
            <a:prstDash val="solid"/>
          </a:ln>
        </p:spPr>
      </p:sp>
      <p:pic>
        <p:nvPicPr>
          <p:cNvPr id="43" name="ti_91" descr="basement">    </p:cNvPr>
          <p:cNvPicPr>
            <a:picLocks noChangeAspect="1"/>
          </p:cNvPicPr>
          <p:nvPr/>
        </p:nvPicPr>
        <p:blipFill>
          <a:blip r:embed="rId10"/>
          <a:stretch>
            <a:fillRect/>
          </a:stretch>
        </p:blipFill>
        <p:spPr>
          <a:xfrm>
            <a:off x="7961681" y="2281428"/>
            <a:ext cx="298094" cy="298094"/>
          </a:xfrm>
          <a:prstGeom prst="rect">
            <a:avLst/>
          </a:prstGeom>
        </p:spPr>
      </p:pic>
      <p:sp>
        <p:nvSpPr>
          <p:cNvPr id="44" name="tw_92"/>
          <p:cNvSpPr txBox="1"/>
          <p:nvPr/>
        </p:nvSpPr>
        <p:spPr>
          <a:xfrm>
            <a:off x="7434072" y="2597810"/>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basement</a:t>
            </a:r>
            <a:endParaRPr lang="en-US" sz="1250" dirty="0"/>
          </a:p>
        </p:txBody>
      </p:sp>
      <p:sp>
        <p:nvSpPr>
          <p:cNvPr id="45" name="R1_it7"/>
          <p:cNvSpPr txBox="1"/>
          <p:nvPr/>
        </p:nvSpPr>
        <p:spPr>
          <a:xfrm>
            <a:off x="7434072" y="2826410"/>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seminterrato</a:t>
            </a:r>
            <a:endParaRPr lang="en-US" sz="1050" dirty="0"/>
          </a:p>
        </p:txBody>
      </p:sp>
      <p:sp>
        <p:nvSpPr>
          <p:cNvPr id="46" name="tile_93"/>
          <p:cNvSpPr/>
          <p:nvPr/>
        </p:nvSpPr>
        <p:spPr>
          <a:xfrm>
            <a:off x="2788920" y="3081528"/>
            <a:ext cx="1426464" cy="745236"/>
          </a:xfrm>
          <a:prstGeom prst="roundRect">
            <a:avLst>
              <a:gd name="adj" fmla="val 9816"/>
            </a:avLst>
          </a:prstGeom>
          <a:solidFill>
            <a:srgbClr val="FFFFFF"/>
          </a:solidFill>
          <a:ln w="19050">
            <a:solidFill>
              <a:srgbClr val="111111"/>
            </a:solidFill>
            <a:prstDash val="solid"/>
          </a:ln>
        </p:spPr>
      </p:sp>
      <p:pic>
        <p:nvPicPr>
          <p:cNvPr id="47" name="ti_94" descr="steps">    </p:cNvPr>
          <p:cNvPicPr>
            <a:picLocks noChangeAspect="1"/>
          </p:cNvPicPr>
          <p:nvPr/>
        </p:nvPicPr>
        <p:blipFill>
          <a:blip r:embed="rId11"/>
          <a:stretch>
            <a:fillRect/>
          </a:stretch>
        </p:blipFill>
        <p:spPr>
          <a:xfrm>
            <a:off x="3353105" y="3136392"/>
            <a:ext cx="298094" cy="298094"/>
          </a:xfrm>
          <a:prstGeom prst="rect">
            <a:avLst/>
          </a:prstGeom>
        </p:spPr>
      </p:pic>
      <p:sp>
        <p:nvSpPr>
          <p:cNvPr id="48" name="tw_95"/>
          <p:cNvSpPr txBox="1"/>
          <p:nvPr/>
        </p:nvSpPr>
        <p:spPr>
          <a:xfrm>
            <a:off x="2825496"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steps</a:t>
            </a:r>
            <a:endParaRPr lang="en-US" sz="1250" dirty="0"/>
          </a:p>
        </p:txBody>
      </p:sp>
      <p:sp>
        <p:nvSpPr>
          <p:cNvPr id="49" name="R1_it8"/>
          <p:cNvSpPr txBox="1"/>
          <p:nvPr/>
        </p:nvSpPr>
        <p:spPr>
          <a:xfrm>
            <a:off x="2825496"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gradini</a:t>
            </a:r>
            <a:endParaRPr lang="en-US" sz="1050" dirty="0"/>
          </a:p>
        </p:txBody>
      </p:sp>
      <p:sp>
        <p:nvSpPr>
          <p:cNvPr id="50" name="tile_96"/>
          <p:cNvSpPr/>
          <p:nvPr/>
        </p:nvSpPr>
        <p:spPr>
          <a:xfrm>
            <a:off x="4325112" y="3081528"/>
            <a:ext cx="1426464" cy="745236"/>
          </a:xfrm>
          <a:prstGeom prst="roundRect">
            <a:avLst>
              <a:gd name="adj" fmla="val 9816"/>
            </a:avLst>
          </a:prstGeom>
          <a:solidFill>
            <a:srgbClr val="FFFFFF"/>
          </a:solidFill>
          <a:ln w="19050">
            <a:solidFill>
              <a:srgbClr val="111111"/>
            </a:solidFill>
            <a:prstDash val="solid"/>
          </a:ln>
        </p:spPr>
      </p:sp>
      <p:pic>
        <p:nvPicPr>
          <p:cNvPr id="51" name="ti_97" descr="path">    </p:cNvPr>
          <p:cNvPicPr>
            <a:picLocks noChangeAspect="1"/>
          </p:cNvPicPr>
          <p:nvPr/>
        </p:nvPicPr>
        <p:blipFill>
          <a:blip r:embed="rId12"/>
          <a:stretch>
            <a:fillRect/>
          </a:stretch>
        </p:blipFill>
        <p:spPr>
          <a:xfrm>
            <a:off x="4889297" y="3136392"/>
            <a:ext cx="298094" cy="298094"/>
          </a:xfrm>
          <a:prstGeom prst="rect">
            <a:avLst/>
          </a:prstGeom>
        </p:spPr>
      </p:pic>
      <p:sp>
        <p:nvSpPr>
          <p:cNvPr id="52" name="tw_98"/>
          <p:cNvSpPr txBox="1"/>
          <p:nvPr/>
        </p:nvSpPr>
        <p:spPr>
          <a:xfrm>
            <a:off x="4361688"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path</a:t>
            </a:r>
            <a:endParaRPr lang="en-US" sz="1250" dirty="0"/>
          </a:p>
        </p:txBody>
      </p:sp>
      <p:sp>
        <p:nvSpPr>
          <p:cNvPr id="53" name="R1_it9"/>
          <p:cNvSpPr txBox="1"/>
          <p:nvPr/>
        </p:nvSpPr>
        <p:spPr>
          <a:xfrm>
            <a:off x="4361688"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vialetto</a:t>
            </a:r>
            <a:endParaRPr lang="en-US" sz="1050" dirty="0"/>
          </a:p>
        </p:txBody>
      </p:sp>
      <p:sp>
        <p:nvSpPr>
          <p:cNvPr id="54" name="tile_99"/>
          <p:cNvSpPr/>
          <p:nvPr/>
        </p:nvSpPr>
        <p:spPr>
          <a:xfrm>
            <a:off x="5861304" y="3081528"/>
            <a:ext cx="1426464" cy="745236"/>
          </a:xfrm>
          <a:prstGeom prst="roundRect">
            <a:avLst>
              <a:gd name="adj" fmla="val 9816"/>
            </a:avLst>
          </a:prstGeom>
          <a:solidFill>
            <a:srgbClr val="FFFFFF"/>
          </a:solidFill>
          <a:ln w="19050">
            <a:solidFill>
              <a:srgbClr val="111111"/>
            </a:solidFill>
            <a:prstDash val="solid"/>
          </a:ln>
        </p:spPr>
      </p:sp>
      <p:pic>
        <p:nvPicPr>
          <p:cNvPr id="55" name="ti_100" descr="wall">    </p:cNvPr>
          <p:cNvPicPr>
            <a:picLocks noChangeAspect="1"/>
          </p:cNvPicPr>
          <p:nvPr/>
        </p:nvPicPr>
        <p:blipFill>
          <a:blip r:embed="rId13"/>
          <a:stretch>
            <a:fillRect/>
          </a:stretch>
        </p:blipFill>
        <p:spPr>
          <a:xfrm>
            <a:off x="6425489" y="3136392"/>
            <a:ext cx="298094" cy="298094"/>
          </a:xfrm>
          <a:prstGeom prst="rect">
            <a:avLst/>
          </a:prstGeom>
        </p:spPr>
      </p:pic>
      <p:sp>
        <p:nvSpPr>
          <p:cNvPr id="56" name="tw_101"/>
          <p:cNvSpPr txBox="1"/>
          <p:nvPr/>
        </p:nvSpPr>
        <p:spPr>
          <a:xfrm>
            <a:off x="5897880"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wall</a:t>
            </a:r>
            <a:endParaRPr lang="en-US" sz="1250" dirty="0"/>
          </a:p>
        </p:txBody>
      </p:sp>
      <p:sp>
        <p:nvSpPr>
          <p:cNvPr id="57" name="R1_it10"/>
          <p:cNvSpPr txBox="1"/>
          <p:nvPr/>
        </p:nvSpPr>
        <p:spPr>
          <a:xfrm>
            <a:off x="5897880"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muro</a:t>
            </a:r>
            <a:endParaRPr lang="en-US" sz="1050" dirty="0"/>
          </a:p>
        </p:txBody>
      </p:sp>
      <p:sp>
        <p:nvSpPr>
          <p:cNvPr id="58" name="tile_102"/>
          <p:cNvSpPr/>
          <p:nvPr/>
        </p:nvSpPr>
        <p:spPr>
          <a:xfrm>
            <a:off x="7397496" y="3081528"/>
            <a:ext cx="1426464" cy="745236"/>
          </a:xfrm>
          <a:prstGeom prst="roundRect">
            <a:avLst>
              <a:gd name="adj" fmla="val 9816"/>
            </a:avLst>
          </a:prstGeom>
          <a:solidFill>
            <a:srgbClr val="FFFFFF"/>
          </a:solidFill>
          <a:ln w="19050">
            <a:solidFill>
              <a:srgbClr val="111111"/>
            </a:solidFill>
            <a:prstDash val="solid"/>
          </a:ln>
        </p:spPr>
      </p:sp>
      <p:pic>
        <p:nvPicPr>
          <p:cNvPr id="59" name="ti_103" descr="gate">    </p:cNvPr>
          <p:cNvPicPr>
            <a:picLocks noChangeAspect="1"/>
          </p:cNvPicPr>
          <p:nvPr/>
        </p:nvPicPr>
        <p:blipFill>
          <a:blip r:embed="rId14"/>
          <a:stretch>
            <a:fillRect/>
          </a:stretch>
        </p:blipFill>
        <p:spPr>
          <a:xfrm>
            <a:off x="7961681" y="3136392"/>
            <a:ext cx="298094" cy="298094"/>
          </a:xfrm>
          <a:prstGeom prst="rect">
            <a:avLst/>
          </a:prstGeom>
        </p:spPr>
      </p:pic>
      <p:sp>
        <p:nvSpPr>
          <p:cNvPr id="60" name="tw_104"/>
          <p:cNvSpPr txBox="1"/>
          <p:nvPr/>
        </p:nvSpPr>
        <p:spPr>
          <a:xfrm>
            <a:off x="7434072" y="3452774"/>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gate</a:t>
            </a:r>
            <a:endParaRPr lang="en-US" sz="1250" dirty="0"/>
          </a:p>
        </p:txBody>
      </p:sp>
      <p:sp>
        <p:nvSpPr>
          <p:cNvPr id="61" name="R1_it11"/>
          <p:cNvSpPr txBox="1"/>
          <p:nvPr/>
        </p:nvSpPr>
        <p:spPr>
          <a:xfrm>
            <a:off x="7434072" y="3681374"/>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cancello</a:t>
            </a:r>
            <a:endParaRPr lang="en-US" sz="1050" dirty="0"/>
          </a:p>
        </p:txBody>
      </p:sp>
      <p:sp>
        <p:nvSpPr>
          <p:cNvPr id="62" name="tile_105"/>
          <p:cNvSpPr/>
          <p:nvPr/>
        </p:nvSpPr>
        <p:spPr>
          <a:xfrm>
            <a:off x="2788920" y="3936492"/>
            <a:ext cx="1426464" cy="745236"/>
          </a:xfrm>
          <a:prstGeom prst="roundRect">
            <a:avLst>
              <a:gd name="adj" fmla="val 9816"/>
            </a:avLst>
          </a:prstGeom>
          <a:solidFill>
            <a:srgbClr val="FFFFFF"/>
          </a:solidFill>
          <a:ln w="19050">
            <a:solidFill>
              <a:srgbClr val="111111"/>
            </a:solidFill>
            <a:prstDash val="solid"/>
          </a:ln>
        </p:spPr>
      </p:sp>
      <p:pic>
        <p:nvPicPr>
          <p:cNvPr id="63" name="ti_106" descr="terrace / patio">    </p:cNvPr>
          <p:cNvPicPr>
            <a:picLocks noChangeAspect="1"/>
          </p:cNvPicPr>
          <p:nvPr/>
        </p:nvPicPr>
        <p:blipFill>
          <a:blip r:embed="rId15"/>
          <a:stretch>
            <a:fillRect/>
          </a:stretch>
        </p:blipFill>
        <p:spPr>
          <a:xfrm>
            <a:off x="3353105" y="3991356"/>
            <a:ext cx="298094" cy="298094"/>
          </a:xfrm>
          <a:prstGeom prst="rect">
            <a:avLst/>
          </a:prstGeom>
        </p:spPr>
      </p:pic>
      <p:sp>
        <p:nvSpPr>
          <p:cNvPr id="64" name="tw_107"/>
          <p:cNvSpPr txBox="1"/>
          <p:nvPr/>
        </p:nvSpPr>
        <p:spPr>
          <a:xfrm>
            <a:off x="2825496"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terrace / patio</a:t>
            </a:r>
            <a:endParaRPr lang="en-US" sz="1250" dirty="0"/>
          </a:p>
        </p:txBody>
      </p:sp>
      <p:sp>
        <p:nvSpPr>
          <p:cNvPr id="65" name="R1_it12"/>
          <p:cNvSpPr txBox="1"/>
          <p:nvPr/>
        </p:nvSpPr>
        <p:spPr>
          <a:xfrm>
            <a:off x="2825496"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terrazza / patio</a:t>
            </a:r>
            <a:endParaRPr lang="en-US" sz="1050" dirty="0"/>
          </a:p>
        </p:txBody>
      </p:sp>
      <p:sp>
        <p:nvSpPr>
          <p:cNvPr id="66" name="tile_108"/>
          <p:cNvSpPr/>
          <p:nvPr/>
        </p:nvSpPr>
        <p:spPr>
          <a:xfrm>
            <a:off x="4325112" y="3936492"/>
            <a:ext cx="1426464" cy="745236"/>
          </a:xfrm>
          <a:prstGeom prst="roundRect">
            <a:avLst>
              <a:gd name="adj" fmla="val 9816"/>
            </a:avLst>
          </a:prstGeom>
          <a:solidFill>
            <a:srgbClr val="FFFFFF"/>
          </a:solidFill>
          <a:ln w="19050">
            <a:solidFill>
              <a:srgbClr val="111111"/>
            </a:solidFill>
            <a:prstDash val="solid"/>
          </a:ln>
        </p:spPr>
      </p:sp>
      <p:pic>
        <p:nvPicPr>
          <p:cNvPr id="67" name="ti_109" descr="open fire">    </p:cNvPr>
          <p:cNvPicPr>
            <a:picLocks noChangeAspect="1"/>
          </p:cNvPicPr>
          <p:nvPr/>
        </p:nvPicPr>
        <p:blipFill>
          <a:blip r:embed="rId16"/>
          <a:stretch>
            <a:fillRect/>
          </a:stretch>
        </p:blipFill>
        <p:spPr>
          <a:xfrm>
            <a:off x="4889297" y="3991356"/>
            <a:ext cx="298094" cy="298094"/>
          </a:xfrm>
          <a:prstGeom prst="rect">
            <a:avLst/>
          </a:prstGeom>
        </p:spPr>
      </p:pic>
      <p:sp>
        <p:nvSpPr>
          <p:cNvPr id="68" name="tw_110"/>
          <p:cNvSpPr txBox="1"/>
          <p:nvPr/>
        </p:nvSpPr>
        <p:spPr>
          <a:xfrm>
            <a:off x="4361688"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open fire</a:t>
            </a:r>
            <a:endParaRPr lang="en-US" sz="1250" dirty="0"/>
          </a:p>
        </p:txBody>
      </p:sp>
      <p:sp>
        <p:nvSpPr>
          <p:cNvPr id="69" name="R1_it13"/>
          <p:cNvSpPr txBox="1"/>
          <p:nvPr/>
        </p:nvSpPr>
        <p:spPr>
          <a:xfrm>
            <a:off x="4361688"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camino acceso</a:t>
            </a:r>
            <a:endParaRPr lang="en-US" sz="1050" dirty="0"/>
          </a:p>
        </p:txBody>
      </p:sp>
      <p:sp>
        <p:nvSpPr>
          <p:cNvPr id="70" name="tile_111"/>
          <p:cNvSpPr/>
          <p:nvPr/>
        </p:nvSpPr>
        <p:spPr>
          <a:xfrm>
            <a:off x="5861304" y="3936492"/>
            <a:ext cx="1426464" cy="745236"/>
          </a:xfrm>
          <a:prstGeom prst="roundRect">
            <a:avLst>
              <a:gd name="adj" fmla="val 9816"/>
            </a:avLst>
          </a:prstGeom>
          <a:solidFill>
            <a:srgbClr val="FFFFFF"/>
          </a:solidFill>
          <a:ln w="19050">
            <a:solidFill>
              <a:srgbClr val="111111"/>
            </a:solidFill>
            <a:prstDash val="solid"/>
          </a:ln>
        </p:spPr>
      </p:sp>
      <p:pic>
        <p:nvPicPr>
          <p:cNvPr id="71" name="ti_112" descr="cosy">    </p:cNvPr>
          <p:cNvPicPr>
            <a:picLocks noChangeAspect="1"/>
          </p:cNvPicPr>
          <p:nvPr/>
        </p:nvPicPr>
        <p:blipFill>
          <a:blip r:embed="rId17"/>
          <a:stretch>
            <a:fillRect/>
          </a:stretch>
        </p:blipFill>
        <p:spPr>
          <a:xfrm>
            <a:off x="6425489" y="3991356"/>
            <a:ext cx="298094" cy="298094"/>
          </a:xfrm>
          <a:prstGeom prst="rect">
            <a:avLst/>
          </a:prstGeom>
        </p:spPr>
      </p:pic>
      <p:sp>
        <p:nvSpPr>
          <p:cNvPr id="72" name="tw_113"/>
          <p:cNvSpPr txBox="1"/>
          <p:nvPr/>
        </p:nvSpPr>
        <p:spPr>
          <a:xfrm>
            <a:off x="5897880"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cosy</a:t>
            </a:r>
            <a:endParaRPr lang="en-US" sz="1250" dirty="0"/>
          </a:p>
        </p:txBody>
      </p:sp>
      <p:sp>
        <p:nvSpPr>
          <p:cNvPr id="73" name="R1_it14"/>
          <p:cNvSpPr txBox="1"/>
          <p:nvPr/>
        </p:nvSpPr>
        <p:spPr>
          <a:xfrm>
            <a:off x="5897880"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accogliente</a:t>
            </a:r>
            <a:endParaRPr lang="en-US" sz="1050" dirty="0"/>
          </a:p>
        </p:txBody>
      </p:sp>
      <p:sp>
        <p:nvSpPr>
          <p:cNvPr id="74" name="tile_114"/>
          <p:cNvSpPr/>
          <p:nvPr/>
        </p:nvSpPr>
        <p:spPr>
          <a:xfrm>
            <a:off x="7397496" y="3936492"/>
            <a:ext cx="1426464" cy="745236"/>
          </a:xfrm>
          <a:prstGeom prst="roundRect">
            <a:avLst>
              <a:gd name="adj" fmla="val 9816"/>
            </a:avLst>
          </a:prstGeom>
          <a:solidFill>
            <a:srgbClr val="FFFFFF"/>
          </a:solidFill>
          <a:ln w="19050">
            <a:solidFill>
              <a:srgbClr val="111111"/>
            </a:solidFill>
            <a:prstDash val="solid"/>
          </a:ln>
        </p:spPr>
      </p:sp>
      <p:pic>
        <p:nvPicPr>
          <p:cNvPr id="75" name="ti_115" descr="spacious">    </p:cNvPr>
          <p:cNvPicPr>
            <a:picLocks noChangeAspect="1"/>
          </p:cNvPicPr>
          <p:nvPr/>
        </p:nvPicPr>
        <p:blipFill>
          <a:blip r:embed="rId18"/>
          <a:stretch>
            <a:fillRect/>
          </a:stretch>
        </p:blipFill>
        <p:spPr>
          <a:xfrm>
            <a:off x="7961681" y="3991356"/>
            <a:ext cx="298094" cy="298094"/>
          </a:xfrm>
          <a:prstGeom prst="rect">
            <a:avLst/>
          </a:prstGeom>
        </p:spPr>
      </p:pic>
      <p:sp>
        <p:nvSpPr>
          <p:cNvPr id="76" name="tw_116"/>
          <p:cNvSpPr txBox="1"/>
          <p:nvPr/>
        </p:nvSpPr>
        <p:spPr>
          <a:xfrm>
            <a:off x="7434072" y="4307738"/>
            <a:ext cx="1353312" cy="237744"/>
          </a:xfrm>
          <a:prstGeom prst="rect">
            <a:avLst/>
          </a:prstGeom>
          <a:noFill/>
          <a:ln/>
        </p:spPr>
        <p:txBody>
          <a:bodyPr wrap="square" lIns="0" tIns="0" rIns="0" bIns="0" rtlCol="0" anchor="ctr"/>
          <a:lstStyle/>
          <a:p>
            <a:pPr algn="ctr" indent="0" marL="0">
              <a:buNone/>
            </a:pPr>
            <a:r>
              <a:rPr lang="en-US" sz="1250" b="1" dirty="0">
                <a:solidFill>
                  <a:srgbClr val="111111"/>
                </a:solidFill>
                <a:latin typeface="Calibri" pitchFamily="34" charset="0"/>
                <a:ea typeface="Calibri" pitchFamily="34" charset="-122"/>
                <a:cs typeface="Calibri" pitchFamily="34" charset="-120"/>
              </a:rPr>
              <a:t>spacious</a:t>
            </a:r>
            <a:endParaRPr lang="en-US" sz="1250" dirty="0"/>
          </a:p>
        </p:txBody>
      </p:sp>
      <p:sp>
        <p:nvSpPr>
          <p:cNvPr id="77" name="R1_it15"/>
          <p:cNvSpPr txBox="1"/>
          <p:nvPr/>
        </p:nvSpPr>
        <p:spPr>
          <a:xfrm>
            <a:off x="7434072" y="4536338"/>
            <a:ext cx="1353312" cy="182880"/>
          </a:xfrm>
          <a:prstGeom prst="rect">
            <a:avLst/>
          </a:prstGeom>
          <a:noFill/>
          <a:ln/>
        </p:spPr>
        <p:txBody>
          <a:bodyPr wrap="square" lIns="0" tIns="0" rIns="0" bIns="0" rtlCol="0" anchor="t"/>
          <a:lstStyle/>
          <a:p>
            <a:pPr algn="ctr" indent="0" marL="0">
              <a:buNone/>
            </a:pPr>
            <a:r>
              <a:rPr lang="en-US" sz="1050" i="1" dirty="0">
                <a:solidFill>
                  <a:srgbClr val="6D3FC0"/>
                </a:solidFill>
                <a:latin typeface="Calibri" pitchFamily="34" charset="0"/>
                <a:ea typeface="Calibri" pitchFamily="34" charset="-122"/>
                <a:cs typeface="Calibri" pitchFamily="34" charset="-120"/>
              </a:rPr>
              <a:t>spazioso</a:t>
            </a:r>
            <a:endParaRPr lang="en-US" sz="1050" dirty="0"/>
          </a:p>
        </p:txBody>
      </p:sp>
      <p:sp>
        <p:nvSpPr>
          <p:cNvPr id="78" name="pageTag_11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 Teacher: Vocabulary Bank Houses p.162 · 2 Parts of a house · 3 Describing a house or flat · audio 7.18, 7.19</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fade">
                                      <p:cBhvr>
                                        <p:cTn id="43" dur="400"/>
                                        <p:tgtEl>
                                          <p:spTgt spid="65"/>
                                        </p:tgtEl>
                                      </p:cBhvr>
                                    </p:animEffect>
                                  </p:childTnLst>
                                </p:cTn>
                              </p:par>
                              <p:par>
                                <p:cTn id="44" presetID="10" presetClass="entr" presetSubtype="0" fill="hold" nodeType="withEffect">
                                  <p:stCondLst>
                                    <p:cond delay="0"/>
                                  </p:stCondLst>
                                  <p:childTnLst>
                                    <p:set>
                                      <p:cBhvr>
                                        <p:cTn id="45" dur="1" fill="hold">
                                          <p:stCondLst>
                                            <p:cond delay="0"/>
                                          </p:stCondLst>
                                        </p:cTn>
                                        <p:tgtEl>
                                          <p:spTgt spid="69"/>
                                        </p:tgtEl>
                                        <p:attrNameLst>
                                          <p:attrName>style.visibility</p:attrName>
                                        </p:attrNameLst>
                                      </p:cBhvr>
                                      <p:to>
                                        <p:strVal val="visible"/>
                                      </p:to>
                                    </p:set>
                                    <p:animEffect transition="in" filter="fade">
                                      <p:cBhvr>
                                        <p:cTn id="46" dur="400"/>
                                        <p:tgtEl>
                                          <p:spTgt spid="69"/>
                                        </p:tgtEl>
                                      </p:cBhvr>
                                    </p:animEffect>
                                  </p:childTnLst>
                                </p:cTn>
                              </p:par>
                              <p:par>
                                <p:cTn id="47" presetID="10" presetClass="entr" presetSubtype="0" fill="hold" nodeType="withEffect">
                                  <p:stCondLst>
                                    <p:cond delay="0"/>
                                  </p:stCondLst>
                                  <p:childTnLst>
                                    <p:set>
                                      <p:cBhvr>
                                        <p:cTn id="48" dur="1" fill="hold">
                                          <p:stCondLst>
                                            <p:cond delay="0"/>
                                          </p:stCondLst>
                                        </p:cTn>
                                        <p:tgtEl>
                                          <p:spTgt spid="73"/>
                                        </p:tgtEl>
                                        <p:attrNameLst>
                                          <p:attrName>style.visibility</p:attrName>
                                        </p:attrNameLst>
                                      </p:cBhvr>
                                      <p:to>
                                        <p:strVal val="visible"/>
                                      </p:to>
                                    </p:set>
                                    <p:animEffect transition="in" filter="fade">
                                      <p:cBhvr>
                                        <p:cTn id="49" dur="400"/>
                                        <p:tgtEl>
                                          <p:spTgt spid="73"/>
                                        </p:tgtEl>
                                      </p:cBhvr>
                                    </p:animEffect>
                                  </p:childTnLst>
                                </p:cTn>
                              </p:par>
                              <p:par>
                                <p:cTn id="50" presetID="10" presetClass="entr" presetSubtype="0" fill="hold" nodeType="with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18"/>
          <p:cNvSpPr/>
          <p:nvPr/>
        </p:nvSpPr>
        <p:spPr>
          <a:xfrm>
            <a:off x="54864" y="54864"/>
            <a:ext cx="9034272" cy="5033772"/>
          </a:xfrm>
          <a:prstGeom prst="rect">
            <a:avLst/>
          </a:prstGeom>
          <a:ln w="114300">
            <a:solidFill>
              <a:srgbClr val="A8E6B4"/>
            </a:solidFill>
            <a:prstDash val="solid"/>
          </a:ln>
        </p:spPr>
      </p:sp>
      <p:pic>
        <p:nvPicPr>
          <p:cNvPr id="4" name="logo_11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What's the difference?</a:t>
            </a:r>
            <a:endParaRPr lang="en-US" sz="900" dirty="0"/>
          </a:p>
        </p:txBody>
      </p:sp>
      <p:sp>
        <p:nvSpPr>
          <p:cNvPr id="6" name="timer_12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2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123"/>
          <p:cNvSpPr txBox="1"/>
          <p:nvPr/>
        </p:nvSpPr>
        <p:spPr>
          <a:xfrm rot="90000">
            <a:off x="320040" y="676656"/>
            <a:ext cx="432511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What's the difference?</a:t>
            </a:r>
            <a:endParaRPr lang="en-US" sz="1500" dirty="0"/>
          </a:p>
        </p:txBody>
      </p:sp>
      <p:sp>
        <p:nvSpPr>
          <p:cNvPr id="9" name="tape_12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25"/>
          <p:cNvSpPr/>
          <p:nvPr/>
        </p:nvSpPr>
        <p:spPr>
          <a:xfrm rot="-720000">
            <a:off x="4078224" y="1069848"/>
            <a:ext cx="685800" cy="219456"/>
          </a:xfrm>
          <a:prstGeom prst="rect">
            <a:avLst/>
          </a:prstGeom>
          <a:solidFill>
            <a:srgbClr val="FFD84D">
              <a:alpha val="75000"/>
            </a:srgbClr>
          </a:solidFill>
          <a:ln w="6350">
            <a:solidFill>
              <a:srgbClr val="FFD84D"/>
            </a:solidFill>
            <a:prstDash val="solid"/>
          </a:ln>
        </p:spPr>
      </p:sp>
      <p:sp>
        <p:nvSpPr>
          <p:cNvPr id="11" name="post_12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2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2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Explain the difference to your partner. Use English only!</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Spiega la differenza al compagno. Solo in inglese!</a:t>
            </a:r>
            <a:endParaRPr lang="en-US" sz="1200" dirty="0"/>
          </a:p>
        </p:txBody>
      </p:sp>
      <p:sp>
        <p:nvSpPr>
          <p:cNvPr id="14" name="iconBack_12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30" descr="pi:PiArrowsLeftRight">    </p:cNvPr>
          <p:cNvPicPr>
            <a:picLocks noChangeAspect="1"/>
          </p:cNvPicPr>
          <p:nvPr/>
        </p:nvPicPr>
        <p:blipFill>
          <a:blip r:embed="rId3"/>
          <a:stretch>
            <a:fillRect/>
          </a:stretch>
        </p:blipFill>
        <p:spPr>
          <a:xfrm>
            <a:off x="914400" y="3474720"/>
            <a:ext cx="685800" cy="685800"/>
          </a:xfrm>
          <a:prstGeom prst="rect">
            <a:avLst/>
          </a:prstGeom>
        </p:spPr>
      </p:pic>
      <p:sp>
        <p:nvSpPr>
          <p:cNvPr id="16" name="box_131"/>
          <p:cNvSpPr txBox="1"/>
          <p:nvPr/>
        </p:nvSpPr>
        <p:spPr>
          <a:xfrm>
            <a:off x="2788920" y="1371600"/>
            <a:ext cx="181051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outskirts / suburb</a:t>
            </a:r>
            <a:endParaRPr lang="en-US" sz="1250" dirty="0"/>
          </a:p>
        </p:txBody>
      </p:sp>
      <p:sp>
        <p:nvSpPr>
          <p:cNvPr id="17" name="R1_a0"/>
          <p:cNvSpPr txBox="1"/>
          <p:nvPr/>
        </p:nvSpPr>
        <p:spPr>
          <a:xfrm>
            <a:off x="4654296" y="1408176"/>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furthest area from the centre / residential area outside the centre</a:t>
            </a:r>
            <a:endParaRPr lang="en-US" sz="1100" dirty="0"/>
          </a:p>
        </p:txBody>
      </p:sp>
      <p:sp>
        <p:nvSpPr>
          <p:cNvPr id="18" name="box_132"/>
          <p:cNvSpPr txBox="1"/>
          <p:nvPr/>
        </p:nvSpPr>
        <p:spPr>
          <a:xfrm>
            <a:off x="2788920" y="1860151"/>
            <a:ext cx="1810512" cy="36053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village / town</a:t>
            </a:r>
            <a:endParaRPr lang="en-US" sz="1250" dirty="0"/>
          </a:p>
        </p:txBody>
      </p:sp>
      <p:sp>
        <p:nvSpPr>
          <p:cNvPr id="19" name="R2_a1"/>
          <p:cNvSpPr txBox="1"/>
          <p:nvPr/>
        </p:nvSpPr>
        <p:spPr>
          <a:xfrm>
            <a:off x="4654296" y="1896727"/>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very small, in the country / bigger than a village, smaller than a city</a:t>
            </a:r>
            <a:endParaRPr lang="en-US" sz="1050" dirty="0"/>
          </a:p>
        </p:txBody>
      </p:sp>
      <p:sp>
        <p:nvSpPr>
          <p:cNvPr id="20" name="box_133"/>
          <p:cNvSpPr txBox="1"/>
          <p:nvPr/>
        </p:nvSpPr>
        <p:spPr>
          <a:xfrm>
            <a:off x="2788920" y="2348702"/>
            <a:ext cx="1810512" cy="36053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roof / ceiling</a:t>
            </a:r>
            <a:endParaRPr lang="en-US" sz="1250" dirty="0"/>
          </a:p>
        </p:txBody>
      </p:sp>
      <p:sp>
        <p:nvSpPr>
          <p:cNvPr id="21" name="R3_a2"/>
          <p:cNvSpPr txBox="1"/>
          <p:nvPr/>
        </p:nvSpPr>
        <p:spPr>
          <a:xfrm>
            <a:off x="4654296" y="2385278"/>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covers the whole house / top inside surface of a room</a:t>
            </a:r>
            <a:endParaRPr lang="en-US" sz="1100" dirty="0"/>
          </a:p>
        </p:txBody>
      </p:sp>
      <p:sp>
        <p:nvSpPr>
          <p:cNvPr id="22" name="box_134"/>
          <p:cNvSpPr txBox="1"/>
          <p:nvPr/>
        </p:nvSpPr>
        <p:spPr>
          <a:xfrm>
            <a:off x="2788920" y="2837253"/>
            <a:ext cx="1810512" cy="36053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balcony / terrace</a:t>
            </a:r>
            <a:endParaRPr lang="en-US" sz="1250" dirty="0"/>
          </a:p>
        </p:txBody>
      </p:sp>
      <p:sp>
        <p:nvSpPr>
          <p:cNvPr id="23" name="R4_a3"/>
          <p:cNvSpPr txBox="1"/>
          <p:nvPr/>
        </p:nvSpPr>
        <p:spPr>
          <a:xfrm>
            <a:off x="4654296" y="2873829"/>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upstairs, outside a window / flat area outside, where you can sit</a:t>
            </a:r>
            <a:endParaRPr lang="en-US" sz="1100" dirty="0"/>
          </a:p>
        </p:txBody>
      </p:sp>
      <p:sp>
        <p:nvSpPr>
          <p:cNvPr id="24" name="box_135"/>
          <p:cNvSpPr txBox="1"/>
          <p:nvPr/>
        </p:nvSpPr>
        <p:spPr>
          <a:xfrm>
            <a:off x="2788920" y="3325803"/>
            <a:ext cx="1810512" cy="36053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chimney / fireplace</a:t>
            </a:r>
            <a:endParaRPr lang="en-US" sz="1250" dirty="0"/>
          </a:p>
        </p:txBody>
      </p:sp>
      <p:sp>
        <p:nvSpPr>
          <p:cNvPr id="25" name="R5_a4"/>
          <p:cNvSpPr txBox="1"/>
          <p:nvPr/>
        </p:nvSpPr>
        <p:spPr>
          <a:xfrm>
            <a:off x="4654296" y="3362379"/>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takes smoke up through the roof / open space for a fire in a wall</a:t>
            </a:r>
            <a:endParaRPr lang="en-US" sz="1100" dirty="0"/>
          </a:p>
        </p:txBody>
      </p:sp>
      <p:sp>
        <p:nvSpPr>
          <p:cNvPr id="26" name="box_136"/>
          <p:cNvSpPr txBox="1"/>
          <p:nvPr/>
        </p:nvSpPr>
        <p:spPr>
          <a:xfrm>
            <a:off x="2788920" y="3814354"/>
            <a:ext cx="1810512" cy="36053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6  ground floor / first floor</a:t>
            </a:r>
            <a:endParaRPr lang="en-US" sz="1100" dirty="0"/>
          </a:p>
        </p:txBody>
      </p:sp>
      <p:sp>
        <p:nvSpPr>
          <p:cNvPr id="27" name="R6_a5"/>
          <p:cNvSpPr txBox="1"/>
          <p:nvPr/>
        </p:nvSpPr>
        <p:spPr>
          <a:xfrm>
            <a:off x="4654296" y="3850930"/>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at street level / the level above (US first floor = ground floor!)</a:t>
            </a:r>
            <a:endParaRPr lang="en-US" sz="1100" dirty="0"/>
          </a:p>
        </p:txBody>
      </p:sp>
      <p:sp>
        <p:nvSpPr>
          <p:cNvPr id="28" name="box_137"/>
          <p:cNvSpPr txBox="1"/>
          <p:nvPr/>
        </p:nvSpPr>
        <p:spPr>
          <a:xfrm>
            <a:off x="2788920" y="4302905"/>
            <a:ext cx="1810512" cy="36053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7  wood / wooden</a:t>
            </a:r>
            <a:endParaRPr lang="en-US" sz="1250" dirty="0"/>
          </a:p>
        </p:txBody>
      </p:sp>
      <p:sp>
        <p:nvSpPr>
          <p:cNvPr id="29" name="R7_a6"/>
          <p:cNvSpPr txBox="1"/>
          <p:nvPr/>
        </p:nvSpPr>
        <p:spPr>
          <a:xfrm>
            <a:off x="4654296" y="4339481"/>
            <a:ext cx="4169664" cy="287383"/>
          </a:xfrm>
          <a:prstGeom prst="roundRect">
            <a:avLst>
              <a:gd name="adj" fmla="val 19091"/>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noun – the material / adjective – made of wood</a:t>
            </a:r>
            <a:endParaRPr lang="en-US" sz="1100" dirty="0"/>
          </a:p>
        </p:txBody>
      </p:sp>
      <p:sp>
        <p:nvSpPr>
          <p:cNvPr id="30" name="pageTag_138"/>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p.72 · 4c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39"/>
          <p:cNvSpPr/>
          <p:nvPr/>
        </p:nvSpPr>
        <p:spPr>
          <a:xfrm>
            <a:off x="54864" y="54864"/>
            <a:ext cx="9034272" cy="5033772"/>
          </a:xfrm>
          <a:prstGeom prst="rect">
            <a:avLst/>
          </a:prstGeom>
          <a:ln w="114300">
            <a:solidFill>
              <a:srgbClr val="A8E6B4"/>
            </a:solidFill>
            <a:prstDash val="solid"/>
          </a:ln>
        </p:spPr>
      </p:sp>
      <p:pic>
        <p:nvPicPr>
          <p:cNvPr id="4" name="logo_14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4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PRONUNCIATION · The letter c · audio 7.20</a:t>
            </a:r>
            <a:endParaRPr lang="en-US" sz="900" dirty="0"/>
          </a:p>
        </p:txBody>
      </p:sp>
      <p:sp>
        <p:nvSpPr>
          <p:cNvPr id="6" name="timer_14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4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144"/>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Three sounds of c</a:t>
            </a:r>
            <a:endParaRPr lang="en-US" sz="1500" dirty="0"/>
          </a:p>
        </p:txBody>
      </p:sp>
      <p:sp>
        <p:nvSpPr>
          <p:cNvPr id="9" name="tape_14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46"/>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post_14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4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4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Say the words. Then complete the rules with /s/, /ʃ/, /k/ or /ks/.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Di' le parole. Poi completa le regole con /s/, /ʃ/, /k/ o /ks/.</a:t>
            </a:r>
            <a:endParaRPr lang="en-US" sz="1200" dirty="0"/>
          </a:p>
        </p:txBody>
      </p:sp>
      <p:sp>
        <p:nvSpPr>
          <p:cNvPr id="14" name="iconBack_150"/>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51" descr="pi:PiSpeakerHigh">    </p:cNvPr>
          <p:cNvPicPr>
            <a:picLocks noChangeAspect="1"/>
          </p:cNvPicPr>
          <p:nvPr/>
        </p:nvPicPr>
        <p:blipFill>
          <a:blip r:embed="rId3"/>
          <a:stretch>
            <a:fillRect/>
          </a:stretch>
        </p:blipFill>
        <p:spPr>
          <a:xfrm>
            <a:off x="914400" y="3474720"/>
            <a:ext cx="685800" cy="685800"/>
          </a:xfrm>
          <a:prstGeom prst="rect">
            <a:avLst/>
          </a:prstGeom>
        </p:spPr>
      </p:pic>
      <p:sp>
        <p:nvSpPr>
          <p:cNvPr id="16" name="box_152"/>
          <p:cNvSpPr txBox="1"/>
          <p:nvPr/>
        </p:nvSpPr>
        <p:spPr>
          <a:xfrm>
            <a:off x="2788920" y="1371600"/>
            <a:ext cx="3862426"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carpet castle location cosy country balcony cooker cupboard cushion curtains</a:t>
            </a:r>
            <a:endParaRPr lang="en-US" sz="1100" dirty="0"/>
          </a:p>
        </p:txBody>
      </p:sp>
      <p:sp>
        <p:nvSpPr>
          <p:cNvPr id="17" name="R1_a0"/>
          <p:cNvSpPr txBox="1"/>
          <p:nvPr/>
        </p:nvSpPr>
        <p:spPr>
          <a:xfrm>
            <a:off x="6706210" y="1408176"/>
            <a:ext cx="211775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c before a, o, or u = /k/</a:t>
            </a:r>
            <a:endParaRPr lang="en-US" sz="1100" dirty="0"/>
          </a:p>
        </p:txBody>
      </p:sp>
      <p:sp>
        <p:nvSpPr>
          <p:cNvPr id="18" name="box_153"/>
          <p:cNvSpPr txBox="1"/>
          <p:nvPr/>
        </p:nvSpPr>
        <p:spPr>
          <a:xfrm>
            <a:off x="2788920" y="2055571"/>
            <a:ext cx="3862426"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2  city cinema decide centre entrance ceiling terrace cycle agency icy</a:t>
            </a:r>
            <a:endParaRPr lang="en-US" sz="1100" dirty="0"/>
          </a:p>
        </p:txBody>
      </p:sp>
      <p:sp>
        <p:nvSpPr>
          <p:cNvPr id="19" name="R2_a1"/>
          <p:cNvSpPr txBox="1"/>
          <p:nvPr/>
        </p:nvSpPr>
        <p:spPr>
          <a:xfrm>
            <a:off x="6706210" y="2092147"/>
            <a:ext cx="211775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2 c before i, e, or y = /s/</a:t>
            </a:r>
            <a:endParaRPr lang="en-US" sz="1100" dirty="0"/>
          </a:p>
        </p:txBody>
      </p:sp>
      <p:sp>
        <p:nvSpPr>
          <p:cNvPr id="20" name="box_154"/>
          <p:cNvSpPr txBox="1"/>
          <p:nvPr/>
        </p:nvSpPr>
        <p:spPr>
          <a:xfrm>
            <a:off x="2788920" y="2739542"/>
            <a:ext cx="3862426"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3  spacious · special · musician</a:t>
            </a:r>
            <a:endParaRPr lang="en-US" sz="1100" dirty="0"/>
          </a:p>
        </p:txBody>
      </p:sp>
      <p:sp>
        <p:nvSpPr>
          <p:cNvPr id="21" name="R3_a2"/>
          <p:cNvSpPr txBox="1"/>
          <p:nvPr/>
        </p:nvSpPr>
        <p:spPr>
          <a:xfrm>
            <a:off x="6706210" y="2776118"/>
            <a:ext cx="211775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3 ci before a vowel = /ʃ/</a:t>
            </a:r>
            <a:endParaRPr lang="en-US" sz="1100" dirty="0"/>
          </a:p>
        </p:txBody>
      </p:sp>
      <p:sp>
        <p:nvSpPr>
          <p:cNvPr id="22" name="box_155"/>
          <p:cNvSpPr txBox="1"/>
          <p:nvPr/>
        </p:nvSpPr>
        <p:spPr>
          <a:xfrm>
            <a:off x="2788920" y="3423514"/>
            <a:ext cx="3862426"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occasion · accommodation · accuse</a:t>
            </a:r>
            <a:endParaRPr lang="en-US" sz="1100" dirty="0"/>
          </a:p>
        </p:txBody>
      </p:sp>
      <p:sp>
        <p:nvSpPr>
          <p:cNvPr id="23" name="R4_a3"/>
          <p:cNvSpPr txBox="1"/>
          <p:nvPr/>
        </p:nvSpPr>
        <p:spPr>
          <a:xfrm>
            <a:off x="6706210" y="3460090"/>
            <a:ext cx="211775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4 cc before a, o, or u = /k/</a:t>
            </a:r>
            <a:endParaRPr lang="en-US" sz="1100" dirty="0"/>
          </a:p>
        </p:txBody>
      </p:sp>
      <p:sp>
        <p:nvSpPr>
          <p:cNvPr id="24" name="box_156"/>
          <p:cNvSpPr txBox="1"/>
          <p:nvPr/>
        </p:nvSpPr>
        <p:spPr>
          <a:xfrm>
            <a:off x="2788920" y="4107485"/>
            <a:ext cx="3862426"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5  accent · success · accident</a:t>
            </a:r>
            <a:endParaRPr lang="en-US" sz="1100" dirty="0"/>
          </a:p>
        </p:txBody>
      </p:sp>
      <p:sp>
        <p:nvSpPr>
          <p:cNvPr id="25" name="R5_a4"/>
          <p:cNvSpPr txBox="1"/>
          <p:nvPr/>
        </p:nvSpPr>
        <p:spPr>
          <a:xfrm>
            <a:off x="6706210" y="4144061"/>
            <a:ext cx="211775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5 cc before e or i = /ks/</a:t>
            </a:r>
            <a:endParaRPr lang="en-US" sz="1100" dirty="0"/>
          </a:p>
        </p:txBody>
      </p:sp>
      <p:sp>
        <p:nvSpPr>
          <p:cNvPr id="26" name="pageTag_15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p.72 · 5a, 5b, 5c · audio 7.20</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58"/>
          <p:cNvSpPr/>
          <p:nvPr/>
        </p:nvSpPr>
        <p:spPr>
          <a:xfrm>
            <a:off x="54864" y="54864"/>
            <a:ext cx="9034272" cy="5033772"/>
          </a:xfrm>
          <a:prstGeom prst="rect">
            <a:avLst/>
          </a:prstGeom>
          <a:ln w="114300">
            <a:solidFill>
              <a:srgbClr val="A8E6B4"/>
            </a:solidFill>
            <a:prstDash val="solid"/>
          </a:ln>
        </p:spPr>
      </p:sp>
      <p:pic>
        <p:nvPicPr>
          <p:cNvPr id="4" name="logo_15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6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Prediction</a:t>
            </a:r>
            <a:endParaRPr lang="en-US" sz="900" dirty="0"/>
          </a:p>
        </p:txBody>
      </p:sp>
      <p:sp>
        <p:nvSpPr>
          <p:cNvPr id="6" name="timer_16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6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163"/>
          <p:cNvSpPr txBox="1"/>
          <p:nvPr/>
        </p:nvSpPr>
        <p:spPr>
          <a:xfrm rot="90000">
            <a:off x="320040" y="676656"/>
            <a:ext cx="363016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Handel and Hendrix</a:t>
            </a:r>
            <a:endParaRPr lang="en-US" sz="1500" dirty="0"/>
          </a:p>
        </p:txBody>
      </p:sp>
      <p:sp>
        <p:nvSpPr>
          <p:cNvPr id="9" name="tape_16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65"/>
          <p:cNvSpPr/>
          <p:nvPr/>
        </p:nvSpPr>
        <p:spPr>
          <a:xfrm rot="-720000">
            <a:off x="3383280" y="1069848"/>
            <a:ext cx="685800" cy="219456"/>
          </a:xfrm>
          <a:prstGeom prst="rect">
            <a:avLst/>
          </a:prstGeom>
          <a:solidFill>
            <a:srgbClr val="FFD84D">
              <a:alpha val="75000"/>
            </a:srgbClr>
          </a:solidFill>
          <a:ln w="6350">
            <a:solidFill>
              <a:srgbClr val="FFD84D"/>
            </a:solidFill>
            <a:prstDash val="solid"/>
          </a:ln>
        </p:spPr>
      </p:sp>
      <p:sp>
        <p:nvSpPr>
          <p:cNvPr id="11" name="post_16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6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6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first! Then read the poster on p.73.</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Indovina prima! Poi leggi il poster a p.73.</a:t>
            </a:r>
            <a:endParaRPr lang="en-US" sz="1250" dirty="0"/>
          </a:p>
        </p:txBody>
      </p:sp>
      <p:sp>
        <p:nvSpPr>
          <p:cNvPr id="14" name="box_169"/>
          <p:cNvSpPr txBox="1"/>
          <p:nvPr/>
        </p:nvSpPr>
        <p:spPr>
          <a:xfrm>
            <a:off x="2788920" y="1371600"/>
            <a:ext cx="3017520" cy="72694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Who were they? What did they do?</a:t>
            </a:r>
            <a:endParaRPr lang="en-US" sz="1300" dirty="0"/>
          </a:p>
        </p:txBody>
      </p:sp>
      <p:sp>
        <p:nvSpPr>
          <p:cNvPr id="15" name="R1_a0"/>
          <p:cNvSpPr txBox="1"/>
          <p:nvPr/>
        </p:nvSpPr>
        <p:spPr>
          <a:xfrm>
            <a:off x="5861304" y="1408176"/>
            <a:ext cx="296265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both musicians</a:t>
            </a:r>
            <a:endParaRPr lang="en-US" sz="1200" dirty="0"/>
          </a:p>
        </p:txBody>
      </p:sp>
      <p:sp>
        <p:nvSpPr>
          <p:cNvPr id="16" name="box_170"/>
          <p:cNvSpPr txBox="1"/>
          <p:nvPr/>
        </p:nvSpPr>
        <p:spPr>
          <a:xfrm>
            <a:off x="2788920" y="2226564"/>
            <a:ext cx="3017520" cy="72694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Where did they come from? Where did they go?</a:t>
            </a:r>
            <a:endParaRPr lang="en-US" sz="1300" dirty="0"/>
          </a:p>
        </p:txBody>
      </p:sp>
      <p:sp>
        <p:nvSpPr>
          <p:cNvPr id="17" name="R2_a1"/>
          <p:cNvSpPr txBox="1"/>
          <p:nvPr/>
        </p:nvSpPr>
        <p:spPr>
          <a:xfrm>
            <a:off x="5861304" y="2263140"/>
            <a:ext cx="296265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they both left their countries to live in London</a:t>
            </a:r>
            <a:endParaRPr lang="en-US" sz="1200" dirty="0"/>
          </a:p>
        </p:txBody>
      </p:sp>
      <p:sp>
        <p:nvSpPr>
          <p:cNvPr id="18" name="box_171"/>
          <p:cNvSpPr txBox="1"/>
          <p:nvPr/>
        </p:nvSpPr>
        <p:spPr>
          <a:xfrm>
            <a:off x="2788920" y="3081528"/>
            <a:ext cx="3017520" cy="72694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What else do they have in common?</a:t>
            </a:r>
            <a:endParaRPr lang="en-US" sz="1300" dirty="0"/>
          </a:p>
        </p:txBody>
      </p:sp>
      <p:sp>
        <p:nvSpPr>
          <p:cNvPr id="19" name="R3_a2"/>
          <p:cNvSpPr txBox="1"/>
          <p:nvPr/>
        </p:nvSpPr>
        <p:spPr>
          <a:xfrm>
            <a:off x="5861304" y="3118104"/>
            <a:ext cx="2962656" cy="653796"/>
          </a:xfrm>
          <a:prstGeom prst="roundRect">
            <a:avLst>
              <a:gd name="adj" fmla="val 8392"/>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they lived in the same building (Brook Street)</a:t>
            </a:r>
            <a:endParaRPr lang="en-US" sz="1200" dirty="0"/>
          </a:p>
        </p:txBody>
      </p:sp>
      <p:sp>
        <p:nvSpPr>
          <p:cNvPr id="20" name="box_172"/>
          <p:cNvSpPr txBox="1"/>
          <p:nvPr/>
        </p:nvSpPr>
        <p:spPr>
          <a:xfrm>
            <a:off x="2788920" y="3936492"/>
            <a:ext cx="6035040" cy="72694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Which bedroom do you like best? Why?</a:t>
            </a:r>
            <a:endParaRPr lang="en-US" sz="1300" dirty="0"/>
          </a:p>
        </p:txBody>
      </p:sp>
      <p:sp>
        <p:nvSpPr>
          <p:cNvPr id="21" name="pageTag_17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p.73 · 6a, 6b</a:t>
            </a:r>
            <a:endParaRPr lang="en-US" sz="1050" dirty="0"/>
          </a:p>
        </p:txBody>
      </p:sp>
      <p:sp>
        <p:nvSpPr>
          <p:cNvPr id="22" name="pframe_174"/>
          <p:cNvSpPr/>
          <p:nvPr/>
        </p:nvSpPr>
        <p:spPr>
          <a:xfrm rot="-120000">
            <a:off x="411480" y="3200400"/>
            <a:ext cx="2103120" cy="153619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3" name="pimg_175" descr="Handel · Hendrix">    </p:cNvPr>
          <p:cNvPicPr>
            <a:picLocks noChangeAspect="1"/>
          </p:cNvPicPr>
          <p:nvPr/>
        </p:nvPicPr>
        <p:blipFill>
          <a:blip r:embed="rId3"/>
          <a:srcRect l="0" r="0" t="0" b="0"/>
          <a:stretch/>
        </p:blipFill>
        <p:spPr>
          <a:xfrm rot="-120000">
            <a:off x="484632" y="3273552"/>
            <a:ext cx="1956816" cy="1115568"/>
          </a:xfrm>
          <a:prstGeom prst="rect">
            <a:avLst/>
          </a:prstGeom>
        </p:spPr>
      </p:pic>
      <p:sp>
        <p:nvSpPr>
          <p:cNvPr id="24" name="pcap_176"/>
          <p:cNvSpPr txBox="1"/>
          <p:nvPr/>
        </p:nvSpPr>
        <p:spPr>
          <a:xfrm rot="-120000">
            <a:off x="411480" y="4398264"/>
            <a:ext cx="210312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Handel · Hendrix</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7"/>
          <p:cNvSpPr/>
          <p:nvPr/>
        </p:nvSpPr>
        <p:spPr>
          <a:xfrm>
            <a:off x="54864" y="54864"/>
            <a:ext cx="9034272" cy="5033772"/>
          </a:xfrm>
          <a:prstGeom prst="rect">
            <a:avLst/>
          </a:prstGeom>
          <a:ln w="114300">
            <a:solidFill>
              <a:srgbClr val="A8E6B4"/>
            </a:solidFill>
            <a:prstDash val="solid"/>
          </a:ln>
        </p:spPr>
      </p:sp>
      <p:pic>
        <p:nvPicPr>
          <p:cNvPr id="4" name="logo_17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audio 7.21 · Handel's house</a:t>
            </a:r>
            <a:endParaRPr lang="en-US" sz="900" dirty="0"/>
          </a:p>
        </p:txBody>
      </p:sp>
      <p:sp>
        <p:nvSpPr>
          <p:cNvPr id="6" name="timer_18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8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182"/>
          <p:cNvSpPr txBox="1"/>
          <p:nvPr/>
        </p:nvSpPr>
        <p:spPr>
          <a:xfrm rot="90000">
            <a:off x="320040" y="676656"/>
            <a:ext cx="293522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Handel's house</a:t>
            </a:r>
            <a:endParaRPr lang="en-US" sz="1500" dirty="0"/>
          </a:p>
        </p:txBody>
      </p:sp>
      <p:sp>
        <p:nvSpPr>
          <p:cNvPr id="9" name="tape_18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84"/>
          <p:cNvSpPr/>
          <p:nvPr/>
        </p:nvSpPr>
        <p:spPr>
          <a:xfrm rot="-720000">
            <a:off x="2688336" y="1069848"/>
            <a:ext cx="685800" cy="219456"/>
          </a:xfrm>
          <a:prstGeom prst="rect">
            <a:avLst/>
          </a:prstGeom>
          <a:solidFill>
            <a:srgbClr val="FFD84D">
              <a:alpha val="75000"/>
            </a:srgbClr>
          </a:solidFill>
          <a:ln w="6350">
            <a:solidFill>
              <a:srgbClr val="FFD84D"/>
            </a:solidFill>
            <a:prstDash val="solid"/>
          </a:ln>
        </p:spPr>
      </p:sp>
      <p:sp>
        <p:nvSpPr>
          <p:cNvPr id="11" name="post_185"/>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86"/>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187"/>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Who's it about: Handel or Hendrix? Then answer 1–5.</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Di chi si parla: Handel o Hendrix? Poi rispondi 1–5.</a:t>
            </a:r>
            <a:endParaRPr lang="en-US" sz="1250" dirty="0"/>
          </a:p>
        </p:txBody>
      </p:sp>
      <p:sp>
        <p:nvSpPr>
          <p:cNvPr id="14" name="tr_188"/>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7.21</a:t>
            </a:r>
            <a:endParaRPr lang="en-US" sz="1400" dirty="0"/>
          </a:p>
        </p:txBody>
      </p:sp>
      <p:sp>
        <p:nvSpPr>
          <p:cNvPr id="15" name="box_189"/>
          <p:cNvSpPr txBox="1"/>
          <p:nvPr/>
        </p:nvSpPr>
        <p:spPr>
          <a:xfrm>
            <a:off x="2788920" y="2103120"/>
            <a:ext cx="3621024"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Extracts 1–8 (6c–d): Handel or Hendrix?</a:t>
            </a:r>
            <a:endParaRPr lang="en-US" sz="1200" dirty="0"/>
          </a:p>
        </p:txBody>
      </p:sp>
      <p:sp>
        <p:nvSpPr>
          <p:cNvPr id="16" name="R1_la0"/>
          <p:cNvSpPr txBox="1"/>
          <p:nvPr/>
        </p:nvSpPr>
        <p:spPr>
          <a:xfrm>
            <a:off x="6464808" y="2130552"/>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Han Hen Han Han · Hen Hen Hen Han</a:t>
            </a:r>
            <a:endParaRPr lang="en-US" sz="1000" dirty="0"/>
          </a:p>
        </p:txBody>
      </p:sp>
      <p:sp>
        <p:nvSpPr>
          <p:cNvPr id="17" name="box_190"/>
          <p:cNvSpPr txBox="1"/>
          <p:nvPr/>
        </p:nvSpPr>
        <p:spPr>
          <a:xfrm>
            <a:off x="2788920" y="2542032"/>
            <a:ext cx="3621024"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Who lived in 25 Brook Street before Handel?</a:t>
            </a:r>
            <a:endParaRPr lang="en-US" sz="1200" dirty="0"/>
          </a:p>
        </p:txBody>
      </p:sp>
      <p:sp>
        <p:nvSpPr>
          <p:cNvPr id="18" name="R1_la1"/>
          <p:cNvSpPr txBox="1"/>
          <p:nvPr/>
        </p:nvSpPr>
        <p:spPr>
          <a:xfrm>
            <a:off x="6464808" y="2569464"/>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nobody</a:t>
            </a:r>
            <a:endParaRPr lang="en-US" sz="1150" dirty="0"/>
          </a:p>
        </p:txBody>
      </p:sp>
      <p:sp>
        <p:nvSpPr>
          <p:cNvPr id="19" name="box_191"/>
          <p:cNvSpPr txBox="1"/>
          <p:nvPr/>
        </p:nvSpPr>
        <p:spPr>
          <a:xfrm>
            <a:off x="2788920" y="2980944"/>
            <a:ext cx="3621024"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Why was he not allowed to buy the house?</a:t>
            </a:r>
            <a:endParaRPr lang="en-US" sz="1200" dirty="0"/>
          </a:p>
        </p:txBody>
      </p:sp>
      <p:sp>
        <p:nvSpPr>
          <p:cNvPr id="20" name="R1_la2"/>
          <p:cNvSpPr txBox="1"/>
          <p:nvPr/>
        </p:nvSpPr>
        <p:spPr>
          <a:xfrm>
            <a:off x="6464808" y="3008376"/>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he was a foreigner</a:t>
            </a:r>
            <a:endParaRPr lang="en-US" sz="1150" dirty="0"/>
          </a:p>
        </p:txBody>
      </p:sp>
      <p:sp>
        <p:nvSpPr>
          <p:cNvPr id="21" name="box_192"/>
          <p:cNvSpPr txBox="1"/>
          <p:nvPr/>
        </p:nvSpPr>
        <p:spPr>
          <a:xfrm>
            <a:off x="2788920" y="3419856"/>
            <a:ext cx="3621024"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4  What did Handel use the rooms on the first floor for?</a:t>
            </a:r>
            <a:endParaRPr lang="en-US" sz="1050" dirty="0"/>
          </a:p>
        </p:txBody>
      </p:sp>
      <p:sp>
        <p:nvSpPr>
          <p:cNvPr id="22" name="R1_la3"/>
          <p:cNvSpPr txBox="1"/>
          <p:nvPr/>
        </p:nvSpPr>
        <p:spPr>
          <a:xfrm>
            <a:off x="6464808" y="3447288"/>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entertaining and working</a:t>
            </a:r>
            <a:endParaRPr lang="en-US" sz="1150" dirty="0"/>
          </a:p>
        </p:txBody>
      </p:sp>
      <p:sp>
        <p:nvSpPr>
          <p:cNvPr id="23" name="box_193"/>
          <p:cNvSpPr txBox="1"/>
          <p:nvPr/>
        </p:nvSpPr>
        <p:spPr>
          <a:xfrm>
            <a:off x="2788920" y="3858768"/>
            <a:ext cx="3621024"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5  What rooms were there on the second floor?</a:t>
            </a:r>
            <a:endParaRPr lang="en-US" sz="1200" dirty="0"/>
          </a:p>
        </p:txBody>
      </p:sp>
      <p:sp>
        <p:nvSpPr>
          <p:cNvPr id="24" name="R1_la4"/>
          <p:cNvSpPr txBox="1"/>
          <p:nvPr/>
        </p:nvSpPr>
        <p:spPr>
          <a:xfrm>
            <a:off x="6464808" y="3886200"/>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bedroom and a dressing room</a:t>
            </a:r>
            <a:endParaRPr lang="en-US" sz="1150" dirty="0"/>
          </a:p>
        </p:txBody>
      </p:sp>
      <p:sp>
        <p:nvSpPr>
          <p:cNvPr id="25" name="box_194"/>
          <p:cNvSpPr txBox="1"/>
          <p:nvPr/>
        </p:nvSpPr>
        <p:spPr>
          <a:xfrm>
            <a:off x="2788920" y="4297680"/>
            <a:ext cx="3621024"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Who lived in the attic?</a:t>
            </a:r>
            <a:endParaRPr lang="en-US" sz="1200" dirty="0"/>
          </a:p>
        </p:txBody>
      </p:sp>
      <p:sp>
        <p:nvSpPr>
          <p:cNvPr id="26" name="R1_la5"/>
          <p:cNvSpPr txBox="1"/>
          <p:nvPr/>
        </p:nvSpPr>
        <p:spPr>
          <a:xfrm>
            <a:off x="6464808" y="4325112"/>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the servants</a:t>
            </a:r>
            <a:endParaRPr lang="en-US" sz="1150" dirty="0"/>
          </a:p>
        </p:txBody>
      </p:sp>
      <p:sp>
        <p:nvSpPr>
          <p:cNvPr id="27" name="pageTag_19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p.73 · 6c, 6d, 6e · audio 7.21 (script p.129)</a:t>
            </a:r>
            <a:endParaRPr lang="en-US" sz="1050" dirty="0"/>
          </a:p>
        </p:txBody>
      </p:sp>
      <p:sp>
        <p:nvSpPr>
          <p:cNvPr id="28" name="pframe_196"/>
          <p:cNvSpPr/>
          <p:nvPr/>
        </p:nvSpPr>
        <p:spPr>
          <a:xfrm rot="-120000">
            <a:off x="457200" y="3108960"/>
            <a:ext cx="1691640" cy="171907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9" name="pimg_197" descr="23–25 Brook Street">    </p:cNvPr>
          <p:cNvPicPr>
            <a:picLocks noChangeAspect="1"/>
          </p:cNvPicPr>
          <p:nvPr/>
        </p:nvPicPr>
        <p:blipFill>
          <a:blip r:embed="rId3"/>
          <a:srcRect l="0" r="0" t="0" b="0"/>
          <a:stretch/>
        </p:blipFill>
        <p:spPr>
          <a:xfrm rot="-120000">
            <a:off x="530352" y="3182112"/>
            <a:ext cx="1545336" cy="1298448"/>
          </a:xfrm>
          <a:prstGeom prst="rect">
            <a:avLst/>
          </a:prstGeom>
        </p:spPr>
      </p:pic>
      <p:sp>
        <p:nvSpPr>
          <p:cNvPr id="30" name="pcap_198"/>
          <p:cNvSpPr txBox="1"/>
          <p:nvPr/>
        </p:nvSpPr>
        <p:spPr>
          <a:xfrm rot="-120000">
            <a:off x="457200" y="4489704"/>
            <a:ext cx="16916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23–25 Brook Street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9"/>
          <p:cNvSpPr/>
          <p:nvPr/>
        </p:nvSpPr>
        <p:spPr>
          <a:xfrm>
            <a:off x="54864" y="54864"/>
            <a:ext cx="9034272" cy="5033772"/>
          </a:xfrm>
          <a:prstGeom prst="rect">
            <a:avLst/>
          </a:prstGeom>
          <a:ln w="114300">
            <a:solidFill>
              <a:srgbClr val="A8E6B4"/>
            </a:solidFill>
            <a:prstDash val="solid"/>
          </a:ln>
        </p:spPr>
      </p:sp>
      <p:pic>
        <p:nvPicPr>
          <p:cNvPr id="4" name="logo_20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0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LISTENING · audio 7.21 · Hendrix's flat</a:t>
            </a:r>
            <a:endParaRPr lang="en-US" sz="900" dirty="0"/>
          </a:p>
        </p:txBody>
      </p:sp>
      <p:sp>
        <p:nvSpPr>
          <p:cNvPr id="6" name="timer_20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20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204"/>
          <p:cNvSpPr txBox="1"/>
          <p:nvPr/>
        </p:nvSpPr>
        <p:spPr>
          <a:xfrm rot="90000">
            <a:off x="320040" y="676656"/>
            <a:ext cx="293522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Hendrix's flat</a:t>
            </a:r>
            <a:endParaRPr lang="en-US" sz="1500" dirty="0"/>
          </a:p>
        </p:txBody>
      </p:sp>
      <p:sp>
        <p:nvSpPr>
          <p:cNvPr id="9" name="tape_20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06"/>
          <p:cNvSpPr/>
          <p:nvPr/>
        </p:nvSpPr>
        <p:spPr>
          <a:xfrm rot="-720000">
            <a:off x="2688336" y="1069848"/>
            <a:ext cx="685800" cy="219456"/>
          </a:xfrm>
          <a:prstGeom prst="rect">
            <a:avLst/>
          </a:prstGeom>
          <a:solidFill>
            <a:srgbClr val="FFD84D">
              <a:alpha val="75000"/>
            </a:srgbClr>
          </a:solidFill>
          <a:ln w="6350">
            <a:solidFill>
              <a:srgbClr val="FFD84D"/>
            </a:solidFill>
            <a:prstDash val="solid"/>
          </a:ln>
        </p:spPr>
      </p:sp>
      <p:sp>
        <p:nvSpPr>
          <p:cNvPr id="11" name="post_20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0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LISTEN!</a:t>
            </a:r>
            <a:pPr indent="0" marL="0">
              <a:buNone/>
            </a:pPr>
            <a:r>
              <a:rPr lang="en-US" sz="1000" dirty="0">
                <a:solidFill>
                  <a:srgbClr val="FFF3B0"/>
                </a:solidFill>
                <a:latin typeface="Arial Black" pitchFamily="34" charset="0"/>
                <a:ea typeface="Arial Black" pitchFamily="34" charset="-122"/>
                <a:cs typeface="Arial Black" pitchFamily="34" charset="-120"/>
              </a:rPr>
              <a:t>  ASCOLTA!</a:t>
            </a:r>
            <a:endParaRPr lang="en-US" sz="1500" dirty="0"/>
          </a:p>
        </p:txBody>
      </p:sp>
      <p:sp>
        <p:nvSpPr>
          <p:cNvPr id="13" name="signB_20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Listen to the second part. Answer 6–10.</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Ascolta la seconda parte. Rispondi 6–10.</a:t>
            </a:r>
            <a:endParaRPr lang="en-US" sz="1250" dirty="0"/>
          </a:p>
        </p:txBody>
      </p:sp>
      <p:sp>
        <p:nvSpPr>
          <p:cNvPr id="14" name="tr_210"/>
          <p:cNvSpPr txBox="1"/>
          <p:nvPr/>
        </p:nvSpPr>
        <p:spPr>
          <a:xfrm>
            <a:off x="2788920" y="1371600"/>
            <a:ext cx="1417320" cy="548640"/>
          </a:xfrm>
          <a:prstGeom prst="roundRect">
            <a:avLst>
              <a:gd name="adj" fmla="val 16667"/>
            </a:avLst>
          </a:prstGeom>
          <a:solidFill>
            <a:srgbClr val="48BDF2"/>
          </a:solidFill>
          <a:ln w="19050">
            <a:solidFill>
              <a:srgbClr val="111111"/>
            </a:solidFill>
          </a:ln>
        </p:spPr>
        <p:txBody>
          <a:bodyPr wrap="square" rtlCol="0" anchor="ctr"/>
          <a:lstStyle/>
          <a:p>
            <a:pPr algn="ctr" indent="0" marL="0">
              <a:buNone/>
            </a:pPr>
            <a:r>
              <a:rPr lang="en-US" sz="1400" dirty="0">
                <a:solidFill>
                  <a:srgbClr val="FFFFFF"/>
                </a:solidFill>
                <a:latin typeface="Arial Black" pitchFamily="34" charset="0"/>
                <a:ea typeface="Arial Black" pitchFamily="34" charset="-122"/>
                <a:cs typeface="Arial Black" pitchFamily="34" charset="-120"/>
              </a:rPr>
              <a:t>🎧 7.21</a:t>
            </a:r>
            <a:endParaRPr lang="en-US" sz="1400" dirty="0"/>
          </a:p>
        </p:txBody>
      </p:sp>
      <p:sp>
        <p:nvSpPr>
          <p:cNvPr id="15" name="box_211"/>
          <p:cNvSpPr txBox="1"/>
          <p:nvPr/>
        </p:nvSpPr>
        <p:spPr>
          <a:xfrm>
            <a:off x="2788920" y="2103120"/>
            <a:ext cx="3621024" cy="3657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How long did Hendrix's career last?</a:t>
            </a:r>
            <a:endParaRPr lang="en-US" sz="1200" dirty="0"/>
          </a:p>
        </p:txBody>
      </p:sp>
      <p:sp>
        <p:nvSpPr>
          <p:cNvPr id="16" name="R1_la0"/>
          <p:cNvSpPr txBox="1"/>
          <p:nvPr/>
        </p:nvSpPr>
        <p:spPr>
          <a:xfrm>
            <a:off x="6464808" y="2130552"/>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four years</a:t>
            </a:r>
            <a:endParaRPr lang="en-US" sz="1150" dirty="0"/>
          </a:p>
        </p:txBody>
      </p:sp>
      <p:sp>
        <p:nvSpPr>
          <p:cNvPr id="17" name="box_212"/>
          <p:cNvSpPr txBox="1"/>
          <p:nvPr/>
        </p:nvSpPr>
        <p:spPr>
          <a:xfrm>
            <a:off x="2788920" y="2542032"/>
            <a:ext cx="3621024" cy="3657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Who was Kathy Etchingham?</a:t>
            </a:r>
            <a:endParaRPr lang="en-US" sz="1200" dirty="0"/>
          </a:p>
        </p:txBody>
      </p:sp>
      <p:sp>
        <p:nvSpPr>
          <p:cNvPr id="18" name="R1_la1"/>
          <p:cNvSpPr txBox="1"/>
          <p:nvPr/>
        </p:nvSpPr>
        <p:spPr>
          <a:xfrm>
            <a:off x="6464808" y="2569464"/>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Hendrix's girlfriend (she found the flat)</a:t>
            </a:r>
            <a:endParaRPr lang="en-US" sz="1000" dirty="0"/>
          </a:p>
        </p:txBody>
      </p:sp>
      <p:sp>
        <p:nvSpPr>
          <p:cNvPr id="19" name="box_213"/>
          <p:cNvSpPr txBox="1"/>
          <p:nvPr/>
        </p:nvSpPr>
        <p:spPr>
          <a:xfrm>
            <a:off x="2788920" y="2980944"/>
            <a:ext cx="3621024" cy="3657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3  When did Hendrix leave the flat?</a:t>
            </a:r>
            <a:endParaRPr lang="en-US" sz="1200" dirty="0"/>
          </a:p>
        </p:txBody>
      </p:sp>
      <p:sp>
        <p:nvSpPr>
          <p:cNvPr id="20" name="R1_la2"/>
          <p:cNvSpPr txBox="1"/>
          <p:nvPr/>
        </p:nvSpPr>
        <p:spPr>
          <a:xfrm>
            <a:off x="6464808" y="3008376"/>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in March 1969</a:t>
            </a:r>
            <a:endParaRPr lang="en-US" sz="1150" dirty="0"/>
          </a:p>
        </p:txBody>
      </p:sp>
      <p:sp>
        <p:nvSpPr>
          <p:cNvPr id="21" name="box_214"/>
          <p:cNvSpPr txBox="1"/>
          <p:nvPr/>
        </p:nvSpPr>
        <p:spPr>
          <a:xfrm>
            <a:off x="2788920" y="3419856"/>
            <a:ext cx="3621024" cy="3657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4  Where did he die?</a:t>
            </a:r>
            <a:endParaRPr lang="en-US" sz="1200" dirty="0"/>
          </a:p>
        </p:txBody>
      </p:sp>
      <p:sp>
        <p:nvSpPr>
          <p:cNvPr id="22" name="R1_la3"/>
          <p:cNvSpPr txBox="1"/>
          <p:nvPr/>
        </p:nvSpPr>
        <p:spPr>
          <a:xfrm>
            <a:off x="6464808" y="3447288"/>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in a London hotel</a:t>
            </a:r>
            <a:endParaRPr lang="en-US" sz="1150" dirty="0"/>
          </a:p>
        </p:txBody>
      </p:sp>
      <p:sp>
        <p:nvSpPr>
          <p:cNvPr id="23" name="box_215"/>
          <p:cNvSpPr txBox="1"/>
          <p:nvPr/>
        </p:nvSpPr>
        <p:spPr>
          <a:xfrm>
            <a:off x="2788920" y="3858768"/>
            <a:ext cx="3621024" cy="3657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What was the flat used for before it became a museum?</a:t>
            </a:r>
            <a:endParaRPr lang="en-US" sz="950" dirty="0"/>
          </a:p>
        </p:txBody>
      </p:sp>
      <p:sp>
        <p:nvSpPr>
          <p:cNvPr id="24" name="R1_la4"/>
          <p:cNvSpPr txBox="1"/>
          <p:nvPr/>
        </p:nvSpPr>
        <p:spPr>
          <a:xfrm>
            <a:off x="6464808" y="3886200"/>
            <a:ext cx="2359152" cy="310896"/>
          </a:xfrm>
          <a:prstGeom prst="roundRect">
            <a:avLst>
              <a:gd name="adj" fmla="val 1764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an office</a:t>
            </a:r>
            <a:endParaRPr lang="en-US" sz="1150" dirty="0"/>
          </a:p>
        </p:txBody>
      </p:sp>
      <p:sp>
        <p:nvSpPr>
          <p:cNvPr id="25" name="box_216"/>
          <p:cNvSpPr txBox="1"/>
          <p:nvPr/>
        </p:nvSpPr>
        <p:spPr>
          <a:xfrm>
            <a:off x="2788920" y="4297680"/>
            <a:ext cx="6035040" cy="3657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Would you like to visit the house? Why (not)?</a:t>
            </a:r>
            <a:endParaRPr lang="en-US" sz="1200" dirty="0"/>
          </a:p>
        </p:txBody>
      </p:sp>
      <p:sp>
        <p:nvSpPr>
          <p:cNvPr id="26" name="pageTag_21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p.73 · 6e · audio 7.21 (script p.129)</a:t>
            </a:r>
            <a:endParaRPr lang="en-US" sz="1050" dirty="0"/>
          </a:p>
        </p:txBody>
      </p:sp>
      <p:sp>
        <p:nvSpPr>
          <p:cNvPr id="27" name="pframe_218"/>
          <p:cNvSpPr/>
          <p:nvPr/>
        </p:nvSpPr>
        <p:spPr>
          <a:xfrm rot="120000">
            <a:off x="365760" y="3246120"/>
            <a:ext cx="2240280" cy="135331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219" descr="Which bedroom is whose?">    </p:cNvPr>
          <p:cNvPicPr>
            <a:picLocks noChangeAspect="1"/>
          </p:cNvPicPr>
          <p:nvPr/>
        </p:nvPicPr>
        <p:blipFill>
          <a:blip r:embed="rId3"/>
          <a:srcRect l="0" r="0" t="0" b="0"/>
          <a:stretch/>
        </p:blipFill>
        <p:spPr>
          <a:xfrm rot="120000">
            <a:off x="438912" y="3319272"/>
            <a:ext cx="2093976" cy="932688"/>
          </a:xfrm>
          <a:prstGeom prst="rect">
            <a:avLst/>
          </a:prstGeom>
        </p:spPr>
      </p:pic>
      <p:sp>
        <p:nvSpPr>
          <p:cNvPr id="29" name="pcap_220"/>
          <p:cNvSpPr txBox="1"/>
          <p:nvPr/>
        </p:nvSpPr>
        <p:spPr>
          <a:xfrm rot="120000">
            <a:off x="365760" y="4261104"/>
            <a:ext cx="224028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Which bedroom is whose?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4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00"/>
                                        <p:tgtEl>
                                          <p:spTgt spid="22"/>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1"/>
          <p:cNvSpPr/>
          <p:nvPr/>
        </p:nvSpPr>
        <p:spPr>
          <a:xfrm>
            <a:off x="54864" y="54864"/>
            <a:ext cx="9034272" cy="5033772"/>
          </a:xfrm>
          <a:prstGeom prst="rect">
            <a:avLst/>
          </a:prstGeom>
          <a:ln w="114300">
            <a:solidFill>
              <a:srgbClr val="A8E6B4"/>
            </a:solidFill>
            <a:prstDash val="solid"/>
          </a:ln>
        </p:spPr>
      </p:sp>
      <p:pic>
        <p:nvPicPr>
          <p:cNvPr id="4" name="logo_2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From the listening · audio 7.22</a:t>
            </a:r>
            <a:endParaRPr lang="en-US" sz="900" dirty="0"/>
          </a:p>
        </p:txBody>
      </p:sp>
      <p:sp>
        <p:nvSpPr>
          <p:cNvPr id="6" name="timer_22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22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226"/>
          <p:cNvSpPr txBox="1"/>
          <p:nvPr/>
        </p:nvSpPr>
        <p:spPr>
          <a:xfrm rot="90000">
            <a:off x="320040" y="676656"/>
            <a:ext cx="502005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Words from the audio guide</a:t>
            </a:r>
            <a:endParaRPr lang="en-US" sz="1500" dirty="0"/>
          </a:p>
        </p:txBody>
      </p:sp>
      <p:sp>
        <p:nvSpPr>
          <p:cNvPr id="9" name="tape_22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28"/>
          <p:cNvSpPr/>
          <p:nvPr/>
        </p:nvSpPr>
        <p:spPr>
          <a:xfrm rot="-720000">
            <a:off x="4773168" y="1069848"/>
            <a:ext cx="685800" cy="219456"/>
          </a:xfrm>
          <a:prstGeom prst="rect">
            <a:avLst/>
          </a:prstGeom>
          <a:solidFill>
            <a:srgbClr val="FFD84D">
              <a:alpha val="75000"/>
            </a:srgbClr>
          </a:solidFill>
          <a:ln w="6350">
            <a:solidFill>
              <a:srgbClr val="FFD84D"/>
            </a:solidFill>
            <a:prstDash val="solid"/>
          </a:ln>
        </p:spPr>
      </p:sp>
      <p:sp>
        <p:nvSpPr>
          <p:cNvPr id="11" name="post_22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3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23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Complete the extracts. What do they mean? Then listen and check.</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Completa le frasi. Cosa significano? Poi ascolta e controlla.</a:t>
            </a:r>
            <a:endParaRPr lang="en-US" sz="1100" dirty="0"/>
          </a:p>
        </p:txBody>
      </p:sp>
      <p:sp>
        <p:nvSpPr>
          <p:cNvPr id="14" name="iconBack_23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233" descr="pi:PiPencilSimple">    </p:cNvPr>
          <p:cNvPicPr>
            <a:picLocks noChangeAspect="1"/>
          </p:cNvPicPr>
          <p:nvPr/>
        </p:nvPicPr>
        <p:blipFill>
          <a:blip r:embed="rId3"/>
          <a:stretch>
            <a:fillRect/>
          </a:stretch>
        </p:blipFill>
        <p:spPr>
          <a:xfrm>
            <a:off x="914400" y="3474720"/>
            <a:ext cx="685800" cy="685800"/>
          </a:xfrm>
          <a:prstGeom prst="rect">
            <a:avLst/>
          </a:prstGeom>
        </p:spPr>
      </p:pic>
      <p:sp>
        <p:nvSpPr>
          <p:cNvPr id="16" name="box_234"/>
          <p:cNvSpPr txBox="1"/>
          <p:nvPr/>
        </p:nvSpPr>
        <p:spPr>
          <a:xfrm>
            <a:off x="2788920" y="1371600"/>
            <a:ext cx="4465930"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Handel decided to s___ permanently in England…</a:t>
            </a:r>
            <a:endParaRPr lang="en-US" sz="1250" dirty="0"/>
          </a:p>
        </p:txBody>
      </p:sp>
      <p:sp>
        <p:nvSpPr>
          <p:cNvPr id="17" name="R1_a0"/>
          <p:cNvSpPr txBox="1"/>
          <p:nvPr/>
        </p:nvSpPr>
        <p:spPr>
          <a:xfrm>
            <a:off x="7309714" y="1408176"/>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settle</a:t>
            </a:r>
            <a:endParaRPr lang="en-US" sz="1300" dirty="0"/>
          </a:p>
        </p:txBody>
      </p:sp>
      <p:sp>
        <p:nvSpPr>
          <p:cNvPr id="18" name="box_235"/>
          <p:cNvSpPr txBox="1"/>
          <p:nvPr/>
        </p:nvSpPr>
        <p:spPr>
          <a:xfrm>
            <a:off x="2788920" y="1941576"/>
            <a:ext cx="4465930"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After living in Surrey for some years, he m___ to London…</a:t>
            </a:r>
            <a:endParaRPr lang="en-US" sz="1200" dirty="0"/>
          </a:p>
        </p:txBody>
      </p:sp>
      <p:sp>
        <p:nvSpPr>
          <p:cNvPr id="19" name="R1_a1"/>
          <p:cNvSpPr txBox="1"/>
          <p:nvPr/>
        </p:nvSpPr>
        <p:spPr>
          <a:xfrm>
            <a:off x="7309714" y="1978152"/>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moved</a:t>
            </a:r>
            <a:endParaRPr lang="en-US" sz="1300" dirty="0"/>
          </a:p>
        </p:txBody>
      </p:sp>
      <p:sp>
        <p:nvSpPr>
          <p:cNvPr id="20" name="box_236"/>
          <p:cNvSpPr txBox="1"/>
          <p:nvPr/>
        </p:nvSpPr>
        <p:spPr>
          <a:xfrm>
            <a:off x="2788920" y="2511552"/>
            <a:ext cx="4465930"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He was the first o___ of the house…</a:t>
            </a:r>
            <a:endParaRPr lang="en-US" sz="1250" dirty="0"/>
          </a:p>
        </p:txBody>
      </p:sp>
      <p:sp>
        <p:nvSpPr>
          <p:cNvPr id="21" name="R1_a2"/>
          <p:cNvSpPr txBox="1"/>
          <p:nvPr/>
        </p:nvSpPr>
        <p:spPr>
          <a:xfrm>
            <a:off x="7309714" y="2548128"/>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occupant</a:t>
            </a:r>
            <a:endParaRPr lang="en-US" sz="1300" dirty="0"/>
          </a:p>
        </p:txBody>
      </p:sp>
      <p:sp>
        <p:nvSpPr>
          <p:cNvPr id="22" name="box_237"/>
          <p:cNvSpPr txBox="1"/>
          <p:nvPr/>
        </p:nvSpPr>
        <p:spPr>
          <a:xfrm>
            <a:off x="2788920" y="3081528"/>
            <a:ext cx="4465930"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4  The flat on the u___ floors of 23 Brook Street was found by…</a:t>
            </a:r>
            <a:endParaRPr lang="en-US" sz="1100" dirty="0"/>
          </a:p>
        </p:txBody>
      </p:sp>
      <p:sp>
        <p:nvSpPr>
          <p:cNvPr id="23" name="R1_a3"/>
          <p:cNvSpPr txBox="1"/>
          <p:nvPr/>
        </p:nvSpPr>
        <p:spPr>
          <a:xfrm>
            <a:off x="7309714" y="3118104"/>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upper</a:t>
            </a:r>
            <a:endParaRPr lang="en-US" sz="1300" dirty="0"/>
          </a:p>
        </p:txBody>
      </p:sp>
      <p:sp>
        <p:nvSpPr>
          <p:cNvPr id="24" name="box_238"/>
          <p:cNvSpPr txBox="1"/>
          <p:nvPr/>
        </p:nvSpPr>
        <p:spPr>
          <a:xfrm>
            <a:off x="2788920" y="3651504"/>
            <a:ext cx="4465930"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He spent some time d___ the flat to his own taste.</a:t>
            </a:r>
            <a:endParaRPr lang="en-US" sz="1250" dirty="0"/>
          </a:p>
        </p:txBody>
      </p:sp>
      <p:sp>
        <p:nvSpPr>
          <p:cNvPr id="25" name="R1_a4"/>
          <p:cNvSpPr txBox="1"/>
          <p:nvPr/>
        </p:nvSpPr>
        <p:spPr>
          <a:xfrm>
            <a:off x="7309714" y="3688080"/>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decorating</a:t>
            </a:r>
            <a:endParaRPr lang="en-US" sz="1300" dirty="0"/>
          </a:p>
        </p:txBody>
      </p:sp>
      <p:sp>
        <p:nvSpPr>
          <p:cNvPr id="26" name="box_239"/>
          <p:cNvSpPr txBox="1"/>
          <p:nvPr/>
        </p:nvSpPr>
        <p:spPr>
          <a:xfrm>
            <a:off x="2788920" y="4221480"/>
            <a:ext cx="4465930"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6  The whole house is now a museum and a concert v___…</a:t>
            </a:r>
            <a:endParaRPr lang="en-US" sz="1200" dirty="0"/>
          </a:p>
        </p:txBody>
      </p:sp>
      <p:sp>
        <p:nvSpPr>
          <p:cNvPr id="27" name="R1_a5"/>
          <p:cNvSpPr txBox="1"/>
          <p:nvPr/>
        </p:nvSpPr>
        <p:spPr>
          <a:xfrm>
            <a:off x="7309714" y="4258056"/>
            <a:ext cx="1514246"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300" dirty="0">
                <a:solidFill>
                  <a:srgbClr val="111111"/>
                </a:solidFill>
                <a:latin typeface="Calibri" pitchFamily="34" charset="0"/>
                <a:ea typeface="Calibri" pitchFamily="34" charset="-122"/>
                <a:cs typeface="Calibri" pitchFamily="34" charset="-120"/>
              </a:rPr>
              <a:t>venue</a:t>
            </a:r>
            <a:endParaRPr lang="en-US" sz="1300" dirty="0"/>
          </a:p>
        </p:txBody>
      </p:sp>
      <p:sp>
        <p:nvSpPr>
          <p:cNvPr id="28" name="pageTag_24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p.73 · 6f · audio 7.22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41"/>
          <p:cNvSpPr/>
          <p:nvPr/>
        </p:nvSpPr>
        <p:spPr>
          <a:xfrm>
            <a:off x="54864" y="54864"/>
            <a:ext cx="9034272" cy="5033772"/>
          </a:xfrm>
          <a:prstGeom prst="rect">
            <a:avLst/>
          </a:prstGeom>
          <a:ln w="114300">
            <a:solidFill>
              <a:srgbClr val="A8E6B4"/>
            </a:solidFill>
            <a:prstDash val="solid"/>
          </a:ln>
        </p:spPr>
      </p:sp>
      <p:pic>
        <p:nvPicPr>
          <p:cNvPr id="4" name="logo_2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Describing a house</a:t>
            </a:r>
            <a:endParaRPr lang="en-US" sz="900" dirty="0"/>
          </a:p>
        </p:txBody>
      </p:sp>
      <p:sp>
        <p:nvSpPr>
          <p:cNvPr id="6" name="timer_2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7 min</a:t>
            </a:r>
            <a:endParaRPr lang="en-US" sz="1200" dirty="0"/>
          </a:p>
        </p:txBody>
      </p:sp>
      <p:sp>
        <p:nvSpPr>
          <p:cNvPr id="7" name="footer_2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246"/>
          <p:cNvSpPr txBox="1"/>
          <p:nvPr/>
        </p:nvSpPr>
        <p:spPr>
          <a:xfrm rot="90000">
            <a:off x="320040" y="676656"/>
            <a:ext cx="293522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My dream house</a:t>
            </a:r>
            <a:endParaRPr lang="en-US" sz="1500" dirty="0"/>
          </a:p>
        </p:txBody>
      </p:sp>
      <p:sp>
        <p:nvSpPr>
          <p:cNvPr id="9" name="tape_24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48"/>
          <p:cNvSpPr/>
          <p:nvPr/>
        </p:nvSpPr>
        <p:spPr>
          <a:xfrm rot="-720000">
            <a:off x="2688336" y="1069848"/>
            <a:ext cx="685800" cy="219456"/>
          </a:xfrm>
          <a:prstGeom prst="rect">
            <a:avLst/>
          </a:prstGeom>
          <a:solidFill>
            <a:srgbClr val="FFD84D">
              <a:alpha val="75000"/>
            </a:srgbClr>
          </a:solidFill>
          <a:ln w="6350">
            <a:solidFill>
              <a:srgbClr val="FFD84D"/>
            </a:solidFill>
            <a:prstDash val="solid"/>
          </a:ln>
        </p:spPr>
      </p:sp>
      <p:sp>
        <p:nvSpPr>
          <p:cNvPr id="11" name="post_24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5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25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Describe your dream house. Which house in your group is the best?</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Descrivi la tua casa dei sogni. Qual è la migliore del gruppo?</a:t>
            </a:r>
            <a:endParaRPr lang="en-US" sz="1200" dirty="0"/>
          </a:p>
        </p:txBody>
      </p:sp>
      <p:sp>
        <p:nvSpPr>
          <p:cNvPr id="14" name="iconBack_25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253" descr="pi:PiHouse">    </p:cNvPr>
          <p:cNvPicPr>
            <a:picLocks noChangeAspect="1"/>
          </p:cNvPicPr>
          <p:nvPr/>
        </p:nvPicPr>
        <p:blipFill>
          <a:blip r:embed="rId3"/>
          <a:stretch>
            <a:fillRect/>
          </a:stretch>
        </p:blipFill>
        <p:spPr>
          <a:xfrm>
            <a:off x="914400" y="3474720"/>
            <a:ext cx="685800" cy="685800"/>
          </a:xfrm>
          <a:prstGeom prst="rect">
            <a:avLst/>
          </a:prstGeom>
        </p:spPr>
      </p:pic>
      <p:sp>
        <p:nvSpPr>
          <p:cNvPr id="16" name="num_254"/>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7" name="box_255"/>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Think for 2 minutes: Where would it be? What kind of house or flat? How many rooms? Special features? Decoration?</a:t>
            </a:r>
            <a:endParaRPr lang="en-US" sz="1250" dirty="0"/>
          </a:p>
        </p:txBody>
      </p:sp>
      <p:sp>
        <p:nvSpPr>
          <p:cNvPr id="18" name="num_256"/>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9" name="box_257"/>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Groups of 3–5: take turns to describe your dream house in detail.</a:t>
            </a:r>
            <a:endParaRPr lang="en-US" sz="1250" dirty="0"/>
          </a:p>
        </p:txBody>
      </p:sp>
      <p:sp>
        <p:nvSpPr>
          <p:cNvPr id="20" name="num_258"/>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1" name="box_259"/>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Listeners: ask 2 questions each. Would you live there? Why (not)?</a:t>
            </a:r>
            <a:endParaRPr lang="en-US" sz="1250" dirty="0"/>
          </a:p>
        </p:txBody>
      </p:sp>
      <p:sp>
        <p:nvSpPr>
          <p:cNvPr id="22" name="num_260"/>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3" name="box_261"/>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Vote: which house would you most like to live in? (You can't vote for your own!)</a:t>
            </a:r>
            <a:endParaRPr lang="en-US" sz="1250" dirty="0"/>
          </a:p>
        </p:txBody>
      </p:sp>
      <p:sp>
        <p:nvSpPr>
          <p:cNvPr id="24" name="bubble_26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It's a spacious stone house in the country, with a terrace, an open fire and…</a:t>
            </a:r>
            <a:endParaRPr lang="en-US" sz="1100" dirty="0"/>
          </a:p>
        </p:txBody>
      </p:sp>
      <p:sp>
        <p:nvSpPr>
          <p:cNvPr id="25" name="pageTag_26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p.73 · 7a, 7b</a:t>
            </a:r>
            <a:endParaRPr lang="en-US" sz="105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64"/>
          <p:cNvSpPr/>
          <p:nvPr/>
        </p:nvSpPr>
        <p:spPr>
          <a:xfrm>
            <a:off x="54864" y="54864"/>
            <a:ext cx="9034272" cy="5033772"/>
          </a:xfrm>
          <a:prstGeom prst="rect">
            <a:avLst/>
          </a:prstGeom>
          <a:ln w="114300">
            <a:solidFill>
              <a:srgbClr val="A8E6B4"/>
            </a:solidFill>
            <a:prstDash val="solid"/>
          </a:ln>
        </p:spPr>
      </p:sp>
      <p:pic>
        <p:nvPicPr>
          <p:cNvPr id="4" name="logo_26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6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a:t>
            </a:r>
            <a:endParaRPr lang="en-US" sz="900" dirty="0"/>
          </a:p>
        </p:txBody>
      </p:sp>
      <p:sp>
        <p:nvSpPr>
          <p:cNvPr id="6" name="timer_26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6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8" name="title_269"/>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Twenty questions</a:t>
            </a:r>
            <a:endParaRPr lang="en-US" sz="1500" dirty="0"/>
          </a:p>
        </p:txBody>
      </p:sp>
      <p:sp>
        <p:nvSpPr>
          <p:cNvPr id="9" name="tape_27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71"/>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27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7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27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Ask yes / no questions. Find the secret part of the house!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Fate domande sì / no. Trovate la parte segreta della casa!</a:t>
            </a:r>
            <a:endParaRPr lang="en-US" sz="1250" dirty="0"/>
          </a:p>
        </p:txBody>
      </p:sp>
      <p:sp>
        <p:nvSpPr>
          <p:cNvPr id="14" name="n_275"/>
          <p:cNvSpPr txBox="1"/>
          <p:nvPr/>
        </p:nvSpPr>
        <p:spPr>
          <a:xfrm>
            <a:off x="2834640" y="1399032"/>
            <a:ext cx="384048" cy="384048"/>
          </a:xfrm>
          <a:prstGeom prst="ellipse">
            <a:avLst/>
          </a:prstGeom>
          <a:solidFill>
            <a:srgbClr val="EF2F2F"/>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5" name="st_276"/>
          <p:cNvSpPr txBox="1"/>
          <p:nvPr/>
        </p:nvSpPr>
        <p:spPr>
          <a:xfrm>
            <a:off x="3310128" y="1325880"/>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400" dirty="0">
                <a:solidFill>
                  <a:srgbClr val="111111"/>
                </a:solidFill>
                <a:latin typeface="Calibri" pitchFamily="34" charset="0"/>
                <a:ea typeface="Calibri" pitchFamily="34" charset="-122"/>
                <a:cs typeface="Calibri" pitchFamily="34" charset="-120"/>
              </a:rPr>
              <a:t>One student – the KNOWER – sits facing the screen.</a:t>
            </a:r>
            <a:endParaRPr lang="en-US" sz="1400" dirty="0"/>
          </a:p>
        </p:txBody>
      </p:sp>
      <p:sp>
        <p:nvSpPr>
          <p:cNvPr id="16" name="n_277"/>
          <p:cNvSpPr txBox="1"/>
          <p:nvPr/>
        </p:nvSpPr>
        <p:spPr>
          <a:xfrm>
            <a:off x="2834640" y="2020824"/>
            <a:ext cx="384048" cy="384048"/>
          </a:xfrm>
          <a:prstGeom prst="ellipse">
            <a:avLst/>
          </a:prstGeom>
          <a:solidFill>
            <a:srgbClr val="48BDF2"/>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17" name="st_278"/>
          <p:cNvSpPr txBox="1"/>
          <p:nvPr/>
        </p:nvSpPr>
        <p:spPr>
          <a:xfrm>
            <a:off x="3310128" y="1947672"/>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b="1" dirty="0">
                <a:solidFill>
                  <a:srgbClr val="111111"/>
                </a:solidFill>
                <a:latin typeface="Calibri" pitchFamily="34" charset="0"/>
                <a:ea typeface="Calibri" pitchFamily="34" charset="-122"/>
                <a:cs typeface="Calibri" pitchFamily="34" charset="-120"/>
              </a:rPr>
              <a:t>Everybody else: you must NOT see the screen – turn round or close your eyes!</a:t>
            </a:r>
            <a:endParaRPr lang="en-US" sz="1250" dirty="0"/>
          </a:p>
        </p:txBody>
      </p:sp>
      <p:sp>
        <p:nvSpPr>
          <p:cNvPr id="18" name="n_279"/>
          <p:cNvSpPr txBox="1"/>
          <p:nvPr/>
        </p:nvSpPr>
        <p:spPr>
          <a:xfrm>
            <a:off x="2834640" y="2642616"/>
            <a:ext cx="384048" cy="384048"/>
          </a:xfrm>
          <a:prstGeom prst="ellipse">
            <a:avLst/>
          </a:prstGeom>
          <a:solidFill>
            <a:srgbClr val="1FA463"/>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19" name="st_280"/>
          <p:cNvSpPr txBox="1"/>
          <p:nvPr/>
        </p:nvSpPr>
        <p:spPr>
          <a:xfrm>
            <a:off x="3310128" y="2569464"/>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Teacher clicks → a word appears. The class asks yes / no questions: Is it inside? Is it on the roof?</a:t>
            </a:r>
            <a:endParaRPr lang="en-US" sz="1250" dirty="0"/>
          </a:p>
        </p:txBody>
      </p:sp>
      <p:sp>
        <p:nvSpPr>
          <p:cNvPr id="20" name="n_281"/>
          <p:cNvSpPr txBox="1"/>
          <p:nvPr/>
        </p:nvSpPr>
        <p:spPr>
          <a:xfrm>
            <a:off x="2834640" y="3264408"/>
            <a:ext cx="384048" cy="384048"/>
          </a:xfrm>
          <a:prstGeom prst="ellipse">
            <a:avLst/>
          </a:prstGeom>
          <a:solidFill>
            <a:srgbClr val="F59E0B"/>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1" name="st_282"/>
          <p:cNvSpPr txBox="1"/>
          <p:nvPr/>
        </p:nvSpPr>
        <p:spPr>
          <a:xfrm>
            <a:off x="3310128" y="3191256"/>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The KNOWER can only say Yes, No or Sometimes. Maximum 20 questions!</a:t>
            </a:r>
            <a:endParaRPr lang="en-US" sz="1250" dirty="0"/>
          </a:p>
        </p:txBody>
      </p:sp>
      <p:sp>
        <p:nvSpPr>
          <p:cNvPr id="22" name="n_283"/>
          <p:cNvSpPr txBox="1"/>
          <p:nvPr/>
        </p:nvSpPr>
        <p:spPr>
          <a:xfrm>
            <a:off x="2834640" y="3886200"/>
            <a:ext cx="384048" cy="384048"/>
          </a:xfrm>
          <a:prstGeom prst="ellipse">
            <a:avLst/>
          </a:prstGeom>
          <a:solidFill>
            <a:srgbClr val="062F67"/>
          </a:solidFill>
          <a:ln w="190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5</a:t>
            </a:r>
            <a:endParaRPr lang="en-US" sz="1300" dirty="0"/>
          </a:p>
        </p:txBody>
      </p:sp>
      <p:sp>
        <p:nvSpPr>
          <p:cNvPr id="23" name="st_284"/>
          <p:cNvSpPr txBox="1"/>
          <p:nvPr/>
        </p:nvSpPr>
        <p:spPr>
          <a:xfrm>
            <a:off x="3310128" y="3813048"/>
            <a:ext cx="5486400" cy="54864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Guessed in 10 questions or fewer = 2 points; in 20 = 1 point. Then a new knower.</a:t>
            </a:r>
            <a:endParaRPr lang="en-US" sz="1250" dirty="0"/>
          </a:p>
        </p:txBody>
      </p:sp>
      <p:sp>
        <p:nvSpPr>
          <p:cNvPr id="24" name="pageTag_285"/>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Vocabulary Bank Houses p.162</a:t>
            </a:r>
            <a:endParaRPr lang="en-US" sz="105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86"/>
          <p:cNvSpPr/>
          <p:nvPr/>
        </p:nvSpPr>
        <p:spPr>
          <a:xfrm>
            <a:off x="54864" y="54864"/>
            <a:ext cx="9034272" cy="5033772"/>
          </a:xfrm>
          <a:prstGeom prst="rect">
            <a:avLst/>
          </a:prstGeom>
          <a:ln w="114300">
            <a:solidFill>
              <a:srgbClr val="A8E6B4"/>
            </a:solidFill>
            <a:prstDash val="solid"/>
          </a:ln>
        </p:spPr>
      </p:sp>
      <p:pic>
        <p:nvPicPr>
          <p:cNvPr id="4" name="logo_28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8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1 of 8</a:t>
            </a:r>
            <a:endParaRPr lang="en-US" sz="900" dirty="0"/>
          </a:p>
        </p:txBody>
      </p:sp>
      <p:sp>
        <p:nvSpPr>
          <p:cNvPr id="6" name="footer_28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29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ATTIC</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1"/>
          <p:cNvSpPr/>
          <p:nvPr/>
        </p:nvSpPr>
        <p:spPr>
          <a:xfrm>
            <a:off x="54864" y="54864"/>
            <a:ext cx="9034272" cy="5033772"/>
          </a:xfrm>
          <a:prstGeom prst="rect">
            <a:avLst/>
          </a:prstGeom>
          <a:ln w="114300">
            <a:solidFill>
              <a:srgbClr val="A8E6B4"/>
            </a:solidFill>
            <a:prstDash val="solid"/>
          </a:ln>
        </p:spPr>
      </p:sp>
      <p:pic>
        <p:nvPicPr>
          <p:cNvPr id="4" name="logo_29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2 of 8</a:t>
            </a:r>
            <a:endParaRPr lang="en-US" sz="900" dirty="0"/>
          </a:p>
        </p:txBody>
      </p:sp>
      <p:sp>
        <p:nvSpPr>
          <p:cNvPr id="6" name="footer_29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29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BASEMENT</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96"/>
          <p:cNvSpPr/>
          <p:nvPr/>
        </p:nvSpPr>
        <p:spPr>
          <a:xfrm>
            <a:off x="54864" y="54864"/>
            <a:ext cx="9034272" cy="5033772"/>
          </a:xfrm>
          <a:prstGeom prst="rect">
            <a:avLst/>
          </a:prstGeom>
          <a:ln w="114300">
            <a:solidFill>
              <a:srgbClr val="A8E6B4"/>
            </a:solidFill>
            <a:prstDash val="solid"/>
          </a:ln>
        </p:spPr>
      </p:sp>
      <p:pic>
        <p:nvPicPr>
          <p:cNvPr id="4" name="logo_29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9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3 of 8</a:t>
            </a:r>
            <a:endParaRPr lang="en-US" sz="900" dirty="0"/>
          </a:p>
        </p:txBody>
      </p:sp>
      <p:sp>
        <p:nvSpPr>
          <p:cNvPr id="6" name="footer_29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0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CHIMNEY</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1"/>
          <p:cNvSpPr/>
          <p:nvPr/>
        </p:nvSpPr>
        <p:spPr>
          <a:xfrm>
            <a:off x="54864" y="54864"/>
            <a:ext cx="9034272" cy="5033772"/>
          </a:xfrm>
          <a:prstGeom prst="rect">
            <a:avLst/>
          </a:prstGeom>
          <a:ln w="114300">
            <a:solidFill>
              <a:srgbClr val="A8E6B4"/>
            </a:solidFill>
            <a:prstDash val="solid"/>
          </a:ln>
        </p:spPr>
      </p:sp>
      <p:pic>
        <p:nvPicPr>
          <p:cNvPr id="4" name="logo_30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4 of 8</a:t>
            </a:r>
            <a:endParaRPr lang="en-US" sz="900" dirty="0"/>
          </a:p>
        </p:txBody>
      </p:sp>
      <p:sp>
        <p:nvSpPr>
          <p:cNvPr id="6" name="footer_30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0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BALCONY</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06"/>
          <p:cNvSpPr/>
          <p:nvPr/>
        </p:nvSpPr>
        <p:spPr>
          <a:xfrm>
            <a:off x="54864" y="54864"/>
            <a:ext cx="9034272" cy="5033772"/>
          </a:xfrm>
          <a:prstGeom prst="rect">
            <a:avLst/>
          </a:prstGeom>
          <a:ln w="114300">
            <a:solidFill>
              <a:srgbClr val="A8E6B4"/>
            </a:solidFill>
            <a:prstDash val="solid"/>
          </a:ln>
        </p:spPr>
      </p:sp>
      <p:pic>
        <p:nvPicPr>
          <p:cNvPr id="4" name="logo_30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0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5 of 8</a:t>
            </a:r>
            <a:endParaRPr lang="en-US" sz="900" dirty="0"/>
          </a:p>
        </p:txBody>
      </p:sp>
      <p:sp>
        <p:nvSpPr>
          <p:cNvPr id="6" name="footer_30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1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CEILING</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1"/>
          <p:cNvSpPr/>
          <p:nvPr/>
        </p:nvSpPr>
        <p:spPr>
          <a:xfrm>
            <a:off x="54864" y="54864"/>
            <a:ext cx="9034272" cy="5033772"/>
          </a:xfrm>
          <a:prstGeom prst="rect">
            <a:avLst/>
          </a:prstGeom>
          <a:ln w="114300">
            <a:solidFill>
              <a:srgbClr val="A8E6B4"/>
            </a:solidFill>
            <a:prstDash val="solid"/>
          </a:ln>
        </p:spPr>
      </p:sp>
      <p:pic>
        <p:nvPicPr>
          <p:cNvPr id="4" name="logo_31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6 of 8</a:t>
            </a:r>
            <a:endParaRPr lang="en-US" sz="900" dirty="0"/>
          </a:p>
        </p:txBody>
      </p:sp>
      <p:sp>
        <p:nvSpPr>
          <p:cNvPr id="6" name="footer_3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1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GATE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16"/>
          <p:cNvSpPr/>
          <p:nvPr/>
        </p:nvSpPr>
        <p:spPr>
          <a:xfrm>
            <a:off x="54864" y="54864"/>
            <a:ext cx="9034272" cy="5033772"/>
          </a:xfrm>
          <a:prstGeom prst="rect">
            <a:avLst/>
          </a:prstGeom>
          <a:ln w="114300">
            <a:solidFill>
              <a:srgbClr val="A8E6B4"/>
            </a:solidFill>
            <a:prstDash val="solid"/>
          </a:ln>
        </p:spPr>
      </p:sp>
      <p:pic>
        <p:nvPicPr>
          <p:cNvPr id="4" name="logo_31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18"/>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7 of 8</a:t>
            </a:r>
            <a:endParaRPr lang="en-US" sz="900" dirty="0"/>
          </a:p>
        </p:txBody>
      </p:sp>
      <p:sp>
        <p:nvSpPr>
          <p:cNvPr id="6" name="footer_319"/>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20"/>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FIREPLACE</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21"/>
          <p:cNvSpPr/>
          <p:nvPr/>
        </p:nvSpPr>
        <p:spPr>
          <a:xfrm>
            <a:off x="54864" y="54864"/>
            <a:ext cx="9034272" cy="5033772"/>
          </a:xfrm>
          <a:prstGeom prst="rect">
            <a:avLst/>
          </a:prstGeom>
          <a:ln w="114300">
            <a:solidFill>
              <a:srgbClr val="A8E6B4"/>
            </a:solidFill>
            <a:prstDash val="solid"/>
          </a:ln>
        </p:spPr>
      </p:sp>
      <p:pic>
        <p:nvPicPr>
          <p:cNvPr id="4" name="logo_3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2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GAME · Twenty questions · card 8 of 8</a:t>
            </a:r>
            <a:endParaRPr lang="en-US" sz="900" dirty="0"/>
          </a:p>
        </p:txBody>
      </p:sp>
      <p:sp>
        <p:nvSpPr>
          <p:cNvPr id="6" name="footer_32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7" name="warn_325"/>
          <p:cNvSpPr txBox="1"/>
          <p:nvPr/>
        </p:nvSpPr>
        <p:spPr>
          <a:xfrm>
            <a:off x="365760" y="731520"/>
            <a:ext cx="5669280" cy="457200"/>
          </a:xfrm>
          <a:prstGeom prst="rect">
            <a:avLst/>
          </a:prstGeom>
          <a:noFill/>
          <a:ln/>
        </p:spPr>
        <p:txBody>
          <a:bodyPr wrap="square" rtlCol="0" anchor="ctr"/>
          <a:lstStyle/>
          <a:p>
            <a:pPr indent="0" marL="0">
              <a:buNone/>
            </a:pPr>
            <a:r>
              <a:rPr lang="en-US" sz="1600" dirty="0">
                <a:solidFill>
                  <a:srgbClr val="EF2F2F"/>
                </a:solidFill>
                <a:latin typeface="Arial Black" pitchFamily="34" charset="0"/>
                <a:ea typeface="Arial Black" pitchFamily="34" charset="-122"/>
                <a:cs typeface="Arial Black" pitchFamily="34" charset="-120"/>
              </a:rPr>
              <a:t>👀 Guessers: don't look!  ·  Non guardate!</a:t>
            </a:r>
            <a:endParaRPr lang="en-US" sz="1600" dirty="0"/>
          </a:p>
        </p:txBody>
      </p:sp>
      <p:sp>
        <p:nvSpPr>
          <p:cNvPr id="8" name="R1_card"/>
          <p:cNvSpPr/>
          <p:nvPr/>
        </p:nvSpPr>
        <p:spPr>
          <a:xfrm rot="90000">
            <a:off x="1828800" y="1325880"/>
            <a:ext cx="5486400" cy="3291840"/>
          </a:xfrm>
          <a:prstGeom prst="roundRect">
            <a:avLst>
              <a:gd name="adj" fmla="val 4167"/>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sp>
        <p:nvSpPr>
          <p:cNvPr id="9" name="R1_word"/>
          <p:cNvSpPr txBox="1"/>
          <p:nvPr/>
        </p:nvSpPr>
        <p:spPr>
          <a:xfrm rot="90000">
            <a:off x="1828800" y="1554480"/>
            <a:ext cx="5486400" cy="1097280"/>
          </a:xfrm>
          <a:prstGeom prst="rect">
            <a:avLst/>
          </a:prstGeom>
          <a:noFill/>
          <a:ln/>
        </p:spPr>
        <p:txBody>
          <a:bodyPr wrap="square" rtlCol="0" anchor="ctr"/>
          <a:lstStyle/>
          <a:p>
            <a:pPr algn="ctr" indent="0" marL="0">
              <a:buNone/>
            </a:pPr>
            <a:r>
              <a:rPr lang="en-US" sz="4000" dirty="0">
                <a:solidFill>
                  <a:srgbClr val="062F67"/>
                </a:solidFill>
                <a:latin typeface="Arial Black" pitchFamily="34" charset="0"/>
                <a:ea typeface="Arial Black" pitchFamily="34" charset="-122"/>
                <a:cs typeface="Arial Black" pitchFamily="34" charset="-120"/>
              </a:rPr>
              <a:t>STEPS</a:t>
            </a:r>
            <a:endParaRPr lang="en-US" sz="4000" dirty="0"/>
          </a:p>
        </p:txBody>
      </p:sp>
      <p:sp>
        <p:nvSpPr>
          <p:cNvPr id="10" name="R1_dont"/>
          <p:cNvSpPr txBox="1"/>
          <p:nvPr/>
        </p:nvSpPr>
        <p:spPr>
          <a:xfrm rot="90000">
            <a:off x="1828800" y="2743200"/>
            <a:ext cx="5486400" cy="365760"/>
          </a:xfrm>
          <a:prstGeom prst="rect">
            <a:avLst/>
          </a:prstGeom>
          <a:noFill/>
          <a:ln/>
        </p:spPr>
        <p:txBody>
          <a:bodyPr wrap="square" rtlCol="0" anchor="ctr"/>
          <a:lstStyle/>
          <a:p>
            <a:pPr algn="ctr" indent="0" marL="0">
              <a:buNone/>
            </a:pPr>
            <a:r>
              <a:rPr lang="en-US" sz="1600" i="1" dirty="0">
                <a:solidFill>
                  <a:srgbClr val="475569"/>
                </a:solidFill>
                <a:latin typeface="Calibri" pitchFamily="34" charset="0"/>
                <a:ea typeface="Calibri" pitchFamily="34" charset="-122"/>
                <a:cs typeface="Calibri" pitchFamily="34" charset="-120"/>
              </a:rPr>
              <a:t>Knower – answer only:</a:t>
            </a:r>
            <a:endParaRPr lang="en-US" sz="1600" dirty="0"/>
          </a:p>
        </p:txBody>
      </p:sp>
      <p:sp>
        <p:nvSpPr>
          <p:cNvPr id="11" name="R1_ban"/>
          <p:cNvSpPr txBox="1"/>
          <p:nvPr/>
        </p:nvSpPr>
        <p:spPr>
          <a:xfrm rot="90000">
            <a:off x="2011680" y="3108960"/>
            <a:ext cx="5120640" cy="1097280"/>
          </a:xfrm>
          <a:prstGeom prst="rect">
            <a:avLst/>
          </a:prstGeom>
          <a:noFill/>
          <a:ln/>
        </p:spPr>
        <p:txBody>
          <a:bodyPr wrap="square" rtlCol="0" anchor="ctr"/>
          <a:lstStyle/>
          <a:p>
            <a:pPr algn="ctr" indent="0" marL="0">
              <a:buNone/>
            </a:pPr>
            <a:r>
              <a:rPr lang="en-US" sz="2600" b="1" dirty="0">
                <a:solidFill>
                  <a:srgbClr val="EF2F2F"/>
                </a:solidFill>
                <a:latin typeface="Calibri" pitchFamily="34" charset="0"/>
                <a:ea typeface="Calibri" pitchFamily="34" charset="-122"/>
                <a:cs typeface="Calibri" pitchFamily="34" charset="-120"/>
              </a:rPr>
              <a:t>Yes · No · Sometimes</a:t>
            </a:r>
            <a:endParaRPr lang="en-US" sz="26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26"/>
          <p:cNvSpPr/>
          <p:nvPr/>
        </p:nvSpPr>
        <p:spPr>
          <a:xfrm>
            <a:off x="54864" y="54864"/>
            <a:ext cx="9034272" cy="5033772"/>
          </a:xfrm>
          <a:prstGeom prst="rect">
            <a:avLst/>
          </a:prstGeom>
          <a:ln w="114300">
            <a:solidFill>
              <a:srgbClr val="A8E6B4"/>
            </a:solidFill>
            <a:prstDash val="solid"/>
          </a:ln>
        </p:spPr>
      </p:sp>
      <p:pic>
        <p:nvPicPr>
          <p:cNvPr id="4" name="logo_327"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32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6" name="title_329"/>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33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331"/>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332"/>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333"/>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talk about where people live and describe a house.</a:t>
            </a:r>
            <a:endParaRPr lang="en-US" sz="1200" dirty="0"/>
          </a:p>
        </p:txBody>
      </p:sp>
      <p:sp>
        <p:nvSpPr>
          <p:cNvPr id="11" name="faces_334"/>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335"/>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pronounce the letter c: /k/, /s/, /ʃ/, /ks/.</a:t>
            </a:r>
            <a:endParaRPr lang="en-US" sz="1350" dirty="0"/>
          </a:p>
        </p:txBody>
      </p:sp>
      <p:sp>
        <p:nvSpPr>
          <p:cNvPr id="13" name="faces_336"/>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337"/>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00" b="1" dirty="0">
                <a:solidFill>
                  <a:srgbClr val="111111"/>
                </a:solidFill>
                <a:latin typeface="Calibri" pitchFamily="34" charset="0"/>
                <a:ea typeface="Calibri" pitchFamily="34" charset="-122"/>
                <a:cs typeface="Calibri" pitchFamily="34" charset="-120"/>
              </a:rPr>
              <a:t>✓  I can understand an audio guide about a famous house.</a:t>
            </a:r>
            <a:endParaRPr lang="en-US" sz="1200" dirty="0"/>
          </a:p>
        </p:txBody>
      </p:sp>
      <p:sp>
        <p:nvSpPr>
          <p:cNvPr id="15" name="faces_338"/>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339"/>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7B: 2c, 3a, 3b, 3c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Vocabulary Bank Houses p.162: test yourself</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7B-2</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Optional: Writing p.120 (d)</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340"/>
          <p:cNvSpPr txBox="1"/>
          <p:nvPr/>
        </p:nvSpPr>
        <p:spPr>
          <a:xfrm>
            <a:off x="365760" y="3657600"/>
            <a:ext cx="502920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Practical English 4 · Boys' night out</a:t>
            </a:r>
            <a:endParaRPr lang="en-US" sz="12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41"/>
          <p:cNvSpPr/>
          <p:nvPr/>
        </p:nvSpPr>
        <p:spPr>
          <a:xfrm>
            <a:off x="54864" y="54864"/>
            <a:ext cx="9034272" cy="5033772"/>
          </a:xfrm>
          <a:prstGeom prst="rect">
            <a:avLst/>
          </a:prstGeom>
          <a:ln w="114300">
            <a:solidFill>
              <a:srgbClr val="A8E6B4"/>
            </a:solidFill>
            <a:prstDash val="solid"/>
          </a:ln>
        </p:spPr>
      </p:sp>
      <p:pic>
        <p:nvPicPr>
          <p:cNvPr id="4" name="logo_3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Writing · Writing p.120</a:t>
            </a:r>
            <a:endParaRPr lang="en-US" sz="900" dirty="0"/>
          </a:p>
        </p:txBody>
      </p:sp>
      <p:sp>
        <p:nvSpPr>
          <p:cNvPr id="6" name="timer_3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10 min</a:t>
            </a:r>
            <a:endParaRPr lang="en-US" sz="1200" dirty="0"/>
          </a:p>
        </p:txBody>
      </p:sp>
      <p:sp>
        <p:nvSpPr>
          <p:cNvPr id="7" name="extra_345"/>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46"/>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9" name="title_347"/>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Holiday home for rent</a:t>
            </a:r>
            <a:endParaRPr lang="en-US" sz="1500" dirty="0"/>
          </a:p>
        </p:txBody>
      </p:sp>
      <p:sp>
        <p:nvSpPr>
          <p:cNvPr id="10" name="tape_348"/>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49"/>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12" name="post_350"/>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51"/>
          <p:cNvSpPr txBox="1"/>
          <p:nvPr/>
        </p:nvSpPr>
        <p:spPr>
          <a:xfrm rot="-180000">
            <a:off x="320040" y="1371600"/>
            <a:ext cx="2240280" cy="457200"/>
          </a:xfrm>
          <a:prstGeom prst="homePlate">
            <a:avLst/>
          </a:prstGeom>
          <a:solidFill>
            <a:srgbClr val="6D3FC0"/>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WRITE!</a:t>
            </a:r>
            <a:pPr indent="0" marL="0">
              <a:buNone/>
            </a:pPr>
            <a:r>
              <a:rPr lang="en-US" sz="1000" dirty="0">
                <a:solidFill>
                  <a:srgbClr val="FFF3B0"/>
                </a:solidFill>
                <a:latin typeface="Arial Black" pitchFamily="34" charset="0"/>
                <a:ea typeface="Arial Black" pitchFamily="34" charset="-122"/>
                <a:cs typeface="Arial Black" pitchFamily="34" charset="-120"/>
              </a:rPr>
              <a:t>  SCRIVI!</a:t>
            </a:r>
            <a:endParaRPr lang="en-US" sz="1500" dirty="0"/>
          </a:p>
        </p:txBody>
      </p:sp>
      <p:sp>
        <p:nvSpPr>
          <p:cNvPr id="14" name="signB_352"/>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Which post would you choose? Then improve the boring one!</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Quale annuncio sceglieresti? Poi migliora quello noioso!</a:t>
            </a:r>
            <a:endParaRPr lang="en-US" sz="1200" dirty="0"/>
          </a:p>
        </p:txBody>
      </p:sp>
      <p:sp>
        <p:nvSpPr>
          <p:cNvPr id="15" name="iconBack_353"/>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54" descr="pi:PiPencilLine">    </p:cNvPr>
          <p:cNvPicPr>
            <a:picLocks noChangeAspect="1"/>
          </p:cNvPicPr>
          <p:nvPr/>
        </p:nvPicPr>
        <p:blipFill>
          <a:blip r:embed="rId3"/>
          <a:stretch>
            <a:fillRect/>
          </a:stretch>
        </p:blipFill>
        <p:spPr>
          <a:xfrm>
            <a:off x="914400" y="3474720"/>
            <a:ext cx="685800" cy="685800"/>
          </a:xfrm>
          <a:prstGeom prst="rect">
            <a:avLst/>
          </a:prstGeom>
        </p:spPr>
      </p:pic>
      <p:sp>
        <p:nvSpPr>
          <p:cNvPr id="17" name="num_355"/>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356"/>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the two posts on p.120. Which place would you choose for a holiday? Tell your partner why.</a:t>
            </a:r>
            <a:endParaRPr lang="en-US" sz="1300" dirty="0"/>
          </a:p>
        </p:txBody>
      </p:sp>
      <p:sp>
        <p:nvSpPr>
          <p:cNvPr id="19" name="num_357"/>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358"/>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Read about the flat in Florence. Underline the adjectives that make it attractive (stunning…).</a:t>
            </a:r>
            <a:endParaRPr lang="en-US" sz="1300" dirty="0"/>
          </a:p>
        </p:txBody>
      </p:sp>
      <p:sp>
        <p:nvSpPr>
          <p:cNvPr id="21" name="num_359"/>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360"/>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Rewrite the description of the Turkish villa with better adjectives.</a:t>
            </a:r>
            <a:endParaRPr lang="en-US" sz="1300" dirty="0"/>
          </a:p>
        </p:txBody>
      </p:sp>
      <p:sp>
        <p:nvSpPr>
          <p:cNvPr id="23" name="num_361"/>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362"/>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Plan your own post: 4 paragraphs – the place · the rooms · the location · who it's ideal for.</a:t>
            </a:r>
            <a:endParaRPr lang="en-US" sz="1300" dirty="0"/>
          </a:p>
        </p:txBody>
      </p:sp>
      <p:sp>
        <p:nvSpPr>
          <p:cNvPr id="25" name="bubble_363"/>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00" b="1" i="1" dirty="0">
                <a:solidFill>
                  <a:srgbClr val="111111"/>
                </a:solidFill>
                <a:latin typeface="Calibri" pitchFamily="34" charset="0"/>
                <a:ea typeface="Calibri" pitchFamily="34" charset="-122"/>
                <a:cs typeface="Calibri" pitchFamily="34" charset="-120"/>
              </a:rPr>
              <a:t>a fully-equipped kitchen · a sunny terrace · stunning views · ideal for a family</a:t>
            </a:r>
            <a:endParaRPr lang="en-US" sz="1100" dirty="0"/>
          </a:p>
        </p:txBody>
      </p:sp>
      <p:sp>
        <p:nvSpPr>
          <p:cNvPr id="26" name="pageTag_36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Writing Describing a house or flat p.120 · a, b, c</a:t>
            </a:r>
            <a:endParaRPr lang="en-US" sz="1050" dirty="0"/>
          </a:p>
        </p:txBody>
      </p:sp>
    </p:spTree>
  </p:cSld>
  <p:clrMapOvr>
    <a:masterClrMapping/>
  </p:clrMapOvr>
  <p:transition spd="med">
    <p:push dir="l"/>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65"/>
          <p:cNvSpPr/>
          <p:nvPr/>
        </p:nvSpPr>
        <p:spPr>
          <a:xfrm>
            <a:off x="54864" y="54864"/>
            <a:ext cx="9034272" cy="5033772"/>
          </a:xfrm>
          <a:prstGeom prst="rect">
            <a:avLst/>
          </a:prstGeom>
          <a:ln w="114300">
            <a:solidFill>
              <a:srgbClr val="A8E6B4"/>
            </a:solidFill>
            <a:prstDash val="solid"/>
          </a:ln>
        </p:spPr>
      </p:sp>
      <p:pic>
        <p:nvPicPr>
          <p:cNvPr id="4" name="logo_366"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67"/>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Estate agents</a:t>
            </a:r>
            <a:endParaRPr lang="en-US" sz="900" dirty="0"/>
          </a:p>
        </p:txBody>
      </p:sp>
      <p:sp>
        <p:nvSpPr>
          <p:cNvPr id="6" name="timer_368"/>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extra_369"/>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70"/>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9" name="title_371"/>
          <p:cNvSpPr txBox="1"/>
          <p:nvPr/>
        </p:nvSpPr>
        <p:spPr>
          <a:xfrm rot="90000">
            <a:off x="320040" y="676656"/>
            <a:ext cx="293522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Sell my house!</a:t>
            </a:r>
            <a:endParaRPr lang="en-US" sz="1500" dirty="0"/>
          </a:p>
        </p:txBody>
      </p:sp>
      <p:sp>
        <p:nvSpPr>
          <p:cNvPr id="10" name="tape_372"/>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73"/>
          <p:cNvSpPr/>
          <p:nvPr/>
        </p:nvSpPr>
        <p:spPr>
          <a:xfrm rot="-720000">
            <a:off x="2688336" y="1069848"/>
            <a:ext cx="685800" cy="219456"/>
          </a:xfrm>
          <a:prstGeom prst="rect">
            <a:avLst/>
          </a:prstGeom>
          <a:solidFill>
            <a:srgbClr val="FFD84D">
              <a:alpha val="75000"/>
            </a:srgbClr>
          </a:solidFill>
          <a:ln w="6350">
            <a:solidFill>
              <a:srgbClr val="FFD84D"/>
            </a:solidFill>
            <a:prstDash val="solid"/>
          </a:ln>
        </p:spPr>
      </p:sp>
      <p:sp>
        <p:nvSpPr>
          <p:cNvPr id="12" name="post_374"/>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75"/>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376"/>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Estate agents: sell a terrible house – honestly!</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Agenti immobiliari: vendete una casa terribile – con onestà!</a:t>
            </a:r>
            <a:endParaRPr lang="en-US" sz="1250" dirty="0"/>
          </a:p>
        </p:txBody>
      </p:sp>
      <p:sp>
        <p:nvSpPr>
          <p:cNvPr id="15" name="iconBack_377"/>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378" descr="pi:PiKey">    </p:cNvPr>
          <p:cNvPicPr>
            <a:picLocks noChangeAspect="1"/>
          </p:cNvPicPr>
          <p:nvPr/>
        </p:nvPicPr>
        <p:blipFill>
          <a:blip r:embed="rId3"/>
          <a:stretch>
            <a:fillRect/>
          </a:stretch>
        </p:blipFill>
        <p:spPr>
          <a:xfrm>
            <a:off x="914400" y="3474720"/>
            <a:ext cx="685800" cy="685800"/>
          </a:xfrm>
          <a:prstGeom prst="rect">
            <a:avLst/>
          </a:prstGeom>
        </p:spPr>
      </p:pic>
      <p:sp>
        <p:nvSpPr>
          <p:cNvPr id="17" name="num_379"/>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380"/>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Teacher gives each pair a 'problem house': tiny, very old, next to a motorway, no kitchen…</a:t>
            </a:r>
            <a:endParaRPr lang="en-US" sz="1300" dirty="0"/>
          </a:p>
        </p:txBody>
      </p:sp>
      <p:sp>
        <p:nvSpPr>
          <p:cNvPr id="19" name="num_381"/>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382"/>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Pairs prepare a 1-minute sales pitch. You can't lie – but you can be positive!</a:t>
            </a:r>
            <a:endParaRPr lang="en-US" sz="1300" dirty="0"/>
          </a:p>
        </p:txBody>
      </p:sp>
      <p:sp>
        <p:nvSpPr>
          <p:cNvPr id="21" name="num_383"/>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384"/>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Use houses vocabulary: It's cosy (= small!), it's got character (= old!)…</a:t>
            </a:r>
            <a:endParaRPr lang="en-US" sz="1300" dirty="0"/>
          </a:p>
        </p:txBody>
      </p:sp>
      <p:sp>
        <p:nvSpPr>
          <p:cNvPr id="23" name="num_385"/>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386"/>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The class votes: would you buy it?</a:t>
            </a:r>
            <a:endParaRPr lang="en-US" sz="1300" dirty="0"/>
          </a:p>
        </p:txBody>
      </p:sp>
      <p:sp>
        <p:nvSpPr>
          <p:cNvPr id="25" name="bubble_387"/>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i="1" dirty="0">
                <a:solidFill>
                  <a:srgbClr val="111111"/>
                </a:solidFill>
                <a:latin typeface="Calibri" pitchFamily="34" charset="0"/>
                <a:ea typeface="Calibri" pitchFamily="34" charset="-122"/>
                <a:cs typeface="Calibri" pitchFamily="34" charset="-120"/>
              </a:rPr>
              <a:t>This cosy flat has a lovely view of the motorway – you'll never feel alone!</a:t>
            </a:r>
            <a:endParaRPr lang="en-US" sz="1150" dirty="0"/>
          </a:p>
        </p:txBody>
      </p:sp>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388"/>
          <p:cNvSpPr/>
          <p:nvPr/>
        </p:nvSpPr>
        <p:spPr>
          <a:xfrm>
            <a:off x="54864" y="54864"/>
            <a:ext cx="9034272" cy="5033772"/>
          </a:xfrm>
          <a:prstGeom prst="rect">
            <a:avLst/>
          </a:prstGeom>
          <a:ln w="114300">
            <a:solidFill>
              <a:srgbClr val="A8E6B4"/>
            </a:solidFill>
            <a:prstDash val="solid"/>
          </a:ln>
        </p:spPr>
      </p:sp>
      <p:pic>
        <p:nvPicPr>
          <p:cNvPr id="4" name="logo_38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39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Vocabulary · Photocopiable 7B</a:t>
            </a:r>
            <a:endParaRPr lang="en-US" sz="900" dirty="0"/>
          </a:p>
        </p:txBody>
      </p:sp>
      <p:sp>
        <p:nvSpPr>
          <p:cNvPr id="6" name="timer_39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392"/>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39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7B · Part 2</a:t>
            </a:r>
            <a:endParaRPr lang="en-US" sz="1000" dirty="0"/>
          </a:p>
        </p:txBody>
      </p:sp>
      <p:sp>
        <p:nvSpPr>
          <p:cNvPr id="9" name="title_394"/>
          <p:cNvSpPr txBox="1"/>
          <p:nvPr/>
        </p:nvSpPr>
        <p:spPr>
          <a:xfrm rot="90000">
            <a:off x="320040" y="676656"/>
            <a:ext cx="467258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Houses for sale and rent</a:t>
            </a:r>
            <a:endParaRPr lang="en-US" sz="1500" dirty="0"/>
          </a:p>
        </p:txBody>
      </p:sp>
      <p:sp>
        <p:nvSpPr>
          <p:cNvPr id="10" name="tape_39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396"/>
          <p:cNvSpPr/>
          <p:nvPr/>
        </p:nvSpPr>
        <p:spPr>
          <a:xfrm rot="-720000">
            <a:off x="4425696" y="1069848"/>
            <a:ext cx="685800" cy="219456"/>
          </a:xfrm>
          <a:prstGeom prst="rect">
            <a:avLst/>
          </a:prstGeom>
          <a:solidFill>
            <a:srgbClr val="FFD84D">
              <a:alpha val="75000"/>
            </a:srgbClr>
          </a:solidFill>
          <a:ln w="6350">
            <a:solidFill>
              <a:srgbClr val="FFD84D"/>
            </a:solidFill>
            <a:prstDash val="solid"/>
          </a:ln>
        </p:spPr>
      </p:sp>
      <p:sp>
        <p:nvSpPr>
          <p:cNvPr id="12" name="post_397"/>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398"/>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4" name="signB_39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 Handout page 3: complete the ads in 3 minutes!</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 Fotocopia pag. 3: completa gli annunci in 3 minuti!</a:t>
            </a:r>
            <a:endParaRPr lang="en-US" sz="1200" dirty="0"/>
          </a:p>
        </p:txBody>
      </p:sp>
      <p:sp>
        <p:nvSpPr>
          <p:cNvPr id="15" name="box_400"/>
          <p:cNvSpPr txBox="1"/>
          <p:nvPr/>
        </p:nvSpPr>
        <p:spPr>
          <a:xfrm>
            <a:off x="2788920" y="1371600"/>
            <a:ext cx="965606"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TO RENT 2–3</a:t>
            </a:r>
            <a:endParaRPr lang="en-US" sz="1300" dirty="0"/>
          </a:p>
        </p:txBody>
      </p:sp>
      <p:sp>
        <p:nvSpPr>
          <p:cNvPr id="16" name="R1_a0"/>
          <p:cNvSpPr txBox="1"/>
          <p:nvPr/>
        </p:nvSpPr>
        <p:spPr>
          <a:xfrm>
            <a:off x="3809390" y="1408176"/>
            <a:ext cx="501457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2 second floor · 3 balcony</a:t>
            </a:r>
            <a:endParaRPr lang="en-US" sz="1200" dirty="0"/>
          </a:p>
        </p:txBody>
      </p:sp>
      <p:sp>
        <p:nvSpPr>
          <p:cNvPr id="17" name="box_401"/>
          <p:cNvSpPr txBox="1"/>
          <p:nvPr/>
        </p:nvSpPr>
        <p:spPr>
          <a:xfrm>
            <a:off x="2788920" y="2368296"/>
            <a:ext cx="965606"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FOR SALE: cottage 4–8</a:t>
            </a:r>
            <a:endParaRPr lang="en-US" sz="1150" dirty="0"/>
          </a:p>
        </p:txBody>
      </p:sp>
      <p:sp>
        <p:nvSpPr>
          <p:cNvPr id="18" name="R2_a1"/>
          <p:cNvSpPr txBox="1"/>
          <p:nvPr/>
        </p:nvSpPr>
        <p:spPr>
          <a:xfrm>
            <a:off x="3809390" y="2404872"/>
            <a:ext cx="501457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4 entrance · 5 wall · 6 gate · 7 roof · 8 chimney</a:t>
            </a:r>
            <a:endParaRPr lang="en-US" sz="1200" dirty="0"/>
          </a:p>
        </p:txBody>
      </p:sp>
      <p:sp>
        <p:nvSpPr>
          <p:cNvPr id="19" name="box_402"/>
          <p:cNvSpPr txBox="1"/>
          <p:nvPr/>
        </p:nvSpPr>
        <p:spPr>
          <a:xfrm>
            <a:off x="2788920" y="3364992"/>
            <a:ext cx="965606"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FOR SALE: designer house 9–15</a:t>
            </a:r>
            <a:endParaRPr lang="en-US" sz="1150" dirty="0"/>
          </a:p>
        </p:txBody>
      </p:sp>
      <p:sp>
        <p:nvSpPr>
          <p:cNvPr id="20" name="R3_a2"/>
          <p:cNvSpPr txBox="1"/>
          <p:nvPr/>
        </p:nvSpPr>
        <p:spPr>
          <a:xfrm>
            <a:off x="3809390" y="3401568"/>
            <a:ext cx="5014570" cy="795528"/>
          </a:xfrm>
          <a:prstGeom prst="roundRect">
            <a:avLst>
              <a:gd name="adj" fmla="val 6897"/>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9 outskirts · 10 path · 11 terrace · 12 steps · 13 ground floor · 14 top floor · 15 basement</a:t>
            </a:r>
            <a:endParaRPr lang="en-US" sz="1200" dirty="0"/>
          </a:p>
        </p:txBody>
      </p:sp>
      <p:sp>
        <p:nvSpPr>
          <p:cNvPr id="21" name="sticky_403"/>
          <p:cNvSpPr txBox="1"/>
          <p:nvPr/>
        </p:nvSpPr>
        <p:spPr>
          <a:xfrm rot="-120000">
            <a:off x="411480" y="4069080"/>
            <a:ext cx="2194560" cy="640080"/>
          </a:xfrm>
          <a:prstGeom prst="rect">
            <a:avLst/>
          </a:prstGeom>
          <a:solidFill>
            <a:srgbClr val="FFD84D"/>
          </a:solidFill>
          <a:ln w="12700">
            <a:solidFill>
              <a:srgbClr val="B7950B"/>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150" b="1" dirty="0">
                <a:solidFill>
                  <a:srgbClr val="111111"/>
                </a:solidFill>
                <a:latin typeface="Calibri" pitchFamily="34" charset="0"/>
                <a:ea typeface="Calibri" pitchFamily="34" charset="-122"/>
                <a:cs typeface="Calibri" pitchFamily="34" charset="-120"/>
              </a:rPr>
              <a:t>Activation: which home would you prefer? Why?</a:t>
            </a:r>
            <a:endParaRPr lang="en-US" sz="1150" dirty="0"/>
          </a:p>
        </p:txBody>
      </p:sp>
      <p:sp>
        <p:nvSpPr>
          <p:cNvPr id="22" name="pageTag_404"/>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 Print: B1_7B_Photocopiables.pdf, page 3 · Vocabulary 7B Houses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7B-2 The hotel of Mum and Dad</dc:title>
  <dc:subject>PptxGenJS Presentation</dc:subject>
  <dc:creator>London Language School</dc:creator>
  <cp:lastModifiedBy>London Language School</cp:lastModifiedBy>
  <cp:revision>1</cp:revision>
  <dcterms:created xsi:type="dcterms:W3CDTF">2026-10-05T09:39:32Z</dcterms:created>
  <dcterms:modified xsi:type="dcterms:W3CDTF">2026-10-05T09:39:32Z</dcterms:modified>
</cp:coreProperties>
</file>