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LESSON (60 min, lots of games). Make 2 teams for the whole lesson and keep the score on the board – a small prize/sticker for everyone at the end. Recycled language (TB42): countryside, daily routines, days of the week, free-time activities, parties, times (o'clock), How often…?, present simple, present continuous, jobs, physical descriptions,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QUIZ (5 min, TB42). Show the review video from the book's digital resources and do the quiz. Check how many answers learners remember. Repeat the video and quiz at the end of the Review (TB43) to measure progress. The link is only a YouTube SEARCH – use the book video if you have it. External resources are suggestions only: the teacher must preview and check all links, videos, adverts and content before using them with children. Always have the PowerPoint/classroom alternative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AND FIND IT (7 min, TB42 warm-up). Two lines at the front, a line down the middle of the board with team names. Flashcards (Countryside + Daily routines) on a table/floor at the back. Define a word: 'You need this after a shower' (towel), 'You clean your teeth with this' (toothbrush), 'A farmer drives it' (tractor), 'Water goes down it to the sea' (river), 'It's very big and high' (mountain), 'You can swim in it, it's not the sea' (lake), 'A lot of trees' (forest), 'They're green and they fall in autumn' (leaves), 'It's big, grey and hard' (rock), 'Cows eat grass in it' (field). The two front players race; the first to find the card sticks it on their team's side. Stronger: use word cards instead of flashcards.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(10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WHAT'S MISSING – MIXED UNITS (4 min, 2 rounds). Words from Units 1, 2 and 3 mixed together. Teams: 1 point per word, +1 for a sentence ('I have breakfast at 7 o'clock'). Round 2 = lake and nurse.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(15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WHAT'S MISSING – MIXED UNITS (4 min, 2 rounds). Words from Units 1, 2 and 3 mixed together. Teams: 1 point per word, +1 for a sentence ('I have breakfast at 7 o'clock'). Round 2 = lake and nurse.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CIRCLE (4 min, TB42). Give time to look at the small pictures: play football, go for a swim, watch a DVD, go shopping, go to a costume party, write an email, go to the forest, go to the mountains. Say an activity at random – students point. Play 1.50: students circle. KEY (TB42): shopping, swimming, costumes, football, forest and DVD.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(4 min, TB42). Play the audio again. KEY (TB42): 1 DVD 2 shopping 3 football 4 swim 5 five 6 pirate 7 clown. (Example: go to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SIMON SAYS (3 min) – mixed units. SEE: 6 pictures; actions on click. TEACHER: mix units: 'Simon says: climb a mountain! Simon says: drive a tractor! Brush your teeth!' (no 'Simon says' → anyone who moves sits down). STUDENTS: do the action and say the phrase. GROUPING: whole class (2 teams standing on opposite sides). SCORE: the team with more children standing after 2 minutes gets 3 points. LANGUAGE: Unit 1 (countryside actions), Unit 2 (routines, free time), Unit 3 (jobs). Speed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 INTERLEAVED UNITS 1–3 (3 min). SEE: 3 words per row, answers hidden. TEACHER: say the three words clearly. STUDENTS: teams hold up 1, 2 or 3 fingers (commit), then click. Practise the 'odd' sound: th = tongue between the teeth; h = warm breath; stress = big clap. CATCH IT: say 'Tursday', 'air', 'PO-lice' – first team to catch it gets a point. Row 4 = the Italian word-order trap (describing words BEFORE 'hair'). SCORE: 1 point per correct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GUESS WHO (7 min, TB42). Revise free-time activities with flashcards. Make sentences from the table ('She wakes up at eight o'clock and she never reads comics' – Sally). Model with a learner: you choose a person, they ask 'How often do you watch TV? What time do you wake up?' Pairs take turns. The 4 class examples (answers on click) come from the table. Extra support: show o'clock times on a clock. Stronger: 'On Saturdays I play tennis at … What time do I play tennis?' – 3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YOU RATHER (4 min) – interleaves Units 1, 2 and 3. SEE: 5 choices. TEACHER: read a choice, pointing LEFT for the first, RIGHT for the second. STUDENTS: walk to that side of the room, then 2 children per side say why with the frame 'I want to be a pirate because I love treasure!'. GROUPING: whole class. SCORE: no points – but the funniest 'because' sentence chooses the next question. LANGUAGE: Unit 1 countryside, Unit 2 routines/free time, Unit 3 jobs/appearance + Why/Because. REVEAL: personal answers. Challenge: 'Which one would an alien choose?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SENTENCES (6 min, TB43). 'Where's the cook?' – learners point. Do the example together. Pairs read and correct. Extra support: ask about the pictures first ('Has the farmer got curly hair? Is it blonde? What's she doing?'). KEY (TB43): 2 The doctor's got short, curly hair. She's listening to music. 3 The pirate's got a long beard. He's (roller) skating. 4 The farmer's got straight, brown hair. She's feeding a kitten. 5 The nurse's got a moustache. He's helping a girl. EXTENSION: learners find a person in the book and write two sentences with one mistake; their partner corrects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BINGO (6 min). SEE: 10 pictures with words (spelling support). TEACHER: students draw a 3×3 grid and write 9 of the 10 words. Don't say the word – say a CLUE: 'You can climb it' (mountain), 'Water, fish, boats' (river), 'The farmer drives it' (tractor), 'You clean your teeth with it' (toothbrush), 'It's big, grey and hard' (rock), 'You do it on ice' (go skating), 'You buy things' (go shopping), 'You watch it at the cinema' (watch a film), 'Hair on a man's chin' (beard), 'Not straight hair' (curly). STUDENTS: cross out the word. GROUPING: alone. SCORE: first line (3 in a row) = 'BINGO!' – they must read the 3 words back correctly to win 2 points for their team; full card = 5. LANGUAGE: interleaved Units 1–3 vocabulary from meaning. REVEAL: teacher keeps a list of called words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ABOUT YOU (6 min, TB43). Read the questions and check comprehension. Ask two or three learners to give answers to the first two questions. Learners write individually. Answers on the slide are MODELS only (students' own answers). Extra support: model answers / prompts on the board. Stronger learners write three more questions for a partner ('How often do you…? When do you…? What do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Count the team points – everyone gets a sticker! Repeat the video quiz (TB43) if there's time and compare with the beginning. Ending (TB42): pairs ask and answer How often…? about the pictures in Activity 2 ('How often do you play football?'). AB p.42 ex.1 needs the AB audio (4.19) – do it in class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PICTIONARY (6 min). SEE: the word list is for the TEACHER – turn the screen off / freeze it before playing. TEACHER: whisper a secret word (or show a word card) to one child from each team. STUDENTS: both draw at the board at the same time; their own team guesses ('It's a lake!'). GROUPING: 2 teams, new artists each round. SCORE: first team to say the word in a full sentence ('It's a towel!') = 1 point. LANGUAGE: Units 1–3 words. REVEAL: the artist shows the word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SPEED INTERVIEWS (6 min, TB43 pair work). SEE: 5 questions (support). TEACHER: make two circles, inner facing outer; ring a bell / say 'Ding!' every minute. STUDENTS: inner circle asks one question, outer answers in a full sentence, then swap; on 'Ding!' the outer circle moves one place. GROUPING: pairs (changing). SCORE: none – at the end ask 'Who has the most interesting answer?' and that child tells the class. LANGUAGE: How often…? What time…? present continuous, Has he got…?, want to be +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SHARK ATTACK (5 min, TB41 Hangman alternative). Draw a cliff dropping down to the sea with a shark fin, and 6 steps on the cliff. Write a line for each letter. Learners call letters; a wrong letter = the stick person goes one step towards the shark. They must guess the word before step 6! Write the wrong letters at the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 WHISPER RACE (5 min). Two teams in lines. Show the first player of each team the same sentence (on paper). They whisper it down the line; the last player runs to the board and writes it. Closest sentence = 1 point, perfect spelling = 2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results?search_query=power+up+3+review+units+1-3" TargetMode="External"/><Relationship Id="rId1" Type="http://schemas.openxmlformats.org/officeDocument/2006/relationships/image" Target="../media/Slide-2-image-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500" dirty="0">
                <a:solidFill>
                  <a:srgbClr val="FFFFFF"/>
                </a:solidFill>
                <a:latin typeface="Arial Black" pitchFamily="34" charset="0"/>
                <a:ea typeface="Arial Black" pitchFamily="34" charset="-122"/>
                <a:cs typeface="Arial Black" pitchFamily="34" charset="-120"/>
              </a:rPr>
              <a:t>REVIEW · UNITS 1–3</a:t>
            </a:r>
            <a:endParaRPr lang="en-US" sz="15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Review games day!</a:t>
            </a:r>
            <a:endParaRPr lang="en-US" sz="27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Units 1–3 games!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Oggi: giochi delle Unità 1–3!</a:t>
            </a:r>
            <a:endParaRPr lang="en-US" sz="14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PLAY</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Play games with all our words!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Gioca con tutte le nostre parole!</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Jack and Zoe's weekend.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il weekend di Jack e Zoe.</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Ask, answer and guess who!</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Chiedi, rispondi e indovina chi è!</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r1-p42-cover.jpg">    </p:cNvPr>
          <p:cNvPicPr>
            <a:picLocks noChangeAspect="1"/>
          </p:cNvPicPr>
          <p:nvPr/>
        </p:nvPicPr>
        <p:blipFill>
          <a:blip r:embed="rId2"/>
          <a:stretch>
            <a:fillRect/>
          </a:stretch>
        </p:blipFill>
        <p:spPr>
          <a:xfrm>
            <a:off x="3246120" y="1888808"/>
            <a:ext cx="3246120" cy="2028825"/>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fc/tractor.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fc/pirate.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It's games day!</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Oggi si gioca!</a:t>
            </a:r>
            <a:endParaRPr lang="en-US" sz="1500" dirty="0"/>
          </a:p>
        </p:txBody>
      </p:sp>
      <p:sp>
        <p:nvSpPr>
          <p:cNvPr id="25" name="bk_23"/>
          <p:cNvSpPr/>
          <p:nvPr/>
        </p:nvSpPr>
        <p:spPr>
          <a:xfrm>
            <a:off x="228600" y="4681728"/>
            <a:ext cx="4279392"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p.42–43 · 🎬 review video · 🎧 1.50</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WATCH</a:t>
            </a:r>
            <a:endParaRPr lang="en-US" sz="1600" dirty="0"/>
          </a:p>
        </p:txBody>
      </p:sp>
      <p:sp>
        <p:nvSpPr>
          <p:cNvPr id="4" name="bm_2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5DA2"/>
                </a:solidFill>
                <a:latin typeface="Arial Black" pitchFamily="34" charset="0"/>
                <a:ea typeface="Arial Black" pitchFamily="34" charset="-122"/>
                <a:cs typeface="Arial Black" pitchFamily="34" charset="-120"/>
              </a:rPr>
              <a:t>Video quiz!</a:t>
            </a:r>
            <a:endParaRPr lang="en-US" sz="3200" dirty="0"/>
          </a:p>
        </p:txBody>
      </p:sp>
      <p:sp>
        <p:nvSpPr>
          <p:cNvPr id="5" name="in_2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Watch the video and do the quiz.</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il video e fai il quiz.</a:t>
            </a:r>
            <a:endParaRPr lang="en-US" sz="1400" dirty="0"/>
          </a:p>
        </p:txBody>
      </p:sp>
      <p:sp>
        <p:nvSpPr>
          <p:cNvPr id="6" name="mode_2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WATCH · ⏱ 3 MIN</a:t>
            </a:r>
            <a:endParaRPr lang="en-US" sz="1000" dirty="0"/>
          </a:p>
        </p:txBody>
      </p:sp>
      <p:sp>
        <p:nvSpPr>
          <p:cNvPr id="7" name="pf_28"/>
          <p:cNvSpPr/>
          <p:nvPr/>
        </p:nvSpPr>
        <p:spPr>
          <a:xfrm>
            <a:off x="310896" y="1271016"/>
            <a:ext cx="4041648" cy="3218688"/>
          </a:xfrm>
          <a:prstGeom prst="roundRect">
            <a:avLst>
              <a:gd name="adj" fmla="val 284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9" descr="/home/claude/movers/img/e-r1trophy.png">    </p:cNvPr>
          <p:cNvPicPr>
            <a:picLocks noChangeAspect="1"/>
          </p:cNvPicPr>
          <p:nvPr/>
        </p:nvPicPr>
        <p:blipFill>
          <a:blip r:embed="rId2"/>
          <a:stretch>
            <a:fillRect/>
          </a:stretch>
        </p:blipFill>
        <p:spPr>
          <a:xfrm>
            <a:off x="777240" y="1325880"/>
            <a:ext cx="3108960" cy="3108960"/>
          </a:xfrm>
          <a:prstGeom prst="rect">
            <a:avLst/>
          </a:prstGeom>
        </p:spPr>
      </p:pic>
      <p:sp>
        <p:nvSpPr>
          <p:cNvPr id="9" name="lk_30"/>
          <p:cNvSpPr/>
          <p:nvPr/>
        </p:nvSpPr>
        <p:spPr>
          <a:xfrm>
            <a:off x="4572000" y="1371600"/>
            <a:ext cx="4297680" cy="475488"/>
          </a:xfrm>
          <a:prstGeom prst="roundRect">
            <a:avLst>
              <a:gd name="adj" fmla="val 26923"/>
            </a:avLst>
          </a:prstGeom>
          <a:solidFill>
            <a:srgbClr val="FFFFFF"/>
          </a:solidFill>
          <a:ln w="31750">
            <a:solidFill>
              <a:srgbClr val="F2545B"/>
            </a:solidFill>
          </a:ln>
        </p:spPr>
        <p:txBody>
          <a:bodyPr wrap="square" lIns="101600" tIns="101600" rIns="101600" bIns="101600" rtlCol="0" anchor="ctr"/>
          <a:lstStyle/>
          <a:p>
            <a:pPr indent="0" marL="0">
              <a:buNone/>
            </a:pPr>
            <a:r>
              <a:rPr lang="en-US" sz="1050" u="sng" dirty="0">
                <a:solidFill>
                  <a:srgbClr val="F2545B"/>
                </a:solidFill>
                <a:latin typeface="Arial Rounded MT Bold" pitchFamily="34" charset="0"/>
                <a:ea typeface="Arial Rounded MT Bold" pitchFamily="34" charset="-122"/>
                <a:cs typeface="Arial Rounded MT Bold" pitchFamily="34" charset="-120"/>
                <a:hlinkClick r:id="rId3" invalidUrl="" action="" tgtFrame="" tooltip="https://www.youtube.com/results?search_query=power+up+3+review+units+1-3" history="1" highlightClick="0" endSnd="0">
                  <a:extLst>
                    <a:ext uri="{A12FA001-AC4F-418D-AE19-62706E023703}">
                      <ahyp:hlinkClr xmlns:ahyp="http://schemas.microsoft.com/office/drawing/2018/hyperlinkcolor" val="tx"/>
                    </a:ext>
                  </a:extLst>
                </a:hlinkClick>
              </a:rPr>
              <a:t>▶  Review video Units 1–3 (book video – Pupil's Book p.42)</a:t>
            </a:r>
            <a:endParaRPr lang="en-US" sz="1050" dirty="0"/>
          </a:p>
        </p:txBody>
      </p:sp>
      <p:sp>
        <p:nvSpPr>
          <p:cNvPr id="10" name="vl_31"/>
          <p:cNvSpPr/>
          <p:nvPr/>
        </p:nvSpPr>
        <p:spPr>
          <a:xfrm>
            <a:off x="4572000" y="2029968"/>
            <a:ext cx="4297680" cy="1463040"/>
          </a:xfrm>
          <a:prstGeom prst="rect">
            <a:avLst/>
          </a:prstGeom>
          <a:noFill/>
          <a:ln/>
        </p:spPr>
        <p:txBody>
          <a:bodyPr wrap="square" lIns="50800" tIns="50800" rIns="50800" bIns="50800" rtlCol="0" anchor="t"/>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How many answers can you remember? 🧠</a:t>
            </a:r>
            <a:endParaRPr lang="en-US" sz="1300" dirty="0"/>
          </a:p>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Quante risposte ricordi?</a:t>
            </a:r>
            <a:endParaRPr lang="en-US" sz="1300" dirty="0"/>
          </a:p>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We do the quiz again at the end! 🏆</a:t>
            </a:r>
            <a:endParaRPr lang="en-US" sz="1300" dirty="0"/>
          </a:p>
        </p:txBody>
      </p:sp>
      <p:sp>
        <p:nvSpPr>
          <p:cNvPr id="11" name="disc_32"/>
          <p:cNvSpPr/>
          <p:nvPr/>
        </p:nvSpPr>
        <p:spPr>
          <a:xfrm>
            <a:off x="4572000" y="4251960"/>
            <a:ext cx="4297680" cy="365760"/>
          </a:xfrm>
          <a:prstGeom prst="rect">
            <a:avLst/>
          </a:prstGeom>
          <a:noFill/>
          <a:ln/>
        </p:spPr>
        <p:txBody>
          <a:bodyPr wrap="square" lIns="0" tIns="0" rIns="0" bIns="0" rtlCol="0" anchor="ctr"/>
          <a:lstStyle/>
          <a:p>
            <a:pPr indent="0" marL="0">
              <a:buNone/>
            </a:pPr>
            <a:r>
              <a:rPr lang="en-US" sz="900" i="1" dirty="0">
                <a:solidFill>
                  <a:srgbClr val="1E2A5A"/>
                </a:solidFill>
                <a:latin typeface="Arial" pitchFamily="34" charset="0"/>
                <a:ea typeface="Arial" pitchFamily="34" charset="-122"/>
                <a:cs typeface="Arial" pitchFamily="34" charset="-120"/>
              </a:rPr>
              <a:t>Teacher: preview every link before class (ads, content). The lesson works without it. · Controllare i link prima della lezione.</a:t>
            </a:r>
            <a:endParaRPr lang="en-US" sz="900" dirty="0"/>
          </a:p>
        </p:txBody>
      </p:sp>
      <p:sp>
        <p:nvSpPr>
          <p:cNvPr id="12" name="bk_33"/>
          <p:cNvSpPr/>
          <p:nvPr/>
        </p:nvSpPr>
        <p:spPr>
          <a:xfrm>
            <a:off x="228600" y="4681728"/>
            <a:ext cx="326898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p.42 · 🎬 review video</a:t>
            </a:r>
            <a:endParaRPr lang="en-US" sz="11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Run and find it!</a:t>
            </a:r>
            <a:endParaRPr lang="en-US" sz="2700" dirty="0"/>
          </a:p>
        </p:txBody>
      </p:sp>
      <p:sp>
        <p:nvSpPr>
          <p:cNvPr id="5" name="in_3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Run and find the card!</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Corri e trova la carta!</a:t>
            </a:r>
            <a:endParaRPr lang="en-US" sz="1400" dirty="0"/>
          </a:p>
        </p:txBody>
      </p:sp>
      <p:sp>
        <p:nvSpPr>
          <p:cNvPr id="6" name="mode_3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6 MIN</a:t>
            </a:r>
            <a:endParaRPr lang="en-US" sz="1000" dirty="0"/>
          </a:p>
        </p:txBody>
      </p:sp>
      <p:sp>
        <p:nvSpPr>
          <p:cNvPr id="7" name="st_38"/>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39"/>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40"/>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41"/>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'You need this after a shower.'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'Ti serve dopo la doccia.'</a:t>
            </a:r>
            <a:endParaRPr lang="en-US" sz="1050" dirty="0"/>
          </a:p>
        </p:txBody>
      </p:sp>
      <p:sp>
        <p:nvSpPr>
          <p:cNvPr id="11" name="st_42"/>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2" name="sn_43"/>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44"/>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4" name="se_45"/>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Front players: run and find the card!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I primi della fila: correte a trovare la carta!</a:t>
            </a:r>
            <a:endParaRPr lang="en-US" sz="1050" dirty="0"/>
          </a:p>
        </p:txBody>
      </p:sp>
      <p:sp>
        <p:nvSpPr>
          <p:cNvPr id="15" name="st_46"/>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47"/>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48"/>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49"/>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the word = the card is yours!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la parola = la carta è tua!</a:t>
            </a:r>
            <a:endParaRPr lang="en-US" sz="1050" dirty="0"/>
          </a:p>
        </p:txBody>
      </p:sp>
      <p:sp>
        <p:nvSpPr>
          <p:cNvPr id="19" name="cd_50"/>
          <p:cNvSpPr/>
          <p:nvPr/>
        </p:nvSpPr>
        <p:spPr>
          <a:xfrm>
            <a:off x="3108960"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51" descr="/home/claude/movers/img/fc/towel.png">    </p:cNvPr>
          <p:cNvPicPr>
            <a:picLocks noChangeAspect="1"/>
          </p:cNvPicPr>
          <p:nvPr/>
        </p:nvPicPr>
        <p:blipFill>
          <a:blip r:embed="rId2"/>
          <a:stretch>
            <a:fillRect/>
          </a:stretch>
        </p:blipFill>
        <p:spPr>
          <a:xfrm>
            <a:off x="3182112" y="1399032"/>
            <a:ext cx="886968" cy="886968"/>
          </a:xfrm>
          <a:prstGeom prst="rect">
            <a:avLst/>
          </a:prstGeom>
        </p:spPr>
      </p:pic>
      <p:sp>
        <p:nvSpPr>
          <p:cNvPr id="21" name="cd_52"/>
          <p:cNvSpPr/>
          <p:nvPr/>
        </p:nvSpPr>
        <p:spPr>
          <a:xfrm>
            <a:off x="4279392"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53" descr="/home/claude/movers/img/fc/toothbrush.png">    </p:cNvPr>
          <p:cNvPicPr>
            <a:picLocks noChangeAspect="1"/>
          </p:cNvPicPr>
          <p:nvPr/>
        </p:nvPicPr>
        <p:blipFill>
          <a:blip r:embed="rId3"/>
          <a:stretch>
            <a:fillRect/>
          </a:stretch>
        </p:blipFill>
        <p:spPr>
          <a:xfrm>
            <a:off x="4352544" y="1399032"/>
            <a:ext cx="886968" cy="886968"/>
          </a:xfrm>
          <a:prstGeom prst="rect">
            <a:avLst/>
          </a:prstGeom>
        </p:spPr>
      </p:pic>
      <p:sp>
        <p:nvSpPr>
          <p:cNvPr id="23" name="cd_54"/>
          <p:cNvSpPr/>
          <p:nvPr/>
        </p:nvSpPr>
        <p:spPr>
          <a:xfrm>
            <a:off x="5449824"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55" descr="/home/claude/movers/img/fc/tractor.png">    </p:cNvPr>
          <p:cNvPicPr>
            <a:picLocks noChangeAspect="1"/>
          </p:cNvPicPr>
          <p:nvPr/>
        </p:nvPicPr>
        <p:blipFill>
          <a:blip r:embed="rId4"/>
          <a:stretch>
            <a:fillRect/>
          </a:stretch>
        </p:blipFill>
        <p:spPr>
          <a:xfrm>
            <a:off x="5522976" y="1399032"/>
            <a:ext cx="886968" cy="886968"/>
          </a:xfrm>
          <a:prstGeom prst="rect">
            <a:avLst/>
          </a:prstGeom>
        </p:spPr>
      </p:pic>
      <p:sp>
        <p:nvSpPr>
          <p:cNvPr id="25" name="cd_56"/>
          <p:cNvSpPr/>
          <p:nvPr/>
        </p:nvSpPr>
        <p:spPr>
          <a:xfrm>
            <a:off x="6620256"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57" descr="/home/claude/movers/img/fc/river.png">    </p:cNvPr>
          <p:cNvPicPr>
            <a:picLocks noChangeAspect="1"/>
          </p:cNvPicPr>
          <p:nvPr/>
        </p:nvPicPr>
        <p:blipFill>
          <a:blip r:embed="rId5"/>
          <a:stretch>
            <a:fillRect/>
          </a:stretch>
        </p:blipFill>
        <p:spPr>
          <a:xfrm>
            <a:off x="6693408" y="1399032"/>
            <a:ext cx="886968" cy="886968"/>
          </a:xfrm>
          <a:prstGeom prst="rect">
            <a:avLst/>
          </a:prstGeom>
        </p:spPr>
      </p:pic>
      <p:sp>
        <p:nvSpPr>
          <p:cNvPr id="27" name="cd_58"/>
          <p:cNvSpPr/>
          <p:nvPr/>
        </p:nvSpPr>
        <p:spPr>
          <a:xfrm>
            <a:off x="7790688"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59" descr="/home/claude/movers/img/fc/mountain.png">    </p:cNvPr>
          <p:cNvPicPr>
            <a:picLocks noChangeAspect="1"/>
          </p:cNvPicPr>
          <p:nvPr/>
        </p:nvPicPr>
        <p:blipFill>
          <a:blip r:embed="rId6"/>
          <a:stretch>
            <a:fillRect/>
          </a:stretch>
        </p:blipFill>
        <p:spPr>
          <a:xfrm>
            <a:off x="7863840" y="1399032"/>
            <a:ext cx="886968" cy="886968"/>
          </a:xfrm>
          <a:prstGeom prst="rect">
            <a:avLst/>
          </a:prstGeom>
        </p:spPr>
      </p:pic>
      <p:sp>
        <p:nvSpPr>
          <p:cNvPr id="29" name="cd_60"/>
          <p:cNvSpPr/>
          <p:nvPr/>
        </p:nvSpPr>
        <p:spPr>
          <a:xfrm>
            <a:off x="3108960"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61" descr="/home/claude/movers/img/fc/lake.png">    </p:cNvPr>
          <p:cNvPicPr>
            <a:picLocks noChangeAspect="1"/>
          </p:cNvPicPr>
          <p:nvPr/>
        </p:nvPicPr>
        <p:blipFill>
          <a:blip r:embed="rId7"/>
          <a:stretch>
            <a:fillRect/>
          </a:stretch>
        </p:blipFill>
        <p:spPr>
          <a:xfrm>
            <a:off x="3182112" y="2542032"/>
            <a:ext cx="886968" cy="886968"/>
          </a:xfrm>
          <a:prstGeom prst="rect">
            <a:avLst/>
          </a:prstGeom>
        </p:spPr>
      </p:pic>
      <p:sp>
        <p:nvSpPr>
          <p:cNvPr id="31" name="cd_62"/>
          <p:cNvSpPr/>
          <p:nvPr/>
        </p:nvSpPr>
        <p:spPr>
          <a:xfrm>
            <a:off x="4279392"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63" descr="/home/claude/movers/img/fc/forest.png">    </p:cNvPr>
          <p:cNvPicPr>
            <a:picLocks noChangeAspect="1"/>
          </p:cNvPicPr>
          <p:nvPr/>
        </p:nvPicPr>
        <p:blipFill>
          <a:blip r:embed="rId8"/>
          <a:stretch>
            <a:fillRect/>
          </a:stretch>
        </p:blipFill>
        <p:spPr>
          <a:xfrm>
            <a:off x="4352544" y="2542032"/>
            <a:ext cx="886968" cy="886968"/>
          </a:xfrm>
          <a:prstGeom prst="rect">
            <a:avLst/>
          </a:prstGeom>
        </p:spPr>
      </p:pic>
      <p:sp>
        <p:nvSpPr>
          <p:cNvPr id="33" name="cd_64"/>
          <p:cNvSpPr/>
          <p:nvPr/>
        </p:nvSpPr>
        <p:spPr>
          <a:xfrm>
            <a:off x="5449824"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4" name="ci_65" descr="/home/claude/movers/img/fc/leaf-leaves.png">    </p:cNvPr>
          <p:cNvPicPr>
            <a:picLocks noChangeAspect="1"/>
          </p:cNvPicPr>
          <p:nvPr/>
        </p:nvPicPr>
        <p:blipFill>
          <a:blip r:embed="rId9"/>
          <a:stretch>
            <a:fillRect/>
          </a:stretch>
        </p:blipFill>
        <p:spPr>
          <a:xfrm>
            <a:off x="5522976" y="2542032"/>
            <a:ext cx="886968" cy="886968"/>
          </a:xfrm>
          <a:prstGeom prst="rect">
            <a:avLst/>
          </a:prstGeom>
        </p:spPr>
      </p:pic>
      <p:sp>
        <p:nvSpPr>
          <p:cNvPr id="35" name="cd_66"/>
          <p:cNvSpPr/>
          <p:nvPr/>
        </p:nvSpPr>
        <p:spPr>
          <a:xfrm>
            <a:off x="6620256"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6" name="ci_67" descr="/home/claude/movers/img/fc/rock.png">    </p:cNvPr>
          <p:cNvPicPr>
            <a:picLocks noChangeAspect="1"/>
          </p:cNvPicPr>
          <p:nvPr/>
        </p:nvPicPr>
        <p:blipFill>
          <a:blip r:embed="rId10"/>
          <a:stretch>
            <a:fillRect/>
          </a:stretch>
        </p:blipFill>
        <p:spPr>
          <a:xfrm>
            <a:off x="6693408" y="2542032"/>
            <a:ext cx="886968" cy="886968"/>
          </a:xfrm>
          <a:prstGeom prst="rect">
            <a:avLst/>
          </a:prstGeom>
        </p:spPr>
      </p:pic>
      <p:sp>
        <p:nvSpPr>
          <p:cNvPr id="37" name="cd_68"/>
          <p:cNvSpPr/>
          <p:nvPr/>
        </p:nvSpPr>
        <p:spPr>
          <a:xfrm>
            <a:off x="7790688"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8" name="ci_69" descr="/home/claude/movers/img/fc/field.png">    </p:cNvPr>
          <p:cNvPicPr>
            <a:picLocks noChangeAspect="1"/>
          </p:cNvPicPr>
          <p:nvPr/>
        </p:nvPicPr>
        <p:blipFill>
          <a:blip r:embed="rId11"/>
          <a:stretch>
            <a:fillRect/>
          </a:stretch>
        </p:blipFill>
        <p:spPr>
          <a:xfrm>
            <a:off x="7863840" y="2542032"/>
            <a:ext cx="886968" cy="886968"/>
          </a:xfrm>
          <a:prstGeom prst="rect">
            <a:avLst/>
          </a:prstGeom>
        </p:spPr>
      </p:pic>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7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71"/>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72"/>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10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73"/>
          <p:cNvSpPr/>
          <p:nvPr/>
        </p:nvSpPr>
        <p:spPr>
          <a:xfrm>
            <a:off x="32004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74" descr="/home/claude/movers/img/fc/lake.png">    </p:cNvPr>
          <p:cNvPicPr>
            <a:picLocks noChangeAspect="1"/>
          </p:cNvPicPr>
          <p:nvPr/>
        </p:nvPicPr>
        <p:blipFill>
          <a:blip r:embed="rId2"/>
          <a:stretch>
            <a:fillRect/>
          </a:stretch>
        </p:blipFill>
        <p:spPr>
          <a:xfrm>
            <a:off x="585216" y="1353312"/>
            <a:ext cx="1024128" cy="1024128"/>
          </a:xfrm>
          <a:prstGeom prst="rect">
            <a:avLst/>
          </a:prstGeom>
        </p:spPr>
      </p:pic>
      <p:sp>
        <p:nvSpPr>
          <p:cNvPr id="8" name="lb_75"/>
          <p:cNvSpPr/>
          <p:nvPr/>
        </p:nvSpPr>
        <p:spPr>
          <a:xfrm>
            <a:off x="35661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lake</a:t>
            </a:r>
            <a:endParaRPr lang="en-US" sz="1200" dirty="0"/>
          </a:p>
        </p:txBody>
      </p:sp>
      <p:sp>
        <p:nvSpPr>
          <p:cNvPr id="9" name="cd_76"/>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77" descr="/home/claude/movers/img/fc/get-dressed.png">    </p:cNvPr>
          <p:cNvPicPr>
            <a:picLocks noChangeAspect="1"/>
          </p:cNvPicPr>
          <p:nvPr/>
        </p:nvPicPr>
        <p:blipFill>
          <a:blip r:embed="rId3"/>
          <a:stretch>
            <a:fillRect/>
          </a:stretch>
        </p:blipFill>
        <p:spPr>
          <a:xfrm>
            <a:off x="2322576" y="1353312"/>
            <a:ext cx="1024128" cy="1024128"/>
          </a:xfrm>
          <a:prstGeom prst="rect">
            <a:avLst/>
          </a:prstGeom>
        </p:spPr>
      </p:pic>
      <p:sp>
        <p:nvSpPr>
          <p:cNvPr id="11" name="lb_78"/>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2" name="cd_79"/>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80" descr="/home/claude/movers/img/fc/pirate.png">    </p:cNvPr>
          <p:cNvPicPr>
            <a:picLocks noChangeAspect="1"/>
          </p:cNvPicPr>
          <p:nvPr/>
        </p:nvPicPr>
        <p:blipFill>
          <a:blip r:embed="rId4"/>
          <a:stretch>
            <a:fillRect/>
          </a:stretch>
        </p:blipFill>
        <p:spPr>
          <a:xfrm>
            <a:off x="4059936" y="1353312"/>
            <a:ext cx="1024128" cy="1024128"/>
          </a:xfrm>
          <a:prstGeom prst="rect">
            <a:avLst/>
          </a:prstGeom>
        </p:spPr>
      </p:pic>
      <p:sp>
        <p:nvSpPr>
          <p:cNvPr id="14" name="lb_81"/>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5" name="cd_82"/>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83" descr="/home/claude/movers/img/fc/go-skating.png">    </p:cNvPr>
          <p:cNvPicPr>
            <a:picLocks noChangeAspect="1"/>
          </p:cNvPicPr>
          <p:nvPr/>
        </p:nvPicPr>
        <p:blipFill>
          <a:blip r:embed="rId5"/>
          <a:stretch>
            <a:fillRect/>
          </a:stretch>
        </p:blipFill>
        <p:spPr>
          <a:xfrm>
            <a:off x="5797296" y="1353312"/>
            <a:ext cx="1024128" cy="1024128"/>
          </a:xfrm>
          <a:prstGeom prst="rect">
            <a:avLst/>
          </a:prstGeom>
        </p:spPr>
      </p:pic>
      <p:sp>
        <p:nvSpPr>
          <p:cNvPr id="17" name="lb_84"/>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8" name="cd_85"/>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86" descr="/home/claude/movers/img/fc/beard.png">    </p:cNvPr>
          <p:cNvPicPr>
            <a:picLocks noChangeAspect="1"/>
          </p:cNvPicPr>
          <p:nvPr/>
        </p:nvPicPr>
        <p:blipFill>
          <a:blip r:embed="rId6"/>
          <a:stretch>
            <a:fillRect/>
          </a:stretch>
        </p:blipFill>
        <p:spPr>
          <a:xfrm>
            <a:off x="7534656" y="1353312"/>
            <a:ext cx="1024128" cy="1024128"/>
          </a:xfrm>
          <a:prstGeom prst="rect">
            <a:avLst/>
          </a:prstGeom>
        </p:spPr>
      </p:pic>
      <p:sp>
        <p:nvSpPr>
          <p:cNvPr id="20" name="lb_87"/>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21" name="cd_88"/>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89" descr="/home/claude/movers/img/fc/tractor.png">    </p:cNvPr>
          <p:cNvPicPr>
            <a:picLocks noChangeAspect="1"/>
          </p:cNvPicPr>
          <p:nvPr/>
        </p:nvPicPr>
        <p:blipFill>
          <a:blip r:embed="rId7"/>
          <a:stretch>
            <a:fillRect/>
          </a:stretch>
        </p:blipFill>
        <p:spPr>
          <a:xfrm>
            <a:off x="585216" y="3017520"/>
            <a:ext cx="1024128" cy="1024128"/>
          </a:xfrm>
          <a:prstGeom prst="rect">
            <a:avLst/>
          </a:prstGeom>
        </p:spPr>
      </p:pic>
      <p:sp>
        <p:nvSpPr>
          <p:cNvPr id="23" name="lb_90"/>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4" name="cd_91"/>
          <p:cNvSpPr/>
          <p:nvPr/>
        </p:nvSpPr>
        <p:spPr>
          <a:xfrm>
            <a:off x="205740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5" name="ci_92" descr="/home/claude/movers/img/fc/have-breakfast.png">    </p:cNvPr>
          <p:cNvPicPr>
            <a:picLocks noChangeAspect="1"/>
          </p:cNvPicPr>
          <p:nvPr/>
        </p:nvPicPr>
        <p:blipFill>
          <a:blip r:embed="rId8"/>
          <a:stretch>
            <a:fillRect/>
          </a:stretch>
        </p:blipFill>
        <p:spPr>
          <a:xfrm>
            <a:off x="2322576" y="3017520"/>
            <a:ext cx="1024128" cy="1024128"/>
          </a:xfrm>
          <a:prstGeom prst="rect">
            <a:avLst/>
          </a:prstGeom>
        </p:spPr>
      </p:pic>
      <p:sp>
        <p:nvSpPr>
          <p:cNvPr id="26" name="lb_93"/>
          <p:cNvSpPr/>
          <p:nvPr/>
        </p:nvSpPr>
        <p:spPr>
          <a:xfrm>
            <a:off x="209397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have breakfast</a:t>
            </a:r>
            <a:endParaRPr lang="en-US" sz="1200" dirty="0"/>
          </a:p>
        </p:txBody>
      </p:sp>
      <p:sp>
        <p:nvSpPr>
          <p:cNvPr id="27" name="cd_94"/>
          <p:cNvSpPr/>
          <p:nvPr/>
        </p:nvSpPr>
        <p:spPr>
          <a:xfrm>
            <a:off x="379476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95" descr="/home/claude/movers/img/fc/nurse.png">    </p:cNvPr>
          <p:cNvPicPr>
            <a:picLocks noChangeAspect="1"/>
          </p:cNvPicPr>
          <p:nvPr/>
        </p:nvPicPr>
        <p:blipFill>
          <a:blip r:embed="rId9"/>
          <a:stretch>
            <a:fillRect/>
          </a:stretch>
        </p:blipFill>
        <p:spPr>
          <a:xfrm>
            <a:off x="4059936" y="3017520"/>
            <a:ext cx="1024128" cy="1024128"/>
          </a:xfrm>
          <a:prstGeom prst="rect">
            <a:avLst/>
          </a:prstGeom>
        </p:spPr>
      </p:pic>
      <p:sp>
        <p:nvSpPr>
          <p:cNvPr id="29" name="lb_96"/>
          <p:cNvSpPr/>
          <p:nvPr/>
        </p:nvSpPr>
        <p:spPr>
          <a:xfrm>
            <a:off x="383133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nurse</a:t>
            </a:r>
            <a:endParaRPr lang="en-US" sz="1200" dirty="0"/>
          </a:p>
        </p:txBody>
      </p:sp>
      <p:sp>
        <p:nvSpPr>
          <p:cNvPr id="30" name="cd_97"/>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1" name="ci_98" descr="/home/claude/movers/img/fc/read-a-comic.png">    </p:cNvPr>
          <p:cNvPicPr>
            <a:picLocks noChangeAspect="1"/>
          </p:cNvPicPr>
          <p:nvPr/>
        </p:nvPicPr>
        <p:blipFill>
          <a:blip r:embed="rId10"/>
          <a:stretch>
            <a:fillRect/>
          </a:stretch>
        </p:blipFill>
        <p:spPr>
          <a:xfrm>
            <a:off x="5797296" y="3017520"/>
            <a:ext cx="1024128" cy="1024128"/>
          </a:xfrm>
          <a:prstGeom prst="rect">
            <a:avLst/>
          </a:prstGeom>
        </p:spPr>
      </p:pic>
      <p:sp>
        <p:nvSpPr>
          <p:cNvPr id="32" name="lb_99"/>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33" name="cd_100"/>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4" name="ci_101" descr="/home/claude/movers/img/fc/curly.png">    </p:cNvPr>
          <p:cNvPicPr>
            <a:picLocks noChangeAspect="1"/>
          </p:cNvPicPr>
          <p:nvPr/>
        </p:nvPicPr>
        <p:blipFill>
          <a:blip r:embed="rId11"/>
          <a:stretch>
            <a:fillRect/>
          </a:stretch>
        </p:blipFill>
        <p:spPr>
          <a:xfrm>
            <a:off x="7534656" y="3017520"/>
            <a:ext cx="1024128" cy="1024128"/>
          </a:xfrm>
          <a:prstGeom prst="rect">
            <a:avLst/>
          </a:prstGeom>
        </p:spPr>
      </p:pic>
      <p:sp>
        <p:nvSpPr>
          <p:cNvPr id="35" name="lb_102"/>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
        <p:nvSpPr>
          <p:cNvPr id="36" name="bk_103"/>
          <p:cNvSpPr/>
          <p:nvPr/>
        </p:nvSpPr>
        <p:spPr>
          <a:xfrm>
            <a:off x="228600" y="4681728"/>
            <a:ext cx="171450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Units 1–3 words</a:t>
            </a:r>
            <a:endParaRPr lang="en-US" sz="11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10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10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350" b="1" dirty="0">
                <a:solidFill>
                  <a:srgbClr val="1E2A5A"/>
                </a:solidFill>
                <a:latin typeface="Arial Rounded MT Bold" pitchFamily="34" charset="0"/>
                <a:ea typeface="Arial Rounded MT Bold" pitchFamily="34" charset="-122"/>
                <a:cs typeface="Arial Rounded MT Bold" pitchFamily="34" charset="-120"/>
              </a:rPr>
              <a:t>Open your eyes! What's missing? Write it or whisper it to your partner.</a:t>
            </a:r>
            <a:endParaRPr lang="en-US" sz="1350" dirty="0"/>
          </a:p>
          <a:p>
            <a:pPr indent="0" marL="0">
              <a:buNone/>
            </a:pPr>
            <a:r>
              <a:rPr lang="en-US" sz="1150" i="1" dirty="0">
                <a:solidFill>
                  <a:srgbClr val="2F9BFF"/>
                </a:solidFill>
                <a:latin typeface="Arial Rounded MT Bold" pitchFamily="34" charset="0"/>
                <a:ea typeface="Arial Rounded MT Bold" pitchFamily="34" charset="-122"/>
                <a:cs typeface="Arial Rounded MT Bold" pitchFamily="34" charset="-120"/>
              </a:rPr>
              <a:t>Apri gli occhi! Cosa manca? Scrivilo o dillo al compagno.</a:t>
            </a:r>
            <a:endParaRPr lang="en-US" sz="1350" dirty="0"/>
          </a:p>
        </p:txBody>
      </p:sp>
      <p:sp>
        <p:nvSpPr>
          <p:cNvPr id="6" name="cd_107"/>
          <p:cNvSpPr/>
          <p:nvPr/>
        </p:nvSpPr>
        <p:spPr>
          <a:xfrm>
            <a:off x="32004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108" descr="/home/claude/movers/img/fc/lake.png">    </p:cNvPr>
          <p:cNvPicPr>
            <a:picLocks noChangeAspect="1"/>
          </p:cNvPicPr>
          <p:nvPr/>
        </p:nvPicPr>
        <p:blipFill>
          <a:blip r:embed="rId2"/>
          <a:stretch>
            <a:fillRect/>
          </a:stretch>
        </p:blipFill>
        <p:spPr>
          <a:xfrm>
            <a:off x="585216" y="1353312"/>
            <a:ext cx="1024128" cy="1024128"/>
          </a:xfrm>
          <a:prstGeom prst="rect">
            <a:avLst/>
          </a:prstGeom>
        </p:spPr>
      </p:pic>
      <p:sp>
        <p:nvSpPr>
          <p:cNvPr id="8" name="lb_109"/>
          <p:cNvSpPr/>
          <p:nvPr/>
        </p:nvSpPr>
        <p:spPr>
          <a:xfrm>
            <a:off x="35661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lake</a:t>
            </a:r>
            <a:endParaRPr lang="en-US" sz="1200" dirty="0"/>
          </a:p>
        </p:txBody>
      </p:sp>
      <p:sp>
        <p:nvSpPr>
          <p:cNvPr id="9" name="cd_110"/>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111" descr="/home/claude/movers/img/fc/get-dressed.png">    </p:cNvPr>
          <p:cNvPicPr>
            <a:picLocks noChangeAspect="1"/>
          </p:cNvPicPr>
          <p:nvPr/>
        </p:nvPicPr>
        <p:blipFill>
          <a:blip r:embed="rId3"/>
          <a:stretch>
            <a:fillRect/>
          </a:stretch>
        </p:blipFill>
        <p:spPr>
          <a:xfrm>
            <a:off x="2322576" y="1353312"/>
            <a:ext cx="1024128" cy="1024128"/>
          </a:xfrm>
          <a:prstGeom prst="rect">
            <a:avLst/>
          </a:prstGeom>
        </p:spPr>
      </p:pic>
      <p:sp>
        <p:nvSpPr>
          <p:cNvPr id="11" name="lb_112"/>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2" name="cd_113"/>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114" descr="/home/claude/movers/img/fc/pirate.png">    </p:cNvPr>
          <p:cNvPicPr>
            <a:picLocks noChangeAspect="1"/>
          </p:cNvPicPr>
          <p:nvPr/>
        </p:nvPicPr>
        <p:blipFill>
          <a:blip r:embed="rId4"/>
          <a:stretch>
            <a:fillRect/>
          </a:stretch>
        </p:blipFill>
        <p:spPr>
          <a:xfrm>
            <a:off x="4059936" y="1353312"/>
            <a:ext cx="1024128" cy="1024128"/>
          </a:xfrm>
          <a:prstGeom prst="rect">
            <a:avLst/>
          </a:prstGeom>
        </p:spPr>
      </p:pic>
      <p:sp>
        <p:nvSpPr>
          <p:cNvPr id="14" name="lb_115"/>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5" name="cd_116"/>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117" descr="/home/claude/movers/img/fc/go-skating.png">    </p:cNvPr>
          <p:cNvPicPr>
            <a:picLocks noChangeAspect="1"/>
          </p:cNvPicPr>
          <p:nvPr/>
        </p:nvPicPr>
        <p:blipFill>
          <a:blip r:embed="rId5"/>
          <a:stretch>
            <a:fillRect/>
          </a:stretch>
        </p:blipFill>
        <p:spPr>
          <a:xfrm>
            <a:off x="5797296" y="1353312"/>
            <a:ext cx="1024128" cy="1024128"/>
          </a:xfrm>
          <a:prstGeom prst="rect">
            <a:avLst/>
          </a:prstGeom>
        </p:spPr>
      </p:pic>
      <p:sp>
        <p:nvSpPr>
          <p:cNvPr id="17" name="lb_118"/>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8" name="cd_119"/>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120" descr="/home/claude/movers/img/fc/beard.png">    </p:cNvPr>
          <p:cNvPicPr>
            <a:picLocks noChangeAspect="1"/>
          </p:cNvPicPr>
          <p:nvPr/>
        </p:nvPicPr>
        <p:blipFill>
          <a:blip r:embed="rId6"/>
          <a:stretch>
            <a:fillRect/>
          </a:stretch>
        </p:blipFill>
        <p:spPr>
          <a:xfrm>
            <a:off x="7534656" y="1353312"/>
            <a:ext cx="1024128" cy="1024128"/>
          </a:xfrm>
          <a:prstGeom prst="rect">
            <a:avLst/>
          </a:prstGeom>
        </p:spPr>
      </p:pic>
      <p:sp>
        <p:nvSpPr>
          <p:cNvPr id="20" name="lb_121"/>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21" name="cd_122"/>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123" descr="/home/claude/movers/img/fc/tractor.png">    </p:cNvPr>
          <p:cNvPicPr>
            <a:picLocks noChangeAspect="1"/>
          </p:cNvPicPr>
          <p:nvPr/>
        </p:nvPicPr>
        <p:blipFill>
          <a:blip r:embed="rId7"/>
          <a:stretch>
            <a:fillRect/>
          </a:stretch>
        </p:blipFill>
        <p:spPr>
          <a:xfrm>
            <a:off x="585216" y="3017520"/>
            <a:ext cx="1024128" cy="1024128"/>
          </a:xfrm>
          <a:prstGeom prst="rect">
            <a:avLst/>
          </a:prstGeom>
        </p:spPr>
      </p:pic>
      <p:sp>
        <p:nvSpPr>
          <p:cNvPr id="23" name="lb_124"/>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4" name="q_125"/>
          <p:cNvSpPr/>
          <p:nvPr/>
        </p:nvSpPr>
        <p:spPr>
          <a:xfrm>
            <a:off x="2057400" y="2944368"/>
            <a:ext cx="1554480" cy="1554480"/>
          </a:xfrm>
          <a:prstGeom prst="roundRect">
            <a:avLst>
              <a:gd name="adj" fmla="val 7059"/>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25" name="cd_126"/>
          <p:cNvSpPr/>
          <p:nvPr/>
        </p:nvSpPr>
        <p:spPr>
          <a:xfrm>
            <a:off x="379476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127" descr="/home/claude/movers/img/fc/nurse.png">    </p:cNvPr>
          <p:cNvPicPr>
            <a:picLocks noChangeAspect="1"/>
          </p:cNvPicPr>
          <p:nvPr/>
        </p:nvPicPr>
        <p:blipFill>
          <a:blip r:embed="rId8"/>
          <a:stretch>
            <a:fillRect/>
          </a:stretch>
        </p:blipFill>
        <p:spPr>
          <a:xfrm>
            <a:off x="4059936" y="3017520"/>
            <a:ext cx="1024128" cy="1024128"/>
          </a:xfrm>
          <a:prstGeom prst="rect">
            <a:avLst/>
          </a:prstGeom>
        </p:spPr>
      </p:pic>
      <p:sp>
        <p:nvSpPr>
          <p:cNvPr id="27" name="lb_128"/>
          <p:cNvSpPr/>
          <p:nvPr/>
        </p:nvSpPr>
        <p:spPr>
          <a:xfrm>
            <a:off x="383133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nurse</a:t>
            </a:r>
            <a:endParaRPr lang="en-US" sz="1200" dirty="0"/>
          </a:p>
        </p:txBody>
      </p:sp>
      <p:sp>
        <p:nvSpPr>
          <p:cNvPr id="28" name="cd_129"/>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9" name="ci_130" descr="/home/claude/movers/img/fc/read-a-comic.png">    </p:cNvPr>
          <p:cNvPicPr>
            <a:picLocks noChangeAspect="1"/>
          </p:cNvPicPr>
          <p:nvPr/>
        </p:nvPicPr>
        <p:blipFill>
          <a:blip r:embed="rId9"/>
          <a:stretch>
            <a:fillRect/>
          </a:stretch>
        </p:blipFill>
        <p:spPr>
          <a:xfrm>
            <a:off x="5797296" y="3017520"/>
            <a:ext cx="1024128" cy="1024128"/>
          </a:xfrm>
          <a:prstGeom prst="rect">
            <a:avLst/>
          </a:prstGeom>
        </p:spPr>
      </p:pic>
      <p:sp>
        <p:nvSpPr>
          <p:cNvPr id="30" name="lb_131"/>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31" name="cd_132"/>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133" descr="/home/claude/movers/img/fc/curly.png">    </p:cNvPr>
          <p:cNvPicPr>
            <a:picLocks noChangeAspect="1"/>
          </p:cNvPicPr>
          <p:nvPr/>
        </p:nvPicPr>
        <p:blipFill>
          <a:blip r:embed="rId10"/>
          <a:stretch>
            <a:fillRect/>
          </a:stretch>
        </p:blipFill>
        <p:spPr>
          <a:xfrm>
            <a:off x="7534656" y="3017520"/>
            <a:ext cx="1024128" cy="1024128"/>
          </a:xfrm>
          <a:prstGeom prst="rect">
            <a:avLst/>
          </a:prstGeom>
        </p:spPr>
      </p:pic>
      <p:sp>
        <p:nvSpPr>
          <p:cNvPr id="33" name="lb_134"/>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3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136"/>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13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have breakfast!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fare colazione!</a:t>
            </a:r>
            <a:endParaRPr lang="en-US" sz="1400" dirty="0"/>
          </a:p>
        </p:txBody>
      </p:sp>
      <p:sp>
        <p:nvSpPr>
          <p:cNvPr id="6" name="cd_138"/>
          <p:cNvSpPr/>
          <p:nvPr/>
        </p:nvSpPr>
        <p:spPr>
          <a:xfrm>
            <a:off x="32004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139" descr="/home/claude/movers/img/fc/lake.png">    </p:cNvPr>
          <p:cNvPicPr>
            <a:picLocks noChangeAspect="1"/>
          </p:cNvPicPr>
          <p:nvPr/>
        </p:nvPicPr>
        <p:blipFill>
          <a:blip r:embed="rId2"/>
          <a:stretch>
            <a:fillRect/>
          </a:stretch>
        </p:blipFill>
        <p:spPr>
          <a:xfrm>
            <a:off x="585216" y="1353312"/>
            <a:ext cx="1024128" cy="1024128"/>
          </a:xfrm>
          <a:prstGeom prst="rect">
            <a:avLst/>
          </a:prstGeom>
        </p:spPr>
      </p:pic>
      <p:sp>
        <p:nvSpPr>
          <p:cNvPr id="8" name="lb_140"/>
          <p:cNvSpPr/>
          <p:nvPr/>
        </p:nvSpPr>
        <p:spPr>
          <a:xfrm>
            <a:off x="35661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lake</a:t>
            </a:r>
            <a:endParaRPr lang="en-US" sz="1200" dirty="0"/>
          </a:p>
        </p:txBody>
      </p:sp>
      <p:sp>
        <p:nvSpPr>
          <p:cNvPr id="9" name="cd_141"/>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142" descr="/home/claude/movers/img/fc/get-dressed.png">    </p:cNvPr>
          <p:cNvPicPr>
            <a:picLocks noChangeAspect="1"/>
          </p:cNvPicPr>
          <p:nvPr/>
        </p:nvPicPr>
        <p:blipFill>
          <a:blip r:embed="rId3"/>
          <a:stretch>
            <a:fillRect/>
          </a:stretch>
        </p:blipFill>
        <p:spPr>
          <a:xfrm>
            <a:off x="2322576" y="1353312"/>
            <a:ext cx="1024128" cy="1024128"/>
          </a:xfrm>
          <a:prstGeom prst="rect">
            <a:avLst/>
          </a:prstGeom>
        </p:spPr>
      </p:pic>
      <p:sp>
        <p:nvSpPr>
          <p:cNvPr id="11" name="lb_143"/>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2" name="cd_144"/>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145" descr="/home/claude/movers/img/fc/pirate.png">    </p:cNvPr>
          <p:cNvPicPr>
            <a:picLocks noChangeAspect="1"/>
          </p:cNvPicPr>
          <p:nvPr/>
        </p:nvPicPr>
        <p:blipFill>
          <a:blip r:embed="rId4"/>
          <a:stretch>
            <a:fillRect/>
          </a:stretch>
        </p:blipFill>
        <p:spPr>
          <a:xfrm>
            <a:off x="4059936" y="1353312"/>
            <a:ext cx="1024128" cy="1024128"/>
          </a:xfrm>
          <a:prstGeom prst="rect">
            <a:avLst/>
          </a:prstGeom>
        </p:spPr>
      </p:pic>
      <p:sp>
        <p:nvSpPr>
          <p:cNvPr id="14" name="lb_146"/>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5" name="cd_147"/>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148" descr="/home/claude/movers/img/fc/go-skating.png">    </p:cNvPr>
          <p:cNvPicPr>
            <a:picLocks noChangeAspect="1"/>
          </p:cNvPicPr>
          <p:nvPr/>
        </p:nvPicPr>
        <p:blipFill>
          <a:blip r:embed="rId5"/>
          <a:stretch>
            <a:fillRect/>
          </a:stretch>
        </p:blipFill>
        <p:spPr>
          <a:xfrm>
            <a:off x="5797296" y="1353312"/>
            <a:ext cx="1024128" cy="1024128"/>
          </a:xfrm>
          <a:prstGeom prst="rect">
            <a:avLst/>
          </a:prstGeom>
        </p:spPr>
      </p:pic>
      <p:sp>
        <p:nvSpPr>
          <p:cNvPr id="17" name="lb_149"/>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8" name="cd_150"/>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151" descr="/home/claude/movers/img/fc/beard.png">    </p:cNvPr>
          <p:cNvPicPr>
            <a:picLocks noChangeAspect="1"/>
          </p:cNvPicPr>
          <p:nvPr/>
        </p:nvPicPr>
        <p:blipFill>
          <a:blip r:embed="rId6"/>
          <a:stretch>
            <a:fillRect/>
          </a:stretch>
        </p:blipFill>
        <p:spPr>
          <a:xfrm>
            <a:off x="7534656" y="1353312"/>
            <a:ext cx="1024128" cy="1024128"/>
          </a:xfrm>
          <a:prstGeom prst="rect">
            <a:avLst/>
          </a:prstGeom>
        </p:spPr>
      </p:pic>
      <p:sp>
        <p:nvSpPr>
          <p:cNvPr id="20" name="lb_152"/>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21" name="cd_153"/>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154" descr="/home/claude/movers/img/fc/tractor.png">    </p:cNvPr>
          <p:cNvPicPr>
            <a:picLocks noChangeAspect="1"/>
          </p:cNvPicPr>
          <p:nvPr/>
        </p:nvPicPr>
        <p:blipFill>
          <a:blip r:embed="rId7"/>
          <a:stretch>
            <a:fillRect/>
          </a:stretch>
        </p:blipFill>
        <p:spPr>
          <a:xfrm>
            <a:off x="585216" y="3017520"/>
            <a:ext cx="1024128" cy="1024128"/>
          </a:xfrm>
          <a:prstGeom prst="rect">
            <a:avLst/>
          </a:prstGeom>
        </p:spPr>
      </p:pic>
      <p:sp>
        <p:nvSpPr>
          <p:cNvPr id="23" name="lb_155"/>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4" name="cd_156"/>
          <p:cNvSpPr/>
          <p:nvPr/>
        </p:nvSpPr>
        <p:spPr>
          <a:xfrm>
            <a:off x="2057400" y="2944368"/>
            <a:ext cx="1554480" cy="1554480"/>
          </a:xfrm>
          <a:prstGeom prst="roundRect">
            <a:avLst>
              <a:gd name="adj" fmla="val 7059"/>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25" name="ci_157" descr="/home/claude/movers/img/fc/have-breakfast.png">    </p:cNvPr>
          <p:cNvPicPr>
            <a:picLocks noChangeAspect="1"/>
          </p:cNvPicPr>
          <p:nvPr/>
        </p:nvPicPr>
        <p:blipFill>
          <a:blip r:embed="rId8"/>
          <a:stretch>
            <a:fillRect/>
          </a:stretch>
        </p:blipFill>
        <p:spPr>
          <a:xfrm>
            <a:off x="2322576" y="3017520"/>
            <a:ext cx="1024128" cy="1024128"/>
          </a:xfrm>
          <a:prstGeom prst="rect">
            <a:avLst/>
          </a:prstGeom>
        </p:spPr>
      </p:pic>
      <p:sp>
        <p:nvSpPr>
          <p:cNvPr id="26" name="lb_158"/>
          <p:cNvSpPr/>
          <p:nvPr/>
        </p:nvSpPr>
        <p:spPr>
          <a:xfrm>
            <a:off x="209397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have breakfast</a:t>
            </a:r>
            <a:endParaRPr lang="en-US" sz="1200" dirty="0"/>
          </a:p>
        </p:txBody>
      </p:sp>
      <p:sp>
        <p:nvSpPr>
          <p:cNvPr id="27" name="hl_159"/>
          <p:cNvSpPr/>
          <p:nvPr/>
        </p:nvSpPr>
        <p:spPr>
          <a:xfrm>
            <a:off x="2002536" y="2889504"/>
            <a:ext cx="1664208" cy="1664208"/>
          </a:xfrm>
          <a:prstGeom prst="roundRect">
            <a:avLst>
              <a:gd name="adj" fmla="val 6593"/>
            </a:avLst>
          </a:prstGeom>
          <a:ln w="76200">
            <a:solidFill>
              <a:srgbClr val="6CCB3B"/>
            </a:solidFill>
            <a:prstDash val="solid"/>
          </a:ln>
        </p:spPr>
      </p:sp>
      <p:sp>
        <p:nvSpPr>
          <p:cNvPr id="28" name="cd_160"/>
          <p:cNvSpPr/>
          <p:nvPr/>
        </p:nvSpPr>
        <p:spPr>
          <a:xfrm>
            <a:off x="379476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9" name="ci_161" descr="/home/claude/movers/img/fc/nurse.png">    </p:cNvPr>
          <p:cNvPicPr>
            <a:picLocks noChangeAspect="1"/>
          </p:cNvPicPr>
          <p:nvPr/>
        </p:nvPicPr>
        <p:blipFill>
          <a:blip r:embed="rId9"/>
          <a:stretch>
            <a:fillRect/>
          </a:stretch>
        </p:blipFill>
        <p:spPr>
          <a:xfrm>
            <a:off x="4059936" y="3017520"/>
            <a:ext cx="1024128" cy="1024128"/>
          </a:xfrm>
          <a:prstGeom prst="rect">
            <a:avLst/>
          </a:prstGeom>
        </p:spPr>
      </p:pic>
      <p:sp>
        <p:nvSpPr>
          <p:cNvPr id="30" name="lb_162"/>
          <p:cNvSpPr/>
          <p:nvPr/>
        </p:nvSpPr>
        <p:spPr>
          <a:xfrm>
            <a:off x="383133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nurse</a:t>
            </a:r>
            <a:endParaRPr lang="en-US" sz="1200" dirty="0"/>
          </a:p>
        </p:txBody>
      </p:sp>
      <p:sp>
        <p:nvSpPr>
          <p:cNvPr id="31" name="cd_163"/>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164" descr="/home/claude/movers/img/fc/read-a-comic.png">    </p:cNvPr>
          <p:cNvPicPr>
            <a:picLocks noChangeAspect="1"/>
          </p:cNvPicPr>
          <p:nvPr/>
        </p:nvPicPr>
        <p:blipFill>
          <a:blip r:embed="rId10"/>
          <a:stretch>
            <a:fillRect/>
          </a:stretch>
        </p:blipFill>
        <p:spPr>
          <a:xfrm>
            <a:off x="5797296" y="3017520"/>
            <a:ext cx="1024128" cy="1024128"/>
          </a:xfrm>
          <a:prstGeom prst="rect">
            <a:avLst/>
          </a:prstGeom>
        </p:spPr>
      </p:pic>
      <p:sp>
        <p:nvSpPr>
          <p:cNvPr id="33" name="lb_165"/>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34" name="cd_166"/>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5" name="ci_167" descr="/home/claude/movers/img/fc/curly.png">    </p:cNvPr>
          <p:cNvPicPr>
            <a:picLocks noChangeAspect="1"/>
          </p:cNvPicPr>
          <p:nvPr/>
        </p:nvPicPr>
        <p:blipFill>
          <a:blip r:embed="rId11"/>
          <a:stretch>
            <a:fillRect/>
          </a:stretch>
        </p:blipFill>
        <p:spPr>
          <a:xfrm>
            <a:off x="7534656" y="3017520"/>
            <a:ext cx="1024128" cy="1024128"/>
          </a:xfrm>
          <a:prstGeom prst="rect">
            <a:avLst/>
          </a:prstGeom>
        </p:spPr>
      </p:pic>
      <p:sp>
        <p:nvSpPr>
          <p:cNvPr id="36" name="lb_168"/>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6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17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17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15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172"/>
          <p:cNvSpPr/>
          <p:nvPr/>
        </p:nvSpPr>
        <p:spPr>
          <a:xfrm>
            <a:off x="32004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173" descr="/home/claude/movers/img/fc/lake.png">    </p:cNvPr>
          <p:cNvPicPr>
            <a:picLocks noChangeAspect="1"/>
          </p:cNvPicPr>
          <p:nvPr/>
        </p:nvPicPr>
        <p:blipFill>
          <a:blip r:embed="rId2"/>
          <a:stretch>
            <a:fillRect/>
          </a:stretch>
        </p:blipFill>
        <p:spPr>
          <a:xfrm>
            <a:off x="585216" y="1353312"/>
            <a:ext cx="1024128" cy="1024128"/>
          </a:xfrm>
          <a:prstGeom prst="rect">
            <a:avLst/>
          </a:prstGeom>
        </p:spPr>
      </p:pic>
      <p:sp>
        <p:nvSpPr>
          <p:cNvPr id="8" name="lb_174"/>
          <p:cNvSpPr/>
          <p:nvPr/>
        </p:nvSpPr>
        <p:spPr>
          <a:xfrm>
            <a:off x="35661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lake</a:t>
            </a:r>
            <a:endParaRPr lang="en-US" sz="1200" dirty="0"/>
          </a:p>
        </p:txBody>
      </p:sp>
      <p:sp>
        <p:nvSpPr>
          <p:cNvPr id="9" name="cd_175"/>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176" descr="/home/claude/movers/img/fc/get-dressed.png">    </p:cNvPr>
          <p:cNvPicPr>
            <a:picLocks noChangeAspect="1"/>
          </p:cNvPicPr>
          <p:nvPr/>
        </p:nvPicPr>
        <p:blipFill>
          <a:blip r:embed="rId3"/>
          <a:stretch>
            <a:fillRect/>
          </a:stretch>
        </p:blipFill>
        <p:spPr>
          <a:xfrm>
            <a:off x="2322576" y="1353312"/>
            <a:ext cx="1024128" cy="1024128"/>
          </a:xfrm>
          <a:prstGeom prst="rect">
            <a:avLst/>
          </a:prstGeom>
        </p:spPr>
      </p:pic>
      <p:sp>
        <p:nvSpPr>
          <p:cNvPr id="11" name="lb_177"/>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2" name="cd_178"/>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179" descr="/home/claude/movers/img/fc/pirate.png">    </p:cNvPr>
          <p:cNvPicPr>
            <a:picLocks noChangeAspect="1"/>
          </p:cNvPicPr>
          <p:nvPr/>
        </p:nvPicPr>
        <p:blipFill>
          <a:blip r:embed="rId4"/>
          <a:stretch>
            <a:fillRect/>
          </a:stretch>
        </p:blipFill>
        <p:spPr>
          <a:xfrm>
            <a:off x="4059936" y="1353312"/>
            <a:ext cx="1024128" cy="1024128"/>
          </a:xfrm>
          <a:prstGeom prst="rect">
            <a:avLst/>
          </a:prstGeom>
        </p:spPr>
      </p:pic>
      <p:sp>
        <p:nvSpPr>
          <p:cNvPr id="14" name="lb_180"/>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5" name="cd_181"/>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182" descr="/home/claude/movers/img/fc/go-skating.png">    </p:cNvPr>
          <p:cNvPicPr>
            <a:picLocks noChangeAspect="1"/>
          </p:cNvPicPr>
          <p:nvPr/>
        </p:nvPicPr>
        <p:blipFill>
          <a:blip r:embed="rId5"/>
          <a:stretch>
            <a:fillRect/>
          </a:stretch>
        </p:blipFill>
        <p:spPr>
          <a:xfrm>
            <a:off x="5797296" y="1353312"/>
            <a:ext cx="1024128" cy="1024128"/>
          </a:xfrm>
          <a:prstGeom prst="rect">
            <a:avLst/>
          </a:prstGeom>
        </p:spPr>
      </p:pic>
      <p:sp>
        <p:nvSpPr>
          <p:cNvPr id="17" name="lb_183"/>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8" name="cd_184"/>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185" descr="/home/claude/movers/img/fc/beard.png">    </p:cNvPr>
          <p:cNvPicPr>
            <a:picLocks noChangeAspect="1"/>
          </p:cNvPicPr>
          <p:nvPr/>
        </p:nvPicPr>
        <p:blipFill>
          <a:blip r:embed="rId6"/>
          <a:stretch>
            <a:fillRect/>
          </a:stretch>
        </p:blipFill>
        <p:spPr>
          <a:xfrm>
            <a:off x="7534656" y="1353312"/>
            <a:ext cx="1024128" cy="1024128"/>
          </a:xfrm>
          <a:prstGeom prst="rect">
            <a:avLst/>
          </a:prstGeom>
        </p:spPr>
      </p:pic>
      <p:sp>
        <p:nvSpPr>
          <p:cNvPr id="20" name="lb_186"/>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21" name="cd_187"/>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188" descr="/home/claude/movers/img/fc/tractor.png">    </p:cNvPr>
          <p:cNvPicPr>
            <a:picLocks noChangeAspect="1"/>
          </p:cNvPicPr>
          <p:nvPr/>
        </p:nvPicPr>
        <p:blipFill>
          <a:blip r:embed="rId7"/>
          <a:stretch>
            <a:fillRect/>
          </a:stretch>
        </p:blipFill>
        <p:spPr>
          <a:xfrm>
            <a:off x="585216" y="3017520"/>
            <a:ext cx="1024128" cy="1024128"/>
          </a:xfrm>
          <a:prstGeom prst="rect">
            <a:avLst/>
          </a:prstGeom>
        </p:spPr>
      </p:pic>
      <p:sp>
        <p:nvSpPr>
          <p:cNvPr id="23" name="lb_189"/>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4" name="cd_190"/>
          <p:cNvSpPr/>
          <p:nvPr/>
        </p:nvSpPr>
        <p:spPr>
          <a:xfrm>
            <a:off x="205740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5" name="ci_191" descr="/home/claude/movers/img/fc/have-breakfast.png">    </p:cNvPr>
          <p:cNvPicPr>
            <a:picLocks noChangeAspect="1"/>
          </p:cNvPicPr>
          <p:nvPr/>
        </p:nvPicPr>
        <p:blipFill>
          <a:blip r:embed="rId8"/>
          <a:stretch>
            <a:fillRect/>
          </a:stretch>
        </p:blipFill>
        <p:spPr>
          <a:xfrm>
            <a:off x="2322576" y="3017520"/>
            <a:ext cx="1024128" cy="1024128"/>
          </a:xfrm>
          <a:prstGeom prst="rect">
            <a:avLst/>
          </a:prstGeom>
        </p:spPr>
      </p:pic>
      <p:sp>
        <p:nvSpPr>
          <p:cNvPr id="26" name="lb_192"/>
          <p:cNvSpPr/>
          <p:nvPr/>
        </p:nvSpPr>
        <p:spPr>
          <a:xfrm>
            <a:off x="209397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have breakfast</a:t>
            </a:r>
            <a:endParaRPr lang="en-US" sz="1200" dirty="0"/>
          </a:p>
        </p:txBody>
      </p:sp>
      <p:sp>
        <p:nvSpPr>
          <p:cNvPr id="27" name="cd_193"/>
          <p:cNvSpPr/>
          <p:nvPr/>
        </p:nvSpPr>
        <p:spPr>
          <a:xfrm>
            <a:off x="379476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194" descr="/home/claude/movers/img/fc/nurse.png">    </p:cNvPr>
          <p:cNvPicPr>
            <a:picLocks noChangeAspect="1"/>
          </p:cNvPicPr>
          <p:nvPr/>
        </p:nvPicPr>
        <p:blipFill>
          <a:blip r:embed="rId9"/>
          <a:stretch>
            <a:fillRect/>
          </a:stretch>
        </p:blipFill>
        <p:spPr>
          <a:xfrm>
            <a:off x="4059936" y="3017520"/>
            <a:ext cx="1024128" cy="1024128"/>
          </a:xfrm>
          <a:prstGeom prst="rect">
            <a:avLst/>
          </a:prstGeom>
        </p:spPr>
      </p:pic>
      <p:sp>
        <p:nvSpPr>
          <p:cNvPr id="29" name="lb_195"/>
          <p:cNvSpPr/>
          <p:nvPr/>
        </p:nvSpPr>
        <p:spPr>
          <a:xfrm>
            <a:off x="383133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nurse</a:t>
            </a:r>
            <a:endParaRPr lang="en-US" sz="1200" dirty="0"/>
          </a:p>
        </p:txBody>
      </p:sp>
      <p:sp>
        <p:nvSpPr>
          <p:cNvPr id="30" name="cd_196"/>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1" name="ci_197" descr="/home/claude/movers/img/fc/read-a-comic.png">    </p:cNvPr>
          <p:cNvPicPr>
            <a:picLocks noChangeAspect="1"/>
          </p:cNvPicPr>
          <p:nvPr/>
        </p:nvPicPr>
        <p:blipFill>
          <a:blip r:embed="rId10"/>
          <a:stretch>
            <a:fillRect/>
          </a:stretch>
        </p:blipFill>
        <p:spPr>
          <a:xfrm>
            <a:off x="5797296" y="3017520"/>
            <a:ext cx="1024128" cy="1024128"/>
          </a:xfrm>
          <a:prstGeom prst="rect">
            <a:avLst/>
          </a:prstGeom>
        </p:spPr>
      </p:pic>
      <p:sp>
        <p:nvSpPr>
          <p:cNvPr id="32" name="lb_198"/>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33" name="cd_199"/>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4" name="ci_200" descr="/home/claude/movers/img/fc/curly.png">    </p:cNvPr>
          <p:cNvPicPr>
            <a:picLocks noChangeAspect="1"/>
          </p:cNvPicPr>
          <p:nvPr/>
        </p:nvPicPr>
        <p:blipFill>
          <a:blip r:embed="rId11"/>
          <a:stretch>
            <a:fillRect/>
          </a:stretch>
        </p:blipFill>
        <p:spPr>
          <a:xfrm>
            <a:off x="7534656" y="3017520"/>
            <a:ext cx="1024128" cy="1024128"/>
          </a:xfrm>
          <a:prstGeom prst="rect">
            <a:avLst/>
          </a:prstGeom>
        </p:spPr>
      </p:pic>
      <p:sp>
        <p:nvSpPr>
          <p:cNvPr id="35" name="lb_201"/>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
        <p:nvSpPr>
          <p:cNvPr id="36" name="bk_202"/>
          <p:cNvSpPr/>
          <p:nvPr/>
        </p:nvSpPr>
        <p:spPr>
          <a:xfrm>
            <a:off x="228600" y="4681728"/>
            <a:ext cx="171450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Units 1–3 words</a:t>
            </a:r>
            <a:endParaRPr lang="en-US" sz="11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0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204"/>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20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TWO pictures are missing! Write them down.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Mancano DUE immagini! Scrivile.</a:t>
            </a:r>
            <a:endParaRPr lang="en-US" sz="1400" dirty="0"/>
          </a:p>
        </p:txBody>
      </p:sp>
      <p:sp>
        <p:nvSpPr>
          <p:cNvPr id="6" name="q_206"/>
          <p:cNvSpPr/>
          <p:nvPr/>
        </p:nvSpPr>
        <p:spPr>
          <a:xfrm>
            <a:off x="320040" y="1280160"/>
            <a:ext cx="1554480" cy="1554480"/>
          </a:xfrm>
          <a:prstGeom prst="roundRect">
            <a:avLst>
              <a:gd name="adj" fmla="val 7059"/>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7" name="cd_207"/>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208" descr="/home/claude/movers/img/fc/get-dressed.png">    </p:cNvPr>
          <p:cNvPicPr>
            <a:picLocks noChangeAspect="1"/>
          </p:cNvPicPr>
          <p:nvPr/>
        </p:nvPicPr>
        <p:blipFill>
          <a:blip r:embed="rId2"/>
          <a:stretch>
            <a:fillRect/>
          </a:stretch>
        </p:blipFill>
        <p:spPr>
          <a:xfrm>
            <a:off x="2322576" y="1353312"/>
            <a:ext cx="1024128" cy="1024128"/>
          </a:xfrm>
          <a:prstGeom prst="rect">
            <a:avLst/>
          </a:prstGeom>
        </p:spPr>
      </p:pic>
      <p:sp>
        <p:nvSpPr>
          <p:cNvPr id="9" name="lb_209"/>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0" name="cd_210"/>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211" descr="/home/claude/movers/img/fc/pirate.png">    </p:cNvPr>
          <p:cNvPicPr>
            <a:picLocks noChangeAspect="1"/>
          </p:cNvPicPr>
          <p:nvPr/>
        </p:nvPicPr>
        <p:blipFill>
          <a:blip r:embed="rId3"/>
          <a:stretch>
            <a:fillRect/>
          </a:stretch>
        </p:blipFill>
        <p:spPr>
          <a:xfrm>
            <a:off x="4059936" y="1353312"/>
            <a:ext cx="1024128" cy="1024128"/>
          </a:xfrm>
          <a:prstGeom prst="rect">
            <a:avLst/>
          </a:prstGeom>
        </p:spPr>
      </p:pic>
      <p:sp>
        <p:nvSpPr>
          <p:cNvPr id="12" name="lb_212"/>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3" name="cd_213"/>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214" descr="/home/claude/movers/img/fc/go-skating.png">    </p:cNvPr>
          <p:cNvPicPr>
            <a:picLocks noChangeAspect="1"/>
          </p:cNvPicPr>
          <p:nvPr/>
        </p:nvPicPr>
        <p:blipFill>
          <a:blip r:embed="rId4"/>
          <a:stretch>
            <a:fillRect/>
          </a:stretch>
        </p:blipFill>
        <p:spPr>
          <a:xfrm>
            <a:off x="5797296" y="1353312"/>
            <a:ext cx="1024128" cy="1024128"/>
          </a:xfrm>
          <a:prstGeom prst="rect">
            <a:avLst/>
          </a:prstGeom>
        </p:spPr>
      </p:pic>
      <p:sp>
        <p:nvSpPr>
          <p:cNvPr id="15" name="lb_215"/>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6" name="cd_216"/>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217" descr="/home/claude/movers/img/fc/beard.png">    </p:cNvPr>
          <p:cNvPicPr>
            <a:picLocks noChangeAspect="1"/>
          </p:cNvPicPr>
          <p:nvPr/>
        </p:nvPicPr>
        <p:blipFill>
          <a:blip r:embed="rId5"/>
          <a:stretch>
            <a:fillRect/>
          </a:stretch>
        </p:blipFill>
        <p:spPr>
          <a:xfrm>
            <a:off x="7534656" y="1353312"/>
            <a:ext cx="1024128" cy="1024128"/>
          </a:xfrm>
          <a:prstGeom prst="rect">
            <a:avLst/>
          </a:prstGeom>
        </p:spPr>
      </p:pic>
      <p:sp>
        <p:nvSpPr>
          <p:cNvPr id="18" name="lb_218"/>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19" name="cd_219"/>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20" descr="/home/claude/movers/img/fc/tractor.png">    </p:cNvPr>
          <p:cNvPicPr>
            <a:picLocks noChangeAspect="1"/>
          </p:cNvPicPr>
          <p:nvPr/>
        </p:nvPicPr>
        <p:blipFill>
          <a:blip r:embed="rId6"/>
          <a:stretch>
            <a:fillRect/>
          </a:stretch>
        </p:blipFill>
        <p:spPr>
          <a:xfrm>
            <a:off x="585216" y="3017520"/>
            <a:ext cx="1024128" cy="1024128"/>
          </a:xfrm>
          <a:prstGeom prst="rect">
            <a:avLst/>
          </a:prstGeom>
        </p:spPr>
      </p:pic>
      <p:sp>
        <p:nvSpPr>
          <p:cNvPr id="21" name="lb_221"/>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2" name="cd_222"/>
          <p:cNvSpPr/>
          <p:nvPr/>
        </p:nvSpPr>
        <p:spPr>
          <a:xfrm>
            <a:off x="205740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23" descr="/home/claude/movers/img/fc/have-breakfast.png">    </p:cNvPr>
          <p:cNvPicPr>
            <a:picLocks noChangeAspect="1"/>
          </p:cNvPicPr>
          <p:nvPr/>
        </p:nvPicPr>
        <p:blipFill>
          <a:blip r:embed="rId7"/>
          <a:stretch>
            <a:fillRect/>
          </a:stretch>
        </p:blipFill>
        <p:spPr>
          <a:xfrm>
            <a:off x="2322576" y="3017520"/>
            <a:ext cx="1024128" cy="1024128"/>
          </a:xfrm>
          <a:prstGeom prst="rect">
            <a:avLst/>
          </a:prstGeom>
        </p:spPr>
      </p:pic>
      <p:sp>
        <p:nvSpPr>
          <p:cNvPr id="24" name="lb_224"/>
          <p:cNvSpPr/>
          <p:nvPr/>
        </p:nvSpPr>
        <p:spPr>
          <a:xfrm>
            <a:off x="209397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have breakfast</a:t>
            </a:r>
            <a:endParaRPr lang="en-US" sz="1200" dirty="0"/>
          </a:p>
        </p:txBody>
      </p:sp>
      <p:sp>
        <p:nvSpPr>
          <p:cNvPr id="25" name="q_225"/>
          <p:cNvSpPr/>
          <p:nvPr/>
        </p:nvSpPr>
        <p:spPr>
          <a:xfrm>
            <a:off x="3794760" y="2944368"/>
            <a:ext cx="1554480" cy="1554480"/>
          </a:xfrm>
          <a:prstGeom prst="roundRect">
            <a:avLst>
              <a:gd name="adj" fmla="val 7059"/>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26" name="cd_226"/>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7" name="ci_227" descr="/home/claude/movers/img/fc/read-a-comic.png">    </p:cNvPr>
          <p:cNvPicPr>
            <a:picLocks noChangeAspect="1"/>
          </p:cNvPicPr>
          <p:nvPr/>
        </p:nvPicPr>
        <p:blipFill>
          <a:blip r:embed="rId8"/>
          <a:stretch>
            <a:fillRect/>
          </a:stretch>
        </p:blipFill>
        <p:spPr>
          <a:xfrm>
            <a:off x="5797296" y="3017520"/>
            <a:ext cx="1024128" cy="1024128"/>
          </a:xfrm>
          <a:prstGeom prst="rect">
            <a:avLst/>
          </a:prstGeom>
        </p:spPr>
      </p:pic>
      <p:sp>
        <p:nvSpPr>
          <p:cNvPr id="28" name="lb_228"/>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29" name="cd_229"/>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0" name="ci_230" descr="/home/claude/movers/img/fc/curly.png">    </p:cNvPr>
          <p:cNvPicPr>
            <a:picLocks noChangeAspect="1"/>
          </p:cNvPicPr>
          <p:nvPr/>
        </p:nvPicPr>
        <p:blipFill>
          <a:blip r:embed="rId9"/>
          <a:stretch>
            <a:fillRect/>
          </a:stretch>
        </p:blipFill>
        <p:spPr>
          <a:xfrm>
            <a:off x="7534656" y="3017520"/>
            <a:ext cx="1024128" cy="1024128"/>
          </a:xfrm>
          <a:prstGeom prst="rect">
            <a:avLst/>
          </a:prstGeom>
        </p:spPr>
      </p:pic>
      <p:sp>
        <p:nvSpPr>
          <p:cNvPr id="31" name="lb_231"/>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3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23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23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It's the lake and the nurse!</a:t>
            </a:r>
            <a:endParaRPr lang="en-US" sz="1400" dirty="0"/>
          </a:p>
          <a:p>
            <a:pPr indent="0" marL="0">
              <a:buNone/>
            </a:pPr>
            <a:endParaRPr lang="en-US" sz="1400" dirty="0"/>
          </a:p>
        </p:txBody>
      </p:sp>
      <p:sp>
        <p:nvSpPr>
          <p:cNvPr id="6" name="cd_235"/>
          <p:cNvSpPr/>
          <p:nvPr/>
        </p:nvSpPr>
        <p:spPr>
          <a:xfrm>
            <a:off x="320040" y="1280160"/>
            <a:ext cx="1554480" cy="1554480"/>
          </a:xfrm>
          <a:prstGeom prst="roundRect">
            <a:avLst>
              <a:gd name="adj" fmla="val 7059"/>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7" name="ci_236" descr="/home/claude/movers/img/fc/lake.png">    </p:cNvPr>
          <p:cNvPicPr>
            <a:picLocks noChangeAspect="1"/>
          </p:cNvPicPr>
          <p:nvPr/>
        </p:nvPicPr>
        <p:blipFill>
          <a:blip r:embed="rId2"/>
          <a:stretch>
            <a:fillRect/>
          </a:stretch>
        </p:blipFill>
        <p:spPr>
          <a:xfrm>
            <a:off x="585216" y="1353312"/>
            <a:ext cx="1024128" cy="1024128"/>
          </a:xfrm>
          <a:prstGeom prst="rect">
            <a:avLst/>
          </a:prstGeom>
        </p:spPr>
      </p:pic>
      <p:sp>
        <p:nvSpPr>
          <p:cNvPr id="8" name="lb_237"/>
          <p:cNvSpPr/>
          <p:nvPr/>
        </p:nvSpPr>
        <p:spPr>
          <a:xfrm>
            <a:off x="35661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lake</a:t>
            </a:r>
            <a:endParaRPr lang="en-US" sz="1200" dirty="0"/>
          </a:p>
        </p:txBody>
      </p:sp>
      <p:sp>
        <p:nvSpPr>
          <p:cNvPr id="9" name="hl_238"/>
          <p:cNvSpPr/>
          <p:nvPr/>
        </p:nvSpPr>
        <p:spPr>
          <a:xfrm>
            <a:off x="265176" y="1225296"/>
            <a:ext cx="1664208" cy="1664208"/>
          </a:xfrm>
          <a:prstGeom prst="roundRect">
            <a:avLst>
              <a:gd name="adj" fmla="val 6593"/>
            </a:avLst>
          </a:prstGeom>
          <a:ln w="76200">
            <a:solidFill>
              <a:srgbClr val="6CCB3B"/>
            </a:solidFill>
            <a:prstDash val="solid"/>
          </a:ln>
        </p:spPr>
      </p:sp>
      <p:sp>
        <p:nvSpPr>
          <p:cNvPr id="10" name="cd_239"/>
          <p:cNvSpPr/>
          <p:nvPr/>
        </p:nvSpPr>
        <p:spPr>
          <a:xfrm>
            <a:off x="205740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240" descr="/home/claude/movers/img/fc/get-dressed.png">    </p:cNvPr>
          <p:cNvPicPr>
            <a:picLocks noChangeAspect="1"/>
          </p:cNvPicPr>
          <p:nvPr/>
        </p:nvPicPr>
        <p:blipFill>
          <a:blip r:embed="rId3"/>
          <a:stretch>
            <a:fillRect/>
          </a:stretch>
        </p:blipFill>
        <p:spPr>
          <a:xfrm>
            <a:off x="2322576" y="1353312"/>
            <a:ext cx="1024128" cy="1024128"/>
          </a:xfrm>
          <a:prstGeom prst="rect">
            <a:avLst/>
          </a:prstGeom>
        </p:spPr>
      </p:pic>
      <p:sp>
        <p:nvSpPr>
          <p:cNvPr id="12" name="lb_241"/>
          <p:cNvSpPr/>
          <p:nvPr/>
        </p:nvSpPr>
        <p:spPr>
          <a:xfrm>
            <a:off x="209397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get dressed</a:t>
            </a:r>
            <a:endParaRPr lang="en-US" sz="1200" dirty="0"/>
          </a:p>
        </p:txBody>
      </p:sp>
      <p:sp>
        <p:nvSpPr>
          <p:cNvPr id="13" name="cd_242"/>
          <p:cNvSpPr/>
          <p:nvPr/>
        </p:nvSpPr>
        <p:spPr>
          <a:xfrm>
            <a:off x="379476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243" descr="/home/claude/movers/img/fc/pirate.png">    </p:cNvPr>
          <p:cNvPicPr>
            <a:picLocks noChangeAspect="1"/>
          </p:cNvPicPr>
          <p:nvPr/>
        </p:nvPicPr>
        <p:blipFill>
          <a:blip r:embed="rId4"/>
          <a:stretch>
            <a:fillRect/>
          </a:stretch>
        </p:blipFill>
        <p:spPr>
          <a:xfrm>
            <a:off x="4059936" y="1353312"/>
            <a:ext cx="1024128" cy="1024128"/>
          </a:xfrm>
          <a:prstGeom prst="rect">
            <a:avLst/>
          </a:prstGeom>
        </p:spPr>
      </p:pic>
      <p:sp>
        <p:nvSpPr>
          <p:cNvPr id="15" name="lb_244"/>
          <p:cNvSpPr/>
          <p:nvPr/>
        </p:nvSpPr>
        <p:spPr>
          <a:xfrm>
            <a:off x="383133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pirate</a:t>
            </a:r>
            <a:endParaRPr lang="en-US" sz="1200" dirty="0"/>
          </a:p>
        </p:txBody>
      </p:sp>
      <p:sp>
        <p:nvSpPr>
          <p:cNvPr id="16" name="cd_245"/>
          <p:cNvSpPr/>
          <p:nvPr/>
        </p:nvSpPr>
        <p:spPr>
          <a:xfrm>
            <a:off x="553212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246" descr="/home/claude/movers/img/fc/go-skating.png">    </p:cNvPr>
          <p:cNvPicPr>
            <a:picLocks noChangeAspect="1"/>
          </p:cNvPicPr>
          <p:nvPr/>
        </p:nvPicPr>
        <p:blipFill>
          <a:blip r:embed="rId5"/>
          <a:stretch>
            <a:fillRect/>
          </a:stretch>
        </p:blipFill>
        <p:spPr>
          <a:xfrm>
            <a:off x="5797296" y="1353312"/>
            <a:ext cx="1024128" cy="1024128"/>
          </a:xfrm>
          <a:prstGeom prst="rect">
            <a:avLst/>
          </a:prstGeom>
        </p:spPr>
      </p:pic>
      <p:sp>
        <p:nvSpPr>
          <p:cNvPr id="18" name="lb_247"/>
          <p:cNvSpPr/>
          <p:nvPr/>
        </p:nvSpPr>
        <p:spPr>
          <a:xfrm>
            <a:off x="556869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go skating</a:t>
            </a:r>
            <a:endParaRPr lang="en-US" sz="1200" dirty="0"/>
          </a:p>
        </p:txBody>
      </p:sp>
      <p:sp>
        <p:nvSpPr>
          <p:cNvPr id="19" name="cd_248"/>
          <p:cNvSpPr/>
          <p:nvPr/>
        </p:nvSpPr>
        <p:spPr>
          <a:xfrm>
            <a:off x="7269480" y="1280160"/>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249" descr="/home/claude/movers/img/fc/beard.png">    </p:cNvPr>
          <p:cNvPicPr>
            <a:picLocks noChangeAspect="1"/>
          </p:cNvPicPr>
          <p:nvPr/>
        </p:nvPicPr>
        <p:blipFill>
          <a:blip r:embed="rId6"/>
          <a:stretch>
            <a:fillRect/>
          </a:stretch>
        </p:blipFill>
        <p:spPr>
          <a:xfrm>
            <a:off x="7534656" y="1353312"/>
            <a:ext cx="1024128" cy="1024128"/>
          </a:xfrm>
          <a:prstGeom prst="rect">
            <a:avLst/>
          </a:prstGeom>
        </p:spPr>
      </p:pic>
      <p:sp>
        <p:nvSpPr>
          <p:cNvPr id="21" name="lb_250"/>
          <p:cNvSpPr/>
          <p:nvPr/>
        </p:nvSpPr>
        <p:spPr>
          <a:xfrm>
            <a:off x="7306056" y="2395728"/>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beard</a:t>
            </a:r>
            <a:endParaRPr lang="en-US" sz="1200" dirty="0"/>
          </a:p>
        </p:txBody>
      </p:sp>
      <p:sp>
        <p:nvSpPr>
          <p:cNvPr id="22" name="cd_251"/>
          <p:cNvSpPr/>
          <p:nvPr/>
        </p:nvSpPr>
        <p:spPr>
          <a:xfrm>
            <a:off x="32004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52" descr="/home/claude/movers/img/fc/tractor.png">    </p:cNvPr>
          <p:cNvPicPr>
            <a:picLocks noChangeAspect="1"/>
          </p:cNvPicPr>
          <p:nvPr/>
        </p:nvPicPr>
        <p:blipFill>
          <a:blip r:embed="rId7"/>
          <a:stretch>
            <a:fillRect/>
          </a:stretch>
        </p:blipFill>
        <p:spPr>
          <a:xfrm>
            <a:off x="585216" y="3017520"/>
            <a:ext cx="1024128" cy="1024128"/>
          </a:xfrm>
          <a:prstGeom prst="rect">
            <a:avLst/>
          </a:prstGeom>
        </p:spPr>
      </p:pic>
      <p:sp>
        <p:nvSpPr>
          <p:cNvPr id="24" name="lb_253"/>
          <p:cNvSpPr/>
          <p:nvPr/>
        </p:nvSpPr>
        <p:spPr>
          <a:xfrm>
            <a:off x="35661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tractor</a:t>
            </a:r>
            <a:endParaRPr lang="en-US" sz="1200" dirty="0"/>
          </a:p>
        </p:txBody>
      </p:sp>
      <p:sp>
        <p:nvSpPr>
          <p:cNvPr id="25" name="cd_254"/>
          <p:cNvSpPr/>
          <p:nvPr/>
        </p:nvSpPr>
        <p:spPr>
          <a:xfrm>
            <a:off x="205740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255" descr="/home/claude/movers/img/fc/have-breakfast.png">    </p:cNvPr>
          <p:cNvPicPr>
            <a:picLocks noChangeAspect="1"/>
          </p:cNvPicPr>
          <p:nvPr/>
        </p:nvPicPr>
        <p:blipFill>
          <a:blip r:embed="rId8"/>
          <a:stretch>
            <a:fillRect/>
          </a:stretch>
        </p:blipFill>
        <p:spPr>
          <a:xfrm>
            <a:off x="2322576" y="3017520"/>
            <a:ext cx="1024128" cy="1024128"/>
          </a:xfrm>
          <a:prstGeom prst="rect">
            <a:avLst/>
          </a:prstGeom>
        </p:spPr>
      </p:pic>
      <p:sp>
        <p:nvSpPr>
          <p:cNvPr id="27" name="lb_256"/>
          <p:cNvSpPr/>
          <p:nvPr/>
        </p:nvSpPr>
        <p:spPr>
          <a:xfrm>
            <a:off x="209397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have breakfast</a:t>
            </a:r>
            <a:endParaRPr lang="en-US" sz="1200" dirty="0"/>
          </a:p>
        </p:txBody>
      </p:sp>
      <p:sp>
        <p:nvSpPr>
          <p:cNvPr id="28" name="cd_257"/>
          <p:cNvSpPr/>
          <p:nvPr/>
        </p:nvSpPr>
        <p:spPr>
          <a:xfrm>
            <a:off x="3794760" y="2944368"/>
            <a:ext cx="1554480" cy="1554480"/>
          </a:xfrm>
          <a:prstGeom prst="roundRect">
            <a:avLst>
              <a:gd name="adj" fmla="val 7059"/>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29" name="ci_258" descr="/home/claude/movers/img/fc/nurse.png">    </p:cNvPr>
          <p:cNvPicPr>
            <a:picLocks noChangeAspect="1"/>
          </p:cNvPicPr>
          <p:nvPr/>
        </p:nvPicPr>
        <p:blipFill>
          <a:blip r:embed="rId9"/>
          <a:stretch>
            <a:fillRect/>
          </a:stretch>
        </p:blipFill>
        <p:spPr>
          <a:xfrm>
            <a:off x="4059936" y="3017520"/>
            <a:ext cx="1024128" cy="1024128"/>
          </a:xfrm>
          <a:prstGeom prst="rect">
            <a:avLst/>
          </a:prstGeom>
        </p:spPr>
      </p:pic>
      <p:sp>
        <p:nvSpPr>
          <p:cNvPr id="30" name="lb_259"/>
          <p:cNvSpPr/>
          <p:nvPr/>
        </p:nvSpPr>
        <p:spPr>
          <a:xfrm>
            <a:off x="383133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nurse</a:t>
            </a:r>
            <a:endParaRPr lang="en-US" sz="1200" dirty="0"/>
          </a:p>
        </p:txBody>
      </p:sp>
      <p:sp>
        <p:nvSpPr>
          <p:cNvPr id="31" name="hl_260"/>
          <p:cNvSpPr/>
          <p:nvPr/>
        </p:nvSpPr>
        <p:spPr>
          <a:xfrm>
            <a:off x="3739896" y="2889504"/>
            <a:ext cx="1664208" cy="1664208"/>
          </a:xfrm>
          <a:prstGeom prst="roundRect">
            <a:avLst>
              <a:gd name="adj" fmla="val 6593"/>
            </a:avLst>
          </a:prstGeom>
          <a:ln w="76200">
            <a:solidFill>
              <a:srgbClr val="6CCB3B"/>
            </a:solidFill>
            <a:prstDash val="solid"/>
          </a:ln>
        </p:spPr>
      </p:sp>
      <p:sp>
        <p:nvSpPr>
          <p:cNvPr id="32" name="cd_261"/>
          <p:cNvSpPr/>
          <p:nvPr/>
        </p:nvSpPr>
        <p:spPr>
          <a:xfrm>
            <a:off x="553212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3" name="ci_262" descr="/home/claude/movers/img/fc/read-a-comic.png">    </p:cNvPr>
          <p:cNvPicPr>
            <a:picLocks noChangeAspect="1"/>
          </p:cNvPicPr>
          <p:nvPr/>
        </p:nvPicPr>
        <p:blipFill>
          <a:blip r:embed="rId10"/>
          <a:stretch>
            <a:fillRect/>
          </a:stretch>
        </p:blipFill>
        <p:spPr>
          <a:xfrm>
            <a:off x="5797296" y="3017520"/>
            <a:ext cx="1024128" cy="1024128"/>
          </a:xfrm>
          <a:prstGeom prst="rect">
            <a:avLst/>
          </a:prstGeom>
        </p:spPr>
      </p:pic>
      <p:sp>
        <p:nvSpPr>
          <p:cNvPr id="34" name="lb_263"/>
          <p:cNvSpPr/>
          <p:nvPr/>
        </p:nvSpPr>
        <p:spPr>
          <a:xfrm>
            <a:off x="556869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read a comic</a:t>
            </a:r>
            <a:endParaRPr lang="en-US" sz="1200" dirty="0"/>
          </a:p>
        </p:txBody>
      </p:sp>
      <p:sp>
        <p:nvSpPr>
          <p:cNvPr id="35" name="cd_264"/>
          <p:cNvSpPr/>
          <p:nvPr/>
        </p:nvSpPr>
        <p:spPr>
          <a:xfrm>
            <a:off x="7269480" y="2944368"/>
            <a:ext cx="1554480" cy="1554480"/>
          </a:xfrm>
          <a:prstGeom prst="roundRect">
            <a:avLst>
              <a:gd name="adj" fmla="val 705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6" name="ci_265" descr="/home/claude/movers/img/fc/curly.png">    </p:cNvPr>
          <p:cNvPicPr>
            <a:picLocks noChangeAspect="1"/>
          </p:cNvPicPr>
          <p:nvPr/>
        </p:nvPicPr>
        <p:blipFill>
          <a:blip r:embed="rId11"/>
          <a:stretch>
            <a:fillRect/>
          </a:stretch>
        </p:blipFill>
        <p:spPr>
          <a:xfrm>
            <a:off x="7534656" y="3017520"/>
            <a:ext cx="1024128" cy="1024128"/>
          </a:xfrm>
          <a:prstGeom prst="rect">
            <a:avLst/>
          </a:prstGeom>
        </p:spPr>
      </p:pic>
      <p:sp>
        <p:nvSpPr>
          <p:cNvPr id="37" name="lb_266"/>
          <p:cNvSpPr/>
          <p:nvPr/>
        </p:nvSpPr>
        <p:spPr>
          <a:xfrm>
            <a:off x="7306056" y="4059936"/>
            <a:ext cx="1481328" cy="384048"/>
          </a:xfrm>
          <a:prstGeom prst="rect">
            <a:avLst/>
          </a:prstGeom>
          <a:noFill/>
          <a:ln/>
        </p:spPr>
        <p:txBody>
          <a:bodyPr wrap="square" lIns="0" tIns="0" rIns="0" bIns="0" rtlCol="0" anchor="ctr"/>
          <a:lstStyle/>
          <a:p>
            <a:pPr algn="ctr" indent="0" marL="0">
              <a:buNone/>
            </a:pPr>
            <a:r>
              <a:rPr lang="en-US" sz="1200" dirty="0">
                <a:solidFill>
                  <a:srgbClr val="1E2A5A"/>
                </a:solidFill>
                <a:latin typeface="Arial Black" pitchFamily="34" charset="0"/>
                <a:ea typeface="Arial Black" pitchFamily="34" charset="-122"/>
                <a:cs typeface="Arial Black" pitchFamily="34" charset="-120"/>
              </a:rPr>
              <a:t>curly</a:t>
            </a:r>
            <a:endParaRPr lang="en-US" sz="120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6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a:t>
            </a:r>
            <a:endParaRPr lang="en-US" sz="1600" dirty="0"/>
          </a:p>
        </p:txBody>
      </p:sp>
      <p:sp>
        <p:nvSpPr>
          <p:cNvPr id="4" name="bm_26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Jack and Zoe</a:t>
            </a:r>
            <a:endParaRPr lang="en-US" sz="3200" dirty="0"/>
          </a:p>
        </p:txBody>
      </p:sp>
      <p:sp>
        <p:nvSpPr>
          <p:cNvPr id="5" name="in_26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circle the activities you hear.</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cerchia le attività che senti.</a:t>
            </a:r>
            <a:endParaRPr lang="en-US" sz="1400" dirty="0"/>
          </a:p>
        </p:txBody>
      </p:sp>
      <p:sp>
        <p:nvSpPr>
          <p:cNvPr id="6" name="mode_27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 CIRCLE</a:t>
            </a:r>
            <a:endParaRPr lang="en-US" sz="1000" dirty="0"/>
          </a:p>
        </p:txBody>
      </p:sp>
      <p:sp>
        <p:nvSpPr>
          <p:cNvPr id="7" name="pf_271"/>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72" descr="/home/claude/movers/img/crop/r1-p42-ex2.jpg">    </p:cNvPr>
          <p:cNvPicPr>
            <a:picLocks noChangeAspect="1"/>
          </p:cNvPicPr>
          <p:nvPr/>
        </p:nvPicPr>
        <p:blipFill>
          <a:blip r:embed="rId2"/>
          <a:stretch>
            <a:fillRect/>
          </a:stretch>
        </p:blipFill>
        <p:spPr>
          <a:xfrm>
            <a:off x="365760" y="1897380"/>
            <a:ext cx="5120640" cy="2103120"/>
          </a:xfrm>
          <a:prstGeom prst="rect">
            <a:avLst/>
          </a:prstGeom>
        </p:spPr>
      </p:pic>
      <p:sp>
        <p:nvSpPr>
          <p:cNvPr id="9" name="q_273"/>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Which activities do you hear? (6)</a:t>
            </a:r>
            <a:endParaRPr lang="en-US" sz="1250" dirty="0"/>
          </a:p>
        </p:txBody>
      </p:sp>
      <p:sp>
        <p:nvSpPr>
          <p:cNvPr id="10" name="R1_a274"/>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shopping · swimming · costumes · football · forest · DVD</a:t>
            </a:r>
            <a:endParaRPr lang="en-US" sz="1250" dirty="0"/>
          </a:p>
        </p:txBody>
      </p:sp>
      <p:sp>
        <p:nvSpPr>
          <p:cNvPr id="11" name="q_275"/>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Which picture is NOT in the audio?</a:t>
            </a:r>
            <a:endParaRPr lang="en-US" sz="1250" dirty="0"/>
          </a:p>
        </p:txBody>
      </p:sp>
      <p:sp>
        <p:nvSpPr>
          <p:cNvPr id="12" name="R2_a276"/>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writing an email / the mountains</a:t>
            </a:r>
            <a:endParaRPr lang="en-US" sz="1250" dirty="0"/>
          </a:p>
        </p:txBody>
      </p:sp>
      <p:sp>
        <p:nvSpPr>
          <p:cNvPr id="13" name="bk_277"/>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p.42 · 🎧 1.50</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7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LISTEN</a:t>
            </a:r>
            <a:endParaRPr lang="en-US" sz="1600" dirty="0"/>
          </a:p>
        </p:txBody>
      </p:sp>
      <p:sp>
        <p:nvSpPr>
          <p:cNvPr id="4" name="bm_279"/>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Complete the table</a:t>
            </a:r>
            <a:endParaRPr lang="en-US" sz="2700" dirty="0"/>
          </a:p>
        </p:txBody>
      </p:sp>
      <p:sp>
        <p:nvSpPr>
          <p:cNvPr id="5" name="in_280"/>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again and complete.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di nuovo e completa.</a:t>
            </a:r>
            <a:endParaRPr lang="en-US" sz="1400" dirty="0"/>
          </a:p>
        </p:txBody>
      </p:sp>
      <p:sp>
        <p:nvSpPr>
          <p:cNvPr id="6" name="mode_281"/>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WRITE</a:t>
            </a:r>
            <a:endParaRPr lang="en-US" sz="1000" dirty="0"/>
          </a:p>
        </p:txBody>
      </p:sp>
      <p:sp>
        <p:nvSpPr>
          <p:cNvPr id="7" name="pf_282"/>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83" descr="/home/claude/movers/img/crop/r1-p42-ex2.jpg">    </p:cNvPr>
          <p:cNvPicPr>
            <a:picLocks noChangeAspect="1"/>
          </p:cNvPicPr>
          <p:nvPr/>
        </p:nvPicPr>
        <p:blipFill>
          <a:blip r:embed="rId2"/>
          <a:stretch>
            <a:fillRect/>
          </a:stretch>
        </p:blipFill>
        <p:spPr>
          <a:xfrm>
            <a:off x="365760" y="1897380"/>
            <a:ext cx="5120640" cy="2103120"/>
          </a:xfrm>
          <a:prstGeom prst="rect">
            <a:avLst/>
          </a:prstGeom>
        </p:spPr>
      </p:pic>
      <p:sp>
        <p:nvSpPr>
          <p:cNvPr id="9" name="q_284"/>
          <p:cNvSpPr/>
          <p:nvPr/>
        </p:nvSpPr>
        <p:spPr>
          <a:xfrm>
            <a:off x="5760720" y="13258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Jack, Friday: watch a …</a:t>
            </a:r>
            <a:endParaRPr lang="en-US" sz="1100" dirty="0"/>
          </a:p>
        </p:txBody>
      </p:sp>
      <p:sp>
        <p:nvSpPr>
          <p:cNvPr id="10" name="R1_a285"/>
          <p:cNvSpPr/>
          <p:nvPr/>
        </p:nvSpPr>
        <p:spPr>
          <a:xfrm>
            <a:off x="5989320" y="16111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DVD</a:t>
            </a:r>
            <a:endParaRPr lang="en-US" sz="1100" dirty="0"/>
          </a:p>
        </p:txBody>
      </p:sp>
      <p:sp>
        <p:nvSpPr>
          <p:cNvPr id="11" name="q_286"/>
          <p:cNvSpPr/>
          <p:nvPr/>
        </p:nvSpPr>
        <p:spPr>
          <a:xfrm>
            <a:off x="5760720" y="187452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Zoe, Friday: go …</a:t>
            </a:r>
            <a:endParaRPr lang="en-US" sz="1100" dirty="0"/>
          </a:p>
        </p:txBody>
      </p:sp>
      <p:sp>
        <p:nvSpPr>
          <p:cNvPr id="12" name="R2_a287"/>
          <p:cNvSpPr/>
          <p:nvPr/>
        </p:nvSpPr>
        <p:spPr>
          <a:xfrm>
            <a:off x="5989320" y="215981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shopping</a:t>
            </a:r>
            <a:endParaRPr lang="en-US" sz="1100" dirty="0"/>
          </a:p>
        </p:txBody>
      </p:sp>
      <p:sp>
        <p:nvSpPr>
          <p:cNvPr id="13" name="q_288"/>
          <p:cNvSpPr/>
          <p:nvPr/>
        </p:nvSpPr>
        <p:spPr>
          <a:xfrm>
            <a:off x="5760720" y="242316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Zoe, Saturday: play …</a:t>
            </a:r>
            <a:endParaRPr lang="en-US" sz="1100" dirty="0"/>
          </a:p>
        </p:txBody>
      </p:sp>
      <p:sp>
        <p:nvSpPr>
          <p:cNvPr id="14" name="R3_a289"/>
          <p:cNvSpPr/>
          <p:nvPr/>
        </p:nvSpPr>
        <p:spPr>
          <a:xfrm>
            <a:off x="5989320" y="270845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football</a:t>
            </a:r>
            <a:endParaRPr lang="en-US" sz="1100" dirty="0"/>
          </a:p>
        </p:txBody>
      </p:sp>
      <p:sp>
        <p:nvSpPr>
          <p:cNvPr id="15" name="q_290"/>
          <p:cNvSpPr/>
          <p:nvPr/>
        </p:nvSpPr>
        <p:spPr>
          <a:xfrm>
            <a:off x="5760720" y="297180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Jack, Saturday: go for a …</a:t>
            </a:r>
            <a:endParaRPr lang="en-US" sz="1100" dirty="0"/>
          </a:p>
        </p:txBody>
      </p:sp>
      <p:sp>
        <p:nvSpPr>
          <p:cNvPr id="16" name="R4_a291"/>
          <p:cNvSpPr/>
          <p:nvPr/>
        </p:nvSpPr>
        <p:spPr>
          <a:xfrm>
            <a:off x="5989320" y="325709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swim</a:t>
            </a:r>
            <a:endParaRPr lang="en-US" sz="1100" dirty="0"/>
          </a:p>
        </p:txBody>
      </p:sp>
      <p:sp>
        <p:nvSpPr>
          <p:cNvPr id="17" name="q_292"/>
          <p:cNvSpPr/>
          <p:nvPr/>
        </p:nvSpPr>
        <p:spPr>
          <a:xfrm>
            <a:off x="5760720" y="352044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Sunday: Kim's party at … o'clock</a:t>
            </a:r>
            <a:endParaRPr lang="en-US" sz="1100" dirty="0"/>
          </a:p>
        </p:txBody>
      </p:sp>
      <p:sp>
        <p:nvSpPr>
          <p:cNvPr id="18" name="R5_a293"/>
          <p:cNvSpPr/>
          <p:nvPr/>
        </p:nvSpPr>
        <p:spPr>
          <a:xfrm>
            <a:off x="5989320" y="380573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five</a:t>
            </a:r>
            <a:endParaRPr lang="en-US" sz="1100" dirty="0"/>
          </a:p>
        </p:txBody>
      </p:sp>
      <p:sp>
        <p:nvSpPr>
          <p:cNvPr id="19" name="q_294"/>
          <p:cNvSpPr/>
          <p:nvPr/>
        </p:nvSpPr>
        <p:spPr>
          <a:xfrm>
            <a:off x="5760720" y="4069080"/>
            <a:ext cx="3017520" cy="285293"/>
          </a:xfrm>
          <a:prstGeom prst="rect">
            <a:avLst/>
          </a:prstGeom>
          <a:noFill/>
          <a:ln/>
        </p:spPr>
        <p:txBody>
          <a:bodyPr wrap="square" lIns="0" tIns="0" rIns="0" bIns="0" rtlCol="0" anchor="b"/>
          <a:lstStyle/>
          <a:p>
            <a:pPr indent="0" marL="0">
              <a:buNone/>
            </a:pPr>
            <a:r>
              <a:rPr lang="en-US" sz="1100" b="1" dirty="0">
                <a:solidFill>
                  <a:srgbClr val="FF8A3D"/>
                </a:solidFill>
                <a:latin typeface="Arial Rounded MT Bold" pitchFamily="34" charset="0"/>
                <a:ea typeface="Arial Rounded MT Bold" pitchFamily="34" charset="-122"/>
                <a:cs typeface="Arial Rounded MT Bold" pitchFamily="34" charset="-120"/>
              </a:rPr>
              <a:t>6  </a:t>
            </a:r>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Costumes: Jack … · Zoe …</a:t>
            </a:r>
            <a:endParaRPr lang="en-US" sz="1100" dirty="0"/>
          </a:p>
        </p:txBody>
      </p:sp>
      <p:sp>
        <p:nvSpPr>
          <p:cNvPr id="20" name="R6_a295"/>
          <p:cNvSpPr/>
          <p:nvPr/>
        </p:nvSpPr>
        <p:spPr>
          <a:xfrm>
            <a:off x="5989320" y="4354373"/>
            <a:ext cx="2788920" cy="252374"/>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pirate · clown</a:t>
            </a:r>
            <a:endParaRPr lang="en-US" sz="1100" dirty="0"/>
          </a:p>
        </p:txBody>
      </p:sp>
      <p:sp>
        <p:nvSpPr>
          <p:cNvPr id="21" name="bk_296"/>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p.42 · 🎧 1.50</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9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9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6CCB3B"/>
                </a:solidFill>
                <a:latin typeface="Arial Black" pitchFamily="34" charset="0"/>
                <a:ea typeface="Arial Black" pitchFamily="34" charset="-122"/>
                <a:cs typeface="Arial Black" pitchFamily="34" charset="-120"/>
              </a:rPr>
              <a:t>Simon says!</a:t>
            </a:r>
            <a:endParaRPr lang="en-US" sz="3200" dirty="0"/>
          </a:p>
        </p:txBody>
      </p:sp>
      <p:sp>
        <p:nvSpPr>
          <p:cNvPr id="5" name="in_29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Do it only if Simon says!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Fallo solo se lo dice Simon!</a:t>
            </a:r>
            <a:endParaRPr lang="en-US" sz="1400" dirty="0"/>
          </a:p>
        </p:txBody>
      </p:sp>
      <p:sp>
        <p:nvSpPr>
          <p:cNvPr id="6" name="mode_30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CLASS · ⏱ 3 MIN</a:t>
            </a:r>
            <a:endParaRPr lang="en-US" sz="1000" dirty="0"/>
          </a:p>
        </p:txBody>
      </p:sp>
      <p:sp>
        <p:nvSpPr>
          <p:cNvPr id="7" name="cd_301"/>
          <p:cNvSpPr/>
          <p:nvPr/>
        </p:nvSpPr>
        <p:spPr>
          <a:xfrm>
            <a:off x="27432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302" descr="/home/claude/movers/img/fc/go-skating.png">    </p:cNvPr>
          <p:cNvPicPr>
            <a:picLocks noChangeAspect="1"/>
          </p:cNvPicPr>
          <p:nvPr/>
        </p:nvPicPr>
        <p:blipFill>
          <a:blip r:embed="rId2"/>
          <a:stretch>
            <a:fillRect/>
          </a:stretch>
        </p:blipFill>
        <p:spPr>
          <a:xfrm>
            <a:off x="347472" y="1399032"/>
            <a:ext cx="1133856" cy="1133856"/>
          </a:xfrm>
          <a:prstGeom prst="rect">
            <a:avLst/>
          </a:prstGeom>
        </p:spPr>
      </p:pic>
      <p:sp>
        <p:nvSpPr>
          <p:cNvPr id="9" name="R1_a303"/>
          <p:cNvSpPr/>
          <p:nvPr/>
        </p:nvSpPr>
        <p:spPr>
          <a:xfrm>
            <a:off x="162763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go skating! ⛸️</a:t>
            </a:r>
            <a:endParaRPr lang="en-US" sz="1250" dirty="0"/>
          </a:p>
        </p:txBody>
      </p:sp>
      <p:sp>
        <p:nvSpPr>
          <p:cNvPr id="10" name="cd_304"/>
          <p:cNvSpPr/>
          <p:nvPr/>
        </p:nvSpPr>
        <p:spPr>
          <a:xfrm>
            <a:off x="313944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305" descr="/home/claude/movers/img/fc/listen-to-music.png">    </p:cNvPr>
          <p:cNvPicPr>
            <a:picLocks noChangeAspect="1"/>
          </p:cNvPicPr>
          <p:nvPr/>
        </p:nvPicPr>
        <p:blipFill>
          <a:blip r:embed="rId3"/>
          <a:stretch>
            <a:fillRect/>
          </a:stretch>
        </p:blipFill>
        <p:spPr>
          <a:xfrm>
            <a:off x="3212592" y="1399032"/>
            <a:ext cx="1133856" cy="1133856"/>
          </a:xfrm>
          <a:prstGeom prst="rect">
            <a:avLst/>
          </a:prstGeom>
        </p:spPr>
      </p:pic>
      <p:sp>
        <p:nvSpPr>
          <p:cNvPr id="12" name="R2_a306"/>
          <p:cNvSpPr/>
          <p:nvPr/>
        </p:nvSpPr>
        <p:spPr>
          <a:xfrm>
            <a:off x="449275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listen to music! 🎧</a:t>
            </a:r>
            <a:endParaRPr lang="en-US" sz="1250" dirty="0"/>
          </a:p>
        </p:txBody>
      </p:sp>
      <p:sp>
        <p:nvSpPr>
          <p:cNvPr id="13" name="cd_307"/>
          <p:cNvSpPr/>
          <p:nvPr/>
        </p:nvSpPr>
        <p:spPr>
          <a:xfrm>
            <a:off x="6004560" y="13258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308" descr="/home/claude/movers/img/fc/read-a-comic.png">    </p:cNvPr>
          <p:cNvPicPr>
            <a:picLocks noChangeAspect="1"/>
          </p:cNvPicPr>
          <p:nvPr/>
        </p:nvPicPr>
        <p:blipFill>
          <a:blip r:embed="rId4"/>
          <a:stretch>
            <a:fillRect/>
          </a:stretch>
        </p:blipFill>
        <p:spPr>
          <a:xfrm>
            <a:off x="6077712" y="1399032"/>
            <a:ext cx="1133856" cy="1133856"/>
          </a:xfrm>
          <a:prstGeom prst="rect">
            <a:avLst/>
          </a:prstGeom>
        </p:spPr>
      </p:pic>
      <p:sp>
        <p:nvSpPr>
          <p:cNvPr id="15" name="R3_a309"/>
          <p:cNvSpPr/>
          <p:nvPr/>
        </p:nvSpPr>
        <p:spPr>
          <a:xfrm>
            <a:off x="7357872" y="14630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read a comic! 📖</a:t>
            </a:r>
            <a:endParaRPr lang="en-US" sz="1250" dirty="0"/>
          </a:p>
        </p:txBody>
      </p:sp>
      <p:sp>
        <p:nvSpPr>
          <p:cNvPr id="16" name="cd_310"/>
          <p:cNvSpPr/>
          <p:nvPr/>
        </p:nvSpPr>
        <p:spPr>
          <a:xfrm>
            <a:off x="27432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311" descr="/home/claude/movers/img/fc/write-an-email.png">    </p:cNvPr>
          <p:cNvPicPr>
            <a:picLocks noChangeAspect="1"/>
          </p:cNvPicPr>
          <p:nvPr/>
        </p:nvPicPr>
        <p:blipFill>
          <a:blip r:embed="rId5"/>
          <a:stretch>
            <a:fillRect/>
          </a:stretch>
        </p:blipFill>
        <p:spPr>
          <a:xfrm>
            <a:off x="347472" y="2999232"/>
            <a:ext cx="1133856" cy="1133856"/>
          </a:xfrm>
          <a:prstGeom prst="rect">
            <a:avLst/>
          </a:prstGeom>
        </p:spPr>
      </p:pic>
      <p:sp>
        <p:nvSpPr>
          <p:cNvPr id="18" name="R4_a312"/>
          <p:cNvSpPr/>
          <p:nvPr/>
        </p:nvSpPr>
        <p:spPr>
          <a:xfrm>
            <a:off x="162763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write an email! 💻</a:t>
            </a:r>
            <a:endParaRPr lang="en-US" sz="1250" dirty="0"/>
          </a:p>
        </p:txBody>
      </p:sp>
      <p:sp>
        <p:nvSpPr>
          <p:cNvPr id="19" name="cd_313"/>
          <p:cNvSpPr/>
          <p:nvPr/>
        </p:nvSpPr>
        <p:spPr>
          <a:xfrm>
            <a:off x="313944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314" descr="/home/claude/movers/img/fc/have-a-shower.png">    </p:cNvPr>
          <p:cNvPicPr>
            <a:picLocks noChangeAspect="1"/>
          </p:cNvPicPr>
          <p:nvPr/>
        </p:nvPicPr>
        <p:blipFill>
          <a:blip r:embed="rId6"/>
          <a:stretch>
            <a:fillRect/>
          </a:stretch>
        </p:blipFill>
        <p:spPr>
          <a:xfrm>
            <a:off x="3212592" y="2999232"/>
            <a:ext cx="1133856" cy="1133856"/>
          </a:xfrm>
          <a:prstGeom prst="rect">
            <a:avLst/>
          </a:prstGeom>
        </p:spPr>
      </p:pic>
      <p:sp>
        <p:nvSpPr>
          <p:cNvPr id="21" name="R5_a315"/>
          <p:cNvSpPr/>
          <p:nvPr/>
        </p:nvSpPr>
        <p:spPr>
          <a:xfrm>
            <a:off x="449275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have a shower! 🚿</a:t>
            </a:r>
            <a:endParaRPr lang="en-US" sz="1250" dirty="0"/>
          </a:p>
        </p:txBody>
      </p:sp>
      <p:sp>
        <p:nvSpPr>
          <p:cNvPr id="22" name="cd_316"/>
          <p:cNvSpPr/>
          <p:nvPr/>
        </p:nvSpPr>
        <p:spPr>
          <a:xfrm>
            <a:off x="6004560" y="2926080"/>
            <a:ext cx="1280160" cy="1325880"/>
          </a:xfrm>
          <a:prstGeom prst="roundRect">
            <a:avLst>
              <a:gd name="adj" fmla="val 857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317" descr="/home/claude/movers/img/fc/pop-star.png">    </p:cNvPr>
          <p:cNvPicPr>
            <a:picLocks noChangeAspect="1"/>
          </p:cNvPicPr>
          <p:nvPr/>
        </p:nvPicPr>
        <p:blipFill>
          <a:blip r:embed="rId7"/>
          <a:stretch>
            <a:fillRect/>
          </a:stretch>
        </p:blipFill>
        <p:spPr>
          <a:xfrm>
            <a:off x="6077712" y="2999232"/>
            <a:ext cx="1133856" cy="1133856"/>
          </a:xfrm>
          <a:prstGeom prst="rect">
            <a:avLst/>
          </a:prstGeom>
        </p:spPr>
      </p:pic>
      <p:sp>
        <p:nvSpPr>
          <p:cNvPr id="24" name="R6_a318"/>
          <p:cNvSpPr/>
          <p:nvPr/>
        </p:nvSpPr>
        <p:spPr>
          <a:xfrm>
            <a:off x="7357872" y="3063240"/>
            <a:ext cx="144780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Simon says: be a pop star! 🎤</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1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SAY IT!</a:t>
            </a:r>
            <a:endParaRPr lang="en-US" sz="1600" dirty="0"/>
          </a:p>
        </p:txBody>
      </p:sp>
      <p:sp>
        <p:nvSpPr>
          <p:cNvPr id="4" name="bm_32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Sound detectives!</a:t>
            </a:r>
            <a:endParaRPr lang="en-US" sz="2700" dirty="0"/>
          </a:p>
        </p:txBody>
      </p:sp>
      <p:sp>
        <p:nvSpPr>
          <p:cNvPr id="5" name="in_32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Which word sounds different? Show me 1, 2 or 3!</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Quale parola suona diversa? Mostra 1, 2 o 3!</a:t>
            </a:r>
            <a:endParaRPr lang="en-US" sz="1400" dirty="0"/>
          </a:p>
        </p:txBody>
      </p:sp>
      <p:sp>
        <p:nvSpPr>
          <p:cNvPr id="6" name="mode_32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3 MIN</a:t>
            </a:r>
            <a:endParaRPr lang="en-US" sz="1000" dirty="0"/>
          </a:p>
        </p:txBody>
      </p:sp>
      <p:sp>
        <p:nvSpPr>
          <p:cNvPr id="7" name="diff_323"/>
          <p:cNvSpPr/>
          <p:nvPr/>
        </p:nvSpPr>
        <p:spPr>
          <a:xfrm>
            <a:off x="4343400" y="4681728"/>
            <a:ext cx="457200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Find another 'th' word!</a:t>
            </a:r>
            <a:endParaRPr lang="en-US" sz="950" dirty="0"/>
          </a:p>
        </p:txBody>
      </p:sp>
      <p:sp>
        <p:nvSpPr>
          <p:cNvPr id="8" name="pf_32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325" descr="/home/claude/movers/img/e-r1ear.png">    </p:cNvPr>
          <p:cNvPicPr>
            <a:picLocks noChangeAspect="1"/>
          </p:cNvPicPr>
          <p:nvPr/>
        </p:nvPicPr>
        <p:blipFill>
          <a:blip r:embed="rId2"/>
          <a:stretch>
            <a:fillRect/>
          </a:stretch>
        </p:blipFill>
        <p:spPr>
          <a:xfrm>
            <a:off x="1303020" y="1325880"/>
            <a:ext cx="3246120" cy="3246120"/>
          </a:xfrm>
          <a:prstGeom prst="rect">
            <a:avLst/>
          </a:prstGeom>
        </p:spPr>
      </p:pic>
      <p:sp>
        <p:nvSpPr>
          <p:cNvPr id="10" name="q_326"/>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① Thursday  ② thin  ③ tractor</a:t>
            </a:r>
            <a:endParaRPr lang="en-US" sz="1250" dirty="0"/>
          </a:p>
        </p:txBody>
      </p:sp>
      <p:sp>
        <p:nvSpPr>
          <p:cNvPr id="11" name="R1_a327"/>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③ – no 'th' (tongue out for ① ②!)</a:t>
            </a:r>
            <a:endParaRPr lang="en-US" sz="1250" dirty="0"/>
          </a:p>
        </p:txBody>
      </p:sp>
      <p:sp>
        <p:nvSpPr>
          <p:cNvPr id="12" name="q_328"/>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① hair  ② have breakfast  ③ eat</a:t>
            </a:r>
            <a:endParaRPr lang="en-US" sz="1250" dirty="0"/>
          </a:p>
        </p:txBody>
      </p:sp>
      <p:sp>
        <p:nvSpPr>
          <p:cNvPr id="13" name="R2_a329"/>
          <p:cNvSpPr/>
          <p:nvPr/>
        </p:nvSpPr>
        <p:spPr>
          <a:xfrm>
            <a:off x="5989320" y="257677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③ – no H (breathe on your hand ✋)</a:t>
            </a:r>
            <a:endParaRPr lang="en-US" sz="1200" dirty="0"/>
          </a:p>
        </p:txBody>
      </p:sp>
      <p:sp>
        <p:nvSpPr>
          <p:cNvPr id="14" name="q_330"/>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① doctor  ② pirate  ③ police</a:t>
            </a:r>
            <a:endParaRPr lang="en-US" sz="1250" dirty="0"/>
          </a:p>
        </p:txBody>
      </p:sp>
      <p:sp>
        <p:nvSpPr>
          <p:cNvPr id="15" name="R3_a331"/>
          <p:cNvSpPr/>
          <p:nvPr/>
        </p:nvSpPr>
        <p:spPr>
          <a:xfrm>
            <a:off x="5989320" y="3399739"/>
            <a:ext cx="2788920" cy="378562"/>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③ – po-LICE (the others: DOC-tor, PI-rate)</a:t>
            </a:r>
            <a:endParaRPr lang="en-US" sz="1200" dirty="0"/>
          </a:p>
        </p:txBody>
      </p:sp>
      <p:sp>
        <p:nvSpPr>
          <p:cNvPr id="16" name="q_332"/>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Ha i capelli lunghi e neri. → ?</a:t>
            </a:r>
            <a:endParaRPr lang="en-US" sz="1250" dirty="0"/>
          </a:p>
        </p:txBody>
      </p:sp>
      <p:sp>
        <p:nvSpPr>
          <p:cNvPr id="17" name="R4_a333"/>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He's got long black hair.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3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33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Guess who!</a:t>
            </a:r>
            <a:endParaRPr lang="en-US" sz="3200" dirty="0"/>
          </a:p>
        </p:txBody>
      </p:sp>
      <p:sp>
        <p:nvSpPr>
          <p:cNvPr id="5" name="in_33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Choose a person. Ask and guess who!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Scegli una persona. Chiedi e indovina!</a:t>
            </a:r>
            <a:endParaRPr lang="en-US" sz="1400" dirty="0"/>
          </a:p>
        </p:txBody>
      </p:sp>
      <p:sp>
        <p:nvSpPr>
          <p:cNvPr id="6" name="mode_33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7 MIN</a:t>
            </a:r>
            <a:endParaRPr lang="en-US" sz="1000" dirty="0"/>
          </a:p>
        </p:txBody>
      </p:sp>
      <p:sp>
        <p:nvSpPr>
          <p:cNvPr id="7" name="diff_338"/>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How often do you …?</a:t>
            </a:r>
            <a:endParaRPr lang="en-US" sz="950" dirty="0"/>
          </a:p>
        </p:txBody>
      </p:sp>
      <p:sp>
        <p:nvSpPr>
          <p:cNvPr id="8" name="diff_339"/>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Only 3 questions!</a:t>
            </a:r>
            <a:endParaRPr lang="en-US" sz="950" dirty="0"/>
          </a:p>
        </p:txBody>
      </p:sp>
      <p:sp>
        <p:nvSpPr>
          <p:cNvPr id="9" name="pf_340"/>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pic_341" descr="/home/claude/movers/img/crop/r1-p42-ex3.jpg">    </p:cNvPr>
          <p:cNvPicPr>
            <a:picLocks noChangeAspect="1"/>
          </p:cNvPicPr>
          <p:nvPr/>
        </p:nvPicPr>
        <p:blipFill>
          <a:blip r:embed="rId2"/>
          <a:stretch>
            <a:fillRect/>
          </a:stretch>
        </p:blipFill>
        <p:spPr>
          <a:xfrm>
            <a:off x="365760" y="1428148"/>
            <a:ext cx="5120640" cy="3041583"/>
          </a:xfrm>
          <a:prstGeom prst="rect">
            <a:avLst/>
          </a:prstGeom>
        </p:spPr>
      </p:pic>
      <p:sp>
        <p:nvSpPr>
          <p:cNvPr id="11" name="q_342"/>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sometimes watch TV. I wake up at seven o'clock.</a:t>
            </a:r>
            <a:endParaRPr lang="en-US" sz="1250" dirty="0"/>
          </a:p>
        </p:txBody>
      </p:sp>
      <p:sp>
        <p:nvSpPr>
          <p:cNvPr id="12" name="R1_a343"/>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Clare</a:t>
            </a:r>
            <a:endParaRPr lang="en-US" sz="1250" dirty="0"/>
          </a:p>
        </p:txBody>
      </p:sp>
      <p:sp>
        <p:nvSpPr>
          <p:cNvPr id="13" name="q_344"/>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never watch TV. I wake up at eight o'clock.</a:t>
            </a:r>
            <a:endParaRPr lang="en-US" sz="1250" dirty="0"/>
          </a:p>
        </p:txBody>
      </p:sp>
      <p:sp>
        <p:nvSpPr>
          <p:cNvPr id="14" name="R2_a345"/>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Jane</a:t>
            </a:r>
            <a:endParaRPr lang="en-US" sz="1250" dirty="0"/>
          </a:p>
        </p:txBody>
      </p:sp>
      <p:sp>
        <p:nvSpPr>
          <p:cNvPr id="15" name="q_346"/>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always play football. I wake up at eight o'clock.</a:t>
            </a:r>
            <a:endParaRPr lang="en-US" sz="1250" dirty="0"/>
          </a:p>
        </p:txBody>
      </p:sp>
      <p:sp>
        <p:nvSpPr>
          <p:cNvPr id="16" name="R3_a347"/>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Sally</a:t>
            </a:r>
            <a:endParaRPr lang="en-US" sz="1250" dirty="0"/>
          </a:p>
        </p:txBody>
      </p:sp>
      <p:sp>
        <p:nvSpPr>
          <p:cNvPr id="17" name="q_348"/>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I sometimes read comics. I wake up at seven o'clock.</a:t>
            </a:r>
            <a:endParaRPr lang="en-US" sz="1250" dirty="0"/>
          </a:p>
        </p:txBody>
      </p:sp>
      <p:sp>
        <p:nvSpPr>
          <p:cNvPr id="18" name="R4_a349"/>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Peter</a:t>
            </a:r>
            <a:endParaRPr lang="en-US" sz="1250" dirty="0"/>
          </a:p>
        </p:txBody>
      </p:sp>
      <p:sp>
        <p:nvSpPr>
          <p:cNvPr id="19" name="bk_350"/>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p.42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5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5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Would you rather…?</a:t>
            </a:r>
            <a:endParaRPr lang="en-US" sz="2700" dirty="0"/>
          </a:p>
        </p:txBody>
      </p:sp>
      <p:sp>
        <p:nvSpPr>
          <p:cNvPr id="5" name="in_35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Choose LEFT or RIGHT. Say why!</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Scegli SINISTRA o DESTRA. Di' perché!</a:t>
            </a:r>
            <a:endParaRPr lang="en-US" sz="1400" dirty="0"/>
          </a:p>
        </p:txBody>
      </p:sp>
      <p:sp>
        <p:nvSpPr>
          <p:cNvPr id="6" name="mode_35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CLASS · ⏱ 4 MIN</a:t>
            </a:r>
            <a:endParaRPr lang="en-US" sz="1000" dirty="0"/>
          </a:p>
        </p:txBody>
      </p:sp>
      <p:sp>
        <p:nvSpPr>
          <p:cNvPr id="7" name="diff_355"/>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want to … because …</a:t>
            </a:r>
            <a:endParaRPr lang="en-US" sz="950" dirty="0"/>
          </a:p>
        </p:txBody>
      </p:sp>
      <p:sp>
        <p:nvSpPr>
          <p:cNvPr id="8" name="diff_356"/>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00" dirty="0">
                <a:solidFill>
                  <a:srgbClr val="1E2A5A"/>
                </a:solidFill>
                <a:latin typeface="Arial Rounded MT Bold" pitchFamily="34" charset="0"/>
                <a:ea typeface="Arial Rounded MT Bold" pitchFamily="34" charset="-122"/>
                <a:cs typeface="Arial Rounded MT Bold" pitchFamily="34" charset="-120"/>
              </a:rPr>
              <a:t>🔥 Which would an alien choose?</a:t>
            </a:r>
            <a:endParaRPr lang="en-US" sz="900" dirty="0"/>
          </a:p>
        </p:txBody>
      </p:sp>
      <p:sp>
        <p:nvSpPr>
          <p:cNvPr id="9" name="st_357"/>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0" name="sn_358"/>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359"/>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2" name="se_360"/>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the two choices.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le due scelte.</a:t>
            </a:r>
            <a:endParaRPr lang="en-US" sz="1050" dirty="0"/>
          </a:p>
        </p:txBody>
      </p:sp>
      <p:sp>
        <p:nvSpPr>
          <p:cNvPr id="13" name="st_361"/>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4" name="sn_362"/>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363"/>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6" name="se_364"/>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Walk to the LEFT or RIGHT wall.</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Vai alla parete SINISTRA o DESTRA.</a:t>
            </a:r>
            <a:endParaRPr lang="en-US" sz="1050" dirty="0"/>
          </a:p>
        </p:txBody>
      </p:sp>
      <p:sp>
        <p:nvSpPr>
          <p:cNvPr id="17" name="st_365"/>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366"/>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367"/>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368"/>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why: 'Because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perché: 'Because …'</a:t>
            </a:r>
            <a:endParaRPr lang="en-US" sz="1050" dirty="0"/>
          </a:p>
        </p:txBody>
      </p:sp>
      <p:sp>
        <p:nvSpPr>
          <p:cNvPr id="21" name="gl_369"/>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be a pirate 🏴‍☠️  or  be a pop star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live by a lake 🏞️  or  on a mountain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go skating ⛸️  or  watch a film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have a beard 🧔  or  have curly blue hair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get up at 6 o'clock  or  never have breakfast?</a:t>
            </a:r>
            <a:endParaRPr lang="en-US" sz="140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7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READ</a:t>
            </a:r>
            <a:endParaRPr lang="en-US" sz="1600" dirty="0"/>
          </a:p>
        </p:txBody>
      </p:sp>
      <p:sp>
        <p:nvSpPr>
          <p:cNvPr id="4" name="bm_37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Correct it!</a:t>
            </a:r>
            <a:endParaRPr lang="en-US" sz="3200" dirty="0"/>
          </a:p>
        </p:txBody>
      </p:sp>
      <p:sp>
        <p:nvSpPr>
          <p:cNvPr id="5" name="in_37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and read. Correct the sentences.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leggi. Correggi le frasi.</a:t>
            </a:r>
            <a:endParaRPr lang="en-US" sz="1400" dirty="0"/>
          </a:p>
        </p:txBody>
      </p:sp>
      <p:sp>
        <p:nvSpPr>
          <p:cNvPr id="6" name="mode_37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 ⏱ 6 MIN</a:t>
            </a:r>
            <a:endParaRPr lang="en-US" sz="1000" dirty="0"/>
          </a:p>
        </p:txBody>
      </p:sp>
      <p:sp>
        <p:nvSpPr>
          <p:cNvPr id="7" name="diff_374"/>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No! He's got …</a:t>
            </a:r>
            <a:endParaRPr lang="en-US" sz="950" dirty="0"/>
          </a:p>
        </p:txBody>
      </p:sp>
      <p:sp>
        <p:nvSpPr>
          <p:cNvPr id="8" name="pf_375"/>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pic_376" descr="/home/claude/movers/img/crop/r1-p43-ex4.jpg">    </p:cNvPr>
          <p:cNvPicPr>
            <a:picLocks noChangeAspect="1"/>
          </p:cNvPicPr>
          <p:nvPr/>
        </p:nvPicPr>
        <p:blipFill>
          <a:blip r:embed="rId2"/>
          <a:stretch>
            <a:fillRect/>
          </a:stretch>
        </p:blipFill>
        <p:spPr>
          <a:xfrm>
            <a:off x="496075" y="1325880"/>
            <a:ext cx="4860010" cy="3246120"/>
          </a:xfrm>
          <a:prstGeom prst="rect">
            <a:avLst/>
          </a:prstGeom>
        </p:spPr>
      </p:pic>
      <p:sp>
        <p:nvSpPr>
          <p:cNvPr id="10" name="q_377"/>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1 The cook (example)</a:t>
            </a:r>
            <a:endParaRPr lang="en-US" sz="1250" dirty="0"/>
          </a:p>
        </p:txBody>
      </p:sp>
      <p:sp>
        <p:nvSpPr>
          <p:cNvPr id="11" name="R1_a378"/>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curly hair · reading a comic</a:t>
            </a:r>
            <a:endParaRPr lang="en-US" sz="1250" dirty="0"/>
          </a:p>
        </p:txBody>
      </p:sp>
      <p:sp>
        <p:nvSpPr>
          <p:cNvPr id="12" name="q_379"/>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2 The doctor</a:t>
            </a:r>
            <a:endParaRPr lang="en-US" sz="1250" dirty="0"/>
          </a:p>
        </p:txBody>
      </p:sp>
      <p:sp>
        <p:nvSpPr>
          <p:cNvPr id="13" name="R2_a380"/>
          <p:cNvSpPr/>
          <p:nvPr/>
        </p:nvSpPr>
        <p:spPr>
          <a:xfrm>
            <a:off x="5989320" y="2326599"/>
            <a:ext cx="2788920" cy="302849"/>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short, curly hair · listening to music</a:t>
            </a:r>
            <a:endParaRPr lang="en-US" sz="1100" dirty="0"/>
          </a:p>
        </p:txBody>
      </p:sp>
      <p:sp>
        <p:nvSpPr>
          <p:cNvPr id="14" name="q_381"/>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3 The pirate</a:t>
            </a:r>
            <a:endParaRPr lang="en-US" sz="1250" dirty="0"/>
          </a:p>
        </p:txBody>
      </p:sp>
      <p:sp>
        <p:nvSpPr>
          <p:cNvPr id="15" name="R3_a382"/>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long beard · (roller) skating</a:t>
            </a:r>
            <a:endParaRPr lang="en-US" sz="1250" dirty="0"/>
          </a:p>
        </p:txBody>
      </p:sp>
      <p:sp>
        <p:nvSpPr>
          <p:cNvPr id="16" name="q_383"/>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4 The farmer</a:t>
            </a:r>
            <a:endParaRPr lang="en-US" sz="1250" dirty="0"/>
          </a:p>
        </p:txBody>
      </p:sp>
      <p:sp>
        <p:nvSpPr>
          <p:cNvPr id="17" name="R4_a384"/>
          <p:cNvSpPr/>
          <p:nvPr/>
        </p:nvSpPr>
        <p:spPr>
          <a:xfrm>
            <a:off x="5989320" y="3643335"/>
            <a:ext cx="2788920" cy="302849"/>
          </a:xfrm>
          <a:prstGeom prst="rect">
            <a:avLst/>
          </a:prstGeom>
          <a:noFill/>
          <a:ln/>
        </p:spPr>
        <p:txBody>
          <a:bodyPr wrap="square" lIns="0" tIns="0" rIns="0" bIns="0" rtlCol="0" anchor="t"/>
          <a:lstStyle/>
          <a:p>
            <a:pPr indent="0" marL="0">
              <a:buNone/>
            </a:pPr>
            <a:r>
              <a:rPr lang="en-US" sz="1100" b="1" dirty="0">
                <a:solidFill>
                  <a:srgbClr val="6CCB3B"/>
                </a:solidFill>
                <a:latin typeface="Arial Rounded MT Bold" pitchFamily="34" charset="0"/>
                <a:ea typeface="Arial Rounded MT Bold" pitchFamily="34" charset="-122"/>
                <a:cs typeface="Arial Rounded MT Bold" pitchFamily="34" charset="-120"/>
              </a:rPr>
              <a:t>straight, brown hair · feeding a kitten</a:t>
            </a:r>
            <a:endParaRPr lang="en-US" sz="1100" dirty="0"/>
          </a:p>
        </p:txBody>
      </p:sp>
      <p:sp>
        <p:nvSpPr>
          <p:cNvPr id="18" name="q_385"/>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5 The nurse</a:t>
            </a:r>
            <a:endParaRPr lang="en-US" sz="1250" dirty="0"/>
          </a:p>
        </p:txBody>
      </p:sp>
      <p:sp>
        <p:nvSpPr>
          <p:cNvPr id="19" name="R5_a386"/>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a moustache · helping a girl</a:t>
            </a:r>
            <a:endParaRPr lang="en-US" sz="1250" dirty="0"/>
          </a:p>
        </p:txBody>
      </p:sp>
      <p:sp>
        <p:nvSpPr>
          <p:cNvPr id="20" name="bk_387"/>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p.43 · ex.4</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8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89"/>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6CCB3B"/>
                </a:solidFill>
                <a:latin typeface="Arial Black" pitchFamily="34" charset="0"/>
                <a:ea typeface="Arial Black" pitchFamily="34" charset="-122"/>
                <a:cs typeface="Arial Black" pitchFamily="34" charset="-120"/>
              </a:rPr>
              <a:t>Bingo!</a:t>
            </a:r>
            <a:endParaRPr lang="en-US" sz="3200" dirty="0"/>
          </a:p>
        </p:txBody>
      </p:sp>
      <p:sp>
        <p:nvSpPr>
          <p:cNvPr id="5" name="in_390"/>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Write 9 words. Listen. Cross them out!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Scrivi 9 parole. Ascolta. Cancellale!</a:t>
            </a:r>
            <a:endParaRPr lang="en-US" sz="1400" dirty="0"/>
          </a:p>
        </p:txBody>
      </p:sp>
      <p:sp>
        <p:nvSpPr>
          <p:cNvPr id="6" name="mode_391"/>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 ⏱ 6 MIN</a:t>
            </a:r>
            <a:endParaRPr lang="en-US" sz="1000" dirty="0"/>
          </a:p>
        </p:txBody>
      </p:sp>
      <p:sp>
        <p:nvSpPr>
          <p:cNvPr id="7" name="st_392"/>
          <p:cNvSpPr/>
          <p:nvPr/>
        </p:nvSpPr>
        <p:spPr>
          <a:xfrm>
            <a:off x="228600" y="13258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8" name="sn_393"/>
          <p:cNvSpPr/>
          <p:nvPr/>
        </p:nvSpPr>
        <p:spPr>
          <a:xfrm>
            <a:off x="118872" y="12161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394"/>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0" name="se_395"/>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Draw a 3×3 grid. Write 9 words from the cards.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Disegna una griglia 3×3. Scrivi 9 parole.</a:t>
            </a:r>
            <a:endParaRPr lang="en-US" sz="1050" dirty="0"/>
          </a:p>
        </p:txBody>
      </p:sp>
      <p:sp>
        <p:nvSpPr>
          <p:cNvPr id="11" name="st_396"/>
          <p:cNvSpPr/>
          <p:nvPr/>
        </p:nvSpPr>
        <p:spPr>
          <a:xfrm>
            <a:off x="228600" y="23926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2" name="sn_397"/>
          <p:cNvSpPr/>
          <p:nvPr/>
        </p:nvSpPr>
        <p:spPr>
          <a:xfrm>
            <a:off x="118872" y="22829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398"/>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4" name="se_399"/>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Listen to the clue. Cross out the word.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Ascolta l'indizio. Cancella la parola.</a:t>
            </a:r>
            <a:endParaRPr lang="en-US" sz="1050" dirty="0"/>
          </a:p>
        </p:txBody>
      </p:sp>
      <p:sp>
        <p:nvSpPr>
          <p:cNvPr id="15" name="st_400"/>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401"/>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402"/>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403"/>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3 in a row? Shout 'BINGO!'</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Tris? Grida 'BINGO!'</a:t>
            </a:r>
            <a:endParaRPr lang="en-US" sz="1050" dirty="0"/>
          </a:p>
        </p:txBody>
      </p:sp>
      <p:sp>
        <p:nvSpPr>
          <p:cNvPr id="19" name="cd_404"/>
          <p:cNvSpPr/>
          <p:nvPr/>
        </p:nvSpPr>
        <p:spPr>
          <a:xfrm>
            <a:off x="3108960"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405" descr="/home/claude/movers/img/fc/mountain.png">    </p:cNvPr>
          <p:cNvPicPr>
            <a:picLocks noChangeAspect="1"/>
          </p:cNvPicPr>
          <p:nvPr/>
        </p:nvPicPr>
        <p:blipFill>
          <a:blip r:embed="rId2"/>
          <a:stretch>
            <a:fillRect/>
          </a:stretch>
        </p:blipFill>
        <p:spPr>
          <a:xfrm>
            <a:off x="3316437" y="1399032"/>
            <a:ext cx="618317" cy="618317"/>
          </a:xfrm>
          <a:prstGeom prst="rect">
            <a:avLst/>
          </a:prstGeom>
        </p:spPr>
      </p:pic>
      <p:sp>
        <p:nvSpPr>
          <p:cNvPr id="21" name="lb_406"/>
          <p:cNvSpPr/>
          <p:nvPr/>
        </p:nvSpPr>
        <p:spPr>
          <a:xfrm>
            <a:off x="3145536" y="2035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mountain</a:t>
            </a:r>
            <a:endParaRPr lang="en-US" sz="1100" dirty="0"/>
          </a:p>
        </p:txBody>
      </p:sp>
      <p:sp>
        <p:nvSpPr>
          <p:cNvPr id="22" name="cd_407"/>
          <p:cNvSpPr/>
          <p:nvPr/>
        </p:nvSpPr>
        <p:spPr>
          <a:xfrm>
            <a:off x="4279392"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408" descr="/home/claude/movers/img/fc/river.png">    </p:cNvPr>
          <p:cNvPicPr>
            <a:picLocks noChangeAspect="1"/>
          </p:cNvPicPr>
          <p:nvPr/>
        </p:nvPicPr>
        <p:blipFill>
          <a:blip r:embed="rId3"/>
          <a:stretch>
            <a:fillRect/>
          </a:stretch>
        </p:blipFill>
        <p:spPr>
          <a:xfrm>
            <a:off x="4486869" y="1399032"/>
            <a:ext cx="618317" cy="618317"/>
          </a:xfrm>
          <a:prstGeom prst="rect">
            <a:avLst/>
          </a:prstGeom>
        </p:spPr>
      </p:pic>
      <p:sp>
        <p:nvSpPr>
          <p:cNvPr id="24" name="lb_409"/>
          <p:cNvSpPr/>
          <p:nvPr/>
        </p:nvSpPr>
        <p:spPr>
          <a:xfrm>
            <a:off x="4315968" y="2035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river</a:t>
            </a:r>
            <a:endParaRPr lang="en-US" sz="1100" dirty="0"/>
          </a:p>
        </p:txBody>
      </p:sp>
      <p:sp>
        <p:nvSpPr>
          <p:cNvPr id="25" name="cd_410"/>
          <p:cNvSpPr/>
          <p:nvPr/>
        </p:nvSpPr>
        <p:spPr>
          <a:xfrm>
            <a:off x="5449824"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411" descr="/home/claude/movers/img/fc/tractor.png">    </p:cNvPr>
          <p:cNvPicPr>
            <a:picLocks noChangeAspect="1"/>
          </p:cNvPicPr>
          <p:nvPr/>
        </p:nvPicPr>
        <p:blipFill>
          <a:blip r:embed="rId4"/>
          <a:stretch>
            <a:fillRect/>
          </a:stretch>
        </p:blipFill>
        <p:spPr>
          <a:xfrm>
            <a:off x="5657301" y="1399032"/>
            <a:ext cx="618317" cy="618317"/>
          </a:xfrm>
          <a:prstGeom prst="rect">
            <a:avLst/>
          </a:prstGeom>
        </p:spPr>
      </p:pic>
      <p:sp>
        <p:nvSpPr>
          <p:cNvPr id="27" name="lb_412"/>
          <p:cNvSpPr/>
          <p:nvPr/>
        </p:nvSpPr>
        <p:spPr>
          <a:xfrm>
            <a:off x="5486400" y="2035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tractor</a:t>
            </a:r>
            <a:endParaRPr lang="en-US" sz="1100" dirty="0"/>
          </a:p>
        </p:txBody>
      </p:sp>
      <p:sp>
        <p:nvSpPr>
          <p:cNvPr id="28" name="cd_413"/>
          <p:cNvSpPr/>
          <p:nvPr/>
        </p:nvSpPr>
        <p:spPr>
          <a:xfrm>
            <a:off x="6620256"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9" name="ci_414" descr="/home/claude/movers/img/fc/toothbrush.png">    </p:cNvPr>
          <p:cNvPicPr>
            <a:picLocks noChangeAspect="1"/>
          </p:cNvPicPr>
          <p:nvPr/>
        </p:nvPicPr>
        <p:blipFill>
          <a:blip r:embed="rId5"/>
          <a:stretch>
            <a:fillRect/>
          </a:stretch>
        </p:blipFill>
        <p:spPr>
          <a:xfrm>
            <a:off x="6827733" y="1399032"/>
            <a:ext cx="618317" cy="618317"/>
          </a:xfrm>
          <a:prstGeom prst="rect">
            <a:avLst/>
          </a:prstGeom>
        </p:spPr>
      </p:pic>
      <p:sp>
        <p:nvSpPr>
          <p:cNvPr id="30" name="lb_415"/>
          <p:cNvSpPr/>
          <p:nvPr/>
        </p:nvSpPr>
        <p:spPr>
          <a:xfrm>
            <a:off x="6656832" y="2035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toothbrush</a:t>
            </a:r>
            <a:endParaRPr lang="en-US" sz="1100" dirty="0"/>
          </a:p>
        </p:txBody>
      </p:sp>
      <p:sp>
        <p:nvSpPr>
          <p:cNvPr id="31" name="cd_416"/>
          <p:cNvSpPr/>
          <p:nvPr/>
        </p:nvSpPr>
        <p:spPr>
          <a:xfrm>
            <a:off x="7790688" y="1325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2" name="ci_417" descr="/home/claude/movers/img/fc/rock.png">    </p:cNvPr>
          <p:cNvPicPr>
            <a:picLocks noChangeAspect="1"/>
          </p:cNvPicPr>
          <p:nvPr/>
        </p:nvPicPr>
        <p:blipFill>
          <a:blip r:embed="rId6"/>
          <a:stretch>
            <a:fillRect/>
          </a:stretch>
        </p:blipFill>
        <p:spPr>
          <a:xfrm>
            <a:off x="7998165" y="1399032"/>
            <a:ext cx="618317" cy="618317"/>
          </a:xfrm>
          <a:prstGeom prst="rect">
            <a:avLst/>
          </a:prstGeom>
        </p:spPr>
      </p:pic>
      <p:sp>
        <p:nvSpPr>
          <p:cNvPr id="33" name="lb_418"/>
          <p:cNvSpPr/>
          <p:nvPr/>
        </p:nvSpPr>
        <p:spPr>
          <a:xfrm>
            <a:off x="7827264" y="2035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rock</a:t>
            </a:r>
            <a:endParaRPr lang="en-US" sz="1100" dirty="0"/>
          </a:p>
        </p:txBody>
      </p:sp>
      <p:sp>
        <p:nvSpPr>
          <p:cNvPr id="34" name="cd_419"/>
          <p:cNvSpPr/>
          <p:nvPr/>
        </p:nvSpPr>
        <p:spPr>
          <a:xfrm>
            <a:off x="3108960"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5" name="ci_420" descr="/home/claude/movers/img/fc/go-skating.png">    </p:cNvPr>
          <p:cNvPicPr>
            <a:picLocks noChangeAspect="1"/>
          </p:cNvPicPr>
          <p:nvPr/>
        </p:nvPicPr>
        <p:blipFill>
          <a:blip r:embed="rId7"/>
          <a:stretch>
            <a:fillRect/>
          </a:stretch>
        </p:blipFill>
        <p:spPr>
          <a:xfrm>
            <a:off x="3316437" y="2542032"/>
            <a:ext cx="618317" cy="618317"/>
          </a:xfrm>
          <a:prstGeom prst="rect">
            <a:avLst/>
          </a:prstGeom>
        </p:spPr>
      </p:pic>
      <p:sp>
        <p:nvSpPr>
          <p:cNvPr id="36" name="lb_421"/>
          <p:cNvSpPr/>
          <p:nvPr/>
        </p:nvSpPr>
        <p:spPr>
          <a:xfrm>
            <a:off x="3145536" y="3178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go skating</a:t>
            </a:r>
            <a:endParaRPr lang="en-US" sz="1100" dirty="0"/>
          </a:p>
        </p:txBody>
      </p:sp>
      <p:sp>
        <p:nvSpPr>
          <p:cNvPr id="37" name="cd_422"/>
          <p:cNvSpPr/>
          <p:nvPr/>
        </p:nvSpPr>
        <p:spPr>
          <a:xfrm>
            <a:off x="4279392"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38" name="ci_423" descr="/home/claude/movers/img/fc/go-shopping.png">    </p:cNvPr>
          <p:cNvPicPr>
            <a:picLocks noChangeAspect="1"/>
          </p:cNvPicPr>
          <p:nvPr/>
        </p:nvPicPr>
        <p:blipFill>
          <a:blip r:embed="rId8"/>
          <a:stretch>
            <a:fillRect/>
          </a:stretch>
        </p:blipFill>
        <p:spPr>
          <a:xfrm>
            <a:off x="4486869" y="2542032"/>
            <a:ext cx="618317" cy="618317"/>
          </a:xfrm>
          <a:prstGeom prst="rect">
            <a:avLst/>
          </a:prstGeom>
        </p:spPr>
      </p:pic>
      <p:sp>
        <p:nvSpPr>
          <p:cNvPr id="39" name="lb_424"/>
          <p:cNvSpPr/>
          <p:nvPr/>
        </p:nvSpPr>
        <p:spPr>
          <a:xfrm>
            <a:off x="4315968" y="3178637"/>
            <a:ext cx="960120" cy="268651"/>
          </a:xfrm>
          <a:prstGeom prst="rect">
            <a:avLst/>
          </a:prstGeom>
          <a:noFill/>
          <a:ln/>
        </p:spPr>
        <p:txBody>
          <a:bodyPr wrap="square" lIns="0" tIns="0" rIns="0" bIns="0" rtlCol="0" anchor="ctr"/>
          <a:lstStyle/>
          <a:p>
            <a:pPr algn="ctr" indent="0" marL="0">
              <a:buNone/>
            </a:pPr>
            <a:r>
              <a:rPr lang="en-US" sz="1000" dirty="0">
                <a:solidFill>
                  <a:srgbClr val="1E2A5A"/>
                </a:solidFill>
                <a:latin typeface="Arial Black" pitchFamily="34" charset="0"/>
                <a:ea typeface="Arial Black" pitchFamily="34" charset="-122"/>
                <a:cs typeface="Arial Black" pitchFamily="34" charset="-120"/>
              </a:rPr>
              <a:t>go shopping</a:t>
            </a:r>
            <a:endParaRPr lang="en-US" sz="1000" dirty="0"/>
          </a:p>
        </p:txBody>
      </p:sp>
      <p:sp>
        <p:nvSpPr>
          <p:cNvPr id="40" name="cd_425"/>
          <p:cNvSpPr/>
          <p:nvPr/>
        </p:nvSpPr>
        <p:spPr>
          <a:xfrm>
            <a:off x="5449824"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41" name="ci_426" descr="/home/claude/movers/img/fc/watch-a-film.png">    </p:cNvPr>
          <p:cNvPicPr>
            <a:picLocks noChangeAspect="1"/>
          </p:cNvPicPr>
          <p:nvPr/>
        </p:nvPicPr>
        <p:blipFill>
          <a:blip r:embed="rId9"/>
          <a:stretch>
            <a:fillRect/>
          </a:stretch>
        </p:blipFill>
        <p:spPr>
          <a:xfrm>
            <a:off x="5657301" y="2542032"/>
            <a:ext cx="618317" cy="618317"/>
          </a:xfrm>
          <a:prstGeom prst="rect">
            <a:avLst/>
          </a:prstGeom>
        </p:spPr>
      </p:pic>
      <p:sp>
        <p:nvSpPr>
          <p:cNvPr id="42" name="lb_427"/>
          <p:cNvSpPr/>
          <p:nvPr/>
        </p:nvSpPr>
        <p:spPr>
          <a:xfrm>
            <a:off x="5486400" y="3178637"/>
            <a:ext cx="960120" cy="268651"/>
          </a:xfrm>
          <a:prstGeom prst="rect">
            <a:avLst/>
          </a:prstGeom>
          <a:noFill/>
          <a:ln/>
        </p:spPr>
        <p:txBody>
          <a:bodyPr wrap="square" lIns="0" tIns="0" rIns="0" bIns="0" rtlCol="0" anchor="ctr"/>
          <a:lstStyle/>
          <a:p>
            <a:pPr algn="ctr" indent="0" marL="0">
              <a:buNone/>
            </a:pPr>
            <a:r>
              <a:rPr lang="en-US" sz="1050" dirty="0">
                <a:solidFill>
                  <a:srgbClr val="1E2A5A"/>
                </a:solidFill>
                <a:latin typeface="Arial Black" pitchFamily="34" charset="0"/>
                <a:ea typeface="Arial Black" pitchFamily="34" charset="-122"/>
                <a:cs typeface="Arial Black" pitchFamily="34" charset="-120"/>
              </a:rPr>
              <a:t>watch a film</a:t>
            </a:r>
            <a:endParaRPr lang="en-US" sz="1050" dirty="0"/>
          </a:p>
        </p:txBody>
      </p:sp>
      <p:sp>
        <p:nvSpPr>
          <p:cNvPr id="43" name="cd_428"/>
          <p:cNvSpPr/>
          <p:nvPr/>
        </p:nvSpPr>
        <p:spPr>
          <a:xfrm>
            <a:off x="6620256"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44" name="ci_429" descr="/home/claude/movers/img/fc/beard.png">    </p:cNvPr>
          <p:cNvPicPr>
            <a:picLocks noChangeAspect="1"/>
          </p:cNvPicPr>
          <p:nvPr/>
        </p:nvPicPr>
        <p:blipFill>
          <a:blip r:embed="rId10"/>
          <a:stretch>
            <a:fillRect/>
          </a:stretch>
        </p:blipFill>
        <p:spPr>
          <a:xfrm>
            <a:off x="6827733" y="2542032"/>
            <a:ext cx="618317" cy="618317"/>
          </a:xfrm>
          <a:prstGeom prst="rect">
            <a:avLst/>
          </a:prstGeom>
        </p:spPr>
      </p:pic>
      <p:sp>
        <p:nvSpPr>
          <p:cNvPr id="45" name="lb_430"/>
          <p:cNvSpPr/>
          <p:nvPr/>
        </p:nvSpPr>
        <p:spPr>
          <a:xfrm>
            <a:off x="6656832" y="3178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beard</a:t>
            </a:r>
            <a:endParaRPr lang="en-US" sz="1100" dirty="0"/>
          </a:p>
        </p:txBody>
      </p:sp>
      <p:sp>
        <p:nvSpPr>
          <p:cNvPr id="46" name="cd_431"/>
          <p:cNvSpPr/>
          <p:nvPr/>
        </p:nvSpPr>
        <p:spPr>
          <a:xfrm>
            <a:off x="7790688" y="2468880"/>
            <a:ext cx="1033272" cy="1033272"/>
          </a:xfrm>
          <a:prstGeom prst="roundRect">
            <a:avLst>
              <a:gd name="adj" fmla="val 10619"/>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47" name="ci_432" descr="/home/claude/movers/img/fc/curly.png">    </p:cNvPr>
          <p:cNvPicPr>
            <a:picLocks noChangeAspect="1"/>
          </p:cNvPicPr>
          <p:nvPr/>
        </p:nvPicPr>
        <p:blipFill>
          <a:blip r:embed="rId11"/>
          <a:stretch>
            <a:fillRect/>
          </a:stretch>
        </p:blipFill>
        <p:spPr>
          <a:xfrm>
            <a:off x="7998165" y="2542032"/>
            <a:ext cx="618317" cy="618317"/>
          </a:xfrm>
          <a:prstGeom prst="rect">
            <a:avLst/>
          </a:prstGeom>
        </p:spPr>
      </p:pic>
      <p:sp>
        <p:nvSpPr>
          <p:cNvPr id="48" name="lb_433"/>
          <p:cNvSpPr/>
          <p:nvPr/>
        </p:nvSpPr>
        <p:spPr>
          <a:xfrm>
            <a:off x="7827264" y="3178637"/>
            <a:ext cx="960120" cy="268651"/>
          </a:xfrm>
          <a:prstGeom prst="rect">
            <a:avLst/>
          </a:prstGeom>
          <a:noFill/>
          <a:ln/>
        </p:spPr>
        <p:txBody>
          <a:bodyPr wrap="square" lIns="0" tIns="0" rIns="0" bIns="0" rtlCol="0" anchor="ctr"/>
          <a:lstStyle/>
          <a:p>
            <a:pPr algn="ctr" indent="0" marL="0">
              <a:buNone/>
            </a:pPr>
            <a:r>
              <a:rPr lang="en-US" sz="1100" dirty="0">
                <a:solidFill>
                  <a:srgbClr val="1E2A5A"/>
                </a:solidFill>
                <a:latin typeface="Arial Black" pitchFamily="34" charset="0"/>
                <a:ea typeface="Arial Black" pitchFamily="34" charset="-122"/>
                <a:cs typeface="Arial Black" pitchFamily="34" charset="-120"/>
              </a:rPr>
              <a:t>curly</a:t>
            </a:r>
            <a:endParaRPr lang="en-US" sz="11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3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WRITE</a:t>
            </a:r>
            <a:endParaRPr lang="en-US" sz="1600" dirty="0"/>
          </a:p>
        </p:txBody>
      </p:sp>
      <p:sp>
        <p:nvSpPr>
          <p:cNvPr id="4" name="bm_43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Write about you</a:t>
            </a:r>
            <a:endParaRPr lang="en-US" sz="2700" dirty="0"/>
          </a:p>
        </p:txBody>
      </p:sp>
      <p:sp>
        <p:nvSpPr>
          <p:cNvPr id="5" name="in_43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Read the questions and write about you.</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Leggi le domande e scrivi di te.</a:t>
            </a:r>
            <a:endParaRPr lang="en-US" sz="1400" dirty="0"/>
          </a:p>
        </p:txBody>
      </p:sp>
      <p:sp>
        <p:nvSpPr>
          <p:cNvPr id="6" name="mode_437"/>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 ⏱ 6 MIN</a:t>
            </a:r>
            <a:endParaRPr lang="en-US" sz="1000" dirty="0"/>
          </a:p>
        </p:txBody>
      </p:sp>
      <p:sp>
        <p:nvSpPr>
          <p:cNvPr id="7" name="diff_438"/>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 every day.</a:t>
            </a:r>
            <a:endParaRPr lang="en-US" sz="950" dirty="0"/>
          </a:p>
        </p:txBody>
      </p:sp>
      <p:sp>
        <p:nvSpPr>
          <p:cNvPr id="8" name="diff_439"/>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Write 3 questions!</a:t>
            </a:r>
            <a:endParaRPr lang="en-US" sz="950" dirty="0"/>
          </a:p>
        </p:txBody>
      </p:sp>
      <p:sp>
        <p:nvSpPr>
          <p:cNvPr id="9" name="pf_440"/>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pic_441" descr="/home/claude/movers/img/crop/r1-p43-ex5.jpg">    </p:cNvPr>
          <p:cNvPicPr>
            <a:picLocks noChangeAspect="1"/>
          </p:cNvPicPr>
          <p:nvPr/>
        </p:nvPicPr>
        <p:blipFill>
          <a:blip r:embed="rId2"/>
          <a:stretch>
            <a:fillRect/>
          </a:stretch>
        </p:blipFill>
        <p:spPr>
          <a:xfrm>
            <a:off x="365760" y="1838838"/>
            <a:ext cx="5120640" cy="2220204"/>
          </a:xfrm>
          <a:prstGeom prst="rect">
            <a:avLst/>
          </a:prstGeom>
        </p:spPr>
      </p:pic>
      <p:sp>
        <p:nvSpPr>
          <p:cNvPr id="11" name="q_442"/>
          <p:cNvSpPr/>
          <p:nvPr/>
        </p:nvSpPr>
        <p:spPr>
          <a:xfrm>
            <a:off x="5760720" y="1325880"/>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are you doing now?</a:t>
            </a:r>
            <a:endParaRPr lang="en-US" sz="1250" dirty="0"/>
          </a:p>
        </p:txBody>
      </p:sp>
      <p:sp>
        <p:nvSpPr>
          <p:cNvPr id="12" name="R1_a443"/>
          <p:cNvSpPr/>
          <p:nvPr/>
        </p:nvSpPr>
        <p:spPr>
          <a:xfrm>
            <a:off x="5989320" y="1668231"/>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I'm having an English lesson!</a:t>
            </a:r>
            <a:endParaRPr lang="en-US" sz="1250" dirty="0"/>
          </a:p>
        </p:txBody>
      </p:sp>
      <p:sp>
        <p:nvSpPr>
          <p:cNvPr id="13" name="q_444"/>
          <p:cNvSpPr/>
          <p:nvPr/>
        </p:nvSpPr>
        <p:spPr>
          <a:xfrm>
            <a:off x="5760720" y="1984248"/>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When do you clean your teeth?</a:t>
            </a:r>
            <a:endParaRPr lang="en-US" sz="1250" dirty="0"/>
          </a:p>
        </p:txBody>
      </p:sp>
      <p:sp>
        <p:nvSpPr>
          <p:cNvPr id="14" name="R2_a445"/>
          <p:cNvSpPr/>
          <p:nvPr/>
        </p:nvSpPr>
        <p:spPr>
          <a:xfrm>
            <a:off x="5989320" y="2326599"/>
            <a:ext cx="2788920" cy="302849"/>
          </a:xfrm>
          <a:prstGeom prst="rect">
            <a:avLst/>
          </a:prstGeom>
          <a:noFill/>
          <a:ln/>
        </p:spPr>
        <p:txBody>
          <a:bodyPr wrap="square" lIns="0" tIns="0" rIns="0" bIns="0" rtlCol="0" anchor="t"/>
          <a:lstStyle/>
          <a:p>
            <a:pPr indent="0" marL="0">
              <a:buNone/>
            </a:pPr>
            <a:r>
              <a:rPr lang="en-US" sz="1200" b="1" dirty="0">
                <a:solidFill>
                  <a:srgbClr val="6CCB3B"/>
                </a:solidFill>
                <a:latin typeface="Arial Rounded MT Bold" pitchFamily="34" charset="0"/>
                <a:ea typeface="Arial Rounded MT Bold" pitchFamily="34" charset="-122"/>
                <a:cs typeface="Arial Rounded MT Bold" pitchFamily="34" charset="-120"/>
              </a:rPr>
              <a:t>In the morning and in the evening.</a:t>
            </a:r>
            <a:endParaRPr lang="en-US" sz="1200" dirty="0"/>
          </a:p>
        </p:txBody>
      </p:sp>
      <p:sp>
        <p:nvSpPr>
          <p:cNvPr id="15" name="q_446"/>
          <p:cNvSpPr/>
          <p:nvPr/>
        </p:nvSpPr>
        <p:spPr>
          <a:xfrm>
            <a:off x="5760720" y="2642616"/>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do you do at the weekend?</a:t>
            </a:r>
            <a:endParaRPr lang="en-US" sz="1250" dirty="0"/>
          </a:p>
        </p:txBody>
      </p:sp>
      <p:sp>
        <p:nvSpPr>
          <p:cNvPr id="16" name="R3_a447"/>
          <p:cNvSpPr/>
          <p:nvPr/>
        </p:nvSpPr>
        <p:spPr>
          <a:xfrm>
            <a:off x="5989320" y="2984967"/>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play football.</a:t>
            </a:r>
            <a:endParaRPr lang="en-US" sz="1250" dirty="0"/>
          </a:p>
        </p:txBody>
      </p:sp>
      <p:sp>
        <p:nvSpPr>
          <p:cNvPr id="17" name="q_448"/>
          <p:cNvSpPr/>
          <p:nvPr/>
        </p:nvSpPr>
        <p:spPr>
          <a:xfrm>
            <a:off x="5760720" y="3300984"/>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How often do you visit the doctor?</a:t>
            </a:r>
            <a:endParaRPr lang="en-US" sz="1250" dirty="0"/>
          </a:p>
        </p:txBody>
      </p:sp>
      <p:sp>
        <p:nvSpPr>
          <p:cNvPr id="18" name="R4_a449"/>
          <p:cNvSpPr/>
          <p:nvPr/>
        </p:nvSpPr>
        <p:spPr>
          <a:xfrm>
            <a:off x="5989320" y="3643335"/>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sometimes visit the doctor.</a:t>
            </a:r>
            <a:endParaRPr lang="en-US" sz="1250" dirty="0"/>
          </a:p>
        </p:txBody>
      </p:sp>
      <p:sp>
        <p:nvSpPr>
          <p:cNvPr id="19" name="q_450"/>
          <p:cNvSpPr/>
          <p:nvPr/>
        </p:nvSpPr>
        <p:spPr>
          <a:xfrm>
            <a:off x="5760720" y="3959352"/>
            <a:ext cx="3017520" cy="342351"/>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5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must you do after school?</a:t>
            </a:r>
            <a:endParaRPr lang="en-US" sz="1250" dirty="0"/>
          </a:p>
        </p:txBody>
      </p:sp>
      <p:sp>
        <p:nvSpPr>
          <p:cNvPr id="20" name="R5_a451"/>
          <p:cNvSpPr/>
          <p:nvPr/>
        </p:nvSpPr>
        <p:spPr>
          <a:xfrm>
            <a:off x="5989320" y="4301703"/>
            <a:ext cx="2788920" cy="302849"/>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I must do my homework.</a:t>
            </a:r>
            <a:endParaRPr lang="en-US" sz="1250" dirty="0"/>
          </a:p>
        </p:txBody>
      </p:sp>
      <p:sp>
        <p:nvSpPr>
          <p:cNvPr id="21" name="bk_452"/>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p.43 · ex.5</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5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454"/>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455"/>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456"/>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remember the words from Units 1–3.</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Ricordo le parole delle Unità 1–3.</a:t>
            </a:r>
            <a:endParaRPr lang="en-US" sz="1300" dirty="0"/>
          </a:p>
        </p:txBody>
      </p:sp>
      <p:sp>
        <p:nvSpPr>
          <p:cNvPr id="7" name="can_457"/>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1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I can ask and answer 'How often…?' and 'What time…?'</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So chiedere e rispondere 'Quanto spesso…?' e 'A che ora…?'</a:t>
            </a:r>
            <a:endParaRPr lang="en-US" sz="1100" dirty="0"/>
          </a:p>
        </p:txBody>
      </p:sp>
      <p:sp>
        <p:nvSpPr>
          <p:cNvPr id="8" name="can_458"/>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describe people and correct sentences.</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descrivere le persone e correggere frasi.</a:t>
            </a:r>
            <a:endParaRPr lang="en-US" sz="1300" dirty="0"/>
          </a:p>
        </p:txBody>
      </p:sp>
      <p:sp>
        <p:nvSpPr>
          <p:cNvPr id="9" name="hw_459"/>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p.42: ex.2</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p.43: ex.3–4</a:t>
            </a:r>
            <a:endParaRPr lang="en-US" sz="1250" dirty="0"/>
          </a:p>
        </p:txBody>
      </p:sp>
      <p:sp>
        <p:nvSpPr>
          <p:cNvPr id="10" name="nx_460"/>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Unit 4! 🚀</a:t>
            </a:r>
            <a:endParaRPr lang="en-US" sz="12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6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62"/>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EXTRA: Pictionary!</a:t>
            </a:r>
            <a:endParaRPr lang="en-US" sz="2700" dirty="0"/>
          </a:p>
        </p:txBody>
      </p:sp>
      <p:sp>
        <p:nvSpPr>
          <p:cNvPr id="5" name="in_463"/>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Draw the secret word. Team, guess!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Disegna la parola segreta. Squadra, indovina!</a:t>
            </a:r>
            <a:endParaRPr lang="en-US" sz="1400" dirty="0"/>
          </a:p>
        </p:txBody>
      </p:sp>
      <p:sp>
        <p:nvSpPr>
          <p:cNvPr id="6" name="mode_464"/>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6 MIN</a:t>
            </a:r>
            <a:endParaRPr lang="en-US" sz="1000" dirty="0"/>
          </a:p>
        </p:txBody>
      </p:sp>
      <p:sp>
        <p:nvSpPr>
          <p:cNvPr id="7" name="st_465"/>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8" name="sn_466"/>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467"/>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0" name="se_468"/>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Look at the secret word.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Guarda la parola segreta.</a:t>
            </a:r>
            <a:endParaRPr lang="en-US" sz="1050" dirty="0"/>
          </a:p>
        </p:txBody>
      </p:sp>
      <p:sp>
        <p:nvSpPr>
          <p:cNvPr id="11" name="st_469"/>
          <p:cNvSpPr/>
          <p:nvPr/>
        </p:nvSpPr>
        <p:spPr>
          <a:xfrm>
            <a:off x="228600" y="2392680"/>
            <a:ext cx="2651760" cy="975360"/>
          </a:xfrm>
          <a:prstGeom prst="roundRect">
            <a:avLst>
              <a:gd name="adj" fmla="val 11250"/>
            </a:avLst>
          </a:prstGeom>
          <a:solidFill>
            <a:srgbClr val="FFFFFF"/>
          </a:solidFill>
          <a:ln w="38100">
            <a:solidFill>
              <a:srgbClr val="8E5BE8"/>
            </a:solidFill>
            <a:prstDash val="solid"/>
          </a:ln>
          <a:effectLst>
            <a:outerShdw sx="100000" sy="100000" kx="0" ky="0" algn="bl" rotWithShape="0" blurRad="38100" dist="25400" dir="5400000">
              <a:srgbClr val="000000">
                <a:alpha val="18000"/>
              </a:srgbClr>
            </a:outerShdw>
          </a:effectLst>
        </p:spPr>
      </p:sp>
      <p:sp>
        <p:nvSpPr>
          <p:cNvPr id="12" name="sn_470"/>
          <p:cNvSpPr/>
          <p:nvPr/>
        </p:nvSpPr>
        <p:spPr>
          <a:xfrm>
            <a:off x="118872" y="2282952"/>
            <a:ext cx="384048" cy="384048"/>
          </a:xfrm>
          <a:prstGeom prst="ellipse">
            <a:avLst/>
          </a:prstGeom>
          <a:solidFill>
            <a:srgbClr val="8E5BE8"/>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471"/>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DRAW</a:t>
            </a:r>
            <a:endParaRPr lang="en-US" sz="1300" dirty="0"/>
          </a:p>
        </p:txBody>
      </p:sp>
      <p:sp>
        <p:nvSpPr>
          <p:cNvPr id="14" name="se_472"/>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Draw it on the board. No letters!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Disegnala alla lavagna. Niente lettere!</a:t>
            </a:r>
            <a:endParaRPr lang="en-US" sz="1050" dirty="0"/>
          </a:p>
        </p:txBody>
      </p:sp>
      <p:sp>
        <p:nvSpPr>
          <p:cNvPr id="15" name="st_473"/>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474"/>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475"/>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476"/>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Team: 'It's a …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Squadra: 'È un … !'</a:t>
            </a:r>
            <a:endParaRPr lang="en-US" sz="1050" dirty="0"/>
          </a:p>
        </p:txBody>
      </p:sp>
      <p:sp>
        <p:nvSpPr>
          <p:cNvPr id="19" name="gl_477"/>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leaves · lake · rock · grass · ground</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towel · toothpaste · Sunday · write an email</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treasure · present · moustache · fat · thin · clown</a:t>
            </a:r>
            <a:endParaRPr lang="en-US" sz="140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78"/>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79"/>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300" b="1" dirty="0">
                <a:ln w="31750">
                  <a:solidFill>
                    <a:srgbClr val="1E2A5A"/>
                  </a:solidFill>
                </a:ln>
                <a:solidFill>
                  <a:srgbClr val="6CCB3B"/>
                </a:solidFill>
                <a:latin typeface="Arial Black" pitchFamily="34" charset="0"/>
                <a:ea typeface="Arial Black" pitchFamily="34" charset="-122"/>
                <a:cs typeface="Arial Black" pitchFamily="34" charset="-120"/>
              </a:rPr>
              <a:t>EXTRA: Speed interviews!</a:t>
            </a:r>
            <a:endParaRPr lang="en-US" sz="2300" dirty="0"/>
          </a:p>
        </p:txBody>
      </p:sp>
      <p:sp>
        <p:nvSpPr>
          <p:cNvPr id="5" name="in_480"/>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Two circles. Ask, answer, move!</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Due cerchi. Chiedi, rispondi, spostati!</a:t>
            </a:r>
            <a:endParaRPr lang="en-US" sz="1400" dirty="0"/>
          </a:p>
        </p:txBody>
      </p:sp>
      <p:sp>
        <p:nvSpPr>
          <p:cNvPr id="6" name="mode_481"/>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6 MIN</a:t>
            </a:r>
            <a:endParaRPr lang="en-US" sz="1000" dirty="0"/>
          </a:p>
        </p:txBody>
      </p:sp>
      <p:sp>
        <p:nvSpPr>
          <p:cNvPr id="7" name="diff_482"/>
          <p:cNvSpPr/>
          <p:nvPr/>
        </p:nvSpPr>
        <p:spPr>
          <a:xfrm>
            <a:off x="4343400" y="4681728"/>
            <a:ext cx="457200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How often do you …?</a:t>
            </a:r>
            <a:endParaRPr lang="en-US" sz="950" dirty="0"/>
          </a:p>
        </p:txBody>
      </p:sp>
      <p:sp>
        <p:nvSpPr>
          <p:cNvPr id="8" name="st_483"/>
          <p:cNvSpPr/>
          <p:nvPr/>
        </p:nvSpPr>
        <p:spPr>
          <a:xfrm>
            <a:off x="228600" y="13258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9" name="sn_484"/>
          <p:cNvSpPr/>
          <p:nvPr/>
        </p:nvSpPr>
        <p:spPr>
          <a:xfrm>
            <a:off x="118872" y="12161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sk_485"/>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1" name="se_486"/>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Two circles, face a partner.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Due cerchi, uno di fronte all'altro.</a:t>
            </a:r>
            <a:endParaRPr lang="en-US" sz="1050" dirty="0"/>
          </a:p>
        </p:txBody>
      </p:sp>
      <p:sp>
        <p:nvSpPr>
          <p:cNvPr id="12" name="st_487"/>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3" name="sn_488"/>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sk_489"/>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5" name="se_490"/>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Ask a question from your page. 1 minute!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Fai una domanda. 1 minuto!</a:t>
            </a:r>
            <a:endParaRPr lang="en-US" sz="1050" dirty="0"/>
          </a:p>
        </p:txBody>
      </p:sp>
      <p:sp>
        <p:nvSpPr>
          <p:cNvPr id="16" name="st_491"/>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7" name="sn_492"/>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sk_493"/>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9" name="se_494"/>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Ding! Outer circle moves 1 step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Ding! Il cerchio esterno si sposta →</a:t>
            </a:r>
            <a:endParaRPr lang="en-US" sz="1050" dirty="0"/>
          </a:p>
        </p:txBody>
      </p:sp>
      <p:sp>
        <p:nvSpPr>
          <p:cNvPr id="20" name="gl_495"/>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How often do you go to the mountains?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What time do you get up on Saturdays?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What's your mum / dad doing now?</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Has your best friend got curly hair?</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What do you want to be? Why?</a:t>
            </a:r>
            <a:endParaRPr lang="en-US" sz="14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96"/>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97"/>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6CCB3B"/>
                </a:solidFill>
                <a:latin typeface="Arial Black" pitchFamily="34" charset="0"/>
                <a:ea typeface="Arial Black" pitchFamily="34" charset="-122"/>
                <a:cs typeface="Arial Black" pitchFamily="34" charset="-120"/>
              </a:rPr>
              <a:t>EXTRA: Shark attack!</a:t>
            </a:r>
            <a:endParaRPr lang="en-US" sz="2400" dirty="0"/>
          </a:p>
        </p:txBody>
      </p:sp>
      <p:sp>
        <p:nvSpPr>
          <p:cNvPr id="5" name="in_498"/>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Guess the word! Watch out!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Indovina la parola! Attenzione!</a:t>
            </a:r>
            <a:endParaRPr lang="en-US" sz="1400" dirty="0"/>
          </a:p>
        </p:txBody>
      </p:sp>
      <p:sp>
        <p:nvSpPr>
          <p:cNvPr id="6" name="mode_499"/>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st_500"/>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8" name="sn_501"/>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502"/>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0" name="se_503"/>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Look: _ _ _ _ _ _ _</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Guarda: _ _ _ _ _ _ _</a:t>
            </a:r>
            <a:endParaRPr lang="en-US" sz="1050" dirty="0"/>
          </a:p>
        </p:txBody>
      </p:sp>
      <p:sp>
        <p:nvSpPr>
          <p:cNvPr id="11" name="st_504"/>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505"/>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506"/>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507"/>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a letter: 'Is there an 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una lettera: 'C'è una E?'</a:t>
            </a:r>
            <a:endParaRPr lang="en-US" sz="1050" dirty="0"/>
          </a:p>
        </p:txBody>
      </p:sp>
      <p:sp>
        <p:nvSpPr>
          <p:cNvPr id="15" name="st_508"/>
          <p:cNvSpPr/>
          <p:nvPr/>
        </p:nvSpPr>
        <p:spPr>
          <a:xfrm>
            <a:off x="228600" y="34594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6" name="sn_509"/>
          <p:cNvSpPr/>
          <p:nvPr/>
        </p:nvSpPr>
        <p:spPr>
          <a:xfrm>
            <a:off x="118872" y="33497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510"/>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PLAY</a:t>
            </a:r>
            <a:endParaRPr lang="en-US" sz="1300" dirty="0"/>
          </a:p>
        </p:txBody>
      </p:sp>
      <p:sp>
        <p:nvSpPr>
          <p:cNvPr id="18" name="se_511"/>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Wrong letter = the person walks to the shark! 🦈</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Lettera sbagliata = la persona va verso lo squalo! 🦈</a:t>
            </a:r>
            <a:endParaRPr lang="en-US" sz="1050" dirty="0"/>
          </a:p>
        </p:txBody>
      </p:sp>
      <p:sp>
        <p:nvSpPr>
          <p:cNvPr id="19" name="gl_512"/>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tractor · mountain · toothpaste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Wednesday · costume · moustache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firefighter · treasure · blonde</a:t>
            </a:r>
            <a:endParaRPr lang="en-US" sz="14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513"/>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514"/>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6CCB3B"/>
                </a:solidFill>
                <a:latin typeface="Arial Black" pitchFamily="34" charset="0"/>
                <a:ea typeface="Arial Black" pitchFamily="34" charset="-122"/>
                <a:cs typeface="Arial Black" pitchFamily="34" charset="-120"/>
              </a:rPr>
              <a:t>EXTRA: Whisper race!</a:t>
            </a:r>
            <a:endParaRPr lang="en-US" sz="2400" dirty="0"/>
          </a:p>
        </p:txBody>
      </p:sp>
      <p:sp>
        <p:nvSpPr>
          <p:cNvPr id="5" name="in_515"/>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Whisper it down the line. Write it!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Sussurra la frase. Scrivila!</a:t>
            </a:r>
            <a:endParaRPr lang="en-US" sz="1400" dirty="0"/>
          </a:p>
        </p:txBody>
      </p:sp>
      <p:sp>
        <p:nvSpPr>
          <p:cNvPr id="6" name="mode_516"/>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st_517"/>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518"/>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519"/>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520"/>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First player reads a sentence.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Il primo legge una frase.</a:t>
            </a:r>
            <a:endParaRPr lang="en-US" sz="1050" dirty="0"/>
          </a:p>
        </p:txBody>
      </p:sp>
      <p:sp>
        <p:nvSpPr>
          <p:cNvPr id="11" name="st_521"/>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522"/>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523"/>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524"/>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Whisper it to the next player…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Sussurrala al prossimo…</a:t>
            </a:r>
            <a:endParaRPr lang="en-US" sz="1050" dirty="0"/>
          </a:p>
        </p:txBody>
      </p:sp>
      <p:sp>
        <p:nvSpPr>
          <p:cNvPr id="15" name="st_525"/>
          <p:cNvSpPr/>
          <p:nvPr/>
        </p:nvSpPr>
        <p:spPr>
          <a:xfrm>
            <a:off x="228600" y="3459480"/>
            <a:ext cx="2651760" cy="975360"/>
          </a:xfrm>
          <a:prstGeom prst="roundRect">
            <a:avLst>
              <a:gd name="adj" fmla="val 11250"/>
            </a:avLst>
          </a:prstGeom>
          <a:solidFill>
            <a:srgbClr val="FFFFFF"/>
          </a:solidFill>
          <a:ln w="38100">
            <a:solidFill>
              <a:srgbClr val="6CCB3B"/>
            </a:solidFill>
            <a:prstDash val="solid"/>
          </a:ln>
          <a:effectLst>
            <a:outerShdw sx="100000" sy="100000" kx="0" ky="0" algn="bl" rotWithShape="0" blurRad="38100" dist="25400" dir="5400000">
              <a:srgbClr val="000000">
                <a:alpha val="18000"/>
              </a:srgbClr>
            </a:outerShdw>
          </a:effectLst>
        </p:spPr>
      </p:sp>
      <p:sp>
        <p:nvSpPr>
          <p:cNvPr id="16" name="sn_526"/>
          <p:cNvSpPr/>
          <p:nvPr/>
        </p:nvSpPr>
        <p:spPr>
          <a:xfrm>
            <a:off x="118872" y="3349752"/>
            <a:ext cx="384048" cy="384048"/>
          </a:xfrm>
          <a:prstGeom prst="ellipse">
            <a:avLst/>
          </a:prstGeom>
          <a:solidFill>
            <a:srgbClr val="6CCB3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527"/>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WRITE</a:t>
            </a:r>
            <a:endParaRPr lang="en-US" sz="1300" dirty="0"/>
          </a:p>
        </p:txBody>
      </p:sp>
      <p:sp>
        <p:nvSpPr>
          <p:cNvPr id="18" name="se_528"/>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Last player writes it on the board!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L'ultimo la scrive alla lavagna!</a:t>
            </a:r>
            <a:endParaRPr lang="en-US" sz="1050" dirty="0"/>
          </a:p>
        </p:txBody>
      </p:sp>
      <p:sp>
        <p:nvSpPr>
          <p:cNvPr id="19" name="gl_529"/>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The farmer's got a red tractor in the field.</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Jack always goes for a swim on Saturdays.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The pirate's got a long beard and treasure.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Zoe's wearing a clown costume at the party.</a:t>
            </a:r>
            <a:endParaRPr lang="en-US" sz="14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REVIEW · UNITS 1–3 · Review games day!</dc:title>
  <dc:subject>PptxGenJS Presentation</dc:subject>
  <dc:creator>PptxGenJS</dc:creator>
  <cp:lastModifiedBy>PptxGenJS</cp:lastModifiedBy>
  <cp:revision>1</cp:revision>
  <dcterms:created xsi:type="dcterms:W3CDTF">2026-10-06T10:51:13Z</dcterms:created>
  <dcterms:modified xsi:type="dcterms:W3CDTF">2026-10-06T10:51:13Z</dcterms:modified>
</cp:coreProperties>
</file>