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(1 min). Show the Earth: 'This is a planet. We live on a planet.' 'What do living things need?' – collect ideas (water, food…). 'Let's find out!'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PLAN
SEE: Only the instructions – NO pictures (they must remember the words).
TEACHER: Hand out the Daily routines flashcards (verbs) face down. Model: mime + hold up fingers: 'What do I do? What time?'
STUDENTS: Each card holder mimes + shows a time; the class says 'You have a shower at eight o'clock!' Then the card holders line up in the order of the day.
GROUPING: Whole class.
SCORE / WIN: Class vs teacher: the class wins if the line-up is in the right order in under 30 seconds.
TIME: 5 min.
LANGUAGE: Lesson 3: wake up, get up, have a shower, get dressed, have breakfast, clean my teeth + o'clock.
REVEAL: The line says their routines in order, one each.
AIM: Retrieval of Lesson 3 (TB warm-up).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 1 (4 min). Play the book's video; learners answer the questions at the end (⚠ answers are in the video – check while you watch). The YouTube link is only a backup search. External resources are suggestions only: the teacher must preview and check all links, videos, adverts and content before using them with children. Always have the PowerPoint/classroom alternative ready.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 2 (4 min). TB: act out dropping litter and putting it in the bin: 'Which is good for our planet?' For each photo: THINK 3 s, everyone COMMITS with thumbs up/down on 3-2-1, then click to REVEAL. Learners tick in their books. KEY (TB): pictures 1, 2, 4, 6. Say: 'He's looking after our planet.' Stronger learners make a sentence about each photo.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WORDS (5 min). PB p.12: air, Earth, planet, plant, need, oxygen, look after, keep healthy; p.13: glass, plastic, plastic bag, recycle, save water, tap, light, turn off. Picture first, learners guess, then click. TPR: Make a big circle with your arms! 🌍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WORDS (5 min). PB p.12: air, Earth, planet, plant, need, oxygen, look after, keep healthy; p.13: glass, plastic, plastic bag, recycle, save water, tap, light, turn off. Picture first, learners guess, then click. TPR: Breathe in deeply… and out! 🌬️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WORDS (5 min). PB p.12: air, Earth, planet, plant, need, oxygen, look after, keep healthy; p.13: glass, plastic, plastic bag, recycle, save water, tap, light, turn off. Picture first, learners guess, then click. TPR: Grow like a plant! 🌱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WORDS (5 min). PB p.12: air, Earth, planet, plant, need, oxygen, look after, keep healthy; p.13: glass, plastic, plastic bag, recycle, save water, tap, light, turn off. Picture first, learners guess, then click. TPR: Turn off the tap! 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WORDS (5 min). PB p.12: air, Earth, planet, plant, need, oxygen, look after, keep healthy; p.13: glass, plastic, plastic bag, recycle, save water, tap, light, turn off. Picture first, learners guess, then click. TPR: Turn off the light! Click! 💡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WORDS (5 min). PB p.12: air, Earth, planet, plant, need, oxygen, look after, keep healthy; p.13: glass, plastic, plastic bag, recycle, save water, tap, light, turn off. Picture first, learners guess, then click. TPR: Throw the bottle in the bin! ♻️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WORDS (5 min). PB p.12: air, Earth, planet, plant, need, oxygen, look after, keep healthy; p.13: glass, plastic, plastic bag, recycle, save water, tap, light, turn off. Picture first, learners guess, then click. TPR: Say NO with your finger! ☝️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PRONUNCIATION (2 min). Italians transfer Italian stress (pia-NE-ta → pla-NET, os-SI-ge-no → ox-Y-gen, rici-CLA-re → re-CY-cle). Learners sit; they jump UP on the stressed syllable and sit on the others. Then 'catch the teacher': say 'oxYgen', 'reCYcle' – learners shout STOP! Also AIR: one sound (/eə/), not 'a-ri-a'.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 3 (6 min). PREDICT: read the 3 questions; pairs guess the answers BEFORE reading (Italian OK). Play 🎧 1.18; learners listen and read and check their guesses, then answer in pairs. REVEAL one per click. KEY (TB): 1 We live on Earth. 2 They need oxygen and water. 3 Because clean air and clean water keep us healthy. Keep healthy: do exercise (mime), eat good food, drink clean water, breathe clean air. Extension: What makes the air / water dirty?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PLAN
SEE: A sentence about the text; the answer appears on click.
TEACHER: Tape/chalk line down the middle of the room. Read a sentence, count 3-2-1.
STUDENTS: Jump to the TRUE side (right) or FALSE side (left) on 'JUMP!'
GROUPING: Whole class standing.
SCORE / WIN: Wrong side = you're a 'judge' for the next round (you help the teacher spot mistakes) – nobody sits out.
TIME: 3 min.
LANGUAGE: Listening to the text sentences; learners correct the false ones ('It's called Earth!').
REVEAL: Click per sentence.
AIM: Check comprehension of the reading (TB ending game).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 4 (5 min). 'What can you see?' (a plastic bag, bins, a shower, a tap, a light switch). TB: don't pre-teach; learners use known words. ALONE: match (pencil). Then play 🎧 1.19 and check. REVEAL one per click. KEY (TB): 2 c · 3 e · 4 b · 5 a. Turn the classroom lights on/off; 'Turning off the taps saves water.'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ITALIAN TRAP (2 min). Many Italians say 'open/close the light' (from 'aprire/chiudere'). Robot voice: say the wrong sentence; pairs whisper the right one; click. Then TPR flash: you say 'Turn on the light!' – a learner actually does it; 'Turn off the light!' etc.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PLAN
SEE: Four pictures (tap, light, recycling bins, plastic bags) + model sentences.
TEACHER: MODEL: 'For me, turning off the light is easy. I always turn off the light. Not using plastic bags is hard!'
STUDENTS: Pairs put the 4 ideas in order (easy → hard) and tell each other what they do (PB ex 5).
GROUPING: Pairs, then 3 pairs report.
SCORE / WIN: No points – personal answers. 🔥 'What would an alien do on Earth?' (funny ideas welcome).
TIME: 5 min.
LANGUAGE: I recycle … / I turn off … / I have showers. (TB: extension – a new idea not in Ex 4).
REVEAL: Pairs share; write new ideas on the board.
AIM: Personalised speaking with support.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MISSION STAGE 3 (8 min). Mime thinking: 'I'm thinking.' Draw your face + a Think bubble on the board: 'I want some tea.' Groups think of ideas to save resources in their routine (prompts on the board: have a shower, go to school, have lunch, go home, do my homework, go to bed). Learners write Think bubbles on sticky notes, cut them out and stick them on their routine chart. ⭐ Match halves (TB): I have a shower / to save water · I walk / to school · I recycle my plastic cup / when I have a drink of water · I don't use lots of paper / when I do my homework · I turn off the computer and TV / when I go to bed. AB p.6: smiley for My mission diary 3. Tick Stage 3; give a sticker.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(3 min). EXIT TICKET: each learner tells you one thing they do for the planet ('I turn off the tap.'). Thumbs for each 'I can'. Give out the homework.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PLAN
SEE: 6 planet actions.
TEACHER: Say the action; then call 'Slow motion!' or 'Super fast!'
STUDENTS: Do the action at that speed.
GROUPING: Whole class.
SCORE / WIN: No points; finish with 'Hug the planet!' – everyone makes a big circle.
TIME: 3 min.
LANGUAGE: turn off, recycle, plant, breathe.
REVEAL: Click to show each action.
AIM: Fix the planet phrases with movement.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PLAN
SEE: 6 objects (no labels).
TEACHER: Draw three bins on the board. Point to an object or say its name.
STUDENTS: First learner from each team runs, touches the right bin and says 'Recycle the newspaper in the paper bin!'
GROUPING: Two teams in lines.
SCORE / WIN: Right bin = 1 point, full sentence = +1.
TIME: 5 min.
LANGUAGE: recycle, paper, glass, plastic.
REVEAL: Newspaper/box → paper; jar/glass bottle → glass; plastic bottle/cup → plastic.
AIM: Recycle the p.13 language.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jpg"/><Relationship Id="rId3" Type="http://schemas.openxmlformats.org/officeDocument/2006/relationships/image" Target="../media/image-1-3.png"/><Relationship Id="rId4" Type="http://schemas.openxmlformats.org/officeDocument/2006/relationships/image" Target="../media/image-1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results?search_query=look+after+our+planet+for+kids" TargetMode="External"/><Relationship Id="rId1" Type="http://schemas.openxmlformats.org/officeDocument/2006/relationships/image" Target="../media/Slide-3-image-1.png"/><Relationship Id="rId2" Type="http://schemas.openxmlformats.org/officeDocument/2006/relationships/image" Target="../media/image-3-2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image" Target="../media/image-13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image" Target="../media/image-14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image" Target="../media/image-15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jpg"/><Relationship Id="rId5" Type="http://schemas.openxmlformats.org/officeDocument/2006/relationships/image" Target="../media/image-17-5.jp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image" Target="../media/image-18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jp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image" Target="../media/image-20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image" Target="../media/image-2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1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UNIT 1 · LESSON 4</a:t>
            </a:r>
            <a:endParaRPr lang="en-US" sz="1600" dirty="0"/>
          </a:p>
        </p:txBody>
      </p:sp>
      <p:sp>
        <p:nvSpPr>
          <p:cNvPr id="4" name="bm_2"/>
          <p:cNvSpPr/>
          <p:nvPr/>
        </p:nvSpPr>
        <p:spPr>
          <a:xfrm rot="-120000">
            <a:off x="228600" y="493776"/>
            <a:ext cx="484632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Look after our planet</a:t>
            </a:r>
            <a:endParaRPr lang="en-US" sz="2400" dirty="0"/>
          </a:p>
        </p:txBody>
      </p:sp>
      <p:sp>
        <p:nvSpPr>
          <p:cNvPr id="5" name="in_3"/>
          <p:cNvSpPr/>
          <p:nvPr/>
        </p:nvSpPr>
        <p:spPr>
          <a:xfrm>
            <a:off x="5212080" y="182880"/>
            <a:ext cx="370332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Today: our planet Earth – how can we help? 🌍♻️</a:t>
            </a:r>
            <a:endParaRPr lang="en-US" sz="110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Oggi: il nostro pianeta Terra – come possiamo aiutarlo?</a:t>
            </a:r>
            <a:endParaRPr lang="en-US" sz="1100" dirty="0"/>
          </a:p>
        </p:txBody>
      </p:sp>
      <p:sp>
        <p:nvSpPr>
          <p:cNvPr id="6" name="st_4"/>
          <p:cNvSpPr/>
          <p:nvPr/>
        </p:nvSpPr>
        <p:spPr>
          <a:xfrm>
            <a:off x="228600" y="1371600"/>
            <a:ext cx="27432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F2545B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8000"/>
              </a:srgbClr>
            </a:outerShdw>
          </a:effectLst>
        </p:spPr>
      </p:sp>
      <p:sp>
        <p:nvSpPr>
          <p:cNvPr id="7" name="sn_5"/>
          <p:cNvSpPr/>
          <p:nvPr/>
        </p:nvSpPr>
        <p:spPr>
          <a:xfrm>
            <a:off x="118872" y="1261872"/>
            <a:ext cx="384048" cy="384048"/>
          </a:xfrm>
          <a:prstGeom prst="ellipse">
            <a:avLst/>
          </a:prstGeom>
          <a:solidFill>
            <a:srgbClr val="F2545B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sk_6"/>
          <p:cNvSpPr/>
          <p:nvPr/>
        </p:nvSpPr>
        <p:spPr>
          <a:xfrm>
            <a:off x="521208" y="140817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🎬 WATCH</a:t>
            </a:r>
            <a:endParaRPr lang="en-US" sz="1300" dirty="0"/>
          </a:p>
        </p:txBody>
      </p:sp>
      <p:sp>
        <p:nvSpPr>
          <p:cNvPr id="9" name="se_7"/>
          <p:cNvSpPr/>
          <p:nvPr/>
        </p:nvSpPr>
        <p:spPr>
          <a:xfrm>
            <a:off x="338328" y="1700784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the video.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Guarda il video.</a:t>
            </a:r>
            <a:endParaRPr lang="en-US" sz="1050" dirty="0"/>
          </a:p>
        </p:txBody>
      </p:sp>
      <p:sp>
        <p:nvSpPr>
          <p:cNvPr id="10" name="st_8"/>
          <p:cNvSpPr/>
          <p:nvPr/>
        </p:nvSpPr>
        <p:spPr>
          <a:xfrm>
            <a:off x="228600" y="2377440"/>
            <a:ext cx="27432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8000"/>
              </a:srgbClr>
            </a:outerShdw>
          </a:effectLst>
        </p:spPr>
      </p:sp>
      <p:sp>
        <p:nvSpPr>
          <p:cNvPr id="11" name="sn_9"/>
          <p:cNvSpPr/>
          <p:nvPr/>
        </p:nvSpPr>
        <p:spPr>
          <a:xfrm>
            <a:off x="118872" y="2267712"/>
            <a:ext cx="384048" cy="384048"/>
          </a:xfrm>
          <a:prstGeom prst="ellipse">
            <a:avLst/>
          </a:prstGeom>
          <a:solidFill>
            <a:srgbClr val="FFD23F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sk_10"/>
          <p:cNvSpPr/>
          <p:nvPr/>
        </p:nvSpPr>
        <p:spPr>
          <a:xfrm>
            <a:off x="521208" y="241401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📖 READ</a:t>
            </a:r>
            <a:endParaRPr lang="en-US" sz="1300" dirty="0"/>
          </a:p>
        </p:txBody>
      </p:sp>
      <p:sp>
        <p:nvSpPr>
          <p:cNvPr id="13" name="se_11"/>
          <p:cNvSpPr/>
          <p:nvPr/>
        </p:nvSpPr>
        <p:spPr>
          <a:xfrm>
            <a:off x="338328" y="2706624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about Earth.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Leggi della Terra.</a:t>
            </a:r>
            <a:endParaRPr lang="en-US" sz="1050" dirty="0"/>
          </a:p>
        </p:txBody>
      </p:sp>
      <p:sp>
        <p:nvSpPr>
          <p:cNvPr id="14" name="st_12"/>
          <p:cNvSpPr/>
          <p:nvPr/>
        </p:nvSpPr>
        <p:spPr>
          <a:xfrm>
            <a:off x="228600" y="3383280"/>
            <a:ext cx="27432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FF8A3D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8000"/>
              </a:srgbClr>
            </a:outerShdw>
          </a:effectLst>
        </p:spPr>
      </p:sp>
      <p:sp>
        <p:nvSpPr>
          <p:cNvPr id="15" name="sn_13"/>
          <p:cNvSpPr/>
          <p:nvPr/>
        </p:nvSpPr>
        <p:spPr>
          <a:xfrm>
            <a:off x="118872" y="3273552"/>
            <a:ext cx="384048" cy="384048"/>
          </a:xfrm>
          <a:prstGeom prst="ellipse">
            <a:avLst/>
          </a:prstGeom>
          <a:solidFill>
            <a:srgbClr val="FF8A3D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sk_14"/>
          <p:cNvSpPr/>
          <p:nvPr/>
        </p:nvSpPr>
        <p:spPr>
          <a:xfrm>
            <a:off x="521208" y="341985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🏃 MOVE</a:t>
            </a:r>
            <a:endParaRPr lang="en-US" sz="1300" dirty="0"/>
          </a:p>
        </p:txBody>
      </p:sp>
      <p:sp>
        <p:nvSpPr>
          <p:cNvPr id="17" name="se_15"/>
          <p:cNvSpPr/>
          <p:nvPr/>
        </p:nvSpPr>
        <p:spPr>
          <a:xfrm>
            <a:off x="338328" y="3712464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a planet hero!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Sii un eroe del pianeta!</a:t>
            </a:r>
            <a:endParaRPr lang="en-US" sz="1050" dirty="0"/>
          </a:p>
        </p:txBody>
      </p:sp>
      <p:sp>
        <p:nvSpPr>
          <p:cNvPr id="18" name="pf_16"/>
          <p:cNvSpPr/>
          <p:nvPr/>
        </p:nvSpPr>
        <p:spPr>
          <a:xfrm>
            <a:off x="3191256" y="1271016"/>
            <a:ext cx="3355848" cy="3264408"/>
          </a:xfrm>
          <a:prstGeom prst="roundRect">
            <a:avLst>
              <a:gd name="adj" fmla="val 2801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19" name="pic_17" descr="/home/claude/movers/img/crop/u1-p12-photos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6120" y="2077671"/>
            <a:ext cx="3246120" cy="1651098"/>
          </a:xfrm>
          <a:prstGeom prst="rect">
            <a:avLst/>
          </a:prstGeom>
        </p:spPr>
      </p:pic>
      <p:sp>
        <p:nvSpPr>
          <p:cNvPr id="20" name="cd_18"/>
          <p:cNvSpPr/>
          <p:nvPr/>
        </p:nvSpPr>
        <p:spPr>
          <a:xfrm>
            <a:off x="6720840" y="3017520"/>
            <a:ext cx="105156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1" name="ci_19" descr="/home/claude/movers/img/e-u1-eart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3992" y="3090672"/>
            <a:ext cx="905256" cy="905256"/>
          </a:xfrm>
          <a:prstGeom prst="rect">
            <a:avLst/>
          </a:prstGeom>
        </p:spPr>
      </p:pic>
      <p:sp>
        <p:nvSpPr>
          <p:cNvPr id="22" name="cd_20"/>
          <p:cNvSpPr/>
          <p:nvPr/>
        </p:nvSpPr>
        <p:spPr>
          <a:xfrm>
            <a:off x="7863840" y="3017520"/>
            <a:ext cx="105156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3" name="ci_21" descr="/home/claude/movers/img/crop/u1-p13-bins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6992" y="3090672"/>
            <a:ext cx="905256" cy="905256"/>
          </a:xfrm>
          <a:prstGeom prst="rect">
            <a:avLst/>
          </a:prstGeom>
        </p:spPr>
      </p:pic>
      <p:sp>
        <p:nvSpPr>
          <p:cNvPr id="24" name="bb_22"/>
          <p:cNvSpPr/>
          <p:nvPr/>
        </p:nvSpPr>
        <p:spPr>
          <a:xfrm>
            <a:off x="6675120" y="1874520"/>
            <a:ext cx="2240280" cy="822960"/>
          </a:xfrm>
          <a:prstGeom prst="rect">
            <a:avLst/>
          </a:prstGeom>
          <a:solidFill>
            <a:srgbClr val="FFFFFF"/>
          </a:solidFill>
          <a:ln w="25400">
            <a:solidFill>
              <a:srgbClr val="1E2A5A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Let's look after our planet!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Prendiamoci cura del pianeta!</a:t>
            </a:r>
            <a:endParaRPr lang="en-US" sz="1400" dirty="0"/>
          </a:p>
        </p:txBody>
      </p:sp>
      <p:sp>
        <p:nvSpPr>
          <p:cNvPr id="25" name="bk_23"/>
          <p:cNvSpPr/>
          <p:nvPr/>
        </p:nvSpPr>
        <p:spPr>
          <a:xfrm>
            <a:off x="228600" y="4681728"/>
            <a:ext cx="4201668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Pupil's Book pp.12–13 · 🎬 video · 🎧 1.18–1.19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24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REMEMBER?</a:t>
            </a:r>
            <a:endParaRPr lang="en-US" sz="1600" dirty="0"/>
          </a:p>
        </p:txBody>
      </p:sp>
      <p:sp>
        <p:nvSpPr>
          <p:cNvPr id="4" name="bm_25"/>
          <p:cNvSpPr/>
          <p:nvPr/>
        </p:nvSpPr>
        <p:spPr>
          <a:xfrm rot="-120000">
            <a:off x="228600" y="493776"/>
            <a:ext cx="393192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ln w="31750">
                  <a:solidFill>
                    <a:srgbClr val="1E2A5A"/>
                  </a:solidFill>
                </a:ln>
                <a:solidFill>
                  <a:srgbClr val="6CCB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Routine line-up!</a:t>
            </a:r>
            <a:endParaRPr lang="en-US" sz="2700" dirty="0"/>
          </a:p>
        </p:txBody>
      </p:sp>
      <p:sp>
        <p:nvSpPr>
          <p:cNvPr id="5" name="in_26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Take a card. Mime it. Then stand in order!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Prendi una carta. Mimala. Poi mettetevi in ordine!</a:t>
            </a:r>
            <a:endParaRPr lang="en-US" sz="1400" dirty="0"/>
          </a:p>
        </p:txBody>
      </p:sp>
      <p:sp>
        <p:nvSpPr>
          <p:cNvPr id="6" name="mode_27"/>
          <p:cNvSpPr/>
          <p:nvPr/>
        </p:nvSpPr>
        <p:spPr>
          <a:xfrm>
            <a:off x="6355080" y="1024128"/>
            <a:ext cx="2560320" cy="246888"/>
          </a:xfrm>
          <a:prstGeom prst="roundRect">
            <a:avLst>
              <a:gd name="adj" fmla="val 44444"/>
            </a:avLst>
          </a:prstGeom>
          <a:solidFill>
            <a:srgbClr val="1E2A5A"/>
          </a:solidFill>
          <a:ln w="19050">
            <a:solidFill>
              <a:srgbClr val="FFD2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🚶 WHOLE CLASS · ⏱ 5 MIN</a:t>
            </a:r>
            <a:endParaRPr lang="en-US" sz="1000" dirty="0"/>
          </a:p>
        </p:txBody>
      </p:sp>
      <p:sp>
        <p:nvSpPr>
          <p:cNvPr id="7" name="diff_28"/>
          <p:cNvSpPr/>
          <p:nvPr/>
        </p:nvSpPr>
        <p:spPr>
          <a:xfrm>
            <a:off x="4343400" y="4681728"/>
            <a:ext cx="4572000" cy="329184"/>
          </a:xfrm>
          <a:prstGeom prst="roundRect">
            <a:avLst>
              <a:gd name="adj" fmla="val 38889"/>
            </a:avLst>
          </a:prstGeom>
          <a:solidFill>
            <a:srgbClr val="FFFFFF"/>
          </a:solidFill>
          <a:ln w="25400">
            <a:solidFill>
              <a:srgbClr val="FFD23F"/>
            </a:solidFill>
          </a:ln>
        </p:spPr>
        <p:txBody>
          <a:bodyPr wrap="square" lIns="50800" tIns="50800" rIns="50800" bIns="5080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⭐ You … at … o'clock!</a:t>
            </a:r>
            <a:endParaRPr lang="en-US" sz="950" dirty="0"/>
          </a:p>
        </p:txBody>
      </p:sp>
      <p:sp>
        <p:nvSpPr>
          <p:cNvPr id="8" name="st_29"/>
          <p:cNvSpPr/>
          <p:nvPr/>
        </p:nvSpPr>
        <p:spPr>
          <a:xfrm>
            <a:off x="228600" y="1325880"/>
            <a:ext cx="2651760" cy="97536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38100">
            <a:solidFill>
              <a:srgbClr val="6CCB3B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sn_30"/>
          <p:cNvSpPr/>
          <p:nvPr/>
        </p:nvSpPr>
        <p:spPr>
          <a:xfrm>
            <a:off x="118872" y="1216152"/>
            <a:ext cx="384048" cy="384048"/>
          </a:xfrm>
          <a:prstGeom prst="ellipse">
            <a:avLst/>
          </a:prstGeom>
          <a:solidFill>
            <a:srgbClr val="6CCB3B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sk_31"/>
          <p:cNvSpPr/>
          <p:nvPr/>
        </p:nvSpPr>
        <p:spPr>
          <a:xfrm>
            <a:off x="521208" y="136245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⚙️ DO</a:t>
            </a:r>
            <a:endParaRPr lang="en-US" sz="1300" dirty="0"/>
          </a:p>
        </p:txBody>
      </p:sp>
      <p:sp>
        <p:nvSpPr>
          <p:cNvPr id="11" name="se_32"/>
          <p:cNvSpPr/>
          <p:nvPr/>
        </p:nvSpPr>
        <p:spPr>
          <a:xfrm>
            <a:off x="338328" y="1655064"/>
            <a:ext cx="24688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a card. Secret!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Prendi una carta. Segreto!</a:t>
            </a:r>
            <a:endParaRPr lang="en-US" sz="1050" dirty="0"/>
          </a:p>
        </p:txBody>
      </p:sp>
      <p:sp>
        <p:nvSpPr>
          <p:cNvPr id="12" name="st_33"/>
          <p:cNvSpPr/>
          <p:nvPr/>
        </p:nvSpPr>
        <p:spPr>
          <a:xfrm>
            <a:off x="228600" y="2392680"/>
            <a:ext cx="2651760" cy="97536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38100">
            <a:solidFill>
              <a:srgbClr val="FF8A3D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8000"/>
              </a:srgbClr>
            </a:outerShdw>
          </a:effectLst>
        </p:spPr>
      </p:sp>
      <p:sp>
        <p:nvSpPr>
          <p:cNvPr id="13" name="sn_34"/>
          <p:cNvSpPr/>
          <p:nvPr/>
        </p:nvSpPr>
        <p:spPr>
          <a:xfrm>
            <a:off x="118872" y="2282952"/>
            <a:ext cx="384048" cy="384048"/>
          </a:xfrm>
          <a:prstGeom prst="ellipse">
            <a:avLst/>
          </a:prstGeom>
          <a:solidFill>
            <a:srgbClr val="FF8A3D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sk_35"/>
          <p:cNvSpPr/>
          <p:nvPr/>
        </p:nvSpPr>
        <p:spPr>
          <a:xfrm>
            <a:off x="521208" y="242925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🏃 MOVE</a:t>
            </a:r>
            <a:endParaRPr lang="en-US" sz="1300" dirty="0"/>
          </a:p>
        </p:txBody>
      </p:sp>
      <p:sp>
        <p:nvSpPr>
          <p:cNvPr id="15" name="se_36"/>
          <p:cNvSpPr/>
          <p:nvPr/>
        </p:nvSpPr>
        <p:spPr>
          <a:xfrm>
            <a:off x="338328" y="2721864"/>
            <a:ext cx="24688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Mime it + show the time.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Mima + mostra l'ora.</a:t>
            </a:r>
            <a:endParaRPr lang="en-US" sz="1050" dirty="0"/>
          </a:p>
        </p:txBody>
      </p:sp>
      <p:sp>
        <p:nvSpPr>
          <p:cNvPr id="16" name="st_37"/>
          <p:cNvSpPr/>
          <p:nvPr/>
        </p:nvSpPr>
        <p:spPr>
          <a:xfrm>
            <a:off x="228600" y="3459480"/>
            <a:ext cx="2651760" cy="97536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38100">
            <a:solidFill>
              <a:srgbClr val="FF5DA2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8000"/>
              </a:srgbClr>
            </a:outerShdw>
          </a:effectLst>
        </p:spPr>
      </p:sp>
      <p:sp>
        <p:nvSpPr>
          <p:cNvPr id="17" name="sn_38"/>
          <p:cNvSpPr/>
          <p:nvPr/>
        </p:nvSpPr>
        <p:spPr>
          <a:xfrm>
            <a:off x="118872" y="3349752"/>
            <a:ext cx="384048" cy="384048"/>
          </a:xfrm>
          <a:prstGeom prst="ellipse">
            <a:avLst/>
          </a:prstGeom>
          <a:solidFill>
            <a:srgbClr val="FF5DA2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sk_39"/>
          <p:cNvSpPr/>
          <p:nvPr/>
        </p:nvSpPr>
        <p:spPr>
          <a:xfrm>
            <a:off x="521208" y="349605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💬 SPEAK</a:t>
            </a:r>
            <a:endParaRPr lang="en-US" sz="1300" dirty="0"/>
          </a:p>
        </p:txBody>
      </p:sp>
      <p:sp>
        <p:nvSpPr>
          <p:cNvPr id="19" name="se_40"/>
          <p:cNvSpPr/>
          <p:nvPr/>
        </p:nvSpPr>
        <p:spPr>
          <a:xfrm>
            <a:off x="338328" y="3788664"/>
            <a:ext cx="24688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Class: You have a shower at 8!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Classe: Fai la doccia alle 8!</a:t>
            </a:r>
            <a:endParaRPr lang="en-US" sz="1050" dirty="0"/>
          </a:p>
        </p:txBody>
      </p:sp>
    </p:spTree>
  </p:cSld>
  <p:clrMapOvr>
    <a:masterClrMapping/>
  </p:clrMapOvr>
  <p:transition spd="med">
    <p:push dir="l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41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WATCH 1</a:t>
            </a:r>
            <a:endParaRPr lang="en-US" sz="1600" dirty="0"/>
          </a:p>
        </p:txBody>
      </p:sp>
      <p:sp>
        <p:nvSpPr>
          <p:cNvPr id="4" name="bm_42"/>
          <p:cNvSpPr/>
          <p:nvPr/>
        </p:nvSpPr>
        <p:spPr>
          <a:xfrm rot="-120000">
            <a:off x="228600" y="493776"/>
            <a:ext cx="393192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ln w="31750">
                  <a:solidFill>
                    <a:srgbClr val="1E2A5A"/>
                  </a:solidFill>
                </a:ln>
                <a:solidFill>
                  <a:srgbClr val="FF5DA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Our planet</a:t>
            </a:r>
            <a:endParaRPr lang="en-US" sz="3200" dirty="0"/>
          </a:p>
        </p:txBody>
      </p:sp>
      <p:sp>
        <p:nvSpPr>
          <p:cNvPr id="5" name="in_43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Watch the video. Answer the questions at the end.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Guarda il video. Rispondi alle domande alla fine.</a:t>
            </a:r>
            <a:endParaRPr lang="en-US" sz="1400" dirty="0"/>
          </a:p>
        </p:txBody>
      </p:sp>
      <p:sp>
        <p:nvSpPr>
          <p:cNvPr id="6" name="mode_44"/>
          <p:cNvSpPr/>
          <p:nvPr/>
        </p:nvSpPr>
        <p:spPr>
          <a:xfrm>
            <a:off x="6355080" y="1024128"/>
            <a:ext cx="2560320" cy="246888"/>
          </a:xfrm>
          <a:prstGeom prst="roundRect">
            <a:avLst>
              <a:gd name="adj" fmla="val 44444"/>
            </a:avLst>
          </a:prstGeom>
          <a:solidFill>
            <a:srgbClr val="1E2A5A"/>
          </a:solidFill>
          <a:ln w="19050">
            <a:solidFill>
              <a:srgbClr val="FFD2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👂 WATCH · ⏱ 4 MIN</a:t>
            </a:r>
            <a:endParaRPr lang="en-US" sz="1000" dirty="0"/>
          </a:p>
        </p:txBody>
      </p:sp>
      <p:sp>
        <p:nvSpPr>
          <p:cNvPr id="7" name="pf_45"/>
          <p:cNvSpPr/>
          <p:nvPr/>
        </p:nvSpPr>
        <p:spPr>
          <a:xfrm>
            <a:off x="310896" y="1271016"/>
            <a:ext cx="4041648" cy="3218688"/>
          </a:xfrm>
          <a:prstGeom prst="roundRect">
            <a:avLst>
              <a:gd name="adj" fmla="val 2841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8" name="pic_46" descr="/home/claude/movers/img/crop/u1-p12-glob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503" y="1325880"/>
            <a:ext cx="3052433" cy="3108960"/>
          </a:xfrm>
          <a:prstGeom prst="rect">
            <a:avLst/>
          </a:prstGeom>
        </p:spPr>
      </p:pic>
      <p:sp>
        <p:nvSpPr>
          <p:cNvPr id="9" name="lk_47"/>
          <p:cNvSpPr/>
          <p:nvPr/>
        </p:nvSpPr>
        <p:spPr>
          <a:xfrm>
            <a:off x="4572000" y="1371600"/>
            <a:ext cx="4297680" cy="475488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31750">
            <a:solidFill>
              <a:srgbClr val="F2545B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u="sng" dirty="0">
                <a:solidFill>
                  <a:srgbClr val="F2545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  <a:hlinkClick r:id="rId3" invalidUrl="" action="" tgtFrame="" tooltip="https://www.youtube.com/results?search_query=look+after+our+planet+for+kids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Look after our planet – kids (search)</a:t>
            </a:r>
            <a:endParaRPr lang="en-US" sz="1300" dirty="0"/>
          </a:p>
        </p:txBody>
      </p:sp>
      <p:sp>
        <p:nvSpPr>
          <p:cNvPr id="10" name="vl_48"/>
          <p:cNvSpPr/>
          <p:nvPr/>
        </p:nvSpPr>
        <p:spPr>
          <a:xfrm>
            <a:off x="4572000" y="2029968"/>
            <a:ext cx="4297680" cy="1463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What can we do to look after our planet? 🌍</a:t>
            </a:r>
            <a:endParaRPr lang="en-US" sz="1300" dirty="0"/>
          </a:p>
        </p:txBody>
      </p:sp>
      <p:sp>
        <p:nvSpPr>
          <p:cNvPr id="11" name="disc_49"/>
          <p:cNvSpPr/>
          <p:nvPr/>
        </p:nvSpPr>
        <p:spPr>
          <a:xfrm>
            <a:off x="4572000" y="42519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E2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Teacher: preview every link before class (ads, content). The lesson works without it. · Controllare i link prima della lezione.</a:t>
            </a:r>
            <a:endParaRPr lang="en-US" sz="900" dirty="0"/>
          </a:p>
        </p:txBody>
      </p:sp>
      <p:sp>
        <p:nvSpPr>
          <p:cNvPr id="12" name="bk_50"/>
          <p:cNvSpPr/>
          <p:nvPr/>
        </p:nvSpPr>
        <p:spPr>
          <a:xfrm>
            <a:off x="228600" y="4681728"/>
            <a:ext cx="4590288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Pupil's Book p.12 · 🎬 video (Look after our planet)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51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LOOK 2</a:t>
            </a:r>
            <a:endParaRPr lang="en-US" sz="1600" dirty="0"/>
          </a:p>
        </p:txBody>
      </p:sp>
      <p:sp>
        <p:nvSpPr>
          <p:cNvPr id="4" name="bm_52"/>
          <p:cNvSpPr/>
          <p:nvPr/>
        </p:nvSpPr>
        <p:spPr>
          <a:xfrm rot="-120000">
            <a:off x="228600" y="493776"/>
            <a:ext cx="457200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Good for our planet?</a:t>
            </a:r>
            <a:endParaRPr lang="en-US" sz="2400" dirty="0"/>
          </a:p>
        </p:txBody>
      </p:sp>
      <p:sp>
        <p:nvSpPr>
          <p:cNvPr id="5" name="in_53"/>
          <p:cNvSpPr/>
          <p:nvPr/>
        </p:nvSpPr>
        <p:spPr>
          <a:xfrm>
            <a:off x="4937760" y="182880"/>
            <a:ext cx="397764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Good 👍 or bad 👎? Vote on 3-2-1!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Buono 👍 o cattivo 👎? Vota al 3-2-1!</a:t>
            </a:r>
            <a:endParaRPr lang="en-US" sz="1400" dirty="0"/>
          </a:p>
        </p:txBody>
      </p:sp>
      <p:sp>
        <p:nvSpPr>
          <p:cNvPr id="6" name="mode_54"/>
          <p:cNvSpPr/>
          <p:nvPr/>
        </p:nvSpPr>
        <p:spPr>
          <a:xfrm>
            <a:off x="6355080" y="1024128"/>
            <a:ext cx="2560320" cy="246888"/>
          </a:xfrm>
          <a:prstGeom prst="roundRect">
            <a:avLst>
              <a:gd name="adj" fmla="val 44444"/>
            </a:avLst>
          </a:prstGeom>
          <a:solidFill>
            <a:srgbClr val="1E2A5A"/>
          </a:solidFill>
          <a:ln w="19050">
            <a:solidFill>
              <a:srgbClr val="FFD2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🗳 VOTE · ⏱ 4 MIN</a:t>
            </a:r>
            <a:endParaRPr lang="en-US" sz="1000" dirty="0"/>
          </a:p>
        </p:txBody>
      </p:sp>
      <p:sp>
        <p:nvSpPr>
          <p:cNvPr id="7" name="pf_55"/>
          <p:cNvSpPr/>
          <p:nvPr/>
        </p:nvSpPr>
        <p:spPr>
          <a:xfrm>
            <a:off x="310896" y="1271016"/>
            <a:ext cx="5230368" cy="3355848"/>
          </a:xfrm>
          <a:prstGeom prst="roundRect">
            <a:avLst>
              <a:gd name="adj" fmla="val 2725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8" name="pic_56" descr="/home/claude/movers/img/crop/u1-p12-photos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646666"/>
            <a:ext cx="5120640" cy="2604548"/>
          </a:xfrm>
          <a:prstGeom prst="rect">
            <a:avLst/>
          </a:prstGeom>
        </p:spPr>
      </p:pic>
      <p:sp>
        <p:nvSpPr>
          <p:cNvPr id="9" name="q_57"/>
          <p:cNvSpPr/>
          <p:nvPr/>
        </p:nvSpPr>
        <p:spPr>
          <a:xfrm>
            <a:off x="5760720" y="1325880"/>
            <a:ext cx="3017520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  </a:t>
            </a:r>
            <a:pPr indent="0" marL="0">
              <a:buNone/>
            </a:pPr>
            <a:r>
              <a:rPr lang="en-US" sz="11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Photo 1</a:t>
            </a:r>
            <a:endParaRPr lang="en-US" sz="1100" dirty="0"/>
          </a:p>
        </p:txBody>
      </p:sp>
      <p:sp>
        <p:nvSpPr>
          <p:cNvPr id="10" name="R1_a58"/>
          <p:cNvSpPr/>
          <p:nvPr/>
        </p:nvSpPr>
        <p:spPr>
          <a:xfrm>
            <a:off x="5989320" y="1611173"/>
            <a:ext cx="2788920" cy="2523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👍 ✓</a:t>
            </a:r>
            <a:endParaRPr lang="en-US" sz="1100" dirty="0"/>
          </a:p>
        </p:txBody>
      </p:sp>
      <p:sp>
        <p:nvSpPr>
          <p:cNvPr id="11" name="q_59"/>
          <p:cNvSpPr/>
          <p:nvPr/>
        </p:nvSpPr>
        <p:spPr>
          <a:xfrm>
            <a:off x="5760720" y="1874520"/>
            <a:ext cx="3017520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  </a:t>
            </a:r>
            <a:pPr indent="0" marL="0">
              <a:buNone/>
            </a:pPr>
            <a:r>
              <a:rPr lang="en-US" sz="11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Photo 2</a:t>
            </a:r>
            <a:endParaRPr lang="en-US" sz="1100" dirty="0"/>
          </a:p>
        </p:txBody>
      </p:sp>
      <p:sp>
        <p:nvSpPr>
          <p:cNvPr id="12" name="R2_a60"/>
          <p:cNvSpPr/>
          <p:nvPr/>
        </p:nvSpPr>
        <p:spPr>
          <a:xfrm>
            <a:off x="5989320" y="2159813"/>
            <a:ext cx="2788920" cy="2523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👍 ✓</a:t>
            </a:r>
            <a:endParaRPr lang="en-US" sz="1100" dirty="0"/>
          </a:p>
        </p:txBody>
      </p:sp>
      <p:sp>
        <p:nvSpPr>
          <p:cNvPr id="13" name="q_61"/>
          <p:cNvSpPr/>
          <p:nvPr/>
        </p:nvSpPr>
        <p:spPr>
          <a:xfrm>
            <a:off x="5760720" y="2423160"/>
            <a:ext cx="3017520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  </a:t>
            </a:r>
            <a:pPr indent="0" marL="0">
              <a:buNone/>
            </a:pPr>
            <a:r>
              <a:rPr lang="en-US" sz="11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Photo 3</a:t>
            </a:r>
            <a:endParaRPr lang="en-US" sz="1100" dirty="0"/>
          </a:p>
        </p:txBody>
      </p:sp>
      <p:sp>
        <p:nvSpPr>
          <p:cNvPr id="14" name="R3_a62"/>
          <p:cNvSpPr/>
          <p:nvPr/>
        </p:nvSpPr>
        <p:spPr>
          <a:xfrm>
            <a:off x="5989320" y="2708453"/>
            <a:ext cx="2788920" cy="2523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👎</a:t>
            </a:r>
            <a:endParaRPr lang="en-US" sz="1100" dirty="0"/>
          </a:p>
        </p:txBody>
      </p:sp>
      <p:sp>
        <p:nvSpPr>
          <p:cNvPr id="15" name="q_63"/>
          <p:cNvSpPr/>
          <p:nvPr/>
        </p:nvSpPr>
        <p:spPr>
          <a:xfrm>
            <a:off x="5760720" y="2971800"/>
            <a:ext cx="3017520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  </a:t>
            </a:r>
            <a:pPr indent="0" marL="0">
              <a:buNone/>
            </a:pPr>
            <a:r>
              <a:rPr lang="en-US" sz="11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Photo 4</a:t>
            </a:r>
            <a:endParaRPr lang="en-US" sz="1100" dirty="0"/>
          </a:p>
        </p:txBody>
      </p:sp>
      <p:sp>
        <p:nvSpPr>
          <p:cNvPr id="16" name="R4_a64"/>
          <p:cNvSpPr/>
          <p:nvPr/>
        </p:nvSpPr>
        <p:spPr>
          <a:xfrm>
            <a:off x="5989320" y="3257093"/>
            <a:ext cx="2788920" cy="2523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👍 ✓</a:t>
            </a:r>
            <a:endParaRPr lang="en-US" sz="1100" dirty="0"/>
          </a:p>
        </p:txBody>
      </p:sp>
      <p:sp>
        <p:nvSpPr>
          <p:cNvPr id="17" name="q_65"/>
          <p:cNvSpPr/>
          <p:nvPr/>
        </p:nvSpPr>
        <p:spPr>
          <a:xfrm>
            <a:off x="5760720" y="3520440"/>
            <a:ext cx="3017520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  </a:t>
            </a:r>
            <a:pPr indent="0" marL="0">
              <a:buNone/>
            </a:pPr>
            <a:r>
              <a:rPr lang="en-US" sz="11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Photo 5</a:t>
            </a:r>
            <a:endParaRPr lang="en-US" sz="1100" dirty="0"/>
          </a:p>
        </p:txBody>
      </p:sp>
      <p:sp>
        <p:nvSpPr>
          <p:cNvPr id="18" name="R5_a66"/>
          <p:cNvSpPr/>
          <p:nvPr/>
        </p:nvSpPr>
        <p:spPr>
          <a:xfrm>
            <a:off x="5989320" y="3805733"/>
            <a:ext cx="2788920" cy="2523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👎</a:t>
            </a:r>
            <a:endParaRPr lang="en-US" sz="1100" dirty="0"/>
          </a:p>
        </p:txBody>
      </p:sp>
      <p:sp>
        <p:nvSpPr>
          <p:cNvPr id="19" name="q_67"/>
          <p:cNvSpPr/>
          <p:nvPr/>
        </p:nvSpPr>
        <p:spPr>
          <a:xfrm>
            <a:off x="5760720" y="4069080"/>
            <a:ext cx="3017520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6  </a:t>
            </a:r>
            <a:pPr indent="0" marL="0">
              <a:buNone/>
            </a:pPr>
            <a:r>
              <a:rPr lang="en-US" sz="11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Photo 6</a:t>
            </a:r>
            <a:endParaRPr lang="en-US" sz="1100" dirty="0"/>
          </a:p>
        </p:txBody>
      </p:sp>
      <p:sp>
        <p:nvSpPr>
          <p:cNvPr id="20" name="R6_a68"/>
          <p:cNvSpPr/>
          <p:nvPr/>
        </p:nvSpPr>
        <p:spPr>
          <a:xfrm>
            <a:off x="5989320" y="4354373"/>
            <a:ext cx="2788920" cy="2523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👍 ✓</a:t>
            </a:r>
            <a:endParaRPr lang="en-US" sz="1100" dirty="0"/>
          </a:p>
        </p:txBody>
      </p:sp>
      <p:sp>
        <p:nvSpPr>
          <p:cNvPr id="21" name="bk_69"/>
          <p:cNvSpPr/>
          <p:nvPr/>
        </p:nvSpPr>
        <p:spPr>
          <a:xfrm>
            <a:off x="228600" y="4681728"/>
            <a:ext cx="1869948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Pupil's Book p.12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70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FLASHCARDS</a:t>
            </a:r>
            <a:endParaRPr lang="en-US" sz="1600" dirty="0"/>
          </a:p>
        </p:txBody>
      </p:sp>
      <p:sp>
        <p:nvSpPr>
          <p:cNvPr id="4" name="bm_71"/>
          <p:cNvSpPr/>
          <p:nvPr/>
        </p:nvSpPr>
        <p:spPr>
          <a:xfrm rot="-120000">
            <a:off x="228600" y="493776"/>
            <a:ext cx="384048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Planet words</a:t>
            </a:r>
            <a:endParaRPr lang="en-US" sz="3200" dirty="0"/>
          </a:p>
        </p:txBody>
      </p:sp>
      <p:sp>
        <p:nvSpPr>
          <p:cNvPr id="5" name="in_72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Look! Say the word before it appears!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Guarda! Di' la parola prima che appaia!</a:t>
            </a:r>
            <a:endParaRPr lang="en-US" sz="1400" dirty="0"/>
          </a:p>
        </p:txBody>
      </p:sp>
      <p:sp>
        <p:nvSpPr>
          <p:cNvPr id="6" name="pf_73"/>
          <p:cNvSpPr/>
          <p:nvPr/>
        </p:nvSpPr>
        <p:spPr>
          <a:xfrm>
            <a:off x="3054096" y="1179576"/>
            <a:ext cx="3035808" cy="2761488"/>
          </a:xfrm>
          <a:prstGeom prst="roundRect">
            <a:avLst>
              <a:gd name="adj" fmla="val 3311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7" name="pic_74" descr="/home/claude/movers/img/crop/u1-p12-glob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0227" y="1234440"/>
            <a:ext cx="2603546" cy="2651760"/>
          </a:xfrm>
          <a:prstGeom prst="rect">
            <a:avLst/>
          </a:prstGeom>
        </p:spPr>
      </p:pic>
      <p:sp>
        <p:nvSpPr>
          <p:cNvPr id="8" name="R1_w75"/>
          <p:cNvSpPr/>
          <p:nvPr/>
        </p:nvSpPr>
        <p:spPr>
          <a:xfrm>
            <a:off x="2194560" y="4005072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planet · Earth</a:t>
            </a:r>
            <a:endParaRPr lang="en-US" sz="3600" dirty="0"/>
          </a:p>
        </p:txBody>
      </p:sp>
      <p:sp>
        <p:nvSpPr>
          <p:cNvPr id="9" name="R2_it76"/>
          <p:cNvSpPr/>
          <p:nvPr/>
        </p:nvSpPr>
        <p:spPr>
          <a:xfrm>
            <a:off x="6446520" y="3017520"/>
            <a:ext cx="242316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25400">
            <a:solidFill>
              <a:srgbClr val="2F9B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pianeta · la Terra</a:t>
            </a:r>
            <a:endParaRPr lang="en-US" sz="1600" dirty="0"/>
          </a:p>
        </p:txBody>
      </p:sp>
      <p:sp>
        <p:nvSpPr>
          <p:cNvPr id="10" name="R3_tpr77"/>
          <p:cNvSpPr/>
          <p:nvPr/>
        </p:nvSpPr>
        <p:spPr>
          <a:xfrm>
            <a:off x="228600" y="1325880"/>
            <a:ext cx="260604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8100">
            <a:solidFill>
              <a:srgbClr val="FF8A3D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🏃 TPR  </a:t>
            </a:r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Make a big circle with your arms! 🌍</a:t>
            </a:r>
            <a:endParaRPr lang="en-US" sz="1300" dirty="0"/>
          </a:p>
        </p:txBody>
      </p:sp>
      <p:sp>
        <p:nvSpPr>
          <p:cNvPr id="11" name="n_78"/>
          <p:cNvSpPr/>
          <p:nvPr/>
        </p:nvSpPr>
        <p:spPr>
          <a:xfrm>
            <a:off x="7955280" y="468172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 / 7</a:t>
            </a:r>
            <a:endParaRPr lang="en-US" sz="1200" dirty="0"/>
          </a:p>
        </p:txBody>
      </p:sp>
      <p:sp>
        <p:nvSpPr>
          <p:cNvPr id="12" name="bk_79"/>
          <p:cNvSpPr/>
          <p:nvPr/>
        </p:nvSpPr>
        <p:spPr>
          <a:xfrm>
            <a:off x="228600" y="4681728"/>
            <a:ext cx="2180844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Pupil's Book pp.12–13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80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FLASHCARDS</a:t>
            </a:r>
            <a:endParaRPr lang="en-US" sz="1600" dirty="0"/>
          </a:p>
        </p:txBody>
      </p:sp>
      <p:sp>
        <p:nvSpPr>
          <p:cNvPr id="4" name="bm_81"/>
          <p:cNvSpPr/>
          <p:nvPr/>
        </p:nvSpPr>
        <p:spPr>
          <a:xfrm rot="-120000">
            <a:off x="228600" y="493776"/>
            <a:ext cx="384048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Planet words</a:t>
            </a:r>
            <a:endParaRPr lang="en-US" sz="3200" dirty="0"/>
          </a:p>
        </p:txBody>
      </p:sp>
      <p:sp>
        <p:nvSpPr>
          <p:cNvPr id="5" name="in_82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Look! Say the word before it appears!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Guarda! Di' la parola prima che appaia!</a:t>
            </a:r>
            <a:endParaRPr lang="en-US" sz="1400" dirty="0"/>
          </a:p>
        </p:txBody>
      </p:sp>
      <p:sp>
        <p:nvSpPr>
          <p:cNvPr id="6" name="pf_83"/>
          <p:cNvSpPr/>
          <p:nvPr/>
        </p:nvSpPr>
        <p:spPr>
          <a:xfrm>
            <a:off x="3054096" y="1179576"/>
            <a:ext cx="3035808" cy="2761488"/>
          </a:xfrm>
          <a:prstGeom prst="roundRect">
            <a:avLst>
              <a:gd name="adj" fmla="val 3311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7" name="pic_84" descr="/home/claude/movers/img/e-u1-ai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6120" y="1234440"/>
            <a:ext cx="2651760" cy="2651760"/>
          </a:xfrm>
          <a:prstGeom prst="rect">
            <a:avLst/>
          </a:prstGeom>
        </p:spPr>
      </p:pic>
      <p:sp>
        <p:nvSpPr>
          <p:cNvPr id="8" name="R1_w85"/>
          <p:cNvSpPr/>
          <p:nvPr/>
        </p:nvSpPr>
        <p:spPr>
          <a:xfrm>
            <a:off x="2194560" y="4005072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air</a:t>
            </a:r>
            <a:endParaRPr lang="en-US" sz="3600" dirty="0"/>
          </a:p>
        </p:txBody>
      </p:sp>
      <p:sp>
        <p:nvSpPr>
          <p:cNvPr id="9" name="R2_it86"/>
          <p:cNvSpPr/>
          <p:nvPr/>
        </p:nvSpPr>
        <p:spPr>
          <a:xfrm>
            <a:off x="6446520" y="3017520"/>
            <a:ext cx="242316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25400">
            <a:solidFill>
              <a:srgbClr val="2F9B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aria</a:t>
            </a:r>
            <a:endParaRPr lang="en-US" sz="1600" dirty="0"/>
          </a:p>
        </p:txBody>
      </p:sp>
      <p:sp>
        <p:nvSpPr>
          <p:cNvPr id="10" name="R3_tpr87"/>
          <p:cNvSpPr/>
          <p:nvPr/>
        </p:nvSpPr>
        <p:spPr>
          <a:xfrm>
            <a:off x="228600" y="1325880"/>
            <a:ext cx="260604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8100">
            <a:solidFill>
              <a:srgbClr val="FF8A3D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🏃 TPR  </a:t>
            </a:r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Breathe in deeply… and out! 🌬️</a:t>
            </a:r>
            <a:endParaRPr lang="en-US" sz="1300" dirty="0"/>
          </a:p>
        </p:txBody>
      </p:sp>
      <p:sp>
        <p:nvSpPr>
          <p:cNvPr id="11" name="n_88"/>
          <p:cNvSpPr/>
          <p:nvPr/>
        </p:nvSpPr>
        <p:spPr>
          <a:xfrm>
            <a:off x="7955280" y="468172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 / 7</a:t>
            </a:r>
            <a:endParaRPr lang="en-US" sz="1200" dirty="0"/>
          </a:p>
        </p:txBody>
      </p:sp>
      <p:sp>
        <p:nvSpPr>
          <p:cNvPr id="12" name="bk_89"/>
          <p:cNvSpPr/>
          <p:nvPr/>
        </p:nvSpPr>
        <p:spPr>
          <a:xfrm>
            <a:off x="228600" y="4681728"/>
            <a:ext cx="2180844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Pupil's Book pp.12–13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90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FLASHCARDS</a:t>
            </a:r>
            <a:endParaRPr lang="en-US" sz="1600" dirty="0"/>
          </a:p>
        </p:txBody>
      </p:sp>
      <p:sp>
        <p:nvSpPr>
          <p:cNvPr id="4" name="bm_91"/>
          <p:cNvSpPr/>
          <p:nvPr/>
        </p:nvSpPr>
        <p:spPr>
          <a:xfrm rot="-120000">
            <a:off x="228600" y="493776"/>
            <a:ext cx="384048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Planet words</a:t>
            </a:r>
            <a:endParaRPr lang="en-US" sz="3200" dirty="0"/>
          </a:p>
        </p:txBody>
      </p:sp>
      <p:sp>
        <p:nvSpPr>
          <p:cNvPr id="5" name="in_92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Look! Say the word before it appears!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Guarda! Di' la parola prima che appaia!</a:t>
            </a:r>
            <a:endParaRPr lang="en-US" sz="1400" dirty="0"/>
          </a:p>
        </p:txBody>
      </p:sp>
      <p:sp>
        <p:nvSpPr>
          <p:cNvPr id="6" name="pf_93"/>
          <p:cNvSpPr/>
          <p:nvPr/>
        </p:nvSpPr>
        <p:spPr>
          <a:xfrm>
            <a:off x="3054096" y="1179576"/>
            <a:ext cx="3035808" cy="2761488"/>
          </a:xfrm>
          <a:prstGeom prst="roundRect">
            <a:avLst>
              <a:gd name="adj" fmla="val 3311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7" name="pic_94" descr="/home/claude/movers/img/e-u1-pla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6120" y="1234440"/>
            <a:ext cx="2651760" cy="2651760"/>
          </a:xfrm>
          <a:prstGeom prst="rect">
            <a:avLst/>
          </a:prstGeom>
        </p:spPr>
      </p:pic>
      <p:sp>
        <p:nvSpPr>
          <p:cNvPr id="8" name="R1_w95"/>
          <p:cNvSpPr/>
          <p:nvPr/>
        </p:nvSpPr>
        <p:spPr>
          <a:xfrm>
            <a:off x="2194560" y="4005072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plant</a:t>
            </a:r>
            <a:endParaRPr lang="en-US" sz="3600" dirty="0"/>
          </a:p>
        </p:txBody>
      </p:sp>
      <p:sp>
        <p:nvSpPr>
          <p:cNvPr id="9" name="R2_it96"/>
          <p:cNvSpPr/>
          <p:nvPr/>
        </p:nvSpPr>
        <p:spPr>
          <a:xfrm>
            <a:off x="6446520" y="3017520"/>
            <a:ext cx="242316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25400">
            <a:solidFill>
              <a:srgbClr val="2F9B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pianta</a:t>
            </a:r>
            <a:endParaRPr lang="en-US" sz="1600" dirty="0"/>
          </a:p>
        </p:txBody>
      </p:sp>
      <p:sp>
        <p:nvSpPr>
          <p:cNvPr id="10" name="R3_tpr97"/>
          <p:cNvSpPr/>
          <p:nvPr/>
        </p:nvSpPr>
        <p:spPr>
          <a:xfrm>
            <a:off x="228600" y="1325880"/>
            <a:ext cx="260604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8100">
            <a:solidFill>
              <a:srgbClr val="FF8A3D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🏃 TPR  </a:t>
            </a:r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Grow like a plant! 🌱</a:t>
            </a:r>
            <a:endParaRPr lang="en-US" sz="1300" dirty="0"/>
          </a:p>
        </p:txBody>
      </p:sp>
      <p:sp>
        <p:nvSpPr>
          <p:cNvPr id="11" name="n_98"/>
          <p:cNvSpPr/>
          <p:nvPr/>
        </p:nvSpPr>
        <p:spPr>
          <a:xfrm>
            <a:off x="7955280" y="468172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 / 7</a:t>
            </a:r>
            <a:endParaRPr lang="en-US" sz="1200" dirty="0"/>
          </a:p>
        </p:txBody>
      </p:sp>
      <p:sp>
        <p:nvSpPr>
          <p:cNvPr id="12" name="bk_99"/>
          <p:cNvSpPr/>
          <p:nvPr/>
        </p:nvSpPr>
        <p:spPr>
          <a:xfrm>
            <a:off x="228600" y="4681728"/>
            <a:ext cx="2180844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Pupil's Book pp.12–13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100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FLASHCARDS</a:t>
            </a:r>
            <a:endParaRPr lang="en-US" sz="1600" dirty="0"/>
          </a:p>
        </p:txBody>
      </p:sp>
      <p:sp>
        <p:nvSpPr>
          <p:cNvPr id="4" name="bm_101"/>
          <p:cNvSpPr/>
          <p:nvPr/>
        </p:nvSpPr>
        <p:spPr>
          <a:xfrm rot="-120000">
            <a:off x="228600" y="493776"/>
            <a:ext cx="384048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Planet words</a:t>
            </a:r>
            <a:endParaRPr lang="en-US" sz="3200" dirty="0"/>
          </a:p>
        </p:txBody>
      </p:sp>
      <p:sp>
        <p:nvSpPr>
          <p:cNvPr id="5" name="in_102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Look! Say the word before it appears!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Guarda! Di' la parola prima che appaia!</a:t>
            </a:r>
            <a:endParaRPr lang="en-US" sz="1400" dirty="0"/>
          </a:p>
        </p:txBody>
      </p:sp>
      <p:sp>
        <p:nvSpPr>
          <p:cNvPr id="6" name="pf_103"/>
          <p:cNvSpPr/>
          <p:nvPr/>
        </p:nvSpPr>
        <p:spPr>
          <a:xfrm>
            <a:off x="3054096" y="1179576"/>
            <a:ext cx="3035808" cy="2761488"/>
          </a:xfrm>
          <a:prstGeom prst="roundRect">
            <a:avLst>
              <a:gd name="adj" fmla="val 3311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7" name="pic_104" descr="/home/claude/movers/img/e-u1-t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6120" y="1234440"/>
            <a:ext cx="2651760" cy="2651760"/>
          </a:xfrm>
          <a:prstGeom prst="rect">
            <a:avLst/>
          </a:prstGeom>
        </p:spPr>
      </p:pic>
      <p:sp>
        <p:nvSpPr>
          <p:cNvPr id="8" name="R1_w105"/>
          <p:cNvSpPr/>
          <p:nvPr/>
        </p:nvSpPr>
        <p:spPr>
          <a:xfrm>
            <a:off x="2194560" y="4005072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tap</a:t>
            </a:r>
            <a:endParaRPr lang="en-US" sz="3600" dirty="0"/>
          </a:p>
        </p:txBody>
      </p:sp>
      <p:sp>
        <p:nvSpPr>
          <p:cNvPr id="9" name="R2_it106"/>
          <p:cNvSpPr/>
          <p:nvPr/>
        </p:nvSpPr>
        <p:spPr>
          <a:xfrm>
            <a:off x="6446520" y="3017520"/>
            <a:ext cx="242316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25400">
            <a:solidFill>
              <a:srgbClr val="2F9B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rubinetto</a:t>
            </a:r>
            <a:endParaRPr lang="en-US" sz="1600" dirty="0"/>
          </a:p>
        </p:txBody>
      </p:sp>
      <p:sp>
        <p:nvSpPr>
          <p:cNvPr id="10" name="R3_tpr107"/>
          <p:cNvSpPr/>
          <p:nvPr/>
        </p:nvSpPr>
        <p:spPr>
          <a:xfrm>
            <a:off x="228600" y="1325880"/>
            <a:ext cx="260604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8100">
            <a:solidFill>
              <a:srgbClr val="FF8A3D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🏃 TPR  </a:t>
            </a:r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Turn off the tap! 🚰</a:t>
            </a:r>
            <a:endParaRPr lang="en-US" sz="1300" dirty="0"/>
          </a:p>
        </p:txBody>
      </p:sp>
      <p:sp>
        <p:nvSpPr>
          <p:cNvPr id="11" name="n_108"/>
          <p:cNvSpPr/>
          <p:nvPr/>
        </p:nvSpPr>
        <p:spPr>
          <a:xfrm>
            <a:off x="7955280" y="468172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 / 7</a:t>
            </a:r>
            <a:endParaRPr lang="en-US" sz="1200" dirty="0"/>
          </a:p>
        </p:txBody>
      </p:sp>
      <p:sp>
        <p:nvSpPr>
          <p:cNvPr id="12" name="bk_109"/>
          <p:cNvSpPr/>
          <p:nvPr/>
        </p:nvSpPr>
        <p:spPr>
          <a:xfrm>
            <a:off x="228600" y="4681728"/>
            <a:ext cx="2180844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Pupil's Book pp.12–13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110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FLASHCARDS</a:t>
            </a:r>
            <a:endParaRPr lang="en-US" sz="1600" dirty="0"/>
          </a:p>
        </p:txBody>
      </p:sp>
      <p:sp>
        <p:nvSpPr>
          <p:cNvPr id="4" name="bm_111"/>
          <p:cNvSpPr/>
          <p:nvPr/>
        </p:nvSpPr>
        <p:spPr>
          <a:xfrm rot="-120000">
            <a:off x="228600" y="493776"/>
            <a:ext cx="384048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Planet words</a:t>
            </a:r>
            <a:endParaRPr lang="en-US" sz="3200" dirty="0"/>
          </a:p>
        </p:txBody>
      </p:sp>
      <p:sp>
        <p:nvSpPr>
          <p:cNvPr id="5" name="in_112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Look! Say the word before it appears!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Guarda! Di' la parola prima che appaia!</a:t>
            </a:r>
            <a:endParaRPr lang="en-US" sz="1400" dirty="0"/>
          </a:p>
        </p:txBody>
      </p:sp>
      <p:sp>
        <p:nvSpPr>
          <p:cNvPr id="6" name="pf_113"/>
          <p:cNvSpPr/>
          <p:nvPr/>
        </p:nvSpPr>
        <p:spPr>
          <a:xfrm>
            <a:off x="3054096" y="1179576"/>
            <a:ext cx="3035808" cy="2761488"/>
          </a:xfrm>
          <a:prstGeom prst="roundRect">
            <a:avLst>
              <a:gd name="adj" fmla="val 3311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7" name="pic_114" descr="/home/claude/movers/img/e-u1-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6120" y="1234440"/>
            <a:ext cx="2651760" cy="2651760"/>
          </a:xfrm>
          <a:prstGeom prst="rect">
            <a:avLst/>
          </a:prstGeom>
        </p:spPr>
      </p:pic>
      <p:sp>
        <p:nvSpPr>
          <p:cNvPr id="8" name="R1_w115"/>
          <p:cNvSpPr/>
          <p:nvPr/>
        </p:nvSpPr>
        <p:spPr>
          <a:xfrm>
            <a:off x="2194560" y="4005072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light</a:t>
            </a:r>
            <a:endParaRPr lang="en-US" sz="3600" dirty="0"/>
          </a:p>
        </p:txBody>
      </p:sp>
      <p:sp>
        <p:nvSpPr>
          <p:cNvPr id="9" name="R2_it116"/>
          <p:cNvSpPr/>
          <p:nvPr/>
        </p:nvSpPr>
        <p:spPr>
          <a:xfrm>
            <a:off x="6446520" y="3017520"/>
            <a:ext cx="242316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25400">
            <a:solidFill>
              <a:srgbClr val="2F9B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luce</a:t>
            </a:r>
            <a:endParaRPr lang="en-US" sz="1600" dirty="0"/>
          </a:p>
        </p:txBody>
      </p:sp>
      <p:sp>
        <p:nvSpPr>
          <p:cNvPr id="10" name="R3_tpr117"/>
          <p:cNvSpPr/>
          <p:nvPr/>
        </p:nvSpPr>
        <p:spPr>
          <a:xfrm>
            <a:off x="228600" y="1325880"/>
            <a:ext cx="260604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8100">
            <a:solidFill>
              <a:srgbClr val="FF8A3D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🏃 TPR  </a:t>
            </a:r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Turn off the light! Click! 💡</a:t>
            </a:r>
            <a:endParaRPr lang="en-US" sz="1300" dirty="0"/>
          </a:p>
        </p:txBody>
      </p:sp>
      <p:sp>
        <p:nvSpPr>
          <p:cNvPr id="11" name="n_118"/>
          <p:cNvSpPr/>
          <p:nvPr/>
        </p:nvSpPr>
        <p:spPr>
          <a:xfrm>
            <a:off x="7955280" y="468172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 / 7</a:t>
            </a:r>
            <a:endParaRPr lang="en-US" sz="1200" dirty="0"/>
          </a:p>
        </p:txBody>
      </p:sp>
      <p:sp>
        <p:nvSpPr>
          <p:cNvPr id="12" name="bk_119"/>
          <p:cNvSpPr/>
          <p:nvPr/>
        </p:nvSpPr>
        <p:spPr>
          <a:xfrm>
            <a:off x="228600" y="4681728"/>
            <a:ext cx="2180844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Pupil's Book pp.12–13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120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FLASHCARDS</a:t>
            </a:r>
            <a:endParaRPr lang="en-US" sz="1600" dirty="0"/>
          </a:p>
        </p:txBody>
      </p:sp>
      <p:sp>
        <p:nvSpPr>
          <p:cNvPr id="4" name="bm_121"/>
          <p:cNvSpPr/>
          <p:nvPr/>
        </p:nvSpPr>
        <p:spPr>
          <a:xfrm rot="-120000">
            <a:off x="228600" y="493776"/>
            <a:ext cx="384048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Planet words</a:t>
            </a:r>
            <a:endParaRPr lang="en-US" sz="3200" dirty="0"/>
          </a:p>
        </p:txBody>
      </p:sp>
      <p:sp>
        <p:nvSpPr>
          <p:cNvPr id="5" name="in_122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Look! Say the word before it appears!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Guarda! Di' la parola prima che appaia!</a:t>
            </a:r>
            <a:endParaRPr lang="en-US" sz="1400" dirty="0"/>
          </a:p>
        </p:txBody>
      </p:sp>
      <p:sp>
        <p:nvSpPr>
          <p:cNvPr id="6" name="pf_123"/>
          <p:cNvSpPr/>
          <p:nvPr/>
        </p:nvSpPr>
        <p:spPr>
          <a:xfrm>
            <a:off x="3054096" y="1179576"/>
            <a:ext cx="3035808" cy="2761488"/>
          </a:xfrm>
          <a:prstGeom prst="roundRect">
            <a:avLst>
              <a:gd name="adj" fmla="val 3311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7" name="pic_124" descr="/home/claude/movers/img/crop/u1-p13-bins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0" y="1366002"/>
            <a:ext cx="2926080" cy="2388637"/>
          </a:xfrm>
          <a:prstGeom prst="rect">
            <a:avLst/>
          </a:prstGeom>
        </p:spPr>
      </p:pic>
      <p:sp>
        <p:nvSpPr>
          <p:cNvPr id="8" name="R1_w125"/>
          <p:cNvSpPr/>
          <p:nvPr/>
        </p:nvSpPr>
        <p:spPr>
          <a:xfrm>
            <a:off x="2194560" y="4005072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recycle</a:t>
            </a:r>
            <a:endParaRPr lang="en-US" sz="3600" dirty="0"/>
          </a:p>
        </p:txBody>
      </p:sp>
      <p:sp>
        <p:nvSpPr>
          <p:cNvPr id="9" name="R2_it126"/>
          <p:cNvSpPr/>
          <p:nvPr/>
        </p:nvSpPr>
        <p:spPr>
          <a:xfrm>
            <a:off x="6446520" y="3017520"/>
            <a:ext cx="242316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25400">
            <a:solidFill>
              <a:srgbClr val="2F9B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riciclare</a:t>
            </a:r>
            <a:endParaRPr lang="en-US" sz="1600" dirty="0"/>
          </a:p>
        </p:txBody>
      </p:sp>
      <p:sp>
        <p:nvSpPr>
          <p:cNvPr id="10" name="R3_tpr127"/>
          <p:cNvSpPr/>
          <p:nvPr/>
        </p:nvSpPr>
        <p:spPr>
          <a:xfrm>
            <a:off x="228600" y="1325880"/>
            <a:ext cx="260604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8100">
            <a:solidFill>
              <a:srgbClr val="FF8A3D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🏃 TPR  </a:t>
            </a:r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Throw the bottle in the bin! ♻️</a:t>
            </a:r>
            <a:endParaRPr lang="en-US" sz="1300" dirty="0"/>
          </a:p>
        </p:txBody>
      </p:sp>
      <p:sp>
        <p:nvSpPr>
          <p:cNvPr id="11" name="n_128"/>
          <p:cNvSpPr/>
          <p:nvPr/>
        </p:nvSpPr>
        <p:spPr>
          <a:xfrm>
            <a:off x="7955280" y="468172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 / 7</a:t>
            </a:r>
            <a:endParaRPr lang="en-US" sz="1200" dirty="0"/>
          </a:p>
        </p:txBody>
      </p:sp>
      <p:sp>
        <p:nvSpPr>
          <p:cNvPr id="12" name="bk_129"/>
          <p:cNvSpPr/>
          <p:nvPr/>
        </p:nvSpPr>
        <p:spPr>
          <a:xfrm>
            <a:off x="228600" y="4681728"/>
            <a:ext cx="2180844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Pupil's Book pp.12–13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130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FLASHCARDS</a:t>
            </a:r>
            <a:endParaRPr lang="en-US" sz="1600" dirty="0"/>
          </a:p>
        </p:txBody>
      </p:sp>
      <p:sp>
        <p:nvSpPr>
          <p:cNvPr id="4" name="bm_131"/>
          <p:cNvSpPr/>
          <p:nvPr/>
        </p:nvSpPr>
        <p:spPr>
          <a:xfrm rot="-120000">
            <a:off x="228600" y="493776"/>
            <a:ext cx="384048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Planet words</a:t>
            </a:r>
            <a:endParaRPr lang="en-US" sz="3200" dirty="0"/>
          </a:p>
        </p:txBody>
      </p:sp>
      <p:sp>
        <p:nvSpPr>
          <p:cNvPr id="5" name="in_132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Look! Say the word before it appears!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Guarda! Di' la parola prima che appaia!</a:t>
            </a:r>
            <a:endParaRPr lang="en-US" sz="1400" dirty="0"/>
          </a:p>
        </p:txBody>
      </p:sp>
      <p:sp>
        <p:nvSpPr>
          <p:cNvPr id="6" name="pf_133"/>
          <p:cNvSpPr/>
          <p:nvPr/>
        </p:nvSpPr>
        <p:spPr>
          <a:xfrm>
            <a:off x="3054096" y="1179576"/>
            <a:ext cx="3035808" cy="2761488"/>
          </a:xfrm>
          <a:prstGeom prst="roundRect">
            <a:avLst>
              <a:gd name="adj" fmla="val 3311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7" name="pic_134" descr="/home/claude/movers/img/crop/u1-ab13-bags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0" y="1447137"/>
            <a:ext cx="2926080" cy="2226365"/>
          </a:xfrm>
          <a:prstGeom prst="rect">
            <a:avLst/>
          </a:prstGeom>
        </p:spPr>
      </p:pic>
      <p:sp>
        <p:nvSpPr>
          <p:cNvPr id="8" name="R1_w135"/>
          <p:cNvSpPr/>
          <p:nvPr/>
        </p:nvSpPr>
        <p:spPr>
          <a:xfrm>
            <a:off x="2194560" y="4005072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plastic bag</a:t>
            </a:r>
            <a:endParaRPr lang="en-US" sz="3600" dirty="0"/>
          </a:p>
        </p:txBody>
      </p:sp>
      <p:sp>
        <p:nvSpPr>
          <p:cNvPr id="9" name="R2_it136"/>
          <p:cNvSpPr/>
          <p:nvPr/>
        </p:nvSpPr>
        <p:spPr>
          <a:xfrm>
            <a:off x="6446520" y="3017520"/>
            <a:ext cx="242316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25400">
            <a:solidFill>
              <a:srgbClr val="2F9B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sacchetto di plastica</a:t>
            </a:r>
            <a:endParaRPr lang="en-US" sz="1600" dirty="0"/>
          </a:p>
        </p:txBody>
      </p:sp>
      <p:sp>
        <p:nvSpPr>
          <p:cNvPr id="10" name="R3_tpr137"/>
          <p:cNvSpPr/>
          <p:nvPr/>
        </p:nvSpPr>
        <p:spPr>
          <a:xfrm>
            <a:off x="228600" y="1325880"/>
            <a:ext cx="260604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8100">
            <a:solidFill>
              <a:srgbClr val="FF8A3D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🏃 TPR  </a:t>
            </a:r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Say NO with your finger! ☝️</a:t>
            </a:r>
            <a:endParaRPr lang="en-US" sz="1300" dirty="0"/>
          </a:p>
        </p:txBody>
      </p:sp>
      <p:sp>
        <p:nvSpPr>
          <p:cNvPr id="11" name="n_138"/>
          <p:cNvSpPr/>
          <p:nvPr/>
        </p:nvSpPr>
        <p:spPr>
          <a:xfrm>
            <a:off x="7955280" y="468172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 / 7</a:t>
            </a:r>
            <a:endParaRPr lang="en-US" sz="1200" dirty="0"/>
          </a:p>
        </p:txBody>
      </p:sp>
      <p:sp>
        <p:nvSpPr>
          <p:cNvPr id="12" name="bk_139"/>
          <p:cNvSpPr/>
          <p:nvPr/>
        </p:nvSpPr>
        <p:spPr>
          <a:xfrm>
            <a:off x="228600" y="4681728"/>
            <a:ext cx="2180844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Pupil's Book pp.12–13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140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SAY IT!</a:t>
            </a:r>
            <a:endParaRPr lang="en-US" sz="1600" dirty="0"/>
          </a:p>
        </p:txBody>
      </p:sp>
      <p:sp>
        <p:nvSpPr>
          <p:cNvPr id="4" name="bm_141"/>
          <p:cNvSpPr/>
          <p:nvPr/>
        </p:nvSpPr>
        <p:spPr>
          <a:xfrm rot="-120000">
            <a:off x="228600" y="493776"/>
            <a:ext cx="457200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ln w="31750">
                  <a:solidFill>
                    <a:srgbClr val="1E2A5A"/>
                  </a:solidFill>
                </a:ln>
                <a:solidFill>
                  <a:srgbClr val="FF8A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Stand up on the BIG part!</a:t>
            </a:r>
            <a:endParaRPr lang="en-US" sz="2400" dirty="0"/>
          </a:p>
        </p:txBody>
      </p:sp>
      <p:sp>
        <p:nvSpPr>
          <p:cNvPr id="5" name="in_142"/>
          <p:cNvSpPr/>
          <p:nvPr/>
        </p:nvSpPr>
        <p:spPr>
          <a:xfrm>
            <a:off x="4937760" y="182880"/>
            <a:ext cx="397764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Sit down. Stand up on the strong syllable!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Seduti. Alzati sulla sillaba forte!</a:t>
            </a:r>
            <a:endParaRPr lang="en-US" sz="1400" dirty="0"/>
          </a:p>
        </p:txBody>
      </p:sp>
      <p:sp>
        <p:nvSpPr>
          <p:cNvPr id="6" name="mode_143"/>
          <p:cNvSpPr/>
          <p:nvPr/>
        </p:nvSpPr>
        <p:spPr>
          <a:xfrm>
            <a:off x="6355080" y="1024128"/>
            <a:ext cx="2560320" cy="246888"/>
          </a:xfrm>
          <a:prstGeom prst="roundRect">
            <a:avLst>
              <a:gd name="adj" fmla="val 44444"/>
            </a:avLst>
          </a:prstGeom>
          <a:solidFill>
            <a:srgbClr val="1E2A5A"/>
          </a:solidFill>
          <a:ln w="19050">
            <a:solidFill>
              <a:srgbClr val="FFD2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🗣 WHOLE CLASS · ⏱ 2 MIN</a:t>
            </a:r>
            <a:endParaRPr lang="en-US" sz="1000" dirty="0"/>
          </a:p>
        </p:txBody>
      </p:sp>
      <p:sp>
        <p:nvSpPr>
          <p:cNvPr id="7" name="st_144"/>
          <p:cNvSpPr/>
          <p:nvPr/>
        </p:nvSpPr>
        <p:spPr>
          <a:xfrm>
            <a:off x="228600" y="1325880"/>
            <a:ext cx="2651760" cy="97536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38100">
            <a:solidFill>
              <a:srgbClr val="2F9BF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8000"/>
              </a:srgbClr>
            </a:outerShdw>
          </a:effectLst>
        </p:spPr>
      </p:sp>
      <p:sp>
        <p:nvSpPr>
          <p:cNvPr id="8" name="sn_145"/>
          <p:cNvSpPr/>
          <p:nvPr/>
        </p:nvSpPr>
        <p:spPr>
          <a:xfrm>
            <a:off x="118872" y="1216152"/>
            <a:ext cx="384048" cy="384048"/>
          </a:xfrm>
          <a:prstGeom prst="ellipse">
            <a:avLst/>
          </a:prstGeom>
          <a:solidFill>
            <a:srgbClr val="2F9BFF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sk_146"/>
          <p:cNvSpPr/>
          <p:nvPr/>
        </p:nvSpPr>
        <p:spPr>
          <a:xfrm>
            <a:off x="521208" y="136245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👂 LISTEN</a:t>
            </a:r>
            <a:endParaRPr lang="en-US" sz="1300" dirty="0"/>
          </a:p>
        </p:txBody>
      </p:sp>
      <p:sp>
        <p:nvSpPr>
          <p:cNvPr id="10" name="se_147"/>
          <p:cNvSpPr/>
          <p:nvPr/>
        </p:nvSpPr>
        <p:spPr>
          <a:xfrm>
            <a:off x="338328" y="1655064"/>
            <a:ext cx="24688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Teacher: PLA-net.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L'insegnante: PLA-net.</a:t>
            </a:r>
            <a:endParaRPr lang="en-US" sz="1050" dirty="0"/>
          </a:p>
        </p:txBody>
      </p:sp>
      <p:sp>
        <p:nvSpPr>
          <p:cNvPr id="11" name="st_148"/>
          <p:cNvSpPr/>
          <p:nvPr/>
        </p:nvSpPr>
        <p:spPr>
          <a:xfrm>
            <a:off x="228600" y="2392680"/>
            <a:ext cx="2651760" cy="97536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38100">
            <a:solidFill>
              <a:srgbClr val="FF8A3D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sn_149"/>
          <p:cNvSpPr/>
          <p:nvPr/>
        </p:nvSpPr>
        <p:spPr>
          <a:xfrm>
            <a:off x="118872" y="2282952"/>
            <a:ext cx="384048" cy="384048"/>
          </a:xfrm>
          <a:prstGeom prst="ellipse">
            <a:avLst/>
          </a:prstGeom>
          <a:solidFill>
            <a:srgbClr val="FF8A3D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sk_150"/>
          <p:cNvSpPr/>
          <p:nvPr/>
        </p:nvSpPr>
        <p:spPr>
          <a:xfrm>
            <a:off x="521208" y="242925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🏃 MOVE</a:t>
            </a:r>
            <a:endParaRPr lang="en-US" sz="1300" dirty="0"/>
          </a:p>
        </p:txBody>
      </p:sp>
      <p:sp>
        <p:nvSpPr>
          <p:cNvPr id="14" name="se_151"/>
          <p:cNvSpPr/>
          <p:nvPr/>
        </p:nvSpPr>
        <p:spPr>
          <a:xfrm>
            <a:off x="338328" y="2721864"/>
            <a:ext cx="24688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 up on PLA! Sit on net!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Alzati su PLA! Siediti su net!</a:t>
            </a:r>
            <a:endParaRPr lang="en-US" sz="1050" dirty="0"/>
          </a:p>
        </p:txBody>
      </p:sp>
      <p:sp>
        <p:nvSpPr>
          <p:cNvPr id="15" name="st_152"/>
          <p:cNvSpPr/>
          <p:nvPr/>
        </p:nvSpPr>
        <p:spPr>
          <a:xfrm>
            <a:off x="228600" y="3459480"/>
            <a:ext cx="2651760" cy="97536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38100">
            <a:solidFill>
              <a:srgbClr val="FF5DA2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sn_153"/>
          <p:cNvSpPr/>
          <p:nvPr/>
        </p:nvSpPr>
        <p:spPr>
          <a:xfrm>
            <a:off x="118872" y="3349752"/>
            <a:ext cx="384048" cy="384048"/>
          </a:xfrm>
          <a:prstGeom prst="ellipse">
            <a:avLst/>
          </a:prstGeom>
          <a:solidFill>
            <a:srgbClr val="FF5DA2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sk_154"/>
          <p:cNvSpPr/>
          <p:nvPr/>
        </p:nvSpPr>
        <p:spPr>
          <a:xfrm>
            <a:off x="521208" y="349605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💬 SPEAK</a:t>
            </a:r>
            <a:endParaRPr lang="en-US" sz="1300" dirty="0"/>
          </a:p>
        </p:txBody>
      </p:sp>
      <p:sp>
        <p:nvSpPr>
          <p:cNvPr id="18" name="se_155"/>
          <p:cNvSpPr/>
          <p:nvPr/>
        </p:nvSpPr>
        <p:spPr>
          <a:xfrm>
            <a:off x="338328" y="3788664"/>
            <a:ext cx="24688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 it with me!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Dillo con me!</a:t>
            </a:r>
            <a:endParaRPr lang="en-US" sz="1050" dirty="0"/>
          </a:p>
        </p:txBody>
      </p:sp>
      <p:sp>
        <p:nvSpPr>
          <p:cNvPr id="19" name="gl_156"/>
          <p:cNvSpPr/>
          <p:nvPr/>
        </p:nvSpPr>
        <p:spPr>
          <a:xfrm>
            <a:off x="3108960" y="1325880"/>
            <a:ext cx="5715000" cy="3200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600"/>
              </a:spcAft>
              <a:buSzPct val="100000"/>
              <a:buChar char="⭐"/>
            </a:pPr>
            <a:r>
              <a:rPr lang="en-US" sz="14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PLA-net ●•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⭐"/>
            </a:pPr>
            <a:r>
              <a:rPr lang="en-US" sz="14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OX-y-gen ●••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⭐"/>
            </a:pPr>
            <a:r>
              <a:rPr lang="en-US" sz="14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im-POR-tant •●•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⭐"/>
            </a:pPr>
            <a:r>
              <a:rPr lang="en-US" sz="14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re-CY-cle •●•</a:t>
            </a:r>
            <a:endParaRPr lang="en-US" sz="1400" dirty="0"/>
          </a:p>
        </p:txBody>
      </p:sp>
    </p:spTree>
  </p:cSld>
  <p:clrMapOvr>
    <a:masterClrMapping/>
  </p:clrMapOvr>
  <p:transition spd="med">
    <p:push dir="l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157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READ 3</a:t>
            </a:r>
            <a:endParaRPr lang="en-US" sz="1600" dirty="0"/>
          </a:p>
        </p:txBody>
      </p:sp>
      <p:sp>
        <p:nvSpPr>
          <p:cNvPr id="4" name="bm_158"/>
          <p:cNvSpPr/>
          <p:nvPr/>
        </p:nvSpPr>
        <p:spPr>
          <a:xfrm rot="-120000">
            <a:off x="228600" y="493776"/>
            <a:ext cx="393192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Our planet Earth</a:t>
            </a:r>
            <a:endParaRPr lang="en-US" sz="2700" dirty="0"/>
          </a:p>
        </p:txBody>
      </p:sp>
      <p:sp>
        <p:nvSpPr>
          <p:cNvPr id="5" name="in_159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Guess first! Then listen and read.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Prima indovina! Poi ascolta e leggi.</a:t>
            </a:r>
            <a:endParaRPr lang="en-US" sz="1400" dirty="0"/>
          </a:p>
        </p:txBody>
      </p:sp>
      <p:sp>
        <p:nvSpPr>
          <p:cNvPr id="6" name="mode_160"/>
          <p:cNvSpPr/>
          <p:nvPr/>
        </p:nvSpPr>
        <p:spPr>
          <a:xfrm>
            <a:off x="6355080" y="1024128"/>
            <a:ext cx="2560320" cy="246888"/>
          </a:xfrm>
          <a:prstGeom prst="roundRect">
            <a:avLst>
              <a:gd name="adj" fmla="val 44444"/>
            </a:avLst>
          </a:prstGeom>
          <a:solidFill>
            <a:srgbClr val="1E2A5A"/>
          </a:solidFill>
          <a:ln w="19050">
            <a:solidFill>
              <a:srgbClr val="FFD2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👂 READ · ⏱ 6 MIN</a:t>
            </a:r>
            <a:endParaRPr lang="en-US" sz="1000" dirty="0"/>
          </a:p>
        </p:txBody>
      </p:sp>
      <p:sp>
        <p:nvSpPr>
          <p:cNvPr id="7" name="diff_161"/>
          <p:cNvSpPr/>
          <p:nvPr/>
        </p:nvSpPr>
        <p:spPr>
          <a:xfrm>
            <a:off x="4343400" y="4681728"/>
            <a:ext cx="4572000" cy="329184"/>
          </a:xfrm>
          <a:prstGeom prst="roundRect">
            <a:avLst>
              <a:gd name="adj" fmla="val 38889"/>
            </a:avLst>
          </a:prstGeom>
          <a:solidFill>
            <a:srgbClr val="FFFFFF"/>
          </a:solidFill>
          <a:ln w="25400">
            <a:solidFill>
              <a:srgbClr val="FFD23F"/>
            </a:solidFill>
          </a:ln>
        </p:spPr>
        <p:txBody>
          <a:bodyPr wrap="square" lIns="50800" tIns="50800" rIns="50800" bIns="5080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⭐ We live on … · They need …</a:t>
            </a:r>
            <a:endParaRPr lang="en-US" sz="950" dirty="0"/>
          </a:p>
        </p:txBody>
      </p:sp>
      <p:sp>
        <p:nvSpPr>
          <p:cNvPr id="8" name="pf_162"/>
          <p:cNvSpPr/>
          <p:nvPr/>
        </p:nvSpPr>
        <p:spPr>
          <a:xfrm>
            <a:off x="310896" y="1271016"/>
            <a:ext cx="5230368" cy="3355848"/>
          </a:xfrm>
          <a:prstGeom prst="roundRect">
            <a:avLst>
              <a:gd name="adj" fmla="val 2725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9" name="pic_163" descr="/home/claude/movers/img/crop/u1-p12-read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715465"/>
            <a:ext cx="5120640" cy="2466949"/>
          </a:xfrm>
          <a:prstGeom prst="rect">
            <a:avLst/>
          </a:prstGeom>
        </p:spPr>
      </p:pic>
      <p:sp>
        <p:nvSpPr>
          <p:cNvPr id="10" name="q_164"/>
          <p:cNvSpPr/>
          <p:nvPr/>
        </p:nvSpPr>
        <p:spPr>
          <a:xfrm>
            <a:off x="5760720" y="1325880"/>
            <a:ext cx="301752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Which planet do we live on?</a:t>
            </a:r>
            <a:endParaRPr lang="en-US" sz="1250" dirty="0"/>
          </a:p>
        </p:txBody>
      </p:sp>
      <p:sp>
        <p:nvSpPr>
          <p:cNvPr id="11" name="R1_a165"/>
          <p:cNvSpPr/>
          <p:nvPr/>
        </p:nvSpPr>
        <p:spPr>
          <a:xfrm>
            <a:off x="5989320" y="1777594"/>
            <a:ext cx="2788920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We live on Earth.</a:t>
            </a:r>
            <a:endParaRPr lang="en-US" sz="1250" dirty="0"/>
          </a:p>
        </p:txBody>
      </p:sp>
      <p:sp>
        <p:nvSpPr>
          <p:cNvPr id="12" name="q_166"/>
          <p:cNvSpPr/>
          <p:nvPr/>
        </p:nvSpPr>
        <p:spPr>
          <a:xfrm>
            <a:off x="5760720" y="2194560"/>
            <a:ext cx="301752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What do plants and animals need?</a:t>
            </a:r>
            <a:endParaRPr lang="en-US" sz="1250" dirty="0"/>
          </a:p>
        </p:txBody>
      </p:sp>
      <p:sp>
        <p:nvSpPr>
          <p:cNvPr id="13" name="R2_a167"/>
          <p:cNvSpPr/>
          <p:nvPr/>
        </p:nvSpPr>
        <p:spPr>
          <a:xfrm>
            <a:off x="5989320" y="2646274"/>
            <a:ext cx="2788920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They need oxygen and water.</a:t>
            </a:r>
            <a:endParaRPr lang="en-US" sz="1250" dirty="0"/>
          </a:p>
        </p:txBody>
      </p:sp>
      <p:sp>
        <p:nvSpPr>
          <p:cNvPr id="14" name="q_168"/>
          <p:cNvSpPr/>
          <p:nvPr/>
        </p:nvSpPr>
        <p:spPr>
          <a:xfrm>
            <a:off x="5760720" y="3063240"/>
            <a:ext cx="301752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Why is it important to look after our planet?</a:t>
            </a:r>
            <a:endParaRPr lang="en-US" sz="1250" dirty="0"/>
          </a:p>
        </p:txBody>
      </p:sp>
      <p:sp>
        <p:nvSpPr>
          <p:cNvPr id="15" name="R3_a169"/>
          <p:cNvSpPr/>
          <p:nvPr/>
        </p:nvSpPr>
        <p:spPr>
          <a:xfrm>
            <a:off x="5989320" y="3514954"/>
            <a:ext cx="2788920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Clean air and clean water keep us healthy.</a:t>
            </a:r>
            <a:endParaRPr lang="en-US" sz="1250" dirty="0"/>
          </a:p>
        </p:txBody>
      </p:sp>
      <p:sp>
        <p:nvSpPr>
          <p:cNvPr id="16" name="bk_170"/>
          <p:cNvSpPr/>
          <p:nvPr/>
        </p:nvSpPr>
        <p:spPr>
          <a:xfrm>
            <a:off x="228600" y="4681728"/>
            <a:ext cx="2647188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Pupil's Book p.12 · 🎧 1.18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171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GAME</a:t>
            </a:r>
            <a:endParaRPr lang="en-US" sz="1600" dirty="0"/>
          </a:p>
        </p:txBody>
      </p:sp>
      <p:sp>
        <p:nvSpPr>
          <p:cNvPr id="4" name="bm_172"/>
          <p:cNvSpPr/>
          <p:nvPr/>
        </p:nvSpPr>
        <p:spPr>
          <a:xfrm rot="-120000">
            <a:off x="228600" y="493776"/>
            <a:ext cx="457200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ln w="31750">
                  <a:solidFill>
                    <a:srgbClr val="1E2A5A"/>
                  </a:solidFill>
                </a:ln>
                <a:solidFill>
                  <a:srgbClr val="6CCB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True or false? Jump!</a:t>
            </a:r>
            <a:endParaRPr lang="en-US" sz="2400" dirty="0"/>
          </a:p>
        </p:txBody>
      </p:sp>
      <p:sp>
        <p:nvSpPr>
          <p:cNvPr id="5" name="in_173"/>
          <p:cNvSpPr/>
          <p:nvPr/>
        </p:nvSpPr>
        <p:spPr>
          <a:xfrm>
            <a:off x="4937760" y="182880"/>
            <a:ext cx="397764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TRUE? Jump right ➡  FALSE? Jump left ⬅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VERO? Salta a destra. FALSO? A sinistra.</a:t>
            </a:r>
            <a:endParaRPr lang="en-US" sz="1400" dirty="0"/>
          </a:p>
        </p:txBody>
      </p:sp>
      <p:sp>
        <p:nvSpPr>
          <p:cNvPr id="6" name="mode_174"/>
          <p:cNvSpPr/>
          <p:nvPr/>
        </p:nvSpPr>
        <p:spPr>
          <a:xfrm>
            <a:off x="6355080" y="1024128"/>
            <a:ext cx="2560320" cy="246888"/>
          </a:xfrm>
          <a:prstGeom prst="roundRect">
            <a:avLst>
              <a:gd name="adj" fmla="val 44444"/>
            </a:avLst>
          </a:prstGeom>
          <a:solidFill>
            <a:srgbClr val="1E2A5A"/>
          </a:solidFill>
          <a:ln w="19050">
            <a:solidFill>
              <a:srgbClr val="FFD2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🏃 WHOLE CLASS · ⏱ 3 MIN</a:t>
            </a:r>
            <a:endParaRPr lang="en-US" sz="1000" dirty="0"/>
          </a:p>
        </p:txBody>
      </p:sp>
      <p:sp>
        <p:nvSpPr>
          <p:cNvPr id="7" name="pf_175"/>
          <p:cNvSpPr/>
          <p:nvPr/>
        </p:nvSpPr>
        <p:spPr>
          <a:xfrm>
            <a:off x="310896" y="1271016"/>
            <a:ext cx="5230368" cy="3355848"/>
          </a:xfrm>
          <a:prstGeom prst="roundRect">
            <a:avLst>
              <a:gd name="adj" fmla="val 2725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8" name="pic_176" descr="/home/claude/movers/img/crop/u1-p12-glob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2530" y="1325880"/>
            <a:ext cx="3187100" cy="3246120"/>
          </a:xfrm>
          <a:prstGeom prst="rect">
            <a:avLst/>
          </a:prstGeom>
        </p:spPr>
      </p:pic>
      <p:sp>
        <p:nvSpPr>
          <p:cNvPr id="9" name="q_177"/>
          <p:cNvSpPr/>
          <p:nvPr/>
        </p:nvSpPr>
        <p:spPr>
          <a:xfrm>
            <a:off x="5760720" y="1325880"/>
            <a:ext cx="301752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Our planet is called Venus.</a:t>
            </a:r>
            <a:endParaRPr lang="en-US" sz="1250" dirty="0"/>
          </a:p>
        </p:txBody>
      </p:sp>
      <p:sp>
        <p:nvSpPr>
          <p:cNvPr id="10" name="R1_a178"/>
          <p:cNvSpPr/>
          <p:nvPr/>
        </p:nvSpPr>
        <p:spPr>
          <a:xfrm>
            <a:off x="5989320" y="1753819"/>
            <a:ext cx="2788920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FALSE ✗ (Earth!)</a:t>
            </a:r>
            <a:endParaRPr lang="en-US" sz="1250" dirty="0"/>
          </a:p>
        </p:txBody>
      </p:sp>
      <p:sp>
        <p:nvSpPr>
          <p:cNvPr id="11" name="q_179"/>
          <p:cNvSpPr/>
          <p:nvPr/>
        </p:nvSpPr>
        <p:spPr>
          <a:xfrm>
            <a:off x="5760720" y="2148840"/>
            <a:ext cx="301752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Plants and animals need oxygen.</a:t>
            </a:r>
            <a:endParaRPr lang="en-US" sz="1250" dirty="0"/>
          </a:p>
        </p:txBody>
      </p:sp>
      <p:sp>
        <p:nvSpPr>
          <p:cNvPr id="12" name="R2_a180"/>
          <p:cNvSpPr/>
          <p:nvPr/>
        </p:nvSpPr>
        <p:spPr>
          <a:xfrm>
            <a:off x="5989320" y="2576779"/>
            <a:ext cx="2788920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TRUE ✓</a:t>
            </a:r>
            <a:endParaRPr lang="en-US" sz="1250" dirty="0"/>
          </a:p>
        </p:txBody>
      </p:sp>
      <p:sp>
        <p:nvSpPr>
          <p:cNvPr id="13" name="q_181"/>
          <p:cNvSpPr/>
          <p:nvPr/>
        </p:nvSpPr>
        <p:spPr>
          <a:xfrm>
            <a:off x="5760720" y="2971800"/>
            <a:ext cx="301752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There isn't any water on Earth.</a:t>
            </a:r>
            <a:endParaRPr lang="en-US" sz="1250" dirty="0"/>
          </a:p>
        </p:txBody>
      </p:sp>
      <p:sp>
        <p:nvSpPr>
          <p:cNvPr id="14" name="R3_a182"/>
          <p:cNvSpPr/>
          <p:nvPr/>
        </p:nvSpPr>
        <p:spPr>
          <a:xfrm>
            <a:off x="5989320" y="3399739"/>
            <a:ext cx="2788920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FALSE ✗</a:t>
            </a:r>
            <a:endParaRPr lang="en-US" sz="1250" dirty="0"/>
          </a:p>
        </p:txBody>
      </p:sp>
      <p:sp>
        <p:nvSpPr>
          <p:cNvPr id="15" name="q_183"/>
          <p:cNvSpPr/>
          <p:nvPr/>
        </p:nvSpPr>
        <p:spPr>
          <a:xfrm>
            <a:off x="5760720" y="3794760"/>
            <a:ext cx="301752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Clean air keeps us healthy.</a:t>
            </a:r>
            <a:endParaRPr lang="en-US" sz="1250" dirty="0"/>
          </a:p>
        </p:txBody>
      </p:sp>
      <p:sp>
        <p:nvSpPr>
          <p:cNvPr id="16" name="R4_a184"/>
          <p:cNvSpPr/>
          <p:nvPr/>
        </p:nvSpPr>
        <p:spPr>
          <a:xfrm>
            <a:off x="5989320" y="4222699"/>
            <a:ext cx="2788920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TRUE ✓</a:t>
            </a:r>
            <a:endParaRPr lang="en-US" sz="12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185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LISTEN 4</a:t>
            </a:r>
            <a:endParaRPr lang="en-US" sz="1600" dirty="0"/>
          </a:p>
        </p:txBody>
      </p:sp>
      <p:sp>
        <p:nvSpPr>
          <p:cNvPr id="4" name="bm_186"/>
          <p:cNvSpPr/>
          <p:nvPr/>
        </p:nvSpPr>
        <p:spPr>
          <a:xfrm rot="-120000">
            <a:off x="228600" y="493776"/>
            <a:ext cx="393192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Match the ideas</a:t>
            </a:r>
            <a:endParaRPr lang="en-US" sz="2700" dirty="0"/>
          </a:p>
        </p:txBody>
      </p:sp>
      <p:sp>
        <p:nvSpPr>
          <p:cNvPr id="5" name="in_187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Match first! Then listen and check.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Prima abbina! Poi ascolta e controlla.</a:t>
            </a:r>
            <a:endParaRPr lang="en-US" sz="1400" dirty="0"/>
          </a:p>
        </p:txBody>
      </p:sp>
      <p:sp>
        <p:nvSpPr>
          <p:cNvPr id="6" name="mode_188"/>
          <p:cNvSpPr/>
          <p:nvPr/>
        </p:nvSpPr>
        <p:spPr>
          <a:xfrm>
            <a:off x="6355080" y="1024128"/>
            <a:ext cx="2560320" cy="246888"/>
          </a:xfrm>
          <a:prstGeom prst="roundRect">
            <a:avLst>
              <a:gd name="adj" fmla="val 44444"/>
            </a:avLst>
          </a:prstGeom>
          <a:solidFill>
            <a:srgbClr val="1E2A5A"/>
          </a:solidFill>
          <a:ln w="19050">
            <a:solidFill>
              <a:srgbClr val="FFD2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👤 ALONE · ⏱ 5 MIN</a:t>
            </a:r>
            <a:endParaRPr lang="en-US" sz="1000" dirty="0"/>
          </a:p>
        </p:txBody>
      </p:sp>
      <p:sp>
        <p:nvSpPr>
          <p:cNvPr id="7" name="pf_189"/>
          <p:cNvSpPr/>
          <p:nvPr/>
        </p:nvSpPr>
        <p:spPr>
          <a:xfrm>
            <a:off x="310896" y="1271016"/>
            <a:ext cx="5230368" cy="3355848"/>
          </a:xfrm>
          <a:prstGeom prst="roundRect">
            <a:avLst>
              <a:gd name="adj" fmla="val 2725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8" name="pic_190" descr="/home/claude/movers/img/crop/u1-p13-ideas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517679"/>
            <a:ext cx="5120640" cy="2862522"/>
          </a:xfrm>
          <a:prstGeom prst="rect">
            <a:avLst/>
          </a:prstGeom>
        </p:spPr>
      </p:pic>
      <p:sp>
        <p:nvSpPr>
          <p:cNvPr id="9" name="q_191"/>
          <p:cNvSpPr/>
          <p:nvPr/>
        </p:nvSpPr>
        <p:spPr>
          <a:xfrm>
            <a:off x="5760720" y="1325880"/>
            <a:ext cx="3017520" cy="34235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  </a:t>
            </a:r>
            <a:pPr indent="0" marL="0">
              <a:buNone/>
            </a:pPr>
            <a:r>
              <a:rPr lang="en-US" sz="10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Turn off the tap when you clean your teeth.</a:t>
            </a:r>
            <a:endParaRPr lang="en-US" sz="1050" dirty="0"/>
          </a:p>
        </p:txBody>
      </p:sp>
      <p:sp>
        <p:nvSpPr>
          <p:cNvPr id="10" name="R1_a192"/>
          <p:cNvSpPr/>
          <p:nvPr/>
        </p:nvSpPr>
        <p:spPr>
          <a:xfrm>
            <a:off x="5989320" y="1668231"/>
            <a:ext cx="2788920" cy="3028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d (example)</a:t>
            </a:r>
            <a:endParaRPr lang="en-US" sz="1250" dirty="0"/>
          </a:p>
        </p:txBody>
      </p:sp>
      <p:sp>
        <p:nvSpPr>
          <p:cNvPr id="11" name="q_193"/>
          <p:cNvSpPr/>
          <p:nvPr/>
        </p:nvSpPr>
        <p:spPr>
          <a:xfrm>
            <a:off x="5760720" y="1984248"/>
            <a:ext cx="3017520" cy="34235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  </a:t>
            </a:r>
            <a:pPr indent="0" marL="0">
              <a:buNone/>
            </a:pPr>
            <a:r>
              <a:rPr lang="en-US" sz="10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Have a shower and not a bath. Save water!</a:t>
            </a:r>
            <a:endParaRPr lang="en-US" sz="1050" dirty="0"/>
          </a:p>
        </p:txBody>
      </p:sp>
      <p:sp>
        <p:nvSpPr>
          <p:cNvPr id="12" name="R2_a194"/>
          <p:cNvSpPr/>
          <p:nvPr/>
        </p:nvSpPr>
        <p:spPr>
          <a:xfrm>
            <a:off x="5989320" y="2326599"/>
            <a:ext cx="2788920" cy="3028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</a:t>
            </a:r>
            <a:endParaRPr lang="en-US" sz="1250" dirty="0"/>
          </a:p>
        </p:txBody>
      </p:sp>
      <p:sp>
        <p:nvSpPr>
          <p:cNvPr id="13" name="q_195"/>
          <p:cNvSpPr/>
          <p:nvPr/>
        </p:nvSpPr>
        <p:spPr>
          <a:xfrm>
            <a:off x="5760720" y="2642616"/>
            <a:ext cx="3017520" cy="34235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  </a:t>
            </a:r>
            <a:pPr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Turn off the lights when you go out.</a:t>
            </a:r>
            <a:endParaRPr lang="en-US" sz="1200" dirty="0"/>
          </a:p>
        </p:txBody>
      </p:sp>
      <p:sp>
        <p:nvSpPr>
          <p:cNvPr id="14" name="R3_a196"/>
          <p:cNvSpPr/>
          <p:nvPr/>
        </p:nvSpPr>
        <p:spPr>
          <a:xfrm>
            <a:off x="5989320" y="2984967"/>
            <a:ext cx="2788920" cy="3028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e</a:t>
            </a:r>
            <a:endParaRPr lang="en-US" sz="1250" dirty="0"/>
          </a:p>
        </p:txBody>
      </p:sp>
      <p:sp>
        <p:nvSpPr>
          <p:cNvPr id="15" name="q_197"/>
          <p:cNvSpPr/>
          <p:nvPr/>
        </p:nvSpPr>
        <p:spPr>
          <a:xfrm>
            <a:off x="5760720" y="3300984"/>
            <a:ext cx="3017520" cy="34235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Recycle paper, glass and plastic.</a:t>
            </a:r>
            <a:endParaRPr lang="en-US" sz="1250" dirty="0"/>
          </a:p>
        </p:txBody>
      </p:sp>
      <p:sp>
        <p:nvSpPr>
          <p:cNvPr id="16" name="R4_a198"/>
          <p:cNvSpPr/>
          <p:nvPr/>
        </p:nvSpPr>
        <p:spPr>
          <a:xfrm>
            <a:off x="5989320" y="3643335"/>
            <a:ext cx="2788920" cy="3028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</a:t>
            </a:r>
            <a:endParaRPr lang="en-US" sz="1250" dirty="0"/>
          </a:p>
        </p:txBody>
      </p:sp>
      <p:sp>
        <p:nvSpPr>
          <p:cNvPr id="17" name="q_199"/>
          <p:cNvSpPr/>
          <p:nvPr/>
        </p:nvSpPr>
        <p:spPr>
          <a:xfrm>
            <a:off x="5760720" y="3959352"/>
            <a:ext cx="3017520" cy="34235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Don't use new plastic bags.</a:t>
            </a:r>
            <a:endParaRPr lang="en-US" sz="1250" dirty="0"/>
          </a:p>
        </p:txBody>
      </p:sp>
      <p:sp>
        <p:nvSpPr>
          <p:cNvPr id="18" name="R5_a200"/>
          <p:cNvSpPr/>
          <p:nvPr/>
        </p:nvSpPr>
        <p:spPr>
          <a:xfrm>
            <a:off x="5989320" y="4301703"/>
            <a:ext cx="2788920" cy="3028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</a:t>
            </a:r>
            <a:endParaRPr lang="en-US" sz="1250" dirty="0"/>
          </a:p>
        </p:txBody>
      </p:sp>
      <p:sp>
        <p:nvSpPr>
          <p:cNvPr id="19" name="bk_201"/>
          <p:cNvSpPr/>
          <p:nvPr/>
        </p:nvSpPr>
        <p:spPr>
          <a:xfrm>
            <a:off x="228600" y="4681728"/>
            <a:ext cx="2647188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Pupil's Book p.13 · 🎧 1.19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202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WATCH OUT 🇮🇹</a:t>
            </a:r>
            <a:endParaRPr lang="en-US" sz="1600" dirty="0"/>
          </a:p>
        </p:txBody>
      </p:sp>
      <p:sp>
        <p:nvSpPr>
          <p:cNvPr id="4" name="bm_203"/>
          <p:cNvSpPr/>
          <p:nvPr/>
        </p:nvSpPr>
        <p:spPr>
          <a:xfrm rot="-120000">
            <a:off x="228600" y="493776"/>
            <a:ext cx="393192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ln w="31750">
                  <a:solidFill>
                    <a:srgbClr val="1E2A5A"/>
                  </a:solidFill>
                </a:ln>
                <a:solidFill>
                  <a:srgbClr val="FF8A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Open the light?</a:t>
            </a:r>
            <a:endParaRPr lang="en-US" sz="2700" dirty="0"/>
          </a:p>
        </p:txBody>
      </p:sp>
      <p:sp>
        <p:nvSpPr>
          <p:cNvPr id="5" name="in_204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Robot mistakes! Fix them with your partner.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Errori del robot! Correggili con il compagno.</a:t>
            </a:r>
            <a:endParaRPr lang="en-US" sz="1400" dirty="0"/>
          </a:p>
        </p:txBody>
      </p:sp>
      <p:sp>
        <p:nvSpPr>
          <p:cNvPr id="6" name="mode_205"/>
          <p:cNvSpPr/>
          <p:nvPr/>
        </p:nvSpPr>
        <p:spPr>
          <a:xfrm>
            <a:off x="6355080" y="1024128"/>
            <a:ext cx="2560320" cy="246888"/>
          </a:xfrm>
          <a:prstGeom prst="roundRect">
            <a:avLst>
              <a:gd name="adj" fmla="val 44444"/>
            </a:avLst>
          </a:prstGeom>
          <a:solidFill>
            <a:srgbClr val="1E2A5A"/>
          </a:solidFill>
          <a:ln w="19050">
            <a:solidFill>
              <a:srgbClr val="FFD2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👥 PAIRS · ⏱ 2 MIN</a:t>
            </a:r>
            <a:endParaRPr lang="en-US" sz="1000" dirty="0"/>
          </a:p>
        </p:txBody>
      </p:sp>
      <p:sp>
        <p:nvSpPr>
          <p:cNvPr id="7" name="gb_206"/>
          <p:cNvSpPr/>
          <p:nvPr/>
        </p:nvSpPr>
        <p:spPr>
          <a:xfrm>
            <a:off x="320040" y="1280160"/>
            <a:ext cx="8503920" cy="841248"/>
          </a:xfrm>
          <a:prstGeom prst="roundRect">
            <a:avLst>
              <a:gd name="adj" fmla="val 13043"/>
            </a:avLst>
          </a:prstGeom>
          <a:solidFill>
            <a:srgbClr val="FFF1E0"/>
          </a:solidFill>
          <a:ln w="38100">
            <a:solidFill>
              <a:srgbClr val="FF8A3D"/>
            </a:solidFill>
            <a:prstDash val="solid"/>
          </a:ln>
        </p:spPr>
      </p:sp>
      <p:sp>
        <p:nvSpPr>
          <p:cNvPr id="8" name="gl_207"/>
          <p:cNvSpPr/>
          <p:nvPr/>
        </p:nvSpPr>
        <p:spPr>
          <a:xfrm>
            <a:off x="548640" y="141732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🇮🇹 accendere / spegnere la luce  →  🇬🇧 </a:t>
            </a:r>
            <a:pPr indent="0" marL="0">
              <a:buNone/>
            </a:pPr>
            <a:r>
              <a:rPr lang="en-US" sz="1500" b="1" dirty="0">
                <a:solidFill>
                  <a:srgbClr val="F2545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turn on</a:t>
            </a:r>
            <a:pPr indent="0" marL="0">
              <a:buNone/>
            </a:pPr>
            <a:r>
              <a:rPr lang="en-US" sz="15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/ </a:t>
            </a:r>
            <a:pPr indent="0" marL="0">
              <a:buNone/>
            </a:pPr>
            <a:r>
              <a:rPr lang="en-US" sz="1500" b="1" dirty="0">
                <a:solidFill>
                  <a:srgbClr val="F2545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turn off</a:t>
            </a:r>
            <a:pPr indent="0" marL="0">
              <a:buNone/>
            </a:pPr>
            <a:r>
              <a:rPr lang="en-US" sz="15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the light</a:t>
            </a:r>
            <a:endParaRPr lang="en-US" sz="1500" dirty="0"/>
          </a:p>
        </p:txBody>
      </p:sp>
      <p:sp>
        <p:nvSpPr>
          <p:cNvPr id="9" name="pq_208"/>
          <p:cNvSpPr/>
          <p:nvPr/>
        </p:nvSpPr>
        <p:spPr>
          <a:xfrm>
            <a:off x="365760" y="2258568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  </a:t>
            </a:r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🤖 Open the light, please!</a:t>
            </a:r>
            <a:endParaRPr lang="en-US" sz="1300" dirty="0"/>
          </a:p>
        </p:txBody>
      </p:sp>
      <p:sp>
        <p:nvSpPr>
          <p:cNvPr id="10" name="R1_pa209"/>
          <p:cNvSpPr/>
          <p:nvPr/>
        </p:nvSpPr>
        <p:spPr>
          <a:xfrm>
            <a:off x="6126480" y="225856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Turn on the light, please!</a:t>
            </a:r>
            <a:endParaRPr lang="en-US" sz="1300" dirty="0"/>
          </a:p>
        </p:txBody>
      </p:sp>
      <p:sp>
        <p:nvSpPr>
          <p:cNvPr id="11" name="pq_210"/>
          <p:cNvSpPr/>
          <p:nvPr/>
        </p:nvSpPr>
        <p:spPr>
          <a:xfrm>
            <a:off x="365760" y="2715768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  </a:t>
            </a:r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🤖 Close the tap!</a:t>
            </a:r>
            <a:endParaRPr lang="en-US" sz="1300" dirty="0"/>
          </a:p>
        </p:txBody>
      </p:sp>
      <p:sp>
        <p:nvSpPr>
          <p:cNvPr id="12" name="R2_pa211"/>
          <p:cNvSpPr/>
          <p:nvPr/>
        </p:nvSpPr>
        <p:spPr>
          <a:xfrm>
            <a:off x="6126480" y="271576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Turn off the tap!</a:t>
            </a:r>
            <a:endParaRPr lang="en-US" sz="1300" dirty="0"/>
          </a:p>
        </p:txBody>
      </p:sp>
      <p:sp>
        <p:nvSpPr>
          <p:cNvPr id="13" name="pq_212"/>
          <p:cNvSpPr/>
          <p:nvPr/>
        </p:nvSpPr>
        <p:spPr>
          <a:xfrm>
            <a:off x="365760" y="3172968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  </a:t>
            </a:r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🤖 I close the TV at 9.</a:t>
            </a:r>
            <a:endParaRPr lang="en-US" sz="1300" dirty="0"/>
          </a:p>
        </p:txBody>
      </p:sp>
      <p:sp>
        <p:nvSpPr>
          <p:cNvPr id="14" name="R3_pa213"/>
          <p:cNvSpPr/>
          <p:nvPr/>
        </p:nvSpPr>
        <p:spPr>
          <a:xfrm>
            <a:off x="6126480" y="317296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I turn off the TV at 9.</a:t>
            </a:r>
            <a:endParaRPr lang="en-US" sz="13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214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SPEAK 5</a:t>
            </a:r>
            <a:endParaRPr lang="en-US" sz="1600" dirty="0"/>
          </a:p>
        </p:txBody>
      </p:sp>
      <p:sp>
        <p:nvSpPr>
          <p:cNvPr id="4" name="bm_215"/>
          <p:cNvSpPr/>
          <p:nvPr/>
        </p:nvSpPr>
        <p:spPr>
          <a:xfrm rot="-120000">
            <a:off x="228600" y="493776"/>
            <a:ext cx="393192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ln w="31750">
                  <a:solidFill>
                    <a:srgbClr val="1E2A5A"/>
                  </a:solidFill>
                </a:ln>
                <a:solidFill>
                  <a:srgbClr val="FF5DA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Rank it!</a:t>
            </a:r>
            <a:endParaRPr lang="en-US" sz="3200" dirty="0"/>
          </a:p>
        </p:txBody>
      </p:sp>
      <p:sp>
        <p:nvSpPr>
          <p:cNvPr id="5" name="in_216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Easy → hard. What do YOU do? Tell your partner.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Facile → difficile. Cosa fai TU? Dillo al compagno.</a:t>
            </a:r>
            <a:endParaRPr lang="en-US" sz="1400" dirty="0"/>
          </a:p>
        </p:txBody>
      </p:sp>
      <p:sp>
        <p:nvSpPr>
          <p:cNvPr id="6" name="mode_217"/>
          <p:cNvSpPr/>
          <p:nvPr/>
        </p:nvSpPr>
        <p:spPr>
          <a:xfrm>
            <a:off x="6355080" y="1024128"/>
            <a:ext cx="2560320" cy="246888"/>
          </a:xfrm>
          <a:prstGeom prst="roundRect">
            <a:avLst>
              <a:gd name="adj" fmla="val 44444"/>
            </a:avLst>
          </a:prstGeom>
          <a:solidFill>
            <a:srgbClr val="1E2A5A"/>
          </a:solidFill>
          <a:ln w="19050">
            <a:solidFill>
              <a:srgbClr val="FFD2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👥 PAIRS · ⏱ 5 MIN</a:t>
            </a:r>
            <a:endParaRPr lang="en-US" sz="1000" dirty="0"/>
          </a:p>
        </p:txBody>
      </p:sp>
      <p:sp>
        <p:nvSpPr>
          <p:cNvPr id="7" name="diff_218"/>
          <p:cNvSpPr/>
          <p:nvPr/>
        </p:nvSpPr>
        <p:spPr>
          <a:xfrm>
            <a:off x="4343400" y="4681728"/>
            <a:ext cx="2240280" cy="329184"/>
          </a:xfrm>
          <a:prstGeom prst="roundRect">
            <a:avLst>
              <a:gd name="adj" fmla="val 38889"/>
            </a:avLst>
          </a:prstGeom>
          <a:solidFill>
            <a:srgbClr val="FFFFFF"/>
          </a:solidFill>
          <a:ln w="25400">
            <a:solidFill>
              <a:srgbClr val="FFD23F"/>
            </a:solidFill>
          </a:ln>
        </p:spPr>
        <p:txBody>
          <a:bodyPr wrap="square" lIns="50800" tIns="50800" rIns="50800" bIns="5080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⭐ I recycle … · I turn off …</a:t>
            </a:r>
            <a:endParaRPr lang="en-US" sz="950" dirty="0"/>
          </a:p>
        </p:txBody>
      </p:sp>
      <p:sp>
        <p:nvSpPr>
          <p:cNvPr id="8" name="diff_219"/>
          <p:cNvSpPr/>
          <p:nvPr/>
        </p:nvSpPr>
        <p:spPr>
          <a:xfrm>
            <a:off x="6675120" y="4681728"/>
            <a:ext cx="2240280" cy="329184"/>
          </a:xfrm>
          <a:prstGeom prst="roundRect">
            <a:avLst>
              <a:gd name="adj" fmla="val 38889"/>
            </a:avLst>
          </a:prstGeom>
          <a:solidFill>
            <a:srgbClr val="FFFFFF"/>
          </a:solidFill>
          <a:ln w="25400">
            <a:solidFill>
              <a:srgbClr val="F2545B"/>
            </a:solidFill>
          </a:ln>
        </p:spPr>
        <p:txBody>
          <a:bodyPr wrap="square" lIns="50800" tIns="50800" rIns="50800" bIns="5080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🔥 What would an alien do?</a:t>
            </a:r>
            <a:endParaRPr lang="en-US" sz="950" dirty="0"/>
          </a:p>
        </p:txBody>
      </p:sp>
      <p:sp>
        <p:nvSpPr>
          <p:cNvPr id="9" name="st_220"/>
          <p:cNvSpPr/>
          <p:nvPr/>
        </p:nvSpPr>
        <p:spPr>
          <a:xfrm>
            <a:off x="228600" y="1325880"/>
            <a:ext cx="2651760" cy="97536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8000"/>
              </a:srgbClr>
            </a:outerShdw>
          </a:effectLst>
        </p:spPr>
      </p:sp>
      <p:sp>
        <p:nvSpPr>
          <p:cNvPr id="10" name="sn_221"/>
          <p:cNvSpPr/>
          <p:nvPr/>
        </p:nvSpPr>
        <p:spPr>
          <a:xfrm>
            <a:off x="118872" y="1216152"/>
            <a:ext cx="384048" cy="384048"/>
          </a:xfrm>
          <a:prstGeom prst="ellipse">
            <a:avLst/>
          </a:prstGeom>
          <a:solidFill>
            <a:srgbClr val="FFD23F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sk_222"/>
          <p:cNvSpPr/>
          <p:nvPr/>
        </p:nvSpPr>
        <p:spPr>
          <a:xfrm>
            <a:off x="521208" y="136245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📖 READ</a:t>
            </a:r>
            <a:endParaRPr lang="en-US" sz="1300" dirty="0"/>
          </a:p>
        </p:txBody>
      </p:sp>
      <p:sp>
        <p:nvSpPr>
          <p:cNvPr id="12" name="se_223"/>
          <p:cNvSpPr/>
          <p:nvPr/>
        </p:nvSpPr>
        <p:spPr>
          <a:xfrm>
            <a:off x="338328" y="1655064"/>
            <a:ext cx="24688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at the 4 ideas.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Guarda le 4 idee.</a:t>
            </a:r>
            <a:endParaRPr lang="en-US" sz="1050" dirty="0"/>
          </a:p>
        </p:txBody>
      </p:sp>
      <p:sp>
        <p:nvSpPr>
          <p:cNvPr id="13" name="st_224"/>
          <p:cNvSpPr/>
          <p:nvPr/>
        </p:nvSpPr>
        <p:spPr>
          <a:xfrm>
            <a:off x="228600" y="2392680"/>
            <a:ext cx="2651760" cy="97536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38100">
            <a:solidFill>
              <a:srgbClr val="6CCB3B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8000"/>
              </a:srgbClr>
            </a:outerShdw>
          </a:effectLst>
        </p:spPr>
      </p:sp>
      <p:sp>
        <p:nvSpPr>
          <p:cNvPr id="14" name="sn_225"/>
          <p:cNvSpPr/>
          <p:nvPr/>
        </p:nvSpPr>
        <p:spPr>
          <a:xfrm>
            <a:off x="118872" y="2282952"/>
            <a:ext cx="384048" cy="384048"/>
          </a:xfrm>
          <a:prstGeom prst="ellipse">
            <a:avLst/>
          </a:prstGeom>
          <a:solidFill>
            <a:srgbClr val="6CCB3B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sk_226"/>
          <p:cNvSpPr/>
          <p:nvPr/>
        </p:nvSpPr>
        <p:spPr>
          <a:xfrm>
            <a:off x="521208" y="242925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⚙️ DO</a:t>
            </a:r>
            <a:endParaRPr lang="en-US" sz="1300" dirty="0"/>
          </a:p>
        </p:txBody>
      </p:sp>
      <p:sp>
        <p:nvSpPr>
          <p:cNvPr id="16" name="se_227"/>
          <p:cNvSpPr/>
          <p:nvPr/>
        </p:nvSpPr>
        <p:spPr>
          <a:xfrm>
            <a:off x="338328" y="2721864"/>
            <a:ext cx="24688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them: easy → hard.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Ordinale: facile → difficile.</a:t>
            </a:r>
            <a:endParaRPr lang="en-US" sz="1050" dirty="0"/>
          </a:p>
        </p:txBody>
      </p:sp>
      <p:sp>
        <p:nvSpPr>
          <p:cNvPr id="17" name="st_228"/>
          <p:cNvSpPr/>
          <p:nvPr/>
        </p:nvSpPr>
        <p:spPr>
          <a:xfrm>
            <a:off x="228600" y="3459480"/>
            <a:ext cx="2651760" cy="97536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38100">
            <a:solidFill>
              <a:srgbClr val="FF5DA2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8000"/>
              </a:srgbClr>
            </a:outerShdw>
          </a:effectLst>
        </p:spPr>
      </p:sp>
      <p:sp>
        <p:nvSpPr>
          <p:cNvPr id="18" name="sn_229"/>
          <p:cNvSpPr/>
          <p:nvPr/>
        </p:nvSpPr>
        <p:spPr>
          <a:xfrm>
            <a:off x="118872" y="3349752"/>
            <a:ext cx="384048" cy="384048"/>
          </a:xfrm>
          <a:prstGeom prst="ellipse">
            <a:avLst/>
          </a:prstGeom>
          <a:solidFill>
            <a:srgbClr val="FF5DA2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sk_230"/>
          <p:cNvSpPr/>
          <p:nvPr/>
        </p:nvSpPr>
        <p:spPr>
          <a:xfrm>
            <a:off x="521208" y="349605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💬 SPEAK</a:t>
            </a:r>
            <a:endParaRPr lang="en-US" sz="1300" dirty="0"/>
          </a:p>
        </p:txBody>
      </p:sp>
      <p:sp>
        <p:nvSpPr>
          <p:cNvPr id="20" name="se_231"/>
          <p:cNvSpPr/>
          <p:nvPr/>
        </p:nvSpPr>
        <p:spPr>
          <a:xfrm>
            <a:off x="338328" y="3788664"/>
            <a:ext cx="24688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Tell your partner what you do.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Di' al compagno cosa fai.</a:t>
            </a:r>
            <a:endParaRPr lang="en-US" sz="1050" dirty="0"/>
          </a:p>
        </p:txBody>
      </p:sp>
      <p:sp>
        <p:nvSpPr>
          <p:cNvPr id="21" name="cd_232"/>
          <p:cNvSpPr/>
          <p:nvPr/>
        </p:nvSpPr>
        <p:spPr>
          <a:xfrm>
            <a:off x="3108960" y="1325880"/>
            <a:ext cx="13258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2" name="ci_233" descr="/home/claude/movers/img/e-u1-t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2112" y="1399032"/>
            <a:ext cx="1179576" cy="1179576"/>
          </a:xfrm>
          <a:prstGeom prst="rect">
            <a:avLst/>
          </a:prstGeom>
        </p:spPr>
      </p:pic>
      <p:sp>
        <p:nvSpPr>
          <p:cNvPr id="23" name="cd_234"/>
          <p:cNvSpPr/>
          <p:nvPr/>
        </p:nvSpPr>
        <p:spPr>
          <a:xfrm>
            <a:off x="4572000" y="1325880"/>
            <a:ext cx="13258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4" name="ci_235" descr="/home/claude/movers/img/e-u1-ligh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5152" y="1399032"/>
            <a:ext cx="1179576" cy="1179576"/>
          </a:xfrm>
          <a:prstGeom prst="rect">
            <a:avLst/>
          </a:prstGeom>
        </p:spPr>
      </p:pic>
      <p:sp>
        <p:nvSpPr>
          <p:cNvPr id="25" name="cd_236"/>
          <p:cNvSpPr/>
          <p:nvPr/>
        </p:nvSpPr>
        <p:spPr>
          <a:xfrm>
            <a:off x="6035040" y="1325880"/>
            <a:ext cx="13258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6" name="ci_237" descr="/home/claude/movers/img/crop/u1-p13-bins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8192" y="1399032"/>
            <a:ext cx="1179576" cy="1179576"/>
          </a:xfrm>
          <a:prstGeom prst="rect">
            <a:avLst/>
          </a:prstGeom>
        </p:spPr>
      </p:pic>
      <p:sp>
        <p:nvSpPr>
          <p:cNvPr id="27" name="cd_238"/>
          <p:cNvSpPr/>
          <p:nvPr/>
        </p:nvSpPr>
        <p:spPr>
          <a:xfrm>
            <a:off x="7498080" y="1325880"/>
            <a:ext cx="13258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8" name="ci_239" descr="/home/claude/movers/img/crop/u1-ab13-bags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71232" y="1399032"/>
            <a:ext cx="1179576" cy="1179576"/>
          </a:xfrm>
          <a:prstGeom prst="rect">
            <a:avLst/>
          </a:prstGeom>
        </p:spPr>
      </p:pic>
      <p:sp>
        <p:nvSpPr>
          <p:cNvPr id="29" name="gl_240"/>
          <p:cNvSpPr/>
          <p:nvPr/>
        </p:nvSpPr>
        <p:spPr>
          <a:xfrm>
            <a:off x="3108960" y="3657600"/>
            <a:ext cx="571500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600"/>
              </a:spcAft>
              <a:buSzPct val="100000"/>
              <a:buChar char="⭐"/>
            </a:pPr>
            <a:r>
              <a:rPr lang="en-US" sz="14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We recycle paper, glass and plastic. I have showers.</a:t>
            </a:r>
            <a:endParaRPr lang="en-US" sz="1400" dirty="0"/>
          </a:p>
        </p:txBody>
      </p:sp>
      <p:sp>
        <p:nvSpPr>
          <p:cNvPr id="30" name="bk_241"/>
          <p:cNvSpPr/>
          <p:nvPr/>
        </p:nvSpPr>
        <p:spPr>
          <a:xfrm>
            <a:off x="228600" y="4681728"/>
            <a:ext cx="1869948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Pupil's Book p.13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242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MISSION 3</a:t>
            </a:r>
            <a:endParaRPr lang="en-US" sz="1600" dirty="0"/>
          </a:p>
        </p:txBody>
      </p:sp>
      <p:sp>
        <p:nvSpPr>
          <p:cNvPr id="4" name="bm_243"/>
          <p:cNvSpPr/>
          <p:nvPr/>
        </p:nvSpPr>
        <p:spPr>
          <a:xfrm rot="-120000">
            <a:off x="228600" y="493776"/>
            <a:ext cx="393192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'Think' bubbles</a:t>
            </a:r>
            <a:endParaRPr lang="en-US" sz="2700" dirty="0"/>
          </a:p>
        </p:txBody>
      </p:sp>
      <p:sp>
        <p:nvSpPr>
          <p:cNvPr id="5" name="in_244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Mission Stage 3: write 'Think' bubbles for our planet.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Missione fase 3: scrivi le nuvolette 'Think'.</a:t>
            </a:r>
            <a:endParaRPr lang="en-US" sz="1400" dirty="0"/>
          </a:p>
        </p:txBody>
      </p:sp>
      <p:sp>
        <p:nvSpPr>
          <p:cNvPr id="6" name="mode_245"/>
          <p:cNvSpPr/>
          <p:nvPr/>
        </p:nvSpPr>
        <p:spPr>
          <a:xfrm>
            <a:off x="6355080" y="1024128"/>
            <a:ext cx="2560320" cy="246888"/>
          </a:xfrm>
          <a:prstGeom prst="roundRect">
            <a:avLst>
              <a:gd name="adj" fmla="val 44444"/>
            </a:avLst>
          </a:prstGeom>
          <a:solidFill>
            <a:srgbClr val="1E2A5A"/>
          </a:solidFill>
          <a:ln w="19050">
            <a:solidFill>
              <a:srgbClr val="FFD2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✍ ALONE · ⏱ 8 MIN</a:t>
            </a:r>
            <a:endParaRPr lang="en-US" sz="1000" dirty="0"/>
          </a:p>
        </p:txBody>
      </p:sp>
      <p:sp>
        <p:nvSpPr>
          <p:cNvPr id="7" name="diff_246"/>
          <p:cNvSpPr/>
          <p:nvPr/>
        </p:nvSpPr>
        <p:spPr>
          <a:xfrm>
            <a:off x="4343400" y="4681728"/>
            <a:ext cx="4572000" cy="329184"/>
          </a:xfrm>
          <a:prstGeom prst="roundRect">
            <a:avLst>
              <a:gd name="adj" fmla="val 38889"/>
            </a:avLst>
          </a:prstGeom>
          <a:solidFill>
            <a:srgbClr val="FFFFFF"/>
          </a:solidFill>
          <a:ln w="25400">
            <a:solidFill>
              <a:srgbClr val="FFD23F"/>
            </a:solidFill>
          </a:ln>
        </p:spPr>
        <p:txBody>
          <a:bodyPr wrap="square" lIns="50800" tIns="50800" rIns="50800" bIns="5080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⭐ I … when I …</a:t>
            </a:r>
            <a:endParaRPr lang="en-US" sz="950" dirty="0"/>
          </a:p>
        </p:txBody>
      </p:sp>
      <p:sp>
        <p:nvSpPr>
          <p:cNvPr id="8" name="pf_247"/>
          <p:cNvSpPr/>
          <p:nvPr/>
        </p:nvSpPr>
        <p:spPr>
          <a:xfrm>
            <a:off x="310896" y="1271016"/>
            <a:ext cx="8522208" cy="3355848"/>
          </a:xfrm>
          <a:prstGeom prst="roundRect">
            <a:avLst>
              <a:gd name="adj" fmla="val 2725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9" name="pic_248" descr="/home/claude/movers/img/crop/u1-p13-mission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802" y="1325880"/>
            <a:ext cx="7842396" cy="3246120"/>
          </a:xfrm>
          <a:prstGeom prst="rect">
            <a:avLst/>
          </a:prstGeom>
        </p:spPr>
      </p:pic>
      <p:sp>
        <p:nvSpPr>
          <p:cNvPr id="10" name="bk_249"/>
          <p:cNvSpPr/>
          <p:nvPr/>
        </p:nvSpPr>
        <p:spPr>
          <a:xfrm>
            <a:off x="228600" y="4681728"/>
            <a:ext cx="4023360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Pupil's Book p.13 · Activity Book p.6 (My mission diary)</a:t>
            </a:r>
            <a:endParaRPr lang="en-US" sz="1000" dirty="0"/>
          </a:p>
        </p:txBody>
      </p:sp>
    </p:spTree>
  </p:cSld>
  <p:clrMapOvr>
    <a:masterClrMapping/>
  </p:clrMapOvr>
  <p:transition spd="med">
    <p:push dir="l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250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WELL DONE!</a:t>
            </a:r>
            <a:endParaRPr lang="en-US" sz="1600" dirty="0"/>
          </a:p>
        </p:txBody>
      </p:sp>
      <p:sp>
        <p:nvSpPr>
          <p:cNvPr id="4" name="bm_251"/>
          <p:cNvSpPr/>
          <p:nvPr/>
        </p:nvSpPr>
        <p:spPr>
          <a:xfrm rot="-120000">
            <a:off x="228600" y="493776"/>
            <a:ext cx="384048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Bye bye! 👋</a:t>
            </a:r>
            <a:endParaRPr lang="en-US" sz="3200" dirty="0"/>
          </a:p>
        </p:txBody>
      </p:sp>
      <p:sp>
        <p:nvSpPr>
          <p:cNvPr id="5" name="in_252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Today I can… · Oggi so…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Show me with your thumbs! 👍 👌 👎</a:t>
            </a:r>
            <a:endParaRPr lang="en-US" sz="1400" dirty="0"/>
          </a:p>
        </p:txBody>
      </p:sp>
      <p:sp>
        <p:nvSpPr>
          <p:cNvPr id="6" name="can_253"/>
          <p:cNvSpPr/>
          <p:nvPr/>
        </p:nvSpPr>
        <p:spPr>
          <a:xfrm>
            <a:off x="320040" y="1325880"/>
            <a:ext cx="475488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31750">
            <a:solidFill>
              <a:srgbClr val="6CCB3B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⭐ </a:t>
            </a:r>
            <a:pPr indent="0" marL="0">
              <a:buNone/>
            </a:pPr>
            <a:r>
              <a:rPr lang="en-US" sz="13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I can say what plants and animals need.</a:t>
            </a:r>
            <a:endParaRPr lang="en-US" sz="1300" dirty="0"/>
          </a:p>
          <a:p>
            <a:pPr indent="0" marL="0">
              <a:buNone/>
            </a:pPr>
            <a:r>
              <a:rPr lang="en-US" sz="11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So dire di cosa hanno bisogno piante e animali.</a:t>
            </a:r>
            <a:endParaRPr lang="en-US" sz="1300" dirty="0"/>
          </a:p>
        </p:txBody>
      </p:sp>
      <p:sp>
        <p:nvSpPr>
          <p:cNvPr id="7" name="can_254"/>
          <p:cNvSpPr/>
          <p:nvPr/>
        </p:nvSpPr>
        <p:spPr>
          <a:xfrm>
            <a:off x="320040" y="2057400"/>
            <a:ext cx="475488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31750">
            <a:solidFill>
              <a:srgbClr val="6CCB3B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⭐ </a:t>
            </a:r>
            <a:pPr indent="0" marL="0">
              <a:buNone/>
            </a:pPr>
            <a:r>
              <a:rPr lang="en-US" sz="13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I can say: turn off the light (not close!).</a:t>
            </a:r>
            <a:endParaRPr lang="en-US" sz="1300" dirty="0"/>
          </a:p>
          <a:p>
            <a:pPr indent="0" marL="0">
              <a:buNone/>
            </a:pPr>
            <a:r>
              <a:rPr lang="en-US" sz="11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So dire turn off the light.</a:t>
            </a:r>
            <a:endParaRPr lang="en-US" sz="1300" dirty="0"/>
          </a:p>
        </p:txBody>
      </p:sp>
      <p:sp>
        <p:nvSpPr>
          <p:cNvPr id="8" name="can_255"/>
          <p:cNvSpPr/>
          <p:nvPr/>
        </p:nvSpPr>
        <p:spPr>
          <a:xfrm>
            <a:off x="320040" y="2788920"/>
            <a:ext cx="475488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31750">
            <a:solidFill>
              <a:srgbClr val="6CCB3B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⭐ </a:t>
            </a:r>
            <a:pPr indent="0" marL="0">
              <a:buNone/>
            </a:pPr>
            <a:r>
              <a:rPr lang="en-US" sz="13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I can write a 'Think' bubble.</a:t>
            </a:r>
            <a:endParaRPr lang="en-US" sz="1300" dirty="0"/>
          </a:p>
          <a:p>
            <a:pPr indent="0" marL="0">
              <a:buNone/>
            </a:pPr>
            <a:r>
              <a:rPr lang="en-US" sz="11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So scrivere una nuvoletta 'Think'.</a:t>
            </a:r>
            <a:endParaRPr lang="en-US" sz="1300" dirty="0"/>
          </a:p>
        </p:txBody>
      </p:sp>
      <p:sp>
        <p:nvSpPr>
          <p:cNvPr id="9" name="hw_256"/>
          <p:cNvSpPr/>
          <p:nvPr/>
        </p:nvSpPr>
        <p:spPr>
          <a:xfrm>
            <a:off x="5303520" y="1325880"/>
            <a:ext cx="356616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38100">
            <a:solidFill>
              <a:srgbClr val="FF8A3D"/>
            </a:solidFill>
          </a:ln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🏠 HOMEWORK · COMPITI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• Homework sheet: Look after our planet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• Activity Book p.12 ex 1–2 · p.13 ex 3–4</a:t>
            </a:r>
            <a:endParaRPr lang="en-US" sz="1250" dirty="0"/>
          </a:p>
        </p:txBody>
      </p:sp>
      <p:sp>
        <p:nvSpPr>
          <p:cNvPr id="10" name="nx_257"/>
          <p:cNvSpPr/>
          <p:nvPr/>
        </p:nvSpPr>
        <p:spPr>
          <a:xfrm>
            <a:off x="5303520" y="38404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➡ Next: The race – a poem!</a:t>
            </a:r>
            <a:endParaRPr lang="en-US" sz="1200" dirty="0"/>
          </a:p>
        </p:txBody>
      </p:sp>
    </p:spTree>
  </p:cSld>
  <p:clrMapOvr>
    <a:masterClrMapping/>
  </p:clrMapOvr>
  <p:transition spd="med">
    <p:push dir="l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258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EXTRA</a:t>
            </a:r>
            <a:endParaRPr lang="en-US" sz="1600" dirty="0"/>
          </a:p>
        </p:txBody>
      </p:sp>
      <p:sp>
        <p:nvSpPr>
          <p:cNvPr id="4" name="bm_259"/>
          <p:cNvSpPr/>
          <p:nvPr/>
        </p:nvSpPr>
        <p:spPr>
          <a:xfrm rot="-120000">
            <a:off x="228600" y="493776"/>
            <a:ext cx="457200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ln w="31750">
                  <a:solidFill>
                    <a:srgbClr val="1E2A5A"/>
                  </a:solidFill>
                </a:ln>
                <a:solidFill>
                  <a:srgbClr val="6CCB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EXTRA: Planet heroes!</a:t>
            </a:r>
            <a:endParaRPr lang="en-US" sz="2400" dirty="0"/>
          </a:p>
        </p:txBody>
      </p:sp>
      <p:sp>
        <p:nvSpPr>
          <p:cNvPr id="5" name="in_260"/>
          <p:cNvSpPr/>
          <p:nvPr/>
        </p:nvSpPr>
        <p:spPr>
          <a:xfrm>
            <a:off x="4937760" y="182880"/>
            <a:ext cx="397764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Listen. Do it – in slow motion!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Ascolta. Fallo – al rallentatore!</a:t>
            </a:r>
            <a:endParaRPr lang="en-US" sz="1400" dirty="0"/>
          </a:p>
        </p:txBody>
      </p:sp>
      <p:sp>
        <p:nvSpPr>
          <p:cNvPr id="6" name="mode_261"/>
          <p:cNvSpPr/>
          <p:nvPr/>
        </p:nvSpPr>
        <p:spPr>
          <a:xfrm>
            <a:off x="6355080" y="1024128"/>
            <a:ext cx="2560320" cy="246888"/>
          </a:xfrm>
          <a:prstGeom prst="roundRect">
            <a:avLst>
              <a:gd name="adj" fmla="val 44444"/>
            </a:avLst>
          </a:prstGeom>
          <a:solidFill>
            <a:srgbClr val="1E2A5A"/>
          </a:solidFill>
          <a:ln w="19050">
            <a:solidFill>
              <a:srgbClr val="FFD2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🏃 WHOLE CLASS · ⏱ 3 MIN</a:t>
            </a:r>
            <a:endParaRPr lang="en-US" sz="1000" dirty="0"/>
          </a:p>
        </p:txBody>
      </p:sp>
      <p:sp>
        <p:nvSpPr>
          <p:cNvPr id="7" name="cd_262"/>
          <p:cNvSpPr/>
          <p:nvPr/>
        </p:nvSpPr>
        <p:spPr>
          <a:xfrm>
            <a:off x="274320" y="1325880"/>
            <a:ext cx="1280160" cy="13258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8" name="ci_263" descr="/home/claude/movers/img/e-u1-t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399032"/>
            <a:ext cx="1133856" cy="1133856"/>
          </a:xfrm>
          <a:prstGeom prst="rect">
            <a:avLst/>
          </a:prstGeom>
        </p:spPr>
      </p:pic>
      <p:sp>
        <p:nvSpPr>
          <p:cNvPr id="9" name="R1_a264"/>
          <p:cNvSpPr/>
          <p:nvPr/>
        </p:nvSpPr>
        <p:spPr>
          <a:xfrm>
            <a:off x="1627632" y="1463040"/>
            <a:ext cx="1447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Turn off the tap!</a:t>
            </a:r>
            <a:endParaRPr lang="en-US" sz="1250" dirty="0"/>
          </a:p>
        </p:txBody>
      </p:sp>
      <p:sp>
        <p:nvSpPr>
          <p:cNvPr id="10" name="cd_265"/>
          <p:cNvSpPr/>
          <p:nvPr/>
        </p:nvSpPr>
        <p:spPr>
          <a:xfrm>
            <a:off x="3139440" y="1325880"/>
            <a:ext cx="1280160" cy="13258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11" name="ci_266" descr="/home/claude/movers/img/e-u1-ligh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2592" y="1399032"/>
            <a:ext cx="1133856" cy="1133856"/>
          </a:xfrm>
          <a:prstGeom prst="rect">
            <a:avLst/>
          </a:prstGeom>
        </p:spPr>
      </p:pic>
      <p:sp>
        <p:nvSpPr>
          <p:cNvPr id="12" name="R2_a267"/>
          <p:cNvSpPr/>
          <p:nvPr/>
        </p:nvSpPr>
        <p:spPr>
          <a:xfrm>
            <a:off x="4492752" y="1463040"/>
            <a:ext cx="1447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Turn off the lights!</a:t>
            </a:r>
            <a:endParaRPr lang="en-US" sz="1250" dirty="0"/>
          </a:p>
        </p:txBody>
      </p:sp>
      <p:sp>
        <p:nvSpPr>
          <p:cNvPr id="13" name="cd_268"/>
          <p:cNvSpPr/>
          <p:nvPr/>
        </p:nvSpPr>
        <p:spPr>
          <a:xfrm>
            <a:off x="6004560" y="1325880"/>
            <a:ext cx="1280160" cy="13258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14" name="ci_269" descr="/home/claude/movers/img/crop/u1-p13-bins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7712" y="1399032"/>
            <a:ext cx="1133856" cy="1133856"/>
          </a:xfrm>
          <a:prstGeom prst="rect">
            <a:avLst/>
          </a:prstGeom>
        </p:spPr>
      </p:pic>
      <p:sp>
        <p:nvSpPr>
          <p:cNvPr id="15" name="R3_a270"/>
          <p:cNvSpPr/>
          <p:nvPr/>
        </p:nvSpPr>
        <p:spPr>
          <a:xfrm>
            <a:off x="7357872" y="1463040"/>
            <a:ext cx="1447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Recycle the bottles!</a:t>
            </a:r>
            <a:endParaRPr lang="en-US" sz="1250" dirty="0"/>
          </a:p>
        </p:txBody>
      </p:sp>
      <p:sp>
        <p:nvSpPr>
          <p:cNvPr id="16" name="cd_271"/>
          <p:cNvSpPr/>
          <p:nvPr/>
        </p:nvSpPr>
        <p:spPr>
          <a:xfrm>
            <a:off x="274320" y="2926080"/>
            <a:ext cx="1280160" cy="13258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17" name="ci_272" descr="/home/claude/movers/img/e-u1-plan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472" y="2999232"/>
            <a:ext cx="1133856" cy="1133856"/>
          </a:xfrm>
          <a:prstGeom prst="rect">
            <a:avLst/>
          </a:prstGeom>
        </p:spPr>
      </p:pic>
      <p:sp>
        <p:nvSpPr>
          <p:cNvPr id="18" name="R4_a273"/>
          <p:cNvSpPr/>
          <p:nvPr/>
        </p:nvSpPr>
        <p:spPr>
          <a:xfrm>
            <a:off x="1627632" y="3063240"/>
            <a:ext cx="1447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Plant a tree!</a:t>
            </a:r>
            <a:endParaRPr lang="en-US" sz="1250" dirty="0"/>
          </a:p>
        </p:txBody>
      </p:sp>
      <p:sp>
        <p:nvSpPr>
          <p:cNvPr id="19" name="cd_274"/>
          <p:cNvSpPr/>
          <p:nvPr/>
        </p:nvSpPr>
        <p:spPr>
          <a:xfrm>
            <a:off x="3139440" y="2926080"/>
            <a:ext cx="1280160" cy="13258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0" name="ci_275" descr="/home/claude/movers/img/e-u1-ai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12592" y="2999232"/>
            <a:ext cx="1133856" cy="1133856"/>
          </a:xfrm>
          <a:prstGeom prst="rect">
            <a:avLst/>
          </a:prstGeom>
        </p:spPr>
      </p:pic>
      <p:sp>
        <p:nvSpPr>
          <p:cNvPr id="21" name="R5_a276"/>
          <p:cNvSpPr/>
          <p:nvPr/>
        </p:nvSpPr>
        <p:spPr>
          <a:xfrm>
            <a:off x="4492752" y="3063240"/>
            <a:ext cx="1447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Breathe the clean air!</a:t>
            </a:r>
            <a:endParaRPr lang="en-US" sz="1250" dirty="0"/>
          </a:p>
        </p:txBody>
      </p:sp>
      <p:sp>
        <p:nvSpPr>
          <p:cNvPr id="22" name="cd_277"/>
          <p:cNvSpPr/>
          <p:nvPr/>
        </p:nvSpPr>
        <p:spPr>
          <a:xfrm>
            <a:off x="6004560" y="2926080"/>
            <a:ext cx="1280160" cy="13258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3" name="ci_278" descr="/home/claude/movers/img/e-u1-earth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77712" y="2999232"/>
            <a:ext cx="1133856" cy="1133856"/>
          </a:xfrm>
          <a:prstGeom prst="rect">
            <a:avLst/>
          </a:prstGeom>
        </p:spPr>
      </p:pic>
      <p:sp>
        <p:nvSpPr>
          <p:cNvPr id="24" name="R6_a279"/>
          <p:cNvSpPr/>
          <p:nvPr/>
        </p:nvSpPr>
        <p:spPr>
          <a:xfrm>
            <a:off x="7357872" y="3063240"/>
            <a:ext cx="1447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Hug the planet!</a:t>
            </a:r>
            <a:endParaRPr lang="en-US" sz="12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280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EXTRA</a:t>
            </a:r>
            <a:endParaRPr lang="en-US" sz="1600" dirty="0"/>
          </a:p>
        </p:txBody>
      </p:sp>
      <p:sp>
        <p:nvSpPr>
          <p:cNvPr id="4" name="bm_281"/>
          <p:cNvSpPr/>
          <p:nvPr/>
        </p:nvSpPr>
        <p:spPr>
          <a:xfrm rot="-120000">
            <a:off x="228600" y="493776"/>
            <a:ext cx="457200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ln w="31750">
                  <a:solidFill>
                    <a:srgbClr val="1E2A5A"/>
                  </a:solidFill>
                </a:ln>
                <a:solidFill>
                  <a:srgbClr val="6CCB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EXTRA: Recycling relay</a:t>
            </a:r>
            <a:endParaRPr lang="en-US" sz="2400" dirty="0"/>
          </a:p>
        </p:txBody>
      </p:sp>
      <p:sp>
        <p:nvSpPr>
          <p:cNvPr id="5" name="in_282"/>
          <p:cNvSpPr/>
          <p:nvPr/>
        </p:nvSpPr>
        <p:spPr>
          <a:xfrm>
            <a:off x="4937760" y="182880"/>
            <a:ext cx="397764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Run! Put it in the right bin!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Corri! Mettilo nel bidone giusto!</a:t>
            </a:r>
            <a:endParaRPr lang="en-US" sz="1400" dirty="0"/>
          </a:p>
        </p:txBody>
      </p:sp>
      <p:sp>
        <p:nvSpPr>
          <p:cNvPr id="6" name="mode_283"/>
          <p:cNvSpPr/>
          <p:nvPr/>
        </p:nvSpPr>
        <p:spPr>
          <a:xfrm>
            <a:off x="6355080" y="1024128"/>
            <a:ext cx="2560320" cy="246888"/>
          </a:xfrm>
          <a:prstGeom prst="roundRect">
            <a:avLst>
              <a:gd name="adj" fmla="val 44444"/>
            </a:avLst>
          </a:prstGeom>
          <a:solidFill>
            <a:srgbClr val="1E2A5A"/>
          </a:solidFill>
          <a:ln w="19050">
            <a:solidFill>
              <a:srgbClr val="FFD2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👥👥 TEAMS · ⏱ 5 MIN</a:t>
            </a:r>
            <a:endParaRPr lang="en-US" sz="1000" dirty="0"/>
          </a:p>
        </p:txBody>
      </p:sp>
      <p:sp>
        <p:nvSpPr>
          <p:cNvPr id="7" name="st_284"/>
          <p:cNvSpPr/>
          <p:nvPr/>
        </p:nvSpPr>
        <p:spPr>
          <a:xfrm>
            <a:off x="228600" y="1325880"/>
            <a:ext cx="2651760" cy="97536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8000"/>
              </a:srgbClr>
            </a:outerShdw>
          </a:effectLst>
        </p:spPr>
      </p:sp>
      <p:sp>
        <p:nvSpPr>
          <p:cNvPr id="8" name="sn_285"/>
          <p:cNvSpPr/>
          <p:nvPr/>
        </p:nvSpPr>
        <p:spPr>
          <a:xfrm>
            <a:off x="118872" y="1216152"/>
            <a:ext cx="384048" cy="384048"/>
          </a:xfrm>
          <a:prstGeom prst="ellipse">
            <a:avLst/>
          </a:prstGeom>
          <a:solidFill>
            <a:srgbClr val="FFD23F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sk_286"/>
          <p:cNvSpPr/>
          <p:nvPr/>
        </p:nvSpPr>
        <p:spPr>
          <a:xfrm>
            <a:off x="521208" y="136245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👀 LOOK</a:t>
            </a:r>
            <a:endParaRPr lang="en-US" sz="1300" dirty="0"/>
          </a:p>
        </p:txBody>
      </p:sp>
      <p:sp>
        <p:nvSpPr>
          <p:cNvPr id="10" name="se_287"/>
          <p:cNvSpPr/>
          <p:nvPr/>
        </p:nvSpPr>
        <p:spPr>
          <a:xfrm>
            <a:off x="338328" y="1655064"/>
            <a:ext cx="24688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bins: PAPER · GLASS · PLASTIC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CARTA · VETRO · PLASTICA</a:t>
            </a:r>
            <a:endParaRPr lang="en-US" sz="1050" dirty="0"/>
          </a:p>
        </p:txBody>
      </p:sp>
      <p:sp>
        <p:nvSpPr>
          <p:cNvPr id="11" name="st_288"/>
          <p:cNvSpPr/>
          <p:nvPr/>
        </p:nvSpPr>
        <p:spPr>
          <a:xfrm>
            <a:off x="228600" y="2392680"/>
            <a:ext cx="2651760" cy="97536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38100">
            <a:solidFill>
              <a:srgbClr val="2F9BF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sn_289"/>
          <p:cNvSpPr/>
          <p:nvPr/>
        </p:nvSpPr>
        <p:spPr>
          <a:xfrm>
            <a:off x="118872" y="2282952"/>
            <a:ext cx="384048" cy="384048"/>
          </a:xfrm>
          <a:prstGeom prst="ellipse">
            <a:avLst/>
          </a:prstGeom>
          <a:solidFill>
            <a:srgbClr val="2F9BFF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sk_290"/>
          <p:cNvSpPr/>
          <p:nvPr/>
        </p:nvSpPr>
        <p:spPr>
          <a:xfrm>
            <a:off x="521208" y="242925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👂 LISTEN</a:t>
            </a:r>
            <a:endParaRPr lang="en-US" sz="1300" dirty="0"/>
          </a:p>
        </p:txBody>
      </p:sp>
      <p:sp>
        <p:nvSpPr>
          <p:cNvPr id="14" name="se_291"/>
          <p:cNvSpPr/>
          <p:nvPr/>
        </p:nvSpPr>
        <p:spPr>
          <a:xfrm>
            <a:off x="338328" y="2721864"/>
            <a:ext cx="24688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Teacher: a newspaper!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L'insegnante: un giornale!</a:t>
            </a:r>
            <a:endParaRPr lang="en-US" sz="1050" dirty="0"/>
          </a:p>
        </p:txBody>
      </p:sp>
      <p:sp>
        <p:nvSpPr>
          <p:cNvPr id="15" name="st_292"/>
          <p:cNvSpPr/>
          <p:nvPr/>
        </p:nvSpPr>
        <p:spPr>
          <a:xfrm>
            <a:off x="228600" y="3459480"/>
            <a:ext cx="2651760" cy="97536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38100">
            <a:solidFill>
              <a:srgbClr val="FF8A3D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sn_293"/>
          <p:cNvSpPr/>
          <p:nvPr/>
        </p:nvSpPr>
        <p:spPr>
          <a:xfrm>
            <a:off x="118872" y="3349752"/>
            <a:ext cx="384048" cy="384048"/>
          </a:xfrm>
          <a:prstGeom prst="ellipse">
            <a:avLst/>
          </a:prstGeom>
          <a:solidFill>
            <a:srgbClr val="FF8A3D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sk_294"/>
          <p:cNvSpPr/>
          <p:nvPr/>
        </p:nvSpPr>
        <p:spPr>
          <a:xfrm>
            <a:off x="521208" y="349605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🏃 MOVE</a:t>
            </a:r>
            <a:endParaRPr lang="en-US" sz="1300" dirty="0"/>
          </a:p>
        </p:txBody>
      </p:sp>
      <p:sp>
        <p:nvSpPr>
          <p:cNvPr id="18" name="se_295"/>
          <p:cNvSpPr/>
          <p:nvPr/>
        </p:nvSpPr>
        <p:spPr>
          <a:xfrm>
            <a:off x="338328" y="3788664"/>
            <a:ext cx="24688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and touch the bin!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Corri e tocca il bidone!</a:t>
            </a:r>
            <a:endParaRPr lang="en-US" sz="1050" dirty="0"/>
          </a:p>
        </p:txBody>
      </p:sp>
      <p:sp>
        <p:nvSpPr>
          <p:cNvPr id="19" name="cd_296"/>
          <p:cNvSpPr/>
          <p:nvPr/>
        </p:nvSpPr>
        <p:spPr>
          <a:xfrm>
            <a:off x="3108960" y="1325880"/>
            <a:ext cx="13258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0" name="ci_297" descr="/home/claude/movers/img/e-u1-pap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2112" y="1399032"/>
            <a:ext cx="1179576" cy="1179576"/>
          </a:xfrm>
          <a:prstGeom prst="rect">
            <a:avLst/>
          </a:prstGeom>
        </p:spPr>
      </p:pic>
      <p:sp>
        <p:nvSpPr>
          <p:cNvPr id="21" name="cd_298"/>
          <p:cNvSpPr/>
          <p:nvPr/>
        </p:nvSpPr>
        <p:spPr>
          <a:xfrm>
            <a:off x="4572000" y="1325880"/>
            <a:ext cx="13258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2" name="ci_299" descr="/home/claude/movers/img/e-u1-j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5152" y="1399032"/>
            <a:ext cx="1179576" cy="1179576"/>
          </a:xfrm>
          <a:prstGeom prst="rect">
            <a:avLst/>
          </a:prstGeom>
        </p:spPr>
      </p:pic>
      <p:sp>
        <p:nvSpPr>
          <p:cNvPr id="23" name="cd_300"/>
          <p:cNvSpPr/>
          <p:nvPr/>
        </p:nvSpPr>
        <p:spPr>
          <a:xfrm>
            <a:off x="6035040" y="1325880"/>
            <a:ext cx="13258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4" name="ci_301" descr="/home/claude/movers/img/e-u1-bott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8192" y="1399032"/>
            <a:ext cx="1179576" cy="1179576"/>
          </a:xfrm>
          <a:prstGeom prst="rect">
            <a:avLst/>
          </a:prstGeom>
        </p:spPr>
      </p:pic>
      <p:sp>
        <p:nvSpPr>
          <p:cNvPr id="25" name="cd_302"/>
          <p:cNvSpPr/>
          <p:nvPr/>
        </p:nvSpPr>
        <p:spPr>
          <a:xfrm>
            <a:off x="7498080" y="1325880"/>
            <a:ext cx="13258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6" name="ci_303" descr="/home/claude/movers/img/e-u1-box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71232" y="1399032"/>
            <a:ext cx="1179576" cy="1179576"/>
          </a:xfrm>
          <a:prstGeom prst="rect">
            <a:avLst/>
          </a:prstGeom>
        </p:spPr>
      </p:pic>
      <p:sp>
        <p:nvSpPr>
          <p:cNvPr id="27" name="cd_304"/>
          <p:cNvSpPr/>
          <p:nvPr/>
        </p:nvSpPr>
        <p:spPr>
          <a:xfrm>
            <a:off x="3108960" y="2761488"/>
            <a:ext cx="13258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8" name="ci_305" descr="/home/claude/movers/img/e-u1-cup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82112" y="2834640"/>
            <a:ext cx="1179576" cy="1179576"/>
          </a:xfrm>
          <a:prstGeom prst="rect">
            <a:avLst/>
          </a:prstGeom>
        </p:spPr>
      </p:pic>
      <p:sp>
        <p:nvSpPr>
          <p:cNvPr id="29" name="cd_306"/>
          <p:cNvSpPr/>
          <p:nvPr/>
        </p:nvSpPr>
        <p:spPr>
          <a:xfrm>
            <a:off x="4572000" y="2761488"/>
            <a:ext cx="13258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30" name="ci_307" descr="/home/claude/movers/img/e-u1-glassb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5152" y="2834640"/>
            <a:ext cx="1179576" cy="1179576"/>
          </a:xfrm>
          <a:prstGeom prst="rect">
            <a:avLst/>
          </a:prstGeom>
        </p:spPr>
      </p:pic>
    </p:spTree>
  </p:cSld>
  <p:clrMapOvr>
    <a:masterClrMapping/>
  </p:clrMapOvr>
  <p:transition spd="med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Movers · UNIT 1 · LESSON 4 · Look after our planet</dc:title>
  <dc:subject>PptxGenJS Presentation</dc:subject>
  <dc:creator>PptxGenJS</dc:creator>
  <cp:lastModifiedBy>PptxGenJS</cp:lastModifiedBy>
  <cp:revision>1</cp:revision>
  <dcterms:created xsi:type="dcterms:W3CDTF">2026-10-06T10:51:22Z</dcterms:created>
  <dcterms:modified xsi:type="dcterms:W3CDTF">2026-10-06T10:51:22Z</dcterms:modified>
</cp:coreProperties>
</file>