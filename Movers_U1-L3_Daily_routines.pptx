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(1 min). 'Who can you see?' (Grandpa, Jenny, Jim). 'It's the morning. Grandpa's in his dressing gown – he's waking up!'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PLAN
SEE: A story picture + 3 sentences per round (answers hidden).
TEACHER: Read the three sentences of round 1 aloud with drama. 'Two are true. One is a lie! 10 seconds – talk to your team.'
STUDENTS: Teams agree and hold up A, B or C fingers (1, 2, 3) on '3-2-1!'
GROUPING: Two or three teams.
SCORE / WIN: 1 point for the right letter; +1 if a learner corrects the lie ('The kittens are black and white!').
TIME: 4 min (3 rounds).
LANGUAGE: Lesson 2 words: awake, kitten, puppy, naughty, wash + present continuous.
REVEAL: Click 1/2/3 reveals the lie for each round.
AIM: Retrieval of Lesson 2 in a new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PLAN
SEE: Some actions they know.
TEACHER: Give quick instructions with 'Simon says…'; every 4–5 give one WITHOUT it.
STUDENTS: Mime only when Simon says.
GROUPING: Whole class standing.
SCORE / WIN: Move without 'Simon says' = sit down. Last one standing becomes Simon.
TIME: 3 min.
LANGUAGE: Imperatives: get up, sit down, go, run (TB warm-up).
REVEAL: None.
AIM: Recycle imperatives + 'get up' before the routine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(7 min). TB presentation: mime switching off an alarm: 'It's the morning. Every day I do the same thing. I wake up.' PICTURE FIRST – learners guess (they may know 'get up'), then click. Use a real towel / toothbrush / toothpaste if you have them. tooth → teeth. 'We use a towel to get dry.' TPR: Stretch and yawn! Switch off the alarm! 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(7 min). TB presentation: mime switching off an alarm: 'It's the morning. Every day I do the same thing. I wake up.' PICTURE FIRST – learners guess (they may know 'get up'), then click. Use a real towel / toothbrush / toothpaste if you have them. tooth → teeth. 'We use a towel to get dry.' TPR: Jump out of bed! 🛏️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(7 min). TB presentation: mime switching off an alarm: 'It's the morning. Every day I do the same thing. I wake up.' PICTURE FIRST – learners guess (they may know 'get up'), then click. Use a real towel / toothbrush / toothpaste if you have them. tooth → teeth. 'We use a towel to get dry.' TPR: Wash your hair in the shower! 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(7 min). TB presentation: mime switching off an alarm: 'It's the morning. Every day I do the same thing. I wake up.' PICTURE FIRST – learners guess (they may know 'get up'), then click. Use a real towel / toothbrush / toothpaste if you have them. tooth → teeth. 'We use a towel to get dry.' TPR: Get dry with your towel!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(7 min). TB presentation: mime switching off an alarm: 'It's the morning. Every day I do the same thing. I wake up.' PICTURE FIRST – learners guess (they may know 'get up'), then click. Use a real towel / toothbrush / toothpaste if you have them. tooth → teeth. 'We use a towel to get dry.' TPR: Put on your T-shirt and shoes! 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(7 min). TB presentation: mime switching off an alarm: 'It's the morning. Every day I do the same thing. I wake up.' PICTURE FIRST – learners guess (they may know 'get up'), then click. Use a real towel / toothbrush / toothpaste if you have them. tooth → teeth. 'We use a towel to get dry.' TPR: Eat your cereal! Yum! 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(7 min). TB presentation: mime switching off an alarm: 'It's the morning. Every day I do the same thing. I wake up.' PICTURE FIRST – learners guess (they may know 'get up'), then click. Use a real towel / toothbrush / toothpaste if you have them. tooth → teeth. 'We use a towel to get dry.' TPR: Squeeze the toothpaste! 🦷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(7 min). TB presentation: mime switching off an alarm: 'It's the morning. Every day I do the same thing. I wake up.' PICTURE FIRST – learners guess (they may know 'get up'), then click. Use a real towel / toothbrush / toothpaste if you have them. tooth → teeth. 'We use a towel to get dry.' TPR: Clean your teeth! Brush, brush! 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1 (4 min). TB: 'Find a towel' – learners point (repeat for toothbrush, toothpaste, breakfast, shower). PREDICT: in pairs, guess the order of the pictures (pencil, lightly). Play the audio/video; learners correct their numbers. REVEAL one per click. KEY (TB): a 5 · b 4 · (c 1) · d 3 · e 6, 7 · f 8 · g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SONG (5 min, 2 slides). TB: learners stand. Say each activity and do the action; learners repeat words and actions. Play the audio/video: sing and do the actions. When confident, sing the karaoke version (🎧 1.15).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half. 'Time for us to run!' ×3 – everybody runs on the spot!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ITALIAN TRAP + PRONUNCIATION (3 min). Italian 'fare' becomes HAVE for shower, breakfast, lunch, a bath. PROMPT: read the wrong sentence in a robot voice; pairs whisper the right one; click. Then pronunciation: /h/ (hand in front of mouth from the Starter lesson) and TH in teeth/toothbrush: tongue between your teeth – 'Show me your tongue!' – teeth, toothbrush, toothpaste: whisper → normal → monster. Catch the teacher: say 'tees', 'toospaste' – learners shout STOP!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PLAN
SEE: The 8 routine pictures (no words – learners must retrieve them).
TEACHER: Show a different card secretly to one learner from each team; both mime at the same time.
STUDENTS: Mime and ask 'What am I doing?' Teams guess: 'You're having breakfast!'
GROUPING: Two teams.
SCORE / WIN: First CORRECT full sentence = 1 point (not just 'breakfast'). Bonus point for a good /h/ in 'having'.
TIME: 5 min.
LANGUAGE: You're having a shower / getting dressed / cleaning your teeth (present continuous recycled from L2).
REVEAL: The mimer shows the card.
AIM: PB ex 2. Then TB: Rocky's question 'What do you do in the morning?' – learners order the cards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1 (4 min). TB presentation first: teaching clock at seven o'clock – 'I have breakfast at seven o'clock.' Move the hands (always o'clock); learners say the times. Point to the clocks: learners read them (12, 1, 2 o'clock). PREDICT: 'What time does the boy have lunch? Vote: 1, 2 or 3!' Play 🎧 1.16; learners tick. REVEAL. KEY (TB): one o'clock – picture 2. Extension questions (TB) – click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GRACIE'S GRAMMAR (4 min). NOTICE: 'do you…? but does school…? Why?' (he/she/it). Play 🎧 1.17, pause for repetition. PRACTICE: pairs whisper the missing word, then click. Watch the final -s: he gets up, school finishes (Italians drop 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2 (5 min). MODEL: you answer the first question yourself. SUPPORTED: pairs ask and answer with the slide (answers show as models on click). INDEPENDENT: blank the screen (B) – find a new partner and ask 3 questions from memory. 🔥 'What time does your mum get up?' – 'She gets up at…'. Sicilian reality: lunch is often at 1.30–2 – 'round it': two o'clock.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STAGE 2 (8 min). Give back the envelopes. Learners write six routines on six cards and draw them on the other six. Pairs pick up a card and ask: 'What time do you get up?' 'I get up at seven o'clock.' Then (TB) on A4 card (landscape): picture/title at the top, word cards in a row at the bottom, matching pictures above, cut flaps. AB p.6: smiley for My mission diary 2. Tick Stage 2; give a sticker.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EXIT CHALLENGE: 'Can you say the morning routine in order – in 20 seconds?' Volunteers race the clock. Thumbs for each 'I can'. Play the song again if there's time. AB p.10 ex 2 is listening (🎧 4.10) – in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PLAN
SEE: A clock and routine pictures.
TEACHER: Say a routine + time: 'I get up at seven o'clock!'
STUDENTS: In groups of 3: one learner is the clock face (stands in the middle), one is the short hour hand (bent arm), one is the long minute hand (arm straight up for o'clock).
GROUPING: Groups of 3.
SCORE / WIN: First group with the right time = 1 point – then they must say the sentence ('She gets up at seven o'clock').
TIME: 5 min.
LANGUAGE: o'clock times + routines + he/she -s.
REVEAL: Teacher shows the time on a real or drawn clock.
AIM: Times + routines with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1 · LESSON 3</a:t>
            </a:r>
            <a:endParaRPr lang="en-US" sz="1600" dirty="0"/>
          </a:p>
        </p:txBody>
      </p:sp>
      <p:sp>
        <p:nvSpPr>
          <p:cNvPr id="4" name="bm_2"/>
          <p:cNvSpPr/>
          <p:nvPr/>
        </p:nvSpPr>
        <p:spPr>
          <a:xfrm rot="-120000">
            <a:off x="228600" y="493776"/>
            <a:ext cx="48463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 for us to run!</a:t>
            </a:r>
            <a:endParaRPr lang="en-US" sz="2400" dirty="0"/>
          </a:p>
        </p:txBody>
      </p:sp>
      <p:sp>
        <p:nvSpPr>
          <p:cNvPr id="5" name="in_3"/>
          <p:cNvSpPr/>
          <p:nvPr/>
        </p:nvSpPr>
        <p:spPr>
          <a:xfrm>
            <a:off x="5212080" y="182880"/>
            <a:ext cx="37033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Today: morning routines and What time…? ⏰🪥🚿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Oggi: la routine del mattino e A che ora…?</a:t>
            </a:r>
            <a:endParaRPr lang="en-US" sz="1400" dirty="0"/>
          </a:p>
        </p:txBody>
      </p:sp>
      <p:sp>
        <p:nvSpPr>
          <p:cNvPr id="6" name="st_4"/>
          <p:cNvSpPr/>
          <p:nvPr/>
        </p:nvSpPr>
        <p:spPr>
          <a:xfrm>
            <a:off x="228600" y="13716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8E5BE8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n_5"/>
          <p:cNvSpPr/>
          <p:nvPr/>
        </p:nvSpPr>
        <p:spPr>
          <a:xfrm>
            <a:off x="118872" y="1261872"/>
            <a:ext cx="384048" cy="384048"/>
          </a:xfrm>
          <a:prstGeom prst="ellipse">
            <a:avLst/>
          </a:prstGeom>
          <a:solidFill>
            <a:srgbClr val="8E5BE8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k_6"/>
          <p:cNvSpPr/>
          <p:nvPr/>
        </p:nvSpPr>
        <p:spPr>
          <a:xfrm>
            <a:off x="521208" y="1408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🎵 SING</a:t>
            </a:r>
            <a:endParaRPr lang="en-US" sz="1300" dirty="0"/>
          </a:p>
        </p:txBody>
      </p:sp>
      <p:sp>
        <p:nvSpPr>
          <p:cNvPr id="9" name="se_7"/>
          <p:cNvSpPr/>
          <p:nvPr/>
        </p:nvSpPr>
        <p:spPr>
          <a:xfrm>
            <a:off x="338328" y="17007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 the morning song.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Canta la canzone del mattino.</a:t>
            </a:r>
            <a:endParaRPr lang="en-US" sz="1050" dirty="0"/>
          </a:p>
        </p:txBody>
      </p:sp>
      <p:sp>
        <p:nvSpPr>
          <p:cNvPr id="10" name="st_8"/>
          <p:cNvSpPr/>
          <p:nvPr/>
        </p:nvSpPr>
        <p:spPr>
          <a:xfrm>
            <a:off x="228600" y="237744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n_9"/>
          <p:cNvSpPr/>
          <p:nvPr/>
        </p:nvSpPr>
        <p:spPr>
          <a:xfrm>
            <a:off x="118872" y="226771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k_10"/>
          <p:cNvSpPr/>
          <p:nvPr/>
        </p:nvSpPr>
        <p:spPr>
          <a:xfrm>
            <a:off x="521208" y="2414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3" name="se_11"/>
          <p:cNvSpPr/>
          <p:nvPr/>
        </p:nvSpPr>
        <p:spPr>
          <a:xfrm>
            <a:off x="338328" y="27066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What time do you get up?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Chiedi: A che ora ti alzi?</a:t>
            </a:r>
            <a:endParaRPr lang="en-US" sz="1050" dirty="0"/>
          </a:p>
        </p:txBody>
      </p:sp>
      <p:sp>
        <p:nvSpPr>
          <p:cNvPr id="14" name="st_12"/>
          <p:cNvSpPr/>
          <p:nvPr/>
        </p:nvSpPr>
        <p:spPr>
          <a:xfrm>
            <a:off x="228600" y="33832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n_13"/>
          <p:cNvSpPr/>
          <p:nvPr/>
        </p:nvSpPr>
        <p:spPr>
          <a:xfrm>
            <a:off x="118872" y="32735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k_14"/>
          <p:cNvSpPr/>
          <p:nvPr/>
        </p:nvSpPr>
        <p:spPr>
          <a:xfrm>
            <a:off x="521208" y="3419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PLAY</a:t>
            </a:r>
            <a:endParaRPr lang="en-US" sz="1300" dirty="0"/>
          </a:p>
        </p:txBody>
      </p:sp>
      <p:sp>
        <p:nvSpPr>
          <p:cNvPr id="17" name="se_15"/>
          <p:cNvSpPr/>
          <p:nvPr/>
        </p:nvSpPr>
        <p:spPr>
          <a:xfrm>
            <a:off x="338328" y="37124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Mime it! Make a human clock!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Mima! Fai un orologio umano!</a:t>
            </a:r>
            <a:endParaRPr lang="en-US" sz="1050" dirty="0"/>
          </a:p>
        </p:txBody>
      </p:sp>
      <p:sp>
        <p:nvSpPr>
          <p:cNvPr id="18" name="pf_16"/>
          <p:cNvSpPr/>
          <p:nvPr/>
        </p:nvSpPr>
        <p:spPr>
          <a:xfrm>
            <a:off x="3191256" y="1271016"/>
            <a:ext cx="3355848" cy="3264408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pic_17" descr="/home/claude/movers/img/crop/u1-p10-pic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881" y="1325880"/>
            <a:ext cx="2030599" cy="3154680"/>
          </a:xfrm>
          <a:prstGeom prst="rect">
            <a:avLst/>
          </a:prstGeom>
        </p:spPr>
      </p:pic>
      <p:sp>
        <p:nvSpPr>
          <p:cNvPr id="20" name="cd_18"/>
          <p:cNvSpPr/>
          <p:nvPr/>
        </p:nvSpPr>
        <p:spPr>
          <a:xfrm>
            <a:off x="6720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1" name="ci_19" descr="/home/claude/movers/img/fc/wake-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3090672"/>
            <a:ext cx="905256" cy="905256"/>
          </a:xfrm>
          <a:prstGeom prst="rect">
            <a:avLst/>
          </a:prstGeom>
        </p:spPr>
      </p:pic>
      <p:sp>
        <p:nvSpPr>
          <p:cNvPr id="22" name="cd_20"/>
          <p:cNvSpPr/>
          <p:nvPr/>
        </p:nvSpPr>
        <p:spPr>
          <a:xfrm>
            <a:off x="7863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21" descr="/home/claude/movers/img/fc/toothbru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3090672"/>
            <a:ext cx="905256" cy="905256"/>
          </a:xfrm>
          <a:prstGeom prst="rect">
            <a:avLst/>
          </a:prstGeom>
        </p:spPr>
      </p:pic>
      <p:sp>
        <p:nvSpPr>
          <p:cNvPr id="24" name="bb_22"/>
          <p:cNvSpPr/>
          <p:nvPr/>
        </p:nvSpPr>
        <p:spPr>
          <a:xfrm>
            <a:off x="6675120" y="1874520"/>
            <a:ext cx="22402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A5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Wake up! Get up! Time to run!</a:t>
            </a:r>
            <a:endParaRPr lang="en-US" sz="12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Svegliati! Alzati! È ora di correre!</a:t>
            </a:r>
            <a:endParaRPr lang="en-US" sz="1250" dirty="0"/>
          </a:p>
        </p:txBody>
      </p:sp>
      <p:sp>
        <p:nvSpPr>
          <p:cNvPr id="25" name="bk_23"/>
          <p:cNvSpPr/>
          <p:nvPr/>
        </p:nvSpPr>
        <p:spPr>
          <a:xfrm>
            <a:off x="228600" y="4681728"/>
            <a:ext cx="45902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pp.10–11 · 🎧 1.14–1.17 · 🎬 song video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REMEMBER?</a:t>
            </a:r>
            <a:endParaRPr lang="en-US" sz="1600" dirty="0"/>
          </a:p>
        </p:txBody>
      </p:sp>
      <p:sp>
        <p:nvSpPr>
          <p:cNvPr id="4" name="bm_25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8E5B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Spot the lie!</a:t>
            </a:r>
            <a:endParaRPr lang="en-US" sz="2700" dirty="0"/>
          </a:p>
        </p:txBody>
      </p:sp>
      <p:sp>
        <p:nvSpPr>
          <p:cNvPr id="5" name="in_2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Two are true. One is a LIE! Which one?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Due sono vere. Una è una BUGIA! Quale?</a:t>
            </a:r>
            <a:endParaRPr lang="en-US" sz="1400" dirty="0"/>
          </a:p>
        </p:txBody>
      </p:sp>
      <p:sp>
        <p:nvSpPr>
          <p:cNvPr id="6" name="mode_27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⏱ 4 MIN</a:t>
            </a:r>
            <a:endParaRPr lang="en-US" sz="1000" dirty="0"/>
          </a:p>
        </p:txBody>
      </p:sp>
      <p:sp>
        <p:nvSpPr>
          <p:cNvPr id="7" name="pf_28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9" descr="/home/claude/movers/img/crop/u1-p8-story5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62810"/>
            <a:ext cx="5120640" cy="1972261"/>
          </a:xfrm>
          <a:prstGeom prst="rect">
            <a:avLst/>
          </a:prstGeom>
        </p:spPr>
      </p:pic>
      <p:sp>
        <p:nvSpPr>
          <p:cNvPr id="9" name="q_30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The kittens are awake. B The kittens are blue. C The cat is washing a kitten.</a:t>
            </a:r>
            <a:endParaRPr lang="en-US" sz="1100" dirty="0"/>
          </a:p>
        </p:txBody>
      </p:sp>
      <p:sp>
        <p:nvSpPr>
          <p:cNvPr id="10" name="R1_a31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LIE = B 🙈</a:t>
            </a:r>
            <a:endParaRPr lang="en-US" sz="1250" dirty="0"/>
          </a:p>
        </p:txBody>
      </p:sp>
      <p:sp>
        <p:nvSpPr>
          <p:cNvPr id="11" name="q_32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The fat puppy is eating a sock. B The puppy is naughty. C Gracie is happy.</a:t>
            </a:r>
            <a:endParaRPr lang="en-US" sz="1100" dirty="0"/>
          </a:p>
        </p:txBody>
      </p:sp>
      <p:sp>
        <p:nvSpPr>
          <p:cNvPr id="12" name="R2_a33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LIE = C 😠</a:t>
            </a:r>
            <a:endParaRPr lang="en-US" sz="1250" dirty="0"/>
          </a:p>
        </p:txBody>
      </p:sp>
      <p:sp>
        <p:nvSpPr>
          <p:cNvPr id="13" name="q_34"/>
          <p:cNvSpPr/>
          <p:nvPr/>
        </p:nvSpPr>
        <p:spPr>
          <a:xfrm>
            <a:off x="5760720" y="306324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There are three puppies. B One puppy is sleeping in a tractor. C Gracie wants her lunch.</a:t>
            </a:r>
            <a:endParaRPr lang="en-US" sz="950" dirty="0"/>
          </a:p>
        </p:txBody>
      </p:sp>
      <p:sp>
        <p:nvSpPr>
          <p:cNvPr id="14" name="R3_a35"/>
          <p:cNvSpPr/>
          <p:nvPr/>
        </p:nvSpPr>
        <p:spPr>
          <a:xfrm>
            <a:off x="5989320" y="351495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LIE = B 🚜</a:t>
            </a:r>
            <a:endParaRPr lang="en-US" sz="1250" dirty="0"/>
          </a:p>
        </p:txBody>
      </p:sp>
      <p:sp>
        <p:nvSpPr>
          <p:cNvPr id="15" name="bk_36"/>
          <p:cNvSpPr/>
          <p:nvPr/>
        </p:nvSpPr>
        <p:spPr>
          <a:xfrm>
            <a:off x="228600" y="4681728"/>
            <a:ext cx="2336292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Story: Pupil's Book p.8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WARM-UP</a:t>
            </a:r>
            <a:endParaRPr lang="en-US" sz="1600" dirty="0"/>
          </a:p>
        </p:txBody>
      </p:sp>
      <p:sp>
        <p:nvSpPr>
          <p:cNvPr id="4" name="bm_38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Simon says!</a:t>
            </a:r>
            <a:endParaRPr lang="en-US" sz="3200" dirty="0"/>
          </a:p>
        </p:txBody>
      </p:sp>
      <p:sp>
        <p:nvSpPr>
          <p:cNvPr id="5" name="in_3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Move only when Simon says!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Muoviti solo quando Simon dice!</a:t>
            </a:r>
            <a:endParaRPr lang="en-US" sz="1400" dirty="0"/>
          </a:p>
        </p:txBody>
      </p:sp>
      <p:sp>
        <p:nvSpPr>
          <p:cNvPr id="6" name="mode_40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WHOLE CLASS · ⏱ 3 MIN</a:t>
            </a:r>
            <a:endParaRPr lang="en-US" sz="1000" dirty="0"/>
          </a:p>
        </p:txBody>
      </p:sp>
      <p:sp>
        <p:nvSpPr>
          <p:cNvPr id="7" name="st_41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42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43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0" name="se_44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Simon says: play the guitar!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Simon dice: suona la chitarra!</a:t>
            </a:r>
            <a:endParaRPr lang="en-US" sz="1050" dirty="0"/>
          </a:p>
        </p:txBody>
      </p:sp>
      <p:sp>
        <p:nvSpPr>
          <p:cNvPr id="11" name="st_45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46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47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14" name="se_48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it!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Fallo!</a:t>
            </a:r>
            <a:endParaRPr lang="en-US" sz="1050" dirty="0"/>
          </a:p>
        </p:txBody>
      </p:sp>
      <p:sp>
        <p:nvSpPr>
          <p:cNvPr id="15" name="st_49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50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51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LOOK</a:t>
            </a:r>
            <a:endParaRPr lang="en-US" sz="1300" dirty="0"/>
          </a:p>
        </p:txBody>
      </p:sp>
      <p:sp>
        <p:nvSpPr>
          <p:cNvPr id="18" name="se_52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'Simon says'? Don't move!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Senza 'Simon dice'? Fermo!</a:t>
            </a:r>
            <a:endParaRPr lang="en-US" sz="1050" dirty="0"/>
          </a:p>
        </p:txBody>
      </p:sp>
      <p:sp>
        <p:nvSpPr>
          <p:cNvPr id="19" name="gl_53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 the guitar 🎸 · play football ⚽ · swim 🏊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run 🏃 · get up · sit down · go to the door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5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55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morning!</a:t>
            </a:r>
            <a:endParaRPr lang="en-US" sz="3200" dirty="0"/>
          </a:p>
        </p:txBody>
      </p:sp>
      <p:sp>
        <p:nvSpPr>
          <p:cNvPr id="5" name="in_5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57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58" descr="/home/claude/movers/img/fc/wake-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415" y="1234440"/>
            <a:ext cx="1969170" cy="2651760"/>
          </a:xfrm>
          <a:prstGeom prst="rect">
            <a:avLst/>
          </a:prstGeom>
        </p:spPr>
      </p:pic>
      <p:sp>
        <p:nvSpPr>
          <p:cNvPr id="8" name="R1_w59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wake up</a:t>
            </a:r>
            <a:endParaRPr lang="en-US" sz="3600" dirty="0"/>
          </a:p>
        </p:txBody>
      </p:sp>
      <p:sp>
        <p:nvSpPr>
          <p:cNvPr id="9" name="R2_it60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svegliarsi</a:t>
            </a:r>
            <a:endParaRPr lang="en-US" sz="1600" dirty="0"/>
          </a:p>
        </p:txBody>
      </p:sp>
      <p:sp>
        <p:nvSpPr>
          <p:cNvPr id="10" name="R3_tpr61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Stretch and yawn! Switch off the alarm! ⏰</a:t>
            </a:r>
            <a:endParaRPr lang="en-US" sz="1300" dirty="0"/>
          </a:p>
        </p:txBody>
      </p:sp>
      <p:sp>
        <p:nvSpPr>
          <p:cNvPr id="11" name="n_62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/ 8</a:t>
            </a:r>
            <a:endParaRPr lang="en-US" sz="1200" dirty="0"/>
          </a:p>
        </p:txBody>
      </p:sp>
      <p:sp>
        <p:nvSpPr>
          <p:cNvPr id="12" name="bk_63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p.10 · 🎧 1.14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6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65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morning!</a:t>
            </a:r>
            <a:endParaRPr lang="en-US" sz="3200" dirty="0"/>
          </a:p>
        </p:txBody>
      </p:sp>
      <p:sp>
        <p:nvSpPr>
          <p:cNvPr id="5" name="in_6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67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68" descr="/home/claude/movers/img/fc/get-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616" y="1234440"/>
            <a:ext cx="2058768" cy="2651760"/>
          </a:xfrm>
          <a:prstGeom prst="rect">
            <a:avLst/>
          </a:prstGeom>
        </p:spPr>
      </p:pic>
      <p:sp>
        <p:nvSpPr>
          <p:cNvPr id="8" name="R1_w69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up</a:t>
            </a:r>
            <a:endParaRPr lang="en-US" sz="3600" dirty="0"/>
          </a:p>
        </p:txBody>
      </p:sp>
      <p:sp>
        <p:nvSpPr>
          <p:cNvPr id="9" name="R2_it70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alzarsi</a:t>
            </a:r>
            <a:endParaRPr lang="en-US" sz="1600" dirty="0"/>
          </a:p>
        </p:txBody>
      </p:sp>
      <p:sp>
        <p:nvSpPr>
          <p:cNvPr id="10" name="R3_tpr71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Jump out of bed! 🛏️</a:t>
            </a:r>
            <a:endParaRPr lang="en-US" sz="1300" dirty="0"/>
          </a:p>
        </p:txBody>
      </p:sp>
      <p:sp>
        <p:nvSpPr>
          <p:cNvPr id="11" name="n_72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/ 8</a:t>
            </a:r>
            <a:endParaRPr lang="en-US" sz="1200" dirty="0"/>
          </a:p>
        </p:txBody>
      </p:sp>
      <p:sp>
        <p:nvSpPr>
          <p:cNvPr id="12" name="bk_73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p.10 · 🎧 1.14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7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75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morning!</a:t>
            </a:r>
            <a:endParaRPr lang="en-US" sz="3200" dirty="0"/>
          </a:p>
        </p:txBody>
      </p:sp>
      <p:sp>
        <p:nvSpPr>
          <p:cNvPr id="5" name="in_7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77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78" descr="/home/claude/movers/img/fc/have-a-show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426" y="1234440"/>
            <a:ext cx="2189148" cy="2651760"/>
          </a:xfrm>
          <a:prstGeom prst="rect">
            <a:avLst/>
          </a:prstGeom>
        </p:spPr>
      </p:pic>
      <p:sp>
        <p:nvSpPr>
          <p:cNvPr id="8" name="R1_w79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have a shower</a:t>
            </a:r>
            <a:endParaRPr lang="en-US" sz="3600" dirty="0"/>
          </a:p>
        </p:txBody>
      </p:sp>
      <p:sp>
        <p:nvSpPr>
          <p:cNvPr id="9" name="R2_it80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fare la doccia</a:t>
            </a:r>
            <a:endParaRPr lang="en-US" sz="1600" dirty="0"/>
          </a:p>
        </p:txBody>
      </p:sp>
      <p:sp>
        <p:nvSpPr>
          <p:cNvPr id="10" name="R3_tpr81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Wash your hair in the shower! 🚿</a:t>
            </a:r>
            <a:endParaRPr lang="en-US" sz="1300" dirty="0"/>
          </a:p>
        </p:txBody>
      </p:sp>
      <p:sp>
        <p:nvSpPr>
          <p:cNvPr id="11" name="n_82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/ 8</a:t>
            </a:r>
            <a:endParaRPr lang="en-US" sz="1200" dirty="0"/>
          </a:p>
        </p:txBody>
      </p:sp>
      <p:sp>
        <p:nvSpPr>
          <p:cNvPr id="12" name="bk_83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p.10 · 🎧 1.14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8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85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morning!</a:t>
            </a:r>
            <a:endParaRPr lang="en-US" sz="3200" dirty="0"/>
          </a:p>
        </p:txBody>
      </p:sp>
      <p:sp>
        <p:nvSpPr>
          <p:cNvPr id="5" name="in_8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87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88" descr="/home/claude/movers/img/fc/tow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878" y="1234440"/>
            <a:ext cx="2208244" cy="2651760"/>
          </a:xfrm>
          <a:prstGeom prst="rect">
            <a:avLst/>
          </a:prstGeom>
        </p:spPr>
      </p:pic>
      <p:sp>
        <p:nvSpPr>
          <p:cNvPr id="8" name="R1_w89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towel</a:t>
            </a:r>
            <a:endParaRPr lang="en-US" sz="3600" dirty="0"/>
          </a:p>
        </p:txBody>
      </p:sp>
      <p:sp>
        <p:nvSpPr>
          <p:cNvPr id="9" name="R2_it90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asciugamano</a:t>
            </a:r>
            <a:endParaRPr lang="en-US" sz="1600" dirty="0"/>
          </a:p>
        </p:txBody>
      </p:sp>
      <p:sp>
        <p:nvSpPr>
          <p:cNvPr id="10" name="R3_tpr91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Get dry with your towel!</a:t>
            </a:r>
            <a:endParaRPr lang="en-US" sz="1300" dirty="0"/>
          </a:p>
        </p:txBody>
      </p:sp>
      <p:sp>
        <p:nvSpPr>
          <p:cNvPr id="11" name="n_92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/ 8</a:t>
            </a:r>
            <a:endParaRPr lang="en-US" sz="1200" dirty="0"/>
          </a:p>
        </p:txBody>
      </p:sp>
      <p:sp>
        <p:nvSpPr>
          <p:cNvPr id="12" name="bk_93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p.10 · 🎧 1.14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9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95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morning!</a:t>
            </a:r>
            <a:endParaRPr lang="en-US" sz="3200" dirty="0"/>
          </a:p>
        </p:txBody>
      </p:sp>
      <p:sp>
        <p:nvSpPr>
          <p:cNvPr id="5" name="in_9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97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98" descr="/home/claude/movers/img/fc/get-dress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448" y="1234440"/>
            <a:ext cx="2209104" cy="2651760"/>
          </a:xfrm>
          <a:prstGeom prst="rect">
            <a:avLst/>
          </a:prstGeom>
        </p:spPr>
      </p:pic>
      <p:sp>
        <p:nvSpPr>
          <p:cNvPr id="8" name="R1_w99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dressed</a:t>
            </a:r>
            <a:endParaRPr lang="en-US" sz="3600" dirty="0"/>
          </a:p>
        </p:txBody>
      </p:sp>
      <p:sp>
        <p:nvSpPr>
          <p:cNvPr id="9" name="R2_it100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vestirsi</a:t>
            </a:r>
            <a:endParaRPr lang="en-US" sz="1600" dirty="0"/>
          </a:p>
        </p:txBody>
      </p:sp>
      <p:sp>
        <p:nvSpPr>
          <p:cNvPr id="10" name="R3_tpr101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Put on your T-shirt and shoes! 👕</a:t>
            </a:r>
            <a:endParaRPr lang="en-US" sz="1300" dirty="0"/>
          </a:p>
        </p:txBody>
      </p:sp>
      <p:sp>
        <p:nvSpPr>
          <p:cNvPr id="11" name="n_102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/ 8</a:t>
            </a:r>
            <a:endParaRPr lang="en-US" sz="1200" dirty="0"/>
          </a:p>
        </p:txBody>
      </p:sp>
      <p:sp>
        <p:nvSpPr>
          <p:cNvPr id="12" name="bk_103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p.10 · 🎧 1.14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0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05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morning!</a:t>
            </a:r>
            <a:endParaRPr lang="en-US" sz="3200" dirty="0"/>
          </a:p>
        </p:txBody>
      </p:sp>
      <p:sp>
        <p:nvSpPr>
          <p:cNvPr id="5" name="in_10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07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08" descr="/home/claude/movers/img/fc/have-breakfa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014" y="1234440"/>
            <a:ext cx="1961972" cy="2651760"/>
          </a:xfrm>
          <a:prstGeom prst="rect">
            <a:avLst/>
          </a:prstGeom>
        </p:spPr>
      </p:pic>
      <p:sp>
        <p:nvSpPr>
          <p:cNvPr id="8" name="R1_w109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have breakfast</a:t>
            </a:r>
            <a:endParaRPr lang="en-US" sz="3600" dirty="0"/>
          </a:p>
        </p:txBody>
      </p:sp>
      <p:sp>
        <p:nvSpPr>
          <p:cNvPr id="9" name="R2_it110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fare colazione</a:t>
            </a:r>
            <a:endParaRPr lang="en-US" sz="1600" dirty="0"/>
          </a:p>
        </p:txBody>
      </p:sp>
      <p:sp>
        <p:nvSpPr>
          <p:cNvPr id="10" name="R3_tpr111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Eat your cereal! Yum! 🥣</a:t>
            </a:r>
            <a:endParaRPr lang="en-US" sz="1300" dirty="0"/>
          </a:p>
        </p:txBody>
      </p:sp>
      <p:sp>
        <p:nvSpPr>
          <p:cNvPr id="11" name="n_112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/ 8</a:t>
            </a:r>
            <a:endParaRPr lang="en-US" sz="1200" dirty="0"/>
          </a:p>
        </p:txBody>
      </p:sp>
      <p:sp>
        <p:nvSpPr>
          <p:cNvPr id="12" name="bk_113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p.10 · 🎧 1.14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1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15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morning!</a:t>
            </a:r>
            <a:endParaRPr lang="en-US" sz="3200" dirty="0"/>
          </a:p>
        </p:txBody>
      </p:sp>
      <p:sp>
        <p:nvSpPr>
          <p:cNvPr id="5" name="in_11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17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18" descr="/home/claude/movers/img/fc/toothpas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731" y="1234440"/>
            <a:ext cx="2010539" cy="2651760"/>
          </a:xfrm>
          <a:prstGeom prst="rect">
            <a:avLst/>
          </a:prstGeom>
        </p:spPr>
      </p:pic>
      <p:sp>
        <p:nvSpPr>
          <p:cNvPr id="8" name="R1_w119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toothpaste</a:t>
            </a:r>
            <a:endParaRPr lang="en-US" sz="3600" dirty="0"/>
          </a:p>
        </p:txBody>
      </p:sp>
      <p:sp>
        <p:nvSpPr>
          <p:cNvPr id="9" name="R2_it120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dentifricio</a:t>
            </a:r>
            <a:endParaRPr lang="en-US" sz="1600" dirty="0"/>
          </a:p>
        </p:txBody>
      </p:sp>
      <p:sp>
        <p:nvSpPr>
          <p:cNvPr id="10" name="R3_tpr121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Squeeze the toothpaste! 🦷</a:t>
            </a:r>
            <a:endParaRPr lang="en-US" sz="1300" dirty="0"/>
          </a:p>
        </p:txBody>
      </p:sp>
      <p:sp>
        <p:nvSpPr>
          <p:cNvPr id="11" name="n_122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/ 8</a:t>
            </a:r>
            <a:endParaRPr lang="en-US" sz="1200" dirty="0"/>
          </a:p>
        </p:txBody>
      </p:sp>
      <p:sp>
        <p:nvSpPr>
          <p:cNvPr id="12" name="bk_123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p.10 · 🎧 1.14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2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25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morning!</a:t>
            </a:r>
            <a:endParaRPr lang="en-US" sz="3200" dirty="0"/>
          </a:p>
        </p:txBody>
      </p:sp>
      <p:sp>
        <p:nvSpPr>
          <p:cNvPr id="5" name="in_12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27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28" descr="/home/claude/movers/img/fc/toothbru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036" y="1234440"/>
            <a:ext cx="1953928" cy="2651760"/>
          </a:xfrm>
          <a:prstGeom prst="rect">
            <a:avLst/>
          </a:prstGeom>
        </p:spPr>
      </p:pic>
      <p:sp>
        <p:nvSpPr>
          <p:cNvPr id="8" name="R1_w129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toothbrush</a:t>
            </a:r>
            <a:endParaRPr lang="en-US" sz="3600" dirty="0"/>
          </a:p>
        </p:txBody>
      </p:sp>
      <p:sp>
        <p:nvSpPr>
          <p:cNvPr id="9" name="R2_it130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spazzolino</a:t>
            </a:r>
            <a:endParaRPr lang="en-US" sz="1600" dirty="0"/>
          </a:p>
        </p:txBody>
      </p:sp>
      <p:sp>
        <p:nvSpPr>
          <p:cNvPr id="10" name="R3_tpr131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Clean your teeth! Brush, brush! 🪥</a:t>
            </a:r>
            <a:endParaRPr lang="en-US" sz="1300" dirty="0"/>
          </a:p>
        </p:txBody>
      </p:sp>
      <p:sp>
        <p:nvSpPr>
          <p:cNvPr id="11" name="n_132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/ 8</a:t>
            </a:r>
            <a:endParaRPr lang="en-US" sz="1200" dirty="0"/>
          </a:p>
        </p:txBody>
      </p:sp>
      <p:sp>
        <p:nvSpPr>
          <p:cNvPr id="12" name="bk_133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p.10 · 🎧 1.14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3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 1</a:t>
            </a:r>
            <a:endParaRPr lang="en-US" sz="1600" dirty="0"/>
          </a:p>
        </p:txBody>
      </p:sp>
      <p:sp>
        <p:nvSpPr>
          <p:cNvPr id="4" name="bm_135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 and number</a:t>
            </a:r>
            <a:endParaRPr lang="en-US" sz="2700" dirty="0"/>
          </a:p>
        </p:txBody>
      </p:sp>
      <p:sp>
        <p:nvSpPr>
          <p:cNvPr id="5" name="in_136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 the order first! Then listen and number.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Prima indovina l'ordine! Poi ascolta e numera.</a:t>
            </a:r>
            <a:endParaRPr lang="en-US" sz="1400" dirty="0"/>
          </a:p>
        </p:txBody>
      </p:sp>
      <p:sp>
        <p:nvSpPr>
          <p:cNvPr id="6" name="mode_137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 · ⏱ 4 MIN</a:t>
            </a:r>
            <a:endParaRPr lang="en-US" sz="1000" dirty="0"/>
          </a:p>
        </p:txBody>
      </p:sp>
      <p:sp>
        <p:nvSpPr>
          <p:cNvPr id="7" name="pf_138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139" descr="/home/claude/movers/img/crop/u1-p10-pic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352" y="1325880"/>
            <a:ext cx="2089457" cy="3246120"/>
          </a:xfrm>
          <a:prstGeom prst="rect">
            <a:avLst/>
          </a:prstGeom>
        </p:spPr>
      </p:pic>
      <p:sp>
        <p:nvSpPr>
          <p:cNvPr id="9" name="q_140"/>
          <p:cNvSpPr/>
          <p:nvPr/>
        </p:nvSpPr>
        <p:spPr>
          <a:xfrm>
            <a:off x="5760720" y="132588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 (example)</a:t>
            </a:r>
            <a:endParaRPr lang="en-US" sz="1100" dirty="0"/>
          </a:p>
        </p:txBody>
      </p:sp>
      <p:sp>
        <p:nvSpPr>
          <p:cNvPr id="10" name="R1_a141"/>
          <p:cNvSpPr/>
          <p:nvPr/>
        </p:nvSpPr>
        <p:spPr>
          <a:xfrm>
            <a:off x="5989320" y="161117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– wake up</a:t>
            </a:r>
            <a:endParaRPr lang="en-US" sz="1100" dirty="0"/>
          </a:p>
        </p:txBody>
      </p:sp>
      <p:sp>
        <p:nvSpPr>
          <p:cNvPr id="11" name="q_142"/>
          <p:cNvSpPr/>
          <p:nvPr/>
        </p:nvSpPr>
        <p:spPr>
          <a:xfrm>
            <a:off x="5760720" y="187452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</a:t>
            </a:r>
            <a:endParaRPr lang="en-US" sz="1100" dirty="0"/>
          </a:p>
        </p:txBody>
      </p:sp>
      <p:sp>
        <p:nvSpPr>
          <p:cNvPr id="12" name="R2_a143"/>
          <p:cNvSpPr/>
          <p:nvPr/>
        </p:nvSpPr>
        <p:spPr>
          <a:xfrm>
            <a:off x="5989320" y="215981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– get up</a:t>
            </a:r>
            <a:endParaRPr lang="en-US" sz="1100" dirty="0"/>
          </a:p>
        </p:txBody>
      </p:sp>
      <p:sp>
        <p:nvSpPr>
          <p:cNvPr id="13" name="q_144"/>
          <p:cNvSpPr/>
          <p:nvPr/>
        </p:nvSpPr>
        <p:spPr>
          <a:xfrm>
            <a:off x="5760720" y="242316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</a:t>
            </a:r>
            <a:endParaRPr lang="en-US" sz="1100" dirty="0"/>
          </a:p>
        </p:txBody>
      </p:sp>
      <p:sp>
        <p:nvSpPr>
          <p:cNvPr id="14" name="R3_a145"/>
          <p:cNvSpPr/>
          <p:nvPr/>
        </p:nvSpPr>
        <p:spPr>
          <a:xfrm>
            <a:off x="5989320" y="270845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– have a shower</a:t>
            </a:r>
            <a:endParaRPr lang="en-US" sz="1100" dirty="0"/>
          </a:p>
        </p:txBody>
      </p:sp>
      <p:sp>
        <p:nvSpPr>
          <p:cNvPr id="15" name="q_146"/>
          <p:cNvSpPr/>
          <p:nvPr/>
        </p:nvSpPr>
        <p:spPr>
          <a:xfrm>
            <a:off x="5760720" y="297180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 · a</a:t>
            </a:r>
            <a:endParaRPr lang="en-US" sz="1100" dirty="0"/>
          </a:p>
        </p:txBody>
      </p:sp>
      <p:sp>
        <p:nvSpPr>
          <p:cNvPr id="16" name="R4_a147"/>
          <p:cNvSpPr/>
          <p:nvPr/>
        </p:nvSpPr>
        <p:spPr>
          <a:xfrm>
            <a:off x="5989320" y="325709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– towel · 5 – get dressed</a:t>
            </a:r>
            <a:endParaRPr lang="en-US" sz="1100" dirty="0"/>
          </a:p>
        </p:txBody>
      </p:sp>
      <p:sp>
        <p:nvSpPr>
          <p:cNvPr id="17" name="q_148"/>
          <p:cNvSpPr/>
          <p:nvPr/>
        </p:nvSpPr>
        <p:spPr>
          <a:xfrm>
            <a:off x="5760720" y="352044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</a:t>
            </a:r>
            <a:endParaRPr lang="en-US" sz="1100" dirty="0"/>
          </a:p>
        </p:txBody>
      </p:sp>
      <p:sp>
        <p:nvSpPr>
          <p:cNvPr id="18" name="R5_a149"/>
          <p:cNvSpPr/>
          <p:nvPr/>
        </p:nvSpPr>
        <p:spPr>
          <a:xfrm>
            <a:off x="5989320" y="380573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 – toothpaste · 7 – toothbrush</a:t>
            </a:r>
            <a:endParaRPr lang="en-US" sz="1100" dirty="0"/>
          </a:p>
        </p:txBody>
      </p:sp>
      <p:sp>
        <p:nvSpPr>
          <p:cNvPr id="19" name="q_150"/>
          <p:cNvSpPr/>
          <p:nvPr/>
        </p:nvSpPr>
        <p:spPr>
          <a:xfrm>
            <a:off x="5760720" y="4069080"/>
            <a:ext cx="30175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  </a:t>
            </a:r>
            <a:pPr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</a:t>
            </a:r>
            <a:endParaRPr lang="en-US" sz="1100" dirty="0"/>
          </a:p>
        </p:txBody>
      </p:sp>
      <p:sp>
        <p:nvSpPr>
          <p:cNvPr id="20" name="R6_a151"/>
          <p:cNvSpPr/>
          <p:nvPr/>
        </p:nvSpPr>
        <p:spPr>
          <a:xfrm>
            <a:off x="5989320" y="4354373"/>
            <a:ext cx="27889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 – have breakfast</a:t>
            </a:r>
            <a:endParaRPr lang="en-US" sz="1100" dirty="0"/>
          </a:p>
        </p:txBody>
      </p:sp>
      <p:sp>
        <p:nvSpPr>
          <p:cNvPr id="21" name="bk_152"/>
          <p:cNvSpPr/>
          <p:nvPr/>
        </p:nvSpPr>
        <p:spPr>
          <a:xfrm>
            <a:off x="228600" y="4681728"/>
            <a:ext cx="3502152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p.10 · 🎧 1.14 · 🎬 video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5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SONG</a:t>
            </a:r>
            <a:endParaRPr lang="en-US" sz="1600" dirty="0"/>
          </a:p>
        </p:txBody>
      </p:sp>
      <p:sp>
        <p:nvSpPr>
          <p:cNvPr id="4" name="bm_154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 for us to run! (1)</a:t>
            </a:r>
            <a:endParaRPr lang="en-US" sz="2400" dirty="0"/>
          </a:p>
        </p:txBody>
      </p:sp>
      <p:sp>
        <p:nvSpPr>
          <p:cNvPr id="5" name="in_155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Sing and do the actions!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Canta e fai i gesti!</a:t>
            </a:r>
            <a:endParaRPr lang="en-US" sz="1400" dirty="0"/>
          </a:p>
        </p:txBody>
      </p:sp>
      <p:sp>
        <p:nvSpPr>
          <p:cNvPr id="6" name="mode_156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🎵 SING · ⏱ 5 MIN</a:t>
            </a:r>
            <a:endParaRPr lang="en-US" sz="1000" dirty="0"/>
          </a:p>
        </p:txBody>
      </p:sp>
      <p:sp>
        <p:nvSpPr>
          <p:cNvPr id="7" name="pf_157"/>
          <p:cNvSpPr/>
          <p:nvPr/>
        </p:nvSpPr>
        <p:spPr>
          <a:xfrm>
            <a:off x="310896" y="1271016"/>
            <a:ext cx="852220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158" descr="/home/claude/movers/img/crop/u1-p10-song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992" y="1325880"/>
            <a:ext cx="3340016" cy="3246120"/>
          </a:xfrm>
          <a:prstGeom prst="rect">
            <a:avLst/>
          </a:prstGeom>
        </p:spPr>
      </p:pic>
      <p:sp>
        <p:nvSpPr>
          <p:cNvPr id="9" name="bk_159"/>
          <p:cNvSpPr/>
          <p:nvPr/>
        </p:nvSpPr>
        <p:spPr>
          <a:xfrm>
            <a:off x="228600" y="4681728"/>
            <a:ext cx="404622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p.10 · 🎧 1.14 · karaoke 🎧 1.15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6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SONG</a:t>
            </a:r>
            <a:endParaRPr lang="en-US" sz="1600" dirty="0"/>
          </a:p>
        </p:txBody>
      </p:sp>
      <p:sp>
        <p:nvSpPr>
          <p:cNvPr id="4" name="bm_161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 for us to run! (2)</a:t>
            </a:r>
            <a:endParaRPr lang="en-US" sz="2400" dirty="0"/>
          </a:p>
        </p:txBody>
      </p:sp>
      <p:sp>
        <p:nvSpPr>
          <p:cNvPr id="5" name="in_162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Sing and do the actions! Faster!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Canta e fai i gesti! Più veloce!</a:t>
            </a:r>
            <a:endParaRPr lang="en-US" sz="1400" dirty="0"/>
          </a:p>
        </p:txBody>
      </p:sp>
      <p:sp>
        <p:nvSpPr>
          <p:cNvPr id="6" name="mode_163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🎵 SING</a:t>
            </a:r>
            <a:endParaRPr lang="en-US" sz="1000" dirty="0"/>
          </a:p>
        </p:txBody>
      </p:sp>
      <p:sp>
        <p:nvSpPr>
          <p:cNvPr id="7" name="pf_164"/>
          <p:cNvSpPr/>
          <p:nvPr/>
        </p:nvSpPr>
        <p:spPr>
          <a:xfrm>
            <a:off x="310896" y="1271016"/>
            <a:ext cx="852220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165" descr="/home/claude/movers/img/crop/u1-p10-song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520" y="1325880"/>
            <a:ext cx="3870960" cy="3246120"/>
          </a:xfrm>
          <a:prstGeom prst="rect">
            <a:avLst/>
          </a:prstGeom>
        </p:spPr>
      </p:pic>
      <p:sp>
        <p:nvSpPr>
          <p:cNvPr id="9" name="bk_166"/>
          <p:cNvSpPr/>
          <p:nvPr/>
        </p:nvSpPr>
        <p:spPr>
          <a:xfrm>
            <a:off x="228600" y="4681728"/>
            <a:ext cx="404622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p.10 · 🎧 1.14 · karaoke 🎧 1.15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6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 OUT 🇮🇹</a:t>
            </a:r>
            <a:endParaRPr lang="en-US" sz="1600" dirty="0"/>
          </a:p>
        </p:txBody>
      </p:sp>
      <p:sp>
        <p:nvSpPr>
          <p:cNvPr id="4" name="bm_168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8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Fare = have?</a:t>
            </a:r>
            <a:endParaRPr lang="en-US" sz="3200" dirty="0"/>
          </a:p>
        </p:txBody>
      </p:sp>
      <p:sp>
        <p:nvSpPr>
          <p:cNvPr id="5" name="in_16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do we say it? Think! Then click.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Come si dice? Pensa! Poi clicca.</a:t>
            </a:r>
            <a:endParaRPr lang="en-US" sz="1400" dirty="0"/>
          </a:p>
        </p:txBody>
      </p:sp>
      <p:sp>
        <p:nvSpPr>
          <p:cNvPr id="6" name="mode_170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3 MIN</a:t>
            </a:r>
            <a:endParaRPr lang="en-US" sz="1000" dirty="0"/>
          </a:p>
        </p:txBody>
      </p:sp>
      <p:sp>
        <p:nvSpPr>
          <p:cNvPr id="7" name="gb_171"/>
          <p:cNvSpPr/>
          <p:nvPr/>
        </p:nvSpPr>
        <p:spPr>
          <a:xfrm>
            <a:off x="320040" y="1280160"/>
            <a:ext cx="8503920" cy="841248"/>
          </a:xfrm>
          <a:prstGeom prst="roundRect">
            <a:avLst>
              <a:gd name="adj" fmla="val 13043"/>
            </a:avLst>
          </a:prstGeom>
          <a:solidFill>
            <a:srgbClr val="FFF1E0"/>
          </a:solidFill>
          <a:ln w="38100">
            <a:solidFill>
              <a:srgbClr val="FF8A3D"/>
            </a:solidFill>
            <a:prstDash val="solid"/>
          </a:ln>
        </p:spPr>
      </p:sp>
      <p:sp>
        <p:nvSpPr>
          <p:cNvPr id="8" name="gl_172"/>
          <p:cNvSpPr/>
          <p:nvPr/>
        </p:nvSpPr>
        <p:spPr>
          <a:xfrm>
            <a:off x="548640" y="14173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🇮🇹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fare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la doccia / colazione  →  🇬🇧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HAVE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a shower / breakfast</a:t>
            </a:r>
            <a:endParaRPr lang="en-US" sz="1500" dirty="0"/>
          </a:p>
        </p:txBody>
      </p:sp>
      <p:sp>
        <p:nvSpPr>
          <p:cNvPr id="9" name="pq_173"/>
          <p:cNvSpPr/>
          <p:nvPr/>
        </p:nvSpPr>
        <p:spPr>
          <a:xfrm>
            <a:off x="365760" y="22585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make a shower. ✗</a:t>
            </a:r>
            <a:endParaRPr lang="en-US" sz="1300" dirty="0"/>
          </a:p>
        </p:txBody>
      </p:sp>
      <p:sp>
        <p:nvSpPr>
          <p:cNvPr id="10" name="R1_pa174"/>
          <p:cNvSpPr/>
          <p:nvPr/>
        </p:nvSpPr>
        <p:spPr>
          <a:xfrm>
            <a:off x="6126480" y="22585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have a shower. ✓</a:t>
            </a:r>
            <a:endParaRPr lang="en-US" sz="1300" dirty="0"/>
          </a:p>
        </p:txBody>
      </p:sp>
      <p:sp>
        <p:nvSpPr>
          <p:cNvPr id="11" name="pq_175"/>
          <p:cNvSpPr/>
          <p:nvPr/>
        </p:nvSpPr>
        <p:spPr>
          <a:xfrm>
            <a:off x="365760" y="27157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do breakfast at 8. ✗</a:t>
            </a:r>
            <a:endParaRPr lang="en-US" sz="1300" dirty="0"/>
          </a:p>
        </p:txBody>
      </p:sp>
      <p:sp>
        <p:nvSpPr>
          <p:cNvPr id="12" name="R2_pa176"/>
          <p:cNvSpPr/>
          <p:nvPr/>
        </p:nvSpPr>
        <p:spPr>
          <a:xfrm>
            <a:off x="6126480" y="2715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have breakfast at 8. ✓</a:t>
            </a:r>
            <a:endParaRPr lang="en-US" sz="1300" dirty="0"/>
          </a:p>
        </p:txBody>
      </p:sp>
      <p:sp>
        <p:nvSpPr>
          <p:cNvPr id="13" name="pq_177"/>
          <p:cNvSpPr/>
          <p:nvPr/>
        </p:nvSpPr>
        <p:spPr>
          <a:xfrm>
            <a:off x="365760" y="31729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wash my tooths. ✗</a:t>
            </a:r>
            <a:endParaRPr lang="en-US" sz="1300" dirty="0"/>
          </a:p>
        </p:txBody>
      </p:sp>
      <p:sp>
        <p:nvSpPr>
          <p:cNvPr id="14" name="R3_pa178"/>
          <p:cNvSpPr/>
          <p:nvPr/>
        </p:nvSpPr>
        <p:spPr>
          <a:xfrm>
            <a:off x="6126480" y="3172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clean my teeth. ✓</a:t>
            </a:r>
            <a:endParaRPr lang="en-US" sz="1300" dirty="0"/>
          </a:p>
        </p:txBody>
      </p:sp>
      <p:sp>
        <p:nvSpPr>
          <p:cNvPr id="15" name="pq_179"/>
          <p:cNvSpPr/>
          <p:nvPr/>
        </p:nvSpPr>
        <p:spPr>
          <a:xfrm>
            <a:off x="365760" y="36301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it: 'ave a shower ✗</a:t>
            </a:r>
            <a:endParaRPr lang="en-US" sz="1300" dirty="0"/>
          </a:p>
        </p:txBody>
      </p:sp>
      <p:sp>
        <p:nvSpPr>
          <p:cNvPr id="16" name="R4_pa180"/>
          <p:cNvSpPr/>
          <p:nvPr/>
        </p:nvSpPr>
        <p:spPr>
          <a:xfrm>
            <a:off x="6126480" y="3630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HHHave a shower – huff! ✋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8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2</a:t>
            </a:r>
            <a:endParaRPr lang="en-US" sz="1600" dirty="0"/>
          </a:p>
        </p:txBody>
      </p:sp>
      <p:sp>
        <p:nvSpPr>
          <p:cNvPr id="4" name="bm_182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Mime it!</a:t>
            </a:r>
            <a:endParaRPr lang="en-US" sz="3200" dirty="0"/>
          </a:p>
        </p:txBody>
      </p:sp>
      <p:sp>
        <p:nvSpPr>
          <p:cNvPr id="5" name="in_183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Mime the card. Your team guesses!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Mima la carta. La squadra indovina!</a:t>
            </a:r>
            <a:endParaRPr lang="en-US" sz="1400" dirty="0"/>
          </a:p>
        </p:txBody>
      </p:sp>
      <p:sp>
        <p:nvSpPr>
          <p:cNvPr id="6" name="mode_184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⏱ 5 MIN</a:t>
            </a:r>
            <a:endParaRPr lang="en-US" sz="1000" dirty="0"/>
          </a:p>
        </p:txBody>
      </p:sp>
      <p:sp>
        <p:nvSpPr>
          <p:cNvPr id="7" name="diff_185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You're …ing!</a:t>
            </a:r>
            <a:endParaRPr lang="en-US" sz="950" dirty="0"/>
          </a:p>
        </p:txBody>
      </p:sp>
      <p:sp>
        <p:nvSpPr>
          <p:cNvPr id="8" name="st_186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n_187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6CCB3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k_188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DO</a:t>
            </a:r>
            <a:endParaRPr lang="en-US" sz="1300" dirty="0"/>
          </a:p>
        </p:txBody>
      </p:sp>
      <p:sp>
        <p:nvSpPr>
          <p:cNvPr id="11" name="se_189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player from each team.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 per squadra.</a:t>
            </a:r>
            <a:endParaRPr lang="en-US" sz="1050" dirty="0"/>
          </a:p>
        </p:txBody>
      </p:sp>
      <p:sp>
        <p:nvSpPr>
          <p:cNvPr id="12" name="st_190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n_191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k_192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15" name="se_193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Mime the card: What am I doing?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Mima: Cosa sto facendo?</a:t>
            </a:r>
            <a:endParaRPr lang="en-US" sz="1050" dirty="0"/>
          </a:p>
        </p:txBody>
      </p:sp>
      <p:sp>
        <p:nvSpPr>
          <p:cNvPr id="16" name="st_194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n_195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k_196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9" name="se_197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correct sentence = 1 point!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frase giusta = 1 punto!</a:t>
            </a:r>
            <a:endParaRPr lang="en-US" sz="1050" dirty="0"/>
          </a:p>
        </p:txBody>
      </p:sp>
      <p:sp>
        <p:nvSpPr>
          <p:cNvPr id="20" name="cd_198"/>
          <p:cNvSpPr/>
          <p:nvPr/>
        </p:nvSpPr>
        <p:spPr>
          <a:xfrm>
            <a:off x="310896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1" name="ci_199" descr="/home/claude/movers/img/fc/wake-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399032"/>
            <a:ext cx="1179576" cy="1179576"/>
          </a:xfrm>
          <a:prstGeom prst="rect">
            <a:avLst/>
          </a:prstGeom>
        </p:spPr>
      </p:pic>
      <p:sp>
        <p:nvSpPr>
          <p:cNvPr id="22" name="cd_200"/>
          <p:cNvSpPr/>
          <p:nvPr/>
        </p:nvSpPr>
        <p:spPr>
          <a:xfrm>
            <a:off x="457200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201" descr="/home/claude/movers/img/fc/get-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399032"/>
            <a:ext cx="1179576" cy="1179576"/>
          </a:xfrm>
          <a:prstGeom prst="rect">
            <a:avLst/>
          </a:prstGeom>
        </p:spPr>
      </p:pic>
      <p:sp>
        <p:nvSpPr>
          <p:cNvPr id="24" name="cd_202"/>
          <p:cNvSpPr/>
          <p:nvPr/>
        </p:nvSpPr>
        <p:spPr>
          <a:xfrm>
            <a:off x="603504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5" name="ci_203" descr="/home/claude/movers/img/fc/have-a-show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399032"/>
            <a:ext cx="1179576" cy="1179576"/>
          </a:xfrm>
          <a:prstGeom prst="rect">
            <a:avLst/>
          </a:prstGeom>
        </p:spPr>
      </p:pic>
      <p:sp>
        <p:nvSpPr>
          <p:cNvPr id="26" name="cd_204"/>
          <p:cNvSpPr/>
          <p:nvPr/>
        </p:nvSpPr>
        <p:spPr>
          <a:xfrm>
            <a:off x="749808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7" name="ci_205" descr="/home/claude/movers/img/fc/get-dress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2" y="1399032"/>
            <a:ext cx="1179576" cy="1179576"/>
          </a:xfrm>
          <a:prstGeom prst="rect">
            <a:avLst/>
          </a:prstGeom>
        </p:spPr>
      </p:pic>
      <p:sp>
        <p:nvSpPr>
          <p:cNvPr id="28" name="cd_206"/>
          <p:cNvSpPr/>
          <p:nvPr/>
        </p:nvSpPr>
        <p:spPr>
          <a:xfrm>
            <a:off x="310896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9" name="ci_207" descr="/home/claude/movers/img/fc/have-breakfas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112" y="2834640"/>
            <a:ext cx="1179576" cy="1179576"/>
          </a:xfrm>
          <a:prstGeom prst="rect">
            <a:avLst/>
          </a:prstGeom>
        </p:spPr>
      </p:pic>
      <p:sp>
        <p:nvSpPr>
          <p:cNvPr id="30" name="cd_208"/>
          <p:cNvSpPr/>
          <p:nvPr/>
        </p:nvSpPr>
        <p:spPr>
          <a:xfrm>
            <a:off x="457200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1" name="ci_209" descr="/home/claude/movers/img/fc/toothbrus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2834640"/>
            <a:ext cx="1179576" cy="1179576"/>
          </a:xfrm>
          <a:prstGeom prst="rect">
            <a:avLst/>
          </a:prstGeom>
        </p:spPr>
      </p:pic>
      <p:sp>
        <p:nvSpPr>
          <p:cNvPr id="32" name="cd_210"/>
          <p:cNvSpPr/>
          <p:nvPr/>
        </p:nvSpPr>
        <p:spPr>
          <a:xfrm>
            <a:off x="603504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3" name="ci_211" descr="/home/claude/movers/img/fc/towe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2834640"/>
            <a:ext cx="1179576" cy="1179576"/>
          </a:xfrm>
          <a:prstGeom prst="rect">
            <a:avLst/>
          </a:prstGeom>
        </p:spPr>
      </p:pic>
      <p:sp>
        <p:nvSpPr>
          <p:cNvPr id="34" name="cd_212"/>
          <p:cNvSpPr/>
          <p:nvPr/>
        </p:nvSpPr>
        <p:spPr>
          <a:xfrm>
            <a:off x="749808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5" name="ci_213" descr="/home/claude/movers/img/fc/toothpas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1232" y="2834640"/>
            <a:ext cx="1179576" cy="1179576"/>
          </a:xfrm>
          <a:prstGeom prst="rect">
            <a:avLst/>
          </a:prstGeom>
        </p:spPr>
      </p:pic>
      <p:sp>
        <p:nvSpPr>
          <p:cNvPr id="36" name="bk_214"/>
          <p:cNvSpPr/>
          <p:nvPr/>
        </p:nvSpPr>
        <p:spPr>
          <a:xfrm>
            <a:off x="228600" y="4681728"/>
            <a:ext cx="3113532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p.10 · Play the game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15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 1</a:t>
            </a:r>
            <a:endParaRPr lang="en-US" sz="1600" dirty="0"/>
          </a:p>
        </p:txBody>
      </p:sp>
      <p:sp>
        <p:nvSpPr>
          <p:cNvPr id="4" name="bm_216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time is lunch?</a:t>
            </a:r>
            <a:endParaRPr lang="en-US" sz="2400" dirty="0"/>
          </a:p>
        </p:txBody>
      </p:sp>
      <p:sp>
        <p:nvSpPr>
          <p:cNvPr id="5" name="in_217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 first! Then listen and tick ✓.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Prima indovina! Poi ascolta e spunta ✓.</a:t>
            </a:r>
            <a:endParaRPr lang="en-US" sz="1400" dirty="0"/>
          </a:p>
        </p:txBody>
      </p:sp>
      <p:sp>
        <p:nvSpPr>
          <p:cNvPr id="6" name="mode_218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 · ⏱ 4 MIN</a:t>
            </a:r>
            <a:endParaRPr lang="en-US" sz="1000" dirty="0"/>
          </a:p>
        </p:txBody>
      </p:sp>
      <p:sp>
        <p:nvSpPr>
          <p:cNvPr id="7" name="pf_219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20" descr="/home/claude/movers/img/crop/u1-p11-watch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76626"/>
            <a:ext cx="5120640" cy="1344628"/>
          </a:xfrm>
          <a:prstGeom prst="rect">
            <a:avLst/>
          </a:prstGeom>
        </p:spPr>
      </p:pic>
      <p:sp>
        <p:nvSpPr>
          <p:cNvPr id="9" name="q_221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time does he have lunch?</a:t>
            </a:r>
            <a:endParaRPr lang="en-US" sz="1250" dirty="0"/>
          </a:p>
        </p:txBody>
      </p:sp>
      <p:sp>
        <p:nvSpPr>
          <p:cNvPr id="10" name="R1_a222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At one o'clock – picture 2 ✓</a:t>
            </a:r>
            <a:endParaRPr lang="en-US" sz="1250" dirty="0"/>
          </a:p>
        </p:txBody>
      </p:sp>
      <p:sp>
        <p:nvSpPr>
          <p:cNvPr id="11" name="q_223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time does he get up?</a:t>
            </a:r>
            <a:endParaRPr lang="en-US" sz="1250" dirty="0"/>
          </a:p>
        </p:txBody>
      </p:sp>
      <p:sp>
        <p:nvSpPr>
          <p:cNvPr id="12" name="R2_a224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At seven o'clock.</a:t>
            </a:r>
            <a:endParaRPr lang="en-US" sz="1250" dirty="0"/>
          </a:p>
        </p:txBody>
      </p:sp>
      <p:sp>
        <p:nvSpPr>
          <p:cNvPr id="13" name="q_225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time do lessons start in the afternoon?</a:t>
            </a:r>
            <a:endParaRPr lang="en-US" sz="1250" dirty="0"/>
          </a:p>
        </p:txBody>
      </p:sp>
      <p:sp>
        <p:nvSpPr>
          <p:cNvPr id="14" name="R3_a226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At two o'clock.</a:t>
            </a:r>
            <a:endParaRPr lang="en-US" sz="1250" dirty="0"/>
          </a:p>
        </p:txBody>
      </p:sp>
      <p:sp>
        <p:nvSpPr>
          <p:cNvPr id="15" name="q_227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time does school finish?</a:t>
            </a:r>
            <a:endParaRPr lang="en-US" sz="1250" dirty="0"/>
          </a:p>
        </p:txBody>
      </p:sp>
      <p:sp>
        <p:nvSpPr>
          <p:cNvPr id="16" name="R4_a228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At four o'clock.</a:t>
            </a:r>
            <a:endParaRPr lang="en-US" sz="1250" dirty="0"/>
          </a:p>
        </p:txBody>
      </p:sp>
      <p:sp>
        <p:nvSpPr>
          <p:cNvPr id="17" name="bk_229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p.11 · 🎧 1.16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3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</a:t>
            </a:r>
            <a:endParaRPr lang="en-US" sz="1600" dirty="0"/>
          </a:p>
        </p:txBody>
      </p:sp>
      <p:sp>
        <p:nvSpPr>
          <p:cNvPr id="4" name="bm_231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8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Gracie's Grammar</a:t>
            </a:r>
            <a:endParaRPr lang="en-US" sz="2700" dirty="0"/>
          </a:p>
        </p:txBody>
      </p:sp>
      <p:sp>
        <p:nvSpPr>
          <p:cNvPr id="5" name="mode_232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4 MIN</a:t>
            </a:r>
            <a:endParaRPr lang="en-US" sz="1000" dirty="0"/>
          </a:p>
        </p:txBody>
      </p:sp>
      <p:sp>
        <p:nvSpPr>
          <p:cNvPr id="6" name="gb_233"/>
          <p:cNvSpPr/>
          <p:nvPr/>
        </p:nvSpPr>
        <p:spPr>
          <a:xfrm>
            <a:off x="320040" y="1280160"/>
            <a:ext cx="8503920" cy="1225296"/>
          </a:xfrm>
          <a:prstGeom prst="roundRect">
            <a:avLst>
              <a:gd name="adj" fmla="val 8955"/>
            </a:avLst>
          </a:prstGeom>
          <a:solidFill>
            <a:srgbClr val="FFF1E0"/>
          </a:solidFill>
          <a:ln w="38100">
            <a:solidFill>
              <a:srgbClr val="FF8A3D"/>
            </a:solidFill>
            <a:prstDash val="solid"/>
          </a:ln>
        </p:spPr>
      </p:sp>
      <p:pic>
        <p:nvPicPr>
          <p:cNvPr id="7" name="pic_234" descr="/home/claude/movers/img/fc/grac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362263"/>
            <a:ext cx="868680" cy="1042803"/>
          </a:xfrm>
          <a:prstGeom prst="rect">
            <a:avLst/>
          </a:prstGeom>
        </p:spPr>
      </p:pic>
      <p:sp>
        <p:nvSpPr>
          <p:cNvPr id="8" name="gl_235"/>
          <p:cNvSpPr/>
          <p:nvPr/>
        </p:nvSpPr>
        <p:spPr>
          <a:xfrm>
            <a:off x="548640" y="14173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time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do you get up?  –  I get up at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seven o'clock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gl_236"/>
          <p:cNvSpPr/>
          <p:nvPr/>
        </p:nvSpPr>
        <p:spPr>
          <a:xfrm>
            <a:off x="548640" y="18013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time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does school finish?  –  It finishes at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four o'clock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.</a:t>
            </a:r>
            <a:endParaRPr lang="en-US" sz="1500" dirty="0"/>
          </a:p>
        </p:txBody>
      </p:sp>
      <p:sp>
        <p:nvSpPr>
          <p:cNvPr id="10" name="pq_237"/>
          <p:cNvSpPr/>
          <p:nvPr/>
        </p:nvSpPr>
        <p:spPr>
          <a:xfrm>
            <a:off x="365760" y="26426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time ___ you have breakfast?</a:t>
            </a:r>
            <a:endParaRPr lang="en-US" sz="1300" dirty="0"/>
          </a:p>
        </p:txBody>
      </p:sp>
      <p:sp>
        <p:nvSpPr>
          <p:cNvPr id="11" name="R1_pa238"/>
          <p:cNvSpPr/>
          <p:nvPr/>
        </p:nvSpPr>
        <p:spPr>
          <a:xfrm>
            <a:off x="6126480" y="26426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</a:t>
            </a:r>
            <a:endParaRPr lang="en-US" sz="1300" dirty="0"/>
          </a:p>
        </p:txBody>
      </p:sp>
      <p:sp>
        <p:nvSpPr>
          <p:cNvPr id="12" name="pq_239"/>
          <p:cNvSpPr/>
          <p:nvPr/>
        </p:nvSpPr>
        <p:spPr>
          <a:xfrm>
            <a:off x="365760" y="30998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time ___ he have lunch?</a:t>
            </a:r>
            <a:endParaRPr lang="en-US" sz="1300" dirty="0"/>
          </a:p>
        </p:txBody>
      </p:sp>
      <p:sp>
        <p:nvSpPr>
          <p:cNvPr id="13" name="R2_pa240"/>
          <p:cNvSpPr/>
          <p:nvPr/>
        </p:nvSpPr>
        <p:spPr>
          <a:xfrm>
            <a:off x="6126480" y="30998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does</a:t>
            </a:r>
            <a:endParaRPr lang="en-US" sz="1300" dirty="0"/>
          </a:p>
        </p:txBody>
      </p:sp>
      <p:sp>
        <p:nvSpPr>
          <p:cNvPr id="14" name="pq_241"/>
          <p:cNvSpPr/>
          <p:nvPr/>
        </p:nvSpPr>
        <p:spPr>
          <a:xfrm>
            <a:off x="365760" y="35570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School ___ at four o'clock. (finish)</a:t>
            </a:r>
            <a:endParaRPr lang="en-US" sz="1300" dirty="0"/>
          </a:p>
        </p:txBody>
      </p:sp>
      <p:sp>
        <p:nvSpPr>
          <p:cNvPr id="15" name="R3_pa242"/>
          <p:cNvSpPr/>
          <p:nvPr/>
        </p:nvSpPr>
        <p:spPr>
          <a:xfrm>
            <a:off x="6126480" y="35570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finishes</a:t>
            </a:r>
            <a:endParaRPr lang="en-US" sz="1300" dirty="0"/>
          </a:p>
        </p:txBody>
      </p:sp>
      <p:sp>
        <p:nvSpPr>
          <p:cNvPr id="16" name="pq_243"/>
          <p:cNvSpPr/>
          <p:nvPr/>
        </p:nvSpPr>
        <p:spPr>
          <a:xfrm>
            <a:off x="365760" y="40142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time does Grandpa wake up? (6:00)</a:t>
            </a:r>
            <a:endParaRPr lang="en-US" sz="1300" dirty="0"/>
          </a:p>
        </p:txBody>
      </p:sp>
      <p:sp>
        <p:nvSpPr>
          <p:cNvPr id="17" name="R4_pa244"/>
          <p:cNvSpPr/>
          <p:nvPr/>
        </p:nvSpPr>
        <p:spPr>
          <a:xfrm>
            <a:off x="6126480" y="40142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 wakes up at six o'clock.</a:t>
            </a:r>
            <a:endParaRPr lang="en-US" sz="1300" dirty="0"/>
          </a:p>
        </p:txBody>
      </p:sp>
      <p:sp>
        <p:nvSpPr>
          <p:cNvPr id="18" name="bk_245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p.11 · 🎧 1.17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4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 2</a:t>
            </a:r>
            <a:endParaRPr lang="en-US" sz="1600" dirty="0"/>
          </a:p>
        </p:txBody>
      </p:sp>
      <p:sp>
        <p:nvSpPr>
          <p:cNvPr id="4" name="bm_247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Ask and answer</a:t>
            </a:r>
            <a:endParaRPr lang="en-US" sz="2700" dirty="0"/>
          </a:p>
        </p:txBody>
      </p:sp>
      <p:sp>
        <p:nvSpPr>
          <p:cNvPr id="5" name="in_248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Ask and answer with a friend.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Fai domande e rispondi con un compagno.</a:t>
            </a:r>
            <a:endParaRPr lang="en-US" sz="1400" dirty="0"/>
          </a:p>
        </p:txBody>
      </p:sp>
      <p:sp>
        <p:nvSpPr>
          <p:cNvPr id="6" name="mode_249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5 MIN</a:t>
            </a:r>
            <a:endParaRPr lang="en-US" sz="1000" dirty="0"/>
          </a:p>
        </p:txBody>
      </p:sp>
      <p:sp>
        <p:nvSpPr>
          <p:cNvPr id="7" name="diff_250"/>
          <p:cNvSpPr/>
          <p:nvPr/>
        </p:nvSpPr>
        <p:spPr>
          <a:xfrm>
            <a:off x="434340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 … at … o'clock.</a:t>
            </a:r>
            <a:endParaRPr lang="en-US" sz="950" dirty="0"/>
          </a:p>
        </p:txBody>
      </p:sp>
      <p:sp>
        <p:nvSpPr>
          <p:cNvPr id="8" name="diff_251"/>
          <p:cNvSpPr/>
          <p:nvPr/>
        </p:nvSpPr>
        <p:spPr>
          <a:xfrm>
            <a:off x="667512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Ask about your mum!</a:t>
            </a:r>
            <a:endParaRPr lang="en-US" sz="950" dirty="0"/>
          </a:p>
        </p:txBody>
      </p:sp>
      <p:sp>
        <p:nvSpPr>
          <p:cNvPr id="9" name="pf_252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pic_253" descr="/home/claude/movers/img/crop/u1-p11-as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64085"/>
            <a:ext cx="5120640" cy="1769710"/>
          </a:xfrm>
          <a:prstGeom prst="rect">
            <a:avLst/>
          </a:prstGeom>
        </p:spPr>
      </p:pic>
      <p:sp>
        <p:nvSpPr>
          <p:cNvPr id="11" name="q_254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time do you get up?</a:t>
            </a:r>
            <a:endParaRPr lang="en-US" sz="1250" dirty="0"/>
          </a:p>
        </p:txBody>
      </p:sp>
      <p:sp>
        <p:nvSpPr>
          <p:cNvPr id="12" name="R1_a255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get up at seven o'clock.</a:t>
            </a:r>
            <a:endParaRPr lang="en-US" sz="1250" dirty="0"/>
          </a:p>
        </p:txBody>
      </p:sp>
      <p:sp>
        <p:nvSpPr>
          <p:cNvPr id="13" name="q_256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time do you go to school?</a:t>
            </a:r>
            <a:endParaRPr lang="en-US" sz="1250" dirty="0"/>
          </a:p>
        </p:txBody>
      </p:sp>
      <p:sp>
        <p:nvSpPr>
          <p:cNvPr id="14" name="R2_a257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go to school at eight o'clock.</a:t>
            </a:r>
            <a:endParaRPr lang="en-US" sz="1250" dirty="0"/>
          </a:p>
        </p:txBody>
      </p:sp>
      <p:sp>
        <p:nvSpPr>
          <p:cNvPr id="15" name="q_258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time do you have lunch?</a:t>
            </a:r>
            <a:endParaRPr lang="en-US" sz="1250" dirty="0"/>
          </a:p>
        </p:txBody>
      </p:sp>
      <p:sp>
        <p:nvSpPr>
          <p:cNvPr id="16" name="R3_a259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have lunch at two o'clock.</a:t>
            </a:r>
            <a:endParaRPr lang="en-US" sz="1250" dirty="0"/>
          </a:p>
        </p:txBody>
      </p:sp>
      <p:sp>
        <p:nvSpPr>
          <p:cNvPr id="17" name="q_260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time do you go to bed?</a:t>
            </a:r>
            <a:endParaRPr lang="en-US" sz="1250" dirty="0"/>
          </a:p>
        </p:txBody>
      </p:sp>
      <p:sp>
        <p:nvSpPr>
          <p:cNvPr id="18" name="R4_a261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go to bed at nine o'clock.</a:t>
            </a:r>
            <a:endParaRPr lang="en-US" sz="1250" dirty="0"/>
          </a:p>
        </p:txBody>
      </p:sp>
      <p:sp>
        <p:nvSpPr>
          <p:cNvPr id="19" name="bk_262"/>
          <p:cNvSpPr/>
          <p:nvPr/>
        </p:nvSpPr>
        <p:spPr>
          <a:xfrm>
            <a:off x="228600" y="4681728"/>
            <a:ext cx="186994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p.11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6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 2</a:t>
            </a:r>
            <a:endParaRPr lang="en-US" sz="1600" dirty="0"/>
          </a:p>
        </p:txBody>
      </p:sp>
      <p:sp>
        <p:nvSpPr>
          <p:cNvPr id="4" name="bm_264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daily routine</a:t>
            </a:r>
            <a:endParaRPr lang="en-US" sz="2700" dirty="0"/>
          </a:p>
        </p:txBody>
      </p:sp>
      <p:sp>
        <p:nvSpPr>
          <p:cNvPr id="5" name="in_265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Mission Stage 2: draw and write your routine.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Missione fase 2: disegna e scrivi la tua routine.</a:t>
            </a:r>
            <a:endParaRPr lang="en-US" sz="1400" dirty="0"/>
          </a:p>
        </p:txBody>
      </p:sp>
      <p:sp>
        <p:nvSpPr>
          <p:cNvPr id="6" name="mode_266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✍ ALONE · ⏱ 8 MIN</a:t>
            </a:r>
            <a:endParaRPr lang="en-US" sz="1000" dirty="0"/>
          </a:p>
        </p:txBody>
      </p:sp>
      <p:sp>
        <p:nvSpPr>
          <p:cNvPr id="7" name="pf_267"/>
          <p:cNvSpPr/>
          <p:nvPr/>
        </p:nvSpPr>
        <p:spPr>
          <a:xfrm>
            <a:off x="310896" y="1271016"/>
            <a:ext cx="852220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68" descr="/home/claude/movers/img/crop/u1-p11-miss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132" y="1325880"/>
            <a:ext cx="7423735" cy="3246120"/>
          </a:xfrm>
          <a:prstGeom prst="rect">
            <a:avLst/>
          </a:prstGeom>
        </p:spPr>
      </p:pic>
      <p:sp>
        <p:nvSpPr>
          <p:cNvPr id="9" name="bk_269"/>
          <p:cNvSpPr/>
          <p:nvPr/>
        </p:nvSpPr>
        <p:spPr>
          <a:xfrm>
            <a:off x="228600" y="4681728"/>
            <a:ext cx="490118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p.11 · Activity Book p.6 (My mission diary)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7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WELL DONE!</a:t>
            </a:r>
            <a:endParaRPr lang="en-US" sz="1600" dirty="0"/>
          </a:p>
        </p:txBody>
      </p:sp>
      <p:sp>
        <p:nvSpPr>
          <p:cNvPr id="4" name="bm_271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Bye bye! 👋</a:t>
            </a:r>
            <a:endParaRPr lang="en-US" sz="3200" dirty="0"/>
          </a:p>
        </p:txBody>
      </p:sp>
      <p:sp>
        <p:nvSpPr>
          <p:cNvPr id="5" name="in_27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I can… · Oggi so…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Show me with your thumbs! 👍 👌 👎</a:t>
            </a:r>
            <a:endParaRPr lang="en-US" sz="1400" dirty="0"/>
          </a:p>
        </p:txBody>
      </p:sp>
      <p:sp>
        <p:nvSpPr>
          <p:cNvPr id="6" name="can_273"/>
          <p:cNvSpPr/>
          <p:nvPr/>
        </p:nvSpPr>
        <p:spPr>
          <a:xfrm>
            <a:off x="320040" y="132588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say my morning routine.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dire la mia routine del mattino.</a:t>
            </a:r>
            <a:endParaRPr lang="en-US" sz="1300" dirty="0"/>
          </a:p>
        </p:txBody>
      </p:sp>
      <p:sp>
        <p:nvSpPr>
          <p:cNvPr id="7" name="can_274"/>
          <p:cNvSpPr/>
          <p:nvPr/>
        </p:nvSpPr>
        <p:spPr>
          <a:xfrm>
            <a:off x="320040" y="205740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say: I HAVE breakfast (not make!).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dire have breakfast.</a:t>
            </a:r>
            <a:endParaRPr lang="en-US" sz="1300" dirty="0"/>
          </a:p>
        </p:txBody>
      </p:sp>
      <p:sp>
        <p:nvSpPr>
          <p:cNvPr id="8" name="can_275"/>
          <p:cNvSpPr/>
          <p:nvPr/>
        </p:nvSpPr>
        <p:spPr>
          <a:xfrm>
            <a:off x="320040" y="278892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ask: What time…? At … o'clock.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chiedere e dire l'ora.</a:t>
            </a:r>
            <a:endParaRPr lang="en-US" sz="1300" dirty="0"/>
          </a:p>
        </p:txBody>
      </p:sp>
      <p:sp>
        <p:nvSpPr>
          <p:cNvPr id="9" name="hw_276"/>
          <p:cNvSpPr/>
          <p:nvPr/>
        </p:nvSpPr>
        <p:spPr>
          <a:xfrm>
            <a:off x="5303520" y="132588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🏠 HOMEWORK · COMPITI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Homework sheet: My day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Activity Book p.10 ex 1 · p.11 ex 1 and 2</a:t>
            </a:r>
            <a:endParaRPr lang="en-US" sz="1250" dirty="0"/>
          </a:p>
        </p:txBody>
      </p:sp>
      <p:sp>
        <p:nvSpPr>
          <p:cNvPr id="10" name="nx_277"/>
          <p:cNvSpPr/>
          <p:nvPr/>
        </p:nvSpPr>
        <p:spPr>
          <a:xfrm>
            <a:off x="5303520" y="3840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➡ Next: Look after our planet! 🌍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7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600" dirty="0"/>
          </a:p>
        </p:txBody>
      </p:sp>
      <p:sp>
        <p:nvSpPr>
          <p:cNvPr id="4" name="bm_279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8E5B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EXTRA: Human clocks!</a:t>
            </a:r>
            <a:endParaRPr lang="en-US" sz="2400" dirty="0"/>
          </a:p>
        </p:txBody>
      </p:sp>
      <p:sp>
        <p:nvSpPr>
          <p:cNvPr id="5" name="in_280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Make the clock with your bodies!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Fate l'orologio con il corpo!</a:t>
            </a:r>
            <a:endParaRPr lang="en-US" sz="1400" dirty="0"/>
          </a:p>
        </p:txBody>
      </p:sp>
      <p:sp>
        <p:nvSpPr>
          <p:cNvPr id="6" name="mode_281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GROUPS OF 3 · ⏱ 5 MIN</a:t>
            </a:r>
            <a:endParaRPr lang="en-US" sz="1000" dirty="0"/>
          </a:p>
        </p:txBody>
      </p:sp>
      <p:sp>
        <p:nvSpPr>
          <p:cNvPr id="7" name="st_282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283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284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0" name="se_285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have lunch at one o'clock!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Pranzo all'una!</a:t>
            </a:r>
            <a:endParaRPr lang="en-US" sz="1050" dirty="0"/>
          </a:p>
        </p:txBody>
      </p:sp>
      <p:sp>
        <p:nvSpPr>
          <p:cNvPr id="11" name="st_286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287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288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14" name="se_289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arm + long arm = the hands!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Braccio corto + lungo = lancette!</a:t>
            </a:r>
            <a:endParaRPr lang="en-US" sz="1050" dirty="0"/>
          </a:p>
        </p:txBody>
      </p:sp>
      <p:sp>
        <p:nvSpPr>
          <p:cNvPr id="15" name="st_290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291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292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8" name="se_293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the sentence!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Di' la frase!</a:t>
            </a:r>
            <a:endParaRPr lang="en-US" sz="1050" dirty="0"/>
          </a:p>
        </p:txBody>
      </p:sp>
      <p:sp>
        <p:nvSpPr>
          <p:cNvPr id="19" name="cd_294"/>
          <p:cNvSpPr/>
          <p:nvPr/>
        </p:nvSpPr>
        <p:spPr>
          <a:xfrm>
            <a:off x="310896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295" descr="/home/claude/movers/img/e-u1-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399032"/>
            <a:ext cx="1179576" cy="1179576"/>
          </a:xfrm>
          <a:prstGeom prst="rect">
            <a:avLst/>
          </a:prstGeom>
        </p:spPr>
      </p:pic>
      <p:sp>
        <p:nvSpPr>
          <p:cNvPr id="21" name="cd_296"/>
          <p:cNvSpPr/>
          <p:nvPr/>
        </p:nvSpPr>
        <p:spPr>
          <a:xfrm>
            <a:off x="457200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297" descr="/home/claude/movers/img/fc/have-breakfa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399032"/>
            <a:ext cx="1179576" cy="1179576"/>
          </a:xfrm>
          <a:prstGeom prst="rect">
            <a:avLst/>
          </a:prstGeom>
        </p:spPr>
      </p:pic>
      <p:sp>
        <p:nvSpPr>
          <p:cNvPr id="23" name="cd_298"/>
          <p:cNvSpPr/>
          <p:nvPr/>
        </p:nvSpPr>
        <p:spPr>
          <a:xfrm>
            <a:off x="603504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4" name="ci_299" descr="/home/claude/movers/img/fc/get-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399032"/>
            <a:ext cx="1179576" cy="1179576"/>
          </a:xfrm>
          <a:prstGeom prst="rect">
            <a:avLst/>
          </a:prstGeom>
        </p:spPr>
      </p:pic>
      <p:sp>
        <p:nvSpPr>
          <p:cNvPr id="25" name="cd_300"/>
          <p:cNvSpPr/>
          <p:nvPr/>
        </p:nvSpPr>
        <p:spPr>
          <a:xfrm>
            <a:off x="749808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301" descr="/home/claude/movers/img/fc/toothbru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2" y="1399032"/>
            <a:ext cx="1179576" cy="1179576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Movers · UNIT 1 · LESSON 3 · Time for us to run!</dc:title>
  <dc:subject>PptxGenJS Presentation</dc:subject>
  <dc:creator>PptxGenJS</dc:creator>
  <cp:lastModifiedBy>PptxGenJS</cp:lastModifiedBy>
  <cp:revision>1</cp:revision>
  <dcterms:created xsi:type="dcterms:W3CDTF">2026-10-06T10:51:15Z</dcterms:created>
  <dcterms:modified xsi:type="dcterms:W3CDTF">2026-10-06T10:51:15Z</dcterms:modified>
</cp:coreProperties>
</file>