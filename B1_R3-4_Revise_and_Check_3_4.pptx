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REVISE AND CHECK 3&amp;4 (60 min) · SB pp.44–45. A game-based review of Files 3 and 4: 3A comparatives and superlatives, transport; 3B articles, dependent prepositions; 4A have to / must / should, phone language; 4B can / could / be able to, -ed / -ing adjectives, reflexive pronouns. Keep ONE team score for the whole lesson (two or three teams; write it on the board). Timing: cover 2 · warm-up 5 · grammar bets 10 · vocabulary race 8 · pronunciation 4 · Taboo 8 · listening 4.21 8 · 30-second challenge 8 · exit 3 = 56 min. The reading on p.45 is homework (or an EXTRA slide if there's time). TG: page 44 adds up to 50 points (grammar 15, vocabulary 25, pronunciation 10) — you can use it as a mini-test instead of the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 REVISION of 4B part 2 (5 min). VARIATION: beat the clock — speed + team competition (first points on the lesson scoreboard). Read the sentence aloud; teams have 10 seconds to write the word; click once per item to show the answer. 1 point per correct word; +1 if a team member says it with the right stress (boring, frightened, frustrated, embarrassing). All sentences are from audio 4.19 and 4.20. Fast follow-up: 'Which tip from the forum did you try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1 (5 min). Teams circle a, b or c for Grammar 1–15 on p.44 in 4 minutes, books open, no notes (the slide shows 1–8 in the book's wording; 9–15 on the next slide). Then the bet: for each item, each team says its answer and bets 1, 2 or 3 points (write the bets on the board). Click once per item to reveal the answer (TG key): 1 c · 2 a · 3 c · 4 b · 5 a · 6 a · 7 b · 8 b. Right = win the bet; wrong = lose it. VARIATION: forced choice + risk (students must decide how SURE they are — great for self-assessment). For every wrong answer, ask a team that got it right to explain the rule (student as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2 (5 min). Continue the betting with 9–15 (book wording). Click once per item (TG key): 9 a · 10 c · 11 b · 12 b · 13 c · 14 b · 15 a. Items 9 and 12 are the classic don't have to / mustn't contrast — make the team explain it. Add up the bets on the scoreboard.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(8 min). Pairs do Vocabulary a–e on p.44 (25 items). VARIATION: race against time — when the first pair shouts STOP, everybody has 1 more minute. Then check: click once per section (answers from the TG key): a 1 limit · 2 belts · 3 lanes · 4 rush · 5 rank (speed limit, seat belts, cycle lanes, rush hour, taxi rank) · b 1 in · 2 for · 3 on · 4 at · 5 of · c 1 traffic · 2 van · 3 ferry · 4 set (off) · 5 take · d 1 boring · 2 frightening · 3 excited · 4 disappointed · 5 depressing · e 1 leave · 2 engaged · 3 hung (up) · 4 swiped · 5 ringtones. 1 point per correct word → team scoreboard. Book sentences (for reading aloud while checking): a 1 Slow down! The speed limit is 100. · 2 I won't start the car until you've all put on your seat belts. · 3 …there are very few cycle lanes. · 4 Try to avoid using the Tube between 8.00 and 9.30 a.m. – it's the rush hour. · 5 There's a taxi rank at the station. b 1 We arrived in Prague at 5.30. · 2 I apologized for being late. · 3 I'm not very keen on horror films. · 4 My son is good at speaking languages. · 5 This song reminds me of my holiday. c 1 …stuck in a terrible traffic jam · 2 I've hired a van… · 3 …get the ferry to France · 4 We're going to set off early… · 5 How long does it take to get from here to the airport? d 1 The match ended 0–0. It was really boring. · 2 …the most frightening experience… · 3 We're very excited about our holiday! · 4 I'm a bit disappointed with my exam results. · 5 This news programme is too depressing. e 1 Please leave a message. · 2 The line's engaged. · 3 …he just hung up! · 4 We swiped through hundreds of their holiday photos. · 5 …really loud ringtones on their mobiles! Recycle: for each section, one student makes a new sentence with one of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(4 min). a: practise the sound pictures — vowels computer /ə/, ear /ɪə/, boy /ɔɪ/, bike /aɪ/; consonants chess /tʃ/, jazz /dʒ/, thumb /θ/, mother /ð/, girl /g/ (yellow sticky). Pairs do c (What sound in a do the pink letters have in these words? — pink letters: arr-i-ve, en-g-aged, messa-ge, Und-er-ground, wi-th) and d (Underline the stressed syllable), saying the words aloud. Click 1 for all answers. c (TG key): 1 arrive /aɪ/ · 2 engaged /g/ · 3 message /dʒ/ · 4 Underground /ə/ · 5 with /ð/. d: 1 motorway · 2 disappointed · 3 pedestrian · 4 voicemail · 5 embarrassing — the capitals on the slide follow standard dictionary stress (MOtorway, disapPOINTed, peDEStrian, VOICEmail, emBARRassing). Drill all ten words. Tell students the Sound Bank on pp.166–167 shows the symbols and common spellings (TG).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(8 min). Classic Taboo: one describer per team, 1 minute per card, the describer's team guesses. VARIATION: constraint challenge (banned words). Words: 3A transport / on the road (zebra crossing, traffic jam, seat belt, rush hour), 4A phone language (voicemail, ringtone), 4B listening (busking), 3B (stereotype). Bonus point if the describer uses a grammar point of the Files (a superlative, have to / mustn't, be able to): 'It's the time when you have to wait the longest in traffic!' IMPORTANT: guessers must not see the screen. Check they have turned round BEFORE you click each card. Every card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2.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3.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4.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5.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6.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7.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8.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(8 min). VARIATION: prediction — read the five multiple-choice items first (book wording on the slide); teams predict each answer and score 1 point for a correct prediction. Book items (options): 1 Nick thinks the most enjoyable way to travel in London is ___ (a by Tube · b by bus · c by bike) · 2 Butterfly thinks that ___ at looking after small children (a men are better than women · b women are better than men · c men and women are equally good) · 3 Coleen thinks that women are more interested in ___ than men (a sport · b fashion · c gossip) · 4 Jenny speaks ___ languages (a one · b two · c three) · 5 What Linwood finds really annoying is people who use their phones ___ (a on public transport · b in the street · c in restaurants). Play the embedded video (2'55″, = audio 4.21) once; play again. Click 1 for all answers (TG key): 1 c · 2 c · 3 c · 4 b · 5 b. Evidence (audio script): 1 Nick: the easiest way is the Tube; the nicest way is by Boris bike – a nice way to see the city, but maybe not the quickest · 2 Butterfly: it's definitely a stereotype; both sexes give children equally valuable experiences · 3 Coleen: women are much more into 'what did you say, what did he say, what did you feel'; men are more pragmatic · 4 Jenny speaks English and Afrikaans; she'd like to be able to speak Spanish, because it's spoken all over the world and it's important to communicate with more people · 5 Linwood: people texting or looking at their phones while walking, not looking where they're going. Quick class vote: do you agree with Butterfly or Coleen? If the embedded video doesn't play, use audio 4.21 or the Teacher's Resource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(8 min). Based on 'Can you say this in English?' on p.45 — the slide shows the book's four can-do statements (Can you…? 1–4), one per lesson: 3A transport, 3B stereotypes, 4A manners, 4B ability. Extra topics if needed: annoying things people do with their phones · the best way to practise English outside class. VARIATION: micro-challenge ('Just a minute' style). Teams take turns: a speaker chooses a topic and talks for 30 seconds. The other team can CHALLENGE for a long pause, a word in Italian or a clear grammar mistake from Files 3–4 (e.g. ✗ more cheap, ✗ must to, ✗ I want to can). Correct challenge = the point goes to the challenger; 30 seconds without a challenge = 2 points. Finish with the final score and a round of applause for the winners. Then students tick the 'Can you…?' boxes in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 this time it's also self-assessment for Files 3 and 4: anyone with 😐 should review the Grammar Bank (3A, 3B, 4A, 4B). Homework: SB p.45 'Can you understand this text?' (answers: a A 5 · B 3 · C 6 · D 4 · E 1 · F 2) + Online Practice 'Check your progress' + the R3-4 homework sheet (easier version available). TG: Quick Test 4 / File 4 Test are on the Teacher's Resource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VARIATION: spot the error + student as teacher. The correct sentences come from the Grammar Bank 3B b key (TG): on – Fridays · on your way to – work · in the sales – last month · It's the oldest building · Do you like – cats? · when she finishes – work. Rule reminders (TG 3B notes): no article when we generalize (I love cats), the with superlatives, no article with days / last month / next week, go to work / school / 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(5 min). VARIATION: change the energy — 'tennis': teams answer in turn, 3 seconds per answer; a mistake or silence = point to the other team. Click once per item. All from audio 3.25–3.27 (afraid of bats, good at sport, looking forward to the party, keen on cycling, famous for its main square, believe in stereotypes, it depends on the weather, fed up with sitting in this traffic jam). Then pairs ask 3 questions from 3.27 (What are you really looking forward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 HOMEWORK (8 min). The reading on p.45 is a bit above the level of the Files but revises their language (TG). 'How to be the perfect car passenger' (adapted from a driving blog). a: read the article once and choose the correct heading for each paragraph A–F (headings 1–6 on the yellow sticky); click 1 for the answers (TG key): A 5 · B 3 · C 6 · D 4 · E 1 · F 2. b: read the article again with the headings. Are you a good passenger? How many of the things do you sometimes do or not do? (personal answers — quick pair discussion). If there's no time, it's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audio" Target="../media/media-2-4.mp3"/><Relationship Id="rId5" Type="http://schemas.microsoft.com/office/2007/relationships/media" Target="../media/media-2-4.mp3"/><Relationship Id="rId6" Type="http://schemas.openxmlformats.org/officeDocument/2006/relationships/image" Target="../media/image-2-6.png"/><Relationship Id="rId7" Type="http://schemas.openxmlformats.org/officeDocument/2006/relationships/audio" Target="../media/media-2-7.mp3"/><Relationship Id="rId8" Type="http://schemas.microsoft.com/office/2007/relationships/media" Target="../media/media-2-7.mp3"/><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video" Target="../media/media-16-3.mp4"/><Relationship Id="rId4" Type="http://schemas.microsoft.com/office/2007/relationships/media" Target="../media/media-16-3.mp4"/><Relationship Id="rId5" Type="http://schemas.openxmlformats.org/officeDocument/2006/relationships/image" Target="../media/image-16-5.png"/><Relationship Id="rId6" Type="http://schemas.openxmlformats.org/officeDocument/2006/relationships/image" Target="../media/image-16-6.jp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audio" Target="../media/media-20-4.mp3"/><Relationship Id="rId5" Type="http://schemas.microsoft.com/office/2007/relationships/media" Target="../media/media-20-4.mp3"/><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jp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R3-4 · Part 1</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3600" dirty="0">
                <a:solidFill>
                  <a:srgbClr val="FFD84D"/>
                </a:solidFill>
                <a:latin typeface="Arial Black" pitchFamily="34" charset="0"/>
                <a:ea typeface="Arial Black" pitchFamily="34" charset="-122"/>
                <a:cs typeface="Arial Black" pitchFamily="34" charset="-120"/>
              </a:rPr>
              <a:t>R3-4</a:t>
            </a:r>
            <a:endParaRPr lang="en-US" sz="3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050" dirty="0">
                <a:solidFill>
                  <a:srgbClr val="E9E2FB"/>
                </a:solidFill>
                <a:latin typeface="Arial Black" pitchFamily="34" charset="0"/>
                <a:ea typeface="Arial Black" pitchFamily="34" charset="-122"/>
                <a:cs typeface="Arial Black" pitchFamily="34" charset="-120"/>
              </a:rPr>
              <a:t>ENGLISH FILE B1 · R3-4 · Part 1 · SB pp.44–45</a:t>
            </a:r>
            <a:endParaRPr lang="en-US" sz="1050" dirty="0"/>
          </a:p>
        </p:txBody>
      </p:sp>
      <p:sp>
        <p:nvSpPr>
          <p:cNvPr id="9" name="title_7"/>
          <p:cNvSpPr txBox="1"/>
          <p:nvPr/>
        </p:nvSpPr>
        <p:spPr>
          <a:xfrm rot="-180000">
            <a:off x="411480" y="1325880"/>
            <a:ext cx="5120640"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200" dirty="0">
                <a:solidFill>
                  <a:srgbClr val="111111"/>
                </a:solidFill>
                <a:latin typeface="Arial Black" pitchFamily="34" charset="0"/>
                <a:ea typeface="Arial Black" pitchFamily="34" charset="-122"/>
                <a:cs typeface="Arial Black" pitchFamily="34" charset="-120"/>
              </a:rPr>
              <a:t>REVISE AND CHECK 3&amp;4</a:t>
            </a:r>
            <a:endParaRPr lang="en-US" sz="2200" dirty="0"/>
          </a:p>
        </p:txBody>
      </p:sp>
      <p:sp>
        <p:nvSpPr>
          <p:cNvPr id="10" name="stamp_8"/>
          <p:cNvSpPr txBox="1"/>
          <p:nvPr/>
        </p:nvSpPr>
        <p:spPr>
          <a:xfrm>
            <a:off x="457200" y="2468880"/>
            <a:ext cx="4572000"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GRAMMAR · comparatives, articles, modals, be able to</a:t>
            </a:r>
            <a:endParaRPr lang="en-US" sz="1100" dirty="0"/>
          </a:p>
        </p:txBody>
      </p:sp>
      <p:sp>
        <p:nvSpPr>
          <p:cNvPr id="11" name="stamp_9"/>
          <p:cNvSpPr txBox="1"/>
          <p:nvPr/>
        </p:nvSpPr>
        <p:spPr>
          <a:xfrm>
            <a:off x="457200" y="2944368"/>
            <a:ext cx="4572000"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VOCABULARY · transport, prepositions, phones, feelings</a:t>
            </a:r>
            <a:endParaRPr lang="en-US" sz="1000" dirty="0"/>
          </a:p>
        </p:txBody>
      </p:sp>
      <p:sp>
        <p:nvSpPr>
          <p:cNvPr id="12" name="stamp_10"/>
          <p:cNvSpPr txBox="1"/>
          <p:nvPr/>
        </p:nvSpPr>
        <p:spPr>
          <a:xfrm>
            <a:off x="457200" y="3419856"/>
            <a:ext cx="4572000"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LISTENING · Can you understand these people?</a:t>
            </a:r>
            <a:endParaRPr lang="en-US" sz="1200" dirty="0"/>
          </a:p>
        </p:txBody>
      </p:sp>
      <p:sp>
        <p:nvSpPr>
          <p:cNvPr id="13" name="stamp_11"/>
          <p:cNvSpPr txBox="1"/>
          <p:nvPr/>
        </p:nvSpPr>
        <p:spPr>
          <a:xfrm>
            <a:off x="457200" y="3895344"/>
            <a:ext cx="3429000" cy="384048"/>
          </a:xfrm>
          <a:prstGeom prst="roundRect">
            <a:avLst>
              <a:gd name="adj" fmla="val 14286"/>
            </a:avLst>
          </a:prstGeom>
          <a:solidFill>
            <a:srgbClr val="062F67"/>
          </a:solidFill>
          <a:ln w="38100">
            <a:solidFill>
              <a:srgbClr val="F59E0B"/>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30-second challenge</a:t>
            </a:r>
            <a:endParaRPr lang="en-US" sz="1200" dirty="0"/>
          </a:p>
        </p:txBody>
      </p:sp>
      <p:sp>
        <p:nvSpPr>
          <p:cNvPr id="14" name="iconBack_12"/>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3" descr="pi:PiTrophy">    </p:cNvPr>
          <p:cNvPicPr>
            <a:picLocks noChangeAspect="1"/>
          </p:cNvPicPr>
          <p:nvPr/>
        </p:nvPicPr>
        <p:blipFill>
          <a:blip r:embed="rId3"/>
          <a:stretch>
            <a:fillRect/>
          </a:stretch>
        </p:blipFill>
        <p:spPr>
          <a:xfrm>
            <a:off x="6016752" y="1033272"/>
            <a:ext cx="1042416" cy="1042416"/>
          </a:xfrm>
          <a:prstGeom prst="rect">
            <a:avLst/>
          </a:prstGeom>
        </p:spPr>
      </p:pic>
      <p:sp>
        <p:nvSpPr>
          <p:cNvPr id="16" name="iconBack_14"/>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7" name="icon_15" descr="pi:PiBus">    </p:cNvPr>
          <p:cNvPicPr>
            <a:picLocks noChangeAspect="1"/>
          </p:cNvPicPr>
          <p:nvPr/>
        </p:nvPicPr>
        <p:blipFill>
          <a:blip r:embed="rId4"/>
          <a:stretch>
            <a:fillRect/>
          </a:stretch>
        </p:blipFill>
        <p:spPr>
          <a:xfrm>
            <a:off x="7534656" y="1728216"/>
            <a:ext cx="658368" cy="658368"/>
          </a:xfrm>
          <a:prstGeom prst="rect">
            <a:avLst/>
          </a:prstGeom>
        </p:spPr>
      </p:pic>
      <p:sp>
        <p:nvSpPr>
          <p:cNvPr id="18" name="iconBack_16"/>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9" name="icon_17" descr="pi:PiDeviceMobile">    </p:cNvPr>
          <p:cNvPicPr>
            <a:picLocks noChangeAspect="1"/>
          </p:cNvPicPr>
          <p:nvPr/>
        </p:nvPicPr>
        <p:blipFill>
          <a:blip r:embed="rId5"/>
          <a:stretch>
            <a:fillRect/>
          </a:stretch>
        </p:blipFill>
        <p:spPr>
          <a:xfrm>
            <a:off x="5678424" y="2706624"/>
            <a:ext cx="576072" cy="576072"/>
          </a:xfrm>
          <a:prstGeom prst="rect">
            <a:avLst/>
          </a:prstGeom>
        </p:spPr>
      </p:pic>
      <p:sp>
        <p:nvSpPr>
          <p:cNvPr id="20"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Units 3 and 4: how much can you remember?</a:t>
            </a:r>
            <a:endParaRPr lang="en-US" sz="1400" dirty="0"/>
          </a:p>
        </p:txBody>
      </p:sp>
      <p:sp>
        <p:nvSpPr>
          <p:cNvPr id="21"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Let's play and find out!</a:t>
            </a:r>
            <a:endParaRPr lang="en-US" sz="1300" dirty="0"/>
          </a:p>
        </p:txBody>
      </p:sp>
      <p:sp>
        <p:nvSpPr>
          <p:cNvPr id="22" name="tnote_18"/>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
          <p:cNvSpPr/>
          <p:nvPr/>
        </p:nvSpPr>
        <p:spPr>
          <a:xfrm>
            <a:off x="54864" y="54864"/>
            <a:ext cx="9034272" cy="5033772"/>
          </a:xfrm>
          <a:prstGeom prst="rect">
            <a:avLst/>
          </a:prstGeom>
          <a:ln w="114300">
            <a:solidFill>
              <a:srgbClr val="A8E6B4"/>
            </a:solidFill>
            <a:prstDash val="solid"/>
          </a:ln>
        </p:spPr>
      </p:sp>
      <p:pic>
        <p:nvPicPr>
          <p:cNvPr id="4" name="logo_2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WARM-UP · 4B part 2 · Feelings and -self</a:t>
            </a:r>
            <a:endParaRPr lang="en-US" sz="900" dirty="0"/>
          </a:p>
        </p:txBody>
      </p:sp>
      <p:sp>
        <p:nvSpPr>
          <p:cNvPr id="6" name="timer_2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8" name="title_24"/>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Beat the clock!</a:t>
            </a:r>
            <a:endParaRPr lang="en-US" sz="1500" dirty="0"/>
          </a:p>
        </p:txBody>
      </p:sp>
      <p:sp>
        <p:nvSpPr>
          <p:cNvPr id="9" name="post_2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6"/>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Teams: 10 seconds for each answer. Write it down!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Squadre: 10 secondi per ogni risposta. Scrivetela!</a:t>
            </a:r>
            <a:endParaRPr lang="en-US" sz="1250" dirty="0"/>
          </a:p>
        </p:txBody>
      </p:sp>
      <p:sp>
        <p:nvSpPr>
          <p:cNvPr id="12" name="iconBack_2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9" descr="pi:PiTimer">    </p:cNvPr>
          <p:cNvPicPr>
            <a:picLocks noChangeAspect="1"/>
          </p:cNvPicPr>
          <p:nvPr/>
        </p:nvPicPr>
        <p:blipFill>
          <a:blip r:embed="rId3"/>
          <a:stretch>
            <a:fillRect/>
          </a:stretch>
        </p:blipFill>
        <p:spPr>
          <a:xfrm>
            <a:off x="914400" y="3474720"/>
            <a:ext cx="685800" cy="685800"/>
          </a:xfrm>
          <a:prstGeom prst="rect">
            <a:avLst/>
          </a:prstGeom>
        </p:spPr>
      </p:pic>
      <p:sp>
        <p:nvSpPr>
          <p:cNvPr id="14" name="box_30"/>
          <p:cNvSpPr txBox="1"/>
          <p:nvPr/>
        </p:nvSpPr>
        <p:spPr>
          <a:xfrm>
            <a:off x="2788920" y="1371600"/>
            <a:ext cx="3983126"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The film was so ___ that I fell asleep. (bore)</a:t>
            </a:r>
            <a:endParaRPr lang="en-US" sz="1250" dirty="0"/>
          </a:p>
        </p:txBody>
      </p:sp>
      <p:sp>
        <p:nvSpPr>
          <p:cNvPr id="15" name="R1_a0"/>
          <p:cNvSpPr txBox="1"/>
          <p:nvPr/>
        </p:nvSpPr>
        <p:spPr>
          <a:xfrm>
            <a:off x="6826910" y="1408176"/>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boring</a:t>
            </a:r>
            <a:endParaRPr lang="en-US" sz="1300" dirty="0"/>
          </a:p>
        </p:txBody>
      </p:sp>
      <p:sp>
        <p:nvSpPr>
          <p:cNvPr id="16" name="box_31"/>
          <p:cNvSpPr txBox="1"/>
          <p:nvPr/>
        </p:nvSpPr>
        <p:spPr>
          <a:xfrm>
            <a:off x="2788920" y="1941576"/>
            <a:ext cx="3983126"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Are you ___ of heights? (frighten)</a:t>
            </a:r>
            <a:endParaRPr lang="en-US" sz="1250" dirty="0"/>
          </a:p>
        </p:txBody>
      </p:sp>
      <p:sp>
        <p:nvSpPr>
          <p:cNvPr id="17" name="R2_a1"/>
          <p:cNvSpPr txBox="1"/>
          <p:nvPr/>
        </p:nvSpPr>
        <p:spPr>
          <a:xfrm>
            <a:off x="6826910" y="1978152"/>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frightened</a:t>
            </a:r>
            <a:endParaRPr lang="en-US" sz="1300" dirty="0"/>
          </a:p>
        </p:txBody>
      </p:sp>
      <p:sp>
        <p:nvSpPr>
          <p:cNvPr id="18" name="box_32"/>
          <p:cNvSpPr txBox="1"/>
          <p:nvPr/>
        </p:nvSpPr>
        <p:spPr>
          <a:xfrm>
            <a:off x="2788920" y="2511552"/>
            <a:ext cx="3983126"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He taught ___ to play the guitar.</a:t>
            </a:r>
            <a:endParaRPr lang="en-US" sz="1250" dirty="0"/>
          </a:p>
        </p:txBody>
      </p:sp>
      <p:sp>
        <p:nvSpPr>
          <p:cNvPr id="19" name="R3_a2"/>
          <p:cNvSpPr txBox="1"/>
          <p:nvPr/>
        </p:nvSpPr>
        <p:spPr>
          <a:xfrm>
            <a:off x="6826910" y="2548128"/>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himself</a:t>
            </a:r>
            <a:endParaRPr lang="en-US" sz="1300" dirty="0"/>
          </a:p>
        </p:txBody>
      </p:sp>
      <p:sp>
        <p:nvSpPr>
          <p:cNvPr id="20" name="box_33"/>
          <p:cNvSpPr txBox="1"/>
          <p:nvPr/>
        </p:nvSpPr>
        <p:spPr>
          <a:xfrm>
            <a:off x="2788920" y="3081528"/>
            <a:ext cx="3983126"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Do you ever get ___ by technology? (frustrate)</a:t>
            </a:r>
            <a:endParaRPr lang="en-US" sz="1250" dirty="0"/>
          </a:p>
        </p:txBody>
      </p:sp>
      <p:sp>
        <p:nvSpPr>
          <p:cNvPr id="21" name="R4_a3"/>
          <p:cNvSpPr txBox="1"/>
          <p:nvPr/>
        </p:nvSpPr>
        <p:spPr>
          <a:xfrm>
            <a:off x="6826910" y="3118104"/>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frustrated</a:t>
            </a:r>
            <a:endParaRPr lang="en-US" sz="1300" dirty="0"/>
          </a:p>
        </p:txBody>
      </p:sp>
      <p:sp>
        <p:nvSpPr>
          <p:cNvPr id="22" name="box_34"/>
          <p:cNvSpPr txBox="1"/>
          <p:nvPr/>
        </p:nvSpPr>
        <p:spPr>
          <a:xfrm>
            <a:off x="2788920" y="3651504"/>
            <a:ext cx="3983126"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We really enjoyed ___ last night.</a:t>
            </a:r>
            <a:endParaRPr lang="en-US" sz="1250" dirty="0"/>
          </a:p>
        </p:txBody>
      </p:sp>
      <p:sp>
        <p:nvSpPr>
          <p:cNvPr id="23" name="R5_a4"/>
          <p:cNvSpPr txBox="1"/>
          <p:nvPr/>
        </p:nvSpPr>
        <p:spPr>
          <a:xfrm>
            <a:off x="6826910" y="3688080"/>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ourselves</a:t>
            </a:r>
            <a:endParaRPr lang="en-US" sz="1300" dirty="0"/>
          </a:p>
        </p:txBody>
      </p:sp>
      <p:sp>
        <p:nvSpPr>
          <p:cNvPr id="24" name="box_35"/>
          <p:cNvSpPr txBox="1"/>
          <p:nvPr/>
        </p:nvSpPr>
        <p:spPr>
          <a:xfrm>
            <a:off x="2788920" y="4221480"/>
            <a:ext cx="3983126"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6  What's the most ___ thing that's ever happened to you? (embarrass)</a:t>
            </a:r>
            <a:endParaRPr lang="en-US" sz="950" dirty="0"/>
          </a:p>
        </p:txBody>
      </p:sp>
      <p:sp>
        <p:nvSpPr>
          <p:cNvPr id="25" name="R6_a5"/>
          <p:cNvSpPr txBox="1"/>
          <p:nvPr/>
        </p:nvSpPr>
        <p:spPr>
          <a:xfrm>
            <a:off x="6826910" y="4258056"/>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embarrassing</a:t>
            </a:r>
            <a:endParaRPr lang="en-US" sz="1300" dirty="0"/>
          </a:p>
        </p:txBody>
      </p:sp>
      <p:sp>
        <p:nvSpPr>
          <p:cNvPr id="26" name="pageTag_3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4B part 2 · audio 4.19, 4.20</a:t>
            </a:r>
            <a:endParaRPr lang="en-US" sz="1050" dirty="0"/>
          </a:p>
        </p:txBody>
      </p:sp>
      <p:pic>
        <p:nvPicPr>
          <p:cNvPr id="27" name="Media 0">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5166360" y="155448"/>
            <a:ext cx="384048" cy="384048"/>
          </a:xfrm>
          <a:prstGeom prst="rect">
            <a:avLst/>
          </a:prstGeom>
        </p:spPr>
      </p:pic>
      <p:sp>
        <p:nvSpPr>
          <p:cNvPr id="28" name="atr_37"/>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4.19</a:t>
            </a:r>
            <a:endParaRPr lang="en-US" sz="800" dirty="0"/>
          </a:p>
        </p:txBody>
      </p:sp>
      <p:pic>
        <p:nvPicPr>
          <p:cNvPr id="29" name="Media 1">
            <a:hlinkClick r:id="" action="ppaction://media"/>
          </p:cNvPr>
          <p:cNvPicPr>
            <a:picLocks noChangeAspect="1"/>
          </p:cNvPicPr>
          <p:nvPr>
            <a:audioFile r:link="rId7"/>
            <p:extLst>
              <p:ext uri="{DAA4B4D4-6D71-4841-9C94-3DE7FCFB9230}">
                <p14:media xmlns:p14="http://schemas.microsoft.com/office/powerpoint/2010/main" r:embed="rId8"/>
              </p:ext>
            </p:extLst>
          </p:nvPr>
        </p:nvPicPr>
        <p:blipFill>
          <a:blip r:embed="rId9"/>
          <a:stretch>
            <a:fillRect/>
          </a:stretch>
        </p:blipFill>
        <p:spPr>
          <a:xfrm>
            <a:off x="5641848" y="155448"/>
            <a:ext cx="384048" cy="384048"/>
          </a:xfrm>
          <a:prstGeom prst="rect">
            <a:avLst/>
          </a:prstGeom>
        </p:spPr>
      </p:pic>
      <p:sp>
        <p:nvSpPr>
          <p:cNvPr id="30" name="atr_38"/>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4.20</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2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7"/>
                                        </p:tgtEl>
                                      </p:cBhvr>
                                    </p:cmd>
                                  </p:childTnLst>
                                </p:cTn>
                              </p:par>
                            </p:childTnLst>
                          </p:cTn>
                        </p:par>
                      </p:childTnLst>
                    </p:cTn>
                  </p:par>
                </p:childTnLst>
              </p:cTn>
              <p:nextCondLst>
                <p:cond evt="onClick" delay="0">
                  <p:tgtEl>
                    <p:spTgt spid="27"/>
                  </p:tgtEl>
                </p:cond>
              </p:nextCondLst>
            </p:seq>
            <p:seq concurrent="1" nextAc="seek">
              <p:cTn id="38" restart="whenNotActive" fill="hold" evtFilter="cancelBubble" nodeType="interactiveSeq">
                <p:stCondLst>
                  <p:cond evt="onClick" delay="0">
                    <p:tgtEl>
                      <p:spTgt spid="29"/>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29"/>
                                        </p:tgtEl>
                                      </p:cBhvr>
                                    </p:cmd>
                                  </p:childTnLst>
                                </p:cTn>
                              </p:par>
                            </p:childTnLst>
                          </p:cTn>
                        </p:par>
                      </p:childTnLst>
                    </p:cTn>
                  </p:par>
                </p:childTnLst>
              </p:cTn>
              <p:nextCondLst>
                <p:cond evt="onClick" delay="0">
                  <p:tgtEl>
                    <p:spTgt spid="29"/>
                  </p:tgtEl>
                </p:cond>
              </p:nextCondLst>
            </p:seq>
            <p:audio>
              <p:cMediaNode vol="80000">
                <p:cTn id="43" fill="hold" display="0">
                  <p:stCondLst>
                    <p:cond delay="indefinite"/>
                  </p:stCondLst>
                  <p:endCondLst>
                    <p:cond evt="onStopAudio" delay="0">
                      <p:tgtEl>
                        <p:sldTgt/>
                      </p:tgtEl>
                    </p:cond>
                  </p:endCondLst>
                </p:cTn>
                <p:tgtEl>
                  <p:spTgt spid="27"/>
                </p:tgtEl>
              </p:cMediaNode>
            </p:audio>
            <p:audio>
              <p:cMediaNode vol="80000">
                <p:cTn id="44" fill="hold" display="0">
                  <p:stCondLst>
                    <p:cond delay="indefinite"/>
                  </p:stCondLst>
                  <p:endCondLst>
                    <p:cond evt="onStopAudio" delay="0">
                      <p:tgtEl>
                        <p:sldTgt/>
                      </p:tgtEl>
                    </p:cond>
                  </p:endCondLst>
                </p:cTn>
                <p:tgtEl>
                  <p:spTgt spid="2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9"/>
          <p:cNvSpPr/>
          <p:nvPr/>
        </p:nvSpPr>
        <p:spPr>
          <a:xfrm>
            <a:off x="54864" y="54864"/>
            <a:ext cx="9034272" cy="5033772"/>
          </a:xfrm>
          <a:prstGeom prst="rect">
            <a:avLst/>
          </a:prstGeom>
          <a:ln w="114300">
            <a:solidFill>
              <a:srgbClr val="A8E6B4"/>
            </a:solidFill>
            <a:prstDash val="solid"/>
          </a:ln>
        </p:spPr>
      </p:sp>
      <p:pic>
        <p:nvPicPr>
          <p:cNvPr id="4" name="logo_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SB p.44 · Grammar betting 1–8</a:t>
            </a:r>
            <a:endParaRPr lang="en-US" sz="900" dirty="0"/>
          </a:p>
        </p:txBody>
      </p:sp>
      <p:sp>
        <p:nvSpPr>
          <p:cNvPr id="6" name="timer_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8" name="title_44"/>
          <p:cNvSpPr txBox="1"/>
          <p:nvPr/>
        </p:nvSpPr>
        <p:spPr>
          <a:xfrm rot="-120000">
            <a:off x="320040" y="676656"/>
            <a:ext cx="467258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Bet on your answers! (1)</a:t>
            </a:r>
            <a:endParaRPr lang="en-US" sz="1500" dirty="0"/>
          </a:p>
        </p:txBody>
      </p:sp>
      <p:sp>
        <p:nvSpPr>
          <p:cNvPr id="9" name="post_4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46"/>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4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Circle a, b or c. Then bet 1, 2 or 3 points on each answer!</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Cerchia a, b o c. Poi scommetti 1, 2 o 3 punti su ogni risposta!</a:t>
            </a:r>
            <a:endParaRPr lang="en-US" sz="1200" dirty="0"/>
          </a:p>
        </p:txBody>
      </p:sp>
      <p:sp>
        <p:nvSpPr>
          <p:cNvPr id="12" name="iconBack_4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49" descr="pi:PiCoins">    </p:cNvPr>
          <p:cNvPicPr>
            <a:picLocks noChangeAspect="1"/>
          </p:cNvPicPr>
          <p:nvPr/>
        </p:nvPicPr>
        <p:blipFill>
          <a:blip r:embed="rId3"/>
          <a:stretch>
            <a:fillRect/>
          </a:stretch>
        </p:blipFill>
        <p:spPr>
          <a:xfrm>
            <a:off x="914400" y="3474720"/>
            <a:ext cx="685800" cy="685800"/>
          </a:xfrm>
          <a:prstGeom prst="rect">
            <a:avLst/>
          </a:prstGeom>
        </p:spPr>
      </p:pic>
      <p:sp>
        <p:nvSpPr>
          <p:cNvPr id="14" name="box_50"/>
          <p:cNvSpPr txBox="1"/>
          <p:nvPr/>
        </p:nvSpPr>
        <p:spPr>
          <a:xfrm>
            <a:off x="2788920" y="1371600"/>
            <a:ext cx="236281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1  I walk to work. It's ___ than going by car.  a more healthy · b as healthy · c healthier</a:t>
            </a:r>
            <a:endParaRPr lang="en-US" sz="1000" dirty="0"/>
          </a:p>
        </p:txBody>
      </p:sp>
      <p:sp>
        <p:nvSpPr>
          <p:cNvPr id="15" name="R1_a0"/>
          <p:cNvSpPr txBox="1"/>
          <p:nvPr/>
        </p:nvSpPr>
        <p:spPr>
          <a:xfrm>
            <a:off x="5206594" y="1408176"/>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a:t>
            </a:r>
            <a:endParaRPr lang="en-US" sz="1100" dirty="0"/>
          </a:p>
        </p:txBody>
      </p:sp>
      <p:sp>
        <p:nvSpPr>
          <p:cNvPr id="16" name="box_51"/>
          <p:cNvSpPr txBox="1"/>
          <p:nvPr/>
        </p:nvSpPr>
        <p:spPr>
          <a:xfrm>
            <a:off x="5870448" y="1371600"/>
            <a:ext cx="236281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2  Cycling isn't ___ people think.  a as dangerous as · b as dangerous than · c so dangerous than</a:t>
            </a:r>
            <a:endParaRPr lang="en-US" sz="1000" dirty="0"/>
          </a:p>
        </p:txBody>
      </p:sp>
      <p:sp>
        <p:nvSpPr>
          <p:cNvPr id="17" name="R2_a1"/>
          <p:cNvSpPr txBox="1"/>
          <p:nvPr/>
        </p:nvSpPr>
        <p:spPr>
          <a:xfrm>
            <a:off x="8288122" y="1408176"/>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a:t>
            </a:r>
            <a:endParaRPr lang="en-US" sz="1100" dirty="0"/>
          </a:p>
        </p:txBody>
      </p:sp>
      <p:sp>
        <p:nvSpPr>
          <p:cNvPr id="18" name="box_52"/>
          <p:cNvSpPr txBox="1"/>
          <p:nvPr/>
        </p:nvSpPr>
        <p:spPr>
          <a:xfrm>
            <a:off x="2788920" y="2226564"/>
            <a:ext cx="236281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3  This is ___ time of day for traffic jams.  a the most bad · b the worse · c the worst</a:t>
            </a:r>
            <a:endParaRPr lang="en-US" sz="1000" dirty="0"/>
          </a:p>
        </p:txBody>
      </p:sp>
      <p:sp>
        <p:nvSpPr>
          <p:cNvPr id="19" name="R3_a2"/>
          <p:cNvSpPr txBox="1"/>
          <p:nvPr/>
        </p:nvSpPr>
        <p:spPr>
          <a:xfrm>
            <a:off x="5206594" y="2263140"/>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a:t>
            </a:r>
            <a:endParaRPr lang="en-US" sz="1100" dirty="0"/>
          </a:p>
        </p:txBody>
      </p:sp>
      <p:sp>
        <p:nvSpPr>
          <p:cNvPr id="20" name="box_53"/>
          <p:cNvSpPr txBox="1"/>
          <p:nvPr/>
        </p:nvSpPr>
        <p:spPr>
          <a:xfrm>
            <a:off x="5870448" y="2226564"/>
            <a:ext cx="236281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4  My wife is a much safer driver than ___.  a I · b me · c my</a:t>
            </a:r>
            <a:endParaRPr lang="en-US" sz="1000" dirty="0"/>
          </a:p>
        </p:txBody>
      </p:sp>
      <p:sp>
        <p:nvSpPr>
          <p:cNvPr id="21" name="R4_a3"/>
          <p:cNvSpPr txBox="1"/>
          <p:nvPr/>
        </p:nvSpPr>
        <p:spPr>
          <a:xfrm>
            <a:off x="8288122" y="2263140"/>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a:t>
            </a:r>
            <a:endParaRPr lang="en-US" sz="1100" dirty="0"/>
          </a:p>
        </p:txBody>
      </p:sp>
      <p:sp>
        <p:nvSpPr>
          <p:cNvPr id="22" name="box_54"/>
          <p:cNvSpPr txBox="1"/>
          <p:nvPr/>
        </p:nvSpPr>
        <p:spPr>
          <a:xfrm>
            <a:off x="2788920" y="3081528"/>
            <a:ext cx="2362810"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5  What ___ beautiful day!  a a · b – · c an</a:t>
            </a:r>
            <a:endParaRPr lang="en-US" sz="1000" dirty="0"/>
          </a:p>
        </p:txBody>
      </p:sp>
      <p:sp>
        <p:nvSpPr>
          <p:cNvPr id="23" name="R5_a4"/>
          <p:cNvSpPr txBox="1"/>
          <p:nvPr/>
        </p:nvSpPr>
        <p:spPr>
          <a:xfrm>
            <a:off x="5206594" y="3118104"/>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a:t>
            </a:r>
            <a:endParaRPr lang="en-US" sz="1100" dirty="0"/>
          </a:p>
        </p:txBody>
      </p:sp>
      <p:sp>
        <p:nvSpPr>
          <p:cNvPr id="24" name="box_55"/>
          <p:cNvSpPr txBox="1"/>
          <p:nvPr/>
        </p:nvSpPr>
        <p:spPr>
          <a:xfrm>
            <a:off x="5870448" y="3081528"/>
            <a:ext cx="2362810"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6  I never drink coffee after ___ dinner.  a – · b the · c an</a:t>
            </a:r>
            <a:endParaRPr lang="en-US" sz="1000" dirty="0"/>
          </a:p>
        </p:txBody>
      </p:sp>
      <p:sp>
        <p:nvSpPr>
          <p:cNvPr id="25" name="R6_a5"/>
          <p:cNvSpPr txBox="1"/>
          <p:nvPr/>
        </p:nvSpPr>
        <p:spPr>
          <a:xfrm>
            <a:off x="8288122" y="3118104"/>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a:t>
            </a:r>
            <a:endParaRPr lang="en-US" sz="1100" dirty="0"/>
          </a:p>
        </p:txBody>
      </p:sp>
      <p:sp>
        <p:nvSpPr>
          <p:cNvPr id="26" name="box_56"/>
          <p:cNvSpPr txBox="1"/>
          <p:nvPr/>
        </p:nvSpPr>
        <p:spPr>
          <a:xfrm>
            <a:off x="2788920" y="3936492"/>
            <a:ext cx="236281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7  ___ are usually good language learners.  a The women · b Women · c Woman</a:t>
            </a:r>
            <a:endParaRPr lang="en-US" sz="1000" dirty="0"/>
          </a:p>
        </p:txBody>
      </p:sp>
      <p:sp>
        <p:nvSpPr>
          <p:cNvPr id="27" name="R7_a6"/>
          <p:cNvSpPr txBox="1"/>
          <p:nvPr/>
        </p:nvSpPr>
        <p:spPr>
          <a:xfrm>
            <a:off x="5206594" y="3973068"/>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a:t>
            </a:r>
            <a:endParaRPr lang="en-US" sz="1100" dirty="0"/>
          </a:p>
        </p:txBody>
      </p:sp>
      <p:sp>
        <p:nvSpPr>
          <p:cNvPr id="28" name="box_57"/>
          <p:cNvSpPr txBox="1"/>
          <p:nvPr/>
        </p:nvSpPr>
        <p:spPr>
          <a:xfrm>
            <a:off x="5870448" y="3936492"/>
            <a:ext cx="236281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8  We've decided to visit the UK ___.  a the next summer · b next summer · c the summer next</a:t>
            </a:r>
            <a:endParaRPr lang="en-US" sz="1000" dirty="0"/>
          </a:p>
        </p:txBody>
      </p:sp>
      <p:sp>
        <p:nvSpPr>
          <p:cNvPr id="29" name="R8_a7"/>
          <p:cNvSpPr txBox="1"/>
          <p:nvPr/>
        </p:nvSpPr>
        <p:spPr>
          <a:xfrm>
            <a:off x="8288122" y="3973068"/>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a:t>
            </a:r>
            <a:endParaRPr lang="en-US" sz="1100" dirty="0"/>
          </a:p>
        </p:txBody>
      </p:sp>
      <p:sp>
        <p:nvSpPr>
          <p:cNvPr id="30" name="pageTag_5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p.44 · Grammar 1–8</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59"/>
          <p:cNvSpPr/>
          <p:nvPr/>
        </p:nvSpPr>
        <p:spPr>
          <a:xfrm>
            <a:off x="54864" y="54864"/>
            <a:ext cx="9034272" cy="5033772"/>
          </a:xfrm>
          <a:prstGeom prst="rect">
            <a:avLst/>
          </a:prstGeom>
          <a:ln w="114300">
            <a:solidFill>
              <a:srgbClr val="A8E6B4"/>
            </a:solidFill>
            <a:prstDash val="solid"/>
          </a:ln>
        </p:spPr>
      </p:sp>
      <p:pic>
        <p:nvPicPr>
          <p:cNvPr id="4" name="logo_6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6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SB p.44 · Grammar betting 9–15</a:t>
            </a:r>
            <a:endParaRPr lang="en-US" sz="900" dirty="0"/>
          </a:p>
        </p:txBody>
      </p:sp>
      <p:sp>
        <p:nvSpPr>
          <p:cNvPr id="6" name="timer_6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6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8" name="title_64"/>
          <p:cNvSpPr txBox="1"/>
          <p:nvPr/>
        </p:nvSpPr>
        <p:spPr>
          <a:xfrm rot="-120000">
            <a:off x="320040" y="676656"/>
            <a:ext cx="467258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Bet on your answers! (2)</a:t>
            </a:r>
            <a:endParaRPr lang="en-US" sz="1500" dirty="0"/>
          </a:p>
        </p:txBody>
      </p:sp>
      <p:sp>
        <p:nvSpPr>
          <p:cNvPr id="9" name="post_6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66"/>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6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Same rules: answer, bet, then click!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Stesse regole: rispondi, scommetti, poi clicca!</a:t>
            </a:r>
            <a:endParaRPr lang="en-US" sz="1250" dirty="0"/>
          </a:p>
        </p:txBody>
      </p:sp>
      <p:sp>
        <p:nvSpPr>
          <p:cNvPr id="12" name="iconBack_6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69" descr="pi:PiCoins">    </p:cNvPr>
          <p:cNvPicPr>
            <a:picLocks noChangeAspect="1"/>
          </p:cNvPicPr>
          <p:nvPr/>
        </p:nvPicPr>
        <p:blipFill>
          <a:blip r:embed="rId3"/>
          <a:stretch>
            <a:fillRect/>
          </a:stretch>
        </p:blipFill>
        <p:spPr>
          <a:xfrm>
            <a:off x="914400" y="3474720"/>
            <a:ext cx="685800" cy="685800"/>
          </a:xfrm>
          <a:prstGeom prst="rect">
            <a:avLst/>
          </a:prstGeom>
        </p:spPr>
      </p:pic>
      <p:sp>
        <p:nvSpPr>
          <p:cNvPr id="14" name="box_70"/>
          <p:cNvSpPr txBox="1"/>
          <p:nvPr/>
        </p:nvSpPr>
        <p:spPr>
          <a:xfrm>
            <a:off x="2788920" y="1371600"/>
            <a:ext cx="236281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9 Entrance is free. You ___ pay anything.  a don't have to · b mustn't · c should</a:t>
            </a:r>
            <a:endParaRPr lang="en-US" sz="1000" dirty="0"/>
          </a:p>
        </p:txBody>
      </p:sp>
      <p:sp>
        <p:nvSpPr>
          <p:cNvPr id="15" name="R1_a0"/>
          <p:cNvSpPr txBox="1"/>
          <p:nvPr/>
        </p:nvSpPr>
        <p:spPr>
          <a:xfrm>
            <a:off x="5206594" y="1408176"/>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a:t>
            </a:r>
            <a:endParaRPr lang="en-US" sz="1100" dirty="0"/>
          </a:p>
        </p:txBody>
      </p:sp>
      <p:sp>
        <p:nvSpPr>
          <p:cNvPr id="16" name="box_71"/>
          <p:cNvSpPr txBox="1"/>
          <p:nvPr/>
        </p:nvSpPr>
        <p:spPr>
          <a:xfrm>
            <a:off x="5870448" y="1371600"/>
            <a:ext cx="236281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10 I'll ___ work harder if I want to pass.  a must · b should · c have to</a:t>
            </a:r>
            <a:endParaRPr lang="en-US" sz="1000" dirty="0"/>
          </a:p>
        </p:txBody>
      </p:sp>
      <p:sp>
        <p:nvSpPr>
          <p:cNvPr id="17" name="R2_a1"/>
          <p:cNvSpPr txBox="1"/>
          <p:nvPr/>
        </p:nvSpPr>
        <p:spPr>
          <a:xfrm>
            <a:off x="8288122" y="1408176"/>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a:t>
            </a:r>
            <a:endParaRPr lang="en-US" sz="1100" dirty="0"/>
          </a:p>
        </p:txBody>
      </p:sp>
      <p:sp>
        <p:nvSpPr>
          <p:cNvPr id="18" name="box_72"/>
          <p:cNvSpPr txBox="1"/>
          <p:nvPr/>
        </p:nvSpPr>
        <p:spPr>
          <a:xfrm>
            <a:off x="2788920" y="2226564"/>
            <a:ext cx="236281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11 I don't think I ___ have a dessert. I've already eaten too much!  a must · b should · c have to</a:t>
            </a:r>
            <a:endParaRPr lang="en-US" sz="1000" dirty="0"/>
          </a:p>
        </p:txBody>
      </p:sp>
      <p:sp>
        <p:nvSpPr>
          <p:cNvPr id="19" name="R3_a2"/>
          <p:cNvSpPr txBox="1"/>
          <p:nvPr/>
        </p:nvSpPr>
        <p:spPr>
          <a:xfrm>
            <a:off x="5206594" y="2263140"/>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a:t>
            </a:r>
            <a:endParaRPr lang="en-US" sz="1100" dirty="0"/>
          </a:p>
        </p:txBody>
      </p:sp>
      <p:sp>
        <p:nvSpPr>
          <p:cNvPr id="20" name="box_73"/>
          <p:cNvSpPr txBox="1"/>
          <p:nvPr/>
        </p:nvSpPr>
        <p:spPr>
          <a:xfrm>
            <a:off x="5870448" y="2226564"/>
            <a:ext cx="236281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12 You ___ switch on your phone until the plane has landed.  a don't have to · b mustn't · c must</a:t>
            </a:r>
            <a:endParaRPr lang="en-US" sz="1000" dirty="0"/>
          </a:p>
        </p:txBody>
      </p:sp>
      <p:sp>
        <p:nvSpPr>
          <p:cNvPr id="21" name="R4_a3"/>
          <p:cNvSpPr txBox="1"/>
          <p:nvPr/>
        </p:nvSpPr>
        <p:spPr>
          <a:xfrm>
            <a:off x="8288122" y="2263140"/>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a:t>
            </a:r>
            <a:endParaRPr lang="en-US" sz="1100" dirty="0"/>
          </a:p>
        </p:txBody>
      </p:sp>
      <p:sp>
        <p:nvSpPr>
          <p:cNvPr id="22" name="box_74"/>
          <p:cNvSpPr txBox="1"/>
          <p:nvPr/>
        </p:nvSpPr>
        <p:spPr>
          <a:xfrm>
            <a:off x="2788920" y="3081528"/>
            <a:ext cx="2362810"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13 We won't ___ come to the party.  a can · b be able · c be able to</a:t>
            </a:r>
            <a:endParaRPr lang="en-US" sz="1000" dirty="0"/>
          </a:p>
        </p:txBody>
      </p:sp>
      <p:sp>
        <p:nvSpPr>
          <p:cNvPr id="23" name="R5_a4"/>
          <p:cNvSpPr txBox="1"/>
          <p:nvPr/>
        </p:nvSpPr>
        <p:spPr>
          <a:xfrm>
            <a:off x="5206594" y="3118104"/>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a:t>
            </a:r>
            <a:endParaRPr lang="en-US" sz="1100" dirty="0"/>
          </a:p>
        </p:txBody>
      </p:sp>
      <p:sp>
        <p:nvSpPr>
          <p:cNvPr id="24" name="box_75"/>
          <p:cNvSpPr txBox="1"/>
          <p:nvPr/>
        </p:nvSpPr>
        <p:spPr>
          <a:xfrm>
            <a:off x="5870448" y="3081528"/>
            <a:ext cx="2362810"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14 When he was five he ___ already swim.  a can · b could · c was able</a:t>
            </a:r>
            <a:endParaRPr lang="en-US" sz="1000" dirty="0"/>
          </a:p>
        </p:txBody>
      </p:sp>
      <p:sp>
        <p:nvSpPr>
          <p:cNvPr id="25" name="R6_a5"/>
          <p:cNvSpPr txBox="1"/>
          <p:nvPr/>
        </p:nvSpPr>
        <p:spPr>
          <a:xfrm>
            <a:off x="8288122" y="3118104"/>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a:t>
            </a:r>
            <a:endParaRPr lang="en-US" sz="1100" dirty="0"/>
          </a:p>
        </p:txBody>
      </p:sp>
      <p:sp>
        <p:nvSpPr>
          <p:cNvPr id="26" name="box_76"/>
          <p:cNvSpPr txBox="1"/>
          <p:nvPr/>
        </p:nvSpPr>
        <p:spPr>
          <a:xfrm>
            <a:off x="2788920" y="3936492"/>
            <a:ext cx="236281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15 My mother has never ___ cook well.  a been able to · b could · c be able to</a:t>
            </a:r>
            <a:endParaRPr lang="en-US" sz="1000" dirty="0"/>
          </a:p>
        </p:txBody>
      </p:sp>
      <p:sp>
        <p:nvSpPr>
          <p:cNvPr id="27" name="R7_a6"/>
          <p:cNvSpPr txBox="1"/>
          <p:nvPr/>
        </p:nvSpPr>
        <p:spPr>
          <a:xfrm>
            <a:off x="5206594" y="3973068"/>
            <a:ext cx="535838" cy="653796"/>
          </a:xfrm>
          <a:prstGeom prst="roundRect">
            <a:avLst>
              <a:gd name="adj" fmla="val 1023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a:t>
            </a:r>
            <a:endParaRPr lang="en-US" sz="1100" dirty="0"/>
          </a:p>
        </p:txBody>
      </p:sp>
      <p:sp>
        <p:nvSpPr>
          <p:cNvPr id="28" name="pageTag_7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p.44 · Grammar 9–15</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8"/>
          <p:cNvSpPr/>
          <p:nvPr/>
        </p:nvSpPr>
        <p:spPr>
          <a:xfrm>
            <a:off x="54864" y="54864"/>
            <a:ext cx="9034272" cy="5033772"/>
          </a:xfrm>
          <a:prstGeom prst="rect">
            <a:avLst/>
          </a:prstGeom>
          <a:ln w="114300">
            <a:solidFill>
              <a:srgbClr val="A8E6B4"/>
            </a:solidFill>
            <a:prstDash val="solid"/>
          </a:ln>
        </p:spPr>
      </p:sp>
      <p:pic>
        <p:nvPicPr>
          <p:cNvPr id="4" name="logo_7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8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SB p.44 · Vocabulary race</a:t>
            </a:r>
            <a:endParaRPr lang="en-US" sz="900" dirty="0"/>
          </a:p>
        </p:txBody>
      </p:sp>
      <p:sp>
        <p:nvSpPr>
          <p:cNvPr id="6" name="timer_8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8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8" name="title_83"/>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Vocabulary race</a:t>
            </a:r>
            <a:endParaRPr lang="en-US" sz="1500" dirty="0"/>
          </a:p>
        </p:txBody>
      </p:sp>
      <p:sp>
        <p:nvSpPr>
          <p:cNvPr id="9" name="post_8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85"/>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8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Pairs: race through Vocabulary a–e. First pair to finish shouts STOP!</a:t>
            </a:r>
            <a:endParaRPr lang="en-US" sz="1000" dirty="0"/>
          </a:p>
          <a:p>
            <a:pPr indent="0" marL="0">
              <a:buNone/>
            </a:pPr>
            <a:r>
              <a:rPr lang="en-US" sz="900" i="1" dirty="0">
                <a:solidFill>
                  <a:srgbClr val="334155"/>
                </a:solidFill>
                <a:latin typeface="Calibri" pitchFamily="34" charset="0"/>
                <a:ea typeface="Calibri" pitchFamily="34" charset="-122"/>
                <a:cs typeface="Calibri" pitchFamily="34" charset="-120"/>
              </a:rPr>
              <a:t>In coppia: fate Vocabulary a–e di corsa. La prima coppia che finisce grida STOP!</a:t>
            </a:r>
            <a:endParaRPr lang="en-US" sz="1000" dirty="0"/>
          </a:p>
        </p:txBody>
      </p:sp>
      <p:sp>
        <p:nvSpPr>
          <p:cNvPr id="12" name="iconBack_8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88" descr="pi:PiLightning">    </p:cNvPr>
          <p:cNvPicPr>
            <a:picLocks noChangeAspect="1"/>
          </p:cNvPicPr>
          <p:nvPr/>
        </p:nvPicPr>
        <p:blipFill>
          <a:blip r:embed="rId3"/>
          <a:stretch>
            <a:fillRect/>
          </a:stretch>
        </p:blipFill>
        <p:spPr>
          <a:xfrm>
            <a:off x="914400" y="3474720"/>
            <a:ext cx="685800" cy="685800"/>
          </a:xfrm>
          <a:prstGeom prst="rect">
            <a:avLst/>
          </a:prstGeom>
        </p:spPr>
      </p:pic>
      <p:sp>
        <p:nvSpPr>
          <p:cNvPr id="14" name="box_89"/>
          <p:cNvSpPr txBox="1"/>
          <p:nvPr/>
        </p:nvSpPr>
        <p:spPr>
          <a:xfrm>
            <a:off x="2788920" y="1371600"/>
            <a:ext cx="2896819"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a  Complete the compound nouns with a singular or plural noun.</a:t>
            </a:r>
            <a:endParaRPr lang="en-US" sz="1200" dirty="0"/>
          </a:p>
        </p:txBody>
      </p:sp>
      <p:sp>
        <p:nvSpPr>
          <p:cNvPr id="15" name="R1_a0"/>
          <p:cNvSpPr txBox="1"/>
          <p:nvPr/>
        </p:nvSpPr>
        <p:spPr>
          <a:xfrm>
            <a:off x="5740603" y="1408176"/>
            <a:ext cx="3083357"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limit · 2 belts · 3 lanes · 4 rush · 5 rank</a:t>
            </a:r>
            <a:endParaRPr lang="en-US" sz="1200" dirty="0"/>
          </a:p>
        </p:txBody>
      </p:sp>
      <p:sp>
        <p:nvSpPr>
          <p:cNvPr id="16" name="box_90"/>
          <p:cNvSpPr txBox="1"/>
          <p:nvPr/>
        </p:nvSpPr>
        <p:spPr>
          <a:xfrm>
            <a:off x="2788920" y="2055571"/>
            <a:ext cx="2896819"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  Complete with a preposition.</a:t>
            </a:r>
            <a:endParaRPr lang="en-US" sz="1200" dirty="0"/>
          </a:p>
        </p:txBody>
      </p:sp>
      <p:sp>
        <p:nvSpPr>
          <p:cNvPr id="17" name="R2_a1"/>
          <p:cNvSpPr txBox="1"/>
          <p:nvPr/>
        </p:nvSpPr>
        <p:spPr>
          <a:xfrm>
            <a:off x="5740603" y="2092147"/>
            <a:ext cx="3083357"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in · 2 for · 3 on · 4 at · 5 of</a:t>
            </a:r>
            <a:endParaRPr lang="en-US" sz="1200" dirty="0"/>
          </a:p>
        </p:txBody>
      </p:sp>
      <p:sp>
        <p:nvSpPr>
          <p:cNvPr id="18" name="box_91"/>
          <p:cNvSpPr txBox="1"/>
          <p:nvPr/>
        </p:nvSpPr>
        <p:spPr>
          <a:xfrm>
            <a:off x="2788920" y="2739542"/>
            <a:ext cx="2896819"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c  Complete with the correct word.</a:t>
            </a:r>
            <a:endParaRPr lang="en-US" sz="1200" dirty="0"/>
          </a:p>
        </p:txBody>
      </p:sp>
      <p:sp>
        <p:nvSpPr>
          <p:cNvPr id="19" name="R3_a2"/>
          <p:cNvSpPr txBox="1"/>
          <p:nvPr/>
        </p:nvSpPr>
        <p:spPr>
          <a:xfrm>
            <a:off x="5740603" y="2776118"/>
            <a:ext cx="3083357"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traffic · 2 van · 3 ferry · 4 set · 5 take</a:t>
            </a:r>
            <a:endParaRPr lang="en-US" sz="1200" dirty="0"/>
          </a:p>
        </p:txBody>
      </p:sp>
      <p:sp>
        <p:nvSpPr>
          <p:cNvPr id="20" name="box_92"/>
          <p:cNvSpPr txBox="1"/>
          <p:nvPr/>
        </p:nvSpPr>
        <p:spPr>
          <a:xfrm>
            <a:off x="2788920" y="3423514"/>
            <a:ext cx="2896819"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d  Circle the correct adjective.</a:t>
            </a:r>
            <a:endParaRPr lang="en-US" sz="1200" dirty="0"/>
          </a:p>
        </p:txBody>
      </p:sp>
      <p:sp>
        <p:nvSpPr>
          <p:cNvPr id="21" name="R4_a3"/>
          <p:cNvSpPr txBox="1"/>
          <p:nvPr/>
        </p:nvSpPr>
        <p:spPr>
          <a:xfrm>
            <a:off x="5740603" y="3460090"/>
            <a:ext cx="3083357"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boring · 2 frightening · 3 excited · 4 disappointed · 5 depressing</a:t>
            </a:r>
            <a:endParaRPr lang="en-US" sz="1200" dirty="0"/>
          </a:p>
        </p:txBody>
      </p:sp>
      <p:sp>
        <p:nvSpPr>
          <p:cNvPr id="22" name="box_93"/>
          <p:cNvSpPr txBox="1"/>
          <p:nvPr/>
        </p:nvSpPr>
        <p:spPr>
          <a:xfrm>
            <a:off x="2788920" y="4107485"/>
            <a:ext cx="2896819"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e  Complete the words.</a:t>
            </a:r>
            <a:endParaRPr lang="en-US" sz="1200" dirty="0"/>
          </a:p>
        </p:txBody>
      </p:sp>
      <p:sp>
        <p:nvSpPr>
          <p:cNvPr id="23" name="R5_a4"/>
          <p:cNvSpPr txBox="1"/>
          <p:nvPr/>
        </p:nvSpPr>
        <p:spPr>
          <a:xfrm>
            <a:off x="5740603" y="4144061"/>
            <a:ext cx="3083357"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leave · 2 engaged · 3 hung · 4 swiped · 5 ringtones</a:t>
            </a:r>
            <a:endParaRPr lang="en-US" sz="1200" dirty="0"/>
          </a:p>
        </p:txBody>
      </p:sp>
      <p:sp>
        <p:nvSpPr>
          <p:cNvPr id="24" name="pageTag_9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p.44 · Vocabulary a–e</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95"/>
          <p:cNvSpPr/>
          <p:nvPr/>
        </p:nvSpPr>
        <p:spPr>
          <a:xfrm>
            <a:off x="54864" y="54864"/>
            <a:ext cx="9034272" cy="5033772"/>
          </a:xfrm>
          <a:prstGeom prst="rect">
            <a:avLst/>
          </a:prstGeom>
          <a:ln w="114300">
            <a:solidFill>
              <a:srgbClr val="A8E6B4"/>
            </a:solidFill>
            <a:prstDash val="solid"/>
          </a:ln>
        </p:spPr>
      </p:sp>
      <p:pic>
        <p:nvPicPr>
          <p:cNvPr id="4" name="logo_9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PRONUNCIATION · SB p.44 · Sound Bank pp.166–167</a:t>
            </a:r>
            <a:endParaRPr lang="en-US" sz="900" dirty="0"/>
          </a:p>
        </p:txBody>
      </p:sp>
      <p:sp>
        <p:nvSpPr>
          <p:cNvPr id="6" name="timer_9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9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8" name="title_100"/>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Sounds and stress</a:t>
            </a:r>
            <a:endParaRPr lang="en-US" sz="1500" dirty="0"/>
          </a:p>
        </p:txBody>
      </p:sp>
      <p:sp>
        <p:nvSpPr>
          <p:cNvPr id="9" name="post_10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02"/>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10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Do Pronunciation c and d. Say the words aloud!</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Fate Pronunciation c e d. Dite le parole ad alta voce!</a:t>
            </a:r>
            <a:endParaRPr lang="en-US" sz="1250" dirty="0"/>
          </a:p>
        </p:txBody>
      </p:sp>
      <p:sp>
        <p:nvSpPr>
          <p:cNvPr id="12" name="box_104"/>
          <p:cNvSpPr txBox="1"/>
          <p:nvPr/>
        </p:nvSpPr>
        <p:spPr>
          <a:xfrm>
            <a:off x="2788920" y="1371600"/>
            <a:ext cx="1535826"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c1 arrive</a:t>
            </a:r>
            <a:endParaRPr lang="en-US" sz="1200" dirty="0"/>
          </a:p>
        </p:txBody>
      </p:sp>
      <p:sp>
        <p:nvSpPr>
          <p:cNvPr id="13" name="R1_a0"/>
          <p:cNvSpPr txBox="1"/>
          <p:nvPr/>
        </p:nvSpPr>
        <p:spPr>
          <a:xfrm>
            <a:off x="4379610" y="1408176"/>
            <a:ext cx="136282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/aɪ/ bike</a:t>
            </a:r>
            <a:endParaRPr lang="en-US" sz="1200" dirty="0"/>
          </a:p>
        </p:txBody>
      </p:sp>
      <p:sp>
        <p:nvSpPr>
          <p:cNvPr id="14" name="box_105"/>
          <p:cNvSpPr txBox="1"/>
          <p:nvPr/>
        </p:nvSpPr>
        <p:spPr>
          <a:xfrm>
            <a:off x="5870448" y="1371600"/>
            <a:ext cx="1535826"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d1 mo|tor|way</a:t>
            </a:r>
            <a:endParaRPr lang="en-US" sz="1200" dirty="0"/>
          </a:p>
        </p:txBody>
      </p:sp>
      <p:sp>
        <p:nvSpPr>
          <p:cNvPr id="15" name="R1_a1"/>
          <p:cNvSpPr txBox="1"/>
          <p:nvPr/>
        </p:nvSpPr>
        <p:spPr>
          <a:xfrm>
            <a:off x="7461138" y="1408176"/>
            <a:ext cx="136282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MOtorway</a:t>
            </a:r>
            <a:endParaRPr lang="en-US" sz="1200" dirty="0"/>
          </a:p>
        </p:txBody>
      </p:sp>
      <p:sp>
        <p:nvSpPr>
          <p:cNvPr id="16" name="box_106"/>
          <p:cNvSpPr txBox="1"/>
          <p:nvPr/>
        </p:nvSpPr>
        <p:spPr>
          <a:xfrm>
            <a:off x="2788920" y="2055571"/>
            <a:ext cx="1535826"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c2 engaged</a:t>
            </a:r>
            <a:endParaRPr lang="en-US" sz="1200" dirty="0"/>
          </a:p>
        </p:txBody>
      </p:sp>
      <p:sp>
        <p:nvSpPr>
          <p:cNvPr id="17" name="R1_a2"/>
          <p:cNvSpPr txBox="1"/>
          <p:nvPr/>
        </p:nvSpPr>
        <p:spPr>
          <a:xfrm>
            <a:off x="4379610" y="2092147"/>
            <a:ext cx="136282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/g/ girl</a:t>
            </a:r>
            <a:endParaRPr lang="en-US" sz="1200" dirty="0"/>
          </a:p>
        </p:txBody>
      </p:sp>
      <p:sp>
        <p:nvSpPr>
          <p:cNvPr id="18" name="box_107"/>
          <p:cNvSpPr txBox="1"/>
          <p:nvPr/>
        </p:nvSpPr>
        <p:spPr>
          <a:xfrm>
            <a:off x="5870448" y="2055571"/>
            <a:ext cx="1535826"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d2 di|sa|ppoin|ted</a:t>
            </a:r>
            <a:endParaRPr lang="en-US" sz="1200" dirty="0"/>
          </a:p>
        </p:txBody>
      </p:sp>
      <p:sp>
        <p:nvSpPr>
          <p:cNvPr id="19" name="R1_a3"/>
          <p:cNvSpPr txBox="1"/>
          <p:nvPr/>
        </p:nvSpPr>
        <p:spPr>
          <a:xfrm>
            <a:off x="7461138" y="2092147"/>
            <a:ext cx="136282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disapPOINTed</a:t>
            </a:r>
            <a:endParaRPr lang="en-US" sz="1200" dirty="0"/>
          </a:p>
        </p:txBody>
      </p:sp>
      <p:sp>
        <p:nvSpPr>
          <p:cNvPr id="20" name="box_108"/>
          <p:cNvSpPr txBox="1"/>
          <p:nvPr/>
        </p:nvSpPr>
        <p:spPr>
          <a:xfrm>
            <a:off x="2788920" y="2739542"/>
            <a:ext cx="1535826"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c3 message</a:t>
            </a:r>
            <a:endParaRPr lang="en-US" sz="1200" dirty="0"/>
          </a:p>
        </p:txBody>
      </p:sp>
      <p:sp>
        <p:nvSpPr>
          <p:cNvPr id="21" name="R1_a4"/>
          <p:cNvSpPr txBox="1"/>
          <p:nvPr/>
        </p:nvSpPr>
        <p:spPr>
          <a:xfrm>
            <a:off x="4379610" y="2776118"/>
            <a:ext cx="136282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/dʒ/ jazz</a:t>
            </a:r>
            <a:endParaRPr lang="en-US" sz="1200" dirty="0"/>
          </a:p>
        </p:txBody>
      </p:sp>
      <p:sp>
        <p:nvSpPr>
          <p:cNvPr id="22" name="box_109"/>
          <p:cNvSpPr txBox="1"/>
          <p:nvPr/>
        </p:nvSpPr>
        <p:spPr>
          <a:xfrm>
            <a:off x="5870448" y="2739542"/>
            <a:ext cx="1535826" cy="55595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d3 pe|des|tri|an</a:t>
            </a:r>
            <a:endParaRPr lang="en-US" sz="1200" dirty="0"/>
          </a:p>
        </p:txBody>
      </p:sp>
      <p:sp>
        <p:nvSpPr>
          <p:cNvPr id="23" name="R1_a5"/>
          <p:cNvSpPr txBox="1"/>
          <p:nvPr/>
        </p:nvSpPr>
        <p:spPr>
          <a:xfrm>
            <a:off x="7461138" y="2776118"/>
            <a:ext cx="136282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peDEStrian</a:t>
            </a:r>
            <a:endParaRPr lang="en-US" sz="1200" dirty="0"/>
          </a:p>
        </p:txBody>
      </p:sp>
      <p:sp>
        <p:nvSpPr>
          <p:cNvPr id="24" name="box_110"/>
          <p:cNvSpPr txBox="1"/>
          <p:nvPr/>
        </p:nvSpPr>
        <p:spPr>
          <a:xfrm>
            <a:off x="2788920" y="3423514"/>
            <a:ext cx="1535826"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c4 Underground</a:t>
            </a:r>
            <a:endParaRPr lang="en-US" sz="1200" dirty="0"/>
          </a:p>
        </p:txBody>
      </p:sp>
      <p:sp>
        <p:nvSpPr>
          <p:cNvPr id="25" name="R1_a6"/>
          <p:cNvSpPr txBox="1"/>
          <p:nvPr/>
        </p:nvSpPr>
        <p:spPr>
          <a:xfrm>
            <a:off x="4379610" y="3460090"/>
            <a:ext cx="136282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/ə/ computer</a:t>
            </a:r>
            <a:endParaRPr lang="en-US" sz="1200" dirty="0"/>
          </a:p>
        </p:txBody>
      </p:sp>
      <p:sp>
        <p:nvSpPr>
          <p:cNvPr id="26" name="box_111"/>
          <p:cNvSpPr txBox="1"/>
          <p:nvPr/>
        </p:nvSpPr>
        <p:spPr>
          <a:xfrm>
            <a:off x="5870448" y="3423514"/>
            <a:ext cx="1535826"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d4 voice|mail</a:t>
            </a:r>
            <a:endParaRPr lang="en-US" sz="1200" dirty="0"/>
          </a:p>
        </p:txBody>
      </p:sp>
      <p:sp>
        <p:nvSpPr>
          <p:cNvPr id="27" name="R1_a7"/>
          <p:cNvSpPr txBox="1"/>
          <p:nvPr/>
        </p:nvSpPr>
        <p:spPr>
          <a:xfrm>
            <a:off x="7461138" y="3460090"/>
            <a:ext cx="136282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VOICEmail</a:t>
            </a:r>
            <a:endParaRPr lang="en-US" sz="1200" dirty="0"/>
          </a:p>
        </p:txBody>
      </p:sp>
      <p:sp>
        <p:nvSpPr>
          <p:cNvPr id="28" name="box_112"/>
          <p:cNvSpPr txBox="1"/>
          <p:nvPr/>
        </p:nvSpPr>
        <p:spPr>
          <a:xfrm>
            <a:off x="2788920" y="4107485"/>
            <a:ext cx="1535826"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c5 with</a:t>
            </a:r>
            <a:endParaRPr lang="en-US" sz="1200" dirty="0"/>
          </a:p>
        </p:txBody>
      </p:sp>
      <p:sp>
        <p:nvSpPr>
          <p:cNvPr id="29" name="R1_a8"/>
          <p:cNvSpPr txBox="1"/>
          <p:nvPr/>
        </p:nvSpPr>
        <p:spPr>
          <a:xfrm>
            <a:off x="4379610" y="4144061"/>
            <a:ext cx="136282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/ð/ mother</a:t>
            </a:r>
            <a:endParaRPr lang="en-US" sz="1200" dirty="0"/>
          </a:p>
        </p:txBody>
      </p:sp>
      <p:sp>
        <p:nvSpPr>
          <p:cNvPr id="30" name="box_113"/>
          <p:cNvSpPr txBox="1"/>
          <p:nvPr/>
        </p:nvSpPr>
        <p:spPr>
          <a:xfrm>
            <a:off x="5870448" y="4107485"/>
            <a:ext cx="1535826"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d5 em|ba|rra|ssing</a:t>
            </a:r>
            <a:endParaRPr lang="en-US" sz="1200" dirty="0"/>
          </a:p>
        </p:txBody>
      </p:sp>
      <p:sp>
        <p:nvSpPr>
          <p:cNvPr id="31" name="R1_a9"/>
          <p:cNvSpPr txBox="1"/>
          <p:nvPr/>
        </p:nvSpPr>
        <p:spPr>
          <a:xfrm>
            <a:off x="7461138" y="4144061"/>
            <a:ext cx="1362822"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emBARRassing</a:t>
            </a:r>
            <a:endParaRPr lang="en-US" sz="1200" dirty="0"/>
          </a:p>
        </p:txBody>
      </p:sp>
      <p:sp>
        <p:nvSpPr>
          <p:cNvPr id="32" name="sticky_114"/>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a: computer · ear · boy · bike · chess · jazz · thumb · mother · girl</a:t>
            </a:r>
            <a:endParaRPr lang="en-US" sz="1000" dirty="0"/>
          </a:p>
        </p:txBody>
      </p:sp>
      <p:sp>
        <p:nvSpPr>
          <p:cNvPr id="33" name="pageTag_11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p.44 · Pronunciation c, d</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400"/>
                                        <p:tgtEl>
                                          <p:spTgt spid="27"/>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16"/>
          <p:cNvSpPr/>
          <p:nvPr/>
        </p:nvSpPr>
        <p:spPr>
          <a:xfrm>
            <a:off x="54864" y="54864"/>
            <a:ext cx="9034272" cy="5033772"/>
          </a:xfrm>
          <a:prstGeom prst="rect">
            <a:avLst/>
          </a:prstGeom>
          <a:ln w="114300">
            <a:solidFill>
              <a:srgbClr val="A8E6B4"/>
            </a:solidFill>
            <a:prstDash val="solid"/>
          </a:ln>
        </p:spPr>
      </p:sp>
      <p:pic>
        <p:nvPicPr>
          <p:cNvPr id="4" name="logo_11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3 and 4</a:t>
            </a:r>
            <a:endParaRPr lang="en-US" sz="900" dirty="0"/>
          </a:p>
        </p:txBody>
      </p:sp>
      <p:sp>
        <p:nvSpPr>
          <p:cNvPr id="6" name="timer_11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12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8" name="title_121"/>
          <p:cNvSpPr txBox="1"/>
          <p:nvPr/>
        </p:nvSpPr>
        <p:spPr>
          <a:xfrm rot="-120000">
            <a:off x="320040" y="676656"/>
            <a:ext cx="154533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Taboo!</a:t>
            </a:r>
            <a:endParaRPr lang="en-US" sz="1500" dirty="0"/>
          </a:p>
        </p:txBody>
      </p:sp>
      <p:sp>
        <p:nvSpPr>
          <p:cNvPr id="9" name="post_122"/>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23"/>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12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Describe the word. Don't say the red words!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Descrivi la parola. Non dire le parole rosse!</a:t>
            </a:r>
            <a:endParaRPr lang="en-US" sz="1250" dirty="0"/>
          </a:p>
        </p:txBody>
      </p:sp>
      <p:sp>
        <p:nvSpPr>
          <p:cNvPr id="12" name="n_125"/>
          <p:cNvSpPr txBox="1"/>
          <p:nvPr/>
        </p:nvSpPr>
        <p:spPr>
          <a:xfrm>
            <a:off x="2834640" y="1399032"/>
            <a:ext cx="384048" cy="384048"/>
          </a:xfrm>
          <a:prstGeom prst="ellipse">
            <a:avLst/>
          </a:prstGeom>
          <a:solidFill>
            <a:srgbClr val="EF2F2F"/>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3" name="st_126"/>
          <p:cNvSpPr txBox="1"/>
          <p:nvPr/>
        </p:nvSpPr>
        <p:spPr>
          <a:xfrm>
            <a:off x="3310128" y="1325880"/>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DESCRIBER stands with their back to the class, facing the screen.</a:t>
            </a:r>
            <a:endParaRPr lang="en-US" sz="1250" dirty="0"/>
          </a:p>
        </p:txBody>
      </p:sp>
      <p:sp>
        <p:nvSpPr>
          <p:cNvPr id="14" name="n_127"/>
          <p:cNvSpPr txBox="1"/>
          <p:nvPr/>
        </p:nvSpPr>
        <p:spPr>
          <a:xfrm>
            <a:off x="2834640" y="2020824"/>
            <a:ext cx="384048" cy="384048"/>
          </a:xfrm>
          <a:prstGeom prst="ellipse">
            <a:avLst/>
          </a:prstGeom>
          <a:solidFill>
            <a:srgbClr val="48BDF2"/>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5" name="st_128"/>
          <p:cNvSpPr txBox="1"/>
          <p:nvPr/>
        </p:nvSpPr>
        <p:spPr>
          <a:xfrm>
            <a:off x="3310128" y="1947672"/>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Everybody else: you must NOT see the screen – turn round or close your eyes!</a:t>
            </a:r>
            <a:endParaRPr lang="en-US" sz="1250" dirty="0"/>
          </a:p>
        </p:txBody>
      </p:sp>
      <p:sp>
        <p:nvSpPr>
          <p:cNvPr id="16" name="n_129"/>
          <p:cNvSpPr txBox="1"/>
          <p:nvPr/>
        </p:nvSpPr>
        <p:spPr>
          <a:xfrm>
            <a:off x="2834640" y="2642616"/>
            <a:ext cx="384048" cy="384048"/>
          </a:xfrm>
          <a:prstGeom prst="ellipse">
            <a:avLst/>
          </a:prstGeom>
          <a:solidFill>
            <a:srgbClr val="1FA463"/>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7" name="st_130"/>
          <p:cNvSpPr txBox="1"/>
          <p:nvPr/>
        </p:nvSpPr>
        <p:spPr>
          <a:xfrm>
            <a:off x="3310128" y="2569464"/>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Teacher: click → ONE card appears. 1 minute to describe it. Don't say the red words!</a:t>
            </a:r>
            <a:endParaRPr lang="en-US" sz="1250" dirty="0"/>
          </a:p>
        </p:txBody>
      </p:sp>
      <p:sp>
        <p:nvSpPr>
          <p:cNvPr id="18" name="n_131"/>
          <p:cNvSpPr txBox="1"/>
          <p:nvPr/>
        </p:nvSpPr>
        <p:spPr>
          <a:xfrm>
            <a:off x="2834640" y="3264408"/>
            <a:ext cx="384048" cy="384048"/>
          </a:xfrm>
          <a:prstGeom prst="ellipse">
            <a:avLst/>
          </a:prstGeom>
          <a:solidFill>
            <a:srgbClr val="F59E0B"/>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19" name="st_132"/>
          <p:cNvSpPr txBox="1"/>
          <p:nvPr/>
        </p:nvSpPr>
        <p:spPr>
          <a:xfrm>
            <a:off x="3310128" y="3191256"/>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The describer's team guesses. Correct = 1 point. A red word = 0.</a:t>
            </a:r>
            <a:endParaRPr lang="en-US" sz="1400" dirty="0"/>
          </a:p>
        </p:txBody>
      </p:sp>
      <p:sp>
        <p:nvSpPr>
          <p:cNvPr id="20" name="n_133"/>
          <p:cNvSpPr txBox="1"/>
          <p:nvPr/>
        </p:nvSpPr>
        <p:spPr>
          <a:xfrm>
            <a:off x="2834640" y="3886200"/>
            <a:ext cx="384048" cy="384048"/>
          </a:xfrm>
          <a:prstGeom prst="ellipse">
            <a:avLst/>
          </a:prstGeom>
          <a:solidFill>
            <a:srgbClr val="062F67"/>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1" name="st_134"/>
          <p:cNvSpPr txBox="1"/>
          <p:nvPr/>
        </p:nvSpPr>
        <p:spPr>
          <a:xfrm>
            <a:off x="3310128" y="3813048"/>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Next slide = next card and a NEW describer from the other team.</a:t>
            </a:r>
            <a:endParaRPr lang="en-US" sz="1400" dirty="0"/>
          </a:p>
        </p:txBody>
      </p:sp>
      <p:sp>
        <p:nvSpPr>
          <p:cNvPr id="22" name="pageTag_1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of Files 3 and 4 (Vocabulary Bank Transport p.155, SB 4A, 3B, 4B)</a:t>
            </a:r>
            <a:endParaRPr lang="en-US" sz="105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6"/>
          <p:cNvSpPr/>
          <p:nvPr/>
        </p:nvSpPr>
        <p:spPr>
          <a:xfrm>
            <a:off x="54864" y="54864"/>
            <a:ext cx="9034272" cy="5033772"/>
          </a:xfrm>
          <a:prstGeom prst="rect">
            <a:avLst/>
          </a:prstGeom>
          <a:ln w="114300">
            <a:solidFill>
              <a:srgbClr val="A8E6B4"/>
            </a:solidFill>
            <a:prstDash val="solid"/>
          </a:ln>
        </p:spPr>
      </p:sp>
      <p:pic>
        <p:nvPicPr>
          <p:cNvPr id="4" name="logo_13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3 and 4 · card 1 of 8</a:t>
            </a:r>
            <a:endParaRPr lang="en-US" sz="900" dirty="0"/>
          </a:p>
        </p:txBody>
      </p:sp>
      <p:sp>
        <p:nvSpPr>
          <p:cNvPr id="6" name="footer_13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7" name="warn_140"/>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3600" dirty="0">
                <a:solidFill>
                  <a:srgbClr val="062F67"/>
                </a:solidFill>
                <a:latin typeface="Arial Black" pitchFamily="34" charset="0"/>
                <a:ea typeface="Arial Black" pitchFamily="34" charset="-122"/>
                <a:cs typeface="Arial Black" pitchFamily="34" charset="-120"/>
              </a:rPr>
              <a:t>ZEBRA CROSSING</a:t>
            </a:r>
            <a:endParaRPr lang="en-US" sz="36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road · cross · stripes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1"/>
          <p:cNvSpPr/>
          <p:nvPr/>
        </p:nvSpPr>
        <p:spPr>
          <a:xfrm>
            <a:off x="54864" y="54864"/>
            <a:ext cx="9034272" cy="5033772"/>
          </a:xfrm>
          <a:prstGeom prst="rect">
            <a:avLst/>
          </a:prstGeom>
          <a:ln w="114300">
            <a:solidFill>
              <a:srgbClr val="A8E6B4"/>
            </a:solidFill>
            <a:prstDash val="solid"/>
          </a:ln>
        </p:spPr>
      </p:sp>
      <p:pic>
        <p:nvPicPr>
          <p:cNvPr id="4" name="logo_14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3 and 4 · card 2 of 8</a:t>
            </a:r>
            <a:endParaRPr lang="en-US" sz="900" dirty="0"/>
          </a:p>
        </p:txBody>
      </p:sp>
      <p:sp>
        <p:nvSpPr>
          <p:cNvPr id="6" name="footer_14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7" name="warn_145"/>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TRAFFIC JAM</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cars · stuck · road</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6"/>
          <p:cNvSpPr/>
          <p:nvPr/>
        </p:nvSpPr>
        <p:spPr>
          <a:xfrm>
            <a:off x="54864" y="54864"/>
            <a:ext cx="9034272" cy="5033772"/>
          </a:xfrm>
          <a:prstGeom prst="rect">
            <a:avLst/>
          </a:prstGeom>
          <a:ln w="114300">
            <a:solidFill>
              <a:srgbClr val="A8E6B4"/>
            </a:solidFill>
            <a:prstDash val="solid"/>
          </a:ln>
        </p:spPr>
      </p:sp>
      <p:pic>
        <p:nvPicPr>
          <p:cNvPr id="4" name="logo_14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3 and 4 · card 3 of 8</a:t>
            </a:r>
            <a:endParaRPr lang="en-US" sz="900" dirty="0"/>
          </a:p>
        </p:txBody>
      </p:sp>
      <p:sp>
        <p:nvSpPr>
          <p:cNvPr id="6" name="footer_14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7" name="warn_150"/>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SEAT BELT</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car · safe · wear</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1"/>
          <p:cNvSpPr/>
          <p:nvPr/>
        </p:nvSpPr>
        <p:spPr>
          <a:xfrm>
            <a:off x="54864" y="54864"/>
            <a:ext cx="9034272" cy="5033772"/>
          </a:xfrm>
          <a:prstGeom prst="rect">
            <a:avLst/>
          </a:prstGeom>
          <a:ln w="114300">
            <a:solidFill>
              <a:srgbClr val="A8E6B4"/>
            </a:solidFill>
            <a:prstDash val="solid"/>
          </a:ln>
        </p:spPr>
      </p:sp>
      <p:pic>
        <p:nvPicPr>
          <p:cNvPr id="4" name="logo_15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3 and 4 · card 4 of 8</a:t>
            </a:r>
            <a:endParaRPr lang="en-US" sz="900" dirty="0"/>
          </a:p>
        </p:txBody>
      </p:sp>
      <p:sp>
        <p:nvSpPr>
          <p:cNvPr id="6" name="footer_15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7" name="warn_155"/>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RUSH HOUR</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busy · morning · traffic</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6"/>
          <p:cNvSpPr/>
          <p:nvPr/>
        </p:nvSpPr>
        <p:spPr>
          <a:xfrm>
            <a:off x="54864" y="54864"/>
            <a:ext cx="9034272" cy="5033772"/>
          </a:xfrm>
          <a:prstGeom prst="rect">
            <a:avLst/>
          </a:prstGeom>
          <a:ln w="114300">
            <a:solidFill>
              <a:srgbClr val="A8E6B4"/>
            </a:solidFill>
            <a:prstDash val="solid"/>
          </a:ln>
        </p:spPr>
      </p:sp>
      <p:pic>
        <p:nvPicPr>
          <p:cNvPr id="4" name="logo_15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3 and 4 · card 5 of 8</a:t>
            </a:r>
            <a:endParaRPr lang="en-US" sz="900" dirty="0"/>
          </a:p>
        </p:txBody>
      </p:sp>
      <p:sp>
        <p:nvSpPr>
          <p:cNvPr id="6" name="footer_15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7" name="warn_160"/>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VOICEMAIL</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message · phone · leave</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1"/>
          <p:cNvSpPr/>
          <p:nvPr/>
        </p:nvSpPr>
        <p:spPr>
          <a:xfrm>
            <a:off x="54864" y="54864"/>
            <a:ext cx="9034272" cy="5033772"/>
          </a:xfrm>
          <a:prstGeom prst="rect">
            <a:avLst/>
          </a:prstGeom>
          <a:ln w="114300">
            <a:solidFill>
              <a:srgbClr val="A8E6B4"/>
            </a:solidFill>
            <a:prstDash val="solid"/>
          </a:ln>
        </p:spPr>
      </p:sp>
      <p:pic>
        <p:nvPicPr>
          <p:cNvPr id="4" name="logo_16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3 and 4 · card 6 of 8</a:t>
            </a:r>
            <a:endParaRPr lang="en-US" sz="900" dirty="0"/>
          </a:p>
        </p:txBody>
      </p:sp>
      <p:sp>
        <p:nvSpPr>
          <p:cNvPr id="6" name="footer_16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7" name="warn_165"/>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RINGTONE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phone · sound · music</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6"/>
          <p:cNvSpPr/>
          <p:nvPr/>
        </p:nvSpPr>
        <p:spPr>
          <a:xfrm>
            <a:off x="54864" y="54864"/>
            <a:ext cx="9034272" cy="5033772"/>
          </a:xfrm>
          <a:prstGeom prst="rect">
            <a:avLst/>
          </a:prstGeom>
          <a:ln w="114300">
            <a:solidFill>
              <a:srgbClr val="A8E6B4"/>
            </a:solidFill>
            <a:prstDash val="solid"/>
          </a:ln>
        </p:spPr>
      </p:sp>
      <p:pic>
        <p:nvPicPr>
          <p:cNvPr id="4" name="logo_16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3 and 4 · card 7 of 8</a:t>
            </a:r>
            <a:endParaRPr lang="en-US" sz="900" dirty="0"/>
          </a:p>
        </p:txBody>
      </p:sp>
      <p:sp>
        <p:nvSpPr>
          <p:cNvPr id="6" name="footer_16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7" name="warn_170"/>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BUSKING</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music · street · money</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1"/>
          <p:cNvSpPr/>
          <p:nvPr/>
        </p:nvSpPr>
        <p:spPr>
          <a:xfrm>
            <a:off x="54864" y="54864"/>
            <a:ext cx="9034272" cy="5033772"/>
          </a:xfrm>
          <a:prstGeom prst="rect">
            <a:avLst/>
          </a:prstGeom>
          <a:ln w="114300">
            <a:solidFill>
              <a:srgbClr val="A8E6B4"/>
            </a:solidFill>
            <a:prstDash val="solid"/>
          </a:ln>
        </p:spPr>
      </p:sp>
      <p:pic>
        <p:nvPicPr>
          <p:cNvPr id="4" name="logo_17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Taboo · Files 3 and 4 · card 8 of 8</a:t>
            </a:r>
            <a:endParaRPr lang="en-US" sz="900" dirty="0"/>
          </a:p>
        </p:txBody>
      </p:sp>
      <p:sp>
        <p:nvSpPr>
          <p:cNvPr id="6" name="footer_17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7" name="warn_175"/>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STEREOTYPE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men · women · idea</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6"/>
          <p:cNvSpPr/>
          <p:nvPr/>
        </p:nvSpPr>
        <p:spPr>
          <a:xfrm>
            <a:off x="54864" y="54864"/>
            <a:ext cx="9034272" cy="5033772"/>
          </a:xfrm>
          <a:prstGeom prst="rect">
            <a:avLst/>
          </a:prstGeom>
          <a:ln w="114300">
            <a:solidFill>
              <a:srgbClr val="A8E6B4"/>
            </a:solidFill>
            <a:prstDash val="solid"/>
          </a:ln>
        </p:spPr>
      </p:sp>
      <p:pic>
        <p:nvPicPr>
          <p:cNvPr id="4" name="logo_17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VIDEO · Can you understand these people? 3&amp;4</a:t>
            </a:r>
            <a:endParaRPr lang="en-US" sz="900" dirty="0"/>
          </a:p>
        </p:txBody>
      </p:sp>
      <p:sp>
        <p:nvSpPr>
          <p:cNvPr id="6" name="timer_17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18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8" name="title_181"/>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Street interviews</a:t>
            </a:r>
            <a:endParaRPr lang="en-US" sz="1500" dirty="0"/>
          </a:p>
        </p:txBody>
      </p:sp>
      <p:sp>
        <p:nvSpPr>
          <p:cNvPr id="9" name="post_182"/>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83"/>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18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Guess first! Then watch: a, b or c? (options on p.45)</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Indovina prima! Poi guarda: a, b o c? (opzioni a p.45)</a:t>
            </a:r>
            <a:endParaRPr lang="en-US" sz="125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185"/>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100" b="1" dirty="0">
                <a:solidFill>
                  <a:srgbClr val="111111"/>
                </a:solidFill>
                <a:latin typeface="Calibri" pitchFamily="34" charset="0"/>
                <a:ea typeface="Calibri" pitchFamily="34" charset="-122"/>
                <a:cs typeface="Calibri" pitchFamily="34" charset="-120"/>
              </a:rPr>
              <a:t>Can you understand these people? 3&amp;4</a:t>
            </a:r>
            <a:endParaRPr lang="en-US" sz="1100" dirty="0"/>
          </a:p>
          <a:p>
            <a:pPr indent="0" marL="0">
              <a:buNone/>
            </a:pPr>
            <a:r>
              <a:rPr lang="en-US" sz="950" dirty="0">
                <a:solidFill>
                  <a:srgbClr val="475569"/>
                </a:solidFill>
                <a:latin typeface="Calibri" pitchFamily="34" charset="0"/>
                <a:ea typeface="Calibri" pitchFamily="34" charset="-122"/>
                <a:cs typeface="Calibri" pitchFamily="34" charset="-120"/>
              </a:rPr>
              <a:t>Revise and Check 3&amp;4 · SB p.45 · 2'55″ (= audio 4.21)</a:t>
            </a:r>
            <a:endParaRPr lang="en-US" sz="1100" dirty="0"/>
          </a:p>
        </p:txBody>
      </p:sp>
      <p:sp>
        <p:nvSpPr>
          <p:cNvPr id="14" name="wyw_186"/>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187"/>
          <p:cNvSpPr txBox="1"/>
          <p:nvPr/>
        </p:nvSpPr>
        <p:spPr>
          <a:xfrm>
            <a:off x="5852160" y="1810512"/>
            <a:ext cx="1783080" cy="51206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Nick: most enjoyable way to travel in London?</a:t>
            </a:r>
            <a:endParaRPr lang="en-US" sz="1100" dirty="0"/>
          </a:p>
        </p:txBody>
      </p:sp>
      <p:sp>
        <p:nvSpPr>
          <p:cNvPr id="16" name="R1_va0"/>
          <p:cNvSpPr txBox="1"/>
          <p:nvPr/>
        </p:nvSpPr>
        <p:spPr>
          <a:xfrm>
            <a:off x="7680960" y="1837944"/>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 by bike</a:t>
            </a:r>
            <a:endParaRPr lang="en-US" sz="1050" dirty="0"/>
          </a:p>
        </p:txBody>
      </p:sp>
      <p:sp>
        <p:nvSpPr>
          <p:cNvPr id="17" name="box_188"/>
          <p:cNvSpPr txBox="1"/>
          <p:nvPr/>
        </p:nvSpPr>
        <p:spPr>
          <a:xfrm>
            <a:off x="5852160" y="2395728"/>
            <a:ext cx="1783080" cy="51206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Butterfly: who's better with small children?</a:t>
            </a:r>
            <a:endParaRPr lang="en-US" sz="1100" dirty="0"/>
          </a:p>
        </p:txBody>
      </p:sp>
      <p:sp>
        <p:nvSpPr>
          <p:cNvPr id="18" name="R1_va1"/>
          <p:cNvSpPr txBox="1"/>
          <p:nvPr/>
        </p:nvSpPr>
        <p:spPr>
          <a:xfrm>
            <a:off x="7680960" y="2423160"/>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 equally good</a:t>
            </a:r>
            <a:endParaRPr lang="en-US" sz="1050" dirty="0"/>
          </a:p>
        </p:txBody>
      </p:sp>
      <p:sp>
        <p:nvSpPr>
          <p:cNvPr id="19" name="box_189"/>
          <p:cNvSpPr txBox="1"/>
          <p:nvPr/>
        </p:nvSpPr>
        <p:spPr>
          <a:xfrm>
            <a:off x="5852160" y="2980944"/>
            <a:ext cx="1783080" cy="51206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3  Coleen: women are more interested in…?</a:t>
            </a:r>
            <a:endParaRPr lang="en-US" sz="1100" dirty="0"/>
          </a:p>
        </p:txBody>
      </p:sp>
      <p:sp>
        <p:nvSpPr>
          <p:cNvPr id="20" name="R1_va2"/>
          <p:cNvSpPr txBox="1"/>
          <p:nvPr/>
        </p:nvSpPr>
        <p:spPr>
          <a:xfrm>
            <a:off x="7680960" y="3008376"/>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 gossip</a:t>
            </a:r>
            <a:endParaRPr lang="en-US" sz="1050" dirty="0"/>
          </a:p>
        </p:txBody>
      </p:sp>
      <p:sp>
        <p:nvSpPr>
          <p:cNvPr id="21" name="box_190"/>
          <p:cNvSpPr txBox="1"/>
          <p:nvPr/>
        </p:nvSpPr>
        <p:spPr>
          <a:xfrm>
            <a:off x="5852160" y="3566160"/>
            <a:ext cx="1783080" cy="51206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Jenny speaks ___ languages.</a:t>
            </a:r>
            <a:endParaRPr lang="en-US" sz="1100" dirty="0"/>
          </a:p>
        </p:txBody>
      </p:sp>
      <p:sp>
        <p:nvSpPr>
          <p:cNvPr id="22" name="R1_va3"/>
          <p:cNvSpPr txBox="1"/>
          <p:nvPr/>
        </p:nvSpPr>
        <p:spPr>
          <a:xfrm>
            <a:off x="7680960" y="3593592"/>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b two</a:t>
            </a:r>
            <a:endParaRPr lang="en-US" sz="1050" dirty="0"/>
          </a:p>
        </p:txBody>
      </p:sp>
      <p:sp>
        <p:nvSpPr>
          <p:cNvPr id="23" name="box_191"/>
          <p:cNvSpPr txBox="1"/>
          <p:nvPr/>
        </p:nvSpPr>
        <p:spPr>
          <a:xfrm>
            <a:off x="5852160" y="4151376"/>
            <a:ext cx="1783080" cy="51206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Linwood: annoying – phones…?</a:t>
            </a:r>
            <a:endParaRPr lang="en-US" sz="1100" dirty="0"/>
          </a:p>
        </p:txBody>
      </p:sp>
      <p:sp>
        <p:nvSpPr>
          <p:cNvPr id="24" name="R1_va4"/>
          <p:cNvSpPr txBox="1"/>
          <p:nvPr/>
        </p:nvSpPr>
        <p:spPr>
          <a:xfrm>
            <a:off x="7680960" y="4178808"/>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b in the street</a:t>
            </a:r>
            <a:endParaRPr lang="en-US" sz="1050" dirty="0"/>
          </a:p>
        </p:txBody>
      </p:sp>
      <p:sp>
        <p:nvSpPr>
          <p:cNvPr id="25" name="bubble_192"/>
          <p:cNvSpPr txBox="1"/>
          <p:nvPr/>
        </p:nvSpPr>
        <p:spPr>
          <a:xfrm>
            <a:off x="2788920" y="3931920"/>
            <a:ext cx="2926080" cy="7315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Your answers? Ask a partner the questions!</a:t>
            </a:r>
            <a:endParaRPr lang="en-US" sz="1200" dirty="0"/>
          </a:p>
        </p:txBody>
      </p:sp>
      <p:sp>
        <p:nvSpPr>
          <p:cNvPr id="26" name="pageTag_19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p.45 · Can you understand these people? · video / audio 4.21</a:t>
            </a:r>
            <a:endParaRPr lang="en-US" sz="1050" dirty="0"/>
          </a:p>
        </p:txBody>
      </p:sp>
      <p:sp>
        <p:nvSpPr>
          <p:cNvPr id="27" name="pframe_194"/>
          <p:cNvSpPr/>
          <p:nvPr/>
        </p:nvSpPr>
        <p:spPr>
          <a:xfrm rot="-60000">
            <a:off x="320040" y="3703320"/>
            <a:ext cx="2331720" cy="64922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8" name="pimg_195" descr="picture">    </p:cNvPr>
          <p:cNvPicPr>
            <a:picLocks noChangeAspect="1"/>
          </p:cNvPicPr>
          <p:nvPr/>
        </p:nvPicPr>
        <p:blipFill>
          <a:blip r:embed="rId6"/>
          <a:srcRect l="0" r="0" t="0" b="0"/>
          <a:stretch/>
        </p:blipFill>
        <p:spPr>
          <a:xfrm rot="-60000">
            <a:off x="393192" y="3776472"/>
            <a:ext cx="2185416" cy="42976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12"/>
                                        </p:tgtEl>
                                      </p:cBhvr>
                                    </p:cmd>
                                  </p:childTnLst>
                                </p:cTn>
                              </p:par>
                            </p:childTnLst>
                          </p:cTn>
                        </p:par>
                      </p:childTnLst>
                    </p:cTn>
                  </p:par>
                </p:childTnLst>
              </p:cTn>
              <p:nextCondLst>
                <p:cond evt="onClick" delay="0">
                  <p:tgtEl>
                    <p:spTgt spid="12"/>
                  </p:tgtEl>
                </p:cond>
              </p:nextCondLst>
            </p:seq>
            <p:video>
              <p:cMediaNode vol="80000">
                <p:cTn id="25" fill="hold" display="0">
                  <p:stCondLst>
                    <p:cond delay="indefinite"/>
                  </p:stCondLst>
                </p:cTn>
                <p:tgtEl>
                  <p:spTgt spid="12"/>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6"/>
          <p:cNvSpPr/>
          <p:nvPr/>
        </p:nvSpPr>
        <p:spPr>
          <a:xfrm>
            <a:off x="54864" y="54864"/>
            <a:ext cx="9034272" cy="5033772"/>
          </a:xfrm>
          <a:prstGeom prst="rect">
            <a:avLst/>
          </a:prstGeom>
          <a:ln w="114300">
            <a:solidFill>
              <a:srgbClr val="A8E6B4"/>
            </a:solidFill>
            <a:prstDash val="solid"/>
          </a:ln>
        </p:spPr>
      </p:sp>
      <p:pic>
        <p:nvPicPr>
          <p:cNvPr id="4" name="logo_19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9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Can you…? · 30-second challenge</a:t>
            </a:r>
            <a:endParaRPr lang="en-US" sz="900" dirty="0"/>
          </a:p>
        </p:txBody>
      </p:sp>
      <p:sp>
        <p:nvSpPr>
          <p:cNvPr id="6" name="timer_19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20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8" name="title_201"/>
          <p:cNvSpPr txBox="1"/>
          <p:nvPr/>
        </p:nvSpPr>
        <p:spPr>
          <a:xfrm rot="-120000">
            <a:off x="320040" y="676656"/>
            <a:ext cx="484632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30 seconds – no stopping!</a:t>
            </a:r>
            <a:endParaRPr lang="en-US" sz="1500" dirty="0"/>
          </a:p>
        </p:txBody>
      </p:sp>
      <p:sp>
        <p:nvSpPr>
          <p:cNvPr id="9" name="post_202"/>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03"/>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20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Choose a topic. Talk for 30 seconds: no pauses, no Italian!</a:t>
            </a:r>
            <a:endParaRPr lang="en-US" sz="1100" dirty="0"/>
          </a:p>
          <a:p>
            <a:pPr indent="0" marL="0">
              <a:buNone/>
            </a:pPr>
            <a:r>
              <a:rPr lang="en-US" sz="1000" i="1" dirty="0">
                <a:solidFill>
                  <a:srgbClr val="334155"/>
                </a:solidFill>
                <a:latin typeface="Calibri" pitchFamily="34" charset="0"/>
                <a:ea typeface="Calibri" pitchFamily="34" charset="-122"/>
                <a:cs typeface="Calibri" pitchFamily="34" charset="-120"/>
              </a:rPr>
              <a:t>Scegli un argomento. Parla per 30 secondi: niente pause, niente italiano!</a:t>
            </a:r>
            <a:endParaRPr lang="en-US" sz="1100" dirty="0"/>
          </a:p>
        </p:txBody>
      </p:sp>
      <p:sp>
        <p:nvSpPr>
          <p:cNvPr id="12" name="box_205"/>
          <p:cNvSpPr txBox="1"/>
          <p:nvPr/>
        </p:nvSpPr>
        <p:spPr>
          <a:xfrm>
            <a:off x="2788920" y="1371600"/>
            <a:ext cx="603504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Compare different types of public transport in your town / country</a:t>
            </a:r>
            <a:endParaRPr lang="en-US" sz="1300" dirty="0"/>
          </a:p>
        </p:txBody>
      </p:sp>
      <p:sp>
        <p:nvSpPr>
          <p:cNvPr id="13" name="box_206"/>
          <p:cNvSpPr txBox="1"/>
          <p:nvPr/>
        </p:nvSpPr>
        <p:spPr>
          <a:xfrm>
            <a:off x="2788920" y="2226564"/>
            <a:ext cx="603504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Talk about typical stereotypes of men and women and say if you think they are true</a:t>
            </a:r>
            <a:endParaRPr lang="en-US" sz="1300" dirty="0"/>
          </a:p>
        </p:txBody>
      </p:sp>
      <p:sp>
        <p:nvSpPr>
          <p:cNvPr id="14" name="box_207"/>
          <p:cNvSpPr txBox="1"/>
          <p:nvPr/>
        </p:nvSpPr>
        <p:spPr>
          <a:xfrm>
            <a:off x="2788920" y="3081528"/>
            <a:ext cx="603504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Talk about things which are / aren't good manners in your country</a:t>
            </a:r>
            <a:endParaRPr lang="en-US" sz="1300" dirty="0"/>
          </a:p>
        </p:txBody>
      </p:sp>
      <p:sp>
        <p:nvSpPr>
          <p:cNvPr id="15" name="box_208"/>
          <p:cNvSpPr txBox="1"/>
          <p:nvPr/>
        </p:nvSpPr>
        <p:spPr>
          <a:xfrm>
            <a:off x="2788920" y="3936492"/>
            <a:ext cx="603504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Describe something you would like to be able to do, but have never been able to</a:t>
            </a:r>
            <a:endParaRPr lang="en-US" sz="1300" dirty="0"/>
          </a:p>
        </p:txBody>
      </p:sp>
      <p:sp>
        <p:nvSpPr>
          <p:cNvPr id="16" name="sticky_209"/>
          <p:cNvSpPr txBox="1"/>
          <p:nvPr/>
        </p:nvSpPr>
        <p:spPr>
          <a:xfrm rot="-120000">
            <a:off x="411480" y="406908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Challenge! ✋ long pause · Italian · grammar mistake</a:t>
            </a:r>
            <a:endParaRPr lang="en-US" sz="1150" dirty="0"/>
          </a:p>
        </p:txBody>
      </p:sp>
      <p:sp>
        <p:nvSpPr>
          <p:cNvPr id="17" name="pageTag_21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p.45 · Can you…? (speaking)</a:t>
            </a:r>
            <a:endParaRPr lang="en-US" sz="1050" dirty="0"/>
          </a:p>
        </p:txBody>
      </p:sp>
    </p:spTree>
  </p:cSld>
  <p:clrMapOvr>
    <a:masterClrMapping/>
  </p:clrMapOvr>
  <p:transition spd="med">
    <p:push dir="l"/>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1"/>
          <p:cNvSpPr/>
          <p:nvPr/>
        </p:nvSpPr>
        <p:spPr>
          <a:xfrm>
            <a:off x="54864" y="54864"/>
            <a:ext cx="9034272" cy="5033772"/>
          </a:xfrm>
          <a:prstGeom prst="rect">
            <a:avLst/>
          </a:prstGeom>
          <a:ln w="114300">
            <a:solidFill>
              <a:srgbClr val="A8E6B4"/>
            </a:solidFill>
            <a:prstDash val="solid"/>
          </a:ln>
        </p:spPr>
      </p:sp>
      <p:pic>
        <p:nvPicPr>
          <p:cNvPr id="4" name="logo_21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1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6" name="title_214"/>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215"/>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216"/>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use the grammar of Files 3 and 4.</a:t>
            </a:r>
            <a:endParaRPr lang="en-US" sz="1350" dirty="0"/>
          </a:p>
        </p:txBody>
      </p:sp>
      <p:sp>
        <p:nvSpPr>
          <p:cNvPr id="9" name="faces_217"/>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218"/>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remember the vocabulary of transport, phones and feelings.</a:t>
            </a:r>
            <a:endParaRPr lang="en-US" sz="1200" dirty="0"/>
          </a:p>
        </p:txBody>
      </p:sp>
      <p:sp>
        <p:nvSpPr>
          <p:cNvPr id="11" name="faces_219"/>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20"/>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people in street interviews.</a:t>
            </a:r>
            <a:endParaRPr lang="en-US" sz="1350" dirty="0"/>
          </a:p>
        </p:txBody>
      </p:sp>
      <p:sp>
        <p:nvSpPr>
          <p:cNvPr id="13" name="faces_221"/>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222"/>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SB p.45: Can you understand this text?</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Online Practice: Check your progress</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R3-4</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5" name="stamp_223"/>
          <p:cNvSpPr txBox="1"/>
          <p:nvPr/>
        </p:nvSpPr>
        <p:spPr>
          <a:xfrm>
            <a:off x="365760" y="3657600"/>
            <a:ext cx="411480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5A · Sporting superstitions</a:t>
            </a:r>
            <a:endParaRPr lang="en-US" sz="12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24"/>
          <p:cNvSpPr/>
          <p:nvPr/>
        </p:nvSpPr>
        <p:spPr>
          <a:xfrm>
            <a:off x="54864" y="54864"/>
            <a:ext cx="9034272" cy="5033772"/>
          </a:xfrm>
          <a:prstGeom prst="rect">
            <a:avLst/>
          </a:prstGeom>
          <a:ln w="114300">
            <a:solidFill>
              <a:srgbClr val="A8E6B4"/>
            </a:solidFill>
            <a:prstDash val="solid"/>
          </a:ln>
        </p:spPr>
      </p:sp>
      <p:pic>
        <p:nvPicPr>
          <p:cNvPr id="4" name="logo_22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2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Grammar Bank 3B · Articles</a:t>
            </a:r>
            <a:endParaRPr lang="en-US" sz="900" dirty="0"/>
          </a:p>
        </p:txBody>
      </p:sp>
      <p:sp>
        <p:nvSpPr>
          <p:cNvPr id="6" name="timer_22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28"/>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2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9" name="title_230"/>
          <p:cNvSpPr txBox="1"/>
          <p:nvPr/>
        </p:nvSpPr>
        <p:spPr>
          <a:xfrm rot="-120000">
            <a:off x="320040" y="676656"/>
            <a:ext cx="449884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Spot the article error!</a:t>
            </a:r>
            <a:endParaRPr lang="en-US" sz="1500" dirty="0"/>
          </a:p>
        </p:txBody>
      </p:sp>
      <p:sp>
        <p:nvSpPr>
          <p:cNvPr id="10" name="post_231"/>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32"/>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2" name="signB_23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Each sentence has ONE article mistake. Find it!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Ogni frase ha UN errore con l'articolo. Trovalo!</a:t>
            </a:r>
            <a:endParaRPr lang="en-US" sz="1250" dirty="0"/>
          </a:p>
        </p:txBody>
      </p:sp>
      <p:sp>
        <p:nvSpPr>
          <p:cNvPr id="13" name="iconBack_23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35" descr="gi:GiMagnifyingGlass">    </p:cNvPr>
          <p:cNvPicPr>
            <a:picLocks noChangeAspect="1"/>
          </p:cNvPicPr>
          <p:nvPr/>
        </p:nvPicPr>
        <p:blipFill>
          <a:blip r:embed="rId3"/>
          <a:stretch>
            <a:fillRect/>
          </a:stretch>
        </p:blipFill>
        <p:spPr>
          <a:xfrm>
            <a:off x="914400" y="3474720"/>
            <a:ext cx="685800" cy="685800"/>
          </a:xfrm>
          <a:prstGeom prst="rect">
            <a:avLst/>
          </a:prstGeom>
        </p:spPr>
      </p:pic>
      <p:sp>
        <p:nvSpPr>
          <p:cNvPr id="15" name="box_236"/>
          <p:cNvSpPr txBox="1"/>
          <p:nvPr/>
        </p:nvSpPr>
        <p:spPr>
          <a:xfrm>
            <a:off x="2788920" y="1371600"/>
            <a:ext cx="3741725"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1  About three times a week. But I never go on the Fridays.</a:t>
            </a:r>
            <a:endParaRPr lang="en-US" sz="1000" dirty="0"/>
          </a:p>
        </p:txBody>
      </p:sp>
      <p:sp>
        <p:nvSpPr>
          <p:cNvPr id="16" name="R1_a0"/>
          <p:cNvSpPr txBox="1"/>
          <p:nvPr/>
        </p:nvSpPr>
        <p:spPr>
          <a:xfrm>
            <a:off x="6585509" y="140817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on Fridays</a:t>
            </a:r>
            <a:endParaRPr lang="en-US" sz="1150" dirty="0"/>
          </a:p>
        </p:txBody>
      </p:sp>
      <p:sp>
        <p:nvSpPr>
          <p:cNvPr id="17" name="box_237"/>
          <p:cNvSpPr txBox="1"/>
          <p:nvPr/>
        </p:nvSpPr>
        <p:spPr>
          <a:xfrm>
            <a:off x="2788920" y="1941576"/>
            <a:ext cx="3741725"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2  Can you drop me off at the station on your way to the work?</a:t>
            </a:r>
            <a:endParaRPr lang="en-US" sz="950" dirty="0"/>
          </a:p>
        </p:txBody>
      </p:sp>
      <p:sp>
        <p:nvSpPr>
          <p:cNvPr id="18" name="R1_a1"/>
          <p:cNvSpPr txBox="1"/>
          <p:nvPr/>
        </p:nvSpPr>
        <p:spPr>
          <a:xfrm>
            <a:off x="6585509" y="1978152"/>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to work</a:t>
            </a:r>
            <a:endParaRPr lang="en-US" sz="1150" dirty="0"/>
          </a:p>
        </p:txBody>
      </p:sp>
      <p:sp>
        <p:nvSpPr>
          <p:cNvPr id="19" name="box_238"/>
          <p:cNvSpPr txBox="1"/>
          <p:nvPr/>
        </p:nvSpPr>
        <p:spPr>
          <a:xfrm>
            <a:off x="2788920" y="2511552"/>
            <a:ext cx="3741725"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Thanks. I bought it in the sales the last month.</a:t>
            </a:r>
            <a:endParaRPr lang="en-US" sz="1200" dirty="0"/>
          </a:p>
        </p:txBody>
      </p:sp>
      <p:sp>
        <p:nvSpPr>
          <p:cNvPr id="20" name="R1_a2"/>
          <p:cNvSpPr txBox="1"/>
          <p:nvPr/>
        </p:nvSpPr>
        <p:spPr>
          <a:xfrm>
            <a:off x="6585509" y="2548128"/>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last month</a:t>
            </a:r>
            <a:endParaRPr lang="en-US" sz="1150" dirty="0"/>
          </a:p>
        </p:txBody>
      </p:sp>
      <p:sp>
        <p:nvSpPr>
          <p:cNvPr id="21" name="box_239"/>
          <p:cNvSpPr txBox="1"/>
          <p:nvPr/>
        </p:nvSpPr>
        <p:spPr>
          <a:xfrm>
            <a:off x="2788920" y="3081528"/>
            <a:ext cx="3741725"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Probably the castle. It's oldest building.</a:t>
            </a:r>
            <a:endParaRPr lang="en-US" sz="1200" dirty="0"/>
          </a:p>
        </p:txBody>
      </p:sp>
      <p:sp>
        <p:nvSpPr>
          <p:cNvPr id="22" name="R1_a3"/>
          <p:cNvSpPr txBox="1"/>
          <p:nvPr/>
        </p:nvSpPr>
        <p:spPr>
          <a:xfrm>
            <a:off x="6585509" y="3118104"/>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It's the oldest building.</a:t>
            </a:r>
            <a:endParaRPr lang="en-US" sz="1150" dirty="0"/>
          </a:p>
        </p:txBody>
      </p:sp>
      <p:sp>
        <p:nvSpPr>
          <p:cNvPr id="23" name="box_240"/>
          <p:cNvSpPr txBox="1"/>
          <p:nvPr/>
        </p:nvSpPr>
        <p:spPr>
          <a:xfrm>
            <a:off x="2788920" y="3651504"/>
            <a:ext cx="3741725"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Do you like the cats? – Not really. I prefer dogs.</a:t>
            </a:r>
            <a:endParaRPr lang="en-US" sz="1200" dirty="0"/>
          </a:p>
        </p:txBody>
      </p:sp>
      <p:sp>
        <p:nvSpPr>
          <p:cNvPr id="24" name="R1_a4"/>
          <p:cNvSpPr txBox="1"/>
          <p:nvPr/>
        </p:nvSpPr>
        <p:spPr>
          <a:xfrm>
            <a:off x="6585509" y="3688080"/>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Do you like cats?</a:t>
            </a:r>
            <a:endParaRPr lang="en-US" sz="1150" dirty="0"/>
          </a:p>
        </p:txBody>
      </p:sp>
      <p:sp>
        <p:nvSpPr>
          <p:cNvPr id="25" name="box_241"/>
          <p:cNvSpPr txBox="1"/>
          <p:nvPr/>
        </p:nvSpPr>
        <p:spPr>
          <a:xfrm>
            <a:off x="2788920" y="4221480"/>
            <a:ext cx="3741725"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She's always tired when she finishes the work.</a:t>
            </a:r>
            <a:endParaRPr lang="en-US" sz="1200" dirty="0"/>
          </a:p>
        </p:txBody>
      </p:sp>
      <p:sp>
        <p:nvSpPr>
          <p:cNvPr id="26" name="R1_a5"/>
          <p:cNvSpPr txBox="1"/>
          <p:nvPr/>
        </p:nvSpPr>
        <p:spPr>
          <a:xfrm>
            <a:off x="6585509" y="425805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finishes work</a:t>
            </a:r>
            <a:endParaRPr lang="en-US" sz="1150" dirty="0"/>
          </a:p>
        </p:txBody>
      </p:sp>
      <p:sp>
        <p:nvSpPr>
          <p:cNvPr id="27" name="pageTag_24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3B p.137 · b</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3"/>
          <p:cNvSpPr/>
          <p:nvPr/>
        </p:nvSpPr>
        <p:spPr>
          <a:xfrm>
            <a:off x="54864" y="54864"/>
            <a:ext cx="9034272" cy="5033772"/>
          </a:xfrm>
          <a:prstGeom prst="rect">
            <a:avLst/>
          </a:prstGeom>
          <a:ln w="114300">
            <a:solidFill>
              <a:srgbClr val="A8E6B4"/>
            </a:solidFill>
            <a:prstDash val="solid"/>
          </a:ln>
        </p:spPr>
      </p:sp>
      <p:pic>
        <p:nvPicPr>
          <p:cNvPr id="4" name="logo_24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Vocabulary Bank · Dependent prepositions</a:t>
            </a:r>
            <a:endParaRPr lang="en-US" sz="900" dirty="0"/>
          </a:p>
        </p:txBody>
      </p:sp>
      <p:sp>
        <p:nvSpPr>
          <p:cNvPr id="6" name="timer_24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extra_247"/>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4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9" name="title_249"/>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Preposition tennis</a:t>
            </a:r>
            <a:endParaRPr lang="en-US" sz="1500" dirty="0"/>
          </a:p>
        </p:txBody>
      </p:sp>
      <p:sp>
        <p:nvSpPr>
          <p:cNvPr id="10" name="post_250"/>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51"/>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2" name="signB_25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Teacher 'serves' the word. Your team 'returns' the preposition – fast!</a:t>
            </a:r>
            <a:endParaRPr lang="en-US" sz="1000" dirty="0"/>
          </a:p>
          <a:p>
            <a:pPr indent="0" marL="0">
              <a:buNone/>
            </a:pPr>
            <a:r>
              <a:rPr lang="en-US" sz="900" i="1" dirty="0">
                <a:solidFill>
                  <a:srgbClr val="334155"/>
                </a:solidFill>
                <a:latin typeface="Calibri" pitchFamily="34" charset="0"/>
                <a:ea typeface="Calibri" pitchFamily="34" charset="-122"/>
                <a:cs typeface="Calibri" pitchFamily="34" charset="-120"/>
              </a:rPr>
              <a:t>L'insegnante 'serve' la parola. La squadra 'risponde' con la preposizione – veloce!</a:t>
            </a:r>
            <a:endParaRPr lang="en-US" sz="1000" dirty="0"/>
          </a:p>
        </p:txBody>
      </p:sp>
      <p:sp>
        <p:nvSpPr>
          <p:cNvPr id="13" name="iconBack_253"/>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54" descr="pi:PiLightning">    </p:cNvPr>
          <p:cNvPicPr>
            <a:picLocks noChangeAspect="1"/>
          </p:cNvPicPr>
          <p:nvPr/>
        </p:nvPicPr>
        <p:blipFill>
          <a:blip r:embed="rId3"/>
          <a:stretch>
            <a:fillRect/>
          </a:stretch>
        </p:blipFill>
        <p:spPr>
          <a:xfrm>
            <a:off x="914400" y="3474720"/>
            <a:ext cx="685800" cy="685800"/>
          </a:xfrm>
          <a:prstGeom prst="rect">
            <a:avLst/>
          </a:prstGeom>
        </p:spPr>
      </p:pic>
      <p:sp>
        <p:nvSpPr>
          <p:cNvPr id="15" name="box_255"/>
          <p:cNvSpPr txBox="1"/>
          <p:nvPr/>
        </p:nvSpPr>
        <p:spPr>
          <a:xfrm>
            <a:off x="2788920" y="1371600"/>
            <a:ext cx="1831177"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afraid…</a:t>
            </a:r>
            <a:endParaRPr lang="en-US" sz="1300" dirty="0"/>
          </a:p>
        </p:txBody>
      </p:sp>
      <p:sp>
        <p:nvSpPr>
          <p:cNvPr id="16" name="R1_a0"/>
          <p:cNvSpPr txBox="1"/>
          <p:nvPr/>
        </p:nvSpPr>
        <p:spPr>
          <a:xfrm>
            <a:off x="4674961" y="1408176"/>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of</a:t>
            </a:r>
            <a:endParaRPr lang="en-US" sz="1400" dirty="0"/>
          </a:p>
        </p:txBody>
      </p:sp>
      <p:sp>
        <p:nvSpPr>
          <p:cNvPr id="17" name="box_256"/>
          <p:cNvSpPr txBox="1"/>
          <p:nvPr/>
        </p:nvSpPr>
        <p:spPr>
          <a:xfrm>
            <a:off x="5870448" y="1371600"/>
            <a:ext cx="1831177"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good…</a:t>
            </a:r>
            <a:endParaRPr lang="en-US" sz="1300" dirty="0"/>
          </a:p>
        </p:txBody>
      </p:sp>
      <p:sp>
        <p:nvSpPr>
          <p:cNvPr id="18" name="R2_a1"/>
          <p:cNvSpPr txBox="1"/>
          <p:nvPr/>
        </p:nvSpPr>
        <p:spPr>
          <a:xfrm>
            <a:off x="7756489" y="1408176"/>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at</a:t>
            </a:r>
            <a:endParaRPr lang="en-US" sz="1400" dirty="0"/>
          </a:p>
        </p:txBody>
      </p:sp>
      <p:sp>
        <p:nvSpPr>
          <p:cNvPr id="19" name="box_257"/>
          <p:cNvSpPr txBox="1"/>
          <p:nvPr/>
        </p:nvSpPr>
        <p:spPr>
          <a:xfrm>
            <a:off x="2788920" y="2226564"/>
            <a:ext cx="1831177"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look forward…</a:t>
            </a:r>
            <a:endParaRPr lang="en-US" sz="1300" dirty="0"/>
          </a:p>
        </p:txBody>
      </p:sp>
      <p:sp>
        <p:nvSpPr>
          <p:cNvPr id="20" name="R3_a2"/>
          <p:cNvSpPr txBox="1"/>
          <p:nvPr/>
        </p:nvSpPr>
        <p:spPr>
          <a:xfrm>
            <a:off x="4674961" y="2263140"/>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to</a:t>
            </a:r>
            <a:endParaRPr lang="en-US" sz="1400" dirty="0"/>
          </a:p>
        </p:txBody>
      </p:sp>
      <p:sp>
        <p:nvSpPr>
          <p:cNvPr id="21" name="box_258"/>
          <p:cNvSpPr txBox="1"/>
          <p:nvPr/>
        </p:nvSpPr>
        <p:spPr>
          <a:xfrm>
            <a:off x="5870448" y="2226564"/>
            <a:ext cx="1831177"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keen…</a:t>
            </a:r>
            <a:endParaRPr lang="en-US" sz="1300" dirty="0"/>
          </a:p>
        </p:txBody>
      </p:sp>
      <p:sp>
        <p:nvSpPr>
          <p:cNvPr id="22" name="R4_a3"/>
          <p:cNvSpPr txBox="1"/>
          <p:nvPr/>
        </p:nvSpPr>
        <p:spPr>
          <a:xfrm>
            <a:off x="7756489" y="2263140"/>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on</a:t>
            </a:r>
            <a:endParaRPr lang="en-US" sz="1400" dirty="0"/>
          </a:p>
        </p:txBody>
      </p:sp>
      <p:sp>
        <p:nvSpPr>
          <p:cNvPr id="23" name="box_259"/>
          <p:cNvSpPr txBox="1"/>
          <p:nvPr/>
        </p:nvSpPr>
        <p:spPr>
          <a:xfrm>
            <a:off x="2788920" y="3081528"/>
            <a:ext cx="1831177"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famous…</a:t>
            </a:r>
            <a:endParaRPr lang="en-US" sz="1300" dirty="0"/>
          </a:p>
        </p:txBody>
      </p:sp>
      <p:sp>
        <p:nvSpPr>
          <p:cNvPr id="24" name="R5_a4"/>
          <p:cNvSpPr txBox="1"/>
          <p:nvPr/>
        </p:nvSpPr>
        <p:spPr>
          <a:xfrm>
            <a:off x="4674961" y="3118104"/>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for</a:t>
            </a:r>
            <a:endParaRPr lang="en-US" sz="1400" dirty="0"/>
          </a:p>
        </p:txBody>
      </p:sp>
      <p:sp>
        <p:nvSpPr>
          <p:cNvPr id="25" name="box_260"/>
          <p:cNvSpPr txBox="1"/>
          <p:nvPr/>
        </p:nvSpPr>
        <p:spPr>
          <a:xfrm>
            <a:off x="5870448" y="3081528"/>
            <a:ext cx="1831177"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believe…</a:t>
            </a:r>
            <a:endParaRPr lang="en-US" sz="1300" dirty="0"/>
          </a:p>
        </p:txBody>
      </p:sp>
      <p:sp>
        <p:nvSpPr>
          <p:cNvPr id="26" name="R6_a5"/>
          <p:cNvSpPr txBox="1"/>
          <p:nvPr/>
        </p:nvSpPr>
        <p:spPr>
          <a:xfrm>
            <a:off x="7756489" y="3118104"/>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in</a:t>
            </a:r>
            <a:endParaRPr lang="en-US" sz="1400" dirty="0"/>
          </a:p>
        </p:txBody>
      </p:sp>
      <p:sp>
        <p:nvSpPr>
          <p:cNvPr id="27" name="box_261"/>
          <p:cNvSpPr txBox="1"/>
          <p:nvPr/>
        </p:nvSpPr>
        <p:spPr>
          <a:xfrm>
            <a:off x="2788920" y="3936492"/>
            <a:ext cx="1831177"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7  depend…</a:t>
            </a:r>
            <a:endParaRPr lang="en-US" sz="1300" dirty="0"/>
          </a:p>
        </p:txBody>
      </p:sp>
      <p:sp>
        <p:nvSpPr>
          <p:cNvPr id="28" name="R7_a6"/>
          <p:cNvSpPr txBox="1"/>
          <p:nvPr/>
        </p:nvSpPr>
        <p:spPr>
          <a:xfrm>
            <a:off x="4674961" y="3973068"/>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on</a:t>
            </a:r>
            <a:endParaRPr lang="en-US" sz="1400" dirty="0"/>
          </a:p>
        </p:txBody>
      </p:sp>
      <p:sp>
        <p:nvSpPr>
          <p:cNvPr id="29" name="box_262"/>
          <p:cNvSpPr txBox="1"/>
          <p:nvPr/>
        </p:nvSpPr>
        <p:spPr>
          <a:xfrm>
            <a:off x="5870448" y="3936492"/>
            <a:ext cx="1831177"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8  fed up…</a:t>
            </a:r>
            <a:endParaRPr lang="en-US" sz="1300" dirty="0"/>
          </a:p>
        </p:txBody>
      </p:sp>
      <p:sp>
        <p:nvSpPr>
          <p:cNvPr id="30" name="R8_a7"/>
          <p:cNvSpPr txBox="1"/>
          <p:nvPr/>
        </p:nvSpPr>
        <p:spPr>
          <a:xfrm>
            <a:off x="7756489" y="3973068"/>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with</a:t>
            </a:r>
            <a:endParaRPr lang="en-US" sz="1400" dirty="0"/>
          </a:p>
        </p:txBody>
      </p:sp>
      <p:sp>
        <p:nvSpPr>
          <p:cNvPr id="31" name="pageTag_26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 Dependent prepositions p.156 · audio 3.25–3.27</a:t>
            </a:r>
            <a:endParaRPr lang="en-US" sz="1050" dirty="0"/>
          </a:p>
        </p:txBody>
      </p:sp>
      <p:pic>
        <p:nvPicPr>
          <p:cNvPr id="32" name="Media 0">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5166360" y="155448"/>
            <a:ext cx="384048" cy="384048"/>
          </a:xfrm>
          <a:prstGeom prst="rect">
            <a:avLst/>
          </a:prstGeom>
        </p:spPr>
      </p:pic>
      <p:sp>
        <p:nvSpPr>
          <p:cNvPr id="33" name="atr_264"/>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3.27</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32"/>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32"/>
                                        </p:tgtEl>
                                      </p:cBhvr>
                                    </p:cmd>
                                  </p:childTnLst>
                                </p:cTn>
                              </p:par>
                            </p:childTnLst>
                          </p:cTn>
                        </p:par>
                      </p:childTnLst>
                    </p:cTn>
                  </p:par>
                </p:childTnLst>
              </p:cTn>
              <p:nextCondLst>
                <p:cond evt="onClick" delay="0">
                  <p:tgtEl>
                    <p:spTgt spid="32"/>
                  </p:tgtEl>
                </p:cond>
              </p:nextCondLst>
            </p:seq>
            <p:audio>
              <p:cMediaNode vol="80000">
                <p:cTn id="48" fill="hold" display="0">
                  <p:stCondLst>
                    <p:cond delay="indefinite"/>
                  </p:stCondLst>
                  <p:endCondLst>
                    <p:cond evt="onStopAudio" delay="0">
                      <p:tgtEl>
                        <p:sldTgt/>
                      </p:tgtEl>
                    </p:cond>
                  </p:endCondLst>
                </p:cTn>
                <p:tgtEl>
                  <p:spTgt spid="32"/>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5"/>
          <p:cNvSpPr/>
          <p:nvPr/>
        </p:nvSpPr>
        <p:spPr>
          <a:xfrm>
            <a:off x="54864" y="54864"/>
            <a:ext cx="9034272" cy="5033772"/>
          </a:xfrm>
          <a:prstGeom prst="rect">
            <a:avLst/>
          </a:prstGeom>
          <a:ln w="114300">
            <a:solidFill>
              <a:srgbClr val="A8E6B4"/>
            </a:solidFill>
            <a:prstDash val="solid"/>
          </a:ln>
        </p:spPr>
      </p:sp>
      <p:pic>
        <p:nvPicPr>
          <p:cNvPr id="4" name="logo_26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Reading · SB p.45</a:t>
            </a:r>
            <a:endParaRPr lang="en-US" sz="900" dirty="0"/>
          </a:p>
        </p:txBody>
      </p:sp>
      <p:sp>
        <p:nvSpPr>
          <p:cNvPr id="6" name="timer_26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269"/>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7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R3-4 · Part 1</a:t>
            </a:r>
            <a:endParaRPr lang="en-US" sz="1000" dirty="0"/>
          </a:p>
        </p:txBody>
      </p:sp>
      <p:sp>
        <p:nvSpPr>
          <p:cNvPr id="9" name="title_271"/>
          <p:cNvSpPr txBox="1"/>
          <p:nvPr/>
        </p:nvSpPr>
        <p:spPr>
          <a:xfrm rot="-120000">
            <a:off x="320040" y="676656"/>
            <a:ext cx="554126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Can you understand this text?</a:t>
            </a:r>
            <a:endParaRPr lang="en-US" sz="1500" dirty="0"/>
          </a:p>
        </p:txBody>
      </p:sp>
      <p:sp>
        <p:nvSpPr>
          <p:cNvPr id="10" name="post_272"/>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73"/>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2" name="signB_27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How to be the perfect car passenger: choose a heading for A–F.</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Come essere il passeggero perfetto: scegli un titolo per A–F.</a:t>
            </a:r>
            <a:endParaRPr lang="en-US" sz="1200" dirty="0"/>
          </a:p>
        </p:txBody>
      </p:sp>
      <p:sp>
        <p:nvSpPr>
          <p:cNvPr id="13" name="box_275"/>
          <p:cNvSpPr txBox="1"/>
          <p:nvPr/>
        </p:nvSpPr>
        <p:spPr>
          <a:xfrm>
            <a:off x="2788920" y="1371600"/>
            <a:ext cx="385267"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A</a:t>
            </a:r>
            <a:endParaRPr lang="en-US" sz="1600" dirty="0"/>
          </a:p>
        </p:txBody>
      </p:sp>
      <p:sp>
        <p:nvSpPr>
          <p:cNvPr id="14" name="R1_a0"/>
          <p:cNvSpPr txBox="1"/>
          <p:nvPr/>
        </p:nvSpPr>
        <p:spPr>
          <a:xfrm>
            <a:off x="3229051" y="1408176"/>
            <a:ext cx="1486205"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5 Wear your seatbelt</a:t>
            </a:r>
            <a:endParaRPr lang="en-US" sz="1100" dirty="0"/>
          </a:p>
        </p:txBody>
      </p:sp>
      <p:sp>
        <p:nvSpPr>
          <p:cNvPr id="15" name="box_276"/>
          <p:cNvSpPr txBox="1"/>
          <p:nvPr/>
        </p:nvSpPr>
        <p:spPr>
          <a:xfrm>
            <a:off x="4843272" y="1371600"/>
            <a:ext cx="385267"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B</a:t>
            </a:r>
            <a:endParaRPr lang="en-US" sz="1600" dirty="0"/>
          </a:p>
        </p:txBody>
      </p:sp>
      <p:sp>
        <p:nvSpPr>
          <p:cNvPr id="16" name="R1_a1"/>
          <p:cNvSpPr txBox="1"/>
          <p:nvPr/>
        </p:nvSpPr>
        <p:spPr>
          <a:xfrm>
            <a:off x="5283403" y="1408176"/>
            <a:ext cx="1486205"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3 Be a good co-pilot</a:t>
            </a:r>
            <a:endParaRPr lang="en-US" sz="1100" dirty="0"/>
          </a:p>
        </p:txBody>
      </p:sp>
      <p:sp>
        <p:nvSpPr>
          <p:cNvPr id="17" name="box_277"/>
          <p:cNvSpPr txBox="1"/>
          <p:nvPr/>
        </p:nvSpPr>
        <p:spPr>
          <a:xfrm>
            <a:off x="6897624" y="1371600"/>
            <a:ext cx="385267"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C</a:t>
            </a:r>
            <a:endParaRPr lang="en-US" sz="1600" dirty="0"/>
          </a:p>
        </p:txBody>
      </p:sp>
      <p:sp>
        <p:nvSpPr>
          <p:cNvPr id="18" name="R1_a2"/>
          <p:cNvSpPr txBox="1"/>
          <p:nvPr/>
        </p:nvSpPr>
        <p:spPr>
          <a:xfrm>
            <a:off x="7337755" y="1408176"/>
            <a:ext cx="1486205"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6 Don't be rude</a:t>
            </a:r>
            <a:endParaRPr lang="en-US" sz="1100" dirty="0"/>
          </a:p>
        </p:txBody>
      </p:sp>
      <p:sp>
        <p:nvSpPr>
          <p:cNvPr id="19" name="box_278"/>
          <p:cNvSpPr txBox="1"/>
          <p:nvPr/>
        </p:nvSpPr>
        <p:spPr>
          <a:xfrm>
            <a:off x="2788920" y="2368296"/>
            <a:ext cx="385267"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D</a:t>
            </a:r>
            <a:endParaRPr lang="en-US" sz="1600" dirty="0"/>
          </a:p>
        </p:txBody>
      </p:sp>
      <p:sp>
        <p:nvSpPr>
          <p:cNvPr id="20" name="R1_a3"/>
          <p:cNvSpPr txBox="1"/>
          <p:nvPr/>
        </p:nvSpPr>
        <p:spPr>
          <a:xfrm>
            <a:off x="3229051" y="2404872"/>
            <a:ext cx="1486205"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4 Don't distract the driver</a:t>
            </a:r>
            <a:endParaRPr lang="en-US" sz="1100" dirty="0"/>
          </a:p>
        </p:txBody>
      </p:sp>
      <p:sp>
        <p:nvSpPr>
          <p:cNvPr id="21" name="box_279"/>
          <p:cNvSpPr txBox="1"/>
          <p:nvPr/>
        </p:nvSpPr>
        <p:spPr>
          <a:xfrm>
            <a:off x="4843272" y="2368296"/>
            <a:ext cx="385267"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E</a:t>
            </a:r>
            <a:endParaRPr lang="en-US" sz="1600" dirty="0"/>
          </a:p>
        </p:txBody>
      </p:sp>
      <p:sp>
        <p:nvSpPr>
          <p:cNvPr id="22" name="R1_a4"/>
          <p:cNvSpPr txBox="1"/>
          <p:nvPr/>
        </p:nvSpPr>
        <p:spPr>
          <a:xfrm>
            <a:off x="5283403" y="2404872"/>
            <a:ext cx="1486205"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1 Don't be a selfish DJ</a:t>
            </a:r>
            <a:endParaRPr lang="en-US" sz="1100" dirty="0"/>
          </a:p>
        </p:txBody>
      </p:sp>
      <p:sp>
        <p:nvSpPr>
          <p:cNvPr id="23" name="box_280"/>
          <p:cNvSpPr txBox="1"/>
          <p:nvPr/>
        </p:nvSpPr>
        <p:spPr>
          <a:xfrm>
            <a:off x="6897624" y="2368296"/>
            <a:ext cx="385267"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F</a:t>
            </a:r>
            <a:endParaRPr lang="en-US" sz="1600" dirty="0"/>
          </a:p>
        </p:txBody>
      </p:sp>
      <p:sp>
        <p:nvSpPr>
          <p:cNvPr id="24" name="R1_a5"/>
          <p:cNvSpPr txBox="1"/>
          <p:nvPr/>
        </p:nvSpPr>
        <p:spPr>
          <a:xfrm>
            <a:off x="7337755" y="2404872"/>
            <a:ext cx="1486205"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2 Don't tolerate dangerous driving</a:t>
            </a:r>
            <a:endParaRPr lang="en-US" sz="1100" dirty="0"/>
          </a:p>
        </p:txBody>
      </p:sp>
      <p:sp>
        <p:nvSpPr>
          <p:cNvPr id="25" name="sticky_281"/>
          <p:cNvSpPr txBox="1"/>
          <p:nvPr/>
        </p:nvSpPr>
        <p:spPr>
          <a:xfrm rot="-120000">
            <a:off x="3017520" y="3794760"/>
            <a:ext cx="5669280" cy="8686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Headings: 1 Don't be a selfish DJ · 2 Don't tolerate dangerous driving · 3 Be a good co-pilot · 4 Don't distract the driver · 5 Wear your seatbelt · 6 Don't be rude</a:t>
            </a:r>
            <a:endParaRPr lang="en-US" sz="1150" dirty="0"/>
          </a:p>
        </p:txBody>
      </p:sp>
      <p:sp>
        <p:nvSpPr>
          <p:cNvPr id="26" name="pageTag_28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p.45 · Can you understand this text? a</a:t>
            </a:r>
            <a:endParaRPr lang="en-US" sz="1050" dirty="0"/>
          </a:p>
        </p:txBody>
      </p:sp>
      <p:sp>
        <p:nvSpPr>
          <p:cNvPr id="27" name="pframe_283"/>
          <p:cNvSpPr/>
          <p:nvPr/>
        </p:nvSpPr>
        <p:spPr>
          <a:xfrm rot="-120000">
            <a:off x="365760" y="3383280"/>
            <a:ext cx="2194560" cy="106070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8" name="pimg_284" descr="picture">    </p:cNvPr>
          <p:cNvPicPr>
            <a:picLocks noChangeAspect="1"/>
          </p:cNvPicPr>
          <p:nvPr/>
        </p:nvPicPr>
        <p:blipFill>
          <a:blip r:embed="rId3"/>
          <a:srcRect l="0" r="0" t="0" b="0"/>
          <a:stretch/>
        </p:blipFill>
        <p:spPr>
          <a:xfrm rot="-120000">
            <a:off x="438912" y="3456432"/>
            <a:ext cx="2048256" cy="84124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4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R3-4 Revise and Check 3&amp;4</dc:title>
  <dc:subject>PptxGenJS Presentation</dc:subject>
  <dc:creator>London Language School</dc:creator>
  <cp:lastModifiedBy>London Language School</cp:lastModifiedBy>
  <cp:revision>1</cp:revision>
  <dcterms:created xsi:type="dcterms:W3CDTF">2026-10-05T09:39:38Z</dcterms:created>
  <dcterms:modified xsi:type="dcterms:W3CDTF">2026-10-05T09:39:38Z</dcterms:modified>
</cp:coreProperties>
</file>