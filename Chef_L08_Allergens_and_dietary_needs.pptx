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8 (60 min). Aims: the 14 allergens (UK &amp; EU law), special diets, Does it contain…?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(5 min). Beat the clock: 60 seconds for all six, with a reason for at least three. Click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(8 min). These are the 14 allergens in UK and EU law (EU Reg. 1169/2011, Annex II). Students give a dish from their menu for each: Our pesto contains tree nuts (pine nuts) and milk.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(5 min). Click 1. Mention: an allergy can kill; an intolerance makes you ill; a preference is a choice — all must be respected.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PRACTICE (5 min). Click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(6 min). VARIATION: perspective — what does the chef need to know? Remind: never guess; check every ingredient and the oil used for frying.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ROLE-PLAY (10 min). VARIATION: perspective change. Round 2: use their own menu. Round 3: the teacher is a worried customer — chefs must explain clearly and safely (never promise what they can't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(8 min). Answers vary with the recipe — accept if they can explain. e.g. carbonara: eggs, milk (pecorino / parmesan), cereals with gluten (pasta). Fish and chips: fish, gluten (batter); maybe sulphites, eggs, milk in the batter. Pesto: tree nuts (pine nuts), milk (cheese). Caesar salad: eggs, fish (anchovies), milk (parmesan), gluten (croutons), often mustard.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Homework sheet L8 in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(6 min). They use: I can use… instead of… / I can make it without… / We can't make it safe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VARIATION: negative experiences with boundaries — keep it professional and light. Past simple preview for 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C9B3F0"/>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C9B3F0"/>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2B2440"/>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Kitchen English · L8</a:t>
            </a:r>
            <a:endParaRPr lang="en-US" sz="1000" dirty="0"/>
          </a:p>
        </p:txBody>
      </p:sp>
      <p:sp>
        <p:nvSpPr>
          <p:cNvPr id="7" name="unit_5"/>
          <p:cNvSpPr txBox="1"/>
          <p:nvPr/>
        </p:nvSpPr>
        <p:spPr>
          <a:xfrm>
            <a:off x="411480" y="320040"/>
            <a:ext cx="1463040" cy="914400"/>
          </a:xfrm>
          <a:prstGeom prst="rect">
            <a:avLst/>
          </a:prstGeom>
          <a:noFill/>
          <a:ln/>
        </p:spPr>
        <p:txBody>
          <a:bodyPr wrap="square" rtlCol="0" anchor="ctr"/>
          <a:lstStyle/>
          <a:p>
            <a:pPr indent="0" marL="0">
              <a:buNone/>
            </a:pPr>
            <a:r>
              <a:rPr lang="en-US" sz="4600" dirty="0">
                <a:solidFill>
                  <a:srgbClr val="FFD84D"/>
                </a:solidFill>
                <a:latin typeface="Arial Black" pitchFamily="34" charset="0"/>
                <a:ea typeface="Arial Black" pitchFamily="34" charset="-122"/>
                <a:cs typeface="Arial Black" pitchFamily="34" charset="-120"/>
              </a:rPr>
              <a:t>L8</a:t>
            </a:r>
            <a:endParaRPr lang="en-US" sz="4600" dirty="0"/>
          </a:p>
        </p:txBody>
      </p:sp>
      <p:sp>
        <p:nvSpPr>
          <p:cNvPr id="8" name="course_6"/>
          <p:cNvSpPr txBox="1"/>
          <p:nvPr/>
        </p:nvSpPr>
        <p:spPr>
          <a:xfrm>
            <a:off x="1828800" y="566928"/>
            <a:ext cx="3840480" cy="365760"/>
          </a:xfrm>
          <a:prstGeom prst="rect">
            <a:avLst/>
          </a:prstGeom>
          <a:noFill/>
          <a:ln/>
        </p:spPr>
        <p:txBody>
          <a:bodyPr wrap="square" rtlCol="0" anchor="ctr"/>
          <a:lstStyle/>
          <a:p>
            <a:pPr indent="0" marL="0">
              <a:buNone/>
            </a:pPr>
            <a:r>
              <a:rPr lang="en-US" sz="1200" dirty="0">
                <a:solidFill>
                  <a:srgbClr val="E9E2FB"/>
                </a:solidFill>
                <a:latin typeface="Arial Black" pitchFamily="34" charset="0"/>
                <a:ea typeface="Arial Black" pitchFamily="34" charset="-122"/>
                <a:cs typeface="Arial Black" pitchFamily="34" charset="-120"/>
              </a:rPr>
              <a:t>KITCHEN ENGLISH · Lesson 8 of 10</a:t>
            </a:r>
            <a:endParaRPr lang="en-US" sz="1200" dirty="0"/>
          </a:p>
        </p:txBody>
      </p:sp>
      <p:sp>
        <p:nvSpPr>
          <p:cNvPr id="9" name="title_7"/>
          <p:cNvSpPr txBox="1"/>
          <p:nvPr/>
        </p:nvSpPr>
        <p:spPr>
          <a:xfrm rot="-180000">
            <a:off x="411480" y="1325880"/>
            <a:ext cx="4837176"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650" dirty="0">
                <a:solidFill>
                  <a:srgbClr val="111111"/>
                </a:solidFill>
                <a:latin typeface="Arial Black" pitchFamily="34" charset="0"/>
                <a:ea typeface="Arial Black" pitchFamily="34" charset="-122"/>
                <a:cs typeface="Arial Black" pitchFamily="34" charset="-120"/>
              </a:rPr>
              <a:t>ALLERGENS &amp; DIETS</a:t>
            </a:r>
            <a:endParaRPr lang="en-US" sz="2650" dirty="0"/>
          </a:p>
        </p:txBody>
      </p:sp>
      <p:sp>
        <p:nvSpPr>
          <p:cNvPr id="10" name="stamp_8"/>
          <p:cNvSpPr txBox="1"/>
          <p:nvPr/>
        </p:nvSpPr>
        <p:spPr>
          <a:xfrm>
            <a:off x="457200" y="2468880"/>
            <a:ext cx="4101084" cy="384048"/>
          </a:xfrm>
          <a:prstGeom prst="roundRect">
            <a:avLst>
              <a:gd name="adj" fmla="val 14286"/>
            </a:avLst>
          </a:prstGeom>
          <a:solidFill>
            <a:srgbClr val="2B2440"/>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the 14 allergens · diets</a:t>
            </a:r>
            <a:endParaRPr lang="en-US" sz="1200" dirty="0"/>
          </a:p>
        </p:txBody>
      </p:sp>
      <p:sp>
        <p:nvSpPr>
          <p:cNvPr id="11" name="stamp_9"/>
          <p:cNvSpPr txBox="1"/>
          <p:nvPr/>
        </p:nvSpPr>
        <p:spPr>
          <a:xfrm>
            <a:off x="457200" y="2944368"/>
            <a:ext cx="3909060" cy="384048"/>
          </a:xfrm>
          <a:prstGeom prst="roundRect">
            <a:avLst>
              <a:gd name="adj" fmla="val 14286"/>
            </a:avLst>
          </a:prstGeom>
          <a:solidFill>
            <a:srgbClr val="2B2440"/>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GRAMMAR · Does it contain…? Is it…?</a:t>
            </a:r>
            <a:endParaRPr lang="en-US" sz="1200" dirty="0"/>
          </a:p>
        </p:txBody>
      </p:sp>
      <p:sp>
        <p:nvSpPr>
          <p:cNvPr id="12" name="stamp_10"/>
          <p:cNvSpPr txBox="1"/>
          <p:nvPr/>
        </p:nvSpPr>
        <p:spPr>
          <a:xfrm>
            <a:off x="457200" y="3419856"/>
            <a:ext cx="3044952" cy="384048"/>
          </a:xfrm>
          <a:prstGeom prst="roundRect">
            <a:avLst>
              <a:gd name="adj" fmla="val 14286"/>
            </a:avLst>
          </a:prstGeom>
          <a:solidFill>
            <a:srgbClr val="2B2440"/>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SPEAKING · chef and waiter</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peanut">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wheat">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C9B3F0"/>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vegan">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Does this contain nuts?</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Let me check with the chef.</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C9B3F0"/>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Lesson 7</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8" name="title_23"/>
          <p:cNvSpPr txBox="1"/>
          <p:nvPr/>
        </p:nvSpPr>
        <p:spPr>
          <a:xfrm rot="90000">
            <a:off x="320040" y="676656"/>
            <a:ext cx="449884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Quick! must or mustn't?</a:t>
            </a:r>
            <a:endParaRPr lang="en-US" sz="1500" dirty="0"/>
          </a:p>
        </p:txBody>
      </p:sp>
      <p:sp>
        <p:nvSpPr>
          <p:cNvPr id="9" name="tape_24"/>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10" name="tape_25"/>
          <p:cNvSpPr/>
          <p:nvPr/>
        </p:nvSpPr>
        <p:spPr>
          <a:xfrm rot="-720000">
            <a:off x="4251960" y="1069848"/>
            <a:ext cx="685800" cy="219456"/>
          </a:xfrm>
          <a:prstGeom prst="rect">
            <a:avLst/>
          </a:prstGeom>
          <a:solidFill>
            <a:srgbClr val="C9B3F0">
              <a:alpha val="80000"/>
            </a:srgbClr>
          </a:solidFill>
          <a:ln w="6350">
            <a:solidFill>
              <a:srgbClr val="C9B3F0"/>
            </a:solidFill>
            <a:prstDash val="solid"/>
          </a:ln>
        </p:spPr>
      </p:sp>
      <p:sp>
        <p:nvSpPr>
          <p:cNvPr id="11" name="post_2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7"/>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Say the rule – fast! Then give a reason.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Di' la regola – veloce! Poi un motivo.</a:t>
            </a:r>
            <a:endParaRPr lang="en-US" sz="1250" dirty="0"/>
          </a:p>
        </p:txBody>
      </p:sp>
      <p:sp>
        <p:nvSpPr>
          <p:cNvPr id="14" name="box_29"/>
          <p:cNvSpPr txBox="1"/>
          <p:nvPr/>
        </p:nvSpPr>
        <p:spPr>
          <a:xfrm>
            <a:off x="2788920" y="1371600"/>
            <a:ext cx="1772107"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  wear a ring at work</a:t>
            </a:r>
            <a:endParaRPr lang="en-US" sz="1350" dirty="0"/>
          </a:p>
        </p:txBody>
      </p:sp>
      <p:sp>
        <p:nvSpPr>
          <p:cNvPr id="15" name="R1_a0"/>
          <p:cNvSpPr txBox="1"/>
          <p:nvPr/>
        </p:nvSpPr>
        <p:spPr>
          <a:xfrm>
            <a:off x="4615891" y="1408176"/>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mustn't</a:t>
            </a:r>
            <a:endParaRPr lang="en-US" sz="1150" dirty="0"/>
          </a:p>
        </p:txBody>
      </p:sp>
      <p:sp>
        <p:nvSpPr>
          <p:cNvPr id="16" name="box_30"/>
          <p:cNvSpPr txBox="1"/>
          <p:nvPr/>
        </p:nvSpPr>
        <p:spPr>
          <a:xfrm>
            <a:off x="5870448" y="1371600"/>
            <a:ext cx="1772107"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2  wash your hands</a:t>
            </a:r>
            <a:endParaRPr lang="en-US" sz="1350" dirty="0"/>
          </a:p>
        </p:txBody>
      </p:sp>
      <p:sp>
        <p:nvSpPr>
          <p:cNvPr id="17" name="R1_a1"/>
          <p:cNvSpPr txBox="1"/>
          <p:nvPr/>
        </p:nvSpPr>
        <p:spPr>
          <a:xfrm>
            <a:off x="7697419" y="1408176"/>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must</a:t>
            </a:r>
            <a:endParaRPr lang="en-US" sz="1150" dirty="0"/>
          </a:p>
        </p:txBody>
      </p:sp>
      <p:sp>
        <p:nvSpPr>
          <p:cNvPr id="18" name="box_31"/>
          <p:cNvSpPr txBox="1"/>
          <p:nvPr/>
        </p:nvSpPr>
        <p:spPr>
          <a:xfrm>
            <a:off x="2788920" y="2368296"/>
            <a:ext cx="1772107"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3  keep raw meat next to salad</a:t>
            </a:r>
            <a:endParaRPr lang="en-US" sz="1350" dirty="0"/>
          </a:p>
        </p:txBody>
      </p:sp>
      <p:sp>
        <p:nvSpPr>
          <p:cNvPr id="19" name="R1_a2"/>
          <p:cNvSpPr txBox="1"/>
          <p:nvPr/>
        </p:nvSpPr>
        <p:spPr>
          <a:xfrm>
            <a:off x="4615891" y="2404872"/>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mustn't</a:t>
            </a:r>
            <a:endParaRPr lang="en-US" sz="1150" dirty="0"/>
          </a:p>
        </p:txBody>
      </p:sp>
      <p:sp>
        <p:nvSpPr>
          <p:cNvPr id="20" name="box_32"/>
          <p:cNvSpPr txBox="1"/>
          <p:nvPr/>
        </p:nvSpPr>
        <p:spPr>
          <a:xfrm>
            <a:off x="5870448" y="2368296"/>
            <a:ext cx="1772107"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4  clean as you go</a:t>
            </a:r>
            <a:endParaRPr lang="en-US" sz="1350" dirty="0"/>
          </a:p>
        </p:txBody>
      </p:sp>
      <p:sp>
        <p:nvSpPr>
          <p:cNvPr id="21" name="R1_a3"/>
          <p:cNvSpPr txBox="1"/>
          <p:nvPr/>
        </p:nvSpPr>
        <p:spPr>
          <a:xfrm>
            <a:off x="7697419" y="2404872"/>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must</a:t>
            </a:r>
            <a:endParaRPr lang="en-US" sz="1150" dirty="0"/>
          </a:p>
        </p:txBody>
      </p:sp>
      <p:sp>
        <p:nvSpPr>
          <p:cNvPr id="22" name="box_33"/>
          <p:cNvSpPr txBox="1"/>
          <p:nvPr/>
        </p:nvSpPr>
        <p:spPr>
          <a:xfrm>
            <a:off x="2788920" y="3364992"/>
            <a:ext cx="1772107"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5  use a dirty cloth</a:t>
            </a:r>
            <a:endParaRPr lang="en-US" sz="1350" dirty="0"/>
          </a:p>
        </p:txBody>
      </p:sp>
      <p:sp>
        <p:nvSpPr>
          <p:cNvPr id="23" name="R1_a4"/>
          <p:cNvSpPr txBox="1"/>
          <p:nvPr/>
        </p:nvSpPr>
        <p:spPr>
          <a:xfrm>
            <a:off x="4615891" y="3401568"/>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mustn't</a:t>
            </a:r>
            <a:endParaRPr lang="en-US" sz="1150" dirty="0"/>
          </a:p>
        </p:txBody>
      </p:sp>
      <p:sp>
        <p:nvSpPr>
          <p:cNvPr id="24" name="box_34"/>
          <p:cNvSpPr txBox="1"/>
          <p:nvPr/>
        </p:nvSpPr>
        <p:spPr>
          <a:xfrm>
            <a:off x="5870448" y="3364992"/>
            <a:ext cx="1772107"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6  keep the fridge at 5°C or below</a:t>
            </a:r>
            <a:endParaRPr lang="en-US" sz="1350" dirty="0"/>
          </a:p>
        </p:txBody>
      </p:sp>
      <p:sp>
        <p:nvSpPr>
          <p:cNvPr id="25" name="R1_a5"/>
          <p:cNvSpPr txBox="1"/>
          <p:nvPr/>
        </p:nvSpPr>
        <p:spPr>
          <a:xfrm>
            <a:off x="7697419" y="3401568"/>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must</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5"/>
          <p:cNvSpPr/>
          <p:nvPr/>
        </p:nvSpPr>
        <p:spPr>
          <a:xfrm>
            <a:off x="54864" y="54864"/>
            <a:ext cx="9034272" cy="5033772"/>
          </a:xfrm>
          <a:prstGeom prst="rect">
            <a:avLst/>
          </a:prstGeom>
          <a:ln w="114300">
            <a:solidFill>
              <a:srgbClr val="C9B3F0"/>
            </a:solidFill>
            <a:prstDash val="solid"/>
          </a:ln>
        </p:spPr>
      </p:sp>
      <p:pic>
        <p:nvPicPr>
          <p:cNvPr id="4" name="logo_3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The 14 allergens</a:t>
            </a:r>
            <a:endParaRPr lang="en-US" sz="900" dirty="0"/>
          </a:p>
        </p:txBody>
      </p:sp>
      <p:sp>
        <p:nvSpPr>
          <p:cNvPr id="6" name="timer_3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3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8" name="title_40"/>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14 allergens</a:t>
            </a:r>
            <a:endParaRPr lang="en-US" sz="1500" dirty="0"/>
          </a:p>
        </p:txBody>
      </p:sp>
      <p:sp>
        <p:nvSpPr>
          <p:cNvPr id="9" name="tape_41"/>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10" name="tape_42"/>
          <p:cNvSpPr/>
          <p:nvPr/>
        </p:nvSpPr>
        <p:spPr>
          <a:xfrm rot="-720000">
            <a:off x="3035808" y="1069848"/>
            <a:ext cx="685800" cy="219456"/>
          </a:xfrm>
          <a:prstGeom prst="rect">
            <a:avLst/>
          </a:prstGeom>
          <a:solidFill>
            <a:srgbClr val="C9B3F0">
              <a:alpha val="80000"/>
            </a:srgbClr>
          </a:solidFill>
          <a:ln w="6350">
            <a:solidFill>
              <a:srgbClr val="C9B3F0"/>
            </a:solidFill>
            <a:prstDash val="solid"/>
          </a:ln>
        </p:spPr>
      </p:sp>
      <p:sp>
        <p:nvSpPr>
          <p:cNvPr id="11" name="post_43"/>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44"/>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4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Which dishes on your menu contain them? Click for Italian.</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Quali piatti del tuo menù li contengono? Clicca per l'italiano.</a:t>
            </a:r>
            <a:endParaRPr lang="en-US" sz="1200" dirty="0"/>
          </a:p>
        </p:txBody>
      </p:sp>
      <p:sp>
        <p:nvSpPr>
          <p:cNvPr id="14" name="box_46"/>
          <p:cNvSpPr txBox="1"/>
          <p:nvPr/>
        </p:nvSpPr>
        <p:spPr>
          <a:xfrm>
            <a:off x="2788920" y="1371600"/>
            <a:ext cx="1624432"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  celery</a:t>
            </a:r>
            <a:endParaRPr lang="en-US" sz="1350" dirty="0"/>
          </a:p>
        </p:txBody>
      </p:sp>
      <p:sp>
        <p:nvSpPr>
          <p:cNvPr id="15" name="R1_a0"/>
          <p:cNvSpPr txBox="1"/>
          <p:nvPr/>
        </p:nvSpPr>
        <p:spPr>
          <a:xfrm>
            <a:off x="4468216" y="1408176"/>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sedano</a:t>
            </a:r>
            <a:endParaRPr lang="en-US" sz="1100" dirty="0"/>
          </a:p>
        </p:txBody>
      </p:sp>
      <p:sp>
        <p:nvSpPr>
          <p:cNvPr id="16" name="box_47"/>
          <p:cNvSpPr txBox="1"/>
          <p:nvPr/>
        </p:nvSpPr>
        <p:spPr>
          <a:xfrm>
            <a:off x="5870448" y="1371600"/>
            <a:ext cx="1624432"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cereals with gluten</a:t>
            </a:r>
            <a:endParaRPr lang="en-US" sz="1150" dirty="0"/>
          </a:p>
        </p:txBody>
      </p:sp>
      <p:sp>
        <p:nvSpPr>
          <p:cNvPr id="17" name="R1_a1"/>
          <p:cNvSpPr txBox="1"/>
          <p:nvPr/>
        </p:nvSpPr>
        <p:spPr>
          <a:xfrm>
            <a:off x="7549744" y="1408176"/>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cereali con glutine</a:t>
            </a:r>
            <a:endParaRPr lang="en-US" sz="1100" dirty="0"/>
          </a:p>
        </p:txBody>
      </p:sp>
      <p:sp>
        <p:nvSpPr>
          <p:cNvPr id="18" name="box_48"/>
          <p:cNvSpPr txBox="1"/>
          <p:nvPr/>
        </p:nvSpPr>
        <p:spPr>
          <a:xfrm>
            <a:off x="2788920" y="1860151"/>
            <a:ext cx="1624432" cy="36053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3  crustaceans (prawns, crab)</a:t>
            </a:r>
            <a:endParaRPr lang="en-US" sz="800" dirty="0"/>
          </a:p>
        </p:txBody>
      </p:sp>
      <p:sp>
        <p:nvSpPr>
          <p:cNvPr id="19" name="R1_a2"/>
          <p:cNvSpPr txBox="1"/>
          <p:nvPr/>
        </p:nvSpPr>
        <p:spPr>
          <a:xfrm>
            <a:off x="4468216" y="1896727"/>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crostacei</a:t>
            </a:r>
            <a:endParaRPr lang="en-US" sz="1100" dirty="0"/>
          </a:p>
        </p:txBody>
      </p:sp>
      <p:sp>
        <p:nvSpPr>
          <p:cNvPr id="20" name="box_49"/>
          <p:cNvSpPr txBox="1"/>
          <p:nvPr/>
        </p:nvSpPr>
        <p:spPr>
          <a:xfrm>
            <a:off x="5870448" y="1860151"/>
            <a:ext cx="1624432" cy="36053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4  eggs</a:t>
            </a:r>
            <a:endParaRPr lang="en-US" sz="1350" dirty="0"/>
          </a:p>
        </p:txBody>
      </p:sp>
      <p:sp>
        <p:nvSpPr>
          <p:cNvPr id="21" name="R1_a3"/>
          <p:cNvSpPr txBox="1"/>
          <p:nvPr/>
        </p:nvSpPr>
        <p:spPr>
          <a:xfrm>
            <a:off x="7549744" y="1896727"/>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uova</a:t>
            </a:r>
            <a:endParaRPr lang="en-US" sz="1100" dirty="0"/>
          </a:p>
        </p:txBody>
      </p:sp>
      <p:sp>
        <p:nvSpPr>
          <p:cNvPr id="22" name="box_50"/>
          <p:cNvSpPr txBox="1"/>
          <p:nvPr/>
        </p:nvSpPr>
        <p:spPr>
          <a:xfrm>
            <a:off x="2788920" y="2348702"/>
            <a:ext cx="1624432" cy="36053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5  fish</a:t>
            </a:r>
            <a:endParaRPr lang="en-US" sz="1350" dirty="0"/>
          </a:p>
        </p:txBody>
      </p:sp>
      <p:sp>
        <p:nvSpPr>
          <p:cNvPr id="23" name="R1_a4"/>
          <p:cNvSpPr txBox="1"/>
          <p:nvPr/>
        </p:nvSpPr>
        <p:spPr>
          <a:xfrm>
            <a:off x="4468216" y="2385278"/>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pesce</a:t>
            </a:r>
            <a:endParaRPr lang="en-US" sz="1100" dirty="0"/>
          </a:p>
        </p:txBody>
      </p:sp>
      <p:sp>
        <p:nvSpPr>
          <p:cNvPr id="24" name="box_51"/>
          <p:cNvSpPr txBox="1"/>
          <p:nvPr/>
        </p:nvSpPr>
        <p:spPr>
          <a:xfrm>
            <a:off x="5870448" y="2348702"/>
            <a:ext cx="1624432" cy="36053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6  lupin</a:t>
            </a:r>
            <a:endParaRPr lang="en-US" sz="1350" dirty="0"/>
          </a:p>
        </p:txBody>
      </p:sp>
      <p:sp>
        <p:nvSpPr>
          <p:cNvPr id="25" name="R1_a5"/>
          <p:cNvSpPr txBox="1"/>
          <p:nvPr/>
        </p:nvSpPr>
        <p:spPr>
          <a:xfrm>
            <a:off x="7549744" y="2385278"/>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lupini</a:t>
            </a:r>
            <a:endParaRPr lang="en-US" sz="1100" dirty="0"/>
          </a:p>
        </p:txBody>
      </p:sp>
      <p:sp>
        <p:nvSpPr>
          <p:cNvPr id="26" name="box_52"/>
          <p:cNvSpPr txBox="1"/>
          <p:nvPr/>
        </p:nvSpPr>
        <p:spPr>
          <a:xfrm>
            <a:off x="2788920" y="2837253"/>
            <a:ext cx="1624432"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7  milk</a:t>
            </a:r>
            <a:endParaRPr lang="en-US" sz="1350" dirty="0"/>
          </a:p>
        </p:txBody>
      </p:sp>
      <p:sp>
        <p:nvSpPr>
          <p:cNvPr id="27" name="R1_a6"/>
          <p:cNvSpPr txBox="1"/>
          <p:nvPr/>
        </p:nvSpPr>
        <p:spPr>
          <a:xfrm>
            <a:off x="4468216" y="2873829"/>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latte</a:t>
            </a:r>
            <a:endParaRPr lang="en-US" sz="1100" dirty="0"/>
          </a:p>
        </p:txBody>
      </p:sp>
      <p:sp>
        <p:nvSpPr>
          <p:cNvPr id="28" name="box_53"/>
          <p:cNvSpPr txBox="1"/>
          <p:nvPr/>
        </p:nvSpPr>
        <p:spPr>
          <a:xfrm>
            <a:off x="5870448" y="2837253"/>
            <a:ext cx="1624432"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8  molluscs (mussels, squid)</a:t>
            </a:r>
            <a:endParaRPr lang="en-US" sz="850" dirty="0"/>
          </a:p>
        </p:txBody>
      </p:sp>
      <p:sp>
        <p:nvSpPr>
          <p:cNvPr id="29" name="R1_a7"/>
          <p:cNvSpPr txBox="1"/>
          <p:nvPr/>
        </p:nvSpPr>
        <p:spPr>
          <a:xfrm>
            <a:off x="7549744" y="2873829"/>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molluschi</a:t>
            </a:r>
            <a:endParaRPr lang="en-US" sz="1100" dirty="0"/>
          </a:p>
        </p:txBody>
      </p:sp>
      <p:sp>
        <p:nvSpPr>
          <p:cNvPr id="30" name="box_54"/>
          <p:cNvSpPr txBox="1"/>
          <p:nvPr/>
        </p:nvSpPr>
        <p:spPr>
          <a:xfrm>
            <a:off x="2788920" y="3325803"/>
            <a:ext cx="1624432" cy="36053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9  mustard</a:t>
            </a:r>
            <a:endParaRPr lang="en-US" sz="1350" dirty="0"/>
          </a:p>
        </p:txBody>
      </p:sp>
      <p:sp>
        <p:nvSpPr>
          <p:cNvPr id="31" name="R1_a8"/>
          <p:cNvSpPr txBox="1"/>
          <p:nvPr/>
        </p:nvSpPr>
        <p:spPr>
          <a:xfrm>
            <a:off x="4468216" y="3362379"/>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senape</a:t>
            </a:r>
            <a:endParaRPr lang="en-US" sz="1100" dirty="0"/>
          </a:p>
        </p:txBody>
      </p:sp>
      <p:sp>
        <p:nvSpPr>
          <p:cNvPr id="32" name="box_55"/>
          <p:cNvSpPr txBox="1"/>
          <p:nvPr/>
        </p:nvSpPr>
        <p:spPr>
          <a:xfrm>
            <a:off x="5870448" y="3325803"/>
            <a:ext cx="1624432" cy="36053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10  tree nuts</a:t>
            </a:r>
            <a:endParaRPr lang="en-US" sz="1350" dirty="0"/>
          </a:p>
        </p:txBody>
      </p:sp>
      <p:sp>
        <p:nvSpPr>
          <p:cNvPr id="33" name="R1_a9"/>
          <p:cNvSpPr txBox="1"/>
          <p:nvPr/>
        </p:nvSpPr>
        <p:spPr>
          <a:xfrm>
            <a:off x="7549744" y="3362379"/>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frutta a guscio</a:t>
            </a:r>
            <a:endParaRPr lang="en-US" sz="1100" dirty="0"/>
          </a:p>
        </p:txBody>
      </p:sp>
      <p:sp>
        <p:nvSpPr>
          <p:cNvPr id="34" name="box_56"/>
          <p:cNvSpPr txBox="1"/>
          <p:nvPr/>
        </p:nvSpPr>
        <p:spPr>
          <a:xfrm>
            <a:off x="2788920" y="3814354"/>
            <a:ext cx="1624432" cy="36053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11  peanuts</a:t>
            </a:r>
            <a:endParaRPr lang="en-US" sz="1350" dirty="0"/>
          </a:p>
        </p:txBody>
      </p:sp>
      <p:sp>
        <p:nvSpPr>
          <p:cNvPr id="35" name="R1_a10"/>
          <p:cNvSpPr txBox="1"/>
          <p:nvPr/>
        </p:nvSpPr>
        <p:spPr>
          <a:xfrm>
            <a:off x="4468216" y="3850930"/>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arachidi</a:t>
            </a:r>
            <a:endParaRPr lang="en-US" sz="1100" dirty="0"/>
          </a:p>
        </p:txBody>
      </p:sp>
      <p:sp>
        <p:nvSpPr>
          <p:cNvPr id="36" name="box_57"/>
          <p:cNvSpPr txBox="1"/>
          <p:nvPr/>
        </p:nvSpPr>
        <p:spPr>
          <a:xfrm>
            <a:off x="5870448" y="3814354"/>
            <a:ext cx="1624432" cy="36053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12  sesame</a:t>
            </a:r>
            <a:endParaRPr lang="en-US" sz="1350" dirty="0"/>
          </a:p>
        </p:txBody>
      </p:sp>
      <p:sp>
        <p:nvSpPr>
          <p:cNvPr id="37" name="R1_a11"/>
          <p:cNvSpPr txBox="1"/>
          <p:nvPr/>
        </p:nvSpPr>
        <p:spPr>
          <a:xfrm>
            <a:off x="7549744" y="3850930"/>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sesamo</a:t>
            </a:r>
            <a:endParaRPr lang="en-US" sz="1100" dirty="0"/>
          </a:p>
        </p:txBody>
      </p:sp>
      <p:sp>
        <p:nvSpPr>
          <p:cNvPr id="38" name="box_58"/>
          <p:cNvSpPr txBox="1"/>
          <p:nvPr/>
        </p:nvSpPr>
        <p:spPr>
          <a:xfrm>
            <a:off x="2788920" y="4302905"/>
            <a:ext cx="1624432"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13  soya</a:t>
            </a:r>
            <a:endParaRPr lang="en-US" sz="1350" dirty="0"/>
          </a:p>
        </p:txBody>
      </p:sp>
      <p:sp>
        <p:nvSpPr>
          <p:cNvPr id="39" name="R1_a12"/>
          <p:cNvSpPr txBox="1"/>
          <p:nvPr/>
        </p:nvSpPr>
        <p:spPr>
          <a:xfrm>
            <a:off x="4468216" y="4339481"/>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soia</a:t>
            </a:r>
            <a:endParaRPr lang="en-US" sz="1100" dirty="0"/>
          </a:p>
        </p:txBody>
      </p:sp>
      <p:sp>
        <p:nvSpPr>
          <p:cNvPr id="40" name="box_59"/>
          <p:cNvSpPr txBox="1"/>
          <p:nvPr/>
        </p:nvSpPr>
        <p:spPr>
          <a:xfrm>
            <a:off x="5870448" y="4302905"/>
            <a:ext cx="1624432"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14  sulphites</a:t>
            </a:r>
            <a:endParaRPr lang="en-US" sz="1350" dirty="0"/>
          </a:p>
        </p:txBody>
      </p:sp>
      <p:sp>
        <p:nvSpPr>
          <p:cNvPr id="41" name="R1_a13"/>
          <p:cNvSpPr txBox="1"/>
          <p:nvPr/>
        </p:nvSpPr>
        <p:spPr>
          <a:xfrm>
            <a:off x="7549744" y="4339481"/>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800" dirty="0">
                <a:solidFill>
                  <a:srgbClr val="111111"/>
                </a:solidFill>
                <a:latin typeface="Calibri" pitchFamily="34" charset="0"/>
                <a:ea typeface="Calibri" pitchFamily="34" charset="-122"/>
                <a:cs typeface="Calibri" pitchFamily="34" charset="-120"/>
              </a:rPr>
              <a:t>solfiti / anidride solforosa</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400"/>
                                        <p:tgtEl>
                                          <p:spTgt spid="31"/>
                                        </p:tgtEl>
                                      </p:cBhvr>
                                    </p:animEffect>
                                  </p:childTnLst>
                                </p:cTn>
                              </p:par>
                              <p:par>
                                <p:cTn id="32" presetID="10" presetClass="entr" presetSubtype="0" fill="hold"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400"/>
                                        <p:tgtEl>
                                          <p:spTgt spid="33"/>
                                        </p:tgtEl>
                                      </p:cBhvr>
                                    </p:animEffect>
                                  </p:childTnLst>
                                </p:cTn>
                              </p:par>
                              <p:par>
                                <p:cTn id="35" presetID="10"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par>
                                <p:cTn id="38" presetID="10" presetClass="entr" presetSubtype="0" fill="hold"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400"/>
                                        <p:tgtEl>
                                          <p:spTgt spid="37"/>
                                        </p:tgtEl>
                                      </p:cBhvr>
                                    </p:animEffect>
                                  </p:childTnLst>
                                </p:cTn>
                              </p:par>
                              <p:par>
                                <p:cTn id="41" presetID="10" presetClass="entr" presetSubtype="0" fill="hold"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400"/>
                                        <p:tgtEl>
                                          <p:spTgt spid="39"/>
                                        </p:tgtEl>
                                      </p:cBhvr>
                                    </p:animEffect>
                                  </p:childTnLst>
                                </p:cTn>
                              </p:par>
                              <p:par>
                                <p:cTn id="44" presetID="10" presetClass="entr" presetSubtype="0" fill="hold"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60"/>
          <p:cNvSpPr/>
          <p:nvPr/>
        </p:nvSpPr>
        <p:spPr>
          <a:xfrm>
            <a:off x="54864" y="54864"/>
            <a:ext cx="9034272" cy="5033772"/>
          </a:xfrm>
          <a:prstGeom prst="rect">
            <a:avLst/>
          </a:prstGeom>
          <a:ln w="114300">
            <a:solidFill>
              <a:srgbClr val="C9B3F0"/>
            </a:solidFill>
            <a:prstDash val="solid"/>
          </a:ln>
        </p:spPr>
      </p:sp>
      <p:pic>
        <p:nvPicPr>
          <p:cNvPr id="4" name="logo_6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6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Special diets</a:t>
            </a:r>
            <a:endParaRPr lang="en-US" sz="900" dirty="0"/>
          </a:p>
        </p:txBody>
      </p:sp>
      <p:sp>
        <p:nvSpPr>
          <p:cNvPr id="6" name="timer_6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6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8" name="title_65"/>
          <p:cNvSpPr txBox="1"/>
          <p:nvPr/>
        </p:nvSpPr>
        <p:spPr>
          <a:xfrm rot="90000">
            <a:off x="320040" y="676656"/>
            <a:ext cx="276148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Special diets</a:t>
            </a:r>
            <a:endParaRPr lang="en-US" sz="1500" dirty="0"/>
          </a:p>
        </p:txBody>
      </p:sp>
      <p:sp>
        <p:nvSpPr>
          <p:cNvPr id="9" name="tape_66"/>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10" name="tape_67"/>
          <p:cNvSpPr/>
          <p:nvPr/>
        </p:nvSpPr>
        <p:spPr>
          <a:xfrm rot="-720000">
            <a:off x="2514600" y="1069848"/>
            <a:ext cx="685800" cy="219456"/>
          </a:xfrm>
          <a:prstGeom prst="rect">
            <a:avLst/>
          </a:prstGeom>
          <a:solidFill>
            <a:srgbClr val="C9B3F0">
              <a:alpha val="80000"/>
            </a:srgbClr>
          </a:solidFill>
          <a:ln w="6350">
            <a:solidFill>
              <a:srgbClr val="C9B3F0"/>
            </a:solidFill>
            <a:prstDash val="solid"/>
          </a:ln>
        </p:spPr>
      </p:sp>
      <p:sp>
        <p:nvSpPr>
          <p:cNvPr id="11" name="post_68"/>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69"/>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7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Match the diet to the description.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Abbina la dieta alla descrizione.</a:t>
            </a:r>
            <a:endParaRPr lang="en-US" sz="1250" dirty="0"/>
          </a:p>
        </p:txBody>
      </p:sp>
      <p:sp>
        <p:nvSpPr>
          <p:cNvPr id="14" name="box_71"/>
          <p:cNvSpPr txBox="1"/>
          <p:nvPr/>
        </p:nvSpPr>
        <p:spPr>
          <a:xfrm>
            <a:off x="2788920" y="1371600"/>
            <a:ext cx="2534717" cy="45720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vegetarian</a:t>
            </a:r>
            <a:endParaRPr lang="en-US" sz="1250" dirty="0"/>
          </a:p>
        </p:txBody>
      </p:sp>
      <p:sp>
        <p:nvSpPr>
          <p:cNvPr id="15" name="R1_m0"/>
          <p:cNvSpPr txBox="1"/>
          <p:nvPr/>
        </p:nvSpPr>
        <p:spPr>
          <a:xfrm>
            <a:off x="5396789" y="1389888"/>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no meat or fish</a:t>
            </a:r>
            <a:endParaRPr lang="en-US" sz="1150" dirty="0"/>
          </a:p>
        </p:txBody>
      </p:sp>
      <p:sp>
        <p:nvSpPr>
          <p:cNvPr id="16" name="box_72"/>
          <p:cNvSpPr txBox="1"/>
          <p:nvPr/>
        </p:nvSpPr>
        <p:spPr>
          <a:xfrm>
            <a:off x="2788920" y="1901952"/>
            <a:ext cx="2534717" cy="45720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vegan</a:t>
            </a:r>
            <a:endParaRPr lang="en-US" sz="1250" dirty="0"/>
          </a:p>
        </p:txBody>
      </p:sp>
      <p:sp>
        <p:nvSpPr>
          <p:cNvPr id="17" name="R1_m1"/>
          <p:cNvSpPr txBox="1"/>
          <p:nvPr/>
        </p:nvSpPr>
        <p:spPr>
          <a:xfrm>
            <a:off x="5396789" y="1920240"/>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no animal products at all</a:t>
            </a:r>
            <a:endParaRPr lang="en-US" sz="1150" dirty="0"/>
          </a:p>
        </p:txBody>
      </p:sp>
      <p:sp>
        <p:nvSpPr>
          <p:cNvPr id="18" name="box_73"/>
          <p:cNvSpPr txBox="1"/>
          <p:nvPr/>
        </p:nvSpPr>
        <p:spPr>
          <a:xfrm>
            <a:off x="2788920" y="2432304"/>
            <a:ext cx="2534717" cy="45720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gluten-free</a:t>
            </a:r>
            <a:endParaRPr lang="en-US" sz="1250" dirty="0"/>
          </a:p>
        </p:txBody>
      </p:sp>
      <p:sp>
        <p:nvSpPr>
          <p:cNvPr id="19" name="R1_m2"/>
          <p:cNvSpPr txBox="1"/>
          <p:nvPr/>
        </p:nvSpPr>
        <p:spPr>
          <a:xfrm>
            <a:off x="5396789" y="2450592"/>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no wheat, barley or rye</a:t>
            </a:r>
            <a:endParaRPr lang="en-US" sz="1150" dirty="0"/>
          </a:p>
        </p:txBody>
      </p:sp>
      <p:sp>
        <p:nvSpPr>
          <p:cNvPr id="20" name="box_74"/>
          <p:cNvSpPr txBox="1"/>
          <p:nvPr/>
        </p:nvSpPr>
        <p:spPr>
          <a:xfrm>
            <a:off x="2788920" y="2962656"/>
            <a:ext cx="2534717" cy="45720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dairy-free</a:t>
            </a:r>
            <a:endParaRPr lang="en-US" sz="1250" dirty="0"/>
          </a:p>
        </p:txBody>
      </p:sp>
      <p:sp>
        <p:nvSpPr>
          <p:cNvPr id="21" name="R1_m3"/>
          <p:cNvSpPr txBox="1"/>
          <p:nvPr/>
        </p:nvSpPr>
        <p:spPr>
          <a:xfrm>
            <a:off x="5396789" y="2980944"/>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no milk, cheese or butter</a:t>
            </a:r>
            <a:endParaRPr lang="en-US" sz="1150" dirty="0"/>
          </a:p>
        </p:txBody>
      </p:sp>
      <p:sp>
        <p:nvSpPr>
          <p:cNvPr id="22" name="box_75"/>
          <p:cNvSpPr txBox="1"/>
          <p:nvPr/>
        </p:nvSpPr>
        <p:spPr>
          <a:xfrm>
            <a:off x="2788920" y="3493008"/>
            <a:ext cx="2534717" cy="45720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halal</a:t>
            </a:r>
            <a:endParaRPr lang="en-US" sz="1250" dirty="0"/>
          </a:p>
        </p:txBody>
      </p:sp>
      <p:sp>
        <p:nvSpPr>
          <p:cNvPr id="23" name="R1_m4"/>
          <p:cNvSpPr txBox="1"/>
          <p:nvPr/>
        </p:nvSpPr>
        <p:spPr>
          <a:xfrm>
            <a:off x="5396789" y="3511296"/>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meat prepared according to Islamic law</a:t>
            </a:r>
            <a:endParaRPr lang="en-US" sz="1150" dirty="0"/>
          </a:p>
        </p:txBody>
      </p:sp>
      <p:sp>
        <p:nvSpPr>
          <p:cNvPr id="24" name="box_76"/>
          <p:cNvSpPr txBox="1"/>
          <p:nvPr/>
        </p:nvSpPr>
        <p:spPr>
          <a:xfrm>
            <a:off x="2788920" y="4023360"/>
            <a:ext cx="2534717" cy="45720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nut allergy</a:t>
            </a:r>
            <a:endParaRPr lang="en-US" sz="1250" dirty="0"/>
          </a:p>
        </p:txBody>
      </p:sp>
      <p:sp>
        <p:nvSpPr>
          <p:cNvPr id="25" name="R1_m5"/>
          <p:cNvSpPr txBox="1"/>
          <p:nvPr/>
        </p:nvSpPr>
        <p:spPr>
          <a:xfrm>
            <a:off x="5396789" y="4041648"/>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no nuts – it can be very dangerous!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7"/>
          <p:cNvSpPr/>
          <p:nvPr/>
        </p:nvSpPr>
        <p:spPr>
          <a:xfrm>
            <a:off x="54864" y="54864"/>
            <a:ext cx="9034272" cy="5033772"/>
          </a:xfrm>
          <a:prstGeom prst="rect">
            <a:avLst/>
          </a:prstGeom>
          <a:ln w="114300">
            <a:solidFill>
              <a:srgbClr val="C9B3F0"/>
            </a:solidFill>
            <a:prstDash val="solid"/>
          </a:ln>
        </p:spPr>
      </p:sp>
      <p:pic>
        <p:nvPicPr>
          <p:cNvPr id="4" name="logo_7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7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Asking about ingredients</a:t>
            </a:r>
            <a:endParaRPr lang="en-US" sz="900" dirty="0"/>
          </a:p>
        </p:txBody>
      </p:sp>
      <p:sp>
        <p:nvSpPr>
          <p:cNvPr id="6" name="timer_8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8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8" name="title_82"/>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Does it contain nuts?</a:t>
            </a:r>
            <a:endParaRPr lang="en-US" sz="1500" dirty="0"/>
          </a:p>
        </p:txBody>
      </p:sp>
      <p:sp>
        <p:nvSpPr>
          <p:cNvPr id="9" name="tape_83"/>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10" name="tape_84"/>
          <p:cNvSpPr/>
          <p:nvPr/>
        </p:nvSpPr>
        <p:spPr>
          <a:xfrm rot="-720000">
            <a:off x="3904488" y="1069848"/>
            <a:ext cx="685800" cy="219456"/>
          </a:xfrm>
          <a:prstGeom prst="rect">
            <a:avLst/>
          </a:prstGeom>
          <a:solidFill>
            <a:srgbClr val="C9B3F0">
              <a:alpha val="80000"/>
            </a:srgbClr>
          </a:solidFill>
          <a:ln w="6350">
            <a:solidFill>
              <a:srgbClr val="C9B3F0"/>
            </a:solidFill>
            <a:prstDash val="solid"/>
          </a:ln>
        </p:spPr>
      </p:sp>
      <p:sp>
        <p:nvSpPr>
          <p:cNvPr id="11" name="rh_85"/>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Questions</a:t>
            </a:r>
            <a:endParaRPr lang="en-US" sz="1300" dirty="0"/>
          </a:p>
        </p:txBody>
      </p:sp>
      <p:sp>
        <p:nvSpPr>
          <p:cNvPr id="12" name="rb_86"/>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Does it contain nuts?</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Is there any milk in it?</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Is it gluten-free?</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What's in the sauce?</a:t>
            </a:r>
            <a:endParaRPr lang="en-US" sz="1350" dirty="0"/>
          </a:p>
        </p:txBody>
      </p:sp>
      <p:sp>
        <p:nvSpPr>
          <p:cNvPr id="13" name="rh_87"/>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Answers</a:t>
            </a:r>
            <a:endParaRPr lang="en-US" sz="1300" dirty="0"/>
          </a:p>
        </p:txBody>
      </p:sp>
      <p:sp>
        <p:nvSpPr>
          <p:cNvPr id="14" name="rb_88"/>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Yes, it does. / No, it doesn't.</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Yes, there is. / No, there isn't.</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It contains eggs and milk.</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I'll check with the chef.</a:t>
            </a:r>
            <a:endParaRPr lang="en-US" sz="1350" dirty="0"/>
          </a:p>
        </p:txBody>
      </p:sp>
      <p:sp>
        <p:nvSpPr>
          <p:cNvPr id="15" name="rh_89"/>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Safety</a:t>
            </a:r>
            <a:endParaRPr lang="en-US" sz="1300" dirty="0"/>
          </a:p>
        </p:txBody>
      </p:sp>
      <p:sp>
        <p:nvSpPr>
          <p:cNvPr id="16" name="rb_90"/>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Can you make it without…?</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Use a clean board and clean utensils.</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Never guess! Always check.</a:t>
            </a:r>
            <a:endParaRPr lang="en-US" sz="1350" dirty="0"/>
          </a:p>
        </p:txBody>
      </p:sp>
      <p:sp>
        <p:nvSpPr>
          <p:cNvPr id="17" name="watch_91"/>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Watch out!  </a:t>
            </a:r>
            <a:pPr indent="0" marL="0">
              <a:buNone/>
            </a:pPr>
            <a:r>
              <a:rPr lang="en-US" sz="1250" dirty="0">
                <a:solidFill>
                  <a:srgbClr val="111111"/>
                </a:solidFill>
                <a:latin typeface="Calibri" pitchFamily="34" charset="0"/>
                <a:ea typeface="Calibri" pitchFamily="34" charset="-122"/>
                <a:cs typeface="Calibri" pitchFamily="34" charset="-120"/>
              </a:rPr>
              <a:t>✗ Contains it nuts? → ✓ Does it contain nuts?     ✗ It contain → ✓ It contains</a:t>
            </a:r>
            <a:endParaRPr lang="en-US" sz="1250" dirty="0"/>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92"/>
          <p:cNvSpPr/>
          <p:nvPr/>
        </p:nvSpPr>
        <p:spPr>
          <a:xfrm>
            <a:off x="54864" y="54864"/>
            <a:ext cx="9034272" cy="5033772"/>
          </a:xfrm>
          <a:prstGeom prst="rect">
            <a:avLst/>
          </a:prstGeom>
          <a:ln w="114300">
            <a:solidFill>
              <a:srgbClr val="C9B3F0"/>
            </a:solidFill>
            <a:prstDash val="solid"/>
          </a:ln>
        </p:spPr>
      </p:sp>
      <p:pic>
        <p:nvPicPr>
          <p:cNvPr id="4" name="logo_9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Practice</a:t>
            </a:r>
            <a:endParaRPr lang="en-US" sz="900" dirty="0"/>
          </a:p>
        </p:txBody>
      </p:sp>
      <p:sp>
        <p:nvSpPr>
          <p:cNvPr id="6" name="timer_9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9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8" name="title_97"/>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Does it… ? Is there…?</a:t>
            </a:r>
            <a:endParaRPr lang="en-US" sz="1500" dirty="0"/>
          </a:p>
        </p:txBody>
      </p:sp>
      <p:sp>
        <p:nvSpPr>
          <p:cNvPr id="9" name="tape_98"/>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10" name="tape_99"/>
          <p:cNvSpPr/>
          <p:nvPr/>
        </p:nvSpPr>
        <p:spPr>
          <a:xfrm rot="-720000">
            <a:off x="3904488" y="1069848"/>
            <a:ext cx="685800" cy="219456"/>
          </a:xfrm>
          <a:prstGeom prst="rect">
            <a:avLst/>
          </a:prstGeom>
          <a:solidFill>
            <a:srgbClr val="C9B3F0">
              <a:alpha val="80000"/>
            </a:srgbClr>
          </a:solidFill>
          <a:ln w="6350">
            <a:solidFill>
              <a:srgbClr val="C9B3F0"/>
            </a:solidFill>
            <a:prstDash val="solid"/>
          </a:ln>
        </p:spPr>
      </p:sp>
      <p:sp>
        <p:nvSpPr>
          <p:cNvPr id="11" name="post_100"/>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01"/>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3" name="signB_10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Complete the questions and answers.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Completa domande e risposte.</a:t>
            </a:r>
            <a:endParaRPr lang="en-US" sz="1250" dirty="0"/>
          </a:p>
        </p:txBody>
      </p:sp>
      <p:sp>
        <p:nvSpPr>
          <p:cNvPr id="14" name="box_103"/>
          <p:cNvSpPr txBox="1"/>
          <p:nvPr/>
        </p:nvSpPr>
        <p:spPr>
          <a:xfrm>
            <a:off x="2788920" y="1371600"/>
            <a:ext cx="2008388"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  ___ the soup contain celery?</a:t>
            </a:r>
            <a:endParaRPr lang="en-US" sz="1350" dirty="0"/>
          </a:p>
        </p:txBody>
      </p:sp>
      <p:sp>
        <p:nvSpPr>
          <p:cNvPr id="15" name="R1_a0"/>
          <p:cNvSpPr txBox="1"/>
          <p:nvPr/>
        </p:nvSpPr>
        <p:spPr>
          <a:xfrm>
            <a:off x="4852172" y="1408176"/>
            <a:ext cx="89026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Does</a:t>
            </a:r>
            <a:endParaRPr lang="en-US" sz="1200" dirty="0"/>
          </a:p>
        </p:txBody>
      </p:sp>
      <p:sp>
        <p:nvSpPr>
          <p:cNvPr id="16" name="box_104"/>
          <p:cNvSpPr txBox="1"/>
          <p:nvPr/>
        </p:nvSpPr>
        <p:spPr>
          <a:xfrm>
            <a:off x="5870448" y="1371600"/>
            <a:ext cx="2008388"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2  ___ there any nuts in the cake?</a:t>
            </a:r>
            <a:endParaRPr lang="en-US" sz="1350" dirty="0"/>
          </a:p>
        </p:txBody>
      </p:sp>
      <p:sp>
        <p:nvSpPr>
          <p:cNvPr id="17" name="R1_a1"/>
          <p:cNvSpPr txBox="1"/>
          <p:nvPr/>
        </p:nvSpPr>
        <p:spPr>
          <a:xfrm>
            <a:off x="7933700" y="1408176"/>
            <a:ext cx="89026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Is</a:t>
            </a:r>
            <a:endParaRPr lang="en-US" sz="1200" dirty="0"/>
          </a:p>
        </p:txBody>
      </p:sp>
      <p:sp>
        <p:nvSpPr>
          <p:cNvPr id="18" name="box_105"/>
          <p:cNvSpPr txBox="1"/>
          <p:nvPr/>
        </p:nvSpPr>
        <p:spPr>
          <a:xfrm>
            <a:off x="2788920" y="2368296"/>
            <a:ext cx="2008388"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3  It ___ (contain) milk and eggs.</a:t>
            </a:r>
            <a:endParaRPr lang="en-US" sz="1350" dirty="0"/>
          </a:p>
        </p:txBody>
      </p:sp>
      <p:sp>
        <p:nvSpPr>
          <p:cNvPr id="19" name="R1_a2"/>
          <p:cNvSpPr txBox="1"/>
          <p:nvPr/>
        </p:nvSpPr>
        <p:spPr>
          <a:xfrm>
            <a:off x="4852172" y="2404872"/>
            <a:ext cx="89026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contains</a:t>
            </a:r>
            <a:endParaRPr lang="en-US" sz="1200" dirty="0"/>
          </a:p>
        </p:txBody>
      </p:sp>
      <p:sp>
        <p:nvSpPr>
          <p:cNvPr id="20" name="box_106"/>
          <p:cNvSpPr txBox="1"/>
          <p:nvPr/>
        </p:nvSpPr>
        <p:spPr>
          <a:xfrm>
            <a:off x="5870448" y="2368296"/>
            <a:ext cx="2008388"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4  Is it gluten-free? – No, it ___.</a:t>
            </a:r>
            <a:endParaRPr lang="en-US" sz="1350" dirty="0"/>
          </a:p>
        </p:txBody>
      </p:sp>
      <p:sp>
        <p:nvSpPr>
          <p:cNvPr id="21" name="R1_a3"/>
          <p:cNvSpPr txBox="1"/>
          <p:nvPr/>
        </p:nvSpPr>
        <p:spPr>
          <a:xfrm>
            <a:off x="7933700" y="2404872"/>
            <a:ext cx="89026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isn't</a:t>
            </a:r>
            <a:endParaRPr lang="en-US" sz="1200" dirty="0"/>
          </a:p>
        </p:txBody>
      </p:sp>
      <p:sp>
        <p:nvSpPr>
          <p:cNvPr id="22" name="box_107"/>
          <p:cNvSpPr txBox="1"/>
          <p:nvPr/>
        </p:nvSpPr>
        <p:spPr>
          <a:xfrm>
            <a:off x="2788920" y="3364992"/>
            <a:ext cx="2008388"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5  Does it contain fish? – Yes, it ___.</a:t>
            </a:r>
            <a:endParaRPr lang="en-US" sz="1350" dirty="0"/>
          </a:p>
        </p:txBody>
      </p:sp>
      <p:sp>
        <p:nvSpPr>
          <p:cNvPr id="23" name="R1_a4"/>
          <p:cNvSpPr txBox="1"/>
          <p:nvPr/>
        </p:nvSpPr>
        <p:spPr>
          <a:xfrm>
            <a:off x="4852172" y="3401568"/>
            <a:ext cx="89026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does</a:t>
            </a:r>
            <a:endParaRPr lang="en-US" sz="1200" dirty="0"/>
          </a:p>
        </p:txBody>
      </p:sp>
      <p:sp>
        <p:nvSpPr>
          <p:cNvPr id="24" name="box_108"/>
          <p:cNvSpPr txBox="1"/>
          <p:nvPr/>
        </p:nvSpPr>
        <p:spPr>
          <a:xfrm>
            <a:off x="5870448" y="3364992"/>
            <a:ext cx="2008388"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6  Can you make it ___ cheese?</a:t>
            </a:r>
            <a:endParaRPr lang="en-US" sz="1350" dirty="0"/>
          </a:p>
        </p:txBody>
      </p:sp>
      <p:sp>
        <p:nvSpPr>
          <p:cNvPr id="25" name="R1_a5"/>
          <p:cNvSpPr txBox="1"/>
          <p:nvPr/>
        </p:nvSpPr>
        <p:spPr>
          <a:xfrm>
            <a:off x="7933700" y="3401568"/>
            <a:ext cx="89026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without</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09"/>
          <p:cNvSpPr/>
          <p:nvPr/>
        </p:nvSpPr>
        <p:spPr>
          <a:xfrm>
            <a:off x="54864" y="54864"/>
            <a:ext cx="9034272" cy="5033772"/>
          </a:xfrm>
          <a:prstGeom prst="rect">
            <a:avLst/>
          </a:prstGeom>
          <a:ln w="114300">
            <a:solidFill>
              <a:srgbClr val="C9B3F0"/>
            </a:solidFill>
            <a:prstDash val="solid"/>
          </a:ln>
        </p:spPr>
      </p:sp>
      <p:pic>
        <p:nvPicPr>
          <p:cNvPr id="4" name="logo_11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1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A customer email</a:t>
            </a:r>
            <a:endParaRPr lang="en-US" sz="900" dirty="0"/>
          </a:p>
        </p:txBody>
      </p:sp>
      <p:sp>
        <p:nvSpPr>
          <p:cNvPr id="6" name="timer_11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1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8" name="title_114"/>
          <p:cNvSpPr txBox="1"/>
          <p:nvPr/>
        </p:nvSpPr>
        <p:spPr>
          <a:xfrm rot="90000">
            <a:off x="320040" y="676656"/>
            <a:ext cx="536752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 booking with special needs</a:t>
            </a:r>
            <a:endParaRPr lang="en-US" sz="1500" dirty="0"/>
          </a:p>
        </p:txBody>
      </p:sp>
      <p:sp>
        <p:nvSpPr>
          <p:cNvPr id="9" name="tape_115"/>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10" name="tape_116"/>
          <p:cNvSpPr/>
          <p:nvPr/>
        </p:nvSpPr>
        <p:spPr>
          <a:xfrm rot="-720000">
            <a:off x="5120640" y="1069848"/>
            <a:ext cx="685800" cy="219456"/>
          </a:xfrm>
          <a:prstGeom prst="rect">
            <a:avLst/>
          </a:prstGeom>
          <a:solidFill>
            <a:srgbClr val="C9B3F0">
              <a:alpha val="80000"/>
            </a:srgbClr>
          </a:solidFill>
          <a:ln w="6350">
            <a:solidFill>
              <a:srgbClr val="C9B3F0"/>
            </a:solidFill>
            <a:prstDash val="solid"/>
          </a:ln>
        </p:spPr>
      </p:sp>
      <p:sp>
        <p:nvSpPr>
          <p:cNvPr id="11" name="rsign_117"/>
          <p:cNvSpPr txBox="1"/>
          <p:nvPr/>
        </p:nvSpPr>
        <p:spPr>
          <a:xfrm>
            <a:off x="320040" y="1298448"/>
            <a:ext cx="8503920" cy="384048"/>
          </a:xfrm>
          <a:prstGeom prst="rect">
            <a:avLst/>
          </a:prstGeom>
          <a:solidFill>
            <a:srgbClr val="48BDF2"/>
          </a:solidFill>
          <a:ln w="19050">
            <a:solidFill>
              <a:srgbClr val="111111"/>
            </a:solidFill>
          </a:ln>
        </p:spPr>
        <p:txBody>
          <a:bodyPr wrap="square" lIns="101600" tIns="101600" rIns="101600" bIns="101600" rtlCol="0" anchor="ctr"/>
          <a:lstStyle/>
          <a:p>
            <a:pPr indent="0" marL="0">
              <a:buNone/>
            </a:pPr>
            <a:r>
              <a:rPr lang="en-US" sz="1000" b="1" dirty="0">
                <a:solidFill>
                  <a:srgbClr val="FFFFFF"/>
                </a:solidFill>
                <a:latin typeface="Arial Black" pitchFamily="34" charset="0"/>
                <a:ea typeface="Arial Black" pitchFamily="34" charset="-122"/>
                <a:cs typeface="Arial Black" pitchFamily="34" charset="-120"/>
              </a:rPr>
              <a:t>READ! LEGGI!  </a:t>
            </a:r>
            <a:pPr indent="0" marL="0">
              <a:buNone/>
            </a:pPr>
            <a:r>
              <a:rPr lang="en-US" sz="1000" dirty="0">
                <a:solidFill>
                  <a:srgbClr val="FFFFFF"/>
                </a:solidFill>
                <a:latin typeface="Calibri" pitchFamily="34" charset="0"/>
                <a:ea typeface="Calibri" pitchFamily="34" charset="-122"/>
                <a:cs typeface="Calibri" pitchFamily="34" charset="-120"/>
              </a:rPr>
              <a:t>Read the booking email. Answer the questions.  </a:t>
            </a:r>
            <a:pPr indent="0" marL="0">
              <a:buNone/>
            </a:pPr>
            <a:r>
              <a:rPr lang="en-US" sz="950" i="1" dirty="0">
                <a:solidFill>
                  <a:srgbClr val="E2E8F0"/>
                </a:solidFill>
                <a:latin typeface="Calibri" pitchFamily="34" charset="0"/>
                <a:ea typeface="Calibri" pitchFamily="34" charset="-122"/>
                <a:cs typeface="Calibri" pitchFamily="34" charset="-120"/>
              </a:rPr>
              <a:t>Leggi l'email di prenotazione e rispondi.</a:t>
            </a:r>
            <a:endParaRPr lang="en-US" sz="1000" dirty="0"/>
          </a:p>
        </p:txBody>
      </p:sp>
      <p:sp>
        <p:nvSpPr>
          <p:cNvPr id="12" name="rtext_118"/>
          <p:cNvSpPr txBox="1"/>
          <p:nvPr/>
        </p:nvSpPr>
        <p:spPr>
          <a:xfrm rot="-30000">
            <a:off x="320040" y="1810512"/>
            <a:ext cx="4343400" cy="2880360"/>
          </a:xfrm>
          <a:prstGeom prst="rect">
            <a:avLst/>
          </a:prstGeom>
          <a:solidFill>
            <a:srgbClr val="FFFDF5"/>
          </a:solidFill>
          <a:ln w="190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400"/>
              </a:spcAft>
              <a:buNone/>
            </a:pPr>
            <a:r>
              <a:rPr lang="en-US" sz="1300" b="1" dirty="0">
                <a:solidFill>
                  <a:srgbClr val="6D3FC0"/>
                </a:solidFill>
                <a:latin typeface="Calibri" pitchFamily="34" charset="0"/>
                <a:ea typeface="Calibri" pitchFamily="34" charset="-122"/>
                <a:cs typeface="Calibri" pitchFamily="34" charset="-120"/>
              </a:rPr>
              <a:t>✉ Table for 6 – Saturday 8 p.m.</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Hello, I'd like to book a table for six on Saturday at 8 p.m. My son Luca (9) has a peanut allergy – it's serious and he carries an adrenaline pen. My sister is vegan and my husband can't eat gluten. Can you prepare something for them? We'd love to try your arancine! Thank you, Giulia</a:t>
            </a:r>
            <a:endParaRPr lang="en-US" sz="1300" dirty="0"/>
          </a:p>
        </p:txBody>
      </p:sp>
      <p:sp>
        <p:nvSpPr>
          <p:cNvPr id="13" name="box_119"/>
          <p:cNvSpPr txBox="1"/>
          <p:nvPr/>
        </p:nvSpPr>
        <p:spPr>
          <a:xfrm>
            <a:off x="4828032" y="1810512"/>
            <a:ext cx="2317638" cy="51755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How many people?</a:t>
            </a:r>
            <a:endParaRPr lang="en-US" sz="1150" dirty="0"/>
          </a:p>
        </p:txBody>
      </p:sp>
      <p:sp>
        <p:nvSpPr>
          <p:cNvPr id="14" name="R1_ra0"/>
          <p:cNvSpPr txBox="1"/>
          <p:nvPr/>
        </p:nvSpPr>
        <p:spPr>
          <a:xfrm>
            <a:off x="7191390" y="1837944"/>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six</a:t>
            </a:r>
            <a:endParaRPr lang="en-US" sz="1050" dirty="0"/>
          </a:p>
        </p:txBody>
      </p:sp>
      <p:sp>
        <p:nvSpPr>
          <p:cNvPr id="15" name="box_120"/>
          <p:cNvSpPr txBox="1"/>
          <p:nvPr/>
        </p:nvSpPr>
        <p:spPr>
          <a:xfrm>
            <a:off x="4828032" y="2401214"/>
            <a:ext cx="2317638" cy="51755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Who has an allergy? To what?</a:t>
            </a:r>
            <a:endParaRPr lang="en-US" sz="1150" dirty="0"/>
          </a:p>
        </p:txBody>
      </p:sp>
      <p:sp>
        <p:nvSpPr>
          <p:cNvPr id="16" name="R1_ra1"/>
          <p:cNvSpPr txBox="1"/>
          <p:nvPr/>
        </p:nvSpPr>
        <p:spPr>
          <a:xfrm>
            <a:off x="7191390" y="2428646"/>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her son – peanuts</a:t>
            </a:r>
            <a:endParaRPr lang="en-US" sz="1050" dirty="0"/>
          </a:p>
        </p:txBody>
      </p:sp>
      <p:sp>
        <p:nvSpPr>
          <p:cNvPr id="17" name="box_121"/>
          <p:cNvSpPr txBox="1"/>
          <p:nvPr/>
        </p:nvSpPr>
        <p:spPr>
          <a:xfrm>
            <a:off x="4828032" y="2991917"/>
            <a:ext cx="2317638" cy="51755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Which two other diets?</a:t>
            </a:r>
            <a:endParaRPr lang="en-US" sz="1150" dirty="0"/>
          </a:p>
        </p:txBody>
      </p:sp>
      <p:sp>
        <p:nvSpPr>
          <p:cNvPr id="18" name="R1_ra2"/>
          <p:cNvSpPr txBox="1"/>
          <p:nvPr/>
        </p:nvSpPr>
        <p:spPr>
          <a:xfrm>
            <a:off x="7191390" y="3019349"/>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vegan, gluten-free</a:t>
            </a:r>
            <a:endParaRPr lang="en-US" sz="1050" dirty="0"/>
          </a:p>
        </p:txBody>
      </p:sp>
      <p:sp>
        <p:nvSpPr>
          <p:cNvPr id="19" name="box_122"/>
          <p:cNvSpPr txBox="1"/>
          <p:nvPr/>
        </p:nvSpPr>
        <p:spPr>
          <a:xfrm>
            <a:off x="4828032" y="3582619"/>
            <a:ext cx="2317638" cy="51755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Can the husband eat normal arancine?</a:t>
            </a:r>
            <a:endParaRPr lang="en-US" sz="1150" dirty="0"/>
          </a:p>
        </p:txBody>
      </p:sp>
      <p:sp>
        <p:nvSpPr>
          <p:cNvPr id="20" name="R1_ra3"/>
          <p:cNvSpPr txBox="1"/>
          <p:nvPr/>
        </p:nvSpPr>
        <p:spPr>
          <a:xfrm>
            <a:off x="7191390" y="3610051"/>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No – breadcrumbs contain gluten</a:t>
            </a:r>
            <a:endParaRPr lang="en-US" sz="1050" dirty="0"/>
          </a:p>
        </p:txBody>
      </p:sp>
      <p:sp>
        <p:nvSpPr>
          <p:cNvPr id="21" name="box_123"/>
          <p:cNvSpPr txBox="1"/>
          <p:nvPr/>
        </p:nvSpPr>
        <p:spPr>
          <a:xfrm>
            <a:off x="4828032" y="4173322"/>
            <a:ext cx="2317638" cy="51755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Write 2 questions to ask Giulia.</a:t>
            </a:r>
            <a:endParaRPr lang="en-US" sz="1150" dirty="0"/>
          </a:p>
        </p:txBody>
      </p:sp>
      <p:sp>
        <p:nvSpPr>
          <p:cNvPr id="22" name="R1_ra4"/>
          <p:cNvSpPr txBox="1"/>
          <p:nvPr/>
        </p:nvSpPr>
        <p:spPr>
          <a:xfrm>
            <a:off x="7191390" y="4200754"/>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e.g. Any other allergies? Tree nuts OK?</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4"/>
          <p:cNvSpPr/>
          <p:nvPr/>
        </p:nvSpPr>
        <p:spPr>
          <a:xfrm>
            <a:off x="54864" y="54864"/>
            <a:ext cx="9034272" cy="5033772"/>
          </a:xfrm>
          <a:prstGeom prst="rect">
            <a:avLst/>
          </a:prstGeom>
          <a:ln w="114300">
            <a:solidFill>
              <a:srgbClr val="C9B3F0"/>
            </a:solidFill>
            <a:prstDash val="solid"/>
          </a:ln>
        </p:spPr>
      </p:sp>
      <p:pic>
        <p:nvPicPr>
          <p:cNvPr id="4" name="logo_12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Role-play</a:t>
            </a:r>
            <a:endParaRPr lang="en-US" sz="900" dirty="0"/>
          </a:p>
        </p:txBody>
      </p:sp>
      <p:sp>
        <p:nvSpPr>
          <p:cNvPr id="6" name="timer_12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7" name="footer_12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8" name="title_129"/>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waiter asks…</a:t>
            </a:r>
            <a:endParaRPr lang="en-US" sz="1500" dirty="0"/>
          </a:p>
        </p:txBody>
      </p:sp>
      <p:sp>
        <p:nvSpPr>
          <p:cNvPr id="9" name="tape_130"/>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10" name="tape_131"/>
          <p:cNvSpPr/>
          <p:nvPr/>
        </p:nvSpPr>
        <p:spPr>
          <a:xfrm rot="-720000">
            <a:off x="3035808" y="1069848"/>
            <a:ext cx="685800" cy="219456"/>
          </a:xfrm>
          <a:prstGeom prst="rect">
            <a:avLst/>
          </a:prstGeom>
          <a:solidFill>
            <a:srgbClr val="C9B3F0">
              <a:alpha val="80000"/>
            </a:srgbClr>
          </a:solidFill>
          <a:ln w="6350">
            <a:solidFill>
              <a:srgbClr val="C9B3F0"/>
            </a:solidFill>
            <a:prstDash val="solid"/>
          </a:ln>
        </p:spPr>
      </p:sp>
      <p:sp>
        <p:nvSpPr>
          <p:cNvPr id="11" name="post_132"/>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33"/>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13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 is the waiter. B is the chef. Then swap!</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 è il cameriere. B è lo chef. Poi scambiatevi!</a:t>
            </a:r>
            <a:endParaRPr lang="en-US" sz="1250" dirty="0"/>
          </a:p>
        </p:txBody>
      </p:sp>
      <p:sp>
        <p:nvSpPr>
          <p:cNvPr id="14" name="line_135"/>
          <p:cNvSpPr txBox="1"/>
          <p:nvPr/>
        </p:nvSpPr>
        <p:spPr>
          <a:xfrm>
            <a:off x="2788920" y="137160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950" b="1" dirty="0">
                <a:solidFill>
                  <a:srgbClr val="EF2F2F"/>
                </a:solidFill>
                <a:latin typeface="Calibri" pitchFamily="34" charset="0"/>
                <a:ea typeface="Calibri" pitchFamily="34" charset="-122"/>
                <a:cs typeface="Calibri" pitchFamily="34" charset="-120"/>
              </a:rPr>
              <a:t>Waiter: </a:t>
            </a:r>
            <a:pPr indent="0" marL="0">
              <a:buNone/>
            </a:pPr>
            <a:r>
              <a:rPr lang="en-US" sz="950" dirty="0">
                <a:solidFill>
                  <a:srgbClr val="111111"/>
                </a:solidFill>
                <a:latin typeface="Calibri" pitchFamily="34" charset="0"/>
                <a:ea typeface="Calibri" pitchFamily="34" charset="-122"/>
                <a:cs typeface="Calibri" pitchFamily="34" charset="-120"/>
              </a:rPr>
              <a:t>Chef, table 4 has a nut allergy. Does the pesto contain nuts?</a:t>
            </a:r>
            <a:endParaRPr lang="en-US" sz="950" dirty="0"/>
          </a:p>
        </p:txBody>
      </p:sp>
      <p:sp>
        <p:nvSpPr>
          <p:cNvPr id="15" name="line_136"/>
          <p:cNvSpPr txBox="1"/>
          <p:nvPr/>
        </p:nvSpPr>
        <p:spPr>
          <a:xfrm>
            <a:off x="3108960" y="193548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1000" b="1" dirty="0">
                <a:solidFill>
                  <a:srgbClr val="062F67"/>
                </a:solidFill>
                <a:latin typeface="Calibri" pitchFamily="34" charset="0"/>
                <a:ea typeface="Calibri" pitchFamily="34" charset="-122"/>
                <a:cs typeface="Calibri" pitchFamily="34" charset="-120"/>
              </a:rPr>
              <a:t>Chef: </a:t>
            </a:r>
            <a:pPr indent="0" marL="0">
              <a:buNone/>
            </a:pPr>
            <a:r>
              <a:rPr lang="en-US" sz="1000" dirty="0">
                <a:solidFill>
                  <a:srgbClr val="111111"/>
                </a:solidFill>
                <a:latin typeface="Calibri" pitchFamily="34" charset="0"/>
                <a:ea typeface="Calibri" pitchFamily="34" charset="-122"/>
                <a:cs typeface="Calibri" pitchFamily="34" charset="-120"/>
              </a:rPr>
              <a:t>Yes, it does – pine nuts. I can make it without nuts.</a:t>
            </a:r>
            <a:endParaRPr lang="en-US" sz="1000" dirty="0"/>
          </a:p>
        </p:txBody>
      </p:sp>
      <p:sp>
        <p:nvSpPr>
          <p:cNvPr id="16" name="line_137"/>
          <p:cNvSpPr txBox="1"/>
          <p:nvPr/>
        </p:nvSpPr>
        <p:spPr>
          <a:xfrm>
            <a:off x="2788920" y="249936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Waiter: </a:t>
            </a:r>
            <a:pPr indent="0" marL="0">
              <a:buNone/>
            </a:pPr>
            <a:r>
              <a:rPr lang="en-US" sz="1250" dirty="0">
                <a:solidFill>
                  <a:srgbClr val="111111"/>
                </a:solidFill>
                <a:latin typeface="Calibri" pitchFamily="34" charset="0"/>
                <a:ea typeface="Calibri" pitchFamily="34" charset="-122"/>
                <a:cs typeface="Calibri" pitchFamily="34" charset="-120"/>
              </a:rPr>
              <a:t>Great. And is the risotto vegetarian?</a:t>
            </a:r>
            <a:endParaRPr lang="en-US" sz="1250" dirty="0"/>
          </a:p>
        </p:txBody>
      </p:sp>
      <p:sp>
        <p:nvSpPr>
          <p:cNvPr id="17" name="line_138"/>
          <p:cNvSpPr txBox="1"/>
          <p:nvPr/>
        </p:nvSpPr>
        <p:spPr>
          <a:xfrm>
            <a:off x="3108960" y="306324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950" b="1" dirty="0">
                <a:solidFill>
                  <a:srgbClr val="062F67"/>
                </a:solidFill>
                <a:latin typeface="Calibri" pitchFamily="34" charset="0"/>
                <a:ea typeface="Calibri" pitchFamily="34" charset="-122"/>
                <a:cs typeface="Calibri" pitchFamily="34" charset="-120"/>
              </a:rPr>
              <a:t>Chef: </a:t>
            </a:r>
            <a:pPr indent="0" marL="0">
              <a:buNone/>
            </a:pPr>
            <a:r>
              <a:rPr lang="en-US" sz="950" dirty="0">
                <a:solidFill>
                  <a:srgbClr val="111111"/>
                </a:solidFill>
                <a:latin typeface="Calibri" pitchFamily="34" charset="0"/>
                <a:ea typeface="Calibri" pitchFamily="34" charset="-122"/>
                <a:cs typeface="Calibri" pitchFamily="34" charset="-120"/>
              </a:rPr>
              <a:t>No, it isn't. We use chicken stock. I can use vegetable stock.</a:t>
            </a:r>
            <a:endParaRPr lang="en-US" sz="950" dirty="0"/>
          </a:p>
        </p:txBody>
      </p:sp>
      <p:sp>
        <p:nvSpPr>
          <p:cNvPr id="18" name="line_139"/>
          <p:cNvSpPr txBox="1"/>
          <p:nvPr/>
        </p:nvSpPr>
        <p:spPr>
          <a:xfrm>
            <a:off x="2788920" y="362712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Waiter: </a:t>
            </a:r>
            <a:pPr indent="0" marL="0">
              <a:buNone/>
            </a:pPr>
            <a:r>
              <a:rPr lang="en-US" sz="1250" dirty="0">
                <a:solidFill>
                  <a:srgbClr val="111111"/>
                </a:solidFill>
                <a:latin typeface="Calibri" pitchFamily="34" charset="0"/>
                <a:ea typeface="Calibri" pitchFamily="34" charset="-122"/>
                <a:cs typeface="Calibri" pitchFamily="34" charset="-120"/>
              </a:rPr>
              <a:t>And the tiramisù – is it gluten-free?</a:t>
            </a:r>
            <a:endParaRPr lang="en-US" sz="1250" dirty="0"/>
          </a:p>
        </p:txBody>
      </p:sp>
      <p:sp>
        <p:nvSpPr>
          <p:cNvPr id="19" name="line_140"/>
          <p:cNvSpPr txBox="1"/>
          <p:nvPr/>
        </p:nvSpPr>
        <p:spPr>
          <a:xfrm>
            <a:off x="3108960" y="419100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1050" b="1" dirty="0">
                <a:solidFill>
                  <a:srgbClr val="062F67"/>
                </a:solidFill>
                <a:latin typeface="Calibri" pitchFamily="34" charset="0"/>
                <a:ea typeface="Calibri" pitchFamily="34" charset="-122"/>
                <a:cs typeface="Calibri" pitchFamily="34" charset="-120"/>
              </a:rPr>
              <a:t>Chef: </a:t>
            </a:r>
            <a:pPr indent="0" marL="0">
              <a:buNone/>
            </a:pPr>
            <a:r>
              <a:rPr lang="en-US" sz="1050" dirty="0">
                <a:solidFill>
                  <a:srgbClr val="111111"/>
                </a:solidFill>
                <a:latin typeface="Calibri" pitchFamily="34" charset="0"/>
                <a:ea typeface="Calibri" pitchFamily="34" charset="-122"/>
                <a:cs typeface="Calibri" pitchFamily="34" charset="-120"/>
              </a:rPr>
              <a:t>No. There are biscuits in it. Offer the panna cotta.</a:t>
            </a:r>
            <a:endParaRPr lang="en-US" sz="1050" dirty="0"/>
          </a:p>
        </p:txBody>
      </p:sp>
      <p:sp>
        <p:nvSpPr>
          <p:cNvPr id="20" name="phrases_141"/>
          <p:cNvSpPr txBox="1"/>
          <p:nvPr/>
        </p:nvSpPr>
        <p:spPr>
          <a:xfrm rot="90000">
            <a:off x="6858000" y="1371600"/>
            <a:ext cx="1965960" cy="3310128"/>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101600" tIns="101600" rIns="101600" bIns="101600" rtlCol="0" anchor="t"/>
          <a:lstStyle/>
          <a:p>
            <a:pPr indent="0" marL="0">
              <a:spcAft>
                <a:spcPts val="300"/>
              </a:spcAft>
              <a:buNone/>
            </a:pPr>
            <a:r>
              <a:rPr lang="en-US" sz="1200" b="1" dirty="0">
                <a:solidFill>
                  <a:srgbClr val="6D3FC0"/>
                </a:solidFill>
                <a:latin typeface="Calibri" pitchFamily="34" charset="0"/>
                <a:ea typeface="Calibri" pitchFamily="34" charset="-122"/>
                <a:cs typeface="Calibri" pitchFamily="34" charset="-120"/>
              </a:rPr>
              <a:t>Useful phrases</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Let me check.</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I'm afraid it contains…</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 can make it without…</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 can't guarantee it.</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We can offer…</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It's cooked in the same oil.</a:t>
            </a:r>
            <a:endParaRPr lang="en-US" sz="1200" dirty="0"/>
          </a:p>
        </p:txBody>
      </p:sp>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2"/>
          <p:cNvSpPr/>
          <p:nvPr/>
        </p:nvSpPr>
        <p:spPr>
          <a:xfrm>
            <a:off x="54864" y="54864"/>
            <a:ext cx="9034272" cy="5033772"/>
          </a:xfrm>
          <a:prstGeom prst="rect">
            <a:avLst/>
          </a:prstGeom>
          <a:ln w="114300">
            <a:solidFill>
              <a:srgbClr val="C9B3F0"/>
            </a:solidFill>
            <a:prstDash val="solid"/>
          </a:ln>
        </p:spPr>
      </p:sp>
      <p:pic>
        <p:nvPicPr>
          <p:cNvPr id="4" name="logo_14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Team game</a:t>
            </a:r>
            <a:endParaRPr lang="en-US" sz="900" dirty="0"/>
          </a:p>
        </p:txBody>
      </p:sp>
      <p:sp>
        <p:nvSpPr>
          <p:cNvPr id="6" name="timer_14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14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8" name="title_147"/>
          <p:cNvSpPr txBox="1"/>
          <p:nvPr/>
        </p:nvSpPr>
        <p:spPr>
          <a:xfrm rot="90000">
            <a:off x="320040" y="676656"/>
            <a:ext cx="363016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Allergen detective</a:t>
            </a:r>
            <a:endParaRPr lang="en-US" sz="1500" dirty="0"/>
          </a:p>
        </p:txBody>
      </p:sp>
      <p:sp>
        <p:nvSpPr>
          <p:cNvPr id="9" name="tape_148"/>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10" name="tape_149"/>
          <p:cNvSpPr/>
          <p:nvPr/>
        </p:nvSpPr>
        <p:spPr>
          <a:xfrm rot="-720000">
            <a:off x="3383280" y="1069848"/>
            <a:ext cx="685800" cy="219456"/>
          </a:xfrm>
          <a:prstGeom prst="rect">
            <a:avLst/>
          </a:prstGeom>
          <a:solidFill>
            <a:srgbClr val="C9B3F0">
              <a:alpha val="80000"/>
            </a:srgbClr>
          </a:solidFill>
          <a:ln w="6350">
            <a:solidFill>
              <a:srgbClr val="C9B3F0"/>
            </a:solidFill>
            <a:prstDash val="solid"/>
          </a:ln>
        </p:spPr>
      </p:sp>
      <p:sp>
        <p:nvSpPr>
          <p:cNvPr id="11" name="post_150"/>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51"/>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3" name="signB_15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Hear the dish. Find ALL the allergens!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Ascolta il piatto. Trova TUTTI gli allergeni!</a:t>
            </a:r>
            <a:endParaRPr lang="en-US" sz="1250" dirty="0"/>
          </a:p>
        </p:txBody>
      </p:sp>
      <p:sp>
        <p:nvSpPr>
          <p:cNvPr id="14" name="iconBack_153"/>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54" descr="eye">    </p:cNvPr>
          <p:cNvPicPr>
            <a:picLocks noChangeAspect="1"/>
          </p:cNvPicPr>
          <p:nvPr/>
        </p:nvPicPr>
        <p:blipFill>
          <a:blip r:embed="rId3"/>
          <a:stretch>
            <a:fillRect/>
          </a:stretch>
        </p:blipFill>
        <p:spPr>
          <a:xfrm>
            <a:off x="914400" y="3474720"/>
            <a:ext cx="685800" cy="685800"/>
          </a:xfrm>
          <a:prstGeom prst="rect">
            <a:avLst/>
          </a:prstGeom>
        </p:spPr>
      </p:pic>
      <p:sp>
        <p:nvSpPr>
          <p:cNvPr id="16" name="num_155"/>
          <p:cNvSpPr txBox="1"/>
          <p:nvPr/>
        </p:nvSpPr>
        <p:spPr>
          <a:xfrm>
            <a:off x="2788920" y="1490472"/>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7" name="box_156"/>
          <p:cNvSpPr txBox="1"/>
          <p:nvPr/>
        </p:nvSpPr>
        <p:spPr>
          <a:xfrm>
            <a:off x="3264408" y="1371600"/>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The teacher says a dish: spaghetti carbonara / fish and chips / pesto genovese / Caesar salad.</a:t>
            </a:r>
            <a:endParaRPr lang="en-US" sz="1300" dirty="0"/>
          </a:p>
        </p:txBody>
      </p:sp>
      <p:sp>
        <p:nvSpPr>
          <p:cNvPr id="18" name="num_157"/>
          <p:cNvSpPr txBox="1"/>
          <p:nvPr/>
        </p:nvSpPr>
        <p:spPr>
          <a:xfrm>
            <a:off x="2788920" y="2203704"/>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9" name="box_158"/>
          <p:cNvSpPr txBox="1"/>
          <p:nvPr/>
        </p:nvSpPr>
        <p:spPr>
          <a:xfrm>
            <a:off x="3264408" y="2084832"/>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Chefs list the allergens: It contains eggs, milk and gluten.</a:t>
            </a:r>
            <a:endParaRPr lang="en-US" sz="1300" dirty="0"/>
          </a:p>
        </p:txBody>
      </p:sp>
      <p:sp>
        <p:nvSpPr>
          <p:cNvPr id="20" name="num_159"/>
          <p:cNvSpPr txBox="1"/>
          <p:nvPr/>
        </p:nvSpPr>
        <p:spPr>
          <a:xfrm>
            <a:off x="2788920" y="291693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1" name="box_160"/>
          <p:cNvSpPr txBox="1"/>
          <p:nvPr/>
        </p:nvSpPr>
        <p:spPr>
          <a:xfrm>
            <a:off x="3264408" y="2798064"/>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Correct allergen = 1 point. Missed allergen = –1!</a:t>
            </a:r>
            <a:endParaRPr lang="en-US" sz="1300" dirty="0"/>
          </a:p>
        </p:txBody>
      </p:sp>
      <p:sp>
        <p:nvSpPr>
          <p:cNvPr id="22" name="num_161"/>
          <p:cNvSpPr txBox="1"/>
          <p:nvPr/>
        </p:nvSpPr>
        <p:spPr>
          <a:xfrm>
            <a:off x="2788920" y="3630168"/>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3" name="box_162"/>
          <p:cNvSpPr txBox="1"/>
          <p:nvPr/>
        </p:nvSpPr>
        <p:spPr>
          <a:xfrm>
            <a:off x="3264408" y="3511296"/>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Last round: dishes from YOUR restaurant menu.</a:t>
            </a:r>
            <a:endParaRPr lang="en-US" sz="1300" dirty="0"/>
          </a:p>
        </p:txBody>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3"/>
          <p:cNvSpPr/>
          <p:nvPr/>
        </p:nvSpPr>
        <p:spPr>
          <a:xfrm>
            <a:off x="54864" y="54864"/>
            <a:ext cx="9034272" cy="5033772"/>
          </a:xfrm>
          <a:prstGeom prst="rect">
            <a:avLst/>
          </a:prstGeom>
          <a:ln w="114300">
            <a:solidFill>
              <a:srgbClr val="C9B3F0"/>
            </a:solidFill>
            <a:prstDash val="solid"/>
          </a:ln>
        </p:spPr>
      </p:sp>
      <p:pic>
        <p:nvPicPr>
          <p:cNvPr id="4" name="logo_16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16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6" name="title_166"/>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tape_167"/>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8" name="tape_168"/>
          <p:cNvSpPr/>
          <p:nvPr/>
        </p:nvSpPr>
        <p:spPr>
          <a:xfrm rot="-720000">
            <a:off x="3904488" y="1069848"/>
            <a:ext cx="685800" cy="219456"/>
          </a:xfrm>
          <a:prstGeom prst="rect">
            <a:avLst/>
          </a:prstGeom>
          <a:solidFill>
            <a:srgbClr val="C9B3F0">
              <a:alpha val="80000"/>
            </a:srgbClr>
          </a:solidFill>
          <a:ln w="6350">
            <a:solidFill>
              <a:srgbClr val="C9B3F0"/>
            </a:solidFill>
            <a:prstDash val="solid"/>
          </a:ln>
        </p:spPr>
      </p:sp>
      <p:sp>
        <p:nvSpPr>
          <p:cNvPr id="9" name="sub_169"/>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10" name="box_170"/>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name the 14 allergens.</a:t>
            </a:r>
            <a:endParaRPr lang="en-US" sz="1350" dirty="0"/>
          </a:p>
        </p:txBody>
      </p:sp>
      <p:sp>
        <p:nvSpPr>
          <p:cNvPr id="11" name="faces_171"/>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172"/>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ask and answer: Does it contain…? Is it…?</a:t>
            </a:r>
            <a:endParaRPr lang="en-US" sz="1350" dirty="0"/>
          </a:p>
        </p:txBody>
      </p:sp>
      <p:sp>
        <p:nvSpPr>
          <p:cNvPr id="13" name="faces_173"/>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box_174"/>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talk to front of house about special diets.</a:t>
            </a:r>
            <a:endParaRPr lang="en-US" sz="1350" dirty="0"/>
          </a:p>
        </p:txBody>
      </p:sp>
      <p:sp>
        <p:nvSpPr>
          <p:cNvPr id="15" name="faces_175"/>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6" name="hw_176"/>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Make an allergen list in English for 5 dishes on your menu.</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Your teacher can attach the homework sheet in the portal.</a:t>
            </a:r>
            <a:endParaRPr lang="en-US" sz="1250" dirty="0"/>
          </a:p>
        </p:txBody>
      </p:sp>
      <p:sp>
        <p:nvSpPr>
          <p:cNvPr id="17" name="stamp_177"/>
          <p:cNvSpPr txBox="1"/>
          <p:nvPr/>
        </p:nvSpPr>
        <p:spPr>
          <a:xfrm>
            <a:off x="365760" y="3657600"/>
            <a:ext cx="283464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L9 · Service!</a:t>
            </a:r>
            <a:endParaRPr lang="en-US" sz="12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8"/>
          <p:cNvSpPr/>
          <p:nvPr/>
        </p:nvSpPr>
        <p:spPr>
          <a:xfrm>
            <a:off x="54864" y="54864"/>
            <a:ext cx="9034272" cy="5033772"/>
          </a:xfrm>
          <a:prstGeom prst="rect">
            <a:avLst/>
          </a:prstGeom>
          <a:ln w="114300">
            <a:solidFill>
              <a:srgbClr val="C9B3F0"/>
            </a:solidFill>
            <a:prstDash val="solid"/>
          </a:ln>
        </p:spPr>
      </p:sp>
      <p:pic>
        <p:nvPicPr>
          <p:cNvPr id="4" name="logo_17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8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Problem solving</a:t>
            </a:r>
            <a:endParaRPr lang="en-US" sz="900" dirty="0"/>
          </a:p>
        </p:txBody>
      </p:sp>
      <p:sp>
        <p:nvSpPr>
          <p:cNvPr id="6" name="timer_18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182"/>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18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9" name="title_184"/>
          <p:cNvSpPr txBox="1"/>
          <p:nvPr/>
        </p:nvSpPr>
        <p:spPr>
          <a:xfrm rot="90000">
            <a:off x="320040" y="676656"/>
            <a:ext cx="276148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Menu makeover</a:t>
            </a:r>
            <a:endParaRPr lang="en-US" sz="1500" dirty="0"/>
          </a:p>
        </p:txBody>
      </p:sp>
      <p:sp>
        <p:nvSpPr>
          <p:cNvPr id="10" name="tape_185"/>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11" name="tape_186"/>
          <p:cNvSpPr/>
          <p:nvPr/>
        </p:nvSpPr>
        <p:spPr>
          <a:xfrm rot="-720000">
            <a:off x="2514600" y="1069848"/>
            <a:ext cx="685800" cy="219456"/>
          </a:xfrm>
          <a:prstGeom prst="rect">
            <a:avLst/>
          </a:prstGeom>
          <a:solidFill>
            <a:srgbClr val="C9B3F0">
              <a:alpha val="80000"/>
            </a:srgbClr>
          </a:solidFill>
          <a:ln w="6350">
            <a:solidFill>
              <a:srgbClr val="C9B3F0"/>
            </a:solidFill>
            <a:prstDash val="solid"/>
          </a:ln>
        </p:spPr>
      </p:sp>
      <p:sp>
        <p:nvSpPr>
          <p:cNvPr id="12" name="post_187"/>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188"/>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4" name="signB_18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Make the dish safe for the customer. What do you change?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Rendi il piatto sicuro per il cliente. Cosa cambi?</a:t>
            </a:r>
            <a:endParaRPr lang="en-US" sz="1200" dirty="0"/>
          </a:p>
        </p:txBody>
      </p:sp>
      <p:sp>
        <p:nvSpPr>
          <p:cNvPr id="15" name="box_190"/>
          <p:cNvSpPr txBox="1"/>
          <p:nvPr/>
        </p:nvSpPr>
        <p:spPr>
          <a:xfrm>
            <a:off x="2788920" y="1371600"/>
            <a:ext cx="2953512"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1  pasta alla carbonara → vegan</a:t>
            </a:r>
            <a:endParaRPr lang="en-US" sz="1400" dirty="0"/>
          </a:p>
        </p:txBody>
      </p:sp>
      <p:sp>
        <p:nvSpPr>
          <p:cNvPr id="16" name="box_191"/>
          <p:cNvSpPr txBox="1"/>
          <p:nvPr/>
        </p:nvSpPr>
        <p:spPr>
          <a:xfrm>
            <a:off x="5870448" y="1371600"/>
            <a:ext cx="2953512"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2  arancine → gluten-free</a:t>
            </a:r>
            <a:endParaRPr lang="en-US" sz="1400" dirty="0"/>
          </a:p>
        </p:txBody>
      </p:sp>
      <p:sp>
        <p:nvSpPr>
          <p:cNvPr id="17" name="box_192"/>
          <p:cNvSpPr txBox="1"/>
          <p:nvPr/>
        </p:nvSpPr>
        <p:spPr>
          <a:xfrm>
            <a:off x="2788920" y="2368296"/>
            <a:ext cx="2953512"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3  tiramisù → dairy-free</a:t>
            </a:r>
            <a:endParaRPr lang="en-US" sz="1400" dirty="0"/>
          </a:p>
        </p:txBody>
      </p:sp>
      <p:sp>
        <p:nvSpPr>
          <p:cNvPr id="18" name="box_193"/>
          <p:cNvSpPr txBox="1"/>
          <p:nvPr/>
        </p:nvSpPr>
        <p:spPr>
          <a:xfrm>
            <a:off x="5870448" y="2368296"/>
            <a:ext cx="2953512"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4  pasta con le sarde → vegetarian</a:t>
            </a:r>
            <a:endParaRPr lang="en-US" sz="1400" dirty="0"/>
          </a:p>
        </p:txBody>
      </p:sp>
      <p:sp>
        <p:nvSpPr>
          <p:cNvPr id="19" name="box_194"/>
          <p:cNvSpPr txBox="1"/>
          <p:nvPr/>
        </p:nvSpPr>
        <p:spPr>
          <a:xfrm>
            <a:off x="2788920" y="3364992"/>
            <a:ext cx="2953512"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5  cannoli → nut-free</a:t>
            </a:r>
            <a:endParaRPr lang="en-US" sz="1400" dirty="0"/>
          </a:p>
        </p:txBody>
      </p:sp>
      <p:sp>
        <p:nvSpPr>
          <p:cNvPr id="20" name="box_195"/>
          <p:cNvSpPr txBox="1"/>
          <p:nvPr/>
        </p:nvSpPr>
        <p:spPr>
          <a:xfrm>
            <a:off x="5870448" y="3364992"/>
            <a:ext cx="2953512"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6  Caesar salad → fish-free</a:t>
            </a:r>
            <a:endParaRPr lang="en-US" sz="14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6"/>
          <p:cNvSpPr/>
          <p:nvPr/>
        </p:nvSpPr>
        <p:spPr>
          <a:xfrm>
            <a:off x="54864" y="54864"/>
            <a:ext cx="9034272" cy="5033772"/>
          </a:xfrm>
          <a:prstGeom prst="rect">
            <a:avLst/>
          </a:prstGeom>
          <a:ln w="114300">
            <a:solidFill>
              <a:srgbClr val="C9B3F0"/>
            </a:solidFill>
            <a:prstDash val="solid"/>
          </a:ln>
        </p:spPr>
      </p:sp>
      <p:pic>
        <p:nvPicPr>
          <p:cNvPr id="4" name="logo_19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9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experiences</a:t>
            </a:r>
            <a:endParaRPr lang="en-US" sz="900" dirty="0"/>
          </a:p>
        </p:txBody>
      </p:sp>
      <p:sp>
        <p:nvSpPr>
          <p:cNvPr id="6" name="timer_19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00"/>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0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9" name="title_202"/>
          <p:cNvSpPr txBox="1"/>
          <p:nvPr/>
        </p:nvSpPr>
        <p:spPr>
          <a:xfrm rot="90000">
            <a:off x="320040" y="676656"/>
            <a:ext cx="397764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 difficult customer</a:t>
            </a:r>
            <a:endParaRPr lang="en-US" sz="1500" dirty="0"/>
          </a:p>
        </p:txBody>
      </p:sp>
      <p:sp>
        <p:nvSpPr>
          <p:cNvPr id="10" name="tape_203"/>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11" name="tape_204"/>
          <p:cNvSpPr/>
          <p:nvPr/>
        </p:nvSpPr>
        <p:spPr>
          <a:xfrm rot="-720000">
            <a:off x="3730752" y="1069848"/>
            <a:ext cx="685800" cy="219456"/>
          </a:xfrm>
          <a:prstGeom prst="rect">
            <a:avLst/>
          </a:prstGeom>
          <a:solidFill>
            <a:srgbClr val="C9B3F0">
              <a:alpha val="80000"/>
            </a:srgbClr>
          </a:solidFill>
          <a:ln w="6350">
            <a:solidFill>
              <a:srgbClr val="C9B3F0"/>
            </a:solidFill>
            <a:prstDash val="solid"/>
          </a:ln>
        </p:spPr>
      </p:sp>
      <p:sp>
        <p:nvSpPr>
          <p:cNvPr id="12" name="post_205"/>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06"/>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4" name="signB_20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Tell a story about a difficult order. (Only what you want to share!)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Racconta un ordine difficile. (Solo quello che vuoi!)</a:t>
            </a:r>
            <a:endParaRPr lang="en-US" sz="1200" dirty="0"/>
          </a:p>
        </p:txBody>
      </p:sp>
      <p:sp>
        <p:nvSpPr>
          <p:cNvPr id="15" name="box_208"/>
          <p:cNvSpPr txBox="1"/>
          <p:nvPr/>
        </p:nvSpPr>
        <p:spPr>
          <a:xfrm>
            <a:off x="2788920" y="1371600"/>
            <a:ext cx="603504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1  What did the customer ask for?</a:t>
            </a:r>
            <a:endParaRPr lang="en-US" sz="1400" dirty="0"/>
          </a:p>
        </p:txBody>
      </p:sp>
      <p:sp>
        <p:nvSpPr>
          <p:cNvPr id="16" name="box_209"/>
          <p:cNvSpPr txBox="1"/>
          <p:nvPr/>
        </p:nvSpPr>
        <p:spPr>
          <a:xfrm>
            <a:off x="2788920" y="2226564"/>
            <a:ext cx="603504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2  What was the problem?</a:t>
            </a:r>
            <a:endParaRPr lang="en-US" sz="1400" dirty="0"/>
          </a:p>
        </p:txBody>
      </p:sp>
      <p:sp>
        <p:nvSpPr>
          <p:cNvPr id="17" name="box_210"/>
          <p:cNvSpPr txBox="1"/>
          <p:nvPr/>
        </p:nvSpPr>
        <p:spPr>
          <a:xfrm>
            <a:off x="2788920" y="3081528"/>
            <a:ext cx="6035040"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3  What did you do?</a:t>
            </a:r>
            <a:endParaRPr lang="en-US" sz="1400" dirty="0"/>
          </a:p>
        </p:txBody>
      </p:sp>
      <p:sp>
        <p:nvSpPr>
          <p:cNvPr id="18" name="box_211"/>
          <p:cNvSpPr txBox="1"/>
          <p:nvPr/>
        </p:nvSpPr>
        <p:spPr>
          <a:xfrm>
            <a:off x="2788920" y="3936492"/>
            <a:ext cx="6035040"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4  Would you do the same again?</a:t>
            </a:r>
            <a:endParaRPr lang="en-US" sz="14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Kitchen English L8 Allergens &amp; diets</dc:title>
  <dc:subject>PptxGenJS Presentation</dc:subject>
  <dc:creator>London Language School</dc:creator>
  <cp:lastModifiedBy>London Language School</cp:lastModifiedBy>
  <cp:revision>1</cp:revision>
  <dcterms:created xsi:type="dcterms:W3CDTF">2026-10-05T06:50:57Z</dcterms:created>
  <dcterms:modified xsi:type="dcterms:W3CDTF">2026-10-05T06:50:57Z</dcterms:modified>
</cp:coreProperties>
</file>