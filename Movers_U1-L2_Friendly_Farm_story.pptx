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(1 min). 'Who can you see? Is Cameron a horse?' (No, a cat). 'Look – a mother cat with babies!'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Nothing yet – BLANK the screen (press B) while you dictate; show the slide only to check.
TEACHER: Dictate the 4 lines slowly, twice. No flashcards on the board (retrieval from memory!).
STUDENTS: Draw on scrap paper. 🔥 Label the words.
GROUPING: Alone, then compare in pairs.
SCORE / WIN: Pairs check each other: 1 point for every item in the right place (max 8).
TIME: 5 min.
LANGUAGE: Lesson 1 countryside words (listening) + prepositions next to / on / with.
REVEAL: Show the slide: learners tick what they drew.
AIM: Retrieval of Lesson 1 vocabulary (TB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Verbs they know + the starter 'You're …ing!'
TEACHER: Mime drinking: 'What am I doing?' Help them build 'You're drinking.' Repeat with 3–4 verbs (TB presentation).
STUDENTS: Guess with 'You're …ing!' Then a learner mimes for the class.
GROUPING: Whole class.
SCORE / WIN: The first correct FULL sentence (You're swimming – not just 'swimming') gets to mime next.
TIME: 4 min.
LANGUAGE: You're …ing. (present continuous – meaning: NOW).
REVEAL: The mimer says 'Yes! I'm swimming!'
AIM: Present the meaning of present continuous before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(5 min) from the TB: kitten, puppy (puppies), awake, naughty, wash (+ fat: puff out your cheeks). Mime holding a baby: 'A baby cat is a kitten. A baby dog is a puppy.' PICTURE FIRST – learners guess, then click. NAUGHTY: the 'gh' is silent – NAW-tee. TPR: Be a kitten! Meow! Wash your paws!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(5 min) from the TB: kitten, puppy (puppies), awake, naughty, wash (+ fat: puff out your cheeks). Mime holding a baby: 'A baby cat is a kitten. A baby dog is a puppy.' PICTURE FIRST – learners guess, then click. NAUGHTY: the 'gh' is silent – NAW-tee. TPR: Be a puppy! Woof! Wag your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(5 min) from the TB: kitten, puppy (puppies), awake, naughty, wash (+ fat: puff out your cheeks). Mime holding a baby: 'A baby cat is a kitten. A baby dog is a puppy.' PICTURE FIRST – learners guess, then click. NAUGHTY: the 'gh' is silent – NAW-tee. TPR: Open your eyes wide! I'm awake!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(5 min) from the TB: kitten, puppy (puppies), awake, naughty, wash (+ fat: puff out your cheeks). Mime holding a baby: 'A baby cat is a kitten. A baby dog is a puppy.' PICTURE FIRST – learners guess, then click. NAUGHTY: the 'gh' is silent – NAW-tee. TPR: Wag your finger: Naughty puppy!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(5 min) from the TB: kitten, puppy (puppies), awake, naughty, wash (+ fat: puff out your cheeks). Mime holding a baby: 'A baby cat is a kitten. A baby dog is a puppy.' PICTURE FIRST – learners guess, then click. NAUGHTY: the 'gh' is silent – NAW-tee. TPR: Wash your face! Wash your hands!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(10 min for 3 slides). PREDICT: 'Are the kittens sleeping? Thumbs up = yes, thumbs down = no.' Everyone COMMITS. Song at the start (🎧 1.10): happy face line 1, thumbs up line 2, wave line 3. Play the whole story once. Was your guess right? Then play again, pause after each picture and ask the TB questions; pairs whisper, then click to REVEAL. Check 'young'. Whose sock is it? (Grandpa's).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TB: confirm 'wash' with mime; check 'pretty'. COMMIT: learners mime the answer before you click (washing / playing).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TB: check 'naughty' and 'lunch'. Fun prediction before revealing pic 6: 'What's the puppy eating? A shoe? A book? A sock?' – hands up to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1 (4 min, 2 slides). Play 🎧 1.11, pause after each sentence. THINK 3 s, COMMIT: everyone holds up fingers on '3-2-1-show!'. REVEAL click. KEY (TB audioscript): a 6 (Shelly) · b 4 (Harry) · c 5 (Gracie) · d 5 (Shelly) · e 6 (Harry) · f 2 (Rocky) · g 3 (Harry) · h 2 (Henrietta). Bonus: who says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e 6 · f 2 · g 3 · 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GRACIE'S GRAMMAR (5 min). NOTICE FIRST: before playing, ask 'Look at the red words. What comes first in a question? What's at the end of the verb?' Pairs find the pattern (Are/Is + -ing). Then play 🎧 1.12 and learners repeat. Spelling: put → putting, take → taking. PRACTICE: read the question, pairs whisper the short answer, then click. Short answers only – Italians often answer just 'Yes' or 'Yes, she is playing' – push 'Yes, she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ITALIAN TRAP + PRONUNCIATION (3 min). Italian makes questions with intonation only ('Stai leggendo?'), so learners say 'You are reading?' or drop the -ing. The robot (you, in a robot voice) says the wrong sentence; pairs whisper the correct one; click to reveal. LAST LINE: Italians add a vowel or a hard g after -ing ('readinghe'). The 'ng' is in the nose: hold your nose while saying 'singing' – you feel it buzz! Whisper → normal → monster voice: 'I'm reading! I'm playing! I'm 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1 (5 min). Play 🎧 1.13: learners point to the right sticker; play again and they stick. 'What does 's mean?' (is). Learners write ALONE, then compare with a partner. REVEAL one line per click. KEY (TB): 1 's eating (example) 2 's drinking 3 's washing 4 's cleaning. ⭐ verbs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STAGE 1 (7 min). Worksheet: Teacher's Resource Book p.14 – or paper/card. Learners draw themselves in one corner, write 'My daily routine chart, by …', decorate it, then cut 12 small cards. Everything in a named envelope – collect them. While they work, USE the grammar: 'Are you using the red crayon?' – 'No, I'm not. I'm using the scissors.' AB p.6: smiley for 'My mission diary 1'. Tick Stage 1 on the Mission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Only the instructions (show the story slide again if needed).
TEACHER: Groups of 4 choose a story picture (1–6) in secret – 1 minute to practise. Each group performs.
STUDENTS: Make a still picture. The class asks 'Are you washing?' / 'Is it picture 3?' – the group answers 'Yes, we are / No, we aren't.'
GROUPING: Groups of 4.
SCORE / WIN: The audience team that guesses with a correct QUESTION gets 1 point; the performing group gets 1 point if the class guesses in under 3 questions.
TIME: 5 min.
LANGUAGE: Are you/they …ing? Is she …ing? + short answers.
REVEAL: The group says 'It's picture …! We're …ing.'
AIM: Communicative practice of the target questions with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EXIT QUESTION: mime an action at the door; each learner asks you a question ('Are you eating?') before leaving – no question, no exit! Thumbs for each 'I can'. Give out the homework and the Stage 1 sticker. AB p.8 (story listening) at the start of next lesson if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6 actions from the story.
TEACHER: Pairs face each other. Call 'Mirror!' – A does an action, B copies like a mirror and says 'You're washing your face!'
STUDENTS: A mimes, B mirrors + speaks, A answers 'Yes, I am!' Swap on 'Change!'
GROUPING: Pairs.
SCORE / WIN: No points – speed round: 6 actions in 1 minute?
TIME: 4 min.
LANGUAGE: You're …ing. / Yes, I am.
REVEAL: Click to show each action as a prompt.
AIM: Fluency with the present continuous +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9 prompts (copy the grid numbers on the board).
TEACHER: Teams O and X. A team chooses a square.
STUDENTS: Team makes the question (Is she swimming?); a learner from the other team answers with a short answer.
GROUPING: Two teams.
SCORE / WIN: Correct question = draw O/X in the square. Three in a line wins.
TIME: 6 min.
LANGUAGE: Am/Is/Are + -ing questions and short answers.
REVEAL: Teacher confirms each question aloud.
AIM: Accuracy with question word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jp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UNIT 1 · LESSON 2</a:t>
            </a:r>
            <a:endParaRPr lang="en-US" sz="1600" dirty="0"/>
          </a:p>
        </p:txBody>
      </p:sp>
      <p:sp>
        <p:nvSpPr>
          <p:cNvPr id="4" name="bm_2"/>
          <p:cNvSpPr/>
          <p:nvPr/>
        </p:nvSpPr>
        <p:spPr>
          <a:xfrm rot="-120000">
            <a:off x="228600" y="493776"/>
            <a:ext cx="48463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Kittens and puppies</a:t>
            </a:r>
            <a:endParaRPr lang="en-US" sz="2400" dirty="0"/>
          </a:p>
        </p:txBody>
      </p:sp>
      <p:sp>
        <p:nvSpPr>
          <p:cNvPr id="5" name="in_3"/>
          <p:cNvSpPr/>
          <p:nvPr/>
        </p:nvSpPr>
        <p:spPr>
          <a:xfrm>
            <a:off x="5212080" y="182880"/>
            <a:ext cx="370332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Today: the Friendly Farm story and What are you doing? 🐱🐶</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Oggi: la storia della Friendly Farm e il presente progressivo</a:t>
            </a:r>
            <a:endParaRPr lang="en-US" sz="1100" dirty="0"/>
          </a:p>
        </p:txBody>
      </p:sp>
      <p:sp>
        <p:nvSpPr>
          <p:cNvPr id="6" name="st_4"/>
          <p:cNvSpPr/>
          <p:nvPr/>
        </p:nvSpPr>
        <p:spPr>
          <a:xfrm>
            <a:off x="228600" y="1371600"/>
            <a:ext cx="2743200" cy="914400"/>
          </a:xfrm>
          <a:prstGeom prst="roundRect">
            <a:avLst>
              <a:gd name="adj" fmla="val 1200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7" name="sn_5"/>
          <p:cNvSpPr/>
          <p:nvPr/>
        </p:nvSpPr>
        <p:spPr>
          <a:xfrm>
            <a:off x="118872" y="126187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8" name="sk_6"/>
          <p:cNvSpPr/>
          <p:nvPr/>
        </p:nvSpPr>
        <p:spPr>
          <a:xfrm>
            <a:off x="521208" y="140817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9" name="se_7"/>
          <p:cNvSpPr/>
          <p:nvPr/>
        </p:nvSpPr>
        <p:spPr>
          <a:xfrm>
            <a:off x="338328" y="170078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Listen to the story.</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Ascolta la storia.</a:t>
            </a:r>
            <a:endParaRPr lang="en-US" sz="1050" dirty="0"/>
          </a:p>
        </p:txBody>
      </p:sp>
      <p:sp>
        <p:nvSpPr>
          <p:cNvPr id="10" name="st_8"/>
          <p:cNvSpPr/>
          <p:nvPr/>
        </p:nvSpPr>
        <p:spPr>
          <a:xfrm>
            <a:off x="228600" y="2377440"/>
            <a:ext cx="2743200" cy="914400"/>
          </a:xfrm>
          <a:prstGeom prst="roundRect">
            <a:avLst>
              <a:gd name="adj" fmla="val 1200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1" name="sn_9"/>
          <p:cNvSpPr/>
          <p:nvPr/>
        </p:nvSpPr>
        <p:spPr>
          <a:xfrm>
            <a:off x="118872" y="226771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2" name="sk_10"/>
          <p:cNvSpPr/>
          <p:nvPr/>
        </p:nvSpPr>
        <p:spPr>
          <a:xfrm>
            <a:off x="521208" y="241401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3" name="se_11"/>
          <p:cNvSpPr/>
          <p:nvPr/>
        </p:nvSpPr>
        <p:spPr>
          <a:xfrm>
            <a:off x="338328" y="270662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Ask: Are you reading?</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Chiedi: Stai leggendo?</a:t>
            </a:r>
            <a:endParaRPr lang="en-US" sz="1050" dirty="0"/>
          </a:p>
        </p:txBody>
      </p:sp>
      <p:sp>
        <p:nvSpPr>
          <p:cNvPr id="14" name="st_12"/>
          <p:cNvSpPr/>
          <p:nvPr/>
        </p:nvSpPr>
        <p:spPr>
          <a:xfrm>
            <a:off x="228600" y="3383280"/>
            <a:ext cx="2743200" cy="914400"/>
          </a:xfrm>
          <a:prstGeom prst="roundRect">
            <a:avLst>
              <a:gd name="adj" fmla="val 1200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5" name="sn_13"/>
          <p:cNvSpPr/>
          <p:nvPr/>
        </p:nvSpPr>
        <p:spPr>
          <a:xfrm>
            <a:off x="118872" y="32735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6" name="sk_14"/>
          <p:cNvSpPr/>
          <p:nvPr/>
        </p:nvSpPr>
        <p:spPr>
          <a:xfrm>
            <a:off x="521208" y="341985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7" name="se_15"/>
          <p:cNvSpPr/>
          <p:nvPr/>
        </p:nvSpPr>
        <p:spPr>
          <a:xfrm>
            <a:off x="338328" y="371246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Freeze frame!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Fermo immagine!</a:t>
            </a:r>
            <a:endParaRPr lang="en-US" sz="1050" dirty="0"/>
          </a:p>
        </p:txBody>
      </p:sp>
      <p:sp>
        <p:nvSpPr>
          <p:cNvPr id="18" name="pf_16"/>
          <p:cNvSpPr/>
          <p:nvPr/>
        </p:nvSpPr>
        <p:spPr>
          <a:xfrm>
            <a:off x="3191256" y="1271016"/>
            <a:ext cx="3355848" cy="3264408"/>
          </a:xfrm>
          <a:prstGeom prst="roundRect">
            <a:avLst>
              <a:gd name="adj" fmla="val 280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pic_17" descr="/home/claude/movers/img/crop/u1-p8-story12.jpg">    </p:cNvPr>
          <p:cNvPicPr>
            <a:picLocks noChangeAspect="1"/>
          </p:cNvPicPr>
          <p:nvPr/>
        </p:nvPicPr>
        <p:blipFill>
          <a:blip r:embed="rId2"/>
          <a:stretch>
            <a:fillRect/>
          </a:stretch>
        </p:blipFill>
        <p:spPr>
          <a:xfrm>
            <a:off x="3246120" y="2295289"/>
            <a:ext cx="3246120" cy="1215861"/>
          </a:xfrm>
          <a:prstGeom prst="rect">
            <a:avLst/>
          </a:prstGeom>
        </p:spPr>
      </p:pic>
      <p:sp>
        <p:nvSpPr>
          <p:cNvPr id="20" name="cd_18"/>
          <p:cNvSpPr/>
          <p:nvPr/>
        </p:nvSpPr>
        <p:spPr>
          <a:xfrm>
            <a:off x="6720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19" descr="/home/claude/movers/img/e-u1-kitten.png">    </p:cNvPr>
          <p:cNvPicPr>
            <a:picLocks noChangeAspect="1"/>
          </p:cNvPicPr>
          <p:nvPr/>
        </p:nvPicPr>
        <p:blipFill>
          <a:blip r:embed="rId3"/>
          <a:stretch>
            <a:fillRect/>
          </a:stretch>
        </p:blipFill>
        <p:spPr>
          <a:xfrm>
            <a:off x="6793992" y="3090672"/>
            <a:ext cx="905256" cy="905256"/>
          </a:xfrm>
          <a:prstGeom prst="rect">
            <a:avLst/>
          </a:prstGeom>
        </p:spPr>
      </p:pic>
      <p:sp>
        <p:nvSpPr>
          <p:cNvPr id="22" name="cd_20"/>
          <p:cNvSpPr/>
          <p:nvPr/>
        </p:nvSpPr>
        <p:spPr>
          <a:xfrm>
            <a:off x="7863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1" descr="/home/claude/movers/img/e-u1-puppy.png">    </p:cNvPr>
          <p:cNvPicPr>
            <a:picLocks noChangeAspect="1"/>
          </p:cNvPicPr>
          <p:nvPr/>
        </p:nvPicPr>
        <p:blipFill>
          <a:blip r:embed="rId4"/>
          <a:stretch>
            <a:fillRect/>
          </a:stretch>
        </p:blipFill>
        <p:spPr>
          <a:xfrm>
            <a:off x="7936992" y="3090672"/>
            <a:ext cx="905256" cy="905256"/>
          </a:xfrm>
          <a:prstGeom prst="rect">
            <a:avLst/>
          </a:prstGeom>
        </p:spPr>
      </p:pic>
      <p:sp>
        <p:nvSpPr>
          <p:cNvPr id="24" name="bb_22"/>
          <p:cNvSpPr/>
          <p:nvPr/>
        </p:nvSpPr>
        <p:spPr>
          <a:xfrm>
            <a:off x="6675120" y="1874520"/>
            <a:ext cx="2240280" cy="822960"/>
          </a:xfrm>
          <a:prstGeom prst="rect">
            <a:avLst/>
          </a:prstGeom>
          <a:solidFill>
            <a:srgbClr val="FFFFFF"/>
          </a:solidFill>
          <a:ln w="25400">
            <a:solidFill>
              <a:srgbClr val="1E2A5A"/>
            </a:solidFill>
          </a:ln>
        </p:spPr>
        <p:txBody>
          <a:bodyPr wrap="square" lIns="50800" tIns="50800" rIns="50800" bIns="50800" rtlCol="0" anchor="ctr"/>
          <a:lstStyle/>
          <a:p>
            <a:pPr algn="ctr" indent="0" marL="0">
              <a:buNone/>
            </a:pPr>
            <a:r>
              <a:rPr lang="en-US" sz="1250" b="1" dirty="0">
                <a:solidFill>
                  <a:srgbClr val="1E2A5A"/>
                </a:solidFill>
                <a:latin typeface="Arial Rounded MT Bold" pitchFamily="34" charset="0"/>
                <a:ea typeface="Arial Rounded MT Bold" pitchFamily="34" charset="-122"/>
                <a:cs typeface="Arial Rounded MT Bold" pitchFamily="34" charset="-120"/>
              </a:rPr>
              <a:t>The farm cat's got babies!</a:t>
            </a:r>
            <a:endParaRPr lang="en-US" sz="1250" dirty="0"/>
          </a:p>
          <a:p>
            <a:pPr algn="ct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La gatta della fattoria ha i cuccioli!</a:t>
            </a:r>
            <a:endParaRPr lang="en-US" sz="1250" dirty="0"/>
          </a:p>
        </p:txBody>
      </p:sp>
      <p:sp>
        <p:nvSpPr>
          <p:cNvPr id="25" name="bk_23"/>
          <p:cNvSpPr/>
          <p:nvPr/>
        </p:nvSpPr>
        <p:spPr>
          <a:xfrm>
            <a:off x="228600" y="4681728"/>
            <a:ext cx="404622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pp.8–9 · 🎧 1.10–1.13 · 🎬 video</a:t>
            </a:r>
            <a:endParaRPr lang="en-US" sz="1100" dirty="0"/>
          </a:p>
        </p:txBody>
      </p:sp>
    </p:spTree>
  </p:cSld>
  <p:clrMapOvr>
    <a:masterClrMapping/>
  </p:clrMapOvr>
  <p:transition spd="med">
    <p:push dir="l"/>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REMEMBER?</a:t>
            </a:r>
            <a:endParaRPr lang="en-US" sz="1600" dirty="0"/>
          </a:p>
        </p:txBody>
      </p:sp>
      <p:sp>
        <p:nvSpPr>
          <p:cNvPr id="4" name="bm_2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8E5BE8"/>
                </a:solidFill>
                <a:latin typeface="Arial Black" pitchFamily="34" charset="0"/>
                <a:ea typeface="Arial Black" pitchFamily="34" charset="-122"/>
                <a:cs typeface="Arial Black" pitchFamily="34" charset="-120"/>
              </a:rPr>
              <a:t>Listen and draw!</a:t>
            </a:r>
            <a:endParaRPr lang="en-US" sz="2700" dirty="0"/>
          </a:p>
        </p:txBody>
      </p:sp>
      <p:sp>
        <p:nvSpPr>
          <p:cNvPr id="5" name="in_2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Draw fast! Don't look at the book!</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Disegna veloce! Non guardare il libro!</a:t>
            </a:r>
            <a:endParaRPr lang="en-US" sz="1400" dirty="0"/>
          </a:p>
        </p:txBody>
      </p:sp>
      <p:sp>
        <p:nvSpPr>
          <p:cNvPr id="6" name="mode_2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ALONE · ⏱ 5 MIN</a:t>
            </a:r>
            <a:endParaRPr lang="en-US" sz="1000" dirty="0"/>
          </a:p>
        </p:txBody>
      </p:sp>
      <p:sp>
        <p:nvSpPr>
          <p:cNvPr id="7" name="diff_28"/>
          <p:cNvSpPr/>
          <p:nvPr/>
        </p:nvSpPr>
        <p:spPr>
          <a:xfrm>
            <a:off x="4343400" y="4681728"/>
            <a:ext cx="457200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Label your picture!</a:t>
            </a:r>
            <a:endParaRPr lang="en-US" sz="950" dirty="0"/>
          </a:p>
        </p:txBody>
      </p:sp>
      <p:sp>
        <p:nvSpPr>
          <p:cNvPr id="8" name="st_29"/>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9" name="sn_30"/>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31"/>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1" name="se_32"/>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Listen to the teacher.</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Ascolta l'insegnante.</a:t>
            </a:r>
            <a:endParaRPr lang="en-US" sz="1050" dirty="0"/>
          </a:p>
        </p:txBody>
      </p:sp>
      <p:sp>
        <p:nvSpPr>
          <p:cNvPr id="12" name="st_33"/>
          <p:cNvSpPr/>
          <p:nvPr/>
        </p:nvSpPr>
        <p:spPr>
          <a:xfrm>
            <a:off x="228600" y="2392680"/>
            <a:ext cx="2651760" cy="975360"/>
          </a:xfrm>
          <a:prstGeom prst="roundRect">
            <a:avLst>
              <a:gd name="adj" fmla="val 11250"/>
            </a:avLst>
          </a:prstGeom>
          <a:solidFill>
            <a:srgbClr val="FFFFFF"/>
          </a:solidFill>
          <a:ln w="38100">
            <a:solidFill>
              <a:srgbClr val="8E5BE8"/>
            </a:solidFill>
            <a:prstDash val="solid"/>
          </a:ln>
          <a:effectLst>
            <a:outerShdw sx="100000" sy="100000" kx="0" ky="0" algn="bl" rotWithShape="0" blurRad="38100" dist="25400" dir="5400000">
              <a:srgbClr val="000000">
                <a:alpha val="18000"/>
              </a:srgbClr>
            </a:outerShdw>
          </a:effectLst>
        </p:spPr>
      </p:sp>
      <p:sp>
        <p:nvSpPr>
          <p:cNvPr id="13" name="sn_34"/>
          <p:cNvSpPr/>
          <p:nvPr/>
        </p:nvSpPr>
        <p:spPr>
          <a:xfrm>
            <a:off x="118872" y="2282952"/>
            <a:ext cx="384048" cy="384048"/>
          </a:xfrm>
          <a:prstGeom prst="ellipse">
            <a:avLst/>
          </a:prstGeom>
          <a:solidFill>
            <a:srgbClr val="8E5BE8"/>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35"/>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DRAW</a:t>
            </a:r>
            <a:endParaRPr lang="en-US" sz="1300" dirty="0"/>
          </a:p>
        </p:txBody>
      </p:sp>
      <p:sp>
        <p:nvSpPr>
          <p:cNvPr id="15" name="se_36"/>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Draw quickly!</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Disegna velocemente!</a:t>
            </a:r>
            <a:endParaRPr lang="en-US" sz="1050" dirty="0"/>
          </a:p>
        </p:txBody>
      </p:sp>
      <p:sp>
        <p:nvSpPr>
          <p:cNvPr id="16" name="st_37"/>
          <p:cNvSpPr/>
          <p:nvPr/>
        </p:nvSpPr>
        <p:spPr>
          <a:xfrm>
            <a:off x="228600" y="34594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17" name="sn_38"/>
          <p:cNvSpPr/>
          <p:nvPr/>
        </p:nvSpPr>
        <p:spPr>
          <a:xfrm>
            <a:off x="118872" y="33497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39"/>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9" name="se_40"/>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Compare with a friend.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Confronta con un compagno.</a:t>
            </a:r>
            <a:endParaRPr lang="en-US" sz="1050" dirty="0"/>
          </a:p>
        </p:txBody>
      </p:sp>
      <p:sp>
        <p:nvSpPr>
          <p:cNvPr id="20" name="gl_41"/>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Draw some mountains. Draw a river and a lake.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Draw a forest next to the lake.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Draw a field with a tractor and a big rock.</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Draw some leaves on the ground.</a:t>
            </a:r>
            <a:endParaRPr lang="en-US" sz="140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GUESS!</a:t>
            </a:r>
            <a:endParaRPr lang="en-US" sz="1600" dirty="0"/>
          </a:p>
        </p:txBody>
      </p:sp>
      <p:sp>
        <p:nvSpPr>
          <p:cNvPr id="4" name="bm_4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What am I doing?</a:t>
            </a:r>
            <a:endParaRPr lang="en-US" sz="2700" dirty="0"/>
          </a:p>
        </p:txBody>
      </p:sp>
      <p:sp>
        <p:nvSpPr>
          <p:cNvPr id="5" name="in_4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Watch the teacher. Guess!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l'insegnante. Indovina!</a:t>
            </a:r>
            <a:endParaRPr lang="en-US" sz="1400" dirty="0"/>
          </a:p>
        </p:txBody>
      </p:sp>
      <p:sp>
        <p:nvSpPr>
          <p:cNvPr id="6" name="mode_4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WHOLE CLASS · ⏱ 4 MIN</a:t>
            </a:r>
            <a:endParaRPr lang="en-US" sz="1000" dirty="0"/>
          </a:p>
        </p:txBody>
      </p:sp>
      <p:sp>
        <p:nvSpPr>
          <p:cNvPr id="7" name="diff_46"/>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You're …ing!</a:t>
            </a:r>
            <a:endParaRPr lang="en-US" sz="950" dirty="0"/>
          </a:p>
        </p:txBody>
      </p:sp>
      <p:sp>
        <p:nvSpPr>
          <p:cNvPr id="8" name="st_47"/>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9" name="sn_48"/>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49"/>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1" name="se_50"/>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Watch the mime.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Guarda il mimo.</a:t>
            </a:r>
            <a:endParaRPr lang="en-US" sz="1050" dirty="0"/>
          </a:p>
        </p:txBody>
      </p:sp>
      <p:sp>
        <p:nvSpPr>
          <p:cNvPr id="12" name="st_51"/>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3" name="sn_52"/>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53"/>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5" name="se_54"/>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You're drinking!</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Stai bevendo!</a:t>
            </a:r>
            <a:endParaRPr lang="en-US" sz="1050" dirty="0"/>
          </a:p>
        </p:txBody>
      </p:sp>
      <p:sp>
        <p:nvSpPr>
          <p:cNvPr id="16" name="st_55"/>
          <p:cNvSpPr/>
          <p:nvPr/>
        </p:nvSpPr>
        <p:spPr>
          <a:xfrm>
            <a:off x="228600" y="34594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17" name="sn_56"/>
          <p:cNvSpPr/>
          <p:nvPr/>
        </p:nvSpPr>
        <p:spPr>
          <a:xfrm>
            <a:off x="118872" y="33497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57"/>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DO</a:t>
            </a:r>
            <a:endParaRPr lang="en-US" sz="1300" dirty="0"/>
          </a:p>
        </p:txBody>
      </p:sp>
      <p:sp>
        <p:nvSpPr>
          <p:cNvPr id="19" name="se_58"/>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Now YOU mime!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Ora mima TU!</a:t>
            </a:r>
            <a:endParaRPr lang="en-US" sz="1050" dirty="0"/>
          </a:p>
        </p:txBody>
      </p:sp>
      <p:sp>
        <p:nvSpPr>
          <p:cNvPr id="20" name="gl_59"/>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drink 🥤 · sleep 😴 · eat 🍕 · swim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play tennis 🎾 · ride a bike 🚲 · run 🏃 · watch TV 📺</a:t>
            </a:r>
            <a:endParaRPr lang="en-US" sz="1400" dirty="0"/>
          </a:p>
        </p:txBody>
      </p:sp>
    </p:spTree>
  </p:cSld>
  <p:clrMapOvr>
    <a:masterClrMapping/>
  </p:clrMapOvr>
  <p:transition spd="med">
    <p:push dir="l"/>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6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61"/>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6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63"/>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64" descr="/home/claude/movers/img/e-u1-kitten.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65"/>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kitten</a:t>
            </a:r>
            <a:endParaRPr lang="en-US" sz="3600" dirty="0"/>
          </a:p>
        </p:txBody>
      </p:sp>
      <p:sp>
        <p:nvSpPr>
          <p:cNvPr id="9" name="R2_it66"/>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gattino</a:t>
            </a:r>
            <a:endParaRPr lang="en-US" sz="1600" dirty="0"/>
          </a:p>
        </p:txBody>
      </p:sp>
      <p:sp>
        <p:nvSpPr>
          <p:cNvPr id="10" name="R3_tpr67"/>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Be a kitten! Meow! Wash your paws! 🐾</a:t>
            </a:r>
            <a:endParaRPr lang="en-US" sz="1300" dirty="0"/>
          </a:p>
        </p:txBody>
      </p:sp>
      <p:sp>
        <p:nvSpPr>
          <p:cNvPr id="11" name="n_68"/>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1 / 5</a:t>
            </a:r>
            <a:endParaRPr lang="en-US" sz="1200" dirty="0"/>
          </a:p>
        </p:txBody>
      </p:sp>
      <p:sp>
        <p:nvSpPr>
          <p:cNvPr id="12" name="bk_69"/>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story words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7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71"/>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7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73"/>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74" descr="/home/claude/movers/img/e-u1-puppy.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75"/>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000" b="1" dirty="0">
                <a:ln w="31750">
                  <a:solidFill>
                    <a:srgbClr val="1E2A5A"/>
                  </a:solidFill>
                </a:ln>
                <a:solidFill>
                  <a:srgbClr val="FFD23F"/>
                </a:solidFill>
                <a:latin typeface="Arial Black" pitchFamily="34" charset="0"/>
                <a:ea typeface="Arial Black" pitchFamily="34" charset="-122"/>
                <a:cs typeface="Arial Black" pitchFamily="34" charset="-120"/>
              </a:rPr>
              <a:t>puppy · puppies</a:t>
            </a:r>
            <a:endParaRPr lang="en-US" sz="3000" dirty="0"/>
          </a:p>
        </p:txBody>
      </p:sp>
      <p:sp>
        <p:nvSpPr>
          <p:cNvPr id="9" name="R2_it76"/>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cucciolo · cuccioli</a:t>
            </a:r>
            <a:endParaRPr lang="en-US" sz="1600" dirty="0"/>
          </a:p>
        </p:txBody>
      </p:sp>
      <p:sp>
        <p:nvSpPr>
          <p:cNvPr id="10" name="R3_tpr77"/>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Be a puppy! Woof! Wag your tail!</a:t>
            </a:r>
            <a:endParaRPr lang="en-US" sz="1300" dirty="0"/>
          </a:p>
        </p:txBody>
      </p:sp>
      <p:sp>
        <p:nvSpPr>
          <p:cNvPr id="11" name="n_78"/>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2 / 5</a:t>
            </a:r>
            <a:endParaRPr lang="en-US" sz="1200" dirty="0"/>
          </a:p>
        </p:txBody>
      </p:sp>
      <p:sp>
        <p:nvSpPr>
          <p:cNvPr id="12" name="bk_79"/>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story words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8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81"/>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8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83"/>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84" descr="/home/claude/movers/img/e-u1-awake.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85"/>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awake</a:t>
            </a:r>
            <a:endParaRPr lang="en-US" sz="3600" dirty="0"/>
          </a:p>
        </p:txBody>
      </p:sp>
      <p:sp>
        <p:nvSpPr>
          <p:cNvPr id="9" name="R2_it86"/>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sveglio</a:t>
            </a:r>
            <a:endParaRPr lang="en-US" sz="1600" dirty="0"/>
          </a:p>
        </p:txBody>
      </p:sp>
      <p:sp>
        <p:nvSpPr>
          <p:cNvPr id="10" name="R3_tpr87"/>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Open your eyes wide! I'm awake! 👀</a:t>
            </a:r>
            <a:endParaRPr lang="en-US" sz="1300" dirty="0"/>
          </a:p>
        </p:txBody>
      </p:sp>
      <p:sp>
        <p:nvSpPr>
          <p:cNvPr id="11" name="n_88"/>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3 / 5</a:t>
            </a:r>
            <a:endParaRPr lang="en-US" sz="1200" dirty="0"/>
          </a:p>
        </p:txBody>
      </p:sp>
      <p:sp>
        <p:nvSpPr>
          <p:cNvPr id="12" name="bk_89"/>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story words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9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91"/>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9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93"/>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94" descr="/home/claude/movers/img/crop/u1-ab8-sockpuppy.jpg">    </p:cNvPr>
          <p:cNvPicPr>
            <a:picLocks noChangeAspect="1"/>
          </p:cNvPicPr>
          <p:nvPr/>
        </p:nvPicPr>
        <p:blipFill>
          <a:blip r:embed="rId2"/>
          <a:stretch>
            <a:fillRect/>
          </a:stretch>
        </p:blipFill>
        <p:spPr>
          <a:xfrm>
            <a:off x="3246120" y="1234440"/>
            <a:ext cx="2651760" cy="2651760"/>
          </a:xfrm>
          <a:prstGeom prst="rect">
            <a:avLst/>
          </a:prstGeom>
        </p:spPr>
      </p:pic>
      <p:sp>
        <p:nvSpPr>
          <p:cNvPr id="8" name="R1_w95"/>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naughty</a:t>
            </a:r>
            <a:endParaRPr lang="en-US" sz="3600" dirty="0"/>
          </a:p>
        </p:txBody>
      </p:sp>
      <p:sp>
        <p:nvSpPr>
          <p:cNvPr id="9" name="R2_it96"/>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birichino / cattivello</a:t>
            </a:r>
            <a:endParaRPr lang="en-US" sz="1600" dirty="0"/>
          </a:p>
        </p:txBody>
      </p:sp>
      <p:sp>
        <p:nvSpPr>
          <p:cNvPr id="10" name="R3_tpr97"/>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Wag your finger: Naughty puppy! ☝️</a:t>
            </a:r>
            <a:endParaRPr lang="en-US" sz="1300" dirty="0"/>
          </a:p>
        </p:txBody>
      </p:sp>
      <p:sp>
        <p:nvSpPr>
          <p:cNvPr id="11" name="n_98"/>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4 / 5</a:t>
            </a:r>
            <a:endParaRPr lang="en-US" sz="1200" dirty="0"/>
          </a:p>
        </p:txBody>
      </p:sp>
      <p:sp>
        <p:nvSpPr>
          <p:cNvPr id="12" name="bk_99"/>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story words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0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101"/>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10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103"/>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04" descr="/home/claude/movers/img/e-u1-wash.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105"/>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wash</a:t>
            </a:r>
            <a:endParaRPr lang="en-US" sz="3600" dirty="0"/>
          </a:p>
        </p:txBody>
      </p:sp>
      <p:sp>
        <p:nvSpPr>
          <p:cNvPr id="9" name="R2_it106"/>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lavare</a:t>
            </a:r>
            <a:endParaRPr lang="en-US" sz="1600" dirty="0"/>
          </a:p>
        </p:txBody>
      </p:sp>
      <p:sp>
        <p:nvSpPr>
          <p:cNvPr id="10" name="R3_tpr107"/>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Wash your face! Wash your hands! 🧼</a:t>
            </a:r>
            <a:endParaRPr lang="en-US" sz="1300" dirty="0"/>
          </a:p>
        </p:txBody>
      </p:sp>
      <p:sp>
        <p:nvSpPr>
          <p:cNvPr id="11" name="n_108"/>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5 / 5</a:t>
            </a:r>
            <a:endParaRPr lang="en-US" sz="1200" dirty="0"/>
          </a:p>
        </p:txBody>
      </p:sp>
      <p:sp>
        <p:nvSpPr>
          <p:cNvPr id="12" name="bk_109"/>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story words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1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11"/>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The Friendly Farm (1)</a:t>
            </a:r>
            <a:endParaRPr lang="en-US" sz="2400" dirty="0"/>
          </a:p>
        </p:txBody>
      </p:sp>
      <p:sp>
        <p:nvSpPr>
          <p:cNvPr id="5" name="in_112"/>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Guess first: are the kittens sleeping?</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Indovina: i gattini stanno dormendo?</a:t>
            </a:r>
            <a:endParaRPr lang="en-US" sz="1400" dirty="0"/>
          </a:p>
        </p:txBody>
      </p:sp>
      <p:sp>
        <p:nvSpPr>
          <p:cNvPr id="6" name="mode_113"/>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4 MIN</a:t>
            </a:r>
            <a:endParaRPr lang="en-US" sz="1000" dirty="0"/>
          </a:p>
        </p:txBody>
      </p:sp>
      <p:sp>
        <p:nvSpPr>
          <p:cNvPr id="7" name="pf_114"/>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15" descr="/home/claude/movers/img/crop/u1-p8-story12.jpg">    </p:cNvPr>
          <p:cNvPicPr>
            <a:picLocks noChangeAspect="1"/>
          </p:cNvPicPr>
          <p:nvPr/>
        </p:nvPicPr>
        <p:blipFill>
          <a:blip r:embed="rId2"/>
          <a:stretch>
            <a:fillRect/>
          </a:stretch>
        </p:blipFill>
        <p:spPr>
          <a:xfrm>
            <a:off x="365760" y="1989951"/>
            <a:ext cx="5120640" cy="1917978"/>
          </a:xfrm>
          <a:prstGeom prst="rect">
            <a:avLst/>
          </a:prstGeom>
        </p:spPr>
      </p:pic>
      <p:sp>
        <p:nvSpPr>
          <p:cNvPr id="9" name="q_116"/>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Are the kittens ugly? (pic 1)</a:t>
            </a:r>
            <a:endParaRPr lang="en-US" sz="1250" dirty="0"/>
          </a:p>
        </p:txBody>
      </p:sp>
      <p:sp>
        <p:nvSpPr>
          <p:cNvPr id="10" name="R1_a117"/>
          <p:cNvSpPr/>
          <p:nvPr/>
        </p:nvSpPr>
        <p:spPr>
          <a:xfrm>
            <a:off x="5989320" y="177759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No, they're beautiful.</a:t>
            </a:r>
            <a:endParaRPr lang="en-US" sz="1250" dirty="0"/>
          </a:p>
        </p:txBody>
      </p:sp>
      <p:sp>
        <p:nvSpPr>
          <p:cNvPr id="11" name="q_118"/>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Are the kittens sleeping? (pic 2)</a:t>
            </a:r>
            <a:endParaRPr lang="en-US" sz="1250" dirty="0"/>
          </a:p>
        </p:txBody>
      </p:sp>
      <p:sp>
        <p:nvSpPr>
          <p:cNvPr id="12" name="R2_a119"/>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No, they aren't. They're awake.</a:t>
            </a:r>
            <a:endParaRPr lang="en-US" sz="1250" dirty="0"/>
          </a:p>
        </p:txBody>
      </p:sp>
      <p:sp>
        <p:nvSpPr>
          <p:cNvPr id="13" name="q_120"/>
          <p:cNvSpPr/>
          <p:nvPr/>
        </p:nvSpPr>
        <p:spPr>
          <a:xfrm>
            <a:off x="5760720" y="306324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Why are their eyes closed?</a:t>
            </a:r>
            <a:endParaRPr lang="en-US" sz="1250" dirty="0"/>
          </a:p>
        </p:txBody>
      </p:sp>
      <p:sp>
        <p:nvSpPr>
          <p:cNvPr id="14" name="R3_a121"/>
          <p:cNvSpPr/>
          <p:nvPr/>
        </p:nvSpPr>
        <p:spPr>
          <a:xfrm>
            <a:off x="5989320" y="351495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They're very young.</a:t>
            </a:r>
            <a:endParaRPr lang="en-US" sz="1250" dirty="0"/>
          </a:p>
        </p:txBody>
      </p:sp>
      <p:sp>
        <p:nvSpPr>
          <p:cNvPr id="15" name="bk_122"/>
          <p:cNvSpPr/>
          <p:nvPr/>
        </p:nvSpPr>
        <p:spPr>
          <a:xfrm>
            <a:off x="228600" y="4681728"/>
            <a:ext cx="342442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 1.10 · 🎬 video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2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24"/>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The Friendly Farm (2)</a:t>
            </a:r>
            <a:endParaRPr lang="en-US" sz="2400" dirty="0"/>
          </a:p>
        </p:txBody>
      </p:sp>
      <p:sp>
        <p:nvSpPr>
          <p:cNvPr id="5" name="in_125"/>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What's the mother cat doing?</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Cosa sta facendo la gatta?</a:t>
            </a:r>
            <a:endParaRPr lang="en-US" sz="1400" dirty="0"/>
          </a:p>
        </p:txBody>
      </p:sp>
      <p:sp>
        <p:nvSpPr>
          <p:cNvPr id="6" name="mode_126"/>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3 MIN</a:t>
            </a:r>
            <a:endParaRPr lang="en-US" sz="1000" dirty="0"/>
          </a:p>
        </p:txBody>
      </p:sp>
      <p:sp>
        <p:nvSpPr>
          <p:cNvPr id="7" name="pf_127"/>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28" descr="/home/claude/movers/img/crop/u1-p8-story34.jpg">    </p:cNvPr>
          <p:cNvPicPr>
            <a:picLocks noChangeAspect="1"/>
          </p:cNvPicPr>
          <p:nvPr/>
        </p:nvPicPr>
        <p:blipFill>
          <a:blip r:embed="rId2"/>
          <a:stretch>
            <a:fillRect/>
          </a:stretch>
        </p:blipFill>
        <p:spPr>
          <a:xfrm>
            <a:off x="365760" y="1976380"/>
            <a:ext cx="5120640" cy="1945119"/>
          </a:xfrm>
          <a:prstGeom prst="rect">
            <a:avLst/>
          </a:prstGeom>
        </p:spPr>
      </p:pic>
      <p:sp>
        <p:nvSpPr>
          <p:cNvPr id="9" name="q_129"/>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What's the cat doing? (pic 3)</a:t>
            </a:r>
            <a:endParaRPr lang="en-US" sz="1250" dirty="0"/>
          </a:p>
        </p:txBody>
      </p:sp>
      <p:sp>
        <p:nvSpPr>
          <p:cNvPr id="10" name="R1_a130"/>
          <p:cNvSpPr/>
          <p:nvPr/>
        </p:nvSpPr>
        <p:spPr>
          <a:xfrm>
            <a:off x="5989320" y="177759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She's washing the kitten's face.</a:t>
            </a:r>
            <a:endParaRPr lang="en-US" sz="1250" dirty="0"/>
          </a:p>
        </p:txBody>
      </p:sp>
      <p:sp>
        <p:nvSpPr>
          <p:cNvPr id="11" name="q_131"/>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How many puppies are there? (pic 4)</a:t>
            </a:r>
            <a:endParaRPr lang="en-US" sz="1250" dirty="0"/>
          </a:p>
        </p:txBody>
      </p:sp>
      <p:sp>
        <p:nvSpPr>
          <p:cNvPr id="12" name="R2_a132"/>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Three.</a:t>
            </a:r>
            <a:endParaRPr lang="en-US" sz="1250" dirty="0"/>
          </a:p>
        </p:txBody>
      </p:sp>
      <p:sp>
        <p:nvSpPr>
          <p:cNvPr id="13" name="q_133"/>
          <p:cNvSpPr/>
          <p:nvPr/>
        </p:nvSpPr>
        <p:spPr>
          <a:xfrm>
            <a:off x="5760720" y="306324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The one with the short tail – what's it doing?</a:t>
            </a:r>
            <a:endParaRPr lang="en-US" sz="1250" dirty="0"/>
          </a:p>
        </p:txBody>
      </p:sp>
      <p:sp>
        <p:nvSpPr>
          <p:cNvPr id="14" name="R3_a134"/>
          <p:cNvSpPr/>
          <p:nvPr/>
        </p:nvSpPr>
        <p:spPr>
          <a:xfrm>
            <a:off x="5989320" y="351495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It's playing with a ball.</a:t>
            </a:r>
            <a:endParaRPr lang="en-US" sz="1250" dirty="0"/>
          </a:p>
        </p:txBody>
      </p:sp>
      <p:sp>
        <p:nvSpPr>
          <p:cNvPr id="15" name="bk_135"/>
          <p:cNvSpPr/>
          <p:nvPr/>
        </p:nvSpPr>
        <p:spPr>
          <a:xfrm>
            <a:off x="228600" y="4681728"/>
            <a:ext cx="342442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 1.10 · 🎬 video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36"/>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37"/>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The Friendly Farm (3)</a:t>
            </a:r>
            <a:endParaRPr lang="en-US" sz="2400" dirty="0"/>
          </a:p>
        </p:txBody>
      </p:sp>
      <p:sp>
        <p:nvSpPr>
          <p:cNvPr id="5" name="in_138"/>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Guess: what's the fat puppy eating?</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Indovina: cosa mangia il cucciolo grasso?</a:t>
            </a:r>
            <a:endParaRPr lang="en-US" sz="1400" dirty="0"/>
          </a:p>
        </p:txBody>
      </p:sp>
      <p:sp>
        <p:nvSpPr>
          <p:cNvPr id="6" name="mode_139"/>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3 MIN</a:t>
            </a:r>
            <a:endParaRPr lang="en-US" sz="1000" dirty="0"/>
          </a:p>
        </p:txBody>
      </p:sp>
      <p:sp>
        <p:nvSpPr>
          <p:cNvPr id="7" name="pf_140"/>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41" descr="/home/claude/movers/img/crop/u1-p8-story56.jpg">    </p:cNvPr>
          <p:cNvPicPr>
            <a:picLocks noChangeAspect="1"/>
          </p:cNvPicPr>
          <p:nvPr/>
        </p:nvPicPr>
        <p:blipFill>
          <a:blip r:embed="rId2"/>
          <a:stretch>
            <a:fillRect/>
          </a:stretch>
        </p:blipFill>
        <p:spPr>
          <a:xfrm>
            <a:off x="365760" y="1962810"/>
            <a:ext cx="5120640" cy="1972261"/>
          </a:xfrm>
          <a:prstGeom prst="rect">
            <a:avLst/>
          </a:prstGeom>
        </p:spPr>
      </p:pic>
      <p:sp>
        <p:nvSpPr>
          <p:cNvPr id="9" name="q_142"/>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The big puppy with the white ear – is it drinking? (pic 5)</a:t>
            </a:r>
            <a:endParaRPr lang="en-US" sz="1250" dirty="0"/>
          </a:p>
        </p:txBody>
      </p:sp>
      <p:sp>
        <p:nvSpPr>
          <p:cNvPr id="10" name="R1_a143"/>
          <p:cNvSpPr/>
          <p:nvPr/>
        </p:nvSpPr>
        <p:spPr>
          <a:xfrm>
            <a:off x="5989320" y="177759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No, it isn't. It's looking at its face.</a:t>
            </a:r>
            <a:endParaRPr lang="en-US" sz="1250" dirty="0"/>
          </a:p>
        </p:txBody>
      </p:sp>
      <p:sp>
        <p:nvSpPr>
          <p:cNvPr id="11" name="q_144"/>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What's the fat puppy eating? (pic 6)</a:t>
            </a:r>
            <a:endParaRPr lang="en-US" sz="1250" dirty="0"/>
          </a:p>
        </p:txBody>
      </p:sp>
      <p:sp>
        <p:nvSpPr>
          <p:cNvPr id="12" name="R2_a145"/>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Grandpa's old red sock! 🧦</a:t>
            </a:r>
            <a:endParaRPr lang="en-US" sz="1250" dirty="0"/>
          </a:p>
        </p:txBody>
      </p:sp>
      <p:sp>
        <p:nvSpPr>
          <p:cNvPr id="13" name="q_146"/>
          <p:cNvSpPr/>
          <p:nvPr/>
        </p:nvSpPr>
        <p:spPr>
          <a:xfrm>
            <a:off x="5760720" y="306324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Why is Gracie angry?</a:t>
            </a:r>
            <a:endParaRPr lang="en-US" sz="1250" dirty="0"/>
          </a:p>
        </p:txBody>
      </p:sp>
      <p:sp>
        <p:nvSpPr>
          <p:cNvPr id="14" name="R3_a147"/>
          <p:cNvSpPr/>
          <p:nvPr/>
        </p:nvSpPr>
        <p:spPr>
          <a:xfrm>
            <a:off x="5989320" y="351495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The sock is her lunch!</a:t>
            </a:r>
            <a:endParaRPr lang="en-US" sz="1250" dirty="0"/>
          </a:p>
        </p:txBody>
      </p:sp>
      <p:sp>
        <p:nvSpPr>
          <p:cNvPr id="15" name="bk_148"/>
          <p:cNvSpPr/>
          <p:nvPr/>
        </p:nvSpPr>
        <p:spPr>
          <a:xfrm>
            <a:off x="228600" y="4681728"/>
            <a:ext cx="342442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 1.10 · 🎬 video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4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LISTEN 1</a:t>
            </a:r>
            <a:endParaRPr lang="en-US" sz="1600" dirty="0"/>
          </a:p>
        </p:txBody>
      </p:sp>
      <p:sp>
        <p:nvSpPr>
          <p:cNvPr id="4" name="bm_150"/>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Which picture? (1)</a:t>
            </a:r>
            <a:endParaRPr lang="en-US" sz="2700" dirty="0"/>
          </a:p>
        </p:txBody>
      </p:sp>
      <p:sp>
        <p:nvSpPr>
          <p:cNvPr id="5" name="in_151"/>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Show the number with your fingers!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Mostra il numero con le dita!</a:t>
            </a:r>
            <a:endParaRPr lang="en-US" sz="1400" dirty="0"/>
          </a:p>
        </p:txBody>
      </p:sp>
      <p:sp>
        <p:nvSpPr>
          <p:cNvPr id="6" name="mode_15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2 MIN</a:t>
            </a:r>
            <a:endParaRPr lang="en-US" sz="1000" dirty="0"/>
          </a:p>
        </p:txBody>
      </p:sp>
      <p:sp>
        <p:nvSpPr>
          <p:cNvPr id="7" name="pf_153"/>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54" descr="/home/claude/movers/img/crop/u1-p8-story.jpg">    </p:cNvPr>
          <p:cNvPicPr>
            <a:picLocks noChangeAspect="1"/>
          </p:cNvPicPr>
          <p:nvPr/>
        </p:nvPicPr>
        <p:blipFill>
          <a:blip r:embed="rId2"/>
          <a:stretch>
            <a:fillRect/>
          </a:stretch>
        </p:blipFill>
        <p:spPr>
          <a:xfrm>
            <a:off x="1528252" y="1325880"/>
            <a:ext cx="2795657" cy="3246120"/>
          </a:xfrm>
          <a:prstGeom prst="rect">
            <a:avLst/>
          </a:prstGeom>
        </p:spPr>
      </p:pic>
      <p:sp>
        <p:nvSpPr>
          <p:cNvPr id="9" name="q_155"/>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a  It's eating Grandpa's old red sock.</a:t>
            </a:r>
            <a:endParaRPr lang="en-US" sz="1250" dirty="0"/>
          </a:p>
        </p:txBody>
      </p:sp>
      <p:sp>
        <p:nvSpPr>
          <p:cNvPr id="10" name="R1_a156"/>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6</a:t>
            </a:r>
            <a:endParaRPr lang="en-US" sz="1250" dirty="0"/>
          </a:p>
        </p:txBody>
      </p:sp>
      <p:sp>
        <p:nvSpPr>
          <p:cNvPr id="11" name="q_157"/>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b  The one with the short tail's playing with a ball.</a:t>
            </a:r>
            <a:endParaRPr lang="en-US" sz="1250" dirty="0"/>
          </a:p>
        </p:txBody>
      </p:sp>
      <p:sp>
        <p:nvSpPr>
          <p:cNvPr id="12" name="R2_a158"/>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4</a:t>
            </a:r>
            <a:endParaRPr lang="en-US" sz="1250" dirty="0"/>
          </a:p>
        </p:txBody>
      </p:sp>
      <p:sp>
        <p:nvSpPr>
          <p:cNvPr id="13" name="q_159"/>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c  Is that big puppy with the white ear drinking water?</a:t>
            </a:r>
            <a:endParaRPr lang="en-US" sz="1250" dirty="0"/>
          </a:p>
        </p:txBody>
      </p:sp>
      <p:sp>
        <p:nvSpPr>
          <p:cNvPr id="14" name="R3_a160"/>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5</a:t>
            </a:r>
            <a:endParaRPr lang="en-US" sz="1250" dirty="0"/>
          </a:p>
        </p:txBody>
      </p:sp>
      <p:sp>
        <p:nvSpPr>
          <p:cNvPr id="15" name="q_161"/>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  It's looking at its face.</a:t>
            </a:r>
            <a:endParaRPr lang="en-US" sz="1250" dirty="0"/>
          </a:p>
        </p:txBody>
      </p:sp>
      <p:sp>
        <p:nvSpPr>
          <p:cNvPr id="16" name="R4_a162"/>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5</a:t>
            </a:r>
            <a:endParaRPr lang="en-US" sz="1250" dirty="0"/>
          </a:p>
        </p:txBody>
      </p:sp>
      <p:sp>
        <p:nvSpPr>
          <p:cNvPr id="17" name="bk_163"/>
          <p:cNvSpPr/>
          <p:nvPr/>
        </p:nvSpPr>
        <p:spPr>
          <a:xfrm>
            <a:off x="228600" y="4681728"/>
            <a:ext cx="256946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 1.11</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6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LISTEN 1</a:t>
            </a:r>
            <a:endParaRPr lang="en-US" sz="1600" dirty="0"/>
          </a:p>
        </p:txBody>
      </p:sp>
      <p:sp>
        <p:nvSpPr>
          <p:cNvPr id="4" name="bm_165"/>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Which picture? (2)</a:t>
            </a:r>
            <a:endParaRPr lang="en-US" sz="2700" dirty="0"/>
          </a:p>
        </p:txBody>
      </p:sp>
      <p:sp>
        <p:nvSpPr>
          <p:cNvPr id="5" name="in_166"/>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Show the number with your fingers!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Mostra il numero con le dita!</a:t>
            </a:r>
            <a:endParaRPr lang="en-US" sz="1400" dirty="0"/>
          </a:p>
        </p:txBody>
      </p:sp>
      <p:sp>
        <p:nvSpPr>
          <p:cNvPr id="6" name="mode_16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2 MIN</a:t>
            </a:r>
            <a:endParaRPr lang="en-US" sz="1000" dirty="0"/>
          </a:p>
        </p:txBody>
      </p:sp>
      <p:sp>
        <p:nvSpPr>
          <p:cNvPr id="7" name="pf_168"/>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69" descr="/home/claude/movers/img/crop/u1-p8-story.jpg">    </p:cNvPr>
          <p:cNvPicPr>
            <a:picLocks noChangeAspect="1"/>
          </p:cNvPicPr>
          <p:nvPr/>
        </p:nvPicPr>
        <p:blipFill>
          <a:blip r:embed="rId2"/>
          <a:stretch>
            <a:fillRect/>
          </a:stretch>
        </p:blipFill>
        <p:spPr>
          <a:xfrm>
            <a:off x="1528252" y="1325880"/>
            <a:ext cx="2795657" cy="3246120"/>
          </a:xfrm>
          <a:prstGeom prst="rect">
            <a:avLst/>
          </a:prstGeom>
        </p:spPr>
      </p:pic>
      <p:sp>
        <p:nvSpPr>
          <p:cNvPr id="9" name="q_170"/>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e  What's it eating?</a:t>
            </a:r>
            <a:endParaRPr lang="en-US" sz="1250" dirty="0"/>
          </a:p>
        </p:txBody>
      </p:sp>
      <p:sp>
        <p:nvSpPr>
          <p:cNvPr id="10" name="R1_a171"/>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6</a:t>
            </a:r>
            <a:endParaRPr lang="en-US" sz="1250" dirty="0"/>
          </a:p>
        </p:txBody>
      </p:sp>
      <p:sp>
        <p:nvSpPr>
          <p:cNvPr id="11" name="q_172"/>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f  Are they sleeping, Mum?</a:t>
            </a:r>
            <a:endParaRPr lang="en-US" sz="1250" dirty="0"/>
          </a:p>
        </p:txBody>
      </p:sp>
      <p:sp>
        <p:nvSpPr>
          <p:cNvPr id="12" name="R2_a173"/>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2</a:t>
            </a:r>
            <a:endParaRPr lang="en-US" sz="1250" dirty="0"/>
          </a:p>
        </p:txBody>
      </p:sp>
      <p:sp>
        <p:nvSpPr>
          <p:cNvPr id="13" name="q_174"/>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g  She's washing that kitten's face!</a:t>
            </a:r>
            <a:endParaRPr lang="en-US" sz="1250" dirty="0"/>
          </a:p>
        </p:txBody>
      </p:sp>
      <p:sp>
        <p:nvSpPr>
          <p:cNvPr id="14" name="R3_a175"/>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3</a:t>
            </a:r>
            <a:endParaRPr lang="en-US" sz="1250" dirty="0"/>
          </a:p>
        </p:txBody>
      </p:sp>
      <p:sp>
        <p:nvSpPr>
          <p:cNvPr id="15" name="q_176"/>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  No, they aren't sleeping. I think they're awake.</a:t>
            </a:r>
            <a:endParaRPr lang="en-US" sz="1250" dirty="0"/>
          </a:p>
        </p:txBody>
      </p:sp>
      <p:sp>
        <p:nvSpPr>
          <p:cNvPr id="16" name="R4_a177"/>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2</a:t>
            </a:r>
            <a:endParaRPr lang="en-US" sz="1250" dirty="0"/>
          </a:p>
        </p:txBody>
      </p:sp>
      <p:sp>
        <p:nvSpPr>
          <p:cNvPr id="17" name="bk_178"/>
          <p:cNvSpPr/>
          <p:nvPr/>
        </p:nvSpPr>
        <p:spPr>
          <a:xfrm>
            <a:off x="228600" y="4681728"/>
            <a:ext cx="256946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p.8 · 🎧 1.11</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7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NOTICE</a:t>
            </a:r>
            <a:endParaRPr lang="en-US" sz="1600" dirty="0"/>
          </a:p>
        </p:txBody>
      </p:sp>
      <p:sp>
        <p:nvSpPr>
          <p:cNvPr id="4" name="bm_180"/>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8A3D"/>
                </a:solidFill>
                <a:latin typeface="Arial Black" pitchFamily="34" charset="0"/>
                <a:ea typeface="Arial Black" pitchFamily="34" charset="-122"/>
                <a:cs typeface="Arial Black" pitchFamily="34" charset="-120"/>
              </a:rPr>
              <a:t>Gracie's Grammar</a:t>
            </a:r>
            <a:endParaRPr lang="en-US" sz="2700" dirty="0"/>
          </a:p>
        </p:txBody>
      </p:sp>
      <p:sp>
        <p:nvSpPr>
          <p:cNvPr id="5" name="in_181"/>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What word comes FIRST in a question?</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Quale parola viene PRIMA nella domanda?</a:t>
            </a:r>
            <a:endParaRPr lang="en-US" sz="1400" dirty="0"/>
          </a:p>
        </p:txBody>
      </p:sp>
      <p:sp>
        <p:nvSpPr>
          <p:cNvPr id="6" name="mode_18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5 MIN</a:t>
            </a:r>
            <a:endParaRPr lang="en-US" sz="1000" dirty="0"/>
          </a:p>
        </p:txBody>
      </p:sp>
      <p:sp>
        <p:nvSpPr>
          <p:cNvPr id="7" name="gb_183"/>
          <p:cNvSpPr/>
          <p:nvPr/>
        </p:nvSpPr>
        <p:spPr>
          <a:xfrm>
            <a:off x="320040" y="1280160"/>
            <a:ext cx="8503920" cy="1609344"/>
          </a:xfrm>
          <a:prstGeom prst="roundRect">
            <a:avLst>
              <a:gd name="adj" fmla="val 6818"/>
            </a:avLst>
          </a:prstGeom>
          <a:solidFill>
            <a:srgbClr val="FFF1E0"/>
          </a:solidFill>
          <a:ln w="38100">
            <a:solidFill>
              <a:srgbClr val="FF8A3D"/>
            </a:solidFill>
            <a:prstDash val="solid"/>
          </a:ln>
        </p:spPr>
      </p:sp>
      <p:pic>
        <p:nvPicPr>
          <p:cNvPr id="8" name="pic_184" descr="/home/claude/movers/img/fc/gracie.png">    </p:cNvPr>
          <p:cNvPicPr>
            <a:picLocks noChangeAspect="1"/>
          </p:cNvPicPr>
          <p:nvPr/>
        </p:nvPicPr>
        <p:blipFill>
          <a:blip r:embed="rId2"/>
          <a:stretch>
            <a:fillRect/>
          </a:stretch>
        </p:blipFill>
        <p:spPr>
          <a:xfrm>
            <a:off x="7863840" y="1554287"/>
            <a:ext cx="868680" cy="1042803"/>
          </a:xfrm>
          <a:prstGeom prst="rect">
            <a:avLst/>
          </a:prstGeom>
        </p:spPr>
      </p:pic>
      <p:sp>
        <p:nvSpPr>
          <p:cNvPr id="9" name="gl_185"/>
          <p:cNvSpPr/>
          <p:nvPr/>
        </p:nvSpPr>
        <p:spPr>
          <a:xfrm>
            <a:off x="548640" y="1417320"/>
            <a:ext cx="7223760" cy="365760"/>
          </a:xfrm>
          <a:prstGeom prst="rect">
            <a:avLst/>
          </a:prstGeom>
          <a:noFill/>
          <a:ln/>
        </p:spPr>
        <p:txBody>
          <a:bodyPr wrap="square" lIns="0" tIns="0" rIns="0" bIns="0" rtlCol="0" anchor="ctr"/>
          <a:lstStyle/>
          <a:p>
            <a:pPr indent="0" marL="0">
              <a:buNone/>
            </a:pP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Are</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you read</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ing</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a book?  –  No, I'm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not</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a:t>
            </a:r>
            <a:endParaRPr lang="en-US" sz="1500" dirty="0"/>
          </a:p>
        </p:txBody>
      </p:sp>
      <p:sp>
        <p:nvSpPr>
          <p:cNvPr id="10" name="gl_186"/>
          <p:cNvSpPr/>
          <p:nvPr/>
        </p:nvSpPr>
        <p:spPr>
          <a:xfrm>
            <a:off x="548640" y="1801368"/>
            <a:ext cx="7223760" cy="365760"/>
          </a:xfrm>
          <a:prstGeom prst="rect">
            <a:avLst/>
          </a:prstGeom>
          <a:noFill/>
          <a:ln/>
        </p:spPr>
        <p:txBody>
          <a:bodyPr wrap="square" lIns="0" tIns="0" rIns="0" bIns="0" rtlCol="0" anchor="ctr"/>
          <a:lstStyle/>
          <a:p>
            <a:pPr indent="0" marL="0">
              <a:buNone/>
            </a:pP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Is</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she play</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ing</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tennis?  –  Yes, she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is</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a:t>
            </a:r>
            <a:endParaRPr lang="en-US" sz="1500" dirty="0"/>
          </a:p>
        </p:txBody>
      </p:sp>
      <p:sp>
        <p:nvSpPr>
          <p:cNvPr id="11" name="gl_187"/>
          <p:cNvSpPr/>
          <p:nvPr/>
        </p:nvSpPr>
        <p:spPr>
          <a:xfrm>
            <a:off x="548640" y="2185416"/>
            <a:ext cx="7223760" cy="365760"/>
          </a:xfrm>
          <a:prstGeom prst="rect">
            <a:avLst/>
          </a:prstGeom>
          <a:noFill/>
          <a:ln/>
        </p:spPr>
        <p:txBody>
          <a:bodyPr wrap="square" lIns="0" tIns="0" rIns="0" bIns="0" rtlCol="0" anchor="ctr"/>
          <a:lstStyle/>
          <a:p>
            <a:pPr indent="0" marL="0">
              <a:buNone/>
            </a:pP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Are</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they put</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ting</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on their boots?  –  No, they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aren't</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a:t>
            </a:r>
            <a:endParaRPr lang="en-US" sz="1500" dirty="0"/>
          </a:p>
        </p:txBody>
      </p:sp>
      <p:sp>
        <p:nvSpPr>
          <p:cNvPr id="12" name="pq_188"/>
          <p:cNvSpPr/>
          <p:nvPr/>
        </p:nvSpPr>
        <p:spPr>
          <a:xfrm>
            <a:off x="365760" y="3026664"/>
            <a:ext cx="5669280" cy="397764"/>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Is the big puppy drinking water? (pic 5)</a:t>
            </a:r>
            <a:endParaRPr lang="en-US" sz="1300" dirty="0"/>
          </a:p>
        </p:txBody>
      </p:sp>
      <p:sp>
        <p:nvSpPr>
          <p:cNvPr id="13" name="R1_pa189"/>
          <p:cNvSpPr/>
          <p:nvPr/>
        </p:nvSpPr>
        <p:spPr>
          <a:xfrm>
            <a:off x="6126480" y="3026664"/>
            <a:ext cx="2743200" cy="397764"/>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No, it isn't.</a:t>
            </a:r>
            <a:endParaRPr lang="en-US" sz="1300" dirty="0"/>
          </a:p>
        </p:txBody>
      </p:sp>
      <p:sp>
        <p:nvSpPr>
          <p:cNvPr id="14" name="pq_190"/>
          <p:cNvSpPr/>
          <p:nvPr/>
        </p:nvSpPr>
        <p:spPr>
          <a:xfrm>
            <a:off x="365760" y="3424428"/>
            <a:ext cx="5669280" cy="397764"/>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Are the kittens sleeping? (pic 2)</a:t>
            </a:r>
            <a:endParaRPr lang="en-US" sz="1300" dirty="0"/>
          </a:p>
        </p:txBody>
      </p:sp>
      <p:sp>
        <p:nvSpPr>
          <p:cNvPr id="15" name="R2_pa191"/>
          <p:cNvSpPr/>
          <p:nvPr/>
        </p:nvSpPr>
        <p:spPr>
          <a:xfrm>
            <a:off x="6126480" y="3424428"/>
            <a:ext cx="2743200" cy="397764"/>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No, they aren't.</a:t>
            </a:r>
            <a:endParaRPr lang="en-US" sz="1300" dirty="0"/>
          </a:p>
        </p:txBody>
      </p:sp>
      <p:sp>
        <p:nvSpPr>
          <p:cNvPr id="16" name="pq_192"/>
          <p:cNvSpPr/>
          <p:nvPr/>
        </p:nvSpPr>
        <p:spPr>
          <a:xfrm>
            <a:off x="365760" y="3822192"/>
            <a:ext cx="5669280" cy="397764"/>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Is the cat washing the kitten? (pic 3)</a:t>
            </a:r>
            <a:endParaRPr lang="en-US" sz="1300" dirty="0"/>
          </a:p>
        </p:txBody>
      </p:sp>
      <p:sp>
        <p:nvSpPr>
          <p:cNvPr id="17" name="R3_pa193"/>
          <p:cNvSpPr/>
          <p:nvPr/>
        </p:nvSpPr>
        <p:spPr>
          <a:xfrm>
            <a:off x="6126480" y="3822192"/>
            <a:ext cx="2743200" cy="397764"/>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Yes, she is.</a:t>
            </a:r>
            <a:endParaRPr lang="en-US" sz="1300" dirty="0"/>
          </a:p>
        </p:txBody>
      </p:sp>
      <p:sp>
        <p:nvSpPr>
          <p:cNvPr id="18" name="pq_194"/>
          <p:cNvSpPr/>
          <p:nvPr/>
        </p:nvSpPr>
        <p:spPr>
          <a:xfrm>
            <a:off x="365760" y="4219956"/>
            <a:ext cx="5669280" cy="397764"/>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Are you reading a book?</a:t>
            </a:r>
            <a:endParaRPr lang="en-US" sz="1300" dirty="0"/>
          </a:p>
        </p:txBody>
      </p:sp>
      <p:sp>
        <p:nvSpPr>
          <p:cNvPr id="19" name="R4_pa195"/>
          <p:cNvSpPr/>
          <p:nvPr/>
        </p:nvSpPr>
        <p:spPr>
          <a:xfrm>
            <a:off x="6126480" y="4219956"/>
            <a:ext cx="2743200" cy="397764"/>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Yes, I am. / No, I'm not.</a:t>
            </a:r>
            <a:endParaRPr lang="en-US" sz="1300" dirty="0"/>
          </a:p>
        </p:txBody>
      </p:sp>
      <p:sp>
        <p:nvSpPr>
          <p:cNvPr id="20" name="bk_196"/>
          <p:cNvSpPr/>
          <p:nvPr/>
        </p:nvSpPr>
        <p:spPr>
          <a:xfrm>
            <a:off x="228600" y="4681728"/>
            <a:ext cx="256946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p.9 · 🎧 1.12</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9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WATCH OUT 🇮🇹</a:t>
            </a:r>
            <a:endParaRPr lang="en-US" sz="1600" dirty="0"/>
          </a:p>
        </p:txBody>
      </p:sp>
      <p:sp>
        <p:nvSpPr>
          <p:cNvPr id="4" name="bm_198"/>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8A3D"/>
                </a:solidFill>
                <a:latin typeface="Arial Black" pitchFamily="34" charset="0"/>
                <a:ea typeface="Arial Black" pitchFamily="34" charset="-122"/>
                <a:cs typeface="Arial Black" pitchFamily="34" charset="-120"/>
              </a:rPr>
              <a:t>Fix the robot!</a:t>
            </a:r>
            <a:endParaRPr lang="en-US" sz="2700" dirty="0"/>
          </a:p>
        </p:txBody>
      </p:sp>
      <p:sp>
        <p:nvSpPr>
          <p:cNvPr id="5" name="in_199"/>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The robot makes mistakes. Can you fix them?</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Il robot sbaglia. Riesci a correggerlo?</a:t>
            </a:r>
            <a:endParaRPr lang="en-US" sz="1400" dirty="0"/>
          </a:p>
        </p:txBody>
      </p:sp>
      <p:sp>
        <p:nvSpPr>
          <p:cNvPr id="6" name="mode_200"/>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3 MIN</a:t>
            </a:r>
            <a:endParaRPr lang="en-US" sz="1000" dirty="0"/>
          </a:p>
        </p:txBody>
      </p:sp>
      <p:sp>
        <p:nvSpPr>
          <p:cNvPr id="7" name="gb_201"/>
          <p:cNvSpPr/>
          <p:nvPr/>
        </p:nvSpPr>
        <p:spPr>
          <a:xfrm>
            <a:off x="320040" y="1280160"/>
            <a:ext cx="8503920" cy="841248"/>
          </a:xfrm>
          <a:prstGeom prst="roundRect">
            <a:avLst>
              <a:gd name="adj" fmla="val 13043"/>
            </a:avLst>
          </a:prstGeom>
          <a:solidFill>
            <a:srgbClr val="FFF1E0"/>
          </a:solidFill>
          <a:ln w="38100">
            <a:solidFill>
              <a:srgbClr val="FF8A3D"/>
            </a:solidFill>
            <a:prstDash val="solid"/>
          </a:ln>
        </p:spPr>
      </p:sp>
      <p:sp>
        <p:nvSpPr>
          <p:cNvPr id="8" name="gl_202"/>
          <p:cNvSpPr/>
          <p:nvPr/>
        </p:nvSpPr>
        <p:spPr>
          <a:xfrm>
            <a:off x="548640" y="1417320"/>
            <a:ext cx="7223760" cy="365760"/>
          </a:xfrm>
          <a:prstGeom prst="rect">
            <a:avLst/>
          </a:prstGeom>
          <a:noFill/>
          <a:ln/>
        </p:spPr>
        <p:txBody>
          <a:bodyPr wrap="square" lIns="0" tIns="0" rIns="0" bIns="0" rtlCol="0" anchor="ctr"/>
          <a:lstStyle/>
          <a:p>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Stai leggendo?  →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Are</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you read</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ing</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Not: You reading? ✗</a:t>
            </a:r>
            <a:endParaRPr lang="en-US" sz="1500" dirty="0"/>
          </a:p>
        </p:txBody>
      </p:sp>
      <p:sp>
        <p:nvSpPr>
          <p:cNvPr id="9" name="pq_203"/>
          <p:cNvSpPr/>
          <p:nvPr/>
        </p:nvSpPr>
        <p:spPr>
          <a:xfrm>
            <a:off x="365760" y="22585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You are reading a book?</a:t>
            </a:r>
            <a:endParaRPr lang="en-US" sz="1300" dirty="0"/>
          </a:p>
        </p:txBody>
      </p:sp>
      <p:sp>
        <p:nvSpPr>
          <p:cNvPr id="10" name="R1_pa204"/>
          <p:cNvSpPr/>
          <p:nvPr/>
        </p:nvSpPr>
        <p:spPr>
          <a:xfrm>
            <a:off x="6126480" y="22585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Are you reading a book?</a:t>
            </a:r>
            <a:endParaRPr lang="en-US" sz="1300" dirty="0"/>
          </a:p>
        </p:txBody>
      </p:sp>
      <p:sp>
        <p:nvSpPr>
          <p:cNvPr id="11" name="pq_205"/>
          <p:cNvSpPr/>
          <p:nvPr/>
        </p:nvSpPr>
        <p:spPr>
          <a:xfrm>
            <a:off x="365760" y="27157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Is she play tennis?</a:t>
            </a:r>
            <a:endParaRPr lang="en-US" sz="1300" dirty="0"/>
          </a:p>
        </p:txBody>
      </p:sp>
      <p:sp>
        <p:nvSpPr>
          <p:cNvPr id="12" name="R2_pa206"/>
          <p:cNvSpPr/>
          <p:nvPr/>
        </p:nvSpPr>
        <p:spPr>
          <a:xfrm>
            <a:off x="6126480" y="27157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Is she playing tennis?</a:t>
            </a:r>
            <a:endParaRPr lang="en-US" sz="1300" dirty="0"/>
          </a:p>
        </p:txBody>
      </p:sp>
      <p:sp>
        <p:nvSpPr>
          <p:cNvPr id="13" name="pq_207"/>
          <p:cNvSpPr/>
          <p:nvPr/>
        </p:nvSpPr>
        <p:spPr>
          <a:xfrm>
            <a:off x="365760" y="31729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Yes, she playing.</a:t>
            </a:r>
            <a:endParaRPr lang="en-US" sz="1300" dirty="0"/>
          </a:p>
        </p:txBody>
      </p:sp>
      <p:sp>
        <p:nvSpPr>
          <p:cNvPr id="14" name="R3_pa208"/>
          <p:cNvSpPr/>
          <p:nvPr/>
        </p:nvSpPr>
        <p:spPr>
          <a:xfrm>
            <a:off x="6126480" y="31729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Yes, she is.</a:t>
            </a:r>
            <a:endParaRPr lang="en-US" sz="1300" dirty="0"/>
          </a:p>
        </p:txBody>
      </p:sp>
      <p:sp>
        <p:nvSpPr>
          <p:cNvPr id="15" name="pq_209"/>
          <p:cNvSpPr/>
          <p:nvPr/>
        </p:nvSpPr>
        <p:spPr>
          <a:xfrm>
            <a:off x="365760" y="36301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Say it: readin-GHE? ✗</a:t>
            </a:r>
            <a:endParaRPr lang="en-US" sz="1300" dirty="0"/>
          </a:p>
        </p:txBody>
      </p:sp>
      <p:sp>
        <p:nvSpPr>
          <p:cNvPr id="16" name="R4_pa210"/>
          <p:cNvSpPr/>
          <p:nvPr/>
        </p:nvSpPr>
        <p:spPr>
          <a:xfrm>
            <a:off x="6126480" y="36301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reading – soft 'ng' 👃</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1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LISTEN 1</a:t>
            </a:r>
            <a:endParaRPr lang="en-US" sz="1600" dirty="0"/>
          </a:p>
        </p:txBody>
      </p:sp>
      <p:sp>
        <p:nvSpPr>
          <p:cNvPr id="4" name="bm_212"/>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Listen and stick</a:t>
            </a:r>
            <a:endParaRPr lang="en-US" sz="2700" dirty="0"/>
          </a:p>
        </p:txBody>
      </p:sp>
      <p:sp>
        <p:nvSpPr>
          <p:cNvPr id="5" name="in_213"/>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stick. Then write.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attacca. Poi scrivi.</a:t>
            </a:r>
            <a:endParaRPr lang="en-US" sz="1400" dirty="0"/>
          </a:p>
        </p:txBody>
      </p:sp>
      <p:sp>
        <p:nvSpPr>
          <p:cNvPr id="6" name="mode_214"/>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ALONE · ⏱ 5 MIN</a:t>
            </a:r>
            <a:endParaRPr lang="en-US" sz="1000" dirty="0"/>
          </a:p>
        </p:txBody>
      </p:sp>
      <p:sp>
        <p:nvSpPr>
          <p:cNvPr id="7" name="diff_215"/>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eat · drink · wash · clean</a:t>
            </a:r>
            <a:endParaRPr lang="en-US" sz="950" dirty="0"/>
          </a:p>
        </p:txBody>
      </p:sp>
      <p:sp>
        <p:nvSpPr>
          <p:cNvPr id="8" name="pf_216"/>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pic_217" descr="/home/claude/movers/img/crop/u1-p9-stick.jpg">    </p:cNvPr>
          <p:cNvPicPr>
            <a:picLocks noChangeAspect="1"/>
          </p:cNvPicPr>
          <p:nvPr/>
        </p:nvPicPr>
        <p:blipFill>
          <a:blip r:embed="rId2"/>
          <a:stretch>
            <a:fillRect/>
          </a:stretch>
        </p:blipFill>
        <p:spPr>
          <a:xfrm>
            <a:off x="365760" y="1847464"/>
            <a:ext cx="5120640" cy="2202952"/>
          </a:xfrm>
          <a:prstGeom prst="rect">
            <a:avLst/>
          </a:prstGeom>
        </p:spPr>
      </p:pic>
      <p:sp>
        <p:nvSpPr>
          <p:cNvPr id="10" name="q_218"/>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Grandma ______ some ice cream.</a:t>
            </a:r>
            <a:endParaRPr lang="en-US" sz="1250" dirty="0"/>
          </a:p>
        </p:txBody>
      </p:sp>
      <p:sp>
        <p:nvSpPr>
          <p:cNvPr id="11" name="R1_a219"/>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 eating 🍦</a:t>
            </a:r>
            <a:endParaRPr lang="en-US" sz="1250" dirty="0"/>
          </a:p>
        </p:txBody>
      </p:sp>
      <p:sp>
        <p:nvSpPr>
          <p:cNvPr id="12" name="q_220"/>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Mum ______ lemonade.</a:t>
            </a:r>
            <a:endParaRPr lang="en-US" sz="1250" dirty="0"/>
          </a:p>
        </p:txBody>
      </p:sp>
      <p:sp>
        <p:nvSpPr>
          <p:cNvPr id="13" name="R2_a221"/>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 drinking 🥤</a:t>
            </a:r>
            <a:endParaRPr lang="en-US" sz="1250" dirty="0"/>
          </a:p>
        </p:txBody>
      </p:sp>
      <p:sp>
        <p:nvSpPr>
          <p:cNvPr id="14" name="q_222"/>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Dad ______ his hands.</a:t>
            </a:r>
            <a:endParaRPr lang="en-US" sz="1250" dirty="0"/>
          </a:p>
        </p:txBody>
      </p:sp>
      <p:sp>
        <p:nvSpPr>
          <p:cNvPr id="15" name="R3_a223"/>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 washing 🧼</a:t>
            </a:r>
            <a:endParaRPr lang="en-US" sz="1250" dirty="0"/>
          </a:p>
        </p:txBody>
      </p:sp>
      <p:sp>
        <p:nvSpPr>
          <p:cNvPr id="16" name="q_224"/>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Grandpa ______ the kitchen.</a:t>
            </a:r>
            <a:endParaRPr lang="en-US" sz="1250" dirty="0"/>
          </a:p>
        </p:txBody>
      </p:sp>
      <p:sp>
        <p:nvSpPr>
          <p:cNvPr id="17" name="R4_a225"/>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 cleaning 🧽</a:t>
            </a:r>
            <a:endParaRPr lang="en-US" sz="1250" dirty="0"/>
          </a:p>
        </p:txBody>
      </p:sp>
      <p:sp>
        <p:nvSpPr>
          <p:cNvPr id="18" name="bk_226"/>
          <p:cNvSpPr/>
          <p:nvPr/>
        </p:nvSpPr>
        <p:spPr>
          <a:xfrm>
            <a:off x="228600" y="4681728"/>
            <a:ext cx="342442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p.9 · 🎧 1.13 · stickers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2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MISSION 1</a:t>
            </a:r>
            <a:endParaRPr lang="en-US" sz="1600" dirty="0"/>
          </a:p>
        </p:txBody>
      </p:sp>
      <p:sp>
        <p:nvSpPr>
          <p:cNvPr id="4" name="bm_228"/>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Make your chart!</a:t>
            </a:r>
            <a:endParaRPr lang="en-US" sz="2700" dirty="0"/>
          </a:p>
        </p:txBody>
      </p:sp>
      <p:sp>
        <p:nvSpPr>
          <p:cNvPr id="5" name="in_229"/>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Mission Stage 1: title, picture of you, 12 cards.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Missione fase 1: titolo, il tuo disegno, 12 carte.</a:t>
            </a:r>
            <a:endParaRPr lang="en-US" sz="1400" dirty="0"/>
          </a:p>
        </p:txBody>
      </p:sp>
      <p:sp>
        <p:nvSpPr>
          <p:cNvPr id="6" name="mode_230"/>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ALONE · ⏱ 7 MIN</a:t>
            </a:r>
            <a:endParaRPr lang="en-US" sz="1000" dirty="0"/>
          </a:p>
        </p:txBody>
      </p:sp>
      <p:sp>
        <p:nvSpPr>
          <p:cNvPr id="7" name="pf_231"/>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32" descr="/home/claude/movers/img/crop/u1-p9-mission.jpg">    </p:cNvPr>
          <p:cNvPicPr>
            <a:picLocks noChangeAspect="1"/>
          </p:cNvPicPr>
          <p:nvPr/>
        </p:nvPicPr>
        <p:blipFill>
          <a:blip r:embed="rId2"/>
          <a:stretch>
            <a:fillRect/>
          </a:stretch>
        </p:blipFill>
        <p:spPr>
          <a:xfrm>
            <a:off x="1239317" y="1325880"/>
            <a:ext cx="6665366" cy="3246120"/>
          </a:xfrm>
          <a:prstGeom prst="rect">
            <a:avLst/>
          </a:prstGeom>
        </p:spPr>
      </p:pic>
      <p:sp>
        <p:nvSpPr>
          <p:cNvPr id="9" name="bk_233"/>
          <p:cNvSpPr/>
          <p:nvPr/>
        </p:nvSpPr>
        <p:spPr>
          <a:xfrm>
            <a:off x="228600" y="4681728"/>
            <a:ext cx="48234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p.9 · Activity Book p.6 (My mission diary)</a:t>
            </a:r>
            <a:endParaRPr lang="en-US" sz="1100" dirty="0"/>
          </a:p>
        </p:txBody>
      </p:sp>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3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3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Freeze frame!</a:t>
            </a:r>
            <a:endParaRPr lang="en-US" sz="2700" dirty="0"/>
          </a:p>
        </p:txBody>
      </p:sp>
      <p:sp>
        <p:nvSpPr>
          <p:cNvPr id="5" name="in_23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Make a story picture with your bodies. FREEZE!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Fate una scena della storia col corpo. FERMI!</a:t>
            </a:r>
            <a:endParaRPr lang="en-US" sz="1400" dirty="0"/>
          </a:p>
        </p:txBody>
      </p:sp>
      <p:sp>
        <p:nvSpPr>
          <p:cNvPr id="6" name="mode_23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GROUPS OF 4 · ⏱ 5 MIN</a:t>
            </a:r>
            <a:endParaRPr lang="en-US" sz="1000" dirty="0"/>
          </a:p>
        </p:txBody>
      </p:sp>
      <p:sp>
        <p:nvSpPr>
          <p:cNvPr id="7" name="diff_238"/>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Is it picture …? Are they …ing?</a:t>
            </a:r>
            <a:endParaRPr lang="en-US" sz="950" dirty="0"/>
          </a:p>
        </p:txBody>
      </p:sp>
      <p:sp>
        <p:nvSpPr>
          <p:cNvPr id="8" name="st_239"/>
          <p:cNvSpPr/>
          <p:nvPr/>
        </p:nvSpPr>
        <p:spPr>
          <a:xfrm>
            <a:off x="228600" y="13258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9" name="sn_240"/>
          <p:cNvSpPr/>
          <p:nvPr/>
        </p:nvSpPr>
        <p:spPr>
          <a:xfrm>
            <a:off x="118872" y="12161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241"/>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DO</a:t>
            </a:r>
            <a:endParaRPr lang="en-US" sz="1300" dirty="0"/>
          </a:p>
        </p:txBody>
      </p:sp>
      <p:sp>
        <p:nvSpPr>
          <p:cNvPr id="11" name="se_242"/>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Choose a picture. Secret!</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Scegliete un'immagine. Segreto!</a:t>
            </a:r>
            <a:endParaRPr lang="en-US" sz="1050" dirty="0"/>
          </a:p>
        </p:txBody>
      </p:sp>
      <p:sp>
        <p:nvSpPr>
          <p:cNvPr id="12" name="st_243"/>
          <p:cNvSpPr/>
          <p:nvPr/>
        </p:nvSpPr>
        <p:spPr>
          <a:xfrm>
            <a:off x="228600" y="23926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3" name="sn_244"/>
          <p:cNvSpPr/>
          <p:nvPr/>
        </p:nvSpPr>
        <p:spPr>
          <a:xfrm>
            <a:off x="118872" y="22829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245"/>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5" name="se_246"/>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Make it. FREEZE!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Fatela. FERMI!</a:t>
            </a:r>
            <a:endParaRPr lang="en-US" sz="1050" dirty="0"/>
          </a:p>
        </p:txBody>
      </p:sp>
      <p:sp>
        <p:nvSpPr>
          <p:cNvPr id="16" name="st_247"/>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7" name="sn_248"/>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249"/>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9" name="se_250"/>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Class: Are they washing? Picture 3?</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Classe: Stanno lavando? Immagine 3?</a:t>
            </a:r>
            <a:endParaRPr lang="en-US" sz="105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5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WELL DONE!</a:t>
            </a:r>
            <a:endParaRPr lang="en-US" sz="1600" dirty="0"/>
          </a:p>
        </p:txBody>
      </p:sp>
      <p:sp>
        <p:nvSpPr>
          <p:cNvPr id="4" name="bm_252"/>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Bye bye! 👋</a:t>
            </a:r>
            <a:endParaRPr lang="en-US" sz="3200" dirty="0"/>
          </a:p>
        </p:txBody>
      </p:sp>
      <p:sp>
        <p:nvSpPr>
          <p:cNvPr id="5" name="in_253"/>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I can… · Oggi so…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Show me with your thumbs! 👍 👌 👎</a:t>
            </a:r>
            <a:endParaRPr lang="en-US" sz="1400" dirty="0"/>
          </a:p>
        </p:txBody>
      </p:sp>
      <p:sp>
        <p:nvSpPr>
          <p:cNvPr id="6" name="can_254"/>
          <p:cNvSpPr/>
          <p:nvPr/>
        </p:nvSpPr>
        <p:spPr>
          <a:xfrm>
            <a:off x="320040" y="132588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understand the Friendly Farm story.</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Capisco la storia della Friendly Farm.</a:t>
            </a:r>
            <a:endParaRPr lang="en-US" sz="1300" dirty="0"/>
          </a:p>
        </p:txBody>
      </p:sp>
      <p:sp>
        <p:nvSpPr>
          <p:cNvPr id="7" name="can_255"/>
          <p:cNvSpPr/>
          <p:nvPr/>
        </p:nvSpPr>
        <p:spPr>
          <a:xfrm>
            <a:off x="320040" y="205740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ask: Are you …ing? Is she …ing?</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chiedere: Stai …? Lei sta …?</a:t>
            </a:r>
            <a:endParaRPr lang="en-US" sz="1300" dirty="0"/>
          </a:p>
        </p:txBody>
      </p:sp>
      <p:sp>
        <p:nvSpPr>
          <p:cNvPr id="8" name="can_256"/>
          <p:cNvSpPr/>
          <p:nvPr/>
        </p:nvSpPr>
        <p:spPr>
          <a:xfrm>
            <a:off x="320040" y="278892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answer: Yes, I am. / No, she isn't.</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rispondere: Sì / No.</a:t>
            </a:r>
            <a:endParaRPr lang="en-US" sz="1300" dirty="0"/>
          </a:p>
        </p:txBody>
      </p:sp>
      <p:sp>
        <p:nvSpPr>
          <p:cNvPr id="9" name="hw_257"/>
          <p:cNvSpPr/>
          <p:nvPr/>
        </p:nvSpPr>
        <p:spPr>
          <a:xfrm>
            <a:off x="5303520" y="1325880"/>
            <a:ext cx="3566160" cy="2377440"/>
          </a:xfrm>
          <a:prstGeom prst="roundRect">
            <a:avLst>
              <a:gd name="adj" fmla="val 4615"/>
            </a:avLst>
          </a:prstGeom>
          <a:solidFill>
            <a:srgbClr val="FFFFFF"/>
          </a:solidFill>
          <a:ln w="38100">
            <a:solidFill>
              <a:srgbClr val="FF8A3D"/>
            </a:solidFill>
          </a:ln>
        </p:spPr>
        <p:txBody>
          <a:bodyPr wrap="square" lIns="127000" tIns="127000" rIns="127000" bIns="127000" rtlCol="0" anchor="t"/>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 HOMEWORK · COMPITI</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Homework sheet: What are they doing?</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p.9 ex 1 and 2</a:t>
            </a:r>
            <a:endParaRPr lang="en-US" sz="1250" dirty="0"/>
          </a:p>
        </p:txBody>
      </p:sp>
      <p:sp>
        <p:nvSpPr>
          <p:cNvPr id="10" name="nx_258"/>
          <p:cNvSpPr/>
          <p:nvPr/>
        </p:nvSpPr>
        <p:spPr>
          <a:xfrm>
            <a:off x="5303520" y="3840480"/>
            <a:ext cx="3566160" cy="502920"/>
          </a:xfrm>
          <a:prstGeom prst="rect">
            <a:avLst/>
          </a:prstGeom>
          <a:noFill/>
          <a:ln/>
        </p:spPr>
        <p:txBody>
          <a:bodyPr wrap="square" lIns="0" tIns="0" rIns="0" bIns="0" rtlCol="0" anchor="ctr"/>
          <a:lstStyle/>
          <a:p>
            <a:pPr indent="0" marL="0">
              <a:buNone/>
            </a:pPr>
            <a:r>
              <a:rPr lang="en-US" sz="1200" dirty="0">
                <a:solidFill>
                  <a:srgbClr val="1E2A5A"/>
                </a:solidFill>
                <a:latin typeface="Arial Rounded MT Bold" pitchFamily="34" charset="0"/>
                <a:ea typeface="Arial Rounded MT Bold" pitchFamily="34" charset="-122"/>
                <a:cs typeface="Arial Rounded MT Bold" pitchFamily="34" charset="-120"/>
              </a:rPr>
              <a:t>➡ Next: A day on the farm – daily routines! ⏰</a:t>
            </a:r>
            <a:endParaRPr lang="en-US" sz="12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5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EXTRA</a:t>
            </a:r>
            <a:endParaRPr lang="en-US" sz="1600" dirty="0"/>
          </a:p>
        </p:txBody>
      </p:sp>
      <p:sp>
        <p:nvSpPr>
          <p:cNvPr id="4" name="bm_260"/>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6CCB3B"/>
                </a:solidFill>
                <a:latin typeface="Arial Black" pitchFamily="34" charset="0"/>
                <a:ea typeface="Arial Black" pitchFamily="34" charset="-122"/>
                <a:cs typeface="Arial Black" pitchFamily="34" charset="-120"/>
              </a:rPr>
              <a:t>EXTRA: Mirror, mirror!</a:t>
            </a:r>
            <a:endParaRPr lang="en-US" sz="2400" dirty="0"/>
          </a:p>
        </p:txBody>
      </p:sp>
      <p:sp>
        <p:nvSpPr>
          <p:cNvPr id="5" name="in_261"/>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Copy your partner. Say what they're doing!</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Copia il compagno. Di' cosa sta facendo!</a:t>
            </a:r>
            <a:endParaRPr lang="en-US" sz="1400" dirty="0"/>
          </a:p>
        </p:txBody>
      </p:sp>
      <p:sp>
        <p:nvSpPr>
          <p:cNvPr id="6" name="mode_26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4 MIN</a:t>
            </a:r>
            <a:endParaRPr lang="en-US" sz="1000" dirty="0"/>
          </a:p>
        </p:txBody>
      </p:sp>
      <p:sp>
        <p:nvSpPr>
          <p:cNvPr id="7" name="cd_263"/>
          <p:cNvSpPr/>
          <p:nvPr/>
        </p:nvSpPr>
        <p:spPr>
          <a:xfrm>
            <a:off x="27432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264" descr="/home/claude/movers/img/e-u1-kitten.png">    </p:cNvPr>
          <p:cNvPicPr>
            <a:picLocks noChangeAspect="1"/>
          </p:cNvPicPr>
          <p:nvPr/>
        </p:nvPicPr>
        <p:blipFill>
          <a:blip r:embed="rId2"/>
          <a:stretch>
            <a:fillRect/>
          </a:stretch>
        </p:blipFill>
        <p:spPr>
          <a:xfrm>
            <a:off x="347472" y="1399032"/>
            <a:ext cx="1133856" cy="1133856"/>
          </a:xfrm>
          <a:prstGeom prst="rect">
            <a:avLst/>
          </a:prstGeom>
        </p:spPr>
      </p:pic>
      <p:sp>
        <p:nvSpPr>
          <p:cNvPr id="9" name="R1_a265"/>
          <p:cNvSpPr/>
          <p:nvPr/>
        </p:nvSpPr>
        <p:spPr>
          <a:xfrm>
            <a:off x="162763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Wash your face like a kitten</a:t>
            </a:r>
            <a:endParaRPr lang="en-US" sz="1250" dirty="0"/>
          </a:p>
        </p:txBody>
      </p:sp>
      <p:sp>
        <p:nvSpPr>
          <p:cNvPr id="10" name="cd_266"/>
          <p:cNvSpPr/>
          <p:nvPr/>
        </p:nvSpPr>
        <p:spPr>
          <a:xfrm>
            <a:off x="313944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267" descr="/home/claude/movers/img/e-u1-puppy.png">    </p:cNvPr>
          <p:cNvPicPr>
            <a:picLocks noChangeAspect="1"/>
          </p:cNvPicPr>
          <p:nvPr/>
        </p:nvPicPr>
        <p:blipFill>
          <a:blip r:embed="rId3"/>
          <a:stretch>
            <a:fillRect/>
          </a:stretch>
        </p:blipFill>
        <p:spPr>
          <a:xfrm>
            <a:off x="3212592" y="1399032"/>
            <a:ext cx="1133856" cy="1133856"/>
          </a:xfrm>
          <a:prstGeom prst="rect">
            <a:avLst/>
          </a:prstGeom>
        </p:spPr>
      </p:pic>
      <p:sp>
        <p:nvSpPr>
          <p:cNvPr id="12" name="R2_a268"/>
          <p:cNvSpPr/>
          <p:nvPr/>
        </p:nvSpPr>
        <p:spPr>
          <a:xfrm>
            <a:off x="449275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Play with a ball like a puppy</a:t>
            </a:r>
            <a:endParaRPr lang="en-US" sz="1250" dirty="0"/>
          </a:p>
        </p:txBody>
      </p:sp>
      <p:sp>
        <p:nvSpPr>
          <p:cNvPr id="13" name="cd_269"/>
          <p:cNvSpPr/>
          <p:nvPr/>
        </p:nvSpPr>
        <p:spPr>
          <a:xfrm>
            <a:off x="600456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270" descr="/home/claude/movers/img/e-u1-awake.png">    </p:cNvPr>
          <p:cNvPicPr>
            <a:picLocks noChangeAspect="1"/>
          </p:cNvPicPr>
          <p:nvPr/>
        </p:nvPicPr>
        <p:blipFill>
          <a:blip r:embed="rId4"/>
          <a:stretch>
            <a:fillRect/>
          </a:stretch>
        </p:blipFill>
        <p:spPr>
          <a:xfrm>
            <a:off x="6077712" y="1399032"/>
            <a:ext cx="1133856" cy="1133856"/>
          </a:xfrm>
          <a:prstGeom prst="rect">
            <a:avLst/>
          </a:prstGeom>
        </p:spPr>
      </p:pic>
      <p:sp>
        <p:nvSpPr>
          <p:cNvPr id="15" name="R3_a271"/>
          <p:cNvSpPr/>
          <p:nvPr/>
        </p:nvSpPr>
        <p:spPr>
          <a:xfrm>
            <a:off x="735787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Sleep… then wake up!</a:t>
            </a:r>
            <a:endParaRPr lang="en-US" sz="1250" dirty="0"/>
          </a:p>
        </p:txBody>
      </p:sp>
      <p:sp>
        <p:nvSpPr>
          <p:cNvPr id="16" name="cd_272"/>
          <p:cNvSpPr/>
          <p:nvPr/>
        </p:nvSpPr>
        <p:spPr>
          <a:xfrm>
            <a:off x="27432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273" descr="/home/claude/movers/img/crop/u1-ab8-sockpuppy.jpg">    </p:cNvPr>
          <p:cNvPicPr>
            <a:picLocks noChangeAspect="1"/>
          </p:cNvPicPr>
          <p:nvPr/>
        </p:nvPicPr>
        <p:blipFill>
          <a:blip r:embed="rId5"/>
          <a:stretch>
            <a:fillRect/>
          </a:stretch>
        </p:blipFill>
        <p:spPr>
          <a:xfrm>
            <a:off x="347472" y="2999232"/>
            <a:ext cx="1133856" cy="1133856"/>
          </a:xfrm>
          <a:prstGeom prst="rect">
            <a:avLst/>
          </a:prstGeom>
        </p:spPr>
      </p:pic>
      <p:sp>
        <p:nvSpPr>
          <p:cNvPr id="18" name="R4_a274"/>
          <p:cNvSpPr/>
          <p:nvPr/>
        </p:nvSpPr>
        <p:spPr>
          <a:xfrm>
            <a:off x="162763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Eat a sock! Yuck!</a:t>
            </a:r>
            <a:endParaRPr lang="en-US" sz="1250" dirty="0"/>
          </a:p>
        </p:txBody>
      </p:sp>
      <p:sp>
        <p:nvSpPr>
          <p:cNvPr id="19" name="cd_275"/>
          <p:cNvSpPr/>
          <p:nvPr/>
        </p:nvSpPr>
        <p:spPr>
          <a:xfrm>
            <a:off x="313944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276" descr="/home/claude/movers/img/e-u1-wash.png">    </p:cNvPr>
          <p:cNvPicPr>
            <a:picLocks noChangeAspect="1"/>
          </p:cNvPicPr>
          <p:nvPr/>
        </p:nvPicPr>
        <p:blipFill>
          <a:blip r:embed="rId6"/>
          <a:stretch>
            <a:fillRect/>
          </a:stretch>
        </p:blipFill>
        <p:spPr>
          <a:xfrm>
            <a:off x="3212592" y="2999232"/>
            <a:ext cx="1133856" cy="1133856"/>
          </a:xfrm>
          <a:prstGeom prst="rect">
            <a:avLst/>
          </a:prstGeom>
        </p:spPr>
      </p:pic>
      <p:sp>
        <p:nvSpPr>
          <p:cNvPr id="21" name="R5_a277"/>
          <p:cNvSpPr/>
          <p:nvPr/>
        </p:nvSpPr>
        <p:spPr>
          <a:xfrm>
            <a:off x="449275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Wash your hands</a:t>
            </a:r>
            <a:endParaRPr lang="en-US" sz="1250" dirty="0"/>
          </a:p>
        </p:txBody>
      </p:sp>
      <p:sp>
        <p:nvSpPr>
          <p:cNvPr id="22" name="cd_278"/>
          <p:cNvSpPr/>
          <p:nvPr/>
        </p:nvSpPr>
        <p:spPr>
          <a:xfrm>
            <a:off x="600456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79" descr="/home/claude/movers/img/e-u1-mirror.png">    </p:cNvPr>
          <p:cNvPicPr>
            <a:picLocks noChangeAspect="1"/>
          </p:cNvPicPr>
          <p:nvPr/>
        </p:nvPicPr>
        <p:blipFill>
          <a:blip r:embed="rId7"/>
          <a:stretch>
            <a:fillRect/>
          </a:stretch>
        </p:blipFill>
        <p:spPr>
          <a:xfrm>
            <a:off x="6077712" y="2999232"/>
            <a:ext cx="1133856" cy="1133856"/>
          </a:xfrm>
          <a:prstGeom prst="rect">
            <a:avLst/>
          </a:prstGeom>
        </p:spPr>
      </p:pic>
      <p:sp>
        <p:nvSpPr>
          <p:cNvPr id="24" name="R6_a280"/>
          <p:cNvSpPr/>
          <p:nvPr/>
        </p:nvSpPr>
        <p:spPr>
          <a:xfrm>
            <a:off x="735787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Look at your face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8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EXTRA</a:t>
            </a:r>
            <a:endParaRPr lang="en-US" sz="1600" dirty="0"/>
          </a:p>
        </p:txBody>
      </p:sp>
      <p:sp>
        <p:nvSpPr>
          <p:cNvPr id="4" name="bm_282"/>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8A3D"/>
                </a:solidFill>
                <a:latin typeface="Arial Black" pitchFamily="34" charset="0"/>
                <a:ea typeface="Arial Black" pitchFamily="34" charset="-122"/>
                <a:cs typeface="Arial Black" pitchFamily="34" charset="-120"/>
              </a:rPr>
              <a:t>EXTRA: O and X game</a:t>
            </a:r>
            <a:endParaRPr lang="en-US" sz="2400" dirty="0"/>
          </a:p>
        </p:txBody>
      </p:sp>
      <p:sp>
        <p:nvSpPr>
          <p:cNvPr id="5" name="in_283"/>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350" b="1" dirty="0">
                <a:solidFill>
                  <a:srgbClr val="1E2A5A"/>
                </a:solidFill>
                <a:latin typeface="Arial Rounded MT Bold" pitchFamily="34" charset="0"/>
                <a:ea typeface="Arial Rounded MT Bold" pitchFamily="34" charset="-122"/>
                <a:cs typeface="Arial Rounded MT Bold" pitchFamily="34" charset="-120"/>
              </a:rPr>
              <a:t>Two teams. Make a question – win the square!</a:t>
            </a:r>
            <a:endParaRPr lang="en-US" sz="1350" dirty="0"/>
          </a:p>
          <a:p>
            <a:pPr indent="0" marL="0">
              <a:buNone/>
            </a:pPr>
            <a:r>
              <a:rPr lang="en-US" sz="1150" i="1" dirty="0">
                <a:solidFill>
                  <a:srgbClr val="2F9BFF"/>
                </a:solidFill>
                <a:latin typeface="Arial Rounded MT Bold" pitchFamily="34" charset="0"/>
                <a:ea typeface="Arial Rounded MT Bold" pitchFamily="34" charset="-122"/>
                <a:cs typeface="Arial Rounded MT Bold" pitchFamily="34" charset="-120"/>
              </a:rPr>
              <a:t>Due squadre. Fai una domanda – vinci la casella!</a:t>
            </a:r>
            <a:endParaRPr lang="en-US" sz="1350" dirty="0"/>
          </a:p>
        </p:txBody>
      </p:sp>
      <p:sp>
        <p:nvSpPr>
          <p:cNvPr id="6" name="mode_284"/>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6 MIN</a:t>
            </a:r>
            <a:endParaRPr lang="en-US" sz="1000" dirty="0"/>
          </a:p>
        </p:txBody>
      </p:sp>
      <p:sp>
        <p:nvSpPr>
          <p:cNvPr id="7" name="diff_285"/>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Is she …ing?</a:t>
            </a:r>
            <a:endParaRPr lang="en-US" sz="950" dirty="0"/>
          </a:p>
        </p:txBody>
      </p:sp>
      <p:sp>
        <p:nvSpPr>
          <p:cNvPr id="8" name="st_286"/>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9" name="sn_287"/>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288"/>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1" name="se_289"/>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3×3 grid on the board.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Griglia 3×3.</a:t>
            </a:r>
            <a:endParaRPr lang="en-US" sz="1050" dirty="0"/>
          </a:p>
        </p:txBody>
      </p:sp>
      <p:sp>
        <p:nvSpPr>
          <p:cNvPr id="12" name="st_290"/>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3" name="sn_291"/>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292"/>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5" name="se_293"/>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Choose a square. Make a question!</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Scegli una casella. Fai una domanda!</a:t>
            </a:r>
            <a:endParaRPr lang="en-US" sz="1050" dirty="0"/>
          </a:p>
        </p:txBody>
      </p:sp>
      <p:sp>
        <p:nvSpPr>
          <p:cNvPr id="16" name="st_294"/>
          <p:cNvSpPr/>
          <p:nvPr/>
        </p:nvSpPr>
        <p:spPr>
          <a:xfrm>
            <a:off x="228600" y="34594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7" name="sn_295"/>
          <p:cNvSpPr/>
          <p:nvPr/>
        </p:nvSpPr>
        <p:spPr>
          <a:xfrm>
            <a:off x="118872" y="33497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296"/>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PLAY</a:t>
            </a:r>
            <a:endParaRPr lang="en-US" sz="1300" dirty="0"/>
          </a:p>
        </p:txBody>
      </p:sp>
      <p:sp>
        <p:nvSpPr>
          <p:cNvPr id="19" name="se_297"/>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Three in a line wins!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Tre in fila vince!</a:t>
            </a:r>
            <a:endParaRPr lang="en-US" sz="1050" dirty="0"/>
          </a:p>
        </p:txBody>
      </p:sp>
      <p:sp>
        <p:nvSpPr>
          <p:cNvPr id="20" name="gl_298"/>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1 you / read  2 she / swim  3 they / play football</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4 he / eat  5 the kitten / sleep  6 you / drink</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7 the puppy / play  8 they / wash  9 Grandpa / clean</a:t>
            </a:r>
            <a:endParaRPr lang="en-US" sz="14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Movers · UNIT 1 · LESSON 2 · Kittens and puppies</dc:title>
  <dc:subject>PptxGenJS Presentation</dc:subject>
  <dc:creator>PptxGenJS</dc:creator>
  <cp:lastModifiedBy>PptxGenJS</cp:lastModifiedBy>
  <cp:revision>1</cp:revision>
  <dcterms:created xsi:type="dcterms:W3CDTF">2026-10-06T10:51:14Z</dcterms:created>
  <dcterms:modified xsi:type="dcterms:W3CDTF">2026-10-06T10:51:14Z</dcterms:modified>
</cp:coreProperties>
</file>