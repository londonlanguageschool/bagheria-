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4B PART 2 (60 min) · SB pp.42–43. Aims: -ed / -ing adjectives (audio 4.19); read a forum with tips for practising English outside class; reflexive pronouns (audio 4.20); video: Alex Rawlings, who speaks 11 languages. Timing: cover 2 · revision 5 · -ed / -ing 8 · find someone who 6 · forum 8 · reflexives 5 · debate 4 · greetings 3 · video Part 2 8 · Part 3 as a reading 4 · exit 3 = 56 min. VIDEO: only Part 2 of the interview is in our files — it is embedded on its slide (3'49″). Part 1 (greetings) and Part 3 (advice) are not: Part 1 is done as a guessing game, Part 3 as a short reading adapted from the video script (play them from the class video / Teacher's Resource Centre if you have it). Click 1: the question; click 2: our motto!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REVISION of 4B part 1 (5 min). VARIATION: spot the error with a double trap — some mistakes are grammar (can / be able to), some are facts from Matt's story (audio 4.18), and sentence 6 is correct (pairs who 'correct' it lose a point). Pairs, 3 minutes; click 1 for all answers. Facts from the audio script: he got a trumpet five years ago and gave up after seven minutes; at 5 hours he can play a whole octave from C to C; at 9 hours he still can't play high notes; Matilda Lloyd is one of Britain's best trumpet players (BBC Young Musician winner 2014). Follow-up (1 min): 'Something you've never been able to do, but would love to be able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(8 min). 5a (whole class, 1 min): complete with annoyed or annoying — 1 Matt thought the online trumpet teacher was annoying. 2 Matt was annoyed because he could only play simple tunes. Go through the -ed / -ing box: -ed = how a PERSON feels (I'm bored); -ing = the thing / person that CAUSES the feeling (The film is boring). Italian learners often say ✗ I'm boring when they mean I'm bored — make them laugh about it! VARIATION: forbidden easy answer — after the lesson, nobody may say 'I'm boring'. 5b (2 min): students read the information box, then complete the adjectives with -ed or -ing (book questions on the slide). 5c: play 4.19 to check; click 1 for all answers (audio script): 1 depressed · 2 exciting · 3 amazing · 4 disappointed · 5 tiring · 6 embarrassing · 7 frightened · 8 tired · 9 boring · 10 frustrated. Play again and get them to underline the stress (the TG's underlining is not in our text copy — standard stress: deˈpressed, exˈciting, aˈmazing, disapˈpointed, ˈtiring, emˈbarrassing, ˈfrightened, ˈtired, ˈboring, frusˈtrated). Remind them amazing / amazed are strong adjectives: ✗ very amazing (TG). Not all feelings have both forms: stressed – stressful, scared – scary (TG vocabulary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(6 min). SB 5d: students ask and answer the 10 questions in pairs. VARIATION: change the energy / interaction — a mingle. Students stand up, turn each item into a question (Are you frightened of heights? Have you ever been disappointed by…?) and find a different name for each. When someone says yes, they MUST ask one follow-up question (When? What was it? Why?). Feedback: the most embarrassing / amazing story (only volunteers). Monitor word stress and -ed / -ing.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(8 min). 6a (2 min): book questions — How long have you been learning English? Has anyone ever given you a useful tip which has helped you learn? Pairs brainstorm 3 tips for practising English outside class; write the best on the board. VARIATION: prediction + curiosity gap — are any of the class's tips in the forum? 6b (3 min): students read the forum on p.42 (Nelson from Medellín asks; six people reply). Do they already do any of the tips? 6c (3 min): read the tips again and match them to something the person has learned to say in English (the speech bubbles on p.43 = the left column); click 1 for answers (TG): 1 Sara (Brazil) – change the language on your phone / laptop / tablet · 2 Marc (Switzerland) – do things you already like, in English (he reads about jazz) · 3 Agnes (Hungary) – an English-speaking boyfriend / girlfriend · 4 Vasily (Russia) – a vocabulary app · 5 Sandra (Italy!) – learn to sing songs in English · 6 Marta (Mexico) – practise saying things in your head. (Book spelling: Ágnes, Hungary.) Quick vote: the most useful tip? The least realistic? (Agnes's usually gets a laugh).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(5 min). 6d: students say how they translate the two sentences with reflexive pronouns from the tips: 1 I can test myself whenever I get a quiet moment. 2 …talk about yourself or your family… Go through the Reflexive pronouns box (book): we use reflexive pronouns when the object of a verb is the same as the subject; we can also use them to emphasize the subject of an action, e.g. I painted the kitchen myself. They are made with -self / -selves + the possessive adjective (myself, yourself…), except himself and themselves (him / them + self / selves). Teach by + reflexive = alone (I like travelling by myself) (TG). 6e: which subject pronouns do these words go with? themselves · herself · ourselves · yourselves · himself · itself — answers (TG): they, she, we, you, he, it. 6f: play 4.20 — students hear a sentence and a new subject, and say the new sentence: You've cut yourself · He's teaching himself Spanish · They introduced themselves · She taught herself to play the guitar · I often talk to myself · We really enjoyed ourselves last night. The 'Watch out' is for Italian learners (mi rilasso, mi alzo are NOT reflexive 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(4 min). SB 6g: pairs discuss the three book bullet points: Which of the tips in b do you think are the best for learning English? Are there any you don't think would work for you? · Are there any tips that you could easily put into practice? · What other things do you do to improve your English outside class (e.g. visit chat websites, listen to audiobooks)? The slide statements are our debate version. VARIATION: mild controversy / mini debate — statement 2 always starts a fight! Pairs choose AGREE or NO WAY and give a reason + an example from their own experience; recycle the opinion phrases from Practical English 2 (footer). Feedback: elicit other things students already do to improve their English outside class (TG).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 PART 1 (3 min). 7a (whole class, 30 seconds): Do you know anybody who speaks two or more languages well? Which languages do they speak? How did they learn them? 7b: students match the 11 greetings in the speech bubbles in the book to the languages (1 Afrikaans is the example). VARIATION: prediction + curiosity gap — which is the most difficult to guess? (5 Dutch vs 1 Afrikaans!). The Part 1 video is not in our files: students guess, then click 1 for answers (if you have the class video / Teacher's Resource Centre, play Part 1 — a short introduction, then Alex says the greetings). Answers (TG / video script): 2 French · 3 Hebrew · 4 Italian · 5 Dutch · 6 Greek · 7 Spanish · 8 Russian · 9 German · 10 English · 11 Catalan. Intro facts (video script): in 2012 Alex Rawlings became 'Britain's most multilingual student' — he won a national competition testing his fluency in 11 languages; he was studying German and Russian at Oxford University.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 PART 2 (8 min). The video is embedded (3'49″). 7c: Why does Alex mention…? (book items: 1 a completely new adventure · 2 Greek and German · 3 Chinese and Slovene · 4 British and Irish languages, a recent trip to Wales · 5 Russian · 6 YouTube; vocabulary and grammar). Play Part 2 once just to follow; then again, pausing after each answer so they can write. Click 1 for answers (TG / video script): 1 every new language is a completely new adventure (a new world; you meet different people) · 2 Greek and German are the two languages he enjoys speaking most (his grandmother was from Greece) · 3 Chinese and Slovene (a colleague from China is teaching him; his polyglot conference is in Slovenia this year) · 4 he feels guilty that he's never learned Welsh, Irish or Scottish Gaelic; in Wales he loved that everything was in two languages · 5 Russian was the most difficult because of the new alphabet · 6 YouTube helped him watch videos in other languages and immerse himself in other cultures; now there's a lot of technology to help with vocabulary and grammar. If the embedded video doesn't play, use the class video / Teacher's Resource Centre. EXTRA SUPPORT: watch again with subtitles.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AS A READING (4 min). The Part 3 video is not in our files, so students read Alex's words, adapted and shortened from the video script (if you have the class video / Teacher's Resource Centre, play Part 3 instead and use the same questions). 7d: the four book questions (3 shortened: Why do the British and Americans find it difficult to learn foreign languages?). 2 min reading, pairs compare, click 1 for answers (TG): 1 they don't have enough time, they're not doing it for the right reasons, or they expect it to be easier than it actually is · 2 the grammar is very simple (almost no irregular verbs, only three real tenses) and a lot of the vocabulary is similar to English ('My pen is in my hand…') · 3 they don't have much confidence and they never get a chance to practise other languages · 4 You never finish learning a language. Try to spend 10–15 minutes a day on the language you are learning. Finally (TG): could anything Alex said help you with your English? VARIATION: personalisation — each student promises ONE 10-minute daily habit (it's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(3 min). Students choose a face for each can-do. Homework: Workbook 4B 1c (reflexive pronouns), 3a, 3b (-ed / -ing adjectives) and 3c (students' own answers) + try one tip from the forum for a week and report back + the 4B-2 homework sheet (easier version available). In the Student's Book, Revise and Check 3&amp;4 (pp.44–45)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GAME (6 min). VARIATION: constraint challenge + student-generated content. Adjectives from 5b and the box: annoyed / annoying, bored / boring, depressed / depressing, disappointed / disappointing, embarrassed / embarrassing, excited / exciting, frightened / frightening, frustrated / frustrating, tired / tiring, amazed / amazing, interested / interesting. Keep stories light and fictional.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(6 min). This is tip 6 from the forum (Marta, Mexico) turned into a micro-challenge. VARIATION: constraint challenge (time limit, no Italian). Second round with a new partner: they should be more fluent — ask 'Was it easier the second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jpg"/><Relationship Id="rId4" Type="http://schemas.openxmlformats.org/officeDocument/2006/relationships/audio" Target="../media/media-2-4.mp3"/><Relationship Id="rId5" Type="http://schemas.microsoft.com/office/2007/relationships/media" Target="../media/media-2-4.mp3"/><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audio" Target="../media/media-3-3.mp3"/><Relationship Id="rId4" Type="http://schemas.microsoft.com/office/2007/relationships/media" Target="../media/media-3-3.mp3"/><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audio" Target="../media/media-6-3.mp3"/><Relationship Id="rId4" Type="http://schemas.microsoft.com/office/2007/relationships/media" Target="../media/media-6-3.mp3"/><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video" Target="../media/media-9-4.mp4"/><Relationship Id="rId5" Type="http://schemas.microsoft.com/office/2007/relationships/media" Target="../media/media-9-4.mp4"/><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
          <p:cNvSpPr/>
          <p:nvPr/>
        </p:nvSpPr>
        <p:spPr>
          <a:xfrm>
            <a:off x="54864" y="54864"/>
            <a:ext cx="9034272" cy="5033772"/>
          </a:xfrm>
          <a:prstGeom prst="rect">
            <a:avLst/>
          </a:prstGeom>
          <a:ln w="114300">
            <a:solidFill>
              <a:srgbClr val="A8E6B4"/>
            </a:solidFill>
            <a:prstDash val="solid"/>
          </a:ln>
        </p:spPr>
      </p:sp>
      <p:sp>
        <p:nvSpPr>
          <p:cNvPr id="4" name="logoBack_2"/>
          <p:cNvSpPr/>
          <p:nvPr/>
        </p:nvSpPr>
        <p:spPr>
          <a:xfrm>
            <a:off x="8229600" y="155448"/>
            <a:ext cx="676656" cy="676656"/>
          </a:xfrm>
          <a:prstGeom prst="ellipse">
            <a:avLst/>
          </a:prstGeom>
          <a:solidFill>
            <a:srgbClr val="FFFFFF"/>
          </a:solidFill>
          <a:ln w="25400">
            <a:solidFill>
              <a:srgbClr val="A8E6B4"/>
            </a:solidFill>
            <a:prstDash val="solid"/>
          </a:ln>
        </p:spPr>
      </p:sp>
      <p:pic>
        <p:nvPicPr>
          <p:cNvPr id="5" name="logo_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6" name="footer_4"/>
          <p:cNvSpPr txBox="1"/>
          <p:nvPr/>
        </p:nvSpPr>
        <p:spPr>
          <a:xfrm>
            <a:off x="7132320" y="4818888"/>
            <a:ext cx="1737360" cy="219456"/>
          </a:xfrm>
          <a:prstGeom prst="rect">
            <a:avLst/>
          </a:prstGeom>
          <a:solidFill>
            <a:srgbClr val="204034"/>
          </a:solidFill>
          <a:ln/>
        </p:spPr>
        <p:txBody>
          <a:bodyPr wrap="square" lIns="0" tIns="0" rIns="0" bIns="0" rtlCol="0" anchor="ctr"/>
          <a:lstStyle/>
          <a:p>
            <a:pPr algn="ctr" indent="0" marL="0">
              <a:buNone/>
            </a:pPr>
            <a:r>
              <a:rPr lang="en-US" sz="1000" dirty="0">
                <a:solidFill>
                  <a:srgbClr val="E9E2FB"/>
                </a:solidFill>
                <a:latin typeface="Calibri" pitchFamily="34" charset="0"/>
                <a:ea typeface="Calibri" pitchFamily="34" charset="-122"/>
                <a:cs typeface="Calibri" pitchFamily="34" charset="-120"/>
              </a:rPr>
              <a:t>4B · Part 2</a:t>
            </a:r>
            <a:endParaRPr lang="en-US" sz="1000" dirty="0"/>
          </a:p>
        </p:txBody>
      </p:sp>
      <p:sp>
        <p:nvSpPr>
          <p:cNvPr id="7" name="unit_5"/>
          <p:cNvSpPr txBox="1"/>
          <p:nvPr/>
        </p:nvSpPr>
        <p:spPr>
          <a:xfrm>
            <a:off x="411480" y="320040"/>
            <a:ext cx="1737360" cy="914400"/>
          </a:xfrm>
          <a:prstGeom prst="rect">
            <a:avLst/>
          </a:prstGeom>
          <a:noFill/>
          <a:ln/>
        </p:spPr>
        <p:txBody>
          <a:bodyPr wrap="square" rtlCol="0" anchor="ctr">
            <a:normAutofit/>
          </a:bodyPr>
          <a:lstStyle/>
          <a:p>
            <a:pPr indent="0" marL="0">
              <a:buNone/>
            </a:pPr>
            <a:r>
              <a:rPr lang="en-US" sz="4600" dirty="0">
                <a:solidFill>
                  <a:srgbClr val="FFD84D"/>
                </a:solidFill>
                <a:latin typeface="Arial Black" pitchFamily="34" charset="0"/>
                <a:ea typeface="Arial Black" pitchFamily="34" charset="-122"/>
                <a:cs typeface="Arial Black" pitchFamily="34" charset="-120"/>
              </a:rPr>
              <a:t>4B</a:t>
            </a:r>
            <a:endParaRPr lang="en-US" sz="4600" dirty="0"/>
          </a:p>
        </p:txBody>
      </p:sp>
      <p:sp>
        <p:nvSpPr>
          <p:cNvPr id="8" name="course_6"/>
          <p:cNvSpPr txBox="1"/>
          <p:nvPr/>
        </p:nvSpPr>
        <p:spPr>
          <a:xfrm>
            <a:off x="2103120" y="566928"/>
            <a:ext cx="3840480" cy="365760"/>
          </a:xfrm>
          <a:prstGeom prst="rect">
            <a:avLst/>
          </a:prstGeom>
          <a:noFill/>
          <a:ln/>
        </p:spPr>
        <p:txBody>
          <a:bodyPr wrap="square" rtlCol="0" anchor="ctr"/>
          <a:lstStyle/>
          <a:p>
            <a:pPr indent="0" marL="0">
              <a:buNone/>
            </a:pPr>
            <a:r>
              <a:rPr lang="en-US" sz="1100" dirty="0">
                <a:solidFill>
                  <a:srgbClr val="E9E2FB"/>
                </a:solidFill>
                <a:latin typeface="Arial Black" pitchFamily="34" charset="0"/>
                <a:ea typeface="Arial Black" pitchFamily="34" charset="-122"/>
                <a:cs typeface="Arial Black" pitchFamily="34" charset="-120"/>
              </a:rPr>
              <a:t>ENGLISH FILE B1 · 4B · Part 2 · SB pp.42–43</a:t>
            </a:r>
            <a:endParaRPr lang="en-US" sz="1100" dirty="0"/>
          </a:p>
        </p:txBody>
      </p:sp>
      <p:sp>
        <p:nvSpPr>
          <p:cNvPr id="9" name="title_7"/>
          <p:cNvSpPr txBox="1"/>
          <p:nvPr/>
        </p:nvSpPr>
        <p:spPr>
          <a:xfrm rot="120000">
            <a:off x="411480" y="1325880"/>
            <a:ext cx="3355848" cy="777240"/>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52400" tIns="152400" rIns="152400" bIns="152400" rtlCol="0" anchor="ctr"/>
          <a:lstStyle/>
          <a:p>
            <a:pPr indent="0" marL="0">
              <a:buNone/>
            </a:pPr>
            <a:r>
              <a:rPr lang="en-US" sz="2650" dirty="0">
                <a:solidFill>
                  <a:srgbClr val="111111"/>
                </a:solidFill>
                <a:latin typeface="Arial Black" pitchFamily="34" charset="0"/>
                <a:ea typeface="Arial Black" pitchFamily="34" charset="-122"/>
                <a:cs typeface="Arial Black" pitchFamily="34" charset="-120"/>
              </a:rPr>
              <a:t>YES, I CAN!</a:t>
            </a:r>
            <a:endParaRPr lang="en-US" sz="2650" dirty="0"/>
          </a:p>
        </p:txBody>
      </p:sp>
      <p:sp>
        <p:nvSpPr>
          <p:cNvPr id="10" name="stamp_8"/>
          <p:cNvSpPr txBox="1"/>
          <p:nvPr/>
        </p:nvSpPr>
        <p:spPr>
          <a:xfrm>
            <a:off x="457200" y="2468880"/>
            <a:ext cx="3813048" cy="384048"/>
          </a:xfrm>
          <a:prstGeom prst="roundRect">
            <a:avLst>
              <a:gd name="adj" fmla="val 14286"/>
            </a:avLst>
          </a:prstGeom>
          <a:solidFill>
            <a:srgbClr val="204034"/>
          </a:solidFill>
          <a:ln w="38100">
            <a:solidFill>
              <a:srgbClr val="48BDF2"/>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VOCABULARY · -ed / -ing adjectives</a:t>
            </a:r>
            <a:endParaRPr lang="en-US" sz="1200" dirty="0"/>
          </a:p>
        </p:txBody>
      </p:sp>
      <p:sp>
        <p:nvSpPr>
          <p:cNvPr id="11" name="stamp_9"/>
          <p:cNvSpPr txBox="1"/>
          <p:nvPr/>
        </p:nvSpPr>
        <p:spPr>
          <a:xfrm>
            <a:off x="457200" y="2944368"/>
            <a:ext cx="4101084" cy="384048"/>
          </a:xfrm>
          <a:prstGeom prst="roundRect">
            <a:avLst>
              <a:gd name="adj" fmla="val 14286"/>
            </a:avLst>
          </a:prstGeom>
          <a:solidFill>
            <a:srgbClr val="204034"/>
          </a:solidFill>
          <a:ln w="38100">
            <a:solidFill>
              <a:srgbClr val="1FA463"/>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READING · Tips for practising English</a:t>
            </a:r>
            <a:endParaRPr lang="en-US" sz="1200" dirty="0"/>
          </a:p>
        </p:txBody>
      </p:sp>
      <p:sp>
        <p:nvSpPr>
          <p:cNvPr id="12" name="stamp_10"/>
          <p:cNvSpPr txBox="1"/>
          <p:nvPr/>
        </p:nvSpPr>
        <p:spPr>
          <a:xfrm>
            <a:off x="457200" y="3419856"/>
            <a:ext cx="3236976" cy="384048"/>
          </a:xfrm>
          <a:prstGeom prst="roundRect">
            <a:avLst>
              <a:gd name="adj" fmla="val 14286"/>
            </a:avLst>
          </a:prstGeom>
          <a:solidFill>
            <a:srgbClr val="204034"/>
          </a:solidFill>
          <a:ln w="38100">
            <a:solidFill>
              <a:srgbClr val="EF2F2F"/>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GRAMMAR · reflexive pronouns</a:t>
            </a:r>
            <a:endParaRPr lang="en-US" sz="1200" dirty="0"/>
          </a:p>
        </p:txBody>
      </p:sp>
      <p:sp>
        <p:nvSpPr>
          <p:cNvPr id="13" name="stamp_11"/>
          <p:cNvSpPr txBox="1"/>
          <p:nvPr/>
        </p:nvSpPr>
        <p:spPr>
          <a:xfrm>
            <a:off x="457200" y="3895344"/>
            <a:ext cx="3909060" cy="384048"/>
          </a:xfrm>
          <a:prstGeom prst="roundRect">
            <a:avLst>
              <a:gd name="adj" fmla="val 14286"/>
            </a:avLst>
          </a:prstGeom>
          <a:solidFill>
            <a:srgbClr val="204034"/>
          </a:solidFill>
          <a:ln w="38100">
            <a:solidFill>
              <a:srgbClr val="F59E0B"/>
            </a:solidFill>
          </a:ln>
        </p:spPr>
        <p:txBody>
          <a:bodyPr wrap="square" lIns="25400" tIns="25400" rIns="25400" bIns="25400" rtlCol="0" anchor="ctr"/>
          <a:lstStyle/>
          <a:p>
            <a:pPr algn="ctr" indent="0" marL="0">
              <a:buNone/>
            </a:pPr>
            <a:r>
              <a:rPr lang="en-US" sz="1200" dirty="0">
                <a:solidFill>
                  <a:srgbClr val="FFFFFF"/>
                </a:solidFill>
                <a:latin typeface="Arial Black" pitchFamily="34" charset="0"/>
                <a:ea typeface="Arial Black" pitchFamily="34" charset="-122"/>
                <a:cs typeface="Arial Black" pitchFamily="34" charset="-120"/>
              </a:rPr>
              <a:t>VIDEO · Alex Rawlings, 11 languages</a:t>
            </a:r>
            <a:endParaRPr lang="en-US" sz="1200" dirty="0"/>
          </a:p>
        </p:txBody>
      </p:sp>
      <p:sp>
        <p:nvSpPr>
          <p:cNvPr id="14" name="iconBack_12"/>
          <p:cNvSpPr/>
          <p:nvPr/>
        </p:nvSpPr>
        <p:spPr>
          <a:xfrm>
            <a:off x="5669280" y="685800"/>
            <a:ext cx="1737360" cy="1737360"/>
          </a:xfrm>
          <a:prstGeom prst="ellipse">
            <a:avLst/>
          </a:prstGeom>
          <a:solidFill>
            <a:srgbClr val="FFD84D"/>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3" descr="pi:PiSmileyNervous">    </p:cNvPr>
          <p:cNvPicPr>
            <a:picLocks noChangeAspect="1"/>
          </p:cNvPicPr>
          <p:nvPr/>
        </p:nvPicPr>
        <p:blipFill>
          <a:blip r:embed="rId3"/>
          <a:stretch>
            <a:fillRect/>
          </a:stretch>
        </p:blipFill>
        <p:spPr>
          <a:xfrm>
            <a:off x="6016752" y="1033272"/>
            <a:ext cx="1042416" cy="1042416"/>
          </a:xfrm>
          <a:prstGeom prst="rect">
            <a:avLst/>
          </a:prstGeom>
        </p:spPr>
      </p:pic>
      <p:sp>
        <p:nvSpPr>
          <p:cNvPr id="16" name="iconBack_14"/>
          <p:cNvSpPr/>
          <p:nvPr/>
        </p:nvSpPr>
        <p:spPr>
          <a:xfrm>
            <a:off x="7315200" y="1508760"/>
            <a:ext cx="1097280" cy="109728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7" name="icon_15" descr="pi:PiTranslate">    </p:cNvPr>
          <p:cNvPicPr>
            <a:picLocks noChangeAspect="1"/>
          </p:cNvPicPr>
          <p:nvPr/>
        </p:nvPicPr>
        <p:blipFill>
          <a:blip r:embed="rId4"/>
          <a:stretch>
            <a:fillRect/>
          </a:stretch>
        </p:blipFill>
        <p:spPr>
          <a:xfrm>
            <a:off x="7534656" y="1728216"/>
            <a:ext cx="658368" cy="658368"/>
          </a:xfrm>
          <a:prstGeom prst="rect">
            <a:avLst/>
          </a:prstGeom>
        </p:spPr>
      </p:pic>
      <p:sp>
        <p:nvSpPr>
          <p:cNvPr id="18" name="iconBack_16"/>
          <p:cNvSpPr/>
          <p:nvPr/>
        </p:nvSpPr>
        <p:spPr>
          <a:xfrm>
            <a:off x="5486400" y="2514600"/>
            <a:ext cx="960120" cy="960120"/>
          </a:xfrm>
          <a:prstGeom prst="ellipse">
            <a:avLst/>
          </a:prstGeom>
          <a:solidFill>
            <a:srgbClr val="A8E6B4"/>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9" name="icon_17" descr="pi:PiGlobe">    </p:cNvPr>
          <p:cNvPicPr>
            <a:picLocks noChangeAspect="1"/>
          </p:cNvPicPr>
          <p:nvPr/>
        </p:nvPicPr>
        <p:blipFill>
          <a:blip r:embed="rId5"/>
          <a:stretch>
            <a:fillRect/>
          </a:stretch>
        </p:blipFill>
        <p:spPr>
          <a:xfrm>
            <a:off x="5678424" y="2706624"/>
            <a:ext cx="576072" cy="576072"/>
          </a:xfrm>
          <a:prstGeom prst="rect">
            <a:avLst/>
          </a:prstGeom>
        </p:spPr>
      </p:pic>
      <p:sp>
        <p:nvSpPr>
          <p:cNvPr id="20" name="R1_q"/>
          <p:cNvSpPr txBox="1"/>
          <p:nvPr/>
        </p:nvSpPr>
        <p:spPr>
          <a:xfrm>
            <a:off x="5120640" y="3337560"/>
            <a:ext cx="2377440" cy="777240"/>
          </a:xfrm>
          <a:prstGeom prst="wedgeRoundRectCallout">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400" b="1" dirty="0">
                <a:solidFill>
                  <a:srgbClr val="111111"/>
                </a:solidFill>
                <a:latin typeface="Calibri" pitchFamily="34" charset="0"/>
                <a:ea typeface="Calibri" pitchFamily="34" charset="-122"/>
                <a:cs typeface="Calibri" pitchFamily="34" charset="-120"/>
              </a:rPr>
              <a:t>Is this lesson boring or bored?</a:t>
            </a:r>
            <a:endParaRPr lang="en-US" sz="1400" dirty="0"/>
          </a:p>
        </p:txBody>
      </p:sp>
      <p:sp>
        <p:nvSpPr>
          <p:cNvPr id="21" name="R2_a"/>
          <p:cNvSpPr txBox="1"/>
          <p:nvPr/>
        </p:nvSpPr>
        <p:spPr>
          <a:xfrm>
            <a:off x="6629400" y="4069080"/>
            <a:ext cx="2148840" cy="594360"/>
          </a:xfrm>
          <a:prstGeom prst="wedgeRoundRectCallou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dirty="0">
                <a:solidFill>
                  <a:srgbClr val="111111"/>
                </a:solidFill>
                <a:latin typeface="Calibri" pitchFamily="34" charset="0"/>
                <a:ea typeface="Calibri" pitchFamily="34" charset="-122"/>
                <a:cs typeface="Calibri" pitchFamily="34" charset="-120"/>
              </a:rPr>
              <a:t>Never boring – we make English fun!</a:t>
            </a:r>
            <a:endParaRPr lang="en-US" sz="1300" dirty="0"/>
          </a:p>
        </p:txBody>
      </p:sp>
      <p:sp>
        <p:nvSpPr>
          <p:cNvPr id="22" name="tnote_18"/>
          <p:cNvSpPr txBox="1"/>
          <p:nvPr/>
        </p:nvSpPr>
        <p:spPr>
          <a:xfrm>
            <a:off x="411480" y="4773168"/>
            <a:ext cx="5029200" cy="237744"/>
          </a:xfrm>
          <a:prstGeom prst="rect">
            <a:avLst/>
          </a:prstGeom>
          <a:noFill/>
          <a:ln/>
        </p:spPr>
        <p:txBody>
          <a:bodyPr wrap="square" rtlCol="0" anchor="ctr"/>
          <a:lstStyle/>
          <a:p>
            <a:pPr indent="0" marL="0">
              <a:buNone/>
            </a:pPr>
            <a:r>
              <a:rPr lang="en-US" sz="900" dirty="0">
                <a:solidFill>
                  <a:srgbClr val="E9E2FB"/>
                </a:solidFill>
                <a:latin typeface="Calibri" pitchFamily="34" charset="0"/>
                <a:ea typeface="Calibri" pitchFamily="34" charset="-122"/>
                <a:cs typeface="Calibri" pitchFamily="34" charset="-120"/>
              </a:rPr>
              <a:t>Teacher: timings, answers and tips are in the slide notes.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
          <p:cNvSpPr/>
          <p:nvPr/>
        </p:nvSpPr>
        <p:spPr>
          <a:xfrm>
            <a:off x="54864" y="54864"/>
            <a:ext cx="9034272" cy="5033772"/>
          </a:xfrm>
          <a:prstGeom prst="rect">
            <a:avLst/>
          </a:prstGeom>
          <a:ln w="114300">
            <a:solidFill>
              <a:srgbClr val="A8E6B4"/>
            </a:solidFill>
            <a:prstDash val="solid"/>
          </a:ln>
        </p:spPr>
      </p:sp>
      <p:pic>
        <p:nvPicPr>
          <p:cNvPr id="4" name="logo_20"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1"/>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REVISION · 4B part 1 · can, could, be able to</a:t>
            </a:r>
            <a:endParaRPr lang="en-US" sz="900" dirty="0"/>
          </a:p>
        </p:txBody>
      </p:sp>
      <p:sp>
        <p:nvSpPr>
          <p:cNvPr id="6" name="timer_22"/>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23"/>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24"/>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Fix Matt's diary</a:t>
            </a:r>
            <a:endParaRPr lang="en-US" sz="1500" dirty="0"/>
          </a:p>
        </p:txBody>
      </p:sp>
      <p:sp>
        <p:nvSpPr>
          <p:cNvPr id="9" name="tape_25"/>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6"/>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27"/>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28"/>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29"/>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100" dirty="0">
                <a:solidFill>
                  <a:srgbClr val="111111"/>
                </a:solidFill>
                <a:latin typeface="Calibri" pitchFamily="34" charset="0"/>
                <a:ea typeface="Calibri" pitchFamily="34" charset="-122"/>
                <a:cs typeface="Calibri" pitchFamily="34" charset="-120"/>
              </a:rPr>
              <a:t>Grammar AND fact mistakes! Careful: one sentence is correct.</a:t>
            </a:r>
            <a:endParaRPr lang="en-US" sz="1100" dirty="0"/>
          </a:p>
          <a:p>
            <a:pPr indent="0" marL="0">
              <a:buNone/>
            </a:pPr>
            <a:r>
              <a:rPr lang="en-US" sz="1000" i="1" dirty="0">
                <a:solidFill>
                  <a:srgbClr val="334155"/>
                </a:solidFill>
                <a:latin typeface="Calibri" pitchFamily="34" charset="0"/>
                <a:ea typeface="Calibri" pitchFamily="34" charset="-122"/>
                <a:cs typeface="Calibri" pitchFamily="34" charset="-120"/>
              </a:rPr>
              <a:t>Errori di grammatica E di contenuto! Attenzione: una frase è giusta.</a:t>
            </a:r>
            <a:endParaRPr lang="en-US" sz="1100" dirty="0"/>
          </a:p>
        </p:txBody>
      </p:sp>
      <p:sp>
        <p:nvSpPr>
          <p:cNvPr id="14" name="box_30"/>
          <p:cNvSpPr txBox="1"/>
          <p:nvPr/>
        </p:nvSpPr>
        <p:spPr>
          <a:xfrm>
            <a:off x="2788920" y="1371600"/>
            <a:ext cx="3621024"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1  Five years ago I got a guitar for my birthday.</a:t>
            </a:r>
            <a:endParaRPr lang="en-US" sz="1200" dirty="0"/>
          </a:p>
        </p:txBody>
      </p:sp>
      <p:sp>
        <p:nvSpPr>
          <p:cNvPr id="15" name="R1_a0"/>
          <p:cNvSpPr txBox="1"/>
          <p:nvPr/>
        </p:nvSpPr>
        <p:spPr>
          <a:xfrm>
            <a:off x="6464808" y="1408176"/>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trumpet (fact)</a:t>
            </a:r>
            <a:endParaRPr lang="en-US" sz="1150" dirty="0"/>
          </a:p>
        </p:txBody>
      </p:sp>
      <p:sp>
        <p:nvSpPr>
          <p:cNvPr id="16" name="box_31"/>
          <p:cNvSpPr txBox="1"/>
          <p:nvPr/>
        </p:nvSpPr>
        <p:spPr>
          <a:xfrm>
            <a:off x="2788920" y="1941576"/>
            <a:ext cx="3621024"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After 2 hours: My mouth hurts. I'd love to can play for longer!</a:t>
            </a:r>
            <a:endParaRPr lang="en-US" sz="950" dirty="0"/>
          </a:p>
        </p:txBody>
      </p:sp>
      <p:sp>
        <p:nvSpPr>
          <p:cNvPr id="17" name="R1_a1"/>
          <p:cNvSpPr txBox="1"/>
          <p:nvPr/>
        </p:nvSpPr>
        <p:spPr>
          <a:xfrm>
            <a:off x="6464808" y="1978152"/>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I'd love to be able to play</a:t>
            </a:r>
            <a:endParaRPr lang="en-US" sz="1150" dirty="0"/>
          </a:p>
        </p:txBody>
      </p:sp>
      <p:sp>
        <p:nvSpPr>
          <p:cNvPr id="18" name="box_32"/>
          <p:cNvSpPr txBox="1"/>
          <p:nvPr/>
        </p:nvSpPr>
        <p:spPr>
          <a:xfrm>
            <a:off x="2788920" y="2511552"/>
            <a:ext cx="3621024"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3  After 5 hours: I can to play a whole octave, from C to C.</a:t>
            </a:r>
            <a:endParaRPr lang="en-US" sz="1000" dirty="0"/>
          </a:p>
        </p:txBody>
      </p:sp>
      <p:sp>
        <p:nvSpPr>
          <p:cNvPr id="19" name="R1_a2"/>
          <p:cNvSpPr txBox="1"/>
          <p:nvPr/>
        </p:nvSpPr>
        <p:spPr>
          <a:xfrm>
            <a:off x="6464808" y="2548128"/>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can play (no to)</a:t>
            </a:r>
            <a:endParaRPr lang="en-US" sz="1150" dirty="0"/>
          </a:p>
        </p:txBody>
      </p:sp>
      <p:sp>
        <p:nvSpPr>
          <p:cNvPr id="20" name="box_33"/>
          <p:cNvSpPr txBox="1"/>
          <p:nvPr/>
        </p:nvSpPr>
        <p:spPr>
          <a:xfrm>
            <a:off x="2788920" y="3081528"/>
            <a:ext cx="3621024"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After 9 hours: I still haven't could play high notes.</a:t>
            </a:r>
            <a:endParaRPr lang="en-US" sz="1150" dirty="0"/>
          </a:p>
        </p:txBody>
      </p:sp>
      <p:sp>
        <p:nvSpPr>
          <p:cNvPr id="21" name="R1_a3"/>
          <p:cNvSpPr txBox="1"/>
          <p:nvPr/>
        </p:nvSpPr>
        <p:spPr>
          <a:xfrm>
            <a:off x="6464808" y="3118104"/>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I still haven't been able to play</a:t>
            </a:r>
            <a:endParaRPr lang="en-US" sz="1150" dirty="0"/>
          </a:p>
        </p:txBody>
      </p:sp>
      <p:sp>
        <p:nvSpPr>
          <p:cNvPr id="22" name="box_34"/>
          <p:cNvSpPr txBox="1"/>
          <p:nvPr/>
        </p:nvSpPr>
        <p:spPr>
          <a:xfrm>
            <a:off x="2788920" y="3651504"/>
            <a:ext cx="3621024"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5  After 15 hours: Matilda Lloyd, a famous violinist, gives me a lesson.</a:t>
            </a:r>
            <a:endParaRPr lang="en-US" sz="900" dirty="0"/>
          </a:p>
        </p:txBody>
      </p:sp>
      <p:sp>
        <p:nvSpPr>
          <p:cNvPr id="23" name="R1_a4"/>
          <p:cNvSpPr txBox="1"/>
          <p:nvPr/>
        </p:nvSpPr>
        <p:spPr>
          <a:xfrm>
            <a:off x="6464808" y="3688080"/>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a trumpet player (fact)</a:t>
            </a:r>
            <a:endParaRPr lang="en-US" sz="1150" dirty="0"/>
          </a:p>
        </p:txBody>
      </p:sp>
      <p:sp>
        <p:nvSpPr>
          <p:cNvPr id="24" name="box_35"/>
          <p:cNvSpPr txBox="1"/>
          <p:nvPr/>
        </p:nvSpPr>
        <p:spPr>
          <a:xfrm>
            <a:off x="2788920" y="4221480"/>
            <a:ext cx="3621024"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00" dirty="0">
                <a:solidFill>
                  <a:srgbClr val="111111"/>
                </a:solidFill>
                <a:latin typeface="Calibri" pitchFamily="34" charset="0"/>
                <a:ea typeface="Calibri" pitchFamily="34" charset="-122"/>
                <a:cs typeface="Calibri" pitchFamily="34" charset="-120"/>
              </a:rPr>
              <a:t>6  After 20 hours: Give me 100 hours, and you'll see me playing on a street near you.</a:t>
            </a:r>
            <a:endParaRPr lang="en-US" sz="900" dirty="0"/>
          </a:p>
        </p:txBody>
      </p:sp>
      <p:sp>
        <p:nvSpPr>
          <p:cNvPr id="25" name="R1_a5"/>
          <p:cNvSpPr txBox="1"/>
          <p:nvPr/>
        </p:nvSpPr>
        <p:spPr>
          <a:xfrm>
            <a:off x="6464808" y="4258056"/>
            <a:ext cx="235915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50" dirty="0">
                <a:solidFill>
                  <a:srgbClr val="111111"/>
                </a:solidFill>
                <a:latin typeface="Calibri" pitchFamily="34" charset="0"/>
                <a:ea typeface="Calibri" pitchFamily="34" charset="-122"/>
                <a:cs typeface="Calibri" pitchFamily="34" charset="-120"/>
              </a:rPr>
              <a:t>✓ Correct!</a:t>
            </a:r>
            <a:endParaRPr lang="en-US" sz="1150" dirty="0"/>
          </a:p>
        </p:txBody>
      </p:sp>
      <p:sp>
        <p:nvSpPr>
          <p:cNvPr id="26" name="pageTag_3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revision of 4B part 1 · audio 4.18 · Grammar Bank 4B</a:t>
            </a:r>
            <a:endParaRPr lang="en-US" sz="1050" dirty="0"/>
          </a:p>
        </p:txBody>
      </p:sp>
      <p:sp>
        <p:nvSpPr>
          <p:cNvPr id="27" name="pframe_37"/>
          <p:cNvSpPr/>
          <p:nvPr/>
        </p:nvSpPr>
        <p:spPr>
          <a:xfrm rot="-180000">
            <a:off x="640080" y="3017520"/>
            <a:ext cx="1097280" cy="167335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28" name="pimg_38" descr="Matt">    </p:cNvPr>
          <p:cNvPicPr>
            <a:picLocks noChangeAspect="1"/>
          </p:cNvPicPr>
          <p:nvPr/>
        </p:nvPicPr>
        <p:blipFill>
          <a:blip r:embed="rId3"/>
          <a:srcRect l="0" r="0" t="0" b="0"/>
          <a:stretch/>
        </p:blipFill>
        <p:spPr>
          <a:xfrm rot="-180000">
            <a:off x="713232" y="3090672"/>
            <a:ext cx="950976" cy="1252728"/>
          </a:xfrm>
          <a:prstGeom prst="rect">
            <a:avLst/>
          </a:prstGeom>
        </p:spPr>
      </p:pic>
      <p:sp>
        <p:nvSpPr>
          <p:cNvPr id="29" name="pcap_39"/>
          <p:cNvSpPr txBox="1"/>
          <p:nvPr/>
        </p:nvSpPr>
        <p:spPr>
          <a:xfrm rot="-180000">
            <a:off x="640080" y="4352544"/>
            <a:ext cx="109728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Matt</a:t>
            </a:r>
            <a:endParaRPr lang="en-US" sz="1100" dirty="0"/>
          </a:p>
        </p:txBody>
      </p:sp>
      <p:pic>
        <p:nvPicPr>
          <p:cNvPr id="30" name="Media 0">
            <a:hlinkClick r:id="" action="ppaction://media"/>
          </p:cNvPr>
          <p:cNvPicPr>
            <a:picLocks noChangeAspect="1"/>
          </p:cNvPicPr>
          <p:nvPr>
            <a:audioFile r:link="rId4"/>
            <p:extLst>
              <p:ext uri="{DAA4B4D4-6D71-4841-9C94-3DE7FCFB9230}">
                <p14:media xmlns:p14="http://schemas.microsoft.com/office/powerpoint/2010/main" r:embed="rId5"/>
              </p:ext>
            </p:extLst>
          </p:nvPr>
        </p:nvPicPr>
        <p:blipFill>
          <a:blip r:embed="rId6"/>
          <a:stretch>
            <a:fillRect/>
          </a:stretch>
        </p:blipFill>
        <p:spPr>
          <a:xfrm>
            <a:off x="5166360" y="155448"/>
            <a:ext cx="384048" cy="384048"/>
          </a:xfrm>
          <a:prstGeom prst="rect">
            <a:avLst/>
          </a:prstGeom>
        </p:spPr>
      </p:pic>
      <p:sp>
        <p:nvSpPr>
          <p:cNvPr id="31" name="atr_40"/>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4.18</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30"/>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30"/>
                                        </p:tgtEl>
                                      </p:cBhvr>
                                    </p:cmd>
                                  </p:childTnLst>
                                </p:cTn>
                              </p:par>
                            </p:childTnLst>
                          </p:cTn>
                        </p:par>
                      </p:childTnLst>
                    </p:cTn>
                  </p:par>
                </p:childTnLst>
              </p:cTn>
              <p:nextCondLst>
                <p:cond evt="onClick" delay="0">
                  <p:tgtEl>
                    <p:spTgt spid="30"/>
                  </p:tgtEl>
                </p:cond>
              </p:nextCondLst>
            </p:seq>
            <p:audio>
              <p:cMediaNode vol="80000">
                <p:cTn id="28" fill="hold" display="0">
                  <p:stCondLst>
                    <p:cond delay="indefinite"/>
                  </p:stCondLst>
                  <p:endCondLst>
                    <p:cond evt="onStopAudio" delay="0">
                      <p:tgtEl>
                        <p:sldTgt/>
                      </p:tgtEl>
                    </p:cond>
                  </p:endCondLst>
                </p:cTn>
                <p:tgtEl>
                  <p:spTgt spid="30"/>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41"/>
          <p:cNvSpPr/>
          <p:nvPr/>
        </p:nvSpPr>
        <p:spPr>
          <a:xfrm>
            <a:off x="54864" y="54864"/>
            <a:ext cx="9034272" cy="5033772"/>
          </a:xfrm>
          <a:prstGeom prst="rect">
            <a:avLst/>
          </a:prstGeom>
          <a:ln w="114300">
            <a:solidFill>
              <a:srgbClr val="A8E6B4"/>
            </a:solidFill>
            <a:prstDash val="solid"/>
          </a:ln>
        </p:spPr>
      </p:sp>
      <p:pic>
        <p:nvPicPr>
          <p:cNvPr id="4" name="logo_4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4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VOCABULARY · -ed / -ing adjectives · audio 4.19</a:t>
            </a:r>
            <a:endParaRPr lang="en-US" sz="900" dirty="0"/>
          </a:p>
        </p:txBody>
      </p:sp>
      <p:sp>
        <p:nvSpPr>
          <p:cNvPr id="6" name="timer_4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4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46"/>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Bored or boring?</a:t>
            </a:r>
            <a:endParaRPr lang="en-US" sz="1500" dirty="0"/>
          </a:p>
        </p:txBody>
      </p:sp>
      <p:sp>
        <p:nvSpPr>
          <p:cNvPr id="9" name="tape_4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48"/>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4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50"/>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5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-ed or -ing? Complete the questions. Then listen and check.</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-ed o -ing? Completa le domande. Poi ascolta e controlla.</a:t>
            </a:r>
            <a:endParaRPr lang="en-US" sz="1200" dirty="0"/>
          </a:p>
        </p:txBody>
      </p:sp>
      <p:sp>
        <p:nvSpPr>
          <p:cNvPr id="14" name="box_52"/>
          <p:cNvSpPr txBox="1"/>
          <p:nvPr/>
        </p:nvSpPr>
        <p:spPr>
          <a:xfrm>
            <a:off x="2788920" y="1371600"/>
            <a:ext cx="1949318"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  What music do you listen to if you feel depress___?</a:t>
            </a:r>
            <a:endParaRPr lang="en-US" sz="1050" dirty="0"/>
          </a:p>
        </p:txBody>
      </p:sp>
      <p:sp>
        <p:nvSpPr>
          <p:cNvPr id="15" name="R1_a0"/>
          <p:cNvSpPr txBox="1"/>
          <p:nvPr/>
        </p:nvSpPr>
        <p:spPr>
          <a:xfrm>
            <a:off x="4793102" y="1408176"/>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depressed</a:t>
            </a:r>
            <a:endParaRPr lang="en-US" sz="1050" dirty="0"/>
          </a:p>
        </p:txBody>
      </p:sp>
      <p:sp>
        <p:nvSpPr>
          <p:cNvPr id="16" name="box_53"/>
          <p:cNvSpPr txBox="1"/>
          <p:nvPr/>
        </p:nvSpPr>
        <p:spPr>
          <a:xfrm>
            <a:off x="5870448" y="1371600"/>
            <a:ext cx="1949318"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00" dirty="0">
                <a:solidFill>
                  <a:srgbClr val="111111"/>
                </a:solidFill>
                <a:latin typeface="Calibri" pitchFamily="34" charset="0"/>
                <a:ea typeface="Calibri" pitchFamily="34" charset="-122"/>
                <a:cs typeface="Calibri" pitchFamily="34" charset="-120"/>
              </a:rPr>
              <a:t>2  What do you think is the most excit___ sport to watch?</a:t>
            </a:r>
            <a:endParaRPr lang="en-US" sz="1000" dirty="0"/>
          </a:p>
        </p:txBody>
      </p:sp>
      <p:sp>
        <p:nvSpPr>
          <p:cNvPr id="17" name="R1_a1"/>
          <p:cNvSpPr txBox="1"/>
          <p:nvPr/>
        </p:nvSpPr>
        <p:spPr>
          <a:xfrm>
            <a:off x="7874630" y="1408176"/>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exciting</a:t>
            </a:r>
            <a:endParaRPr lang="en-US" sz="1050" dirty="0"/>
          </a:p>
        </p:txBody>
      </p:sp>
      <p:sp>
        <p:nvSpPr>
          <p:cNvPr id="18" name="box_54"/>
          <p:cNvSpPr txBox="1"/>
          <p:nvPr/>
        </p:nvSpPr>
        <p:spPr>
          <a:xfrm>
            <a:off x="2788920" y="2055571"/>
            <a:ext cx="1949318"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What's the most amaz___ scenery you've ever seen?</a:t>
            </a:r>
            <a:endParaRPr lang="en-US" sz="1050" dirty="0"/>
          </a:p>
        </p:txBody>
      </p:sp>
      <p:sp>
        <p:nvSpPr>
          <p:cNvPr id="19" name="R1_a2"/>
          <p:cNvSpPr txBox="1"/>
          <p:nvPr/>
        </p:nvSpPr>
        <p:spPr>
          <a:xfrm>
            <a:off x="4793102" y="2092147"/>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amazing</a:t>
            </a:r>
            <a:endParaRPr lang="en-US" sz="1050" dirty="0"/>
          </a:p>
        </p:txBody>
      </p:sp>
      <p:sp>
        <p:nvSpPr>
          <p:cNvPr id="20" name="box_55"/>
          <p:cNvSpPr txBox="1"/>
          <p:nvPr/>
        </p:nvSpPr>
        <p:spPr>
          <a:xfrm>
            <a:off x="5870448" y="2055571"/>
            <a:ext cx="1949318"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4  Have you ever been disappoint___ by a birthday present?</a:t>
            </a:r>
            <a:endParaRPr lang="en-US" sz="850" dirty="0"/>
          </a:p>
        </p:txBody>
      </p:sp>
      <p:sp>
        <p:nvSpPr>
          <p:cNvPr id="21" name="R1_a3"/>
          <p:cNvSpPr txBox="1"/>
          <p:nvPr/>
        </p:nvSpPr>
        <p:spPr>
          <a:xfrm>
            <a:off x="7874630" y="2092147"/>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disappointed</a:t>
            </a:r>
            <a:endParaRPr lang="en-US" sz="1050" dirty="0"/>
          </a:p>
        </p:txBody>
      </p:sp>
      <p:sp>
        <p:nvSpPr>
          <p:cNvPr id="22" name="box_56"/>
          <p:cNvSpPr txBox="1"/>
          <p:nvPr/>
        </p:nvSpPr>
        <p:spPr>
          <a:xfrm>
            <a:off x="2788920" y="2739542"/>
            <a:ext cx="1949318" cy="555955"/>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5  Which do you find more tir___, clothes shopping or food shopping?</a:t>
            </a:r>
            <a:endParaRPr lang="en-US" sz="850" dirty="0"/>
          </a:p>
        </p:txBody>
      </p:sp>
      <p:sp>
        <p:nvSpPr>
          <p:cNvPr id="23" name="R1_a4"/>
          <p:cNvSpPr txBox="1"/>
          <p:nvPr/>
        </p:nvSpPr>
        <p:spPr>
          <a:xfrm>
            <a:off x="4793102" y="2776118"/>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tiring</a:t>
            </a:r>
            <a:endParaRPr lang="en-US" sz="1050" dirty="0"/>
          </a:p>
        </p:txBody>
      </p:sp>
      <p:sp>
        <p:nvSpPr>
          <p:cNvPr id="24" name="box_57"/>
          <p:cNvSpPr txBox="1"/>
          <p:nvPr/>
        </p:nvSpPr>
        <p:spPr>
          <a:xfrm>
            <a:off x="5870448" y="2739542"/>
            <a:ext cx="1949318" cy="555955"/>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6  What's the most embarrass___ thing that's ever happened to you?</a:t>
            </a:r>
            <a:endParaRPr lang="en-US" sz="850" dirty="0"/>
          </a:p>
        </p:txBody>
      </p:sp>
      <p:sp>
        <p:nvSpPr>
          <p:cNvPr id="25" name="R1_a5"/>
          <p:cNvSpPr txBox="1"/>
          <p:nvPr/>
        </p:nvSpPr>
        <p:spPr>
          <a:xfrm>
            <a:off x="7874630" y="2776118"/>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embarrassing</a:t>
            </a:r>
            <a:endParaRPr lang="en-US" sz="1050" dirty="0"/>
          </a:p>
        </p:txBody>
      </p:sp>
      <p:sp>
        <p:nvSpPr>
          <p:cNvPr id="26" name="box_58"/>
          <p:cNvSpPr txBox="1"/>
          <p:nvPr/>
        </p:nvSpPr>
        <p:spPr>
          <a:xfrm>
            <a:off x="2788920" y="3423514"/>
            <a:ext cx="1949318" cy="555955"/>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7  Are you frighten___ of heights?</a:t>
            </a:r>
            <a:endParaRPr lang="en-US" sz="1050" dirty="0"/>
          </a:p>
        </p:txBody>
      </p:sp>
      <p:sp>
        <p:nvSpPr>
          <p:cNvPr id="27" name="R1_a6"/>
          <p:cNvSpPr txBox="1"/>
          <p:nvPr/>
        </p:nvSpPr>
        <p:spPr>
          <a:xfrm>
            <a:off x="4793102" y="3460090"/>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frightened</a:t>
            </a:r>
            <a:endParaRPr lang="en-US" sz="1050" dirty="0"/>
          </a:p>
        </p:txBody>
      </p:sp>
      <p:sp>
        <p:nvSpPr>
          <p:cNvPr id="28" name="box_59"/>
          <p:cNvSpPr txBox="1"/>
          <p:nvPr/>
        </p:nvSpPr>
        <p:spPr>
          <a:xfrm>
            <a:off x="5870448" y="3423514"/>
            <a:ext cx="1949318" cy="555955"/>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8  Do you usually feel very tir___ in the morning?</a:t>
            </a:r>
            <a:endParaRPr lang="en-US" sz="1050" dirty="0"/>
          </a:p>
        </p:txBody>
      </p:sp>
      <p:sp>
        <p:nvSpPr>
          <p:cNvPr id="29" name="R1_a7"/>
          <p:cNvSpPr txBox="1"/>
          <p:nvPr/>
        </p:nvSpPr>
        <p:spPr>
          <a:xfrm>
            <a:off x="7874630" y="3460090"/>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tired</a:t>
            </a:r>
            <a:endParaRPr lang="en-US" sz="1050" dirty="0"/>
          </a:p>
        </p:txBody>
      </p:sp>
      <p:sp>
        <p:nvSpPr>
          <p:cNvPr id="30" name="box_60"/>
          <p:cNvSpPr txBox="1"/>
          <p:nvPr/>
        </p:nvSpPr>
        <p:spPr>
          <a:xfrm>
            <a:off x="2788920" y="4107485"/>
            <a:ext cx="1949318" cy="555955"/>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9  What's the most bor___ film you've ever seen?</a:t>
            </a:r>
            <a:endParaRPr lang="en-US" sz="1050" dirty="0"/>
          </a:p>
        </p:txBody>
      </p:sp>
      <p:sp>
        <p:nvSpPr>
          <p:cNvPr id="31" name="R1_a8"/>
          <p:cNvSpPr txBox="1"/>
          <p:nvPr/>
        </p:nvSpPr>
        <p:spPr>
          <a:xfrm>
            <a:off x="4793102" y="4144061"/>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boring</a:t>
            </a:r>
            <a:endParaRPr lang="en-US" sz="1050" dirty="0"/>
          </a:p>
        </p:txBody>
      </p:sp>
      <p:sp>
        <p:nvSpPr>
          <p:cNvPr id="32" name="box_61"/>
          <p:cNvSpPr txBox="1"/>
          <p:nvPr/>
        </p:nvSpPr>
        <p:spPr>
          <a:xfrm>
            <a:off x="5870448" y="4107485"/>
            <a:ext cx="1949318" cy="555955"/>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10  Do you ever get frustrat___ by technology?</a:t>
            </a:r>
            <a:endParaRPr lang="en-US" sz="1050" dirty="0"/>
          </a:p>
        </p:txBody>
      </p:sp>
      <p:sp>
        <p:nvSpPr>
          <p:cNvPr id="33" name="R1_a9"/>
          <p:cNvSpPr txBox="1"/>
          <p:nvPr/>
        </p:nvSpPr>
        <p:spPr>
          <a:xfrm>
            <a:off x="7874630" y="4144061"/>
            <a:ext cx="949330" cy="482803"/>
          </a:xfrm>
          <a:prstGeom prst="roundRect">
            <a:avLst>
              <a:gd name="adj" fmla="val 1136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frustrated</a:t>
            </a:r>
            <a:endParaRPr lang="en-US" sz="1050" dirty="0"/>
          </a:p>
        </p:txBody>
      </p:sp>
      <p:sp>
        <p:nvSpPr>
          <p:cNvPr id="34" name="pageTag_62"/>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p.42 · 5a, 5b, 5c · audio 4.19</a:t>
            </a:r>
            <a:endParaRPr lang="en-US" sz="1050" dirty="0"/>
          </a:p>
        </p:txBody>
      </p:sp>
      <p:pic>
        <p:nvPicPr>
          <p:cNvPr id="35"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36" name="atr_63"/>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4.19</a:t>
            </a:r>
            <a:endParaRPr lang="en-US" sz="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5" restart="whenNotActive" fill="hold" evtFilter="cancelBubble" nodeType="interactiveSeq">
                <p:stCondLst>
                  <p:cond evt="onClick" delay="0">
                    <p:tgtEl>
                      <p:spTgt spid="35"/>
                    </p:tgtEl>
                  </p:cond>
                </p:stCondLst>
                <p:endSync evt="end" delay="0">
                  <p:rtn val="all"/>
                </p:endSync>
                <p:childTnLst>
                  <p:par>
                    <p:cTn id="36" fill="hold">
                      <p:stCondLst>
                        <p:cond delay="0"/>
                      </p:stCondLst>
                      <p:childTnLst>
                        <p:par>
                          <p:cTn id="37" fill="hold">
                            <p:stCondLst>
                              <p:cond delay="0"/>
                            </p:stCondLst>
                            <p:childTnLst>
                              <p:par>
                                <p:cTn id="38" presetID="2" presetClass="mediacall" presetSubtype="0" fill="hold" nodeType="clickEffect">
                                  <p:stCondLst>
                                    <p:cond delay="0"/>
                                  </p:stCondLst>
                                  <p:childTnLst>
                                    <p:cmd type="call" cmd="togglePause">
                                      <p:cBhvr>
                                        <p:cTn id="39" dur="1" fill="hold"/>
                                        <p:tgtEl>
                                          <p:spTgt spid="35"/>
                                        </p:tgtEl>
                                      </p:cBhvr>
                                    </p:cmd>
                                  </p:childTnLst>
                                </p:cTn>
                              </p:par>
                            </p:childTnLst>
                          </p:cTn>
                        </p:par>
                      </p:childTnLst>
                    </p:cTn>
                  </p:par>
                </p:childTnLst>
              </p:cTn>
              <p:nextCondLst>
                <p:cond evt="onClick" delay="0">
                  <p:tgtEl>
                    <p:spTgt spid="35"/>
                  </p:tgtEl>
                </p:cond>
              </p:nextCondLst>
            </p:seq>
            <p:audio>
              <p:cMediaNode vol="80000">
                <p:cTn id="40" fill="hold" display="0">
                  <p:stCondLst>
                    <p:cond delay="indefinite"/>
                  </p:stCondLst>
                  <p:endCondLst>
                    <p:cond evt="onStopAudio" delay="0">
                      <p:tgtEl>
                        <p:sldTgt/>
                      </p:tgtEl>
                    </p:cond>
                  </p:endCondLst>
                </p:cTn>
                <p:tgtEl>
                  <p:spTgt spid="3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64"/>
          <p:cNvSpPr/>
          <p:nvPr/>
        </p:nvSpPr>
        <p:spPr>
          <a:xfrm>
            <a:off x="54864" y="54864"/>
            <a:ext cx="9034272" cy="5033772"/>
          </a:xfrm>
          <a:prstGeom prst="rect">
            <a:avLst/>
          </a:prstGeom>
          <a:ln w="114300">
            <a:solidFill>
              <a:srgbClr val="A8E6B4"/>
            </a:solidFill>
            <a:prstDash val="solid"/>
          </a:ln>
        </p:spPr>
      </p:sp>
      <p:pic>
        <p:nvPicPr>
          <p:cNvPr id="4" name="logo_6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6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Find someone who…</a:t>
            </a:r>
            <a:endParaRPr lang="en-US" sz="900" dirty="0"/>
          </a:p>
        </p:txBody>
      </p:sp>
      <p:sp>
        <p:nvSpPr>
          <p:cNvPr id="6" name="timer_6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footer_6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69"/>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Find someone who…</a:t>
            </a:r>
            <a:endParaRPr lang="en-US" sz="1500" dirty="0"/>
          </a:p>
        </p:txBody>
      </p:sp>
      <p:sp>
        <p:nvSpPr>
          <p:cNvPr id="9" name="tape_7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71"/>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1" name="post_7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73"/>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3" name="signB_7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Stand up! Ask the questions. Find a name for each – then ask WHY?</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In piedi! Fai le domande. Trova un nome per ognuna – poi chiedi PERCHÉ?</a:t>
            </a:r>
            <a:endParaRPr lang="en-US" sz="1000" dirty="0"/>
          </a:p>
        </p:txBody>
      </p:sp>
      <p:sp>
        <p:nvSpPr>
          <p:cNvPr id="14" name="iconBack_7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76" descr="pi:PiUsersThree">    </p:cNvPr>
          <p:cNvPicPr>
            <a:picLocks noChangeAspect="1"/>
          </p:cNvPicPr>
          <p:nvPr/>
        </p:nvPicPr>
        <p:blipFill>
          <a:blip r:embed="rId3"/>
          <a:stretch>
            <a:fillRect/>
          </a:stretch>
        </p:blipFill>
        <p:spPr>
          <a:xfrm>
            <a:off x="914400" y="3474720"/>
            <a:ext cx="685800" cy="685800"/>
          </a:xfrm>
          <a:prstGeom prst="rect">
            <a:avLst/>
          </a:prstGeom>
        </p:spPr>
      </p:pic>
      <p:sp>
        <p:nvSpPr>
          <p:cNvPr id="16" name="box_77"/>
          <p:cNvSpPr txBox="1"/>
          <p:nvPr/>
        </p:nvSpPr>
        <p:spPr>
          <a:xfrm>
            <a:off x="2788920" y="1371600"/>
            <a:ext cx="2953512" cy="86868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1  …is frightened of heights.</a:t>
            </a:r>
            <a:endParaRPr lang="en-US" sz="1250" dirty="0"/>
          </a:p>
        </p:txBody>
      </p:sp>
      <p:sp>
        <p:nvSpPr>
          <p:cNvPr id="17" name="box_78"/>
          <p:cNvSpPr txBox="1"/>
          <p:nvPr/>
        </p:nvSpPr>
        <p:spPr>
          <a:xfrm>
            <a:off x="5870448" y="1371600"/>
            <a:ext cx="2953512" cy="86868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2  …has been disappointed by a birthday present.</a:t>
            </a:r>
            <a:endParaRPr lang="en-US" sz="1250" dirty="0"/>
          </a:p>
        </p:txBody>
      </p:sp>
      <p:sp>
        <p:nvSpPr>
          <p:cNvPr id="18" name="box_79"/>
          <p:cNvSpPr txBox="1"/>
          <p:nvPr/>
        </p:nvSpPr>
        <p:spPr>
          <a:xfrm>
            <a:off x="2788920" y="2368296"/>
            <a:ext cx="2953512" cy="86868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3  …finds clothes shopping tiring.</a:t>
            </a:r>
            <a:endParaRPr lang="en-US" sz="1250" dirty="0"/>
          </a:p>
        </p:txBody>
      </p:sp>
      <p:sp>
        <p:nvSpPr>
          <p:cNvPr id="19" name="box_80"/>
          <p:cNvSpPr txBox="1"/>
          <p:nvPr/>
        </p:nvSpPr>
        <p:spPr>
          <a:xfrm>
            <a:off x="5870448" y="2368296"/>
            <a:ext cx="2953512" cy="86868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4  …gets frustrated by technology.</a:t>
            </a:r>
            <a:endParaRPr lang="en-US" sz="1250" dirty="0"/>
          </a:p>
        </p:txBody>
      </p:sp>
      <p:sp>
        <p:nvSpPr>
          <p:cNvPr id="20" name="box_81"/>
          <p:cNvSpPr txBox="1"/>
          <p:nvPr/>
        </p:nvSpPr>
        <p:spPr>
          <a:xfrm>
            <a:off x="2788920" y="3364992"/>
            <a:ext cx="2953512" cy="86868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…thinks golf is the most boring sport to watch.</a:t>
            </a:r>
            <a:endParaRPr lang="en-US" sz="1250" dirty="0"/>
          </a:p>
        </p:txBody>
      </p:sp>
      <p:sp>
        <p:nvSpPr>
          <p:cNvPr id="21" name="box_82"/>
          <p:cNvSpPr txBox="1"/>
          <p:nvPr/>
        </p:nvSpPr>
        <p:spPr>
          <a:xfrm>
            <a:off x="5870448" y="3364992"/>
            <a:ext cx="2953512" cy="86868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6  …has seen some amazing scenery in Sicily.</a:t>
            </a:r>
            <a:endParaRPr lang="en-US" sz="1250" dirty="0"/>
          </a:p>
        </p:txBody>
      </p:sp>
      <p:sp>
        <p:nvSpPr>
          <p:cNvPr id="22" name="pageTag_8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p.42 · 5d</a:t>
            </a:r>
            <a:endParaRPr lang="en-US" sz="1050" dirty="0"/>
          </a:p>
        </p:txBody>
      </p:sp>
    </p:spTree>
  </p:cSld>
  <p:clrMapOvr>
    <a:masterClrMapping/>
  </p:clrMapOvr>
  <p:transition spd="med">
    <p:push dir="l"/>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84"/>
          <p:cNvSpPr/>
          <p:nvPr/>
        </p:nvSpPr>
        <p:spPr>
          <a:xfrm>
            <a:off x="54864" y="54864"/>
            <a:ext cx="9034272" cy="5033772"/>
          </a:xfrm>
          <a:prstGeom prst="rect">
            <a:avLst/>
          </a:prstGeom>
          <a:ln w="114300">
            <a:solidFill>
              <a:srgbClr val="A8E6B4"/>
            </a:solidFill>
            <a:prstDash val="solid"/>
          </a:ln>
        </p:spPr>
      </p:sp>
      <p:pic>
        <p:nvPicPr>
          <p:cNvPr id="4" name="logo_8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8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Practise your English outside class</a:t>
            </a:r>
            <a:endParaRPr lang="en-US" sz="900" dirty="0"/>
          </a:p>
        </p:txBody>
      </p:sp>
      <p:sp>
        <p:nvSpPr>
          <p:cNvPr id="6" name="timer_8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8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89"/>
          <p:cNvSpPr txBox="1"/>
          <p:nvPr/>
        </p:nvSpPr>
        <p:spPr>
          <a:xfrm rot="90000">
            <a:off x="320040" y="676656"/>
            <a:ext cx="3803904"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Tips from the forum</a:t>
            </a:r>
            <a:endParaRPr lang="en-US" sz="1500" dirty="0"/>
          </a:p>
        </p:txBody>
      </p:sp>
      <p:sp>
        <p:nvSpPr>
          <p:cNvPr id="9" name="tape_9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91"/>
          <p:cNvSpPr/>
          <p:nvPr/>
        </p:nvSpPr>
        <p:spPr>
          <a:xfrm rot="-720000">
            <a:off x="3557016" y="1069848"/>
            <a:ext cx="685800" cy="219456"/>
          </a:xfrm>
          <a:prstGeom prst="rect">
            <a:avLst/>
          </a:prstGeom>
          <a:solidFill>
            <a:srgbClr val="FFD84D">
              <a:alpha val="75000"/>
            </a:srgbClr>
          </a:solidFill>
          <a:ln w="6350">
            <a:solidFill>
              <a:srgbClr val="FFD84D"/>
            </a:solidFill>
            <a:prstDash val="solid"/>
          </a:ln>
        </p:spPr>
      </p:sp>
      <p:sp>
        <p:nvSpPr>
          <p:cNvPr id="11" name="post_9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93"/>
          <p:cNvSpPr txBox="1"/>
          <p:nvPr/>
        </p:nvSpPr>
        <p:spPr>
          <a:xfrm rot="-180000">
            <a:off x="320040" y="1371600"/>
            <a:ext cx="2240280" cy="457200"/>
          </a:xfrm>
          <a:prstGeom prst="homePlate">
            <a:avLst/>
          </a:prstGeom>
          <a:solidFill>
            <a:srgbClr val="48BDF2"/>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READ!</a:t>
            </a:r>
            <a:pPr indent="0" marL="0">
              <a:buNone/>
            </a:pPr>
            <a:r>
              <a:rPr lang="en-US" sz="1000" dirty="0">
                <a:solidFill>
                  <a:srgbClr val="FFF3B0"/>
                </a:solidFill>
                <a:latin typeface="Arial Black" pitchFamily="34" charset="0"/>
                <a:ea typeface="Arial Black" pitchFamily="34" charset="-122"/>
                <a:cs typeface="Arial Black" pitchFamily="34" charset="-120"/>
              </a:rPr>
              <a:t>  LEGGI!</a:t>
            </a:r>
            <a:endParaRPr lang="en-US" sz="1500" dirty="0"/>
          </a:p>
        </p:txBody>
      </p:sp>
      <p:sp>
        <p:nvSpPr>
          <p:cNvPr id="13" name="signB_9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Your tips first! Then read p.42: which tip do the examples go with?</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Prima i vostri consigli! Poi leggete p.42: a quale consiglio vanno gli esempi?</a:t>
            </a:r>
            <a:endParaRPr lang="en-US" sz="1000" dirty="0"/>
          </a:p>
        </p:txBody>
      </p:sp>
      <p:sp>
        <p:nvSpPr>
          <p:cNvPr id="14" name="iconBack_9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96" descr="pi:PiChatText">    </p:cNvPr>
          <p:cNvPicPr>
            <a:picLocks noChangeAspect="1"/>
          </p:cNvPicPr>
          <p:nvPr/>
        </p:nvPicPr>
        <p:blipFill>
          <a:blip r:embed="rId3"/>
          <a:stretch>
            <a:fillRect/>
          </a:stretch>
        </p:blipFill>
        <p:spPr>
          <a:xfrm>
            <a:off x="914400" y="3474720"/>
            <a:ext cx="685800" cy="685800"/>
          </a:xfrm>
          <a:prstGeom prst="rect">
            <a:avLst/>
          </a:prstGeom>
        </p:spPr>
      </p:pic>
      <p:sp>
        <p:nvSpPr>
          <p:cNvPr id="16" name="box_97"/>
          <p:cNvSpPr txBox="1"/>
          <p:nvPr/>
        </p:nvSpPr>
        <p:spPr>
          <a:xfrm>
            <a:off x="2788920" y="1371600"/>
            <a:ext cx="3500323" cy="45720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00" dirty="0">
                <a:solidFill>
                  <a:srgbClr val="111111"/>
                </a:solidFill>
                <a:latin typeface="Calibri" pitchFamily="34" charset="0"/>
                <a:ea typeface="Calibri" pitchFamily="34" charset="-122"/>
                <a:cs typeface="Calibri" pitchFamily="34" charset="-120"/>
              </a:rPr>
              <a:t>1  "All you need is love, love. Love is all you need."</a:t>
            </a:r>
            <a:endParaRPr lang="en-US" sz="1100" dirty="0"/>
          </a:p>
        </p:txBody>
      </p:sp>
      <p:sp>
        <p:nvSpPr>
          <p:cNvPr id="17" name="R1_m0"/>
          <p:cNvSpPr txBox="1"/>
          <p:nvPr/>
        </p:nvSpPr>
        <p:spPr>
          <a:xfrm>
            <a:off x="6362395" y="1389888"/>
            <a:ext cx="246156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5 · Sandra – sing songs</a:t>
            </a:r>
            <a:endParaRPr lang="en-US" sz="1100" dirty="0"/>
          </a:p>
        </p:txBody>
      </p:sp>
      <p:sp>
        <p:nvSpPr>
          <p:cNvPr id="18" name="box_98"/>
          <p:cNvSpPr txBox="1"/>
          <p:nvPr/>
        </p:nvSpPr>
        <p:spPr>
          <a:xfrm>
            <a:off x="2788920" y="1901952"/>
            <a:ext cx="3500323" cy="45720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2  "Are you sure you want to shut down your computer now?"</a:t>
            </a:r>
            <a:endParaRPr lang="en-US" sz="950" dirty="0"/>
          </a:p>
        </p:txBody>
      </p:sp>
      <p:sp>
        <p:nvSpPr>
          <p:cNvPr id="19" name="R1_m1"/>
          <p:cNvSpPr txBox="1"/>
          <p:nvPr/>
        </p:nvSpPr>
        <p:spPr>
          <a:xfrm>
            <a:off x="6362395" y="1920240"/>
            <a:ext cx="246156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1 · Sara – phone / laptop in English</a:t>
            </a:r>
            <a:endParaRPr lang="en-US" sz="1100" dirty="0"/>
          </a:p>
        </p:txBody>
      </p:sp>
      <p:sp>
        <p:nvSpPr>
          <p:cNvPr id="20" name="box_99"/>
          <p:cNvSpPr txBox="1"/>
          <p:nvPr/>
        </p:nvSpPr>
        <p:spPr>
          <a:xfrm>
            <a:off x="2788920" y="2432304"/>
            <a:ext cx="3500323" cy="45720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3  "Why don't we stay in and watch a movie tonight, honey?"</a:t>
            </a:r>
            <a:endParaRPr lang="en-US" sz="950" dirty="0"/>
          </a:p>
        </p:txBody>
      </p:sp>
      <p:sp>
        <p:nvSpPr>
          <p:cNvPr id="21" name="R1_m2"/>
          <p:cNvSpPr txBox="1"/>
          <p:nvPr/>
        </p:nvSpPr>
        <p:spPr>
          <a:xfrm>
            <a:off x="6362395" y="2450592"/>
            <a:ext cx="246156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3 · Ágnes – English-speaking partner</a:t>
            </a:r>
            <a:endParaRPr lang="en-US" sz="1100" dirty="0"/>
          </a:p>
        </p:txBody>
      </p:sp>
      <p:sp>
        <p:nvSpPr>
          <p:cNvPr id="22" name="box_100"/>
          <p:cNvSpPr txBox="1"/>
          <p:nvPr/>
        </p:nvSpPr>
        <p:spPr>
          <a:xfrm>
            <a:off x="2788920" y="2962656"/>
            <a:ext cx="3500323" cy="45720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4  "I work for Samsung. I'm a computer programmer. I've been working there for three years."</a:t>
            </a:r>
            <a:endParaRPr lang="en-US" sz="950" dirty="0"/>
          </a:p>
        </p:txBody>
      </p:sp>
      <p:sp>
        <p:nvSpPr>
          <p:cNvPr id="23" name="R1_m3"/>
          <p:cNvSpPr txBox="1"/>
          <p:nvPr/>
        </p:nvSpPr>
        <p:spPr>
          <a:xfrm>
            <a:off x="6362395" y="2980944"/>
            <a:ext cx="246156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6 · Marta – say things in your head</a:t>
            </a:r>
            <a:endParaRPr lang="en-US" sz="1100" dirty="0"/>
          </a:p>
        </p:txBody>
      </p:sp>
      <p:sp>
        <p:nvSpPr>
          <p:cNvPr id="24" name="box_101"/>
          <p:cNvSpPr txBox="1"/>
          <p:nvPr/>
        </p:nvSpPr>
        <p:spPr>
          <a:xfrm>
            <a:off x="2788920" y="3493008"/>
            <a:ext cx="3500323" cy="45720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5  outgoing – shy · generous – mean · friendly – unfriendly</a:t>
            </a:r>
            <a:endParaRPr lang="en-US" sz="950" dirty="0"/>
          </a:p>
        </p:txBody>
      </p:sp>
      <p:sp>
        <p:nvSpPr>
          <p:cNvPr id="25" name="R1_m4"/>
          <p:cNvSpPr txBox="1"/>
          <p:nvPr/>
        </p:nvSpPr>
        <p:spPr>
          <a:xfrm>
            <a:off x="6362395" y="3511296"/>
            <a:ext cx="246156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4 · Vasily – vocabulary app</a:t>
            </a:r>
            <a:endParaRPr lang="en-US" sz="1100" dirty="0"/>
          </a:p>
        </p:txBody>
      </p:sp>
      <p:sp>
        <p:nvSpPr>
          <p:cNvPr id="26" name="box_102"/>
          <p:cNvSpPr txBox="1"/>
          <p:nvPr/>
        </p:nvSpPr>
        <p:spPr>
          <a:xfrm>
            <a:off x="2788920" y="4023360"/>
            <a:ext cx="3500323" cy="45720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950" dirty="0">
                <a:solidFill>
                  <a:srgbClr val="111111"/>
                </a:solidFill>
                <a:latin typeface="Calibri" pitchFamily="34" charset="0"/>
                <a:ea typeface="Calibri" pitchFamily="34" charset="-122"/>
                <a:cs typeface="Calibri" pitchFamily="34" charset="-120"/>
              </a:rPr>
              <a:t>6  "Saxophonist Tim Garland will reunite with his former partner in Celtic jazz group Lammas."</a:t>
            </a:r>
            <a:endParaRPr lang="en-US" sz="950" dirty="0"/>
          </a:p>
        </p:txBody>
      </p:sp>
      <p:sp>
        <p:nvSpPr>
          <p:cNvPr id="27" name="R1_m5"/>
          <p:cNvSpPr txBox="1"/>
          <p:nvPr/>
        </p:nvSpPr>
        <p:spPr>
          <a:xfrm>
            <a:off x="6362395" y="4041648"/>
            <a:ext cx="2461565" cy="420624"/>
          </a:xfrm>
          <a:prstGeom prst="roundRect">
            <a:avLst>
              <a:gd name="adj" fmla="val 13043"/>
            </a:avLst>
          </a:prstGeom>
          <a:solidFill>
            <a:srgbClr val="FFFFFF"/>
          </a:solidFill>
          <a:ln w="38100">
            <a:solidFill>
              <a:srgbClr val="1FA463"/>
            </a:solidFill>
          </a:ln>
        </p:spPr>
        <p:txBody>
          <a:bodyPr wrap="square" lIns="25400" tIns="25400" rIns="25400" bIns="25400" rtlCol="0" anchor="ctr"/>
          <a:lstStyle/>
          <a:p>
            <a:pPr algn="ctr" indent="0" marL="0">
              <a:buNone/>
            </a:pPr>
            <a:r>
              <a:rPr lang="en-US" sz="1100" dirty="0">
                <a:solidFill>
                  <a:srgbClr val="111111"/>
                </a:solidFill>
                <a:latin typeface="Calibri" pitchFamily="34" charset="0"/>
                <a:ea typeface="Calibri" pitchFamily="34" charset="-122"/>
                <a:cs typeface="Calibri" pitchFamily="34" charset="-120"/>
              </a:rPr>
              <a:t>2 · Marc – read about your hobby</a:t>
            </a:r>
            <a:endParaRPr lang="en-US" sz="1100" dirty="0"/>
          </a:p>
        </p:txBody>
      </p:sp>
      <p:sp>
        <p:nvSpPr>
          <p:cNvPr id="28" name="pageTag_103"/>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p.42 · 6a, 6b, 6c</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4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04"/>
          <p:cNvSpPr/>
          <p:nvPr/>
        </p:nvSpPr>
        <p:spPr>
          <a:xfrm>
            <a:off x="54864" y="54864"/>
            <a:ext cx="9034272" cy="5033772"/>
          </a:xfrm>
          <a:prstGeom prst="rect">
            <a:avLst/>
          </a:prstGeom>
          <a:ln w="114300">
            <a:solidFill>
              <a:srgbClr val="A8E6B4"/>
            </a:solidFill>
            <a:prstDash val="solid"/>
          </a:ln>
        </p:spPr>
      </p:sp>
      <p:pic>
        <p:nvPicPr>
          <p:cNvPr id="4" name="logo_10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0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GRAMMAR · Reflexive pronouns · audio 4.20</a:t>
            </a:r>
            <a:endParaRPr lang="en-US" sz="900" dirty="0"/>
          </a:p>
        </p:txBody>
      </p:sp>
      <p:sp>
        <p:nvSpPr>
          <p:cNvPr id="6" name="timer_10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5 min</a:t>
            </a:r>
            <a:endParaRPr lang="en-US" sz="1200" dirty="0"/>
          </a:p>
        </p:txBody>
      </p:sp>
      <p:sp>
        <p:nvSpPr>
          <p:cNvPr id="7" name="footer_10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109"/>
          <p:cNvSpPr txBox="1"/>
          <p:nvPr/>
        </p:nvSpPr>
        <p:spPr>
          <a:xfrm rot="90000">
            <a:off x="320040" y="676656"/>
            <a:ext cx="3456432"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myself, yourself…</a:t>
            </a:r>
            <a:endParaRPr lang="en-US" sz="1500" dirty="0"/>
          </a:p>
        </p:txBody>
      </p:sp>
      <p:sp>
        <p:nvSpPr>
          <p:cNvPr id="9" name="tape_11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11"/>
          <p:cNvSpPr/>
          <p:nvPr/>
        </p:nvSpPr>
        <p:spPr>
          <a:xfrm rot="-720000">
            <a:off x="3209544" y="1069848"/>
            <a:ext cx="685800" cy="219456"/>
          </a:xfrm>
          <a:prstGeom prst="rect">
            <a:avLst/>
          </a:prstGeom>
          <a:solidFill>
            <a:srgbClr val="FFD84D">
              <a:alpha val="75000"/>
            </a:srgbClr>
          </a:solidFill>
          <a:ln w="6350">
            <a:solidFill>
              <a:srgbClr val="FFD84D"/>
            </a:solidFill>
            <a:prstDash val="solid"/>
          </a:ln>
        </p:spPr>
      </p:sp>
      <p:sp>
        <p:nvSpPr>
          <p:cNvPr id="11" name="rh_112"/>
          <p:cNvSpPr txBox="1"/>
          <p:nvPr/>
        </p:nvSpPr>
        <p:spPr>
          <a:xfrm>
            <a:off x="320040" y="1371600"/>
            <a:ext cx="2749296" cy="384048"/>
          </a:xfrm>
          <a:prstGeom prst="rect">
            <a:avLst/>
          </a:prstGeom>
          <a:solidFill>
            <a:srgbClr val="48BDF2"/>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Singular</a:t>
            </a:r>
            <a:endParaRPr lang="en-US" sz="1300" dirty="0"/>
          </a:p>
        </p:txBody>
      </p:sp>
      <p:sp>
        <p:nvSpPr>
          <p:cNvPr id="12" name="rb_113"/>
          <p:cNvSpPr txBox="1"/>
          <p:nvPr/>
        </p:nvSpPr>
        <p:spPr>
          <a:xfrm>
            <a:off x="320040"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I → myself</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you → yourself</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he → himself</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she → herself</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it → itself</a:t>
            </a:r>
            <a:endParaRPr lang="en-US" sz="1400" dirty="0"/>
          </a:p>
        </p:txBody>
      </p:sp>
      <p:sp>
        <p:nvSpPr>
          <p:cNvPr id="13" name="rh_114"/>
          <p:cNvSpPr txBox="1"/>
          <p:nvPr/>
        </p:nvSpPr>
        <p:spPr>
          <a:xfrm>
            <a:off x="3197352" y="1371600"/>
            <a:ext cx="2749296" cy="384048"/>
          </a:xfrm>
          <a:prstGeom prst="rect">
            <a:avLst/>
          </a:prstGeom>
          <a:solidFill>
            <a:srgbClr val="EF2F2F"/>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Plural</a:t>
            </a:r>
            <a:endParaRPr lang="en-US" sz="1300" dirty="0"/>
          </a:p>
        </p:txBody>
      </p:sp>
      <p:sp>
        <p:nvSpPr>
          <p:cNvPr id="14" name="rb_115"/>
          <p:cNvSpPr txBox="1"/>
          <p:nvPr/>
        </p:nvSpPr>
        <p:spPr>
          <a:xfrm>
            <a:off x="3197352"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we → ourselves</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you → yourselves</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they → themselves</a:t>
            </a:r>
            <a:endParaRPr lang="en-US" sz="1400" dirty="0"/>
          </a:p>
        </p:txBody>
      </p:sp>
      <p:sp>
        <p:nvSpPr>
          <p:cNvPr id="15" name="rh_116"/>
          <p:cNvSpPr txBox="1"/>
          <p:nvPr/>
        </p:nvSpPr>
        <p:spPr>
          <a:xfrm>
            <a:off x="6074664" y="1371600"/>
            <a:ext cx="2749296" cy="384048"/>
          </a:xfrm>
          <a:prstGeom prst="rect">
            <a:avLst/>
          </a:prstGeom>
          <a:solidFill>
            <a:srgbClr val="1FA463"/>
          </a:solidFill>
          <a:ln w="19050">
            <a:solidFill>
              <a:srgbClr val="111111"/>
            </a:solidFill>
          </a:ln>
        </p:spPr>
        <p:txBody>
          <a:bodyPr wrap="square" lIns="25400" tIns="25400" rIns="25400" bIns="2540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Use them!</a:t>
            </a:r>
            <a:endParaRPr lang="en-US" sz="1300" dirty="0"/>
          </a:p>
        </p:txBody>
      </p:sp>
      <p:sp>
        <p:nvSpPr>
          <p:cNvPr id="16" name="rb_117"/>
          <p:cNvSpPr txBox="1"/>
          <p:nvPr/>
        </p:nvSpPr>
        <p:spPr>
          <a:xfrm>
            <a:off x="6074664" y="1810512"/>
            <a:ext cx="2749296" cy="2157984"/>
          </a:xfrm>
          <a:prstGeom prst="rect">
            <a:avLst/>
          </a:prstGeom>
          <a:solidFill>
            <a:srgbClr val="FFFFFF"/>
          </a:solidFill>
          <a:ln w="19050">
            <a:solidFill>
              <a:srgbClr val="111111"/>
            </a:solidFill>
          </a:ln>
        </p:spPr>
        <p:txBody>
          <a:bodyPr wrap="square" lIns="101600" tIns="101600" rIns="101600" bIns="101600" rtlCol="0" anchor="t"/>
          <a:lstStyle/>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She's cut herself.</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I'm teaching myself Spanish.</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We really enjoyed ourselves.</a:t>
            </a:r>
            <a:endParaRPr lang="en-US" sz="1400" dirty="0"/>
          </a:p>
          <a:p>
            <a:pPr indent="0" marL="0">
              <a:spcAft>
                <a:spcPts val="400"/>
              </a:spcAft>
              <a:buNone/>
            </a:pPr>
            <a:r>
              <a:rPr lang="en-US" sz="1400" dirty="0">
                <a:solidFill>
                  <a:srgbClr val="111111"/>
                </a:solidFill>
                <a:latin typeface="Calibri" pitchFamily="34" charset="0"/>
                <a:ea typeface="Calibri" pitchFamily="34" charset="-122"/>
                <a:cs typeface="Calibri" pitchFamily="34" charset="-120"/>
              </a:rPr>
              <a:t>I like travelling by myself.</a:t>
            </a:r>
            <a:endParaRPr lang="en-US" sz="1400" dirty="0"/>
          </a:p>
          <a:p>
            <a:pPr indent="0" marL="0">
              <a:spcAft>
                <a:spcPts val="400"/>
              </a:spcAft>
              <a:buNone/>
            </a:pPr>
            <a:r>
              <a:rPr lang="en-US" sz="1150" i="1" dirty="0">
                <a:solidFill>
                  <a:srgbClr val="6D3FC0"/>
                </a:solidFill>
                <a:latin typeface="Calibri" pitchFamily="34" charset="0"/>
                <a:ea typeface="Calibri" pitchFamily="34" charset="-122"/>
                <a:cs typeface="Calibri" pitchFamily="34" charset="-120"/>
              </a:rPr>
              <a:t>by myself = da solo</a:t>
            </a:r>
            <a:endParaRPr lang="en-US" sz="1400" dirty="0"/>
          </a:p>
        </p:txBody>
      </p:sp>
      <p:sp>
        <p:nvSpPr>
          <p:cNvPr id="17" name="watch_118"/>
          <p:cNvSpPr txBox="1"/>
          <p:nvPr/>
        </p:nvSpPr>
        <p:spPr>
          <a:xfrm>
            <a:off x="320040" y="4133088"/>
            <a:ext cx="8503920" cy="530352"/>
          </a:xfrm>
          <a:prstGeom prst="rect">
            <a:avLst/>
          </a:prstGeom>
          <a:solidFill>
            <a:srgbClr val="FFE4E6"/>
          </a:solidFill>
          <a:ln w="19050">
            <a:solidFill>
              <a:srgbClr val="111111"/>
            </a:solidFill>
          </a:ln>
        </p:spPr>
        <p:txBody>
          <a:bodyPr wrap="square" lIns="101600" tIns="101600" rIns="101600" bIns="101600" rtlCol="0" anchor="ctr"/>
          <a:lstStyle/>
          <a:p>
            <a:pPr indent="0" marL="0">
              <a:buNone/>
            </a:pPr>
            <a:r>
              <a:rPr lang="en-US" sz="1250" b="1" dirty="0">
                <a:solidFill>
                  <a:srgbClr val="EF2F2F"/>
                </a:solidFill>
                <a:latin typeface="Calibri" pitchFamily="34" charset="0"/>
                <a:ea typeface="Calibri" pitchFamily="34" charset="-122"/>
                <a:cs typeface="Calibri" pitchFamily="34" charset="-120"/>
              </a:rPr>
              <a:t>Watch out!  </a:t>
            </a:r>
            <a:pPr indent="0" marL="0">
              <a:buNone/>
            </a:pPr>
            <a:r>
              <a:rPr lang="en-US" sz="1250" dirty="0">
                <a:solidFill>
                  <a:srgbClr val="111111"/>
                </a:solidFill>
                <a:latin typeface="Calibri" pitchFamily="34" charset="0"/>
                <a:ea typeface="Calibri" pitchFamily="34" charset="-122"/>
                <a:cs typeface="Calibri" pitchFamily="34" charset="-120"/>
              </a:rPr>
              <a:t>✗ hisself, theirselves   ✗ I relax myself → ✓ I relax   ✗ I get myself up → ✓ I get up</a:t>
            </a:r>
            <a:endParaRPr lang="en-US" sz="1250" dirty="0"/>
          </a:p>
        </p:txBody>
      </p:sp>
      <p:sp>
        <p:nvSpPr>
          <p:cNvPr id="18" name="pageTag_119"/>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p.42 · 6d, 6e, 6f · audio 4.20</a:t>
            </a:r>
            <a:endParaRPr lang="en-US" sz="1050" dirty="0"/>
          </a:p>
        </p:txBody>
      </p:sp>
      <p:pic>
        <p:nvPicPr>
          <p:cNvPr id="19" name="Media 0">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5166360" y="155448"/>
            <a:ext cx="384048" cy="384048"/>
          </a:xfrm>
          <a:prstGeom prst="rect">
            <a:avLst/>
          </a:prstGeom>
        </p:spPr>
      </p:pic>
      <p:sp>
        <p:nvSpPr>
          <p:cNvPr id="20" name="atr_120"/>
          <p:cNvSpPr txBox="1"/>
          <p:nvPr/>
        </p:nvSpPr>
        <p:spPr>
          <a:xfrm>
            <a:off x="5120640" y="530352"/>
            <a:ext cx="475488" cy="164592"/>
          </a:xfrm>
          <a:prstGeom prst="rect">
            <a:avLst/>
          </a:prstGeom>
          <a:noFill/>
          <a:ln/>
        </p:spPr>
        <p:txBody>
          <a:bodyPr wrap="square" lIns="0" tIns="0" rIns="0" bIns="0" rtlCol="0" anchor="ctr"/>
          <a:lstStyle/>
          <a:p>
            <a:pPr algn="ctr" indent="0" marL="0">
              <a:buNone/>
            </a:pPr>
            <a:r>
              <a:rPr lang="en-US" sz="800" b="1" dirty="0">
                <a:solidFill>
                  <a:srgbClr val="062F67"/>
                </a:solidFill>
                <a:latin typeface="Calibri" pitchFamily="34" charset="0"/>
                <a:ea typeface="Calibri" pitchFamily="34" charset="-122"/>
                <a:cs typeface="Calibri" pitchFamily="34" charset="-120"/>
              </a:rPr>
              <a:t>4.20</a:t>
            </a:r>
            <a:endParaRPr lang="en-US" sz="800" dirty="0"/>
          </a:p>
        </p:txBody>
      </p:sp>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19"/>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19"/>
                                        </p:tgtEl>
                                      </p:cBhvr>
                                    </p:cmd>
                                  </p:childTnLst>
                                </p:cTn>
                              </p:par>
                            </p:childTnLst>
                          </p:cTn>
                        </p:par>
                      </p:childTnLst>
                    </p:cTn>
                  </p:par>
                </p:childTnLst>
              </p:cTn>
              <p:nextCondLst>
                <p:cond evt="onClick" delay="0">
                  <p:tgtEl>
                    <p:spTgt spid="19"/>
                  </p:tgtEl>
                </p:cond>
              </p:nextCondLst>
            </p:seq>
            <p:audio>
              <p:cMediaNode vol="80000">
                <p:cTn id="8" fill="hold" display="0">
                  <p:stCondLst>
                    <p:cond delay="indefinite"/>
                  </p:stCondLst>
                  <p:endCondLst>
                    <p:cond evt="onStopAudio" delay="0">
                      <p:tgtEl>
                        <p:sldTgt/>
                      </p:tgtEl>
                    </p:cond>
                  </p:endCondLst>
                </p:cTn>
                <p:tgtEl>
                  <p:spTgt spid="19"/>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21"/>
          <p:cNvSpPr/>
          <p:nvPr/>
        </p:nvSpPr>
        <p:spPr>
          <a:xfrm>
            <a:off x="54864" y="54864"/>
            <a:ext cx="9034272" cy="5033772"/>
          </a:xfrm>
          <a:prstGeom prst="rect">
            <a:avLst/>
          </a:prstGeom>
          <a:ln w="114300">
            <a:solidFill>
              <a:srgbClr val="A8E6B4"/>
            </a:solidFill>
            <a:prstDash val="solid"/>
          </a:ln>
        </p:spPr>
      </p:sp>
      <p:pic>
        <p:nvPicPr>
          <p:cNvPr id="4" name="logo_122"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23"/>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SPEAKING · Mini debate</a:t>
            </a:r>
            <a:endParaRPr lang="en-US" sz="900" dirty="0"/>
          </a:p>
        </p:txBody>
      </p:sp>
      <p:sp>
        <p:nvSpPr>
          <p:cNvPr id="6" name="timer_124"/>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12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126"/>
          <p:cNvSpPr txBox="1"/>
          <p:nvPr/>
        </p:nvSpPr>
        <p:spPr>
          <a:xfrm rot="90000">
            <a:off x="320040" y="676656"/>
            <a:ext cx="328269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Agree or no way?</a:t>
            </a:r>
            <a:endParaRPr lang="en-US" sz="1500" dirty="0"/>
          </a:p>
        </p:txBody>
      </p:sp>
      <p:sp>
        <p:nvSpPr>
          <p:cNvPr id="9" name="tape_12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28"/>
          <p:cNvSpPr/>
          <p:nvPr/>
        </p:nvSpPr>
        <p:spPr>
          <a:xfrm rot="-720000">
            <a:off x="3035808" y="1069848"/>
            <a:ext cx="685800" cy="219456"/>
          </a:xfrm>
          <a:prstGeom prst="rect">
            <a:avLst/>
          </a:prstGeom>
          <a:solidFill>
            <a:srgbClr val="FFD84D">
              <a:alpha val="75000"/>
            </a:srgbClr>
          </a:solidFill>
          <a:ln w="6350">
            <a:solidFill>
              <a:srgbClr val="FFD84D"/>
            </a:solidFill>
            <a:prstDash val="solid"/>
          </a:ln>
        </p:spPr>
      </p:sp>
      <p:sp>
        <p:nvSpPr>
          <p:cNvPr id="11" name="post_129"/>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3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3" name="signB_13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Agree or no way? Give a reason – and an example!</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D'accordo o per niente? Dai un motivo – e un esempio!</a:t>
            </a:r>
            <a:endParaRPr lang="en-US" sz="1250" dirty="0"/>
          </a:p>
        </p:txBody>
      </p:sp>
      <p:sp>
        <p:nvSpPr>
          <p:cNvPr id="14" name="iconBack_13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33" descr="pi:PiScales">    </p:cNvPr>
          <p:cNvPicPr>
            <a:picLocks noChangeAspect="1"/>
          </p:cNvPicPr>
          <p:nvPr/>
        </p:nvPicPr>
        <p:blipFill>
          <a:blip r:embed="rId3"/>
          <a:stretch>
            <a:fillRect/>
          </a:stretch>
        </p:blipFill>
        <p:spPr>
          <a:xfrm>
            <a:off x="914400" y="3474720"/>
            <a:ext cx="685800" cy="685800"/>
          </a:xfrm>
          <a:prstGeom prst="rect">
            <a:avLst/>
          </a:prstGeom>
        </p:spPr>
      </p:pic>
      <p:sp>
        <p:nvSpPr>
          <p:cNvPr id="16" name="box_134"/>
          <p:cNvSpPr txBox="1"/>
          <p:nvPr/>
        </p:nvSpPr>
        <p:spPr>
          <a:xfrm>
            <a:off x="2788920" y="1371600"/>
            <a:ext cx="4572000"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"You can't learn a language well without living abroad."</a:t>
            </a:r>
            <a:endParaRPr lang="en-US" sz="1350" dirty="0"/>
          </a:p>
        </p:txBody>
      </p:sp>
      <p:sp>
        <p:nvSpPr>
          <p:cNvPr id="17" name="stamp_135"/>
          <p:cNvSpPr txBox="1"/>
          <p:nvPr/>
        </p:nvSpPr>
        <p:spPr>
          <a:xfrm>
            <a:off x="7434072" y="1417320"/>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18" name="stamp_136"/>
          <p:cNvSpPr txBox="1"/>
          <p:nvPr/>
        </p:nvSpPr>
        <p:spPr>
          <a:xfrm>
            <a:off x="8129016" y="1417320"/>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19" name="box_137"/>
          <p:cNvSpPr txBox="1"/>
          <p:nvPr/>
        </p:nvSpPr>
        <p:spPr>
          <a:xfrm>
            <a:off x="2788920" y="2029968"/>
            <a:ext cx="4572000"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"Watching series in English is better than doing homework."</a:t>
            </a:r>
            <a:endParaRPr lang="en-US" sz="1350" dirty="0"/>
          </a:p>
        </p:txBody>
      </p:sp>
      <p:sp>
        <p:nvSpPr>
          <p:cNvPr id="20" name="stamp_138"/>
          <p:cNvSpPr txBox="1"/>
          <p:nvPr/>
        </p:nvSpPr>
        <p:spPr>
          <a:xfrm>
            <a:off x="7434072" y="2075688"/>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1" name="stamp_139"/>
          <p:cNvSpPr txBox="1"/>
          <p:nvPr/>
        </p:nvSpPr>
        <p:spPr>
          <a:xfrm>
            <a:off x="8129016" y="2075688"/>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2" name="box_140"/>
          <p:cNvSpPr txBox="1"/>
          <p:nvPr/>
        </p:nvSpPr>
        <p:spPr>
          <a:xfrm>
            <a:off x="2788920" y="2688336"/>
            <a:ext cx="4572000"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"Apps are better than books for learning vocabulary."</a:t>
            </a:r>
            <a:endParaRPr lang="en-US" sz="1350" dirty="0"/>
          </a:p>
        </p:txBody>
      </p:sp>
      <p:sp>
        <p:nvSpPr>
          <p:cNvPr id="23" name="stamp_141"/>
          <p:cNvSpPr txBox="1"/>
          <p:nvPr/>
        </p:nvSpPr>
        <p:spPr>
          <a:xfrm>
            <a:off x="7434072" y="2734056"/>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4" name="stamp_142"/>
          <p:cNvSpPr txBox="1"/>
          <p:nvPr/>
        </p:nvSpPr>
        <p:spPr>
          <a:xfrm>
            <a:off x="8129016" y="2734056"/>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5" name="box_143"/>
          <p:cNvSpPr txBox="1"/>
          <p:nvPr/>
        </p:nvSpPr>
        <p:spPr>
          <a:xfrm>
            <a:off x="2788920" y="3346704"/>
            <a:ext cx="4572000"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"Singing in English is the best way to improve your pronunciation."</a:t>
            </a:r>
            <a:endParaRPr lang="en-US" sz="1350" dirty="0"/>
          </a:p>
        </p:txBody>
      </p:sp>
      <p:sp>
        <p:nvSpPr>
          <p:cNvPr id="26" name="stamp_144"/>
          <p:cNvSpPr txBox="1"/>
          <p:nvPr/>
        </p:nvSpPr>
        <p:spPr>
          <a:xfrm>
            <a:off x="7434072" y="3392424"/>
            <a:ext cx="658368" cy="475488"/>
          </a:xfrm>
          <a:prstGeom prst="roundRect">
            <a:avLst>
              <a:gd name="adj" fmla="val 11538"/>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FA463"/>
                </a:solidFill>
                <a:latin typeface="Arial Black" pitchFamily="34" charset="0"/>
                <a:ea typeface="Arial Black" pitchFamily="34" charset="-122"/>
                <a:cs typeface="Arial Black" pitchFamily="34" charset="-120"/>
              </a:rPr>
              <a:t>AGREE</a:t>
            </a:r>
            <a:endParaRPr lang="en-US" sz="950" dirty="0"/>
          </a:p>
        </p:txBody>
      </p:sp>
      <p:sp>
        <p:nvSpPr>
          <p:cNvPr id="27" name="stamp_145"/>
          <p:cNvSpPr txBox="1"/>
          <p:nvPr/>
        </p:nvSpPr>
        <p:spPr>
          <a:xfrm>
            <a:off x="8129016" y="3392424"/>
            <a:ext cx="694944" cy="475488"/>
          </a:xfrm>
          <a:prstGeom prst="roundRect">
            <a:avLst>
              <a:gd name="adj" fmla="val 11538"/>
            </a:avLst>
          </a:prstGeom>
          <a:solidFill>
            <a:srgbClr val="FFFFFF"/>
          </a:solidFill>
          <a:ln w="38100">
            <a:solidFill>
              <a:srgbClr val="EF2F2F"/>
            </a:solidFill>
          </a:ln>
        </p:spPr>
        <p:txBody>
          <a:bodyPr wrap="square" lIns="25400" tIns="25400" rIns="25400" bIns="25400" rtlCol="0" anchor="ctr"/>
          <a:lstStyle/>
          <a:p>
            <a:pPr algn="ctr" indent="0" marL="0">
              <a:buNone/>
            </a:pPr>
            <a:r>
              <a:rPr lang="en-US" sz="950" dirty="0">
                <a:solidFill>
                  <a:srgbClr val="EF2F2F"/>
                </a:solidFill>
                <a:latin typeface="Arial Black" pitchFamily="34" charset="0"/>
                <a:ea typeface="Arial Black" pitchFamily="34" charset="-122"/>
                <a:cs typeface="Arial Black" pitchFamily="34" charset="-120"/>
              </a:rPr>
              <a:t>NO WAY</a:t>
            </a:r>
            <a:endParaRPr lang="en-US" sz="950" dirty="0"/>
          </a:p>
        </p:txBody>
      </p:sp>
      <p:sp>
        <p:nvSpPr>
          <p:cNvPr id="28" name="bubble_146"/>
          <p:cNvSpPr txBox="1"/>
          <p:nvPr/>
        </p:nvSpPr>
        <p:spPr>
          <a:xfrm>
            <a:off x="2788920" y="4160520"/>
            <a:ext cx="60350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dirty="0">
                <a:solidFill>
                  <a:srgbClr val="111111"/>
                </a:solidFill>
                <a:latin typeface="Calibri" pitchFamily="34" charset="0"/>
                <a:ea typeface="Calibri" pitchFamily="34" charset="-122"/>
                <a:cs typeface="Calibri" pitchFamily="34" charset="-120"/>
              </a:rPr>
              <a:t>Personally, I think… · To be honest… · I don't think that's right!</a:t>
            </a:r>
            <a:endParaRPr lang="en-US" sz="1250" dirty="0"/>
          </a:p>
        </p:txBody>
      </p:sp>
      <p:sp>
        <p:nvSpPr>
          <p:cNvPr id="29" name="pageTag_147"/>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p.42 · 6g</a:t>
            </a:r>
            <a:endParaRPr lang="en-US" sz="1050" dirty="0"/>
          </a:p>
        </p:txBody>
      </p:sp>
    </p:spTree>
  </p:cSld>
  <p:clrMapOvr>
    <a:masterClrMapping/>
  </p:clrMapOvr>
  <p:transition spd="med">
    <p:push dir="l"/>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48"/>
          <p:cNvSpPr/>
          <p:nvPr/>
        </p:nvSpPr>
        <p:spPr>
          <a:xfrm>
            <a:off x="54864" y="54864"/>
            <a:ext cx="9034272" cy="5033772"/>
          </a:xfrm>
          <a:prstGeom prst="rect">
            <a:avLst/>
          </a:prstGeom>
          <a:ln w="114300">
            <a:solidFill>
              <a:srgbClr val="A8E6B4"/>
            </a:solidFill>
            <a:prstDash val="solid"/>
          </a:ln>
        </p:spPr>
      </p:sp>
      <p:pic>
        <p:nvPicPr>
          <p:cNvPr id="4" name="logo_149"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50"/>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LISTENING · Part 1 · Prediction</a:t>
            </a:r>
            <a:endParaRPr lang="en-US" sz="900" dirty="0"/>
          </a:p>
        </p:txBody>
      </p:sp>
      <p:sp>
        <p:nvSpPr>
          <p:cNvPr id="6" name="timer_151"/>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3 min</a:t>
            </a:r>
            <a:endParaRPr lang="en-US" sz="1200" dirty="0"/>
          </a:p>
        </p:txBody>
      </p:sp>
      <p:sp>
        <p:nvSpPr>
          <p:cNvPr id="7" name="footer_15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153"/>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Hello in 11 languages</a:t>
            </a:r>
            <a:endParaRPr lang="en-US" sz="1500" dirty="0"/>
          </a:p>
        </p:txBody>
      </p:sp>
      <p:sp>
        <p:nvSpPr>
          <p:cNvPr id="9" name="tape_15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55"/>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11" name="post_156"/>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57"/>
          <p:cNvSpPr txBox="1"/>
          <p:nvPr/>
        </p:nvSpPr>
        <p:spPr>
          <a:xfrm rot="-180000">
            <a:off x="320040" y="1371600"/>
            <a:ext cx="2240280" cy="457200"/>
          </a:xfrm>
          <a:prstGeom prst="homePlate">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THINK!</a:t>
            </a:r>
            <a:pPr indent="0" marL="0">
              <a:buNone/>
            </a:pPr>
            <a:r>
              <a:rPr lang="en-US" sz="1000" dirty="0">
                <a:solidFill>
                  <a:srgbClr val="FFF3B0"/>
                </a:solidFill>
                <a:latin typeface="Arial Black" pitchFamily="34" charset="0"/>
                <a:ea typeface="Arial Black" pitchFamily="34" charset="-122"/>
                <a:cs typeface="Arial Black" pitchFamily="34" charset="-120"/>
              </a:rPr>
              <a:t>  PENSA!</a:t>
            </a:r>
            <a:endParaRPr lang="en-US" sz="1500" dirty="0"/>
          </a:p>
        </p:txBody>
      </p:sp>
      <p:sp>
        <p:nvSpPr>
          <p:cNvPr id="13" name="signB_15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Guess the language! Then check.</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Indovina la lingua! Poi controlla.</a:t>
            </a:r>
            <a:endParaRPr lang="en-US" sz="1250" dirty="0"/>
          </a:p>
        </p:txBody>
      </p:sp>
      <p:sp>
        <p:nvSpPr>
          <p:cNvPr id="14" name="box_159"/>
          <p:cNvSpPr txBox="1"/>
          <p:nvPr/>
        </p:nvSpPr>
        <p:spPr>
          <a:xfrm>
            <a:off x="2788920" y="1371600"/>
            <a:ext cx="147675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Goeiemôre</a:t>
            </a:r>
            <a:endParaRPr lang="en-US" sz="1300" dirty="0"/>
          </a:p>
        </p:txBody>
      </p:sp>
      <p:sp>
        <p:nvSpPr>
          <p:cNvPr id="15" name="R1_a0"/>
          <p:cNvSpPr txBox="1"/>
          <p:nvPr/>
        </p:nvSpPr>
        <p:spPr>
          <a:xfrm>
            <a:off x="4320540" y="1408176"/>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Afrikaans</a:t>
            </a:r>
            <a:endParaRPr lang="en-US" sz="1200" dirty="0"/>
          </a:p>
        </p:txBody>
      </p:sp>
      <p:sp>
        <p:nvSpPr>
          <p:cNvPr id="16" name="box_160"/>
          <p:cNvSpPr txBox="1"/>
          <p:nvPr/>
        </p:nvSpPr>
        <p:spPr>
          <a:xfrm>
            <a:off x="5870448" y="1371600"/>
            <a:ext cx="147675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2 Bonjour</a:t>
            </a:r>
            <a:endParaRPr lang="en-US" sz="1300" dirty="0"/>
          </a:p>
        </p:txBody>
      </p:sp>
      <p:sp>
        <p:nvSpPr>
          <p:cNvPr id="17" name="R1_a1"/>
          <p:cNvSpPr txBox="1"/>
          <p:nvPr/>
        </p:nvSpPr>
        <p:spPr>
          <a:xfrm>
            <a:off x="7402068" y="1408176"/>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French</a:t>
            </a:r>
            <a:endParaRPr lang="en-US" sz="1200" dirty="0"/>
          </a:p>
        </p:txBody>
      </p:sp>
      <p:sp>
        <p:nvSpPr>
          <p:cNvPr id="18" name="box_161"/>
          <p:cNvSpPr txBox="1"/>
          <p:nvPr/>
        </p:nvSpPr>
        <p:spPr>
          <a:xfrm>
            <a:off x="2788920" y="1941576"/>
            <a:ext cx="147675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3 Shalom</a:t>
            </a:r>
            <a:endParaRPr lang="en-US" sz="1300" dirty="0"/>
          </a:p>
        </p:txBody>
      </p:sp>
      <p:sp>
        <p:nvSpPr>
          <p:cNvPr id="19" name="R1_a2"/>
          <p:cNvSpPr txBox="1"/>
          <p:nvPr/>
        </p:nvSpPr>
        <p:spPr>
          <a:xfrm>
            <a:off x="4320540" y="1978152"/>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Hebrew</a:t>
            </a:r>
            <a:endParaRPr lang="en-US" sz="1200" dirty="0"/>
          </a:p>
        </p:txBody>
      </p:sp>
      <p:sp>
        <p:nvSpPr>
          <p:cNvPr id="20" name="box_162"/>
          <p:cNvSpPr txBox="1"/>
          <p:nvPr/>
        </p:nvSpPr>
        <p:spPr>
          <a:xfrm>
            <a:off x="5870448" y="1941576"/>
            <a:ext cx="147675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4 Buongiorno</a:t>
            </a:r>
            <a:endParaRPr lang="en-US" sz="1300" dirty="0"/>
          </a:p>
        </p:txBody>
      </p:sp>
      <p:sp>
        <p:nvSpPr>
          <p:cNvPr id="21" name="R1_a3"/>
          <p:cNvSpPr txBox="1"/>
          <p:nvPr/>
        </p:nvSpPr>
        <p:spPr>
          <a:xfrm>
            <a:off x="7402068" y="1978152"/>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Italian</a:t>
            </a:r>
            <a:endParaRPr lang="en-US" sz="1200" dirty="0"/>
          </a:p>
        </p:txBody>
      </p:sp>
      <p:sp>
        <p:nvSpPr>
          <p:cNvPr id="22" name="box_163"/>
          <p:cNvSpPr txBox="1"/>
          <p:nvPr/>
        </p:nvSpPr>
        <p:spPr>
          <a:xfrm>
            <a:off x="2788920" y="2511552"/>
            <a:ext cx="147675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5 Goedemorgen</a:t>
            </a:r>
            <a:endParaRPr lang="en-US" sz="1300" dirty="0"/>
          </a:p>
        </p:txBody>
      </p:sp>
      <p:sp>
        <p:nvSpPr>
          <p:cNvPr id="23" name="R1_a4"/>
          <p:cNvSpPr txBox="1"/>
          <p:nvPr/>
        </p:nvSpPr>
        <p:spPr>
          <a:xfrm>
            <a:off x="4320540" y="2548128"/>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Dutch</a:t>
            </a:r>
            <a:endParaRPr lang="en-US" sz="1200" dirty="0"/>
          </a:p>
        </p:txBody>
      </p:sp>
      <p:sp>
        <p:nvSpPr>
          <p:cNvPr id="24" name="box_164"/>
          <p:cNvSpPr txBox="1"/>
          <p:nvPr/>
        </p:nvSpPr>
        <p:spPr>
          <a:xfrm>
            <a:off x="5870448" y="2511552"/>
            <a:ext cx="1476756" cy="441960"/>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6 Yassas</a:t>
            </a:r>
            <a:endParaRPr lang="en-US" sz="1300" dirty="0"/>
          </a:p>
        </p:txBody>
      </p:sp>
      <p:sp>
        <p:nvSpPr>
          <p:cNvPr id="25" name="R1_a5"/>
          <p:cNvSpPr txBox="1"/>
          <p:nvPr/>
        </p:nvSpPr>
        <p:spPr>
          <a:xfrm>
            <a:off x="7402068" y="2548128"/>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Greek</a:t>
            </a:r>
            <a:endParaRPr lang="en-US" sz="1200" dirty="0"/>
          </a:p>
        </p:txBody>
      </p:sp>
      <p:sp>
        <p:nvSpPr>
          <p:cNvPr id="26" name="box_165"/>
          <p:cNvSpPr txBox="1"/>
          <p:nvPr/>
        </p:nvSpPr>
        <p:spPr>
          <a:xfrm>
            <a:off x="2788920" y="3081528"/>
            <a:ext cx="1476756" cy="44196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7 Hola</a:t>
            </a:r>
            <a:endParaRPr lang="en-US" sz="1300" dirty="0"/>
          </a:p>
        </p:txBody>
      </p:sp>
      <p:sp>
        <p:nvSpPr>
          <p:cNvPr id="27" name="R1_a6"/>
          <p:cNvSpPr txBox="1"/>
          <p:nvPr/>
        </p:nvSpPr>
        <p:spPr>
          <a:xfrm>
            <a:off x="4320540" y="3118104"/>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Spanish</a:t>
            </a:r>
            <a:endParaRPr lang="en-US" sz="1200" dirty="0"/>
          </a:p>
        </p:txBody>
      </p:sp>
      <p:sp>
        <p:nvSpPr>
          <p:cNvPr id="28" name="box_166"/>
          <p:cNvSpPr txBox="1"/>
          <p:nvPr/>
        </p:nvSpPr>
        <p:spPr>
          <a:xfrm>
            <a:off x="5870448" y="3081528"/>
            <a:ext cx="1476756" cy="44196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8 Privet</a:t>
            </a:r>
            <a:endParaRPr lang="en-US" sz="1300" dirty="0"/>
          </a:p>
        </p:txBody>
      </p:sp>
      <p:sp>
        <p:nvSpPr>
          <p:cNvPr id="29" name="R1_a7"/>
          <p:cNvSpPr txBox="1"/>
          <p:nvPr/>
        </p:nvSpPr>
        <p:spPr>
          <a:xfrm>
            <a:off x="7402068" y="3118104"/>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Russian</a:t>
            </a:r>
            <a:endParaRPr lang="en-US" sz="1200" dirty="0"/>
          </a:p>
        </p:txBody>
      </p:sp>
      <p:sp>
        <p:nvSpPr>
          <p:cNvPr id="30" name="box_167"/>
          <p:cNvSpPr txBox="1"/>
          <p:nvPr/>
        </p:nvSpPr>
        <p:spPr>
          <a:xfrm>
            <a:off x="2788920" y="3651504"/>
            <a:ext cx="1476756" cy="44196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9 Guten Tag</a:t>
            </a:r>
            <a:endParaRPr lang="en-US" sz="1300" dirty="0"/>
          </a:p>
        </p:txBody>
      </p:sp>
      <p:sp>
        <p:nvSpPr>
          <p:cNvPr id="31" name="R1_a8"/>
          <p:cNvSpPr txBox="1"/>
          <p:nvPr/>
        </p:nvSpPr>
        <p:spPr>
          <a:xfrm>
            <a:off x="4320540" y="3688080"/>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German</a:t>
            </a:r>
            <a:endParaRPr lang="en-US" sz="1200" dirty="0"/>
          </a:p>
        </p:txBody>
      </p:sp>
      <p:sp>
        <p:nvSpPr>
          <p:cNvPr id="32" name="box_168"/>
          <p:cNvSpPr txBox="1"/>
          <p:nvPr/>
        </p:nvSpPr>
        <p:spPr>
          <a:xfrm>
            <a:off x="5870448" y="3651504"/>
            <a:ext cx="1476756" cy="441960"/>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10 Hi</a:t>
            </a:r>
            <a:endParaRPr lang="en-US" sz="1300" dirty="0"/>
          </a:p>
        </p:txBody>
      </p:sp>
      <p:sp>
        <p:nvSpPr>
          <p:cNvPr id="33" name="R1_a9"/>
          <p:cNvSpPr txBox="1"/>
          <p:nvPr/>
        </p:nvSpPr>
        <p:spPr>
          <a:xfrm>
            <a:off x="7402068" y="3688080"/>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English</a:t>
            </a:r>
            <a:endParaRPr lang="en-US" sz="1200" dirty="0"/>
          </a:p>
        </p:txBody>
      </p:sp>
      <p:sp>
        <p:nvSpPr>
          <p:cNvPr id="34" name="box_169"/>
          <p:cNvSpPr txBox="1"/>
          <p:nvPr/>
        </p:nvSpPr>
        <p:spPr>
          <a:xfrm>
            <a:off x="2788920" y="4221480"/>
            <a:ext cx="1476756" cy="441960"/>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11 Bon dia</a:t>
            </a:r>
            <a:endParaRPr lang="en-US" sz="1300" dirty="0"/>
          </a:p>
        </p:txBody>
      </p:sp>
      <p:sp>
        <p:nvSpPr>
          <p:cNvPr id="35" name="R1_a10"/>
          <p:cNvSpPr txBox="1"/>
          <p:nvPr/>
        </p:nvSpPr>
        <p:spPr>
          <a:xfrm>
            <a:off x="4320540" y="4258056"/>
            <a:ext cx="1421892" cy="368808"/>
          </a:xfrm>
          <a:prstGeom prst="roundRect">
            <a:avLst>
              <a:gd name="adj" fmla="val 14876"/>
            </a:avLst>
          </a:prstGeom>
          <a:solidFill>
            <a:srgbClr val="FFFFFF"/>
          </a:solidFill>
          <a:ln w="38100">
            <a:solidFill>
              <a:srgbClr val="1FA463"/>
            </a:solidFill>
          </a:ln>
        </p:spPr>
        <p:txBody>
          <a:bodyPr wrap="square" lIns="25400" tIns="25400" rIns="25400" bIns="25400" rtlCol="0" anchor="ctr"/>
          <a:lstStyle/>
          <a:p>
            <a:pPr algn="ctr" indent="0" marL="0">
              <a:buNone/>
            </a:pPr>
            <a:r>
              <a:rPr lang="en-US" sz="1200" dirty="0">
                <a:solidFill>
                  <a:srgbClr val="111111"/>
                </a:solidFill>
                <a:latin typeface="Calibri" pitchFamily="34" charset="0"/>
                <a:ea typeface="Calibri" pitchFamily="34" charset="-122"/>
                <a:cs typeface="Calibri" pitchFamily="34" charset="-120"/>
              </a:rPr>
              <a:t>Catalan</a:t>
            </a:r>
            <a:endParaRPr lang="en-US" sz="1200" dirty="0"/>
          </a:p>
        </p:txBody>
      </p:sp>
      <p:sp>
        <p:nvSpPr>
          <p:cNvPr id="36" name="pageTag_170"/>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p.43 · 7a, 7b · video 4B Part 1</a:t>
            </a:r>
            <a:endParaRPr lang="en-US" sz="1050" dirty="0"/>
          </a:p>
        </p:txBody>
      </p:sp>
      <p:sp>
        <p:nvSpPr>
          <p:cNvPr id="37" name="pframe_171"/>
          <p:cNvSpPr/>
          <p:nvPr/>
        </p:nvSpPr>
        <p:spPr>
          <a:xfrm rot="120000">
            <a:off x="685800" y="3017520"/>
            <a:ext cx="1005840" cy="1673352"/>
          </a:xfrm>
          <a:prstGeom prst="rect">
            <a:avLst/>
          </a:prstGeom>
          <a:solidFill>
            <a:srgbClr val="FFFFFF"/>
          </a:solidFill>
          <a:ln w="19050">
            <a:solidFill>
              <a:srgbClr val="111111"/>
            </a:solidFill>
            <a:prstDash val="solid"/>
          </a:ln>
          <a:effectLst>
            <a:outerShdw sx="100000" sy="100000" kx="0" ky="0" algn="bl" rotWithShape="0" blurRad="101600" dist="38100" dir="2700000">
              <a:srgbClr val="000000">
                <a:alpha val="35000"/>
              </a:srgbClr>
            </a:outerShdw>
          </a:effectLst>
        </p:spPr>
      </p:sp>
      <p:pic>
        <p:nvPicPr>
          <p:cNvPr id="38" name="pimg_172" descr="Alex">    </p:cNvPr>
          <p:cNvPicPr>
            <a:picLocks noChangeAspect="1"/>
          </p:cNvPicPr>
          <p:nvPr/>
        </p:nvPicPr>
        <p:blipFill>
          <a:blip r:embed="rId3"/>
          <a:srcRect l="0" r="0" t="0" b="0"/>
          <a:stretch/>
        </p:blipFill>
        <p:spPr>
          <a:xfrm rot="120000">
            <a:off x="758952" y="3090672"/>
            <a:ext cx="859536" cy="1252728"/>
          </a:xfrm>
          <a:prstGeom prst="rect">
            <a:avLst/>
          </a:prstGeom>
        </p:spPr>
      </p:pic>
      <p:sp>
        <p:nvSpPr>
          <p:cNvPr id="39" name="pcap_173"/>
          <p:cNvSpPr txBox="1"/>
          <p:nvPr/>
        </p:nvSpPr>
        <p:spPr>
          <a:xfrm rot="120000">
            <a:off x="685800" y="4352544"/>
            <a:ext cx="1005840" cy="274320"/>
          </a:xfrm>
          <a:prstGeom prst="rect">
            <a:avLst/>
          </a:prstGeom>
          <a:noFill/>
          <a:ln/>
        </p:spPr>
        <p:txBody>
          <a:bodyPr wrap="square" rtlCol="0" anchor="ctr"/>
          <a:lstStyle/>
          <a:p>
            <a:pPr algn="ctr" indent="0" marL="0">
              <a:buNone/>
            </a:pPr>
            <a:r>
              <a:rPr lang="en-US" sz="1100" i="1" dirty="0">
                <a:solidFill>
                  <a:srgbClr val="111111"/>
                </a:solidFill>
                <a:latin typeface="Calibri" pitchFamily="34" charset="0"/>
                <a:ea typeface="Calibri" pitchFamily="34" charset="-122"/>
                <a:cs typeface="Calibri" pitchFamily="34" charset="-120"/>
              </a:rPr>
              <a:t>Alex</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4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4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4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400"/>
                                        <p:tgtEl>
                                          <p:spTgt spid="23"/>
                                        </p:tgtEl>
                                      </p:cBhvr>
                                    </p:animEffect>
                                  </p:childTnLst>
                                </p:cTn>
                              </p:par>
                              <p:par>
                                <p:cTn id="20" presetID="10" presetClass="entr" presetSubtype="0" fill="hold"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400"/>
                                        <p:tgtEl>
                                          <p:spTgt spid="27"/>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400"/>
                                        <p:tgtEl>
                                          <p:spTgt spid="29"/>
                                        </p:tgtEl>
                                      </p:cBhvr>
                                    </p:animEffect>
                                  </p:childTnLst>
                                </p:cTn>
                              </p:par>
                              <p:par>
                                <p:cTn id="29" presetID="10"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00"/>
                                        <p:tgtEl>
                                          <p:spTgt spid="31"/>
                                        </p:tgtEl>
                                      </p:cBhvr>
                                    </p:animEffect>
                                  </p:childTnLst>
                                </p:cTn>
                              </p:par>
                              <p:par>
                                <p:cTn id="32" presetID="10" presetClass="entr" presetSubtype="0" fill="hold"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400"/>
                                        <p:tgtEl>
                                          <p:spTgt spid="33"/>
                                        </p:tgtEl>
                                      </p:cBhvr>
                                    </p:animEffect>
                                  </p:childTnLst>
                                </p:cTn>
                              </p:par>
                              <p:par>
                                <p:cTn id="35" presetID="10" presetClass="entr" presetSubtype="0" fill="hold"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74"/>
          <p:cNvSpPr/>
          <p:nvPr/>
        </p:nvSpPr>
        <p:spPr>
          <a:xfrm>
            <a:off x="54864" y="54864"/>
            <a:ext cx="9034272" cy="5033772"/>
          </a:xfrm>
          <a:prstGeom prst="rect">
            <a:avLst/>
          </a:prstGeom>
          <a:ln w="114300">
            <a:solidFill>
              <a:srgbClr val="A8E6B4"/>
            </a:solidFill>
            <a:prstDash val="solid"/>
          </a:ln>
        </p:spPr>
      </p:sp>
      <p:pic>
        <p:nvPicPr>
          <p:cNvPr id="4" name="logo_175"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76"/>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VIDEO LISTENING · Part 2</a:t>
            </a:r>
            <a:endParaRPr lang="en-US" sz="900" dirty="0"/>
          </a:p>
        </p:txBody>
      </p:sp>
      <p:sp>
        <p:nvSpPr>
          <p:cNvPr id="6" name="timer_177"/>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8 min</a:t>
            </a:r>
            <a:endParaRPr lang="en-US" sz="1200" dirty="0"/>
          </a:p>
        </p:txBody>
      </p:sp>
      <p:sp>
        <p:nvSpPr>
          <p:cNvPr id="7" name="footer_178"/>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179"/>
          <p:cNvSpPr txBox="1"/>
          <p:nvPr/>
        </p:nvSpPr>
        <p:spPr>
          <a:xfrm rot="90000">
            <a:off x="320040" y="676656"/>
            <a:ext cx="588873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An interview with Alex Rawlings</a:t>
            </a:r>
            <a:endParaRPr lang="en-US" sz="1500" dirty="0"/>
          </a:p>
        </p:txBody>
      </p:sp>
      <p:sp>
        <p:nvSpPr>
          <p:cNvPr id="9" name="tape_180"/>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181"/>
          <p:cNvSpPr/>
          <p:nvPr/>
        </p:nvSpPr>
        <p:spPr>
          <a:xfrm rot="-720000">
            <a:off x="5641848" y="1069848"/>
            <a:ext cx="685800" cy="219456"/>
          </a:xfrm>
          <a:prstGeom prst="rect">
            <a:avLst/>
          </a:prstGeom>
          <a:solidFill>
            <a:srgbClr val="FFD84D">
              <a:alpha val="75000"/>
            </a:srgbClr>
          </a:solidFill>
          <a:ln w="6350">
            <a:solidFill>
              <a:srgbClr val="FFD84D"/>
            </a:solidFill>
            <a:prstDash val="solid"/>
          </a:ln>
        </p:spPr>
      </p:sp>
      <p:sp>
        <p:nvSpPr>
          <p:cNvPr id="11" name="post_182"/>
          <p:cNvSpPr/>
          <p:nvPr/>
        </p:nvSpPr>
        <p:spPr>
          <a:xfrm>
            <a:off x="429768" y="1554480"/>
            <a:ext cx="128016" cy="2194560"/>
          </a:xfrm>
          <a:prstGeom prst="rect">
            <a:avLst/>
          </a:prstGeom>
          <a:solidFill>
            <a:srgbClr val="8B5A2B"/>
          </a:solidFill>
          <a:ln w="31750">
            <a:solidFill>
              <a:srgbClr val="111111"/>
            </a:solidFill>
            <a:prstDash val="solid"/>
          </a:ln>
        </p:spPr>
      </p:sp>
      <p:sp>
        <p:nvSpPr>
          <p:cNvPr id="12" name="signA_183"/>
          <p:cNvSpPr txBox="1"/>
          <p:nvPr/>
        </p:nvSpPr>
        <p:spPr>
          <a:xfrm rot="-180000">
            <a:off x="320040" y="1371600"/>
            <a:ext cx="2240280" cy="457200"/>
          </a:xfrm>
          <a:prstGeom prst="homePlate">
            <a:avLst/>
          </a:prstGeom>
          <a:solidFill>
            <a:srgbClr val="F59E0B"/>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WATCH!</a:t>
            </a:r>
            <a:pPr indent="0" marL="0">
              <a:buNone/>
            </a:pPr>
            <a:r>
              <a:rPr lang="en-US" sz="1000" dirty="0">
                <a:solidFill>
                  <a:srgbClr val="FFF3B0"/>
                </a:solidFill>
                <a:latin typeface="Arial Black" pitchFamily="34" charset="0"/>
                <a:ea typeface="Arial Black" pitchFamily="34" charset="-122"/>
                <a:cs typeface="Arial Black" pitchFamily="34" charset="-120"/>
              </a:rPr>
              <a:t>  GUARDA!</a:t>
            </a:r>
            <a:endParaRPr lang="en-US" sz="1500" dirty="0"/>
          </a:p>
        </p:txBody>
      </p:sp>
      <p:sp>
        <p:nvSpPr>
          <p:cNvPr id="13" name="signB_184"/>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50" dirty="0">
                <a:solidFill>
                  <a:srgbClr val="111111"/>
                </a:solidFill>
                <a:latin typeface="Calibri" pitchFamily="34" charset="0"/>
                <a:ea typeface="Calibri" pitchFamily="34" charset="-122"/>
                <a:cs typeface="Calibri" pitchFamily="34" charset="-120"/>
              </a:rPr>
              <a:t>Watch Part 2. What does Alex say about…?</a:t>
            </a:r>
            <a:endParaRPr lang="en-US" sz="1250" dirty="0"/>
          </a:p>
          <a:p>
            <a:pPr indent="0" marL="0">
              <a:buNone/>
            </a:pPr>
            <a:r>
              <a:rPr lang="en-US" sz="1100" i="1" dirty="0">
                <a:solidFill>
                  <a:srgbClr val="334155"/>
                </a:solidFill>
                <a:latin typeface="Calibri" pitchFamily="34" charset="0"/>
                <a:ea typeface="Calibri" pitchFamily="34" charset="-122"/>
                <a:cs typeface="Calibri" pitchFamily="34" charset="-120"/>
              </a:rPr>
              <a:t>Guarda la Parte 2. Cosa dice Alex di…?</a:t>
            </a:r>
            <a:endParaRPr lang="en-US" sz="1250" dirty="0"/>
          </a:p>
        </p:txBody>
      </p:sp>
      <p:sp>
        <p:nvSpPr>
          <p:cNvPr id="14" name="iconBack_185"/>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5" name="icon_186" descr="pi:PiVideoCamera">    </p:cNvPr>
          <p:cNvPicPr>
            <a:picLocks noChangeAspect="1"/>
          </p:cNvPicPr>
          <p:nvPr/>
        </p:nvPicPr>
        <p:blipFill>
          <a:blip r:embed="rId3"/>
          <a:stretch>
            <a:fillRect/>
          </a:stretch>
        </p:blipFill>
        <p:spPr>
          <a:xfrm>
            <a:off x="914400" y="3474720"/>
            <a:ext cx="685800" cy="685800"/>
          </a:xfrm>
          <a:prstGeom prst="rect">
            <a:avLst/>
          </a:prstGeom>
        </p:spPr>
      </p:pic>
      <p:pic>
        <p:nvPicPr>
          <p:cNvPr id="16" name="Media 0">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2788920" y="1371600"/>
            <a:ext cx="2926080" cy="1645920"/>
          </a:xfrm>
          <a:prstGeom prst="rect">
            <a:avLst/>
          </a:prstGeom>
        </p:spPr>
      </p:pic>
      <p:sp>
        <p:nvSpPr>
          <p:cNvPr id="17" name="vt_187"/>
          <p:cNvSpPr txBox="1"/>
          <p:nvPr/>
        </p:nvSpPr>
        <p:spPr>
          <a:xfrm>
            <a:off x="2788920" y="3090672"/>
            <a:ext cx="2926080" cy="685800"/>
          </a:xfrm>
          <a:prstGeom prst="rect">
            <a:avLst/>
          </a:prstGeom>
          <a:solidFill>
            <a:srgbClr val="FFFFFF"/>
          </a:solidFill>
          <a:ln w="15875">
            <a:solidFill>
              <a:srgbClr val="111111"/>
            </a:solidFill>
          </a:ln>
        </p:spPr>
        <p:txBody>
          <a:bodyPr wrap="square" lIns="76200" tIns="76200" rIns="76200" bIns="76200" rtlCol="0" anchor="ctr"/>
          <a:lstStyle/>
          <a:p>
            <a:pPr indent="0" marL="0">
              <a:buNone/>
            </a:pPr>
            <a:r>
              <a:rPr lang="en-US" sz="1200" b="1" dirty="0">
                <a:solidFill>
                  <a:srgbClr val="111111"/>
                </a:solidFill>
                <a:latin typeface="Calibri" pitchFamily="34" charset="0"/>
                <a:ea typeface="Calibri" pitchFamily="34" charset="-122"/>
                <a:cs typeface="Calibri" pitchFamily="34" charset="-120"/>
              </a:rPr>
              <a:t>An interview with Alex Rawlings · Part 2</a:t>
            </a:r>
            <a:endParaRPr lang="en-US" sz="1200" dirty="0"/>
          </a:p>
          <a:p>
            <a:pPr indent="0" marL="0">
              <a:buNone/>
            </a:pPr>
            <a:r>
              <a:rPr lang="en-US" sz="1000" dirty="0">
                <a:solidFill>
                  <a:srgbClr val="475569"/>
                </a:solidFill>
                <a:latin typeface="Calibri" pitchFamily="34" charset="0"/>
                <a:ea typeface="Calibri" pitchFamily="34" charset="-122"/>
                <a:cs typeface="Calibri" pitchFamily="34" charset="-120"/>
              </a:rPr>
              <a:t>Video Listening 4B · SB p.43 · 3'49″</a:t>
            </a:r>
            <a:endParaRPr lang="en-US" sz="1200" dirty="0"/>
          </a:p>
        </p:txBody>
      </p:sp>
      <p:sp>
        <p:nvSpPr>
          <p:cNvPr id="18" name="wyw_188"/>
          <p:cNvSpPr txBox="1"/>
          <p:nvPr/>
        </p:nvSpPr>
        <p:spPr>
          <a:xfrm>
            <a:off x="5852160" y="1371600"/>
            <a:ext cx="2971800" cy="347472"/>
          </a:xfrm>
          <a:prstGeom prst="rect">
            <a:avLst/>
          </a:prstGeom>
          <a:solidFill>
            <a:srgbClr val="F59E0B"/>
          </a:solidFill>
          <a:ln w="19050">
            <a:solidFill>
              <a:srgbClr val="111111"/>
            </a:solidFill>
          </a:ln>
        </p:spPr>
        <p:txBody>
          <a:bodyPr wrap="square" lIns="25400" tIns="25400" rIns="25400" bIns="25400" rtlCol="0" anchor="ctr"/>
          <a:lstStyle/>
          <a:p>
            <a:pPr algn="ctr" indent="0" marL="0">
              <a:buNone/>
            </a:pPr>
            <a:r>
              <a:rPr lang="en-US" sz="1150" dirty="0">
                <a:solidFill>
                  <a:srgbClr val="FFFFFF"/>
                </a:solidFill>
                <a:latin typeface="Arial Black" pitchFamily="34" charset="0"/>
                <a:ea typeface="Arial Black" pitchFamily="34" charset="-122"/>
                <a:cs typeface="Arial Black" pitchFamily="34" charset="-120"/>
              </a:rPr>
              <a:t>While you watch · Mentre guardi</a:t>
            </a:r>
            <a:endParaRPr lang="en-US" sz="1150" dirty="0"/>
          </a:p>
        </p:txBody>
      </p:sp>
      <p:sp>
        <p:nvSpPr>
          <p:cNvPr id="19" name="box_189"/>
          <p:cNvSpPr txBox="1"/>
          <p:nvPr/>
        </p:nvSpPr>
        <p:spPr>
          <a:xfrm>
            <a:off x="5852160" y="1810512"/>
            <a:ext cx="1783080" cy="4145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850" dirty="0">
                <a:solidFill>
                  <a:srgbClr val="111111"/>
                </a:solidFill>
                <a:latin typeface="Calibri" pitchFamily="34" charset="0"/>
                <a:ea typeface="Calibri" pitchFamily="34" charset="-122"/>
                <a:cs typeface="Calibri" pitchFamily="34" charset="-120"/>
              </a:rPr>
              <a:t>1  a completely new adventure?</a:t>
            </a:r>
            <a:endParaRPr lang="en-US" sz="850" dirty="0"/>
          </a:p>
        </p:txBody>
      </p:sp>
      <p:sp>
        <p:nvSpPr>
          <p:cNvPr id="20" name="R1_va0"/>
          <p:cNvSpPr txBox="1"/>
          <p:nvPr/>
        </p:nvSpPr>
        <p:spPr>
          <a:xfrm>
            <a:off x="7680960" y="18379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every new language is one</a:t>
            </a:r>
            <a:endParaRPr lang="en-US" sz="950" dirty="0"/>
          </a:p>
        </p:txBody>
      </p:sp>
      <p:sp>
        <p:nvSpPr>
          <p:cNvPr id="21" name="box_190"/>
          <p:cNvSpPr txBox="1"/>
          <p:nvPr/>
        </p:nvSpPr>
        <p:spPr>
          <a:xfrm>
            <a:off x="5852160" y="2298192"/>
            <a:ext cx="1783080" cy="4145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200" dirty="0">
                <a:solidFill>
                  <a:srgbClr val="111111"/>
                </a:solidFill>
                <a:latin typeface="Calibri" pitchFamily="34" charset="0"/>
                <a:ea typeface="Calibri" pitchFamily="34" charset="-122"/>
                <a:cs typeface="Calibri" pitchFamily="34" charset="-120"/>
              </a:rPr>
              <a:t>2  Greek and German?</a:t>
            </a:r>
            <a:endParaRPr lang="en-US" sz="1200" dirty="0"/>
          </a:p>
        </p:txBody>
      </p:sp>
      <p:sp>
        <p:nvSpPr>
          <p:cNvPr id="22" name="R1_va1"/>
          <p:cNvSpPr txBox="1"/>
          <p:nvPr/>
        </p:nvSpPr>
        <p:spPr>
          <a:xfrm>
            <a:off x="7680960" y="232562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his favourite two</a:t>
            </a:r>
            <a:endParaRPr lang="en-US" sz="1050" dirty="0"/>
          </a:p>
        </p:txBody>
      </p:sp>
      <p:sp>
        <p:nvSpPr>
          <p:cNvPr id="23" name="box_191"/>
          <p:cNvSpPr txBox="1"/>
          <p:nvPr/>
        </p:nvSpPr>
        <p:spPr>
          <a:xfrm>
            <a:off x="5852160" y="2785872"/>
            <a:ext cx="1783080" cy="4145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050" dirty="0">
                <a:solidFill>
                  <a:srgbClr val="111111"/>
                </a:solidFill>
                <a:latin typeface="Calibri" pitchFamily="34" charset="0"/>
                <a:ea typeface="Calibri" pitchFamily="34" charset="-122"/>
                <a:cs typeface="Calibri" pitchFamily="34" charset="-120"/>
              </a:rPr>
              <a:t>3  Chinese and Slovene?</a:t>
            </a:r>
            <a:endParaRPr lang="en-US" sz="1050" dirty="0"/>
          </a:p>
        </p:txBody>
      </p:sp>
      <p:sp>
        <p:nvSpPr>
          <p:cNvPr id="24" name="R1_va2"/>
          <p:cNvSpPr txBox="1"/>
          <p:nvPr/>
        </p:nvSpPr>
        <p:spPr>
          <a:xfrm>
            <a:off x="7680960" y="281330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00" dirty="0">
                <a:solidFill>
                  <a:srgbClr val="111111"/>
                </a:solidFill>
                <a:latin typeface="Calibri" pitchFamily="34" charset="0"/>
                <a:ea typeface="Calibri" pitchFamily="34" charset="-122"/>
                <a:cs typeface="Calibri" pitchFamily="34" charset="-120"/>
              </a:rPr>
              <a:t>learning them now</a:t>
            </a:r>
            <a:endParaRPr lang="en-US" sz="1000" dirty="0"/>
          </a:p>
        </p:txBody>
      </p:sp>
      <p:sp>
        <p:nvSpPr>
          <p:cNvPr id="25" name="box_192"/>
          <p:cNvSpPr txBox="1"/>
          <p:nvPr/>
        </p:nvSpPr>
        <p:spPr>
          <a:xfrm>
            <a:off x="5852160" y="3273552"/>
            <a:ext cx="1783080" cy="4145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4  British and Irish languages · Wales?</a:t>
            </a:r>
            <a:endParaRPr lang="en-US" sz="800" dirty="0"/>
          </a:p>
        </p:txBody>
      </p:sp>
      <p:sp>
        <p:nvSpPr>
          <p:cNvPr id="26" name="R1_va3"/>
          <p:cNvSpPr txBox="1"/>
          <p:nvPr/>
        </p:nvSpPr>
        <p:spPr>
          <a:xfrm>
            <a:off x="7680960" y="330098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feels guilty: no Welsh, Irish, Gaelic</a:t>
            </a:r>
            <a:endParaRPr lang="en-US" sz="950" dirty="0"/>
          </a:p>
        </p:txBody>
      </p:sp>
      <p:sp>
        <p:nvSpPr>
          <p:cNvPr id="27" name="box_193"/>
          <p:cNvSpPr txBox="1"/>
          <p:nvPr/>
        </p:nvSpPr>
        <p:spPr>
          <a:xfrm>
            <a:off x="5852160" y="3761232"/>
            <a:ext cx="1783080" cy="414528"/>
          </a:xfrm>
          <a:prstGeom prst="rect">
            <a:avLst/>
          </a:prstGeom>
          <a:solidFill>
            <a:srgbClr val="EDE9FE"/>
          </a:solidFill>
          <a:ln w="15875">
            <a:solidFill>
              <a:srgbClr val="111111"/>
            </a:solidFill>
          </a:ln>
        </p:spPr>
        <p:txBody>
          <a:bodyPr wrap="square" lIns="76200" tIns="76200" rIns="76200" bIns="76200" rtlCol="0" anchor="ctr"/>
          <a:lstStyle/>
          <a:p>
            <a:pPr algn="l" indent="0" marL="0">
              <a:buNone/>
            </a:pPr>
            <a:r>
              <a:rPr lang="en-US" sz="1250" dirty="0">
                <a:solidFill>
                  <a:srgbClr val="111111"/>
                </a:solidFill>
                <a:latin typeface="Calibri" pitchFamily="34" charset="0"/>
                <a:ea typeface="Calibri" pitchFamily="34" charset="-122"/>
                <a:cs typeface="Calibri" pitchFamily="34" charset="-120"/>
              </a:rPr>
              <a:t>5  Russian?</a:t>
            </a:r>
            <a:endParaRPr lang="en-US" sz="1250" dirty="0"/>
          </a:p>
        </p:txBody>
      </p:sp>
      <p:sp>
        <p:nvSpPr>
          <p:cNvPr id="28" name="R1_va4"/>
          <p:cNvSpPr txBox="1"/>
          <p:nvPr/>
        </p:nvSpPr>
        <p:spPr>
          <a:xfrm>
            <a:off x="7680960" y="378866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the most difficult (alphabet)</a:t>
            </a:r>
            <a:endParaRPr lang="en-US" sz="950" dirty="0"/>
          </a:p>
        </p:txBody>
      </p:sp>
      <p:sp>
        <p:nvSpPr>
          <p:cNvPr id="29" name="box_194"/>
          <p:cNvSpPr txBox="1"/>
          <p:nvPr/>
        </p:nvSpPr>
        <p:spPr>
          <a:xfrm>
            <a:off x="5852160" y="4248912"/>
            <a:ext cx="1783080" cy="414528"/>
          </a:xfrm>
          <a:prstGeom prst="rect">
            <a:avLst/>
          </a:prstGeom>
          <a:solidFill>
            <a:srgbClr val="FFEDD5"/>
          </a:solidFill>
          <a:ln w="15875">
            <a:solidFill>
              <a:srgbClr val="111111"/>
            </a:solidFill>
          </a:ln>
        </p:spPr>
        <p:txBody>
          <a:bodyPr wrap="square" lIns="76200" tIns="76200" rIns="76200" bIns="76200" rtlCol="0" anchor="ctr"/>
          <a:lstStyle/>
          <a:p>
            <a:pPr algn="l" indent="0" marL="0">
              <a:buNone/>
            </a:pPr>
            <a:r>
              <a:rPr lang="en-US" sz="800" dirty="0">
                <a:solidFill>
                  <a:srgbClr val="111111"/>
                </a:solidFill>
                <a:latin typeface="Calibri" pitchFamily="34" charset="0"/>
                <a:ea typeface="Calibri" pitchFamily="34" charset="-122"/>
                <a:cs typeface="Calibri" pitchFamily="34" charset="-120"/>
              </a:rPr>
              <a:t>6  YouTube; vocabulary and grammar?</a:t>
            </a:r>
            <a:endParaRPr lang="en-US" sz="800" dirty="0"/>
          </a:p>
        </p:txBody>
      </p:sp>
      <p:sp>
        <p:nvSpPr>
          <p:cNvPr id="30" name="R1_va5"/>
          <p:cNvSpPr txBox="1"/>
          <p:nvPr/>
        </p:nvSpPr>
        <p:spPr>
          <a:xfrm>
            <a:off x="7680960" y="4276344"/>
            <a:ext cx="1143000" cy="359664"/>
          </a:xfrm>
          <a:prstGeom prst="roundRect">
            <a:avLst>
              <a:gd name="adj" fmla="val 15254"/>
            </a:avLst>
          </a:prstGeom>
          <a:solidFill>
            <a:srgbClr val="FFFFFF"/>
          </a:solidFill>
          <a:ln w="38100">
            <a:solidFill>
              <a:srgbClr val="1FA463"/>
            </a:solidFill>
          </a:ln>
        </p:spPr>
        <p:txBody>
          <a:bodyPr wrap="square" lIns="25400" tIns="25400" rIns="25400" bIns="25400" rtlCol="0" anchor="ctr"/>
          <a:lstStyle/>
          <a:p>
            <a:pPr algn="ctr" indent="0" marL="0">
              <a:buNone/>
            </a:pPr>
            <a:r>
              <a:rPr lang="en-US" sz="950" dirty="0">
                <a:solidFill>
                  <a:srgbClr val="111111"/>
                </a:solidFill>
                <a:latin typeface="Calibri" pitchFamily="34" charset="0"/>
                <a:ea typeface="Calibri" pitchFamily="34" charset="-122"/>
                <a:cs typeface="Calibri" pitchFamily="34" charset="-120"/>
              </a:rPr>
              <a:t>videos · tech helps now</a:t>
            </a:r>
            <a:endParaRPr lang="en-US" sz="950" dirty="0"/>
          </a:p>
        </p:txBody>
      </p:sp>
      <p:sp>
        <p:nvSpPr>
          <p:cNvPr id="31" name="bubble_195"/>
          <p:cNvSpPr txBox="1"/>
          <p:nvPr/>
        </p:nvSpPr>
        <p:spPr>
          <a:xfrm>
            <a:off x="2788920" y="3931920"/>
            <a:ext cx="2926080" cy="7315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00" b="1" dirty="0">
                <a:solidFill>
                  <a:srgbClr val="111111"/>
                </a:solidFill>
                <a:latin typeface="Calibri" pitchFamily="34" charset="0"/>
                <a:ea typeface="Calibri" pitchFamily="34" charset="-122"/>
                <a:cs typeface="Calibri" pitchFamily="34" charset="-120"/>
              </a:rPr>
              <a:t>Which language would YOU like to learn next?</a:t>
            </a:r>
            <a:endParaRPr lang="en-US" sz="1200" dirty="0"/>
          </a:p>
        </p:txBody>
      </p:sp>
      <p:sp>
        <p:nvSpPr>
          <p:cNvPr id="32" name="pageTag_196"/>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p.43 · 7c · video 4B Part 2</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00"/>
                                        <p:tgtEl>
                                          <p:spTgt spid="26"/>
                                        </p:tgtEl>
                                      </p:cBhvr>
                                    </p:animEffect>
                                  </p:childTnLst>
                                </p:cTn>
                              </p:par>
                              <p:par>
                                <p:cTn id="17" presetID="10"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400"/>
                                        <p:tgtEl>
                                          <p:spTgt spid="28"/>
                                        </p:tgtEl>
                                      </p:cBhvr>
                                    </p:animEffect>
                                  </p:childTnLst>
                                </p:cTn>
                              </p:par>
                              <p:par>
                                <p:cTn id="20" presetID="10" presetClass="entr" presetSubtype="0" fill="hold" nodeType="with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video>
              <p:cMediaNode vol="80000">
                <p:cTn id="28" fill="hold" display="0">
                  <p:stCondLst>
                    <p:cond delay="indefinite"/>
                  </p:stCondLst>
                </p:cTn>
                <p:tgtEl>
                  <p:spTgt spid="16"/>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197"/>
          <p:cNvSpPr/>
          <p:nvPr/>
        </p:nvSpPr>
        <p:spPr>
          <a:xfrm>
            <a:off x="54864" y="54864"/>
            <a:ext cx="9034272" cy="5033772"/>
          </a:xfrm>
          <a:prstGeom prst="rect">
            <a:avLst/>
          </a:prstGeom>
          <a:ln w="114300">
            <a:solidFill>
              <a:srgbClr val="A8E6B4"/>
            </a:solidFill>
            <a:prstDash val="solid"/>
          </a:ln>
        </p:spPr>
      </p:sp>
      <p:pic>
        <p:nvPicPr>
          <p:cNvPr id="4" name="logo_19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19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READING · Alex's advice · Part 3</a:t>
            </a:r>
            <a:endParaRPr lang="en-US" sz="900" dirty="0"/>
          </a:p>
        </p:txBody>
      </p:sp>
      <p:sp>
        <p:nvSpPr>
          <p:cNvPr id="6" name="timer_20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4 min</a:t>
            </a:r>
            <a:endParaRPr lang="en-US" sz="1200" dirty="0"/>
          </a:p>
        </p:txBody>
      </p:sp>
      <p:sp>
        <p:nvSpPr>
          <p:cNvPr id="7" name="footer_201"/>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8" name="title_202"/>
          <p:cNvSpPr txBox="1"/>
          <p:nvPr/>
        </p:nvSpPr>
        <p:spPr>
          <a:xfrm rot="90000">
            <a:off x="320040" y="676656"/>
            <a:ext cx="276148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Alex's advice</a:t>
            </a:r>
            <a:endParaRPr lang="en-US" sz="1500" dirty="0"/>
          </a:p>
        </p:txBody>
      </p:sp>
      <p:sp>
        <p:nvSpPr>
          <p:cNvPr id="9" name="tape_203"/>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0" name="tape_204"/>
          <p:cNvSpPr/>
          <p:nvPr/>
        </p:nvSpPr>
        <p:spPr>
          <a:xfrm rot="-720000">
            <a:off x="2514600" y="1069848"/>
            <a:ext cx="685800" cy="219456"/>
          </a:xfrm>
          <a:prstGeom prst="rect">
            <a:avLst/>
          </a:prstGeom>
          <a:solidFill>
            <a:srgbClr val="FFD84D">
              <a:alpha val="75000"/>
            </a:srgbClr>
          </a:solidFill>
          <a:ln w="6350">
            <a:solidFill>
              <a:srgbClr val="FFD84D"/>
            </a:solidFill>
            <a:prstDash val="solid"/>
          </a:ln>
        </p:spPr>
      </p:sp>
      <p:sp>
        <p:nvSpPr>
          <p:cNvPr id="11" name="rsign_205"/>
          <p:cNvSpPr txBox="1"/>
          <p:nvPr/>
        </p:nvSpPr>
        <p:spPr>
          <a:xfrm>
            <a:off x="320040" y="1298448"/>
            <a:ext cx="8503920" cy="384048"/>
          </a:xfrm>
          <a:prstGeom prst="rect">
            <a:avLst/>
          </a:prstGeom>
          <a:solidFill>
            <a:srgbClr val="48BDF2"/>
          </a:solidFill>
          <a:ln w="19050">
            <a:solidFill>
              <a:srgbClr val="111111"/>
            </a:solidFill>
          </a:ln>
        </p:spPr>
        <p:txBody>
          <a:bodyPr wrap="square" lIns="101600" tIns="101600" rIns="101600" bIns="101600" rtlCol="0" anchor="ctr"/>
          <a:lstStyle/>
          <a:p>
            <a:pPr indent="0" marL="0">
              <a:buNone/>
            </a:pPr>
            <a:r>
              <a:rPr lang="en-US" sz="1000" b="1" dirty="0">
                <a:solidFill>
                  <a:srgbClr val="FFFFFF"/>
                </a:solidFill>
                <a:latin typeface="Arial Black" pitchFamily="34" charset="0"/>
                <a:ea typeface="Arial Black" pitchFamily="34" charset="-122"/>
                <a:cs typeface="Arial Black" pitchFamily="34" charset="-120"/>
              </a:rPr>
              <a:t>READ! LEGGI!  </a:t>
            </a:r>
            <a:pPr indent="0" marL="0">
              <a:buNone/>
            </a:pPr>
            <a:r>
              <a:rPr lang="en-US" sz="1000" dirty="0">
                <a:solidFill>
                  <a:srgbClr val="FFFFFF"/>
                </a:solidFill>
                <a:latin typeface="Calibri" pitchFamily="34" charset="0"/>
                <a:ea typeface="Calibri" pitchFamily="34" charset="-122"/>
                <a:cs typeface="Calibri" pitchFamily="34" charset="-120"/>
              </a:rPr>
              <a:t>Read what Alex says. Answer the questions.  </a:t>
            </a:r>
            <a:pPr indent="0" marL="0">
              <a:buNone/>
            </a:pPr>
            <a:r>
              <a:rPr lang="en-US" sz="950" i="1" dirty="0">
                <a:solidFill>
                  <a:srgbClr val="E2E8F0"/>
                </a:solidFill>
                <a:latin typeface="Calibri" pitchFamily="34" charset="0"/>
                <a:ea typeface="Calibri" pitchFamily="34" charset="-122"/>
                <a:cs typeface="Calibri" pitchFamily="34" charset="-120"/>
              </a:rPr>
              <a:t>Leggi cosa dice Alex. Rispondi alle domande.</a:t>
            </a:r>
            <a:endParaRPr lang="en-US" sz="1000" dirty="0"/>
          </a:p>
        </p:txBody>
      </p:sp>
      <p:sp>
        <p:nvSpPr>
          <p:cNvPr id="12" name="rtext_206"/>
          <p:cNvSpPr txBox="1"/>
          <p:nvPr/>
        </p:nvSpPr>
        <p:spPr>
          <a:xfrm rot="-30000">
            <a:off x="320040" y="1810512"/>
            <a:ext cx="4343400" cy="2880360"/>
          </a:xfrm>
          <a:prstGeom prst="rect">
            <a:avLst/>
          </a:prstGeom>
          <a:solidFill>
            <a:srgbClr val="FFFDF5"/>
          </a:solidFill>
          <a:ln w="190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400"/>
              </a:spcAft>
              <a:buNone/>
            </a:pPr>
            <a:r>
              <a:rPr lang="en-US" sz="1300" b="1" dirty="0">
                <a:solidFill>
                  <a:srgbClr val="6D3FC0"/>
                </a:solidFill>
                <a:latin typeface="Calibri" pitchFamily="34" charset="0"/>
                <a:ea typeface="Calibri" pitchFamily="34" charset="-122"/>
                <a:cs typeface="Calibri" pitchFamily="34" charset="-120"/>
              </a:rPr>
              <a:t>Alex Rawlings: how to learn a language</a:t>
            </a:r>
            <a:endParaRPr lang="en-US" sz="1300" dirty="0"/>
          </a:p>
          <a:p>
            <a:pPr indent="0" marL="0">
              <a:spcAft>
                <a:spcPts val="400"/>
              </a:spcAft>
              <a:buNone/>
            </a:pPr>
            <a:r>
              <a:rPr lang="en-US" sz="1300" dirty="0">
                <a:solidFill>
                  <a:srgbClr val="111111"/>
                </a:solidFill>
                <a:latin typeface="Calibri" pitchFamily="34" charset="0"/>
                <a:ea typeface="Calibri" pitchFamily="34" charset="-122"/>
                <a:cs typeface="Calibri" pitchFamily="34" charset="-120"/>
              </a:rPr>
              <a:t>I've never met anyone who couldn't learn a language with the right motivation, time, resources and expectations. Many of us fail because we don't have enough time, we're not doing it for the right reasons, or we expect it to be a lot easier than it actually is. The easiest language for me was Afrikaans: the grammar is very simple and a lot of the vocabulary is similar to English. British and American people don't have much confidence: people expect us to speak English, so we never get a chance to practise. Nothing happens overnight: you never finish learning a language. Start with little steps – 10–15 minutes a day.</a:t>
            </a:r>
            <a:endParaRPr lang="en-US" sz="1300" dirty="0"/>
          </a:p>
        </p:txBody>
      </p:sp>
      <p:sp>
        <p:nvSpPr>
          <p:cNvPr id="13" name="box_207"/>
          <p:cNvSpPr txBox="1"/>
          <p:nvPr/>
        </p:nvSpPr>
        <p:spPr>
          <a:xfrm>
            <a:off x="4828032" y="1810512"/>
            <a:ext cx="2317638" cy="566928"/>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1  Why do people sometimes fail to learn a language?</a:t>
            </a:r>
            <a:endParaRPr lang="en-US" sz="1150" dirty="0"/>
          </a:p>
        </p:txBody>
      </p:sp>
      <p:sp>
        <p:nvSpPr>
          <p:cNvPr id="14" name="R1_ra0"/>
          <p:cNvSpPr txBox="1"/>
          <p:nvPr/>
        </p:nvSpPr>
        <p:spPr>
          <a:xfrm>
            <a:off x="7191390" y="1837944"/>
            <a:ext cx="1632570"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time · reasons · too easy?</a:t>
            </a:r>
            <a:endParaRPr lang="en-US" sz="1050" dirty="0"/>
          </a:p>
        </p:txBody>
      </p:sp>
      <p:sp>
        <p:nvSpPr>
          <p:cNvPr id="15" name="box_208"/>
          <p:cNvSpPr txBox="1"/>
          <p:nvPr/>
        </p:nvSpPr>
        <p:spPr>
          <a:xfrm>
            <a:off x="4828032" y="2450592"/>
            <a:ext cx="2317638" cy="566928"/>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2  Why did Alex find Afrikaans easy?</a:t>
            </a:r>
            <a:endParaRPr lang="en-US" sz="1150" dirty="0"/>
          </a:p>
        </p:txBody>
      </p:sp>
      <p:sp>
        <p:nvSpPr>
          <p:cNvPr id="16" name="R1_ra1"/>
          <p:cNvSpPr txBox="1"/>
          <p:nvPr/>
        </p:nvSpPr>
        <p:spPr>
          <a:xfrm>
            <a:off x="7191390" y="2478024"/>
            <a:ext cx="1632570"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simple grammar · similar words</a:t>
            </a:r>
            <a:endParaRPr lang="en-US" sz="1050" dirty="0"/>
          </a:p>
        </p:txBody>
      </p:sp>
      <p:sp>
        <p:nvSpPr>
          <p:cNvPr id="17" name="box_209"/>
          <p:cNvSpPr txBox="1"/>
          <p:nvPr/>
        </p:nvSpPr>
        <p:spPr>
          <a:xfrm>
            <a:off x="4828032" y="3090672"/>
            <a:ext cx="2317638" cy="566928"/>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3  Why do the British and Americans find it difficult?</a:t>
            </a:r>
            <a:endParaRPr lang="en-US" sz="1150" dirty="0"/>
          </a:p>
        </p:txBody>
      </p:sp>
      <p:sp>
        <p:nvSpPr>
          <p:cNvPr id="18" name="R1_ra2"/>
          <p:cNvSpPr txBox="1"/>
          <p:nvPr/>
        </p:nvSpPr>
        <p:spPr>
          <a:xfrm>
            <a:off x="7191390" y="3118104"/>
            <a:ext cx="1632570"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no confidence · no practice</a:t>
            </a:r>
            <a:endParaRPr lang="en-US" sz="1050" dirty="0"/>
          </a:p>
        </p:txBody>
      </p:sp>
      <p:sp>
        <p:nvSpPr>
          <p:cNvPr id="19" name="box_210"/>
          <p:cNvSpPr txBox="1"/>
          <p:nvPr/>
        </p:nvSpPr>
        <p:spPr>
          <a:xfrm>
            <a:off x="4828032" y="3730752"/>
            <a:ext cx="2317638" cy="566928"/>
          </a:xfrm>
          <a:prstGeom prst="rect">
            <a:avLst/>
          </a:prstGeom>
          <a:solidFill>
            <a:srgbClr val="DCFCE7"/>
          </a:solidFill>
          <a:ln w="15875">
            <a:solidFill>
              <a:srgbClr val="111111"/>
            </a:solidFill>
          </a:ln>
        </p:spPr>
        <p:txBody>
          <a:bodyPr wrap="square" lIns="76200" tIns="76200" rIns="76200" bIns="76200" rtlCol="0" anchor="ctr"/>
          <a:lstStyle/>
          <a:p>
            <a:pPr algn="l" indent="0" marL="0">
              <a:buNone/>
            </a:pPr>
            <a:r>
              <a:rPr lang="en-US" sz="1150" dirty="0">
                <a:solidFill>
                  <a:srgbClr val="111111"/>
                </a:solidFill>
                <a:latin typeface="Calibri" pitchFamily="34" charset="0"/>
                <a:ea typeface="Calibri" pitchFamily="34" charset="-122"/>
                <a:cs typeface="Calibri" pitchFamily="34" charset="-120"/>
              </a:rPr>
              <a:t>4  You never ___ learning. Spend ___ a day.</a:t>
            </a:r>
            <a:endParaRPr lang="en-US" sz="1150" dirty="0"/>
          </a:p>
        </p:txBody>
      </p:sp>
      <p:sp>
        <p:nvSpPr>
          <p:cNvPr id="20" name="R1_ra3"/>
          <p:cNvSpPr txBox="1"/>
          <p:nvPr/>
        </p:nvSpPr>
        <p:spPr>
          <a:xfrm>
            <a:off x="7191390" y="3758184"/>
            <a:ext cx="1632570" cy="512064"/>
          </a:xfrm>
          <a:prstGeom prst="roundRect">
            <a:avLst>
              <a:gd name="adj" fmla="val 10714"/>
            </a:avLst>
          </a:prstGeom>
          <a:solidFill>
            <a:srgbClr val="FFFFFF"/>
          </a:solidFill>
          <a:ln w="38100">
            <a:solidFill>
              <a:srgbClr val="1FA463"/>
            </a:solidFill>
          </a:ln>
        </p:spPr>
        <p:txBody>
          <a:bodyPr wrap="square" lIns="25400" tIns="25400" rIns="25400" bIns="25400" rtlCol="0" anchor="ctr"/>
          <a:lstStyle/>
          <a:p>
            <a:pPr algn="ctr" indent="0" marL="0">
              <a:buNone/>
            </a:pPr>
            <a:r>
              <a:rPr lang="en-US" sz="1050" dirty="0">
                <a:solidFill>
                  <a:srgbClr val="111111"/>
                </a:solidFill>
                <a:latin typeface="Calibri" pitchFamily="34" charset="0"/>
                <a:ea typeface="Calibri" pitchFamily="34" charset="-122"/>
                <a:cs typeface="Calibri" pitchFamily="34" charset="-120"/>
              </a:rPr>
              <a:t>finish · 10–15 min</a:t>
            </a:r>
            <a:endParaRPr lang="en-US" sz="1050" dirty="0"/>
          </a:p>
        </p:txBody>
      </p:sp>
      <p:sp>
        <p:nvSpPr>
          <p:cNvPr id="21" name="pageTag_211"/>
          <p:cNvSpPr txBox="1"/>
          <p:nvPr/>
        </p:nvSpPr>
        <p:spPr>
          <a:xfrm>
            <a:off x="320040" y="4773168"/>
            <a:ext cx="6720840" cy="246888"/>
          </a:xfrm>
          <a:prstGeom prst="rect">
            <a:avLst/>
          </a:prstGeom>
          <a:solidFill>
            <a:srgbClr val="FFFFFF"/>
          </a:solidFill>
          <a:ln/>
        </p:spPr>
        <p:txBody>
          <a:bodyPr wrap="square" lIns="25400" tIns="25400" rIns="25400" bIns="25400" rtlCol="0" anchor="ctr"/>
          <a:lstStyle/>
          <a:p>
            <a:pPr indent="0" marL="0">
              <a:buNone/>
            </a:pPr>
            <a:r>
              <a:rPr lang="en-US" sz="1050" dirty="0">
                <a:solidFill>
                  <a:srgbClr val="334155"/>
                </a:solidFill>
                <a:latin typeface="Calibri" pitchFamily="34" charset="0"/>
                <a:ea typeface="Calibri" pitchFamily="34" charset="-122"/>
                <a:cs typeface="Calibri" pitchFamily="34" charset="-120"/>
              </a:rPr>
              <a:t>📖 Teacher: Student's Book p.43 · 7d · Part 3 (text adapted from the video script)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400"/>
                                        <p:tgtEl>
                                          <p:spTgt spid="16"/>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400"/>
                                        <p:tgtEl>
                                          <p:spTgt spid="18"/>
                                        </p:tgtEl>
                                      </p:cBhvr>
                                    </p:animEffect>
                                  </p:childTnLst>
                                </p:cTn>
                              </p:par>
                              <p:par>
                                <p:cTn id="14" presetID="10" presetClass="entr" presetSubtype="0"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12"/>
          <p:cNvSpPr/>
          <p:nvPr/>
        </p:nvSpPr>
        <p:spPr>
          <a:xfrm>
            <a:off x="54864" y="54864"/>
            <a:ext cx="9034272" cy="5033772"/>
          </a:xfrm>
          <a:prstGeom prst="rect">
            <a:avLst/>
          </a:prstGeom>
          <a:ln w="114300">
            <a:solidFill>
              <a:srgbClr val="A8E6B4"/>
            </a:solidFill>
            <a:prstDash val="solid"/>
          </a:ln>
        </p:spPr>
      </p:sp>
      <p:pic>
        <p:nvPicPr>
          <p:cNvPr id="4" name="logo_213"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footer_214"/>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6" name="title_215"/>
          <p:cNvSpPr txBox="1"/>
          <p:nvPr/>
        </p:nvSpPr>
        <p:spPr>
          <a:xfrm rot="90000">
            <a:off x="320040" y="676656"/>
            <a:ext cx="4151376"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Look what you can do!</a:t>
            </a:r>
            <a:endParaRPr lang="en-US" sz="1500" dirty="0"/>
          </a:p>
        </p:txBody>
      </p:sp>
      <p:sp>
        <p:nvSpPr>
          <p:cNvPr id="7" name="tape_216"/>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8" name="tape_217"/>
          <p:cNvSpPr/>
          <p:nvPr/>
        </p:nvSpPr>
        <p:spPr>
          <a:xfrm rot="-720000">
            <a:off x="3904488" y="1069848"/>
            <a:ext cx="685800" cy="219456"/>
          </a:xfrm>
          <a:prstGeom prst="rect">
            <a:avLst/>
          </a:prstGeom>
          <a:solidFill>
            <a:srgbClr val="FFD84D">
              <a:alpha val="75000"/>
            </a:srgbClr>
          </a:solidFill>
          <a:ln w="6350">
            <a:solidFill>
              <a:srgbClr val="FFD84D"/>
            </a:solidFill>
            <a:prstDash val="solid"/>
          </a:ln>
        </p:spPr>
      </p:sp>
      <p:sp>
        <p:nvSpPr>
          <p:cNvPr id="9" name="sub_218"/>
          <p:cNvSpPr txBox="1"/>
          <p:nvPr/>
        </p:nvSpPr>
        <p:spPr>
          <a:xfrm>
            <a:off x="365760" y="1234440"/>
            <a:ext cx="3657600" cy="274320"/>
          </a:xfrm>
          <a:prstGeom prst="rect">
            <a:avLst/>
          </a:prstGeom>
          <a:noFill/>
          <a:ln/>
        </p:spPr>
        <p:txBody>
          <a:bodyPr wrap="square" rtlCol="0" anchor="ctr"/>
          <a:lstStyle/>
          <a:p>
            <a:pPr indent="0" marL="0">
              <a:buNone/>
            </a:pPr>
            <a:r>
              <a:rPr lang="en-US" sz="1200" i="1" dirty="0">
                <a:solidFill>
                  <a:srgbClr val="334155"/>
                </a:solidFill>
                <a:latin typeface="Calibri" pitchFamily="34" charset="0"/>
                <a:ea typeface="Calibri" pitchFamily="34" charset="-122"/>
                <a:cs typeface="Calibri" pitchFamily="34" charset="-120"/>
              </a:rPr>
              <a:t>Guarda cosa sai fare adesso!</a:t>
            </a:r>
            <a:endParaRPr lang="en-US" sz="1200" dirty="0"/>
          </a:p>
        </p:txBody>
      </p:sp>
      <p:sp>
        <p:nvSpPr>
          <p:cNvPr id="10" name="box_219"/>
          <p:cNvSpPr txBox="1"/>
          <p:nvPr/>
        </p:nvSpPr>
        <p:spPr>
          <a:xfrm>
            <a:off x="365760" y="1600200"/>
            <a:ext cx="4846320" cy="548640"/>
          </a:xfrm>
          <a:prstGeom prst="rect">
            <a:avLst/>
          </a:prstGeom>
          <a:solidFill>
            <a:srgbClr val="E0F2FE"/>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-ed and -ing adjectives correctly.</a:t>
            </a:r>
            <a:endParaRPr lang="en-US" sz="1350" dirty="0"/>
          </a:p>
        </p:txBody>
      </p:sp>
      <p:sp>
        <p:nvSpPr>
          <p:cNvPr id="11" name="faces_220"/>
          <p:cNvSpPr txBox="1"/>
          <p:nvPr/>
        </p:nvSpPr>
        <p:spPr>
          <a:xfrm>
            <a:off x="5230368" y="160020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2" name="box_221"/>
          <p:cNvSpPr txBox="1"/>
          <p:nvPr/>
        </p:nvSpPr>
        <p:spPr>
          <a:xfrm>
            <a:off x="365760" y="2240280"/>
            <a:ext cx="4846320" cy="548640"/>
          </a:xfrm>
          <a:prstGeom prst="rect">
            <a:avLst/>
          </a:prstGeom>
          <a:solidFill>
            <a:srgbClr val="FCE7F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understand tips for practising English.</a:t>
            </a:r>
            <a:endParaRPr lang="en-US" sz="1350" dirty="0"/>
          </a:p>
        </p:txBody>
      </p:sp>
      <p:sp>
        <p:nvSpPr>
          <p:cNvPr id="13" name="faces_222"/>
          <p:cNvSpPr txBox="1"/>
          <p:nvPr/>
        </p:nvSpPr>
        <p:spPr>
          <a:xfrm>
            <a:off x="5230368" y="224028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4" name="box_223"/>
          <p:cNvSpPr txBox="1"/>
          <p:nvPr/>
        </p:nvSpPr>
        <p:spPr>
          <a:xfrm>
            <a:off x="365760" y="2880360"/>
            <a:ext cx="4846320" cy="548640"/>
          </a:xfrm>
          <a:prstGeom prst="rect">
            <a:avLst/>
          </a:prstGeom>
          <a:solidFill>
            <a:srgbClr val="FEF9C3"/>
          </a:solidFill>
          <a:ln w="15875">
            <a:solidFill>
              <a:srgbClr val="111111"/>
            </a:solidFill>
          </a:ln>
        </p:spPr>
        <p:txBody>
          <a:bodyPr wrap="square" lIns="76200" tIns="76200" rIns="76200" bIns="76200" rtlCol="0" anchor="ctr"/>
          <a:lstStyle/>
          <a:p>
            <a:pPr algn="l" indent="0" marL="0">
              <a:buNone/>
            </a:pPr>
            <a:r>
              <a:rPr lang="en-US" sz="1350" b="1" dirty="0">
                <a:solidFill>
                  <a:srgbClr val="111111"/>
                </a:solidFill>
                <a:latin typeface="Calibri" pitchFamily="34" charset="0"/>
                <a:ea typeface="Calibri" pitchFamily="34" charset="-122"/>
                <a:cs typeface="Calibri" pitchFamily="34" charset="-120"/>
              </a:rPr>
              <a:t>✓  I can use reflexive pronouns: myself, yourself…</a:t>
            </a:r>
            <a:endParaRPr lang="en-US" sz="1350" dirty="0"/>
          </a:p>
        </p:txBody>
      </p:sp>
      <p:sp>
        <p:nvSpPr>
          <p:cNvPr id="15" name="faces_224"/>
          <p:cNvSpPr txBox="1"/>
          <p:nvPr/>
        </p:nvSpPr>
        <p:spPr>
          <a:xfrm>
            <a:off x="5230368" y="2880360"/>
            <a:ext cx="1188720" cy="548640"/>
          </a:xfrm>
          <a:prstGeom prst="rect">
            <a:avLst/>
          </a:prstGeom>
          <a:noFill/>
          <a:ln/>
        </p:spPr>
        <p:txBody>
          <a:bodyPr wrap="square" rtlCol="0" anchor="ctr"/>
          <a:lstStyle/>
          <a:p>
            <a:pPr algn="ctr" indent="0" marL="0">
              <a:buNone/>
            </a:pPr>
            <a:r>
              <a:rPr lang="en-US" sz="1400" dirty="0">
                <a:solidFill>
                  <a:srgbClr val="000000"/>
                </a:solidFill>
                <a:latin typeface="Calibri" pitchFamily="34" charset="0"/>
                <a:ea typeface="Calibri" pitchFamily="34" charset="-122"/>
                <a:cs typeface="Calibri" pitchFamily="34" charset="-120"/>
              </a:rPr>
              <a:t>😀 🙂 😐</a:t>
            </a:r>
            <a:endParaRPr lang="en-US" sz="1400" dirty="0"/>
          </a:p>
        </p:txBody>
      </p:sp>
      <p:sp>
        <p:nvSpPr>
          <p:cNvPr id="16" name="hw_225"/>
          <p:cNvSpPr txBox="1"/>
          <p:nvPr/>
        </p:nvSpPr>
        <p:spPr>
          <a:xfrm rot="90000">
            <a:off x="6446520" y="1325880"/>
            <a:ext cx="2377440" cy="2651760"/>
          </a:xfrm>
          <a:prstGeom prst="rect">
            <a:avLst/>
          </a:prstGeom>
          <a:solidFill>
            <a:srgbClr val="062F67"/>
          </a:solidFill>
          <a:ln w="31750">
            <a:solidFill>
              <a:srgbClr val="111111"/>
            </a:solidFill>
          </a:ln>
          <a:effectLst>
            <a:outerShdw sx="100000" sy="100000" kx="0" ky="0" algn="bl" rotWithShape="0" blurRad="101600" dist="38100" dir="2700000">
              <a:srgbClr val="000000">
                <a:alpha val="35000"/>
              </a:srgbClr>
            </a:outerShdw>
          </a:effectLst>
        </p:spPr>
        <p:txBody>
          <a:bodyPr wrap="square" lIns="114300" tIns="114300" rIns="114300" bIns="114300" rtlCol="0" anchor="t"/>
          <a:lstStyle/>
          <a:p>
            <a:pPr indent="0" marL="0">
              <a:spcAft>
                <a:spcPts val="500"/>
              </a:spcAft>
              <a:buNone/>
            </a:pPr>
            <a:r>
              <a:rPr lang="en-US" sz="1200" b="1" dirty="0">
                <a:solidFill>
                  <a:srgbClr val="FFD84D"/>
                </a:solidFill>
                <a:latin typeface="Arial Black" pitchFamily="34" charset="0"/>
                <a:ea typeface="Arial Black" pitchFamily="34" charset="-122"/>
                <a:cs typeface="Arial Black" pitchFamily="34" charset="-120"/>
              </a:rPr>
              <a:t>HOMEWORK · COMPITI</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Workbook 4B: 1c, 3a, 3b, 3c</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Try one forum tip this week!</a:t>
            </a:r>
            <a:endParaRPr lang="en-US" sz="1250" dirty="0"/>
          </a:p>
          <a:p>
            <a:pPr indent="0" marL="0">
              <a:spcAft>
                <a:spcPts val="500"/>
              </a:spcAft>
              <a:buNone/>
            </a:pPr>
            <a:r>
              <a:rPr lang="en-US" sz="1250" dirty="0">
                <a:solidFill>
                  <a:srgbClr val="FFFFFF"/>
                </a:solidFill>
                <a:latin typeface="Calibri" pitchFamily="34" charset="0"/>
                <a:ea typeface="Calibri" pitchFamily="34" charset="-122"/>
                <a:cs typeface="Calibri" pitchFamily="34" charset="-120"/>
              </a:rPr>
              <a:t>• Homework sheet 4B-2</a:t>
            </a:r>
            <a:endParaRPr lang="en-US" sz="1250" dirty="0"/>
          </a:p>
          <a:p>
            <a:pPr indent="0" marL="0">
              <a:spcAft>
                <a:spcPts val="500"/>
              </a:spcAft>
              <a:buNone/>
            </a:pPr>
            <a:r>
              <a:rPr lang="en-US" sz="1050" i="1" dirty="0">
                <a:solidFill>
                  <a:srgbClr val="C7D2FE"/>
                </a:solidFill>
                <a:latin typeface="Calibri" pitchFamily="34" charset="0"/>
                <a:ea typeface="Calibri" pitchFamily="34" charset="-122"/>
                <a:cs typeface="Calibri" pitchFamily="34" charset="-120"/>
              </a:rPr>
              <a:t>📷 Hand it in on the LLS app · Consegna nell'app LLS</a:t>
            </a:r>
            <a:endParaRPr lang="en-US" sz="1250" dirty="0"/>
          </a:p>
        </p:txBody>
      </p:sp>
      <p:sp>
        <p:nvSpPr>
          <p:cNvPr id="17" name="stamp_226"/>
          <p:cNvSpPr txBox="1"/>
          <p:nvPr/>
        </p:nvSpPr>
        <p:spPr>
          <a:xfrm>
            <a:off x="365760" y="3657600"/>
            <a:ext cx="4297680" cy="384048"/>
          </a:xfrm>
          <a:prstGeom prst="roundRect">
            <a:avLst>
              <a:gd name="adj" fmla="val 14286"/>
            </a:avLst>
          </a:prstGeom>
          <a:solidFill>
            <a:srgbClr val="FFFFFF"/>
          </a:solidFill>
          <a:ln w="38100">
            <a:solidFill>
              <a:srgbClr val="6D3FC0"/>
            </a:solidFill>
          </a:ln>
        </p:spPr>
        <p:txBody>
          <a:bodyPr wrap="square" lIns="25400" tIns="25400" rIns="25400" bIns="25400" rtlCol="0" anchor="ctr"/>
          <a:lstStyle/>
          <a:p>
            <a:pPr algn="ctr" indent="0" marL="0">
              <a:buNone/>
            </a:pPr>
            <a:r>
              <a:rPr lang="en-US" sz="1200" dirty="0">
                <a:solidFill>
                  <a:srgbClr val="6D3FC0"/>
                </a:solidFill>
                <a:latin typeface="Calibri" pitchFamily="34" charset="0"/>
                <a:ea typeface="Calibri" pitchFamily="34" charset="-122"/>
                <a:cs typeface="Calibri" pitchFamily="34" charset="-120"/>
              </a:rPr>
              <a:t>Next lesson: Revise and Check 3&amp;4 · Games!</a:t>
            </a:r>
            <a:endParaRPr lang="en-US" sz="1200" dirty="0"/>
          </a:p>
        </p:txBody>
      </p:sp>
    </p:spTree>
  </p:cSld>
  <p:clrMapOvr>
    <a:masterClrMapping/>
  </p:clrMapOvr>
  <p:transition spd="med">
    <p:push dir="l"/>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27"/>
          <p:cNvSpPr/>
          <p:nvPr/>
        </p:nvSpPr>
        <p:spPr>
          <a:xfrm>
            <a:off x="54864" y="54864"/>
            <a:ext cx="9034272" cy="5033772"/>
          </a:xfrm>
          <a:prstGeom prst="rect">
            <a:avLst/>
          </a:prstGeom>
          <a:ln w="114300">
            <a:solidFill>
              <a:srgbClr val="A8E6B4"/>
            </a:solidFill>
            <a:prstDash val="solid"/>
          </a:ln>
        </p:spPr>
      </p:sp>
      <p:pic>
        <p:nvPicPr>
          <p:cNvPr id="4" name="logo_228"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29"/>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Game · Story chain</a:t>
            </a:r>
            <a:endParaRPr lang="en-US" sz="900" dirty="0"/>
          </a:p>
        </p:txBody>
      </p:sp>
      <p:sp>
        <p:nvSpPr>
          <p:cNvPr id="6" name="timer_230"/>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31"/>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32"/>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9" name="title_233"/>
          <p:cNvSpPr txBox="1"/>
          <p:nvPr/>
        </p:nvSpPr>
        <p:spPr>
          <a:xfrm rot="90000">
            <a:off x="320040" y="676656"/>
            <a:ext cx="4846320"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The most embarrassing day</a:t>
            </a:r>
            <a:endParaRPr lang="en-US" sz="1500" dirty="0"/>
          </a:p>
        </p:txBody>
      </p:sp>
      <p:sp>
        <p:nvSpPr>
          <p:cNvPr id="10" name="tape_234"/>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35"/>
          <p:cNvSpPr/>
          <p:nvPr/>
        </p:nvSpPr>
        <p:spPr>
          <a:xfrm rot="-720000">
            <a:off x="4599432" y="1069848"/>
            <a:ext cx="685800" cy="219456"/>
          </a:xfrm>
          <a:prstGeom prst="rect">
            <a:avLst/>
          </a:prstGeom>
          <a:solidFill>
            <a:srgbClr val="FFD84D">
              <a:alpha val="75000"/>
            </a:srgbClr>
          </a:solidFill>
          <a:ln w="6350">
            <a:solidFill>
              <a:srgbClr val="FFD84D"/>
            </a:solidFill>
            <a:prstDash val="solid"/>
          </a:ln>
        </p:spPr>
      </p:sp>
      <p:sp>
        <p:nvSpPr>
          <p:cNvPr id="12" name="post_236"/>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37"/>
          <p:cNvSpPr txBox="1"/>
          <p:nvPr/>
        </p:nvSpPr>
        <p:spPr>
          <a:xfrm rot="-180000">
            <a:off x="320040" y="1371600"/>
            <a:ext cx="2240280" cy="457200"/>
          </a:xfrm>
          <a:prstGeom prst="homePlate">
            <a:avLst/>
          </a:prstGeom>
          <a:solidFill>
            <a:srgbClr val="1FA463"/>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PLAY!</a:t>
            </a:r>
            <a:pPr indent="0" marL="0">
              <a:buNone/>
            </a:pPr>
            <a:r>
              <a:rPr lang="en-US" sz="1000" dirty="0">
                <a:solidFill>
                  <a:srgbClr val="FFF3B0"/>
                </a:solidFill>
                <a:latin typeface="Arial Black" pitchFamily="34" charset="0"/>
                <a:ea typeface="Arial Black" pitchFamily="34" charset="-122"/>
                <a:cs typeface="Arial Black" pitchFamily="34" charset="-120"/>
              </a:rPr>
              <a:t>  GIOCA!</a:t>
            </a:r>
            <a:endParaRPr lang="en-US" sz="1500" dirty="0"/>
          </a:p>
        </p:txBody>
      </p:sp>
      <p:sp>
        <p:nvSpPr>
          <p:cNvPr id="14" name="signB_238"/>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000" dirty="0">
                <a:solidFill>
                  <a:srgbClr val="111111"/>
                </a:solidFill>
                <a:latin typeface="Calibri" pitchFamily="34" charset="0"/>
                <a:ea typeface="Calibri" pitchFamily="34" charset="-122"/>
                <a:cs typeface="Calibri" pitchFamily="34" charset="-120"/>
              </a:rPr>
              <a:t>Build a story together. Every sentence needs an -ed or -ing adjective!</a:t>
            </a:r>
            <a:endParaRPr lang="en-US" sz="1000" dirty="0"/>
          </a:p>
          <a:p>
            <a:pPr indent="0" marL="0">
              <a:buNone/>
            </a:pPr>
            <a:r>
              <a:rPr lang="en-US" sz="900" i="1" dirty="0">
                <a:solidFill>
                  <a:srgbClr val="334155"/>
                </a:solidFill>
                <a:latin typeface="Calibri" pitchFamily="34" charset="0"/>
                <a:ea typeface="Calibri" pitchFamily="34" charset="-122"/>
                <a:cs typeface="Calibri" pitchFamily="34" charset="-120"/>
              </a:rPr>
              <a:t>Costruite una storia insieme. Ogni frase deve avere un aggettivo in -ed o -ing!</a:t>
            </a:r>
            <a:endParaRPr lang="en-US" sz="1000" dirty="0"/>
          </a:p>
        </p:txBody>
      </p:sp>
      <p:sp>
        <p:nvSpPr>
          <p:cNvPr id="15" name="iconBack_239"/>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40" descr="pi:PiLightning">    </p:cNvPr>
          <p:cNvPicPr>
            <a:picLocks noChangeAspect="1"/>
          </p:cNvPicPr>
          <p:nvPr/>
        </p:nvPicPr>
        <p:blipFill>
          <a:blip r:embed="rId3"/>
          <a:stretch>
            <a:fillRect/>
          </a:stretch>
        </p:blipFill>
        <p:spPr>
          <a:xfrm>
            <a:off x="914400" y="3474720"/>
            <a:ext cx="685800" cy="685800"/>
          </a:xfrm>
          <a:prstGeom prst="rect">
            <a:avLst/>
          </a:prstGeom>
        </p:spPr>
      </p:pic>
      <p:sp>
        <p:nvSpPr>
          <p:cNvPr id="17" name="num_241"/>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42"/>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Teams of 4. The story starts: 'Last Saturday was the most embarrassing day of my life…'</a:t>
            </a:r>
            <a:endParaRPr lang="en-US" sz="1300" dirty="0"/>
          </a:p>
        </p:txBody>
      </p:sp>
      <p:sp>
        <p:nvSpPr>
          <p:cNvPr id="19" name="num_243"/>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44"/>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Each student adds ONE sentence with a new -ed or -ing adjective.</a:t>
            </a:r>
            <a:endParaRPr lang="en-US" sz="1300" dirty="0"/>
          </a:p>
        </p:txBody>
      </p:sp>
      <p:sp>
        <p:nvSpPr>
          <p:cNvPr id="21" name="num_245"/>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46"/>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No repeats! The other team listens: a repeated or wrong adjective = 1 point for them.</a:t>
            </a:r>
            <a:endParaRPr lang="en-US" sz="1300" dirty="0"/>
          </a:p>
        </p:txBody>
      </p:sp>
      <p:sp>
        <p:nvSpPr>
          <p:cNvPr id="23" name="num_247"/>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48"/>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After 3 minutes, each team reads its story. The funniest story gets 2 points.</a:t>
            </a:r>
            <a:endParaRPr lang="en-US" sz="1300" dirty="0"/>
          </a:p>
        </p:txBody>
      </p:sp>
      <p:sp>
        <p:nvSpPr>
          <p:cNvPr id="25" name="bubble_249"/>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300" b="1" i="1" dirty="0">
                <a:solidFill>
                  <a:srgbClr val="111111"/>
                </a:solidFill>
                <a:latin typeface="Calibri" pitchFamily="34" charset="0"/>
                <a:ea typeface="Calibri" pitchFamily="34" charset="-122"/>
                <a:cs typeface="Calibri" pitchFamily="34" charset="-120"/>
              </a:rPr>
              <a:t>I was so excited about the party that I went on the wrong day!</a:t>
            </a:r>
            <a:endParaRPr lang="en-US" sz="1300" dirty="0"/>
          </a:p>
        </p:txBody>
      </p:sp>
    </p:spTree>
  </p:cSld>
  <p:clrMapOvr>
    <a:masterClrMapping/>
  </p:clrMapOvr>
  <p:transition spd="med">
    <p:push dir="l"/>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levelFrame_250"/>
          <p:cNvSpPr/>
          <p:nvPr/>
        </p:nvSpPr>
        <p:spPr>
          <a:xfrm>
            <a:off x="54864" y="54864"/>
            <a:ext cx="9034272" cy="5033772"/>
          </a:xfrm>
          <a:prstGeom prst="rect">
            <a:avLst/>
          </a:prstGeom>
          <a:ln w="114300">
            <a:solidFill>
              <a:srgbClr val="A8E6B4"/>
            </a:solidFill>
            <a:prstDash val="solid"/>
          </a:ln>
        </p:spPr>
      </p:sp>
      <p:pic>
        <p:nvPicPr>
          <p:cNvPr id="4" name="logo_251" descr="London Language School logo">    </p:cNvPr>
          <p:cNvPicPr>
            <a:picLocks noChangeAspect="1"/>
          </p:cNvPicPr>
          <p:nvPr/>
        </p:nvPicPr>
        <p:blipFill>
          <a:blip r:embed="rId2"/>
          <a:stretch>
            <a:fillRect/>
          </a:stretch>
        </p:blipFill>
        <p:spPr>
          <a:xfrm>
            <a:off x="8275320" y="182880"/>
            <a:ext cx="585216" cy="585216"/>
          </a:xfrm>
          <a:prstGeom prst="rect">
            <a:avLst/>
          </a:prstGeom>
        </p:spPr>
      </p:pic>
      <p:sp>
        <p:nvSpPr>
          <p:cNvPr id="5" name="objective_252"/>
          <p:cNvSpPr txBox="1"/>
          <p:nvPr/>
        </p:nvSpPr>
        <p:spPr>
          <a:xfrm>
            <a:off x="320040" y="182880"/>
            <a:ext cx="4754880" cy="365760"/>
          </a:xfrm>
          <a:prstGeom prst="roundRect">
            <a:avLst>
              <a:gd name="adj" fmla="val 20000"/>
            </a:avLst>
          </a:prstGeom>
          <a:solidFill>
            <a:srgbClr val="062F67"/>
          </a:solidFill>
          <a:ln w="31750">
            <a:solidFill>
              <a:srgbClr val="111111"/>
            </a:solidFill>
          </a:ln>
        </p:spPr>
        <p:txBody>
          <a:bodyPr wrap="square" lIns="101600" tIns="101600" rIns="101600" bIns="101600" rtlCol="0" anchor="ctr"/>
          <a:lstStyle/>
          <a:p>
            <a:pPr indent="0" marL="0">
              <a:buNone/>
            </a:pPr>
            <a:r>
              <a:rPr lang="en-US" sz="900" dirty="0">
                <a:solidFill>
                  <a:srgbClr val="FFFFFF"/>
                </a:solidFill>
                <a:latin typeface="Arial Black" pitchFamily="34" charset="0"/>
                <a:ea typeface="Arial Black" pitchFamily="34" charset="-122"/>
                <a:cs typeface="Arial Black" pitchFamily="34" charset="-120"/>
              </a:rPr>
              <a:t>EXTRA · Speaking · Practise in your head</a:t>
            </a:r>
            <a:endParaRPr lang="en-US" sz="900" dirty="0"/>
          </a:p>
        </p:txBody>
      </p:sp>
      <p:sp>
        <p:nvSpPr>
          <p:cNvPr id="6" name="timer_253"/>
          <p:cNvSpPr txBox="1"/>
          <p:nvPr/>
        </p:nvSpPr>
        <p:spPr>
          <a:xfrm>
            <a:off x="7086600" y="219456"/>
            <a:ext cx="1005840" cy="310896"/>
          </a:xfrm>
          <a:prstGeom prst="roundRect">
            <a:avLst>
              <a:gd name="adj" fmla="val 23529"/>
            </a:avLst>
          </a:prstGeom>
          <a:solidFill>
            <a:srgbClr val="FFFFFF"/>
          </a:solidFill>
          <a:ln w="25400">
            <a:solidFill>
              <a:srgbClr val="6D3FC0"/>
            </a:solidFill>
          </a:ln>
        </p:spPr>
        <p:txBody>
          <a:bodyPr wrap="square" lIns="0" tIns="0" rIns="0" bIns="0" rtlCol="0" anchor="ctr"/>
          <a:lstStyle/>
          <a:p>
            <a:pPr algn="ctr" indent="0" marL="0">
              <a:buNone/>
            </a:pPr>
            <a:r>
              <a:rPr lang="en-US" sz="1200" b="1" dirty="0">
                <a:solidFill>
                  <a:srgbClr val="6D3FC0"/>
                </a:solidFill>
                <a:latin typeface="Calibri" pitchFamily="34" charset="0"/>
                <a:ea typeface="Calibri" pitchFamily="34" charset="-122"/>
                <a:cs typeface="Calibri" pitchFamily="34" charset="-120"/>
              </a:rPr>
              <a:t>⏱ 6 min</a:t>
            </a:r>
            <a:endParaRPr lang="en-US" sz="1200" dirty="0"/>
          </a:p>
        </p:txBody>
      </p:sp>
      <p:sp>
        <p:nvSpPr>
          <p:cNvPr id="7" name="extra_254"/>
          <p:cNvSpPr txBox="1"/>
          <p:nvPr/>
        </p:nvSpPr>
        <p:spPr>
          <a:xfrm rot="360000">
            <a:off x="5943600" y="201168"/>
            <a:ext cx="1005840" cy="347472"/>
          </a:xfrm>
          <a:prstGeom prst="roundRect">
            <a:avLst>
              <a:gd name="adj" fmla="val 21053"/>
            </a:avLst>
          </a:prstGeom>
          <a:solidFill>
            <a:srgbClr val="1FA463"/>
          </a:solidFill>
          <a:ln w="31750">
            <a:solidFill>
              <a:srgbClr val="111111"/>
            </a:solidFill>
          </a:ln>
        </p:spPr>
        <p:txBody>
          <a:bodyPr wrap="square"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EXTRA</a:t>
            </a:r>
            <a:endParaRPr lang="en-US" sz="1300" dirty="0"/>
          </a:p>
        </p:txBody>
      </p:sp>
      <p:sp>
        <p:nvSpPr>
          <p:cNvPr id="8" name="footer_255"/>
          <p:cNvSpPr txBox="1"/>
          <p:nvPr/>
        </p:nvSpPr>
        <p:spPr>
          <a:xfrm>
            <a:off x="7132320" y="4818888"/>
            <a:ext cx="173736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334155"/>
                </a:solidFill>
                <a:latin typeface="Calibri" pitchFamily="34" charset="0"/>
                <a:ea typeface="Calibri" pitchFamily="34" charset="-122"/>
                <a:cs typeface="Calibri" pitchFamily="34" charset="-120"/>
              </a:rPr>
              <a:t>4B · Part 2</a:t>
            </a:r>
            <a:endParaRPr lang="en-US" sz="1000" dirty="0"/>
          </a:p>
        </p:txBody>
      </p:sp>
      <p:sp>
        <p:nvSpPr>
          <p:cNvPr id="9" name="title_256"/>
          <p:cNvSpPr txBox="1"/>
          <p:nvPr/>
        </p:nvSpPr>
        <p:spPr>
          <a:xfrm rot="90000">
            <a:off x="320040" y="676656"/>
            <a:ext cx="4498848" cy="530352"/>
          </a:xfrm>
          <a:prstGeom prst="rect">
            <a:avLst/>
          </a:prstGeom>
          <a:solidFill>
            <a:srgbClr val="FFFFFF"/>
          </a:solidFill>
          <a:ln w="31750">
            <a:solidFill>
              <a:srgbClr val="111111"/>
            </a:solidFill>
          </a:ln>
          <a:effectLst>
            <a:outerShdw sx="100000" sy="100000" kx="0" ky="0" algn="bl" rotWithShape="0" blurRad="101600" dist="38100" dir="2700000">
              <a:srgbClr val="000000">
                <a:alpha val="35000"/>
              </a:srgbClr>
            </a:outerShdw>
          </a:effectLst>
        </p:spPr>
        <p:txBody>
          <a:bodyPr wrap="square" lIns="127000" tIns="127000" rIns="127000" bIns="127000" rtlCol="0" anchor="ctr"/>
          <a:lstStyle/>
          <a:p>
            <a:pPr indent="0" marL="0">
              <a:buNone/>
            </a:pPr>
            <a:r>
              <a:rPr lang="en-US" sz="1500" dirty="0">
                <a:solidFill>
                  <a:srgbClr val="111111"/>
                </a:solidFill>
                <a:latin typeface="Arial Black" pitchFamily="34" charset="0"/>
                <a:ea typeface="Arial Black" pitchFamily="34" charset="-122"/>
                <a:cs typeface="Arial Black" pitchFamily="34" charset="-120"/>
              </a:rPr>
              <a:t>Marta's tip: 30 seconds</a:t>
            </a:r>
            <a:endParaRPr lang="en-US" sz="1500" dirty="0"/>
          </a:p>
        </p:txBody>
      </p:sp>
      <p:sp>
        <p:nvSpPr>
          <p:cNvPr id="10" name="tape_257"/>
          <p:cNvSpPr/>
          <p:nvPr/>
        </p:nvSpPr>
        <p:spPr>
          <a:xfrm rot="-720000">
            <a:off x="210312" y="585216"/>
            <a:ext cx="685800" cy="219456"/>
          </a:xfrm>
          <a:prstGeom prst="rect">
            <a:avLst/>
          </a:prstGeom>
          <a:solidFill>
            <a:srgbClr val="FFD84D">
              <a:alpha val="75000"/>
            </a:srgbClr>
          </a:solidFill>
          <a:ln w="6350">
            <a:solidFill>
              <a:srgbClr val="FFD84D"/>
            </a:solidFill>
            <a:prstDash val="solid"/>
          </a:ln>
        </p:spPr>
      </p:sp>
      <p:sp>
        <p:nvSpPr>
          <p:cNvPr id="11" name="tape_258"/>
          <p:cNvSpPr/>
          <p:nvPr/>
        </p:nvSpPr>
        <p:spPr>
          <a:xfrm rot="-720000">
            <a:off x="4251960" y="1069848"/>
            <a:ext cx="685800" cy="219456"/>
          </a:xfrm>
          <a:prstGeom prst="rect">
            <a:avLst/>
          </a:prstGeom>
          <a:solidFill>
            <a:srgbClr val="FFD84D">
              <a:alpha val="75000"/>
            </a:srgbClr>
          </a:solidFill>
          <a:ln w="6350">
            <a:solidFill>
              <a:srgbClr val="FFD84D"/>
            </a:solidFill>
            <a:prstDash val="solid"/>
          </a:ln>
        </p:spPr>
      </p:sp>
      <p:sp>
        <p:nvSpPr>
          <p:cNvPr id="12" name="post_259"/>
          <p:cNvSpPr/>
          <p:nvPr/>
        </p:nvSpPr>
        <p:spPr>
          <a:xfrm>
            <a:off x="429768" y="1554480"/>
            <a:ext cx="128016" cy="2194560"/>
          </a:xfrm>
          <a:prstGeom prst="rect">
            <a:avLst/>
          </a:prstGeom>
          <a:solidFill>
            <a:srgbClr val="8B5A2B"/>
          </a:solidFill>
          <a:ln w="31750">
            <a:solidFill>
              <a:srgbClr val="111111"/>
            </a:solidFill>
            <a:prstDash val="solid"/>
          </a:ln>
        </p:spPr>
      </p:sp>
      <p:sp>
        <p:nvSpPr>
          <p:cNvPr id="13" name="signA_260"/>
          <p:cNvSpPr txBox="1"/>
          <p:nvPr/>
        </p:nvSpPr>
        <p:spPr>
          <a:xfrm rot="-180000">
            <a:off x="320040" y="1371600"/>
            <a:ext cx="2240280" cy="457200"/>
          </a:xfrm>
          <a:prstGeom prst="homePlate">
            <a:avLst/>
          </a:prstGeom>
          <a:solidFill>
            <a:srgbClr val="EF2F2F"/>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SPEAK!</a:t>
            </a:r>
            <a:pPr indent="0" marL="0">
              <a:buNone/>
            </a:pPr>
            <a:r>
              <a:rPr lang="en-US" sz="1000" dirty="0">
                <a:solidFill>
                  <a:srgbClr val="FFF3B0"/>
                </a:solidFill>
                <a:latin typeface="Arial Black" pitchFamily="34" charset="0"/>
                <a:ea typeface="Arial Black" pitchFamily="34" charset="-122"/>
                <a:cs typeface="Arial Black" pitchFamily="34" charset="-120"/>
              </a:rPr>
              <a:t>  PARLA!</a:t>
            </a:r>
            <a:endParaRPr lang="en-US" sz="1500" dirty="0"/>
          </a:p>
        </p:txBody>
      </p:sp>
      <p:sp>
        <p:nvSpPr>
          <p:cNvPr id="14" name="signB_261"/>
          <p:cNvSpPr txBox="1"/>
          <p:nvPr/>
        </p:nvSpPr>
        <p:spPr>
          <a:xfrm rot="120000">
            <a:off x="365760" y="1938528"/>
            <a:ext cx="2240280" cy="1051560"/>
          </a:xfrm>
          <a:prstGeom prst="rect">
            <a:avLst/>
          </a:prstGeom>
          <a:solidFill>
            <a:srgbClr val="FFFFFF"/>
          </a:solidFill>
          <a:ln w="31750">
            <a:solidFill>
              <a:srgbClr val="111111"/>
            </a:solidFill>
          </a:ln>
        </p:spPr>
        <p:txBody>
          <a:bodyPr wrap="square" lIns="76200" tIns="76200" rIns="76200" bIns="76200" rtlCol="0" anchor="ctr"/>
          <a:lstStyle/>
          <a:p>
            <a:pPr indent="0" marL="0">
              <a:buNone/>
            </a:pPr>
            <a:r>
              <a:rPr lang="en-US" sz="1200" dirty="0">
                <a:solidFill>
                  <a:srgbClr val="111111"/>
                </a:solidFill>
                <a:latin typeface="Calibri" pitchFamily="34" charset="0"/>
                <a:ea typeface="Calibri" pitchFamily="34" charset="-122"/>
                <a:cs typeface="Calibri" pitchFamily="34" charset="-120"/>
              </a:rPr>
              <a:t>Prepare in your head. Then talk for 30 seconds – no stopping!</a:t>
            </a:r>
            <a:endParaRPr lang="en-US" sz="1200" dirty="0"/>
          </a:p>
          <a:p>
            <a:pPr indent="0" marL="0">
              <a:buNone/>
            </a:pPr>
            <a:r>
              <a:rPr lang="en-US" sz="1050" i="1" dirty="0">
                <a:solidFill>
                  <a:srgbClr val="334155"/>
                </a:solidFill>
                <a:latin typeface="Calibri" pitchFamily="34" charset="0"/>
                <a:ea typeface="Calibri" pitchFamily="34" charset="-122"/>
                <a:cs typeface="Calibri" pitchFamily="34" charset="-120"/>
              </a:rPr>
              <a:t>Preparati mentalmente. Poi parla per 30 secondi – senza fermarti!</a:t>
            </a:r>
            <a:endParaRPr lang="en-US" sz="1200" dirty="0"/>
          </a:p>
        </p:txBody>
      </p:sp>
      <p:sp>
        <p:nvSpPr>
          <p:cNvPr id="15" name="iconBack_262"/>
          <p:cNvSpPr/>
          <p:nvPr/>
        </p:nvSpPr>
        <p:spPr>
          <a:xfrm>
            <a:off x="685800" y="3246120"/>
            <a:ext cx="1143000" cy="1143000"/>
          </a:xfrm>
          <a:prstGeom prst="ellipse">
            <a:avLst/>
          </a:prstGeom>
          <a:solidFill>
            <a:srgbClr val="FFFFFF"/>
          </a:solidFill>
          <a:ln w="31750">
            <a:solidFill>
              <a:srgbClr val="111111"/>
            </a:solidFill>
            <a:prstDash val="solid"/>
          </a:ln>
          <a:effectLst>
            <a:outerShdw sx="100000" sy="100000" kx="0" ky="0" algn="bl" rotWithShape="0" blurRad="101600" dist="38100" dir="2700000">
              <a:srgbClr val="000000">
                <a:alpha val="35000"/>
              </a:srgbClr>
            </a:outerShdw>
          </a:effectLst>
        </p:spPr>
      </p:sp>
      <p:pic>
        <p:nvPicPr>
          <p:cNvPr id="16" name="icon_263" descr="pi:PiTimer">    </p:cNvPr>
          <p:cNvPicPr>
            <a:picLocks noChangeAspect="1"/>
          </p:cNvPicPr>
          <p:nvPr/>
        </p:nvPicPr>
        <p:blipFill>
          <a:blip r:embed="rId3"/>
          <a:stretch>
            <a:fillRect/>
          </a:stretch>
        </p:blipFill>
        <p:spPr>
          <a:xfrm>
            <a:off x="914400" y="3474720"/>
            <a:ext cx="685800" cy="685800"/>
          </a:xfrm>
          <a:prstGeom prst="rect">
            <a:avLst/>
          </a:prstGeom>
        </p:spPr>
      </p:pic>
      <p:sp>
        <p:nvSpPr>
          <p:cNvPr id="17" name="num_264"/>
          <p:cNvSpPr txBox="1"/>
          <p:nvPr/>
        </p:nvSpPr>
        <p:spPr>
          <a:xfrm>
            <a:off x="2788920" y="1482471"/>
            <a:ext cx="384048" cy="384048"/>
          </a:xfrm>
          <a:prstGeom prst="ellipse">
            <a:avLst/>
          </a:prstGeom>
          <a:solidFill>
            <a:srgbClr val="EF2F2F"/>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1</a:t>
            </a:r>
            <a:endParaRPr lang="en-US" sz="1300" dirty="0"/>
          </a:p>
        </p:txBody>
      </p:sp>
      <p:sp>
        <p:nvSpPr>
          <p:cNvPr id="18" name="box_265"/>
          <p:cNvSpPr txBox="1"/>
          <p:nvPr/>
        </p:nvSpPr>
        <p:spPr>
          <a:xfrm>
            <a:off x="3264408" y="137160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Choose a topic: your job / school · your weekend plans · your family · today's news.</a:t>
            </a:r>
            <a:endParaRPr lang="en-US" sz="1300" dirty="0"/>
          </a:p>
        </p:txBody>
      </p:sp>
      <p:sp>
        <p:nvSpPr>
          <p:cNvPr id="19" name="num_266"/>
          <p:cNvSpPr txBox="1"/>
          <p:nvPr/>
        </p:nvSpPr>
        <p:spPr>
          <a:xfrm>
            <a:off x="2788920" y="2179701"/>
            <a:ext cx="384048" cy="384048"/>
          </a:xfrm>
          <a:prstGeom prst="ellipse">
            <a:avLst/>
          </a:prstGeom>
          <a:solidFill>
            <a:srgbClr val="48BDF2"/>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2</a:t>
            </a:r>
            <a:endParaRPr lang="en-US" sz="1300" dirty="0"/>
          </a:p>
        </p:txBody>
      </p:sp>
      <p:sp>
        <p:nvSpPr>
          <p:cNvPr id="20" name="box_267"/>
          <p:cNvSpPr txBox="1"/>
          <p:nvPr/>
        </p:nvSpPr>
        <p:spPr>
          <a:xfrm>
            <a:off x="3264408" y="206883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1 minute: practise it IN YOUR HEAD – no writing!</a:t>
            </a:r>
            <a:endParaRPr lang="en-US" sz="1300" dirty="0"/>
          </a:p>
        </p:txBody>
      </p:sp>
      <p:sp>
        <p:nvSpPr>
          <p:cNvPr id="21" name="num_268"/>
          <p:cNvSpPr txBox="1"/>
          <p:nvPr/>
        </p:nvSpPr>
        <p:spPr>
          <a:xfrm>
            <a:off x="2788920" y="2876931"/>
            <a:ext cx="384048" cy="384048"/>
          </a:xfrm>
          <a:prstGeom prst="ellipse">
            <a:avLst/>
          </a:prstGeom>
          <a:solidFill>
            <a:srgbClr val="1FA463"/>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3</a:t>
            </a:r>
            <a:endParaRPr lang="en-US" sz="1300" dirty="0"/>
          </a:p>
        </p:txBody>
      </p:sp>
      <p:sp>
        <p:nvSpPr>
          <p:cNvPr id="22" name="box_269"/>
          <p:cNvSpPr txBox="1"/>
          <p:nvPr/>
        </p:nvSpPr>
        <p:spPr>
          <a:xfrm>
            <a:off x="3264408" y="276606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Tell your partner. 30 seconds, no long pauses, no Italian.</a:t>
            </a:r>
            <a:endParaRPr lang="en-US" sz="1300" dirty="0"/>
          </a:p>
        </p:txBody>
      </p:sp>
      <p:sp>
        <p:nvSpPr>
          <p:cNvPr id="23" name="num_270"/>
          <p:cNvSpPr txBox="1"/>
          <p:nvPr/>
        </p:nvSpPr>
        <p:spPr>
          <a:xfrm>
            <a:off x="2788920" y="3574161"/>
            <a:ext cx="384048" cy="384048"/>
          </a:xfrm>
          <a:prstGeom prst="ellipse">
            <a:avLst/>
          </a:prstGeom>
          <a:solidFill>
            <a:srgbClr val="F59E0B"/>
          </a:solidFill>
          <a:ln w="19050">
            <a:solidFill>
              <a:srgbClr val="111111"/>
            </a:solidFill>
          </a:ln>
        </p:spPr>
        <p:txBody>
          <a:bodyPr wrap="square" lIns="0" tIns="0" rIns="0" bIns="0" rtlCol="0" anchor="ctr"/>
          <a:lstStyle/>
          <a:p>
            <a:pPr algn="ctr" indent="0" marL="0">
              <a:buNone/>
            </a:pPr>
            <a:r>
              <a:rPr lang="en-US" sz="1300" dirty="0">
                <a:solidFill>
                  <a:srgbClr val="FFFFFF"/>
                </a:solidFill>
                <a:latin typeface="Arial Black" pitchFamily="34" charset="0"/>
                <a:ea typeface="Arial Black" pitchFamily="34" charset="-122"/>
                <a:cs typeface="Arial Black" pitchFamily="34" charset="-120"/>
              </a:rPr>
              <a:t>4</a:t>
            </a:r>
            <a:endParaRPr lang="en-US" sz="1300" dirty="0"/>
          </a:p>
        </p:txBody>
      </p:sp>
      <p:sp>
        <p:nvSpPr>
          <p:cNvPr id="24" name="box_271"/>
          <p:cNvSpPr txBox="1"/>
          <p:nvPr/>
        </p:nvSpPr>
        <p:spPr>
          <a:xfrm>
            <a:off x="3264408" y="3463290"/>
            <a:ext cx="5559552" cy="605790"/>
          </a:xfrm>
          <a:prstGeom prst="rect">
            <a:avLst/>
          </a:prstGeom>
          <a:solidFill>
            <a:srgbClr val="FFFFFF"/>
          </a:solidFill>
          <a:ln w="15875">
            <a:solidFill>
              <a:srgbClr val="111111"/>
            </a:solidFill>
          </a:ln>
        </p:spPr>
        <p:txBody>
          <a:bodyPr wrap="square" lIns="76200" tIns="76200" rIns="76200" bIns="76200" rtlCol="0" anchor="ctr"/>
          <a:lstStyle/>
          <a:p>
            <a:pPr algn="l" indent="0" marL="0">
              <a:buNone/>
            </a:pPr>
            <a:r>
              <a:rPr lang="en-US" sz="1300" dirty="0">
                <a:solidFill>
                  <a:srgbClr val="111111"/>
                </a:solidFill>
                <a:latin typeface="Calibri" pitchFamily="34" charset="0"/>
                <a:ea typeface="Calibri" pitchFamily="34" charset="-122"/>
                <a:cs typeface="Calibri" pitchFamily="34" charset="-120"/>
              </a:rPr>
              <a:t>Partner: one question at the end. Then swap.</a:t>
            </a:r>
            <a:endParaRPr lang="en-US" sz="1300" dirty="0"/>
          </a:p>
        </p:txBody>
      </p:sp>
      <p:sp>
        <p:nvSpPr>
          <p:cNvPr id="25" name="bubble_272"/>
          <p:cNvSpPr txBox="1"/>
          <p:nvPr/>
        </p:nvSpPr>
        <p:spPr>
          <a:xfrm>
            <a:off x="3246120" y="4160520"/>
            <a:ext cx="5577840" cy="502920"/>
          </a:xfrm>
          <a:prstGeom prst="roundRect">
            <a:avLst/>
          </a:prstGeom>
          <a:solidFill>
            <a:srgbClr val="FFD84D"/>
          </a:solidFill>
          <a:ln w="31750">
            <a:solidFill>
              <a:srgbClr val="111111"/>
            </a:solidFill>
          </a:ln>
          <a:effectLst>
            <a:outerShdw sx="100000" sy="100000" kx="0" ky="0" algn="bl" rotWithShape="0" blurRad="101600" dist="38100" dir="2700000">
              <a:srgbClr val="000000">
                <a:alpha val="35000"/>
              </a:srgbClr>
            </a:outerShdw>
          </a:effectLst>
        </p:spPr>
        <p:txBody>
          <a:bodyPr wrap="square" lIns="76200" tIns="76200" rIns="76200" bIns="76200" rtlCol="0" anchor="ctr"/>
          <a:lstStyle/>
          <a:p>
            <a:pPr algn="ctr" indent="0" marL="0">
              <a:buNone/>
            </a:pPr>
            <a:r>
              <a:rPr lang="en-US" sz="1250" b="1" i="1" dirty="0">
                <a:solidFill>
                  <a:srgbClr val="111111"/>
                </a:solidFill>
                <a:latin typeface="Calibri" pitchFamily="34" charset="0"/>
                <a:ea typeface="Calibri" pitchFamily="34" charset="-122"/>
                <a:cs typeface="Calibri" pitchFamily="34" charset="-120"/>
              </a:rPr>
              <a:t>I'm a student at… I've been studying there for… What I like most is…</a:t>
            </a:r>
            <a:endParaRPr lang="en-US" sz="1250" dirty="0"/>
          </a:p>
        </p:txBody>
      </p:sp>
    </p:spTree>
  </p:cSld>
  <p:clrMapOvr>
    <a:masterClrMapping/>
  </p:clrMapOvr>
  <p:transition spd="med">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London Language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B1 4B-2 Yes, I can!</dc:title>
  <dc:subject>PptxGenJS Presentation</dc:subject>
  <dc:creator>London Language School</dc:creator>
  <cp:lastModifiedBy>London Language School</cp:lastModifiedBy>
  <cp:revision>1</cp:revision>
  <dcterms:created xsi:type="dcterms:W3CDTF">2026-10-05T09:53:16Z</dcterms:created>
  <dcterms:modified xsi:type="dcterms:W3CDTF">2026-10-05T09:53:16Z</dcterms:modified>
</cp:coreProperties>
</file>