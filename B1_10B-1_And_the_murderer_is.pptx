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10B PART 1 (60 min) · SB pp.100–101. Aims: crime vocabulary; read about Jack the Ripper; listen to a retired detective on three theories about his identity; question tags (Grammar Bank 10B) with falling intonation to check information; 'Just checking' (Communication p.110 / p.114). Timing: cover 2 · revision 5 · vocabulary 6 · reading 6 · listening 10 · tags presentation 3 · rule 5 · practice 5 · pronunciation 5 · Communication 7 · exit 3 = 57 min. TG optional lead-in: write MURDER /ˈmɜːdə/ on the board; pairs brainstorm related words for 1 minute (murderer, kill, victim, detective, police, suspect, witness…). Click 1: the question — click 2 (the answer already has a question tag!). (2 min) Sensitivity: the topic is a historical crime; keep the focus on the mystery and the detective work, not on violence.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10A part 2 (5 min). VARIATION: beat the clock (+ word stress). Two teams take turns; 10 seconds per item; click once per item (one answer per click). 1 point for the missing word + 1 bonus point for saying the whole compound with stress on the FIRST word (TRAFfic jam, SEAT belt, DESK lamp, RUSH hour, CHILD prodigy, PHONE box, SCIence fiction, TENnis court). Final 30 seconds: which design icon was inspired by the human arm? (the Anglepoise lamp).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(6 min). 1a: what do they know about Jack the Ripper? Write their ideas on the board but don't say if they're right (they'll find out). 1b: students match definitions 1–9 to the words in the list; compare. (Book definitions: 1 noun police officers who investigate crimes · 2 noun people who see something which has happened and then tell others (e.g. the police) about it · 3 noun people who are hurt or killed by somebody in a crime · 4 noun a person who kills another person deliberately · 5 noun the crime of killing a person illegally and deliberately · 6 noun the facts, signs, etc. which tell you who committed a crime · 7 noun people who are thought to be guilty of a crime · 8 (a mystery) verb to find the correct answer to why something happened · 9 (sth) verb to use facts and evidence to show something is true.) Fast pairs: the teacher reads a definition, pairs shout the word. 1c: play 10.6 to check (TG): 1 detectives · 2 witnesses · 3 victims · 4 murderer · 5 murder · 6 evidence · 7 suspects · 8 solve · 9 prove. The slide shows the same nine words in the audio order; click 1 for the Italian. Pronunciation: murder /ˈmɜːdə/; suspect is a noun stressed on the 1st syllable /ˈsʌspekt/, but the verb is stressed on the 2nd /səˈspekt/ (TG). False friend: evidence = prove / indizi (uncountable: ✗ an evidence, ✗ evidences); prove (verb) ≠ le prove. VARIATION: vocabulary branching — pairs make the 'family': murder – murderer; witness – to witness; suspect – to suspect; solve –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(6 min). 1d: students read the article on p.100 and complete gaps 2–9 with words from 1b (the slide text is a shortened version of the book's text with the same gaps; the four questions are the book's 1e). Gap answers are NOT on the slide (read them out / write them on the board after pairs compare) (TG): 2 murderer · 3 victims · 4 witnesses · 5 detectives · 6 evidence · 7 prove · 8 suspects · 9 solve. 1e: set a time limit; click 1 for the answers (TG): 1 in London in the autumn of 1888 · 2 five · 3 three months · 4 a doctor, a businessman, a painter, a sailor, a singer, and a member of the royal family. Were their ideas on the board right? VARIATION: curiosity gap — before the listening, quick vote: which of the suspects do they think it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(10 min). Inspector Morton, a retired Scotland Yard detective, talks about three recent theories. Part 1 (10.7): 2a — write 1 next to the person Jan Bondeson suspects and complete the occupation → Hendrik de Jong, a sailor. 2b — listen again, complete the first column of the chart: evidence = he had a history of violence against women, was in London when the murders took place, and matches the descriptions; Morton thinks he could be the murderer, but there isn't enough evidence. Part 2 (10.8): Michael Maybrick, a musician (singer and composer); evidence = the Ripper's letters are similar in style to his songs and were posted from different parts of the UK while he was on tour; Morton doesn't believe this theory (the police were incompetent, not corrupt). Read the Glossary (Freemasons, Isle of Wight) before the second listening. Part 3 (10.9): Walter Sickert, a painter; evidence = DNA from his paintings matches DNA from the Ripper's letters; letters by both on the same unusual paper; his paintings are violent and frightening; Morton thinks it might be correct, but he doesn't know for sure. (All TG / audio script.) Play each part twice — the slide answers come up together on click 1 at the end. 2d (whole class, 1 min; the book's questions: Which of the three suspects do you think is the most / least credible? Do you know of any famous unsolved crimes in your country?): teach credible /ˈkredəbl/; which theory is the most credible? VARIATION: prediction (vote before) + mini debate (vote after) — did anyone change their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PRESENTATION (3 min). 3a: students complete 1–4 (EXTRA CHALLENGE: elicit ideas for the two missing words first). 3b: play 10.10; click 1 for answers (TG): 1 weren't you · 2 isn't it · 3 was he · 4 do you. Then change them into direct questions: Were you a detective with Scotland Yard? · Is it incredible? · Was he ever arrested? · Do you think she's right? What's the difference? → question tags are used to CHECK that a statement is correct (TG). Note 3: never makes the sentence negative, so the tag is positive (was 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(5 min). Grammar Bank 10B p.151: play 10.11; students listen and repeat, copying the rhythm. All examples on the slide are from 10.11. Rules: a positive verb normally takes a negative tag and a negative verb a positive tag; the tag uses the same auxiliary / modal as the main verb (be, have, will, would, can…); with present / past simple use do / does / did; the pronoun in the tag refers to the subject. Grammar notes (TG): tags are difficult because the auxiliary changes with the tense — and the intonation; this lesson focuses on the most common use: checking information, with falling intonation. Not covered: I'm late, aren't I? (irregular). Italian learners translate 'vero?' / 'no?' with isn't it for everything (✗ You're Polish, isn't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(5 min). Students do Grammar Bank 10B a 1–5 and b 1–5 in the book. Click 1 for answers (TG): a 1 I · 2 E · 3 A · 4 F · 5 C; b 1 doesn't he · 2 do they · 3 is he · 4 weren't you · 5 haven't they (the slide shows the TG key sentences with the tag gapped). Students read the full sentences aloud with FALLING intonation. Homework: a 6–10, b 6–10. VARIATION: student as teacher — pairs explain to each other why b1 is doesn't (present simple → does) and b5 is haven't. EXTRA SUPPORT: Grammar photocopiable 10B p.168 = the EXTRA slide 'Complete the conversations' after the exit (📄 B1_10B_Photocopiables.pdf, page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(5 min). 4a: the policeman probably already has the information and is just checking. Play 10.12 once just to listen; students complete the tags; play again to check. Click 1 for answers (TG): 1 isn't it · 2 aren't you · 3 were you · 4 do you · 5 was she. The punchline (audio script): 'Because she was with me. At the police station. We arrested her yesterday.' 4b: ask if the intonation goes up or down (demonstrate both) → DOWN, because he's checking, not asking a new question (TG pronunciation notes; rising tags = real questions / surprise — not focused on here). Play 10.13: students repeat the policeman's questions; then individuals. EXTRA SUPPORT: pairs read the whole conversation, the 'suspect' looking guilty. VARIATION: change the energy — the inspector gets more and more threatening!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(7 min). TG: Sts A (police inspector) ask Sts B some questions and try to remember the answers; then they check them with question tags. Then swap roles. Demonstrate by taking A's role with one student first. Monitor and help with the tags (and falling intonation). If there's an odd number of students, the teacher takes part. Feedback: which 'police inspectors' had the best memory? ⚠ The Communication pages are not in our files — check them before the lesson. 4d (if time, whole class): Which TV detective series or murder mystery films are popular in your country at the moment? Do you enjoy watching these kinds of programmes? (Montalbano, Rocco Schiavone…) VARIATION: memory challenge + role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Homework: Workbook 10B 1a, 1b (crime vocabulary) and 2a (question tags) + Grammar Bank 10B a 6–10, b 6–10 + the 10B-1 homework sheet (easier version available). Workbook 10B 2b, 2c and 3 go with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(7 min) or HOMEWORK = Grammar photocopiable 10B 'question tags' (TG p.168). 📄 Print: B1_10B_Photocopiables.pdf, page 1 – one copy per student. Students complete the five conversations with question tags (1 isn't it is the example); compare; click once per conversation (the slide gives shortened lines). Official answers (TG PCM key): 2 do you · 3 weren't we · 4 was it · 5 is he · 6 do they · 7 have you · 8 isn't it · 9 won't you · 10 isn't she · 11 does she · 12 didn't we · 13 are you · 14 have you · 15 wouldn't you. Point out 11: never is negative, so the tag is positive (does she). ACTIVATION (on the sheet): pairs practise the conversations – falling intonation when you're checking, rising when you're really asking (conversation 5: the worried parent!). VARIATION: change the energy (act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GAME (10 min). VARIATION: role play + spot the difference (a classic 'alibi' game with a harmless 'crime'). Recycles crime words (suspect, witness, evidence, prove, solve) and question tags.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 TG EXTRA IDEA. Pairs complete the sentences about each other with what they THINK is true and add the correct tag (haven't you / aren't you / do you / wouldn't you / can you / didn't you), then read them to each other and check. Falling intonation! Personalisation with boundaries: keep topics light (food, places, hobbies). The Communicative photocopiable 'Four little mysteries' p.197 is an EXTRA in 10B part 2 (📄 B1_10B_Photocopiables.pdf, page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062F67"/>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10B · Part 1</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4600" dirty="0">
                <a:solidFill>
                  <a:srgbClr val="FFD84D"/>
                </a:solidFill>
                <a:latin typeface="Arial Black" pitchFamily="34" charset="0"/>
                <a:ea typeface="Arial Black" pitchFamily="34" charset="-122"/>
                <a:cs typeface="Arial Black" pitchFamily="34" charset="-120"/>
              </a:rPr>
              <a:t>10B</a:t>
            </a:r>
            <a:endParaRPr lang="en-US" sz="4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000" dirty="0">
                <a:solidFill>
                  <a:srgbClr val="E9E2FB"/>
                </a:solidFill>
                <a:latin typeface="Arial Black" pitchFamily="34" charset="0"/>
                <a:ea typeface="Arial Black" pitchFamily="34" charset="-122"/>
                <a:cs typeface="Arial Black" pitchFamily="34" charset="-120"/>
              </a:rPr>
              <a:t>ENGLISH FILE B1 · 10B · Part 1 · SB pp.100–101</a:t>
            </a:r>
            <a:endParaRPr lang="en-US" sz="1000" dirty="0"/>
          </a:p>
        </p:txBody>
      </p:sp>
      <p:sp>
        <p:nvSpPr>
          <p:cNvPr id="9" name="title_7"/>
          <p:cNvSpPr txBox="1"/>
          <p:nvPr/>
        </p:nvSpPr>
        <p:spPr>
          <a:xfrm rot="-180000">
            <a:off x="411480" y="1325880"/>
            <a:ext cx="5120640"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200" dirty="0">
                <a:solidFill>
                  <a:srgbClr val="111111"/>
                </a:solidFill>
                <a:latin typeface="Arial Black" pitchFamily="34" charset="0"/>
                <a:ea typeface="Arial Black" pitchFamily="34" charset="-122"/>
                <a:cs typeface="Arial Black" pitchFamily="34" charset="-120"/>
              </a:rPr>
              <a:t>AND THE MURDERER IS…</a:t>
            </a:r>
            <a:endParaRPr lang="en-US" sz="2200" dirty="0"/>
          </a:p>
        </p:txBody>
      </p:sp>
      <p:sp>
        <p:nvSpPr>
          <p:cNvPr id="10" name="stamp_8"/>
          <p:cNvSpPr txBox="1"/>
          <p:nvPr/>
        </p:nvSpPr>
        <p:spPr>
          <a:xfrm>
            <a:off x="457200" y="2468880"/>
            <a:ext cx="2276856" cy="384048"/>
          </a:xfrm>
          <a:prstGeom prst="roundRect">
            <a:avLst>
              <a:gd name="adj" fmla="val 14286"/>
            </a:avLst>
          </a:prstGeom>
          <a:solidFill>
            <a:srgbClr val="062F67"/>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VOCABULARY · crime</a:t>
            </a:r>
            <a:endParaRPr lang="en-US" sz="1200" dirty="0"/>
          </a:p>
        </p:txBody>
      </p:sp>
      <p:sp>
        <p:nvSpPr>
          <p:cNvPr id="11" name="stamp_9"/>
          <p:cNvSpPr txBox="1"/>
          <p:nvPr/>
        </p:nvSpPr>
        <p:spPr>
          <a:xfrm>
            <a:off x="457200" y="2944368"/>
            <a:ext cx="4101084" cy="384048"/>
          </a:xfrm>
          <a:prstGeom prst="roundRect">
            <a:avLst>
              <a:gd name="adj" fmla="val 14286"/>
            </a:avLst>
          </a:prstGeom>
          <a:solidFill>
            <a:srgbClr val="062F67"/>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READING &amp; LISTENING · Jack the Ripper</a:t>
            </a:r>
            <a:endParaRPr lang="en-US" sz="1200" dirty="0"/>
          </a:p>
        </p:txBody>
      </p:sp>
      <p:sp>
        <p:nvSpPr>
          <p:cNvPr id="12" name="stamp_10"/>
          <p:cNvSpPr txBox="1"/>
          <p:nvPr/>
        </p:nvSpPr>
        <p:spPr>
          <a:xfrm>
            <a:off x="457200" y="3419856"/>
            <a:ext cx="2756916" cy="384048"/>
          </a:xfrm>
          <a:prstGeom prst="roundRect">
            <a:avLst>
              <a:gd name="adj" fmla="val 14286"/>
            </a:avLst>
          </a:prstGeom>
          <a:solidFill>
            <a:srgbClr val="062F67"/>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GRAMMAR · question tags</a:t>
            </a:r>
            <a:endParaRPr lang="en-US" sz="1200" dirty="0"/>
          </a:p>
        </p:txBody>
      </p:sp>
      <p:sp>
        <p:nvSpPr>
          <p:cNvPr id="13" name="stamp_11"/>
          <p:cNvSpPr txBox="1"/>
          <p:nvPr/>
        </p:nvSpPr>
        <p:spPr>
          <a:xfrm>
            <a:off x="457200" y="3895344"/>
            <a:ext cx="3813048" cy="384048"/>
          </a:xfrm>
          <a:prstGeom prst="roundRect">
            <a:avLst>
              <a:gd name="adj" fmla="val 14286"/>
            </a:avLst>
          </a:prstGeom>
          <a:solidFill>
            <a:srgbClr val="062F67"/>
          </a:solidFill>
          <a:ln w="38100">
            <a:solidFill>
              <a:srgbClr val="F59E0B"/>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PRONUNCIATION · intonation in tags</a:t>
            </a:r>
            <a:endParaRPr lang="en-US" sz="1200" dirty="0"/>
          </a:p>
        </p:txBody>
      </p:sp>
      <p:sp>
        <p:nvSpPr>
          <p:cNvPr id="14" name="iconBack_12"/>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3" descr="pi:PiDetective">    </p:cNvPr>
          <p:cNvPicPr>
            <a:picLocks noChangeAspect="1"/>
          </p:cNvPicPr>
          <p:nvPr/>
        </p:nvPicPr>
        <p:blipFill>
          <a:blip r:embed="rId3"/>
          <a:stretch>
            <a:fillRect/>
          </a:stretch>
        </p:blipFill>
        <p:spPr>
          <a:xfrm>
            <a:off x="6016752" y="1033272"/>
            <a:ext cx="1042416" cy="1042416"/>
          </a:xfrm>
          <a:prstGeom prst="rect">
            <a:avLst/>
          </a:prstGeom>
        </p:spPr>
      </p:pic>
      <p:sp>
        <p:nvSpPr>
          <p:cNvPr id="16" name="iconBack_14"/>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7" name="icon_15" descr="pi:PiFingerprint">    </p:cNvPr>
          <p:cNvPicPr>
            <a:picLocks noChangeAspect="1"/>
          </p:cNvPicPr>
          <p:nvPr/>
        </p:nvPicPr>
        <p:blipFill>
          <a:blip r:embed="rId4"/>
          <a:stretch>
            <a:fillRect/>
          </a:stretch>
        </p:blipFill>
        <p:spPr>
          <a:xfrm>
            <a:off x="7534656" y="1728216"/>
            <a:ext cx="658368" cy="658368"/>
          </a:xfrm>
          <a:prstGeom prst="rect">
            <a:avLst/>
          </a:prstGeom>
        </p:spPr>
      </p:pic>
      <p:sp>
        <p:nvSpPr>
          <p:cNvPr id="18" name="iconBack_16"/>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9" name="icon_17" descr="pi:PiMagnifyingGlass">    </p:cNvPr>
          <p:cNvPicPr>
            <a:picLocks noChangeAspect="1"/>
          </p:cNvPicPr>
          <p:nvPr/>
        </p:nvPicPr>
        <p:blipFill>
          <a:blip r:embed="rId5"/>
          <a:stretch>
            <a:fillRect/>
          </a:stretch>
        </p:blipFill>
        <p:spPr>
          <a:xfrm>
            <a:off x="5678424" y="2706624"/>
            <a:ext cx="576072" cy="576072"/>
          </a:xfrm>
          <a:prstGeom prst="rect">
            <a:avLst/>
          </a:prstGeom>
        </p:spPr>
      </p:pic>
      <p:sp>
        <p:nvSpPr>
          <p:cNvPr id="20"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London, 1888. Five murders. No arrest. Who was he?</a:t>
            </a:r>
            <a:endParaRPr lang="en-US" sz="1250" dirty="0"/>
          </a:p>
        </p:txBody>
      </p:sp>
      <p:sp>
        <p:nvSpPr>
          <p:cNvPr id="21"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Nobody knows… do they?</a:t>
            </a:r>
            <a:endParaRPr lang="en-US" sz="1300" dirty="0"/>
          </a:p>
        </p:txBody>
      </p:sp>
      <p:sp>
        <p:nvSpPr>
          <p:cNvPr id="22" name="tnote_18"/>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
          <p:cNvSpPr/>
          <p:nvPr/>
        </p:nvSpPr>
        <p:spPr>
          <a:xfrm>
            <a:off x="54864" y="54864"/>
            <a:ext cx="9034272" cy="5033772"/>
          </a:xfrm>
          <a:prstGeom prst="rect">
            <a:avLst/>
          </a:prstGeom>
          <a:ln w="114300">
            <a:solidFill>
              <a:srgbClr val="A8E6B4"/>
            </a:solidFill>
            <a:prstDash val="solid"/>
          </a:ln>
        </p:spPr>
      </p:sp>
      <p:pic>
        <p:nvPicPr>
          <p:cNvPr id="4" name="logo_2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10A part 2 · Compound nouns</a:t>
            </a:r>
            <a:endParaRPr lang="en-US" sz="900" dirty="0"/>
          </a:p>
        </p:txBody>
      </p:sp>
      <p:sp>
        <p:nvSpPr>
          <p:cNvPr id="6" name="timer_2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10B · Part 1</a:t>
            </a:r>
            <a:endParaRPr lang="en-US" sz="1000" dirty="0"/>
          </a:p>
        </p:txBody>
      </p:sp>
      <p:sp>
        <p:nvSpPr>
          <p:cNvPr id="8" name="title_24"/>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The missing half</a:t>
            </a:r>
            <a:endParaRPr lang="en-US" sz="1500" dirty="0"/>
          </a:p>
        </p:txBody>
      </p:sp>
      <p:sp>
        <p:nvSpPr>
          <p:cNvPr id="9" name="post_2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6"/>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2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Beat the clock: 10 seconds! Say it with the right STRESS.</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Batti il tempo: 10 secondi! Dillo con l'ACCENTO giusto.</a:t>
            </a:r>
            <a:endParaRPr lang="en-US" sz="1200" dirty="0"/>
          </a:p>
        </p:txBody>
      </p:sp>
      <p:sp>
        <p:nvSpPr>
          <p:cNvPr id="12" name="iconBack_2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9" descr="pi:PiTimer">    </p:cNvPr>
          <p:cNvPicPr>
            <a:picLocks noChangeAspect="1"/>
          </p:cNvPicPr>
          <p:nvPr/>
        </p:nvPicPr>
        <p:blipFill>
          <a:blip r:embed="rId3"/>
          <a:stretch>
            <a:fillRect/>
          </a:stretch>
        </p:blipFill>
        <p:spPr>
          <a:xfrm>
            <a:off x="914400" y="3474720"/>
            <a:ext cx="685800" cy="685800"/>
          </a:xfrm>
          <a:prstGeom prst="rect">
            <a:avLst/>
          </a:prstGeom>
        </p:spPr>
      </p:pic>
      <p:sp>
        <p:nvSpPr>
          <p:cNvPr id="14" name="box_30"/>
          <p:cNvSpPr txBox="1"/>
          <p:nvPr/>
        </p:nvSpPr>
        <p:spPr>
          <a:xfrm>
            <a:off x="2788920" y="1371600"/>
            <a:ext cx="1624432"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1  traffic ______</a:t>
            </a:r>
            <a:endParaRPr lang="en-US" sz="1500" dirty="0"/>
          </a:p>
        </p:txBody>
      </p:sp>
      <p:sp>
        <p:nvSpPr>
          <p:cNvPr id="15" name="R1_a0"/>
          <p:cNvSpPr txBox="1"/>
          <p:nvPr/>
        </p:nvSpPr>
        <p:spPr>
          <a:xfrm>
            <a:off x="4468216" y="1408176"/>
            <a:ext cx="1274216"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jam</a:t>
            </a:r>
            <a:endParaRPr lang="en-US" sz="1400" dirty="0"/>
          </a:p>
        </p:txBody>
      </p:sp>
      <p:sp>
        <p:nvSpPr>
          <p:cNvPr id="16" name="box_31"/>
          <p:cNvSpPr txBox="1"/>
          <p:nvPr/>
        </p:nvSpPr>
        <p:spPr>
          <a:xfrm>
            <a:off x="5870448" y="1371600"/>
            <a:ext cx="1624432"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2  seat ______</a:t>
            </a:r>
            <a:endParaRPr lang="en-US" sz="1500" dirty="0"/>
          </a:p>
        </p:txBody>
      </p:sp>
      <p:sp>
        <p:nvSpPr>
          <p:cNvPr id="17" name="R2_a1"/>
          <p:cNvSpPr txBox="1"/>
          <p:nvPr/>
        </p:nvSpPr>
        <p:spPr>
          <a:xfrm>
            <a:off x="7549744" y="1408176"/>
            <a:ext cx="1274216"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belt</a:t>
            </a:r>
            <a:endParaRPr lang="en-US" sz="1400" dirty="0"/>
          </a:p>
        </p:txBody>
      </p:sp>
      <p:sp>
        <p:nvSpPr>
          <p:cNvPr id="18" name="box_32"/>
          <p:cNvSpPr txBox="1"/>
          <p:nvPr/>
        </p:nvSpPr>
        <p:spPr>
          <a:xfrm>
            <a:off x="2788920" y="2226564"/>
            <a:ext cx="1624432"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3  ______ lamp</a:t>
            </a:r>
            <a:endParaRPr lang="en-US" sz="1500" dirty="0"/>
          </a:p>
        </p:txBody>
      </p:sp>
      <p:sp>
        <p:nvSpPr>
          <p:cNvPr id="19" name="R3_a2"/>
          <p:cNvSpPr txBox="1"/>
          <p:nvPr/>
        </p:nvSpPr>
        <p:spPr>
          <a:xfrm>
            <a:off x="4468216" y="2263140"/>
            <a:ext cx="1274216"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desk</a:t>
            </a:r>
            <a:endParaRPr lang="en-US" sz="1400" dirty="0"/>
          </a:p>
        </p:txBody>
      </p:sp>
      <p:sp>
        <p:nvSpPr>
          <p:cNvPr id="20" name="box_33"/>
          <p:cNvSpPr txBox="1"/>
          <p:nvPr/>
        </p:nvSpPr>
        <p:spPr>
          <a:xfrm>
            <a:off x="5870448" y="2226564"/>
            <a:ext cx="1624432"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4  rush ______</a:t>
            </a:r>
            <a:endParaRPr lang="en-US" sz="1500" dirty="0"/>
          </a:p>
        </p:txBody>
      </p:sp>
      <p:sp>
        <p:nvSpPr>
          <p:cNvPr id="21" name="R4_a3"/>
          <p:cNvSpPr txBox="1"/>
          <p:nvPr/>
        </p:nvSpPr>
        <p:spPr>
          <a:xfrm>
            <a:off x="7549744" y="2263140"/>
            <a:ext cx="1274216"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hour</a:t>
            </a:r>
            <a:endParaRPr lang="en-US" sz="1400" dirty="0"/>
          </a:p>
        </p:txBody>
      </p:sp>
      <p:sp>
        <p:nvSpPr>
          <p:cNvPr id="22" name="box_34"/>
          <p:cNvSpPr txBox="1"/>
          <p:nvPr/>
        </p:nvSpPr>
        <p:spPr>
          <a:xfrm>
            <a:off x="2788920" y="3081528"/>
            <a:ext cx="1624432" cy="72694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5  child ______</a:t>
            </a:r>
            <a:endParaRPr lang="en-US" sz="1500" dirty="0"/>
          </a:p>
        </p:txBody>
      </p:sp>
      <p:sp>
        <p:nvSpPr>
          <p:cNvPr id="23" name="R5_a4"/>
          <p:cNvSpPr txBox="1"/>
          <p:nvPr/>
        </p:nvSpPr>
        <p:spPr>
          <a:xfrm>
            <a:off x="4468216" y="3118104"/>
            <a:ext cx="1274216"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prodigy</a:t>
            </a:r>
            <a:endParaRPr lang="en-US" sz="1400" dirty="0"/>
          </a:p>
        </p:txBody>
      </p:sp>
      <p:sp>
        <p:nvSpPr>
          <p:cNvPr id="24" name="box_35"/>
          <p:cNvSpPr txBox="1"/>
          <p:nvPr/>
        </p:nvSpPr>
        <p:spPr>
          <a:xfrm>
            <a:off x="5870448" y="3081528"/>
            <a:ext cx="1624432" cy="72694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6  ______ box</a:t>
            </a:r>
            <a:endParaRPr lang="en-US" sz="1500" dirty="0"/>
          </a:p>
        </p:txBody>
      </p:sp>
      <p:sp>
        <p:nvSpPr>
          <p:cNvPr id="25" name="R6_a5"/>
          <p:cNvSpPr txBox="1"/>
          <p:nvPr/>
        </p:nvSpPr>
        <p:spPr>
          <a:xfrm>
            <a:off x="7549744" y="3118104"/>
            <a:ext cx="1274216"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phone</a:t>
            </a:r>
            <a:endParaRPr lang="en-US" sz="1400" dirty="0"/>
          </a:p>
        </p:txBody>
      </p:sp>
      <p:sp>
        <p:nvSpPr>
          <p:cNvPr id="26" name="box_36"/>
          <p:cNvSpPr txBox="1"/>
          <p:nvPr/>
        </p:nvSpPr>
        <p:spPr>
          <a:xfrm>
            <a:off x="2788920" y="3936492"/>
            <a:ext cx="1624432"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7  science ______</a:t>
            </a:r>
            <a:endParaRPr lang="en-US" sz="1500" dirty="0"/>
          </a:p>
        </p:txBody>
      </p:sp>
      <p:sp>
        <p:nvSpPr>
          <p:cNvPr id="27" name="R7_a6"/>
          <p:cNvSpPr txBox="1"/>
          <p:nvPr/>
        </p:nvSpPr>
        <p:spPr>
          <a:xfrm>
            <a:off x="4468216" y="3973068"/>
            <a:ext cx="1274216"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fiction</a:t>
            </a:r>
            <a:endParaRPr lang="en-US" sz="1400" dirty="0"/>
          </a:p>
        </p:txBody>
      </p:sp>
      <p:sp>
        <p:nvSpPr>
          <p:cNvPr id="28" name="box_37"/>
          <p:cNvSpPr txBox="1"/>
          <p:nvPr/>
        </p:nvSpPr>
        <p:spPr>
          <a:xfrm>
            <a:off x="5870448" y="3936492"/>
            <a:ext cx="1624432"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8  ______ court</a:t>
            </a:r>
            <a:endParaRPr lang="en-US" sz="1500" dirty="0"/>
          </a:p>
        </p:txBody>
      </p:sp>
      <p:sp>
        <p:nvSpPr>
          <p:cNvPr id="29" name="R8_a7"/>
          <p:cNvSpPr txBox="1"/>
          <p:nvPr/>
        </p:nvSpPr>
        <p:spPr>
          <a:xfrm>
            <a:off x="7549744" y="3973068"/>
            <a:ext cx="1274216"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tennis</a:t>
            </a:r>
            <a:endParaRPr lang="en-US" sz="1400" dirty="0"/>
          </a:p>
        </p:txBody>
      </p:sp>
      <p:sp>
        <p:nvSpPr>
          <p:cNvPr id="30" name="pageTag_3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10A pp.98–99 · audio 10.5 · SB 7c</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9"/>
          <p:cNvSpPr/>
          <p:nvPr/>
        </p:nvSpPr>
        <p:spPr>
          <a:xfrm>
            <a:off x="54864" y="54864"/>
            <a:ext cx="9034272" cy="5033772"/>
          </a:xfrm>
          <a:prstGeom prst="rect">
            <a:avLst/>
          </a:prstGeom>
          <a:ln w="114300">
            <a:solidFill>
              <a:srgbClr val="A8E6B4"/>
            </a:solidFill>
            <a:prstDash val="solid"/>
          </a:ln>
        </p:spPr>
      </p:sp>
      <p:pic>
        <p:nvPicPr>
          <p:cNvPr id="4" name="logo_4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4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Crime · audio 10.6</a:t>
            </a:r>
            <a:endParaRPr lang="en-US" sz="900" dirty="0"/>
          </a:p>
        </p:txBody>
      </p:sp>
      <p:sp>
        <p:nvSpPr>
          <p:cNvPr id="6" name="timer_4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4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10B · Part 1</a:t>
            </a:r>
            <a:endParaRPr lang="en-US" sz="1000" dirty="0"/>
          </a:p>
        </p:txBody>
      </p:sp>
      <p:sp>
        <p:nvSpPr>
          <p:cNvPr id="8" name="title_44"/>
          <p:cNvSpPr txBox="1"/>
          <p:nvPr/>
        </p:nvSpPr>
        <p:spPr>
          <a:xfrm rot="-120000">
            <a:off x="320040" y="676656"/>
            <a:ext cx="241401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Crime words</a:t>
            </a:r>
            <a:endParaRPr lang="en-US" sz="1500" dirty="0"/>
          </a:p>
        </p:txBody>
      </p:sp>
      <p:sp>
        <p:nvSpPr>
          <p:cNvPr id="9" name="post_4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46"/>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4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Match the words and the definitions in the book. Say them!</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Abbina le parole alle definizioni nel libro. Dille!</a:t>
            </a:r>
            <a:endParaRPr lang="en-US" sz="1200" dirty="0"/>
          </a:p>
        </p:txBody>
      </p:sp>
      <p:sp>
        <p:nvSpPr>
          <p:cNvPr id="12" name="tile_48"/>
          <p:cNvSpPr/>
          <p:nvPr/>
        </p:nvSpPr>
        <p:spPr>
          <a:xfrm>
            <a:off x="2788920" y="1371600"/>
            <a:ext cx="1938528" cy="1030224"/>
          </a:xfrm>
          <a:prstGeom prst="roundRect">
            <a:avLst>
              <a:gd name="adj" fmla="val 7101"/>
            </a:avLst>
          </a:prstGeom>
          <a:solidFill>
            <a:srgbClr val="FFFFFF"/>
          </a:solidFill>
          <a:ln w="19050">
            <a:solidFill>
              <a:srgbClr val="111111"/>
            </a:solidFill>
            <a:prstDash val="solid"/>
          </a:ln>
        </p:spPr>
      </p:sp>
      <p:pic>
        <p:nvPicPr>
          <p:cNvPr id="13" name="ti_49" descr="detectives">    </p:cNvPr>
          <p:cNvPicPr>
            <a:picLocks noChangeAspect="1"/>
          </p:cNvPicPr>
          <p:nvPr/>
        </p:nvPicPr>
        <p:blipFill>
          <a:blip r:embed="rId3"/>
          <a:stretch>
            <a:fillRect/>
          </a:stretch>
        </p:blipFill>
        <p:spPr>
          <a:xfrm>
            <a:off x="2862072" y="1511960"/>
            <a:ext cx="566623" cy="566623"/>
          </a:xfrm>
          <a:prstGeom prst="rect">
            <a:avLst/>
          </a:prstGeom>
        </p:spPr>
      </p:pic>
      <p:sp>
        <p:nvSpPr>
          <p:cNvPr id="14" name="tw_50"/>
          <p:cNvSpPr txBox="1"/>
          <p:nvPr/>
        </p:nvSpPr>
        <p:spPr>
          <a:xfrm>
            <a:off x="3446983" y="1417320"/>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detectives</a:t>
            </a:r>
            <a:endParaRPr lang="en-US" sz="1300" dirty="0"/>
          </a:p>
        </p:txBody>
      </p:sp>
      <p:sp>
        <p:nvSpPr>
          <p:cNvPr id="15" name="R1_it0"/>
          <p:cNvSpPr txBox="1"/>
          <p:nvPr/>
        </p:nvSpPr>
        <p:spPr>
          <a:xfrm>
            <a:off x="3446983" y="1886712"/>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investigatori</a:t>
            </a:r>
            <a:endParaRPr lang="en-US" sz="1150" dirty="0"/>
          </a:p>
        </p:txBody>
      </p:sp>
      <p:sp>
        <p:nvSpPr>
          <p:cNvPr id="16" name="tile_51"/>
          <p:cNvSpPr/>
          <p:nvPr/>
        </p:nvSpPr>
        <p:spPr>
          <a:xfrm>
            <a:off x="4837176" y="1371600"/>
            <a:ext cx="1938528" cy="1030224"/>
          </a:xfrm>
          <a:prstGeom prst="roundRect">
            <a:avLst>
              <a:gd name="adj" fmla="val 7101"/>
            </a:avLst>
          </a:prstGeom>
          <a:solidFill>
            <a:srgbClr val="FFFFFF"/>
          </a:solidFill>
          <a:ln w="19050">
            <a:solidFill>
              <a:srgbClr val="111111"/>
            </a:solidFill>
            <a:prstDash val="solid"/>
          </a:ln>
        </p:spPr>
      </p:sp>
      <p:pic>
        <p:nvPicPr>
          <p:cNvPr id="17" name="ti_52" descr="witnesses">    </p:cNvPr>
          <p:cNvPicPr>
            <a:picLocks noChangeAspect="1"/>
          </p:cNvPicPr>
          <p:nvPr/>
        </p:nvPicPr>
        <p:blipFill>
          <a:blip r:embed="rId4"/>
          <a:stretch>
            <a:fillRect/>
          </a:stretch>
        </p:blipFill>
        <p:spPr>
          <a:xfrm>
            <a:off x="4910328" y="1511960"/>
            <a:ext cx="566623" cy="566623"/>
          </a:xfrm>
          <a:prstGeom prst="rect">
            <a:avLst/>
          </a:prstGeom>
        </p:spPr>
      </p:pic>
      <p:sp>
        <p:nvSpPr>
          <p:cNvPr id="18" name="tw_53"/>
          <p:cNvSpPr txBox="1"/>
          <p:nvPr/>
        </p:nvSpPr>
        <p:spPr>
          <a:xfrm>
            <a:off x="5495239" y="1417320"/>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witnesses</a:t>
            </a:r>
            <a:endParaRPr lang="en-US" sz="1300" dirty="0"/>
          </a:p>
        </p:txBody>
      </p:sp>
      <p:sp>
        <p:nvSpPr>
          <p:cNvPr id="19" name="R1_it1"/>
          <p:cNvSpPr txBox="1"/>
          <p:nvPr/>
        </p:nvSpPr>
        <p:spPr>
          <a:xfrm>
            <a:off x="5495239" y="1886712"/>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testimoni</a:t>
            </a:r>
            <a:endParaRPr lang="en-US" sz="1150" dirty="0"/>
          </a:p>
        </p:txBody>
      </p:sp>
      <p:sp>
        <p:nvSpPr>
          <p:cNvPr id="20" name="tile_54"/>
          <p:cNvSpPr/>
          <p:nvPr/>
        </p:nvSpPr>
        <p:spPr>
          <a:xfrm>
            <a:off x="6885432" y="1371600"/>
            <a:ext cx="1938528" cy="1030224"/>
          </a:xfrm>
          <a:prstGeom prst="roundRect">
            <a:avLst>
              <a:gd name="adj" fmla="val 7101"/>
            </a:avLst>
          </a:prstGeom>
          <a:solidFill>
            <a:srgbClr val="FFFFFF"/>
          </a:solidFill>
          <a:ln w="19050">
            <a:solidFill>
              <a:srgbClr val="111111"/>
            </a:solidFill>
            <a:prstDash val="solid"/>
          </a:ln>
        </p:spPr>
      </p:sp>
      <p:pic>
        <p:nvPicPr>
          <p:cNvPr id="21" name="ti_55" descr="victims">    </p:cNvPr>
          <p:cNvPicPr>
            <a:picLocks noChangeAspect="1"/>
          </p:cNvPicPr>
          <p:nvPr/>
        </p:nvPicPr>
        <p:blipFill>
          <a:blip r:embed="rId5"/>
          <a:stretch>
            <a:fillRect/>
          </a:stretch>
        </p:blipFill>
        <p:spPr>
          <a:xfrm>
            <a:off x="6958584" y="1511960"/>
            <a:ext cx="566623" cy="566623"/>
          </a:xfrm>
          <a:prstGeom prst="rect">
            <a:avLst/>
          </a:prstGeom>
        </p:spPr>
      </p:pic>
      <p:sp>
        <p:nvSpPr>
          <p:cNvPr id="22" name="tw_56"/>
          <p:cNvSpPr txBox="1"/>
          <p:nvPr/>
        </p:nvSpPr>
        <p:spPr>
          <a:xfrm>
            <a:off x="7543495" y="1417320"/>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victims</a:t>
            </a:r>
            <a:endParaRPr lang="en-US" sz="1300" dirty="0"/>
          </a:p>
        </p:txBody>
      </p:sp>
      <p:sp>
        <p:nvSpPr>
          <p:cNvPr id="23" name="R1_it2"/>
          <p:cNvSpPr txBox="1"/>
          <p:nvPr/>
        </p:nvSpPr>
        <p:spPr>
          <a:xfrm>
            <a:off x="7543495" y="1886712"/>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vittime</a:t>
            </a:r>
            <a:endParaRPr lang="en-US" sz="1150" dirty="0"/>
          </a:p>
        </p:txBody>
      </p:sp>
      <p:sp>
        <p:nvSpPr>
          <p:cNvPr id="24" name="tile_57"/>
          <p:cNvSpPr/>
          <p:nvPr/>
        </p:nvSpPr>
        <p:spPr>
          <a:xfrm>
            <a:off x="2788920" y="2511552"/>
            <a:ext cx="1938528" cy="1030224"/>
          </a:xfrm>
          <a:prstGeom prst="roundRect">
            <a:avLst>
              <a:gd name="adj" fmla="val 7101"/>
            </a:avLst>
          </a:prstGeom>
          <a:solidFill>
            <a:srgbClr val="FFFFFF"/>
          </a:solidFill>
          <a:ln w="19050">
            <a:solidFill>
              <a:srgbClr val="111111"/>
            </a:solidFill>
            <a:prstDash val="solid"/>
          </a:ln>
        </p:spPr>
      </p:sp>
      <p:pic>
        <p:nvPicPr>
          <p:cNvPr id="25" name="ti_58" descr="a murderer /ˈmɜːdərə/">    </p:cNvPr>
          <p:cNvPicPr>
            <a:picLocks noChangeAspect="1"/>
          </p:cNvPicPr>
          <p:nvPr/>
        </p:nvPicPr>
        <p:blipFill>
          <a:blip r:embed="rId6"/>
          <a:stretch>
            <a:fillRect/>
          </a:stretch>
        </p:blipFill>
        <p:spPr>
          <a:xfrm>
            <a:off x="2862072" y="2651912"/>
            <a:ext cx="566623" cy="566623"/>
          </a:xfrm>
          <a:prstGeom prst="rect">
            <a:avLst/>
          </a:prstGeom>
        </p:spPr>
      </p:pic>
      <p:sp>
        <p:nvSpPr>
          <p:cNvPr id="26" name="tw_59"/>
          <p:cNvSpPr txBox="1"/>
          <p:nvPr/>
        </p:nvSpPr>
        <p:spPr>
          <a:xfrm>
            <a:off x="3446983" y="2557272"/>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a murderer /ˈmɜːdərə/</a:t>
            </a:r>
            <a:endParaRPr lang="en-US" sz="1300" dirty="0"/>
          </a:p>
        </p:txBody>
      </p:sp>
      <p:sp>
        <p:nvSpPr>
          <p:cNvPr id="27" name="R1_it3"/>
          <p:cNvSpPr txBox="1"/>
          <p:nvPr/>
        </p:nvSpPr>
        <p:spPr>
          <a:xfrm>
            <a:off x="3446983" y="3026664"/>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un assassino</a:t>
            </a:r>
            <a:endParaRPr lang="en-US" sz="1150" dirty="0"/>
          </a:p>
        </p:txBody>
      </p:sp>
      <p:sp>
        <p:nvSpPr>
          <p:cNvPr id="28" name="tile_60"/>
          <p:cNvSpPr/>
          <p:nvPr/>
        </p:nvSpPr>
        <p:spPr>
          <a:xfrm>
            <a:off x="4837176" y="2511552"/>
            <a:ext cx="1938528" cy="1030224"/>
          </a:xfrm>
          <a:prstGeom prst="roundRect">
            <a:avLst>
              <a:gd name="adj" fmla="val 7101"/>
            </a:avLst>
          </a:prstGeom>
          <a:solidFill>
            <a:srgbClr val="FFFFFF"/>
          </a:solidFill>
          <a:ln w="19050">
            <a:solidFill>
              <a:srgbClr val="111111"/>
            </a:solidFill>
            <a:prstDash val="solid"/>
          </a:ln>
        </p:spPr>
      </p:sp>
      <p:pic>
        <p:nvPicPr>
          <p:cNvPr id="29" name="ti_61" descr="(a) murder">    </p:cNvPr>
          <p:cNvPicPr>
            <a:picLocks noChangeAspect="1"/>
          </p:cNvPicPr>
          <p:nvPr/>
        </p:nvPicPr>
        <p:blipFill>
          <a:blip r:embed="rId7"/>
          <a:stretch>
            <a:fillRect/>
          </a:stretch>
        </p:blipFill>
        <p:spPr>
          <a:xfrm>
            <a:off x="4910328" y="2651912"/>
            <a:ext cx="566623" cy="566623"/>
          </a:xfrm>
          <a:prstGeom prst="rect">
            <a:avLst/>
          </a:prstGeom>
        </p:spPr>
      </p:pic>
      <p:sp>
        <p:nvSpPr>
          <p:cNvPr id="30" name="tw_62"/>
          <p:cNvSpPr txBox="1"/>
          <p:nvPr/>
        </p:nvSpPr>
        <p:spPr>
          <a:xfrm>
            <a:off x="5495239" y="2557272"/>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(a) murder</a:t>
            </a:r>
            <a:endParaRPr lang="en-US" sz="1300" dirty="0"/>
          </a:p>
        </p:txBody>
      </p:sp>
      <p:sp>
        <p:nvSpPr>
          <p:cNvPr id="31" name="R1_it4"/>
          <p:cNvSpPr txBox="1"/>
          <p:nvPr/>
        </p:nvSpPr>
        <p:spPr>
          <a:xfrm>
            <a:off x="5495239" y="3026664"/>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un omicidio</a:t>
            </a:r>
            <a:endParaRPr lang="en-US" sz="1150" dirty="0"/>
          </a:p>
        </p:txBody>
      </p:sp>
      <p:sp>
        <p:nvSpPr>
          <p:cNvPr id="32" name="tile_63"/>
          <p:cNvSpPr/>
          <p:nvPr/>
        </p:nvSpPr>
        <p:spPr>
          <a:xfrm>
            <a:off x="6885432" y="2511552"/>
            <a:ext cx="1938528" cy="1030224"/>
          </a:xfrm>
          <a:prstGeom prst="roundRect">
            <a:avLst>
              <a:gd name="adj" fmla="val 7101"/>
            </a:avLst>
          </a:prstGeom>
          <a:solidFill>
            <a:srgbClr val="FFFFFF"/>
          </a:solidFill>
          <a:ln w="19050">
            <a:solidFill>
              <a:srgbClr val="111111"/>
            </a:solidFill>
            <a:prstDash val="solid"/>
          </a:ln>
        </p:spPr>
      </p:sp>
      <p:pic>
        <p:nvPicPr>
          <p:cNvPr id="33" name="ti_64" descr="evidence (uncountable!)">    </p:cNvPr>
          <p:cNvPicPr>
            <a:picLocks noChangeAspect="1"/>
          </p:cNvPicPr>
          <p:nvPr/>
        </p:nvPicPr>
        <p:blipFill>
          <a:blip r:embed="rId8"/>
          <a:stretch>
            <a:fillRect/>
          </a:stretch>
        </p:blipFill>
        <p:spPr>
          <a:xfrm>
            <a:off x="6958584" y="2651912"/>
            <a:ext cx="566623" cy="566623"/>
          </a:xfrm>
          <a:prstGeom prst="rect">
            <a:avLst/>
          </a:prstGeom>
        </p:spPr>
      </p:pic>
      <p:sp>
        <p:nvSpPr>
          <p:cNvPr id="34" name="tw_65"/>
          <p:cNvSpPr txBox="1"/>
          <p:nvPr/>
        </p:nvSpPr>
        <p:spPr>
          <a:xfrm>
            <a:off x="7543495" y="2557272"/>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evidence (uncountable!)</a:t>
            </a:r>
            <a:endParaRPr lang="en-US" sz="1300" dirty="0"/>
          </a:p>
        </p:txBody>
      </p:sp>
      <p:sp>
        <p:nvSpPr>
          <p:cNvPr id="35" name="R1_it5"/>
          <p:cNvSpPr txBox="1"/>
          <p:nvPr/>
        </p:nvSpPr>
        <p:spPr>
          <a:xfrm>
            <a:off x="7543495" y="3026664"/>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prove, indizi</a:t>
            </a:r>
            <a:endParaRPr lang="en-US" sz="1150" dirty="0"/>
          </a:p>
        </p:txBody>
      </p:sp>
      <p:sp>
        <p:nvSpPr>
          <p:cNvPr id="36" name="tile_66"/>
          <p:cNvSpPr/>
          <p:nvPr/>
        </p:nvSpPr>
        <p:spPr>
          <a:xfrm>
            <a:off x="2788920" y="3651504"/>
            <a:ext cx="1938528" cy="1030224"/>
          </a:xfrm>
          <a:prstGeom prst="roundRect">
            <a:avLst>
              <a:gd name="adj" fmla="val 7101"/>
            </a:avLst>
          </a:prstGeom>
          <a:solidFill>
            <a:srgbClr val="FFFFFF"/>
          </a:solidFill>
          <a:ln w="19050">
            <a:solidFill>
              <a:srgbClr val="111111"/>
            </a:solidFill>
            <a:prstDash val="solid"/>
          </a:ln>
        </p:spPr>
      </p:sp>
      <p:pic>
        <p:nvPicPr>
          <p:cNvPr id="37" name="ti_67" descr="suspects /ˈsʌspekts/">    </p:cNvPr>
          <p:cNvPicPr>
            <a:picLocks noChangeAspect="1"/>
          </p:cNvPicPr>
          <p:nvPr/>
        </p:nvPicPr>
        <p:blipFill>
          <a:blip r:embed="rId9"/>
          <a:stretch>
            <a:fillRect/>
          </a:stretch>
        </p:blipFill>
        <p:spPr>
          <a:xfrm>
            <a:off x="2862072" y="3791864"/>
            <a:ext cx="566623" cy="566623"/>
          </a:xfrm>
          <a:prstGeom prst="rect">
            <a:avLst/>
          </a:prstGeom>
        </p:spPr>
      </p:pic>
      <p:sp>
        <p:nvSpPr>
          <p:cNvPr id="38" name="tw_68"/>
          <p:cNvSpPr txBox="1"/>
          <p:nvPr/>
        </p:nvSpPr>
        <p:spPr>
          <a:xfrm>
            <a:off x="3446983" y="3697224"/>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suspects /ˈsʌspekts/</a:t>
            </a:r>
            <a:endParaRPr lang="en-US" sz="1300" dirty="0"/>
          </a:p>
        </p:txBody>
      </p:sp>
      <p:sp>
        <p:nvSpPr>
          <p:cNvPr id="39" name="R1_it6"/>
          <p:cNvSpPr txBox="1"/>
          <p:nvPr/>
        </p:nvSpPr>
        <p:spPr>
          <a:xfrm>
            <a:off x="3446983" y="4166616"/>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sospettati</a:t>
            </a:r>
            <a:endParaRPr lang="en-US" sz="1150" dirty="0"/>
          </a:p>
        </p:txBody>
      </p:sp>
      <p:sp>
        <p:nvSpPr>
          <p:cNvPr id="40" name="tile_69"/>
          <p:cNvSpPr/>
          <p:nvPr/>
        </p:nvSpPr>
        <p:spPr>
          <a:xfrm>
            <a:off x="4837176" y="3651504"/>
            <a:ext cx="1938528" cy="1030224"/>
          </a:xfrm>
          <a:prstGeom prst="roundRect">
            <a:avLst>
              <a:gd name="adj" fmla="val 7101"/>
            </a:avLst>
          </a:prstGeom>
          <a:solidFill>
            <a:srgbClr val="FFFFFF"/>
          </a:solidFill>
          <a:ln w="19050">
            <a:solidFill>
              <a:srgbClr val="111111"/>
            </a:solidFill>
            <a:prstDash val="solid"/>
          </a:ln>
        </p:spPr>
      </p:sp>
      <p:pic>
        <p:nvPicPr>
          <p:cNvPr id="41" name="ti_70" descr="solve (a crime)">    </p:cNvPr>
          <p:cNvPicPr>
            <a:picLocks noChangeAspect="1"/>
          </p:cNvPicPr>
          <p:nvPr/>
        </p:nvPicPr>
        <p:blipFill>
          <a:blip r:embed="rId10"/>
          <a:stretch>
            <a:fillRect/>
          </a:stretch>
        </p:blipFill>
        <p:spPr>
          <a:xfrm>
            <a:off x="4910328" y="3791864"/>
            <a:ext cx="566623" cy="566623"/>
          </a:xfrm>
          <a:prstGeom prst="rect">
            <a:avLst/>
          </a:prstGeom>
        </p:spPr>
      </p:pic>
      <p:sp>
        <p:nvSpPr>
          <p:cNvPr id="42" name="tw_71"/>
          <p:cNvSpPr txBox="1"/>
          <p:nvPr/>
        </p:nvSpPr>
        <p:spPr>
          <a:xfrm>
            <a:off x="5495239" y="3697224"/>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solve (a crime)</a:t>
            </a:r>
            <a:endParaRPr lang="en-US" sz="1300" dirty="0"/>
          </a:p>
        </p:txBody>
      </p:sp>
      <p:sp>
        <p:nvSpPr>
          <p:cNvPr id="43" name="R1_it7"/>
          <p:cNvSpPr txBox="1"/>
          <p:nvPr/>
        </p:nvSpPr>
        <p:spPr>
          <a:xfrm>
            <a:off x="5495239" y="4166616"/>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risolvere</a:t>
            </a:r>
            <a:endParaRPr lang="en-US" sz="1150" dirty="0"/>
          </a:p>
        </p:txBody>
      </p:sp>
      <p:sp>
        <p:nvSpPr>
          <p:cNvPr id="44" name="tile_72"/>
          <p:cNvSpPr/>
          <p:nvPr/>
        </p:nvSpPr>
        <p:spPr>
          <a:xfrm>
            <a:off x="6885432" y="3651504"/>
            <a:ext cx="1938528" cy="1030224"/>
          </a:xfrm>
          <a:prstGeom prst="roundRect">
            <a:avLst>
              <a:gd name="adj" fmla="val 7101"/>
            </a:avLst>
          </a:prstGeom>
          <a:solidFill>
            <a:srgbClr val="FFFFFF"/>
          </a:solidFill>
          <a:ln w="19050">
            <a:solidFill>
              <a:srgbClr val="111111"/>
            </a:solidFill>
            <a:prstDash val="solid"/>
          </a:ln>
        </p:spPr>
      </p:sp>
      <p:pic>
        <p:nvPicPr>
          <p:cNvPr id="45" name="ti_73" descr="prove (that…)">    </p:cNvPr>
          <p:cNvPicPr>
            <a:picLocks noChangeAspect="1"/>
          </p:cNvPicPr>
          <p:nvPr/>
        </p:nvPicPr>
        <p:blipFill>
          <a:blip r:embed="rId11"/>
          <a:stretch>
            <a:fillRect/>
          </a:stretch>
        </p:blipFill>
        <p:spPr>
          <a:xfrm>
            <a:off x="6958584" y="3791864"/>
            <a:ext cx="566623" cy="566623"/>
          </a:xfrm>
          <a:prstGeom prst="rect">
            <a:avLst/>
          </a:prstGeom>
        </p:spPr>
      </p:pic>
      <p:sp>
        <p:nvSpPr>
          <p:cNvPr id="46" name="tw_74"/>
          <p:cNvSpPr txBox="1"/>
          <p:nvPr/>
        </p:nvSpPr>
        <p:spPr>
          <a:xfrm>
            <a:off x="7543495" y="3697224"/>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prove (that…)</a:t>
            </a:r>
            <a:endParaRPr lang="en-US" sz="1300" dirty="0"/>
          </a:p>
        </p:txBody>
      </p:sp>
      <p:sp>
        <p:nvSpPr>
          <p:cNvPr id="47" name="R1_it8"/>
          <p:cNvSpPr txBox="1"/>
          <p:nvPr/>
        </p:nvSpPr>
        <p:spPr>
          <a:xfrm>
            <a:off x="7543495" y="4166616"/>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dimostrare</a:t>
            </a:r>
            <a:endParaRPr lang="en-US" sz="1150" dirty="0"/>
          </a:p>
        </p:txBody>
      </p:sp>
      <p:sp>
        <p:nvSpPr>
          <p:cNvPr id="48" name="pageTag_7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p.100 · 1a, 1b, 1c · audio 10.6</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0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400"/>
                                        <p:tgtEl>
                                          <p:spTgt spid="27"/>
                                        </p:tgtEl>
                                      </p:cBhvr>
                                    </p:animEffect>
                                  </p:childTnLst>
                                </p:cTn>
                              </p:par>
                              <p:par>
                                <p:cTn id="17" presetID="10"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400"/>
                                        <p:tgtEl>
                                          <p:spTgt spid="31"/>
                                        </p:tgtEl>
                                      </p:cBhvr>
                                    </p:animEffect>
                                  </p:childTnLst>
                                </p:cTn>
                              </p:par>
                              <p:par>
                                <p:cTn id="20" presetID="10" presetClass="entr" presetSubtype="0" fill="hold"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400"/>
                                        <p:tgtEl>
                                          <p:spTgt spid="35"/>
                                        </p:tgtEl>
                                      </p:cBhvr>
                                    </p:animEffect>
                                  </p:childTnLst>
                                </p:cTn>
                              </p:par>
                              <p:par>
                                <p:cTn id="23" presetID="10" presetClass="entr" presetSubtype="0" fill="hold" nodeType="with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400"/>
                                        <p:tgtEl>
                                          <p:spTgt spid="39"/>
                                        </p:tgtEl>
                                      </p:cBhvr>
                                    </p:animEffect>
                                  </p:childTnLst>
                                </p:cTn>
                              </p:par>
                              <p:par>
                                <p:cTn id="26" presetID="10" presetClass="entr" presetSubtype="0" fill="hold" nodeType="with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fade">
                                      <p:cBhvr>
                                        <p:cTn id="28" dur="400"/>
                                        <p:tgtEl>
                                          <p:spTgt spid="43"/>
                                        </p:tgtEl>
                                      </p:cBhvr>
                                    </p:animEffect>
                                  </p:childTnLst>
                                </p:cTn>
                              </p:par>
                              <p:par>
                                <p:cTn id="29" presetID="10" presetClass="entr" presetSubtype="0" fill="hold" nodeType="with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76"/>
          <p:cNvSpPr/>
          <p:nvPr/>
        </p:nvSpPr>
        <p:spPr>
          <a:xfrm>
            <a:off x="54864" y="54864"/>
            <a:ext cx="9034272" cy="5033772"/>
          </a:xfrm>
          <a:prstGeom prst="rect">
            <a:avLst/>
          </a:prstGeom>
          <a:ln w="114300">
            <a:solidFill>
              <a:srgbClr val="A8E6B4"/>
            </a:solidFill>
            <a:prstDash val="solid"/>
          </a:ln>
        </p:spPr>
      </p:sp>
      <p:pic>
        <p:nvPicPr>
          <p:cNvPr id="4" name="logo_7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7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The greatest unsolved crime</a:t>
            </a:r>
            <a:endParaRPr lang="en-US" sz="900" dirty="0"/>
          </a:p>
        </p:txBody>
      </p:sp>
      <p:sp>
        <p:nvSpPr>
          <p:cNvPr id="6" name="timer_7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8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10B · Part 1</a:t>
            </a:r>
            <a:endParaRPr lang="en-US" sz="1000" dirty="0"/>
          </a:p>
        </p:txBody>
      </p:sp>
      <p:sp>
        <p:nvSpPr>
          <p:cNvPr id="8" name="title_81"/>
          <p:cNvSpPr txBox="1"/>
          <p:nvPr/>
        </p:nvSpPr>
        <p:spPr>
          <a:xfrm rot="-120000">
            <a:off x="320040" y="676656"/>
            <a:ext cx="310896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Jack the Ripper</a:t>
            </a:r>
            <a:endParaRPr lang="en-US" sz="1500" dirty="0"/>
          </a:p>
        </p:txBody>
      </p:sp>
      <p:sp>
        <p:nvSpPr>
          <p:cNvPr id="9" name="rsign_82"/>
          <p:cNvSpPr txBox="1"/>
          <p:nvPr/>
        </p:nvSpPr>
        <p:spPr>
          <a:xfrm>
            <a:off x="320040" y="1298448"/>
            <a:ext cx="8503920" cy="384048"/>
          </a:xfrm>
          <a:prstGeom prst="rect">
            <a:avLst/>
          </a:prstGeom>
          <a:solidFill>
            <a:srgbClr val="48BDF2"/>
          </a:solidFill>
          <a:ln w="19050">
            <a:solidFill>
              <a:srgbClr val="111111"/>
            </a:solidFill>
          </a:ln>
        </p:spPr>
        <p:txBody>
          <a:bodyPr wrap="square" lIns="101600" tIns="101600" rIns="101600" bIns="101600" rtlCol="0" anchor="ctr"/>
          <a:lstStyle/>
          <a:p>
            <a:pPr indent="0" marL="0">
              <a:buNone/>
            </a:pPr>
            <a:r>
              <a:rPr lang="en-US" sz="1000" b="1" dirty="0">
                <a:solidFill>
                  <a:srgbClr val="FFFFFF"/>
                </a:solidFill>
                <a:latin typeface="Arial Black" pitchFamily="34" charset="0"/>
                <a:ea typeface="Arial Black" pitchFamily="34" charset="-122"/>
                <a:cs typeface="Arial Black" pitchFamily="34" charset="-120"/>
              </a:rPr>
              <a:t>READ! LEGGI!  </a:t>
            </a:r>
            <a:pPr indent="0" marL="0">
              <a:buNone/>
            </a:pPr>
            <a:r>
              <a:rPr lang="en-US" sz="1000" dirty="0">
                <a:solidFill>
                  <a:srgbClr val="FFFFFF"/>
                </a:solidFill>
                <a:latin typeface="Calibri" pitchFamily="34" charset="0"/>
                <a:ea typeface="Calibri" pitchFamily="34" charset="-122"/>
                <a:cs typeface="Calibri" pitchFamily="34" charset="-120"/>
              </a:rPr>
              <a:t>Complete gaps 2–9 with words from 1b. Then answer.  </a:t>
            </a:r>
            <a:pPr indent="0" marL="0">
              <a:buNone/>
            </a:pPr>
            <a:r>
              <a:rPr lang="en-US" sz="950" i="1" dirty="0">
                <a:solidFill>
                  <a:srgbClr val="E2E8F0"/>
                </a:solidFill>
                <a:latin typeface="Calibri" pitchFamily="34" charset="0"/>
                <a:ea typeface="Calibri" pitchFamily="34" charset="-122"/>
                <a:cs typeface="Calibri" pitchFamily="34" charset="-120"/>
              </a:rPr>
              <a:t>Completa i buchi 2–9 con le parole dell'1b. Poi rispondi.</a:t>
            </a:r>
            <a:endParaRPr lang="en-US" sz="1000" dirty="0"/>
          </a:p>
        </p:txBody>
      </p:sp>
      <p:sp>
        <p:nvSpPr>
          <p:cNvPr id="10" name="rtext_83"/>
          <p:cNvSpPr txBox="1"/>
          <p:nvPr/>
        </p:nvSpPr>
        <p:spPr>
          <a:xfrm rot="-30000">
            <a:off x="320040" y="1810512"/>
            <a:ext cx="4572000" cy="2880360"/>
          </a:xfrm>
          <a:prstGeom prst="rect">
            <a:avLst/>
          </a:prstGeom>
          <a:solidFill>
            <a:srgbClr val="FFFDF5"/>
          </a:solidFill>
          <a:ln w="190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400"/>
              </a:spcAft>
              <a:buNone/>
            </a:pPr>
            <a:r>
              <a:rPr lang="en-US" sz="1300" b="1" dirty="0">
                <a:solidFill>
                  <a:srgbClr val="6D3FC0"/>
                </a:solidFill>
                <a:latin typeface="Calibri" pitchFamily="34" charset="0"/>
                <a:ea typeface="Calibri" pitchFamily="34" charset="-122"/>
                <a:cs typeface="Calibri" pitchFamily="34" charset="-120"/>
              </a:rPr>
              <a:t>The greatest unsolved crime (adapted)</a:t>
            </a:r>
            <a:endParaRPr lang="en-US" sz="130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In the autumn of 1888, a brutal (2) ______ walked the dark, foggy streets of Whitechapel, in east London. The (3) ______ were all women and the police seemed powerless to stop the murders. There were no (4) ______ to the crimes. A letter to Scotland Yard finished 'Yours truly, Jack the Ripper'. The murders continued – five in total. But in November, they suddenly stopped, three months after they had first begun. For more than a century, historians, writers, and (5) ______ have examined the (6) ______ and tried to discover and (7) ______ his identity. There have been plenty of (8) ______, … and all sorts of people have tried to (9) ______ this real-life mystery.</a:t>
            </a:r>
            <a:endParaRPr lang="en-US" sz="1300" dirty="0"/>
          </a:p>
        </p:txBody>
      </p:sp>
      <p:sp>
        <p:nvSpPr>
          <p:cNvPr id="11" name="box_84"/>
          <p:cNvSpPr txBox="1"/>
          <p:nvPr/>
        </p:nvSpPr>
        <p:spPr>
          <a:xfrm>
            <a:off x="5056632" y="1810512"/>
            <a:ext cx="2185050" cy="5669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Where and when did the murders take place?</a:t>
            </a:r>
            <a:endParaRPr lang="en-US" sz="1150" dirty="0"/>
          </a:p>
        </p:txBody>
      </p:sp>
      <p:sp>
        <p:nvSpPr>
          <p:cNvPr id="12" name="R1_ra0"/>
          <p:cNvSpPr txBox="1"/>
          <p:nvPr/>
        </p:nvSpPr>
        <p:spPr>
          <a:xfrm>
            <a:off x="7287402" y="1837944"/>
            <a:ext cx="1536558"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London (Whitechapel), autumn 1888</a:t>
            </a:r>
            <a:endParaRPr lang="en-US" sz="1050" dirty="0"/>
          </a:p>
        </p:txBody>
      </p:sp>
      <p:sp>
        <p:nvSpPr>
          <p:cNvPr id="13" name="box_85"/>
          <p:cNvSpPr txBox="1"/>
          <p:nvPr/>
        </p:nvSpPr>
        <p:spPr>
          <a:xfrm>
            <a:off x="5056632" y="2450592"/>
            <a:ext cx="2185050" cy="5669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How many murders were there?</a:t>
            </a:r>
            <a:endParaRPr lang="en-US" sz="1150" dirty="0"/>
          </a:p>
        </p:txBody>
      </p:sp>
      <p:sp>
        <p:nvSpPr>
          <p:cNvPr id="14" name="R1_ra1"/>
          <p:cNvSpPr txBox="1"/>
          <p:nvPr/>
        </p:nvSpPr>
        <p:spPr>
          <a:xfrm>
            <a:off x="7287402" y="2478024"/>
            <a:ext cx="1536558"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five</a:t>
            </a:r>
            <a:endParaRPr lang="en-US" sz="1050" dirty="0"/>
          </a:p>
        </p:txBody>
      </p:sp>
      <p:sp>
        <p:nvSpPr>
          <p:cNvPr id="15" name="box_86"/>
          <p:cNvSpPr txBox="1"/>
          <p:nvPr/>
        </p:nvSpPr>
        <p:spPr>
          <a:xfrm>
            <a:off x="5056632" y="3090672"/>
            <a:ext cx="2185050" cy="5669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How long did the murders go on for?</a:t>
            </a:r>
            <a:endParaRPr lang="en-US" sz="1150" dirty="0"/>
          </a:p>
        </p:txBody>
      </p:sp>
      <p:sp>
        <p:nvSpPr>
          <p:cNvPr id="16" name="R1_ra2"/>
          <p:cNvSpPr txBox="1"/>
          <p:nvPr/>
        </p:nvSpPr>
        <p:spPr>
          <a:xfrm>
            <a:off x="7287402" y="3118104"/>
            <a:ext cx="1536558"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three months</a:t>
            </a:r>
            <a:endParaRPr lang="en-US" sz="1050" dirty="0"/>
          </a:p>
        </p:txBody>
      </p:sp>
      <p:sp>
        <p:nvSpPr>
          <p:cNvPr id="17" name="box_87"/>
          <p:cNvSpPr txBox="1"/>
          <p:nvPr/>
        </p:nvSpPr>
        <p:spPr>
          <a:xfrm>
            <a:off x="5056632" y="3730752"/>
            <a:ext cx="2185050" cy="5669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What kind of people have been suspects?</a:t>
            </a:r>
            <a:endParaRPr lang="en-US" sz="1150" dirty="0"/>
          </a:p>
        </p:txBody>
      </p:sp>
      <p:sp>
        <p:nvSpPr>
          <p:cNvPr id="18" name="R1_ra3"/>
          <p:cNvSpPr txBox="1"/>
          <p:nvPr/>
        </p:nvSpPr>
        <p:spPr>
          <a:xfrm>
            <a:off x="7287402" y="3758184"/>
            <a:ext cx="1536558"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11111"/>
                </a:solidFill>
                <a:latin typeface="Calibri" pitchFamily="34" charset="0"/>
                <a:ea typeface="Calibri" pitchFamily="34" charset="-122"/>
                <a:cs typeface="Calibri" pitchFamily="34" charset="-120"/>
              </a:rPr>
              <a:t>doctor · businessman · painter · sailor · singer · royal</a:t>
            </a:r>
            <a:endParaRPr lang="en-US" sz="950" dirty="0"/>
          </a:p>
        </p:txBody>
      </p:sp>
      <p:sp>
        <p:nvSpPr>
          <p:cNvPr id="19" name="pageTag_8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p.100 · 1d, 1e</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89"/>
          <p:cNvSpPr/>
          <p:nvPr/>
        </p:nvSpPr>
        <p:spPr>
          <a:xfrm>
            <a:off x="54864" y="54864"/>
            <a:ext cx="9034272" cy="5033772"/>
          </a:xfrm>
          <a:prstGeom prst="rect">
            <a:avLst/>
          </a:prstGeom>
          <a:ln w="114300">
            <a:solidFill>
              <a:srgbClr val="A8E6B4"/>
            </a:solidFill>
            <a:prstDash val="solid"/>
          </a:ln>
        </p:spPr>
      </p:sp>
      <p:pic>
        <p:nvPicPr>
          <p:cNvPr id="4" name="logo_9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9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LISTENING · Making notes · audio 10.7, 10.8, 10.9</a:t>
            </a:r>
            <a:endParaRPr lang="en-US" sz="900" dirty="0"/>
          </a:p>
        </p:txBody>
      </p:sp>
      <p:sp>
        <p:nvSpPr>
          <p:cNvPr id="6" name="timer_9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10 min</a:t>
            </a:r>
            <a:endParaRPr lang="en-US" sz="1200" dirty="0"/>
          </a:p>
        </p:txBody>
      </p:sp>
      <p:sp>
        <p:nvSpPr>
          <p:cNvPr id="7" name="footer_9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10B · Part 1</a:t>
            </a:r>
            <a:endParaRPr lang="en-US" sz="1000" dirty="0"/>
          </a:p>
        </p:txBody>
      </p:sp>
      <p:sp>
        <p:nvSpPr>
          <p:cNvPr id="8" name="title_94"/>
          <p:cNvSpPr txBox="1"/>
          <p:nvPr/>
        </p:nvSpPr>
        <p:spPr>
          <a:xfrm rot="-120000">
            <a:off x="320040" y="676656"/>
            <a:ext cx="293522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Three theories</a:t>
            </a:r>
            <a:endParaRPr lang="en-US" sz="1500" dirty="0"/>
          </a:p>
        </p:txBody>
      </p:sp>
      <p:sp>
        <p:nvSpPr>
          <p:cNvPr id="9" name="post_9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96"/>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1" name="signB_9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Who's the suspect? What's the evidence? Make notes!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Chi è il sospettato? Quali sono le prove? Prendi appunti!</a:t>
            </a:r>
            <a:endParaRPr lang="en-US" sz="1250" dirty="0"/>
          </a:p>
        </p:txBody>
      </p:sp>
      <p:sp>
        <p:nvSpPr>
          <p:cNvPr id="12" name="tr_98"/>
          <p:cNvSpPr txBox="1"/>
          <p:nvPr/>
        </p:nvSpPr>
        <p:spPr>
          <a:xfrm>
            <a:off x="2788920" y="1371600"/>
            <a:ext cx="1417320" cy="548640"/>
          </a:xfrm>
          <a:prstGeom prst="roundRect">
            <a:avLst>
              <a:gd name="adj" fmla="val 16667"/>
            </a:avLst>
          </a:prstGeom>
          <a:solidFill>
            <a:srgbClr val="48BDF2"/>
          </a:solidFill>
          <a:ln w="19050">
            <a:solidFill>
              <a:srgbClr val="111111"/>
            </a:solid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 10.7</a:t>
            </a:r>
            <a:endParaRPr lang="en-US" sz="1400" dirty="0"/>
          </a:p>
        </p:txBody>
      </p:sp>
      <p:sp>
        <p:nvSpPr>
          <p:cNvPr id="13" name="tr_99"/>
          <p:cNvSpPr txBox="1"/>
          <p:nvPr/>
        </p:nvSpPr>
        <p:spPr>
          <a:xfrm>
            <a:off x="4343400" y="1371600"/>
            <a:ext cx="1417320" cy="548640"/>
          </a:xfrm>
          <a:prstGeom prst="roundRect">
            <a:avLst>
              <a:gd name="adj" fmla="val 16667"/>
            </a:avLst>
          </a:prstGeom>
          <a:solidFill>
            <a:srgbClr val="48BDF2"/>
          </a:solidFill>
          <a:ln w="19050">
            <a:solidFill>
              <a:srgbClr val="111111"/>
            </a:solid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 10.8</a:t>
            </a:r>
            <a:endParaRPr lang="en-US" sz="1400" dirty="0"/>
          </a:p>
        </p:txBody>
      </p:sp>
      <p:sp>
        <p:nvSpPr>
          <p:cNvPr id="14" name="tr_100"/>
          <p:cNvSpPr txBox="1"/>
          <p:nvPr/>
        </p:nvSpPr>
        <p:spPr>
          <a:xfrm>
            <a:off x="5897880" y="1371600"/>
            <a:ext cx="1417320" cy="548640"/>
          </a:xfrm>
          <a:prstGeom prst="roundRect">
            <a:avLst>
              <a:gd name="adj" fmla="val 16667"/>
            </a:avLst>
          </a:prstGeom>
          <a:solidFill>
            <a:srgbClr val="48BDF2"/>
          </a:solidFill>
          <a:ln w="19050">
            <a:solidFill>
              <a:srgbClr val="111111"/>
            </a:solid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 10.9</a:t>
            </a:r>
            <a:endParaRPr lang="en-US" sz="1400" dirty="0"/>
          </a:p>
        </p:txBody>
      </p:sp>
      <p:sp>
        <p:nvSpPr>
          <p:cNvPr id="15" name="box_101"/>
          <p:cNvSpPr txBox="1"/>
          <p:nvPr/>
        </p:nvSpPr>
        <p:spPr>
          <a:xfrm>
            <a:off x="2788920" y="2103120"/>
            <a:ext cx="2534717" cy="3657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1  Bondeson's suspect?</a:t>
            </a:r>
            <a:endParaRPr lang="en-US" sz="1200" dirty="0"/>
          </a:p>
        </p:txBody>
      </p:sp>
      <p:sp>
        <p:nvSpPr>
          <p:cNvPr id="16" name="R1_la0"/>
          <p:cNvSpPr txBox="1"/>
          <p:nvPr/>
        </p:nvSpPr>
        <p:spPr>
          <a:xfrm>
            <a:off x="5378501" y="2130552"/>
            <a:ext cx="3445459"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Hendrik de Jong, a Dutch sailor</a:t>
            </a:r>
            <a:endParaRPr lang="en-US" sz="1050" dirty="0"/>
          </a:p>
        </p:txBody>
      </p:sp>
      <p:sp>
        <p:nvSpPr>
          <p:cNvPr id="17" name="box_102"/>
          <p:cNvSpPr txBox="1"/>
          <p:nvPr/>
        </p:nvSpPr>
        <p:spPr>
          <a:xfrm>
            <a:off x="2788920" y="2542032"/>
            <a:ext cx="2534717" cy="3657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2  Evidence?</a:t>
            </a:r>
            <a:endParaRPr lang="en-US" sz="1200" dirty="0"/>
          </a:p>
        </p:txBody>
      </p:sp>
      <p:sp>
        <p:nvSpPr>
          <p:cNvPr id="18" name="R1_la1"/>
          <p:cNvSpPr txBox="1"/>
          <p:nvPr/>
        </p:nvSpPr>
        <p:spPr>
          <a:xfrm>
            <a:off x="5378501" y="2569464"/>
            <a:ext cx="3445459"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killed 4 women · in London then · matches descriptions</a:t>
            </a:r>
            <a:endParaRPr lang="en-US" sz="1050" dirty="0"/>
          </a:p>
        </p:txBody>
      </p:sp>
      <p:sp>
        <p:nvSpPr>
          <p:cNvPr id="19" name="box_103"/>
          <p:cNvSpPr txBox="1"/>
          <p:nvPr/>
        </p:nvSpPr>
        <p:spPr>
          <a:xfrm>
            <a:off x="2788920" y="2980944"/>
            <a:ext cx="2534717" cy="3657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3  Robinson's suspect?</a:t>
            </a:r>
            <a:endParaRPr lang="en-US" sz="1200" dirty="0"/>
          </a:p>
        </p:txBody>
      </p:sp>
      <p:sp>
        <p:nvSpPr>
          <p:cNvPr id="20" name="R1_la2"/>
          <p:cNvSpPr txBox="1"/>
          <p:nvPr/>
        </p:nvSpPr>
        <p:spPr>
          <a:xfrm>
            <a:off x="5378501" y="3008376"/>
            <a:ext cx="3445459"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Michael Maybrick, a singer &amp; composer</a:t>
            </a:r>
            <a:endParaRPr lang="en-US" sz="1050" dirty="0"/>
          </a:p>
        </p:txBody>
      </p:sp>
      <p:sp>
        <p:nvSpPr>
          <p:cNvPr id="21" name="box_104"/>
          <p:cNvSpPr txBox="1"/>
          <p:nvPr/>
        </p:nvSpPr>
        <p:spPr>
          <a:xfrm>
            <a:off x="2788920" y="3419856"/>
            <a:ext cx="2534717" cy="3657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4  Evidence?</a:t>
            </a:r>
            <a:endParaRPr lang="en-US" sz="1200" dirty="0"/>
          </a:p>
        </p:txBody>
      </p:sp>
      <p:sp>
        <p:nvSpPr>
          <p:cNvPr id="22" name="R1_la3"/>
          <p:cNvSpPr txBox="1"/>
          <p:nvPr/>
        </p:nvSpPr>
        <p:spPr>
          <a:xfrm>
            <a:off x="5378501" y="3447288"/>
            <a:ext cx="3445459"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letters like his songs · posted from towns on his tour</a:t>
            </a:r>
            <a:endParaRPr lang="en-US" sz="1050" dirty="0"/>
          </a:p>
        </p:txBody>
      </p:sp>
      <p:sp>
        <p:nvSpPr>
          <p:cNvPr id="23" name="box_105"/>
          <p:cNvSpPr txBox="1"/>
          <p:nvPr/>
        </p:nvSpPr>
        <p:spPr>
          <a:xfrm>
            <a:off x="2788920" y="3858768"/>
            <a:ext cx="2534717" cy="3657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5  Cornwell's suspect?</a:t>
            </a:r>
            <a:endParaRPr lang="en-US" sz="1200" dirty="0"/>
          </a:p>
        </p:txBody>
      </p:sp>
      <p:sp>
        <p:nvSpPr>
          <p:cNvPr id="24" name="R1_la4"/>
          <p:cNvSpPr txBox="1"/>
          <p:nvPr/>
        </p:nvSpPr>
        <p:spPr>
          <a:xfrm>
            <a:off x="5378501" y="3886200"/>
            <a:ext cx="3445459"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Walter Sickert, a painter</a:t>
            </a:r>
            <a:endParaRPr lang="en-US" sz="1050" dirty="0"/>
          </a:p>
        </p:txBody>
      </p:sp>
      <p:sp>
        <p:nvSpPr>
          <p:cNvPr id="25" name="box_106"/>
          <p:cNvSpPr txBox="1"/>
          <p:nvPr/>
        </p:nvSpPr>
        <p:spPr>
          <a:xfrm>
            <a:off x="2788920" y="4297680"/>
            <a:ext cx="2534717" cy="3657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6  Evidence?</a:t>
            </a:r>
            <a:endParaRPr lang="en-US" sz="1200" dirty="0"/>
          </a:p>
        </p:txBody>
      </p:sp>
      <p:sp>
        <p:nvSpPr>
          <p:cNvPr id="26" name="R1_la5"/>
          <p:cNvSpPr txBox="1"/>
          <p:nvPr/>
        </p:nvSpPr>
        <p:spPr>
          <a:xfrm>
            <a:off x="5378501" y="4325112"/>
            <a:ext cx="3445459"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DNA · same unusual paper · violent paintings</a:t>
            </a:r>
            <a:endParaRPr lang="en-US" sz="1050" dirty="0"/>
          </a:p>
        </p:txBody>
      </p:sp>
      <p:sp>
        <p:nvSpPr>
          <p:cNvPr id="27" name="pageTag_10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pp.100–101 · 2a, 2b, 2c, 2d · audio 10.7–10.9</a:t>
            </a:r>
            <a:endParaRPr lang="en-US" sz="1050" dirty="0"/>
          </a:p>
        </p:txBody>
      </p:sp>
      <p:sp>
        <p:nvSpPr>
          <p:cNvPr id="28" name="pframe_108"/>
          <p:cNvSpPr/>
          <p:nvPr/>
        </p:nvSpPr>
        <p:spPr>
          <a:xfrm rot="-120000">
            <a:off x="384048" y="3154680"/>
            <a:ext cx="2103120" cy="135331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9" name="pimg_109" descr="Sickert · de Jong · Maybrick">    </p:cNvPr>
          <p:cNvPicPr>
            <a:picLocks noChangeAspect="1"/>
          </p:cNvPicPr>
          <p:nvPr/>
        </p:nvPicPr>
        <p:blipFill>
          <a:blip r:embed="rId3"/>
          <a:srcRect l="0" r="0" t="0" b="0"/>
          <a:stretch/>
        </p:blipFill>
        <p:spPr>
          <a:xfrm rot="-120000">
            <a:off x="457200" y="3227832"/>
            <a:ext cx="1956816" cy="932688"/>
          </a:xfrm>
          <a:prstGeom prst="rect">
            <a:avLst/>
          </a:prstGeom>
        </p:spPr>
      </p:pic>
      <p:sp>
        <p:nvSpPr>
          <p:cNvPr id="30" name="pcap_110"/>
          <p:cNvSpPr txBox="1"/>
          <p:nvPr/>
        </p:nvSpPr>
        <p:spPr>
          <a:xfrm rot="-120000">
            <a:off x="384048" y="4169664"/>
            <a:ext cx="210312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Sickert · de Jong · Maybrick</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11"/>
          <p:cNvSpPr/>
          <p:nvPr/>
        </p:nvSpPr>
        <p:spPr>
          <a:xfrm>
            <a:off x="54864" y="54864"/>
            <a:ext cx="9034272" cy="5033772"/>
          </a:xfrm>
          <a:prstGeom prst="rect">
            <a:avLst/>
          </a:prstGeom>
          <a:ln w="114300">
            <a:solidFill>
              <a:srgbClr val="A8E6B4"/>
            </a:solidFill>
            <a:prstDash val="solid"/>
          </a:ln>
        </p:spPr>
      </p:sp>
      <p:pic>
        <p:nvPicPr>
          <p:cNvPr id="4" name="logo_11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1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Presentation · audio 10.10</a:t>
            </a:r>
            <a:endParaRPr lang="en-US" sz="900" dirty="0"/>
          </a:p>
        </p:txBody>
      </p:sp>
      <p:sp>
        <p:nvSpPr>
          <p:cNvPr id="6" name="timer_11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3 min</a:t>
            </a:r>
            <a:endParaRPr lang="en-US" sz="1200" dirty="0"/>
          </a:p>
        </p:txBody>
      </p:sp>
      <p:sp>
        <p:nvSpPr>
          <p:cNvPr id="7" name="footer_11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10B · Part 1</a:t>
            </a:r>
            <a:endParaRPr lang="en-US" sz="1000" dirty="0"/>
          </a:p>
        </p:txBody>
      </p:sp>
      <p:sp>
        <p:nvSpPr>
          <p:cNvPr id="8" name="title_116"/>
          <p:cNvSpPr txBox="1"/>
          <p:nvPr/>
        </p:nvSpPr>
        <p:spPr>
          <a:xfrm rot="-120000">
            <a:off x="320040" y="676656"/>
            <a:ext cx="224028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…isn't it?</a:t>
            </a:r>
            <a:endParaRPr lang="en-US" sz="1500" dirty="0"/>
          </a:p>
        </p:txBody>
      </p:sp>
      <p:sp>
        <p:nvSpPr>
          <p:cNvPr id="9" name="post_117"/>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18"/>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1" name="signB_11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Complete the questions from the interview. Listen and check.</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Completa le domande dell'intervista. Ascolta e controlla.</a:t>
            </a:r>
            <a:endParaRPr lang="en-US" sz="1200" dirty="0"/>
          </a:p>
        </p:txBody>
      </p:sp>
      <p:sp>
        <p:nvSpPr>
          <p:cNvPr id="12" name="box_120"/>
          <p:cNvSpPr txBox="1"/>
          <p:nvPr/>
        </p:nvSpPr>
        <p:spPr>
          <a:xfrm>
            <a:off x="2788920" y="1371600"/>
            <a:ext cx="4224528"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You were a detective with Scotland Yard, ___ ___?</a:t>
            </a:r>
            <a:endParaRPr lang="en-US" sz="1300" dirty="0"/>
          </a:p>
        </p:txBody>
      </p:sp>
      <p:sp>
        <p:nvSpPr>
          <p:cNvPr id="13" name="R1_a0"/>
          <p:cNvSpPr txBox="1"/>
          <p:nvPr/>
        </p:nvSpPr>
        <p:spPr>
          <a:xfrm>
            <a:off x="7068312" y="1408176"/>
            <a:ext cx="1755648"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weren't you</a:t>
            </a:r>
            <a:endParaRPr lang="en-US" sz="1400" dirty="0"/>
          </a:p>
        </p:txBody>
      </p:sp>
      <p:sp>
        <p:nvSpPr>
          <p:cNvPr id="14" name="box_121"/>
          <p:cNvSpPr txBox="1"/>
          <p:nvPr/>
        </p:nvSpPr>
        <p:spPr>
          <a:xfrm>
            <a:off x="2788920" y="2226564"/>
            <a:ext cx="4224528"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It's incredible, ___ ___?</a:t>
            </a:r>
            <a:endParaRPr lang="en-US" sz="1300" dirty="0"/>
          </a:p>
        </p:txBody>
      </p:sp>
      <p:sp>
        <p:nvSpPr>
          <p:cNvPr id="15" name="R1_a1"/>
          <p:cNvSpPr txBox="1"/>
          <p:nvPr/>
        </p:nvSpPr>
        <p:spPr>
          <a:xfrm>
            <a:off x="7068312" y="2263140"/>
            <a:ext cx="1755648"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isn't it</a:t>
            </a:r>
            <a:endParaRPr lang="en-US" sz="1400" dirty="0"/>
          </a:p>
        </p:txBody>
      </p:sp>
      <p:sp>
        <p:nvSpPr>
          <p:cNvPr id="16" name="box_122"/>
          <p:cNvSpPr txBox="1"/>
          <p:nvPr/>
        </p:nvSpPr>
        <p:spPr>
          <a:xfrm>
            <a:off x="2788920" y="3081528"/>
            <a:ext cx="4224528"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But he was never arrested, ___ ___?</a:t>
            </a:r>
            <a:endParaRPr lang="en-US" sz="1300" dirty="0"/>
          </a:p>
        </p:txBody>
      </p:sp>
      <p:sp>
        <p:nvSpPr>
          <p:cNvPr id="17" name="R1_a2"/>
          <p:cNvSpPr txBox="1"/>
          <p:nvPr/>
        </p:nvSpPr>
        <p:spPr>
          <a:xfrm>
            <a:off x="7068312" y="3118104"/>
            <a:ext cx="1755648"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was he</a:t>
            </a:r>
            <a:endParaRPr lang="en-US" sz="1400" dirty="0"/>
          </a:p>
        </p:txBody>
      </p:sp>
      <p:sp>
        <p:nvSpPr>
          <p:cNvPr id="18" name="box_123"/>
          <p:cNvSpPr txBox="1"/>
          <p:nvPr/>
        </p:nvSpPr>
        <p:spPr>
          <a:xfrm>
            <a:off x="2788920" y="3936492"/>
            <a:ext cx="4224528"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But you don't think she's right, ___ ___?</a:t>
            </a:r>
            <a:endParaRPr lang="en-US" sz="1300" dirty="0"/>
          </a:p>
        </p:txBody>
      </p:sp>
      <p:sp>
        <p:nvSpPr>
          <p:cNvPr id="19" name="R1_a3"/>
          <p:cNvSpPr txBox="1"/>
          <p:nvPr/>
        </p:nvSpPr>
        <p:spPr>
          <a:xfrm>
            <a:off x="7068312" y="3973068"/>
            <a:ext cx="1755648"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do you</a:t>
            </a:r>
            <a:endParaRPr lang="en-US" sz="1400" dirty="0"/>
          </a:p>
        </p:txBody>
      </p:sp>
      <p:sp>
        <p:nvSpPr>
          <p:cNvPr id="20" name="pageTag_12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p.101 · 3a, 3b · audio 10.10</a:t>
            </a:r>
            <a:endParaRPr lang="en-US" sz="1050" dirty="0"/>
          </a:p>
        </p:txBody>
      </p:sp>
      <p:sp>
        <p:nvSpPr>
          <p:cNvPr id="21" name="pframe_125"/>
          <p:cNvSpPr/>
          <p:nvPr/>
        </p:nvSpPr>
        <p:spPr>
          <a:xfrm rot="-120000">
            <a:off x="502920" y="3090672"/>
            <a:ext cx="1600200" cy="1682496"/>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2" name="pimg_126" descr="picture">    </p:cNvPr>
          <p:cNvPicPr>
            <a:picLocks noChangeAspect="1"/>
          </p:cNvPicPr>
          <p:nvPr/>
        </p:nvPicPr>
        <p:blipFill>
          <a:blip r:embed="rId3"/>
          <a:srcRect l="0" r="0" t="0" b="0"/>
          <a:stretch/>
        </p:blipFill>
        <p:spPr>
          <a:xfrm rot="-120000">
            <a:off x="576072" y="3163824"/>
            <a:ext cx="1453896" cy="146304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27"/>
          <p:cNvSpPr/>
          <p:nvPr/>
        </p:nvSpPr>
        <p:spPr>
          <a:xfrm>
            <a:off x="54864" y="54864"/>
            <a:ext cx="9034272" cy="5033772"/>
          </a:xfrm>
          <a:prstGeom prst="rect">
            <a:avLst/>
          </a:prstGeom>
          <a:ln w="114300">
            <a:solidFill>
              <a:srgbClr val="A8E6B4"/>
            </a:solidFill>
            <a:prstDash val="solid"/>
          </a:ln>
        </p:spPr>
      </p:sp>
      <p:pic>
        <p:nvPicPr>
          <p:cNvPr id="4" name="logo_12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2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Grammar Bank 10B p.151</a:t>
            </a:r>
            <a:endParaRPr lang="en-US" sz="900" dirty="0"/>
          </a:p>
        </p:txBody>
      </p:sp>
      <p:sp>
        <p:nvSpPr>
          <p:cNvPr id="6" name="timer_13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13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10B · Part 1</a:t>
            </a:r>
            <a:endParaRPr lang="en-US" sz="1000" dirty="0"/>
          </a:p>
        </p:txBody>
      </p:sp>
      <p:sp>
        <p:nvSpPr>
          <p:cNvPr id="8" name="title_132"/>
          <p:cNvSpPr txBox="1"/>
          <p:nvPr/>
        </p:nvSpPr>
        <p:spPr>
          <a:xfrm rot="-120000">
            <a:off x="320040" y="676656"/>
            <a:ext cx="276148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Question tags</a:t>
            </a:r>
            <a:endParaRPr lang="en-US" sz="1500" dirty="0"/>
          </a:p>
        </p:txBody>
      </p:sp>
      <p:sp>
        <p:nvSpPr>
          <p:cNvPr id="9" name="rh_133"/>
          <p:cNvSpPr txBox="1"/>
          <p:nvPr/>
        </p:nvSpPr>
        <p:spPr>
          <a:xfrm>
            <a:off x="320040" y="1371600"/>
            <a:ext cx="2749296" cy="384048"/>
          </a:xfrm>
          <a:prstGeom prst="rect">
            <a:avLst/>
          </a:prstGeom>
          <a:solidFill>
            <a:srgbClr val="48BDF2"/>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 verb → – tag</a:t>
            </a:r>
            <a:endParaRPr lang="en-US" sz="1300" dirty="0"/>
          </a:p>
        </p:txBody>
      </p:sp>
      <p:sp>
        <p:nvSpPr>
          <p:cNvPr id="10" name="rb_134"/>
          <p:cNvSpPr txBox="1"/>
          <p:nvPr/>
        </p:nvSpPr>
        <p:spPr>
          <a:xfrm>
            <a:off x="320040"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It's cold today, isn't it?</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They live in London, don't they?</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Your sister worked in the USA, didn't she?</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We've met before, haven't we?</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You'll be OK, won't you?</a:t>
            </a:r>
            <a:endParaRPr lang="en-US" sz="1250" dirty="0"/>
          </a:p>
        </p:txBody>
      </p:sp>
      <p:sp>
        <p:nvSpPr>
          <p:cNvPr id="11" name="rh_135"/>
          <p:cNvSpPr txBox="1"/>
          <p:nvPr/>
        </p:nvSpPr>
        <p:spPr>
          <a:xfrm>
            <a:off x="3197352" y="1371600"/>
            <a:ext cx="2749296" cy="384048"/>
          </a:xfrm>
          <a:prstGeom prst="rect">
            <a:avLst/>
          </a:prstGeom>
          <a:solidFill>
            <a:srgbClr val="EF2F2F"/>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 verb → + tag</a:t>
            </a:r>
            <a:endParaRPr lang="en-US" sz="1300" dirty="0"/>
          </a:p>
        </p:txBody>
      </p:sp>
      <p:sp>
        <p:nvSpPr>
          <p:cNvPr id="12" name="rb_136"/>
          <p:cNvSpPr txBox="1"/>
          <p:nvPr/>
        </p:nvSpPr>
        <p:spPr>
          <a:xfrm>
            <a:off x="3197352"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She isn't here today, is she?</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Lucy doesn't drive, does she?</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You didn't like the film, did you?</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Mike hasn't been to Rome before, has he?</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You won't tell anyone, will you?</a:t>
            </a:r>
            <a:endParaRPr lang="en-US" sz="1250" dirty="0"/>
          </a:p>
        </p:txBody>
      </p:sp>
      <p:sp>
        <p:nvSpPr>
          <p:cNvPr id="13" name="rh_137"/>
          <p:cNvSpPr txBox="1"/>
          <p:nvPr/>
        </p:nvSpPr>
        <p:spPr>
          <a:xfrm>
            <a:off x="6074664" y="1371600"/>
            <a:ext cx="2749296" cy="384048"/>
          </a:xfrm>
          <a:prstGeom prst="rect">
            <a:avLst/>
          </a:prstGeom>
          <a:solidFill>
            <a:srgbClr val="1FA463"/>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How?</a:t>
            </a:r>
            <a:endParaRPr lang="en-US" sz="1300" dirty="0"/>
          </a:p>
        </p:txBody>
      </p:sp>
      <p:sp>
        <p:nvSpPr>
          <p:cNvPr id="14" name="rb_138"/>
          <p:cNvSpPr txBox="1"/>
          <p:nvPr/>
        </p:nvSpPr>
        <p:spPr>
          <a:xfrm>
            <a:off x="6074664"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Same auxiliary as the verb: be, do / does / did, have, will, would, can…</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No auxiliary? → do / does / did</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Tag pronoun = subject: Lucy → she</a:t>
            </a:r>
            <a:endParaRPr lang="en-US" sz="125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 vero? / no? / giusto?</a:t>
            </a:r>
            <a:endParaRPr lang="en-US" sz="1250" dirty="0"/>
          </a:p>
        </p:txBody>
      </p:sp>
      <p:sp>
        <p:nvSpPr>
          <p:cNvPr id="15" name="watch_139"/>
          <p:cNvSpPr txBox="1"/>
          <p:nvPr/>
        </p:nvSpPr>
        <p:spPr>
          <a:xfrm>
            <a:off x="320040" y="4133088"/>
            <a:ext cx="8503920" cy="530352"/>
          </a:xfrm>
          <a:prstGeom prst="rect">
            <a:avLst/>
          </a:prstGeom>
          <a:solidFill>
            <a:srgbClr val="FFE4E6"/>
          </a:solidFill>
          <a:ln w="19050">
            <a:solidFill>
              <a:srgbClr val="111111"/>
            </a:solidFill>
          </a:ln>
        </p:spPr>
        <p:txBody>
          <a:bodyPr wrap="square" lIns="101600" tIns="101600" rIns="101600" bIns="101600" rtlCol="0" anchor="ctr"/>
          <a:lstStyle/>
          <a:p>
            <a:pPr indent="0" marL="0">
              <a:buNone/>
            </a:pPr>
            <a:r>
              <a:rPr lang="en-US" sz="1250" b="1" dirty="0">
                <a:solidFill>
                  <a:srgbClr val="EF2F2F"/>
                </a:solidFill>
                <a:latin typeface="Calibri" pitchFamily="34" charset="0"/>
                <a:ea typeface="Calibri" pitchFamily="34" charset="-122"/>
                <a:cs typeface="Calibri" pitchFamily="34" charset="-120"/>
              </a:rPr>
              <a:t>Watch out!  </a:t>
            </a:r>
            <a:pPr indent="0" marL="0">
              <a:buNone/>
            </a:pPr>
            <a:r>
              <a:rPr lang="en-US" sz="1250" dirty="0">
                <a:solidFill>
                  <a:srgbClr val="111111"/>
                </a:solidFill>
                <a:latin typeface="Calibri" pitchFamily="34" charset="0"/>
                <a:ea typeface="Calibri" pitchFamily="34" charset="-122"/>
                <a:cs typeface="Calibri" pitchFamily="34" charset="-120"/>
              </a:rPr>
              <a:t>↘ Falling intonation = I'm checking (I think I know).   ✗ You're Polish, isn't it? → ✓ aren't you?</a:t>
            </a:r>
            <a:endParaRPr lang="en-US" sz="1250" dirty="0"/>
          </a:p>
        </p:txBody>
      </p:sp>
      <p:sp>
        <p:nvSpPr>
          <p:cNvPr id="16" name="pageTag_14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Bank 10B p.151 · audio 10.11</a:t>
            </a:r>
            <a:endParaRPr lang="en-US" sz="1050" dirty="0"/>
          </a:p>
        </p:txBody>
      </p:sp>
    </p:spTree>
  </p:cSld>
  <p:clrMapOvr>
    <a:masterClrMapping/>
  </p:clrMapOvr>
  <p:transition spd="med">
    <p:push dir="l"/>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1"/>
          <p:cNvSpPr/>
          <p:nvPr/>
        </p:nvSpPr>
        <p:spPr>
          <a:xfrm>
            <a:off x="54864" y="54864"/>
            <a:ext cx="9034272" cy="5033772"/>
          </a:xfrm>
          <a:prstGeom prst="rect">
            <a:avLst/>
          </a:prstGeom>
          <a:ln w="114300">
            <a:solidFill>
              <a:srgbClr val="A8E6B4"/>
            </a:solidFill>
            <a:prstDash val="solid"/>
          </a:ln>
        </p:spPr>
      </p:sp>
      <p:pic>
        <p:nvPicPr>
          <p:cNvPr id="4" name="logo_14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Grammar Bank 10B · practice</a:t>
            </a:r>
            <a:endParaRPr lang="en-US" sz="900" dirty="0"/>
          </a:p>
        </p:txBody>
      </p:sp>
      <p:sp>
        <p:nvSpPr>
          <p:cNvPr id="6" name="timer_14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14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10B · Part 1</a:t>
            </a:r>
            <a:endParaRPr lang="en-US" sz="1000" dirty="0"/>
          </a:p>
        </p:txBody>
      </p:sp>
      <p:sp>
        <p:nvSpPr>
          <p:cNvPr id="8" name="title_146"/>
          <p:cNvSpPr txBox="1"/>
          <p:nvPr/>
        </p:nvSpPr>
        <p:spPr>
          <a:xfrm rot="-120000">
            <a:off x="320040" y="676656"/>
            <a:ext cx="241401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Add the tag</a:t>
            </a:r>
            <a:endParaRPr lang="en-US" sz="1500" dirty="0"/>
          </a:p>
        </p:txBody>
      </p:sp>
      <p:sp>
        <p:nvSpPr>
          <p:cNvPr id="9" name="post_147"/>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48"/>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1" name="signB_14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Grammar Bank 10B: a 1–5, b 1–5. Then check!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Grammar Bank 10B: a 1–5, b 1–5. Poi controlla!</a:t>
            </a:r>
            <a:endParaRPr lang="en-US" sz="1250" dirty="0"/>
          </a:p>
        </p:txBody>
      </p:sp>
      <p:sp>
        <p:nvSpPr>
          <p:cNvPr id="12" name="iconBack_150"/>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51" descr="pi:PiPencilSimple">    </p:cNvPr>
          <p:cNvPicPr>
            <a:picLocks noChangeAspect="1"/>
          </p:cNvPicPr>
          <p:nvPr/>
        </p:nvPicPr>
        <p:blipFill>
          <a:blip r:embed="rId3"/>
          <a:stretch>
            <a:fillRect/>
          </a:stretch>
        </p:blipFill>
        <p:spPr>
          <a:xfrm>
            <a:off x="914400" y="3474720"/>
            <a:ext cx="685800" cy="685800"/>
          </a:xfrm>
          <a:prstGeom prst="rect">
            <a:avLst/>
          </a:prstGeom>
        </p:spPr>
      </p:pic>
      <p:sp>
        <p:nvSpPr>
          <p:cNvPr id="14" name="box_152"/>
          <p:cNvSpPr txBox="1"/>
          <p:nvPr/>
        </p:nvSpPr>
        <p:spPr>
          <a:xfrm>
            <a:off x="2788920" y="1371600"/>
            <a:ext cx="4345229"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a 1–5  (match in your book, p.151)</a:t>
            </a:r>
            <a:endParaRPr lang="en-US" sz="1250" dirty="0"/>
          </a:p>
        </p:txBody>
      </p:sp>
      <p:sp>
        <p:nvSpPr>
          <p:cNvPr id="15" name="R1_a0"/>
          <p:cNvSpPr txBox="1"/>
          <p:nvPr/>
        </p:nvSpPr>
        <p:spPr>
          <a:xfrm>
            <a:off x="7189013" y="1408176"/>
            <a:ext cx="1634947"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1 I · 2 E · 3 A · 4 F · 5 C</a:t>
            </a:r>
            <a:endParaRPr lang="en-US" sz="1100" dirty="0"/>
          </a:p>
        </p:txBody>
      </p:sp>
      <p:sp>
        <p:nvSpPr>
          <p:cNvPr id="16" name="box_153"/>
          <p:cNvSpPr txBox="1"/>
          <p:nvPr/>
        </p:nvSpPr>
        <p:spPr>
          <a:xfrm>
            <a:off x="2788920" y="1941576"/>
            <a:ext cx="4345229"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b1  Your brother works at the police station, ___?</a:t>
            </a:r>
            <a:endParaRPr lang="en-US" sz="1250" dirty="0"/>
          </a:p>
        </p:txBody>
      </p:sp>
      <p:sp>
        <p:nvSpPr>
          <p:cNvPr id="17" name="R1_a1"/>
          <p:cNvSpPr txBox="1"/>
          <p:nvPr/>
        </p:nvSpPr>
        <p:spPr>
          <a:xfrm>
            <a:off x="7189013" y="1978152"/>
            <a:ext cx="1634947"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doesn't he</a:t>
            </a:r>
            <a:endParaRPr lang="en-US" sz="1250" dirty="0"/>
          </a:p>
        </p:txBody>
      </p:sp>
      <p:sp>
        <p:nvSpPr>
          <p:cNvPr id="18" name="box_154"/>
          <p:cNvSpPr txBox="1"/>
          <p:nvPr/>
        </p:nvSpPr>
        <p:spPr>
          <a:xfrm>
            <a:off x="2788920" y="2511552"/>
            <a:ext cx="4345229"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b2  They don't have any proof, ___?</a:t>
            </a:r>
            <a:endParaRPr lang="en-US" sz="1250" dirty="0"/>
          </a:p>
        </p:txBody>
      </p:sp>
      <p:sp>
        <p:nvSpPr>
          <p:cNvPr id="19" name="R1_a2"/>
          <p:cNvSpPr txBox="1"/>
          <p:nvPr/>
        </p:nvSpPr>
        <p:spPr>
          <a:xfrm>
            <a:off x="7189013" y="2548128"/>
            <a:ext cx="1634947"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do they</a:t>
            </a:r>
            <a:endParaRPr lang="en-US" sz="1250" dirty="0"/>
          </a:p>
        </p:txBody>
      </p:sp>
      <p:sp>
        <p:nvSpPr>
          <p:cNvPr id="20" name="box_155"/>
          <p:cNvSpPr txBox="1"/>
          <p:nvPr/>
        </p:nvSpPr>
        <p:spPr>
          <a:xfrm>
            <a:off x="2788920" y="3081528"/>
            <a:ext cx="4345229"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b3  That man isn't the murderer, ___?</a:t>
            </a:r>
            <a:endParaRPr lang="en-US" sz="1250" dirty="0"/>
          </a:p>
        </p:txBody>
      </p:sp>
      <p:sp>
        <p:nvSpPr>
          <p:cNvPr id="21" name="R1_a3"/>
          <p:cNvSpPr txBox="1"/>
          <p:nvPr/>
        </p:nvSpPr>
        <p:spPr>
          <a:xfrm>
            <a:off x="7189013" y="3118104"/>
            <a:ext cx="1634947"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is he</a:t>
            </a:r>
            <a:endParaRPr lang="en-US" sz="1250" dirty="0"/>
          </a:p>
        </p:txBody>
      </p:sp>
      <p:sp>
        <p:nvSpPr>
          <p:cNvPr id="22" name="box_156"/>
          <p:cNvSpPr txBox="1"/>
          <p:nvPr/>
        </p:nvSpPr>
        <p:spPr>
          <a:xfrm>
            <a:off x="2788920" y="3651504"/>
            <a:ext cx="4345229"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b4  You were a witness to the crime, ___?</a:t>
            </a:r>
            <a:endParaRPr lang="en-US" sz="1250" dirty="0"/>
          </a:p>
        </p:txBody>
      </p:sp>
      <p:sp>
        <p:nvSpPr>
          <p:cNvPr id="23" name="R1_a4"/>
          <p:cNvSpPr txBox="1"/>
          <p:nvPr/>
        </p:nvSpPr>
        <p:spPr>
          <a:xfrm>
            <a:off x="7189013" y="3688080"/>
            <a:ext cx="1634947"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weren't you</a:t>
            </a:r>
            <a:endParaRPr lang="en-US" sz="1250" dirty="0"/>
          </a:p>
        </p:txBody>
      </p:sp>
      <p:sp>
        <p:nvSpPr>
          <p:cNvPr id="24" name="box_157"/>
          <p:cNvSpPr txBox="1"/>
          <p:nvPr/>
        </p:nvSpPr>
        <p:spPr>
          <a:xfrm>
            <a:off x="2788920" y="4221480"/>
            <a:ext cx="4345229"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b5  The police have arrested someone, ___?</a:t>
            </a:r>
            <a:endParaRPr lang="en-US" sz="1250" dirty="0"/>
          </a:p>
        </p:txBody>
      </p:sp>
      <p:sp>
        <p:nvSpPr>
          <p:cNvPr id="25" name="R1_a5"/>
          <p:cNvSpPr txBox="1"/>
          <p:nvPr/>
        </p:nvSpPr>
        <p:spPr>
          <a:xfrm>
            <a:off x="7189013" y="4258056"/>
            <a:ext cx="1634947"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haven't they</a:t>
            </a:r>
            <a:endParaRPr lang="en-US" sz="1250" dirty="0"/>
          </a:p>
        </p:txBody>
      </p:sp>
      <p:sp>
        <p:nvSpPr>
          <p:cNvPr id="26" name="pageTag_15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Bank 10B p.151 · a 1–5, b 1–5 (a 6–10, b 6–10 = homework)</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59"/>
          <p:cNvSpPr/>
          <p:nvPr/>
        </p:nvSpPr>
        <p:spPr>
          <a:xfrm>
            <a:off x="54864" y="54864"/>
            <a:ext cx="9034272" cy="5033772"/>
          </a:xfrm>
          <a:prstGeom prst="rect">
            <a:avLst/>
          </a:prstGeom>
          <a:ln w="114300">
            <a:solidFill>
              <a:srgbClr val="A8E6B4"/>
            </a:solidFill>
            <a:prstDash val="solid"/>
          </a:ln>
        </p:spPr>
      </p:sp>
      <p:pic>
        <p:nvPicPr>
          <p:cNvPr id="4" name="logo_16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PRONUNCIATION · Intonation · audio 10.12, 10.13</a:t>
            </a:r>
            <a:endParaRPr lang="en-US" sz="900" dirty="0"/>
          </a:p>
        </p:txBody>
      </p:sp>
      <p:sp>
        <p:nvSpPr>
          <p:cNvPr id="6" name="timer_16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16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10B · Part 1</a:t>
            </a:r>
            <a:endParaRPr lang="en-US" sz="1000" dirty="0"/>
          </a:p>
        </p:txBody>
      </p:sp>
      <p:sp>
        <p:nvSpPr>
          <p:cNvPr id="8" name="title_164"/>
          <p:cNvSpPr txBox="1"/>
          <p:nvPr/>
        </p:nvSpPr>
        <p:spPr>
          <a:xfrm rot="-120000">
            <a:off x="320040" y="676656"/>
            <a:ext cx="363016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The interview room</a:t>
            </a:r>
            <a:endParaRPr lang="en-US" sz="1500" dirty="0"/>
          </a:p>
        </p:txBody>
      </p:sp>
      <p:sp>
        <p:nvSpPr>
          <p:cNvPr id="9" name="post_16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66"/>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1" name="signB_16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Complete the inspector's tags. Does the voice go up ↗ or down ↘?</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Completa le tag dell'ispettore. La voce sale ↗ o scende ↘?</a:t>
            </a:r>
            <a:endParaRPr lang="en-US" sz="1200" dirty="0"/>
          </a:p>
        </p:txBody>
      </p:sp>
      <p:sp>
        <p:nvSpPr>
          <p:cNvPr id="12" name="iconBack_16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69" descr="pi:PiPoliceCar">    </p:cNvPr>
          <p:cNvPicPr>
            <a:picLocks noChangeAspect="1"/>
          </p:cNvPicPr>
          <p:nvPr/>
        </p:nvPicPr>
        <p:blipFill>
          <a:blip r:embed="rId3"/>
          <a:stretch>
            <a:fillRect/>
          </a:stretch>
        </p:blipFill>
        <p:spPr>
          <a:xfrm>
            <a:off x="914400" y="3474720"/>
            <a:ext cx="685800" cy="685800"/>
          </a:xfrm>
          <a:prstGeom prst="rect">
            <a:avLst/>
          </a:prstGeom>
        </p:spPr>
      </p:pic>
      <p:sp>
        <p:nvSpPr>
          <p:cNvPr id="14" name="tr_170"/>
          <p:cNvSpPr txBox="1"/>
          <p:nvPr/>
        </p:nvSpPr>
        <p:spPr>
          <a:xfrm>
            <a:off x="2788920" y="1371600"/>
            <a:ext cx="1417320" cy="548640"/>
          </a:xfrm>
          <a:prstGeom prst="roundRect">
            <a:avLst>
              <a:gd name="adj" fmla="val 16667"/>
            </a:avLst>
          </a:prstGeom>
          <a:solidFill>
            <a:srgbClr val="48BDF2"/>
          </a:solidFill>
          <a:ln w="19050">
            <a:solidFill>
              <a:srgbClr val="111111"/>
            </a:solid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 10.12</a:t>
            </a:r>
            <a:endParaRPr lang="en-US" sz="1400" dirty="0"/>
          </a:p>
        </p:txBody>
      </p:sp>
      <p:sp>
        <p:nvSpPr>
          <p:cNvPr id="15" name="tr_171"/>
          <p:cNvSpPr txBox="1"/>
          <p:nvPr/>
        </p:nvSpPr>
        <p:spPr>
          <a:xfrm>
            <a:off x="4343400" y="1371600"/>
            <a:ext cx="1417320" cy="548640"/>
          </a:xfrm>
          <a:prstGeom prst="roundRect">
            <a:avLst>
              <a:gd name="adj" fmla="val 16667"/>
            </a:avLst>
          </a:prstGeom>
          <a:solidFill>
            <a:srgbClr val="48BDF2"/>
          </a:solidFill>
          <a:ln w="19050">
            <a:solidFill>
              <a:srgbClr val="111111"/>
            </a:solid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 10.13</a:t>
            </a:r>
            <a:endParaRPr lang="en-US" sz="1400" dirty="0"/>
          </a:p>
        </p:txBody>
      </p:sp>
      <p:sp>
        <p:nvSpPr>
          <p:cNvPr id="16" name="box_172"/>
          <p:cNvSpPr txBox="1"/>
          <p:nvPr/>
        </p:nvSpPr>
        <p:spPr>
          <a:xfrm>
            <a:off x="2788920" y="2103120"/>
            <a:ext cx="3862426" cy="3657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Your surname's Jones, ___?</a:t>
            </a:r>
            <a:endParaRPr lang="en-US" sz="1250" dirty="0"/>
          </a:p>
        </p:txBody>
      </p:sp>
      <p:sp>
        <p:nvSpPr>
          <p:cNvPr id="17" name="R1_la0"/>
          <p:cNvSpPr txBox="1"/>
          <p:nvPr/>
        </p:nvSpPr>
        <p:spPr>
          <a:xfrm>
            <a:off x="6706210" y="2130552"/>
            <a:ext cx="21177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isn't it ↘</a:t>
            </a:r>
            <a:endParaRPr lang="en-US" sz="1250" dirty="0"/>
          </a:p>
        </p:txBody>
      </p:sp>
      <p:sp>
        <p:nvSpPr>
          <p:cNvPr id="18" name="box_173"/>
          <p:cNvSpPr txBox="1"/>
          <p:nvPr/>
        </p:nvSpPr>
        <p:spPr>
          <a:xfrm>
            <a:off x="2788920" y="2542032"/>
            <a:ext cx="3862426" cy="3657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And you're 27, ___?</a:t>
            </a:r>
            <a:endParaRPr lang="en-US" sz="1250" dirty="0"/>
          </a:p>
        </p:txBody>
      </p:sp>
      <p:sp>
        <p:nvSpPr>
          <p:cNvPr id="19" name="R1_la1"/>
          <p:cNvSpPr txBox="1"/>
          <p:nvPr/>
        </p:nvSpPr>
        <p:spPr>
          <a:xfrm>
            <a:off x="6706210" y="2569464"/>
            <a:ext cx="21177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aren't you ↘</a:t>
            </a:r>
            <a:endParaRPr lang="en-US" sz="1250" dirty="0"/>
          </a:p>
        </p:txBody>
      </p:sp>
      <p:sp>
        <p:nvSpPr>
          <p:cNvPr id="20" name="box_174"/>
          <p:cNvSpPr txBox="1"/>
          <p:nvPr/>
        </p:nvSpPr>
        <p:spPr>
          <a:xfrm>
            <a:off x="2788920" y="2980944"/>
            <a:ext cx="3862426" cy="3657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You weren't at home last night at 8.00, ___?</a:t>
            </a:r>
            <a:endParaRPr lang="en-US" sz="1250" dirty="0"/>
          </a:p>
        </p:txBody>
      </p:sp>
      <p:sp>
        <p:nvSpPr>
          <p:cNvPr id="21" name="R1_la2"/>
          <p:cNvSpPr txBox="1"/>
          <p:nvPr/>
        </p:nvSpPr>
        <p:spPr>
          <a:xfrm>
            <a:off x="6706210" y="3008376"/>
            <a:ext cx="21177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were you ↘</a:t>
            </a:r>
            <a:endParaRPr lang="en-US" sz="1250" dirty="0"/>
          </a:p>
        </p:txBody>
      </p:sp>
      <p:sp>
        <p:nvSpPr>
          <p:cNvPr id="22" name="box_175"/>
          <p:cNvSpPr txBox="1"/>
          <p:nvPr/>
        </p:nvSpPr>
        <p:spPr>
          <a:xfrm>
            <a:off x="2788920" y="3419856"/>
            <a:ext cx="3862426" cy="3657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But you don't have any witnesses, ___?</a:t>
            </a:r>
            <a:endParaRPr lang="en-US" sz="1250" dirty="0"/>
          </a:p>
        </p:txBody>
      </p:sp>
      <p:sp>
        <p:nvSpPr>
          <p:cNvPr id="23" name="R1_la3"/>
          <p:cNvSpPr txBox="1"/>
          <p:nvPr/>
        </p:nvSpPr>
        <p:spPr>
          <a:xfrm>
            <a:off x="6706210" y="3447288"/>
            <a:ext cx="21177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do you ↘</a:t>
            </a:r>
            <a:endParaRPr lang="en-US" sz="1250" dirty="0"/>
          </a:p>
        </p:txBody>
      </p:sp>
      <p:sp>
        <p:nvSpPr>
          <p:cNvPr id="24" name="box_176"/>
          <p:cNvSpPr txBox="1"/>
          <p:nvPr/>
        </p:nvSpPr>
        <p:spPr>
          <a:xfrm>
            <a:off x="2788920" y="3858768"/>
            <a:ext cx="3862426" cy="3657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Your wife wasn't with you, ___?</a:t>
            </a:r>
            <a:endParaRPr lang="en-US" sz="1250" dirty="0"/>
          </a:p>
        </p:txBody>
      </p:sp>
      <p:sp>
        <p:nvSpPr>
          <p:cNvPr id="25" name="R1_la4"/>
          <p:cNvSpPr txBox="1"/>
          <p:nvPr/>
        </p:nvSpPr>
        <p:spPr>
          <a:xfrm>
            <a:off x="6706210" y="3886200"/>
            <a:ext cx="21177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was she ↘</a:t>
            </a:r>
            <a:endParaRPr lang="en-US" sz="1250" dirty="0"/>
          </a:p>
        </p:txBody>
      </p:sp>
      <p:sp>
        <p:nvSpPr>
          <p:cNvPr id="26" name="box_177"/>
          <p:cNvSpPr txBox="1"/>
          <p:nvPr/>
        </p:nvSpPr>
        <p:spPr>
          <a:xfrm>
            <a:off x="2788920" y="4297680"/>
            <a:ext cx="3862426" cy="3657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How does the inspector KNOW?</a:t>
            </a:r>
            <a:endParaRPr lang="en-US" sz="1250" dirty="0"/>
          </a:p>
        </p:txBody>
      </p:sp>
      <p:sp>
        <p:nvSpPr>
          <p:cNvPr id="27" name="R1_la5"/>
          <p:cNvSpPr txBox="1"/>
          <p:nvPr/>
        </p:nvSpPr>
        <p:spPr>
          <a:xfrm>
            <a:off x="6706210" y="4325112"/>
            <a:ext cx="21177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she was with him – arrested!</a:t>
            </a:r>
            <a:endParaRPr lang="en-US" sz="1200" dirty="0"/>
          </a:p>
        </p:txBody>
      </p:sp>
      <p:sp>
        <p:nvSpPr>
          <p:cNvPr id="28" name="pageTag_17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p.101 · 4a, 4b · audio 10.12, 10.13</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400"/>
                                        <p:tgtEl>
                                          <p:spTgt spid="23"/>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par>
                                <p:cTn id="20" presetID="10"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79"/>
          <p:cNvSpPr/>
          <p:nvPr/>
        </p:nvSpPr>
        <p:spPr>
          <a:xfrm>
            <a:off x="54864" y="54864"/>
            <a:ext cx="9034272" cy="5033772"/>
          </a:xfrm>
          <a:prstGeom prst="rect">
            <a:avLst/>
          </a:prstGeom>
          <a:ln w="114300">
            <a:solidFill>
              <a:srgbClr val="A8E6B4"/>
            </a:solidFill>
            <a:prstDash val="solid"/>
          </a:ln>
        </p:spPr>
      </p:sp>
      <p:pic>
        <p:nvPicPr>
          <p:cNvPr id="4" name="logo_18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8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Communication p.110 / p.114</a:t>
            </a:r>
            <a:endParaRPr lang="en-US" sz="900" dirty="0"/>
          </a:p>
        </p:txBody>
      </p:sp>
      <p:sp>
        <p:nvSpPr>
          <p:cNvPr id="6" name="timer_18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18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10B · Part 1</a:t>
            </a:r>
            <a:endParaRPr lang="en-US" sz="1000" dirty="0"/>
          </a:p>
        </p:txBody>
      </p:sp>
      <p:sp>
        <p:nvSpPr>
          <p:cNvPr id="8" name="title_184"/>
          <p:cNvSpPr txBox="1"/>
          <p:nvPr/>
        </p:nvSpPr>
        <p:spPr>
          <a:xfrm rot="-120000">
            <a:off x="320040" y="676656"/>
            <a:ext cx="276148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Just checking</a:t>
            </a:r>
            <a:endParaRPr lang="en-US" sz="1500" dirty="0"/>
          </a:p>
        </p:txBody>
      </p:sp>
      <p:sp>
        <p:nvSpPr>
          <p:cNvPr id="9" name="post_18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86"/>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18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50" dirty="0">
                <a:solidFill>
                  <a:srgbClr val="111111"/>
                </a:solidFill>
                <a:latin typeface="Calibri" pitchFamily="34" charset="0"/>
                <a:ea typeface="Calibri" pitchFamily="34" charset="-122"/>
                <a:cs typeface="Calibri" pitchFamily="34" charset="-120"/>
              </a:rPr>
              <a:t>A = p.110, B = p.114. Interview, remember, then CHECK with tags!</a:t>
            </a:r>
            <a:endParaRPr lang="en-US" sz="1050" dirty="0"/>
          </a:p>
          <a:p>
            <a:pPr indent="0" marL="0">
              <a:buNone/>
            </a:pPr>
            <a:r>
              <a:rPr lang="en-US" sz="950" i="1" dirty="0">
                <a:solidFill>
                  <a:srgbClr val="334155"/>
                </a:solidFill>
                <a:latin typeface="Calibri" pitchFamily="34" charset="0"/>
                <a:ea typeface="Calibri" pitchFamily="34" charset="-122"/>
                <a:cs typeface="Calibri" pitchFamily="34" charset="-120"/>
              </a:rPr>
              <a:t>A = p.110, B = p.114. Intervista, ricorda, poi CONTROLLA con le tag!</a:t>
            </a:r>
            <a:endParaRPr lang="en-US" sz="1050" dirty="0"/>
          </a:p>
        </p:txBody>
      </p:sp>
      <p:sp>
        <p:nvSpPr>
          <p:cNvPr id="12" name="iconBack_18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89" descr="pi:PiDetective">    </p:cNvPr>
          <p:cNvPicPr>
            <a:picLocks noChangeAspect="1"/>
          </p:cNvPicPr>
          <p:nvPr/>
        </p:nvPicPr>
        <p:blipFill>
          <a:blip r:embed="rId3"/>
          <a:stretch>
            <a:fillRect/>
          </a:stretch>
        </p:blipFill>
        <p:spPr>
          <a:xfrm>
            <a:off x="914400" y="3474720"/>
            <a:ext cx="685800" cy="685800"/>
          </a:xfrm>
          <a:prstGeom prst="rect">
            <a:avLst/>
          </a:prstGeom>
        </p:spPr>
      </p:pic>
      <p:sp>
        <p:nvSpPr>
          <p:cNvPr id="14" name="num_190"/>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191"/>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Sit face to face. A = police inspector (p.110). B = suspect (p.114).</a:t>
            </a:r>
            <a:endParaRPr lang="en-US" sz="1250" dirty="0"/>
          </a:p>
        </p:txBody>
      </p:sp>
      <p:sp>
        <p:nvSpPr>
          <p:cNvPr id="16" name="num_192"/>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193"/>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A asks B the questions and tries to REMEMBER the answers – no writing!</a:t>
            </a:r>
            <a:endParaRPr lang="en-US" sz="1250" dirty="0"/>
          </a:p>
        </p:txBody>
      </p:sp>
      <p:sp>
        <p:nvSpPr>
          <p:cNvPr id="18" name="num_194"/>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195"/>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Then A checks with question tags: You live in…, don't you? You didn't…, did you?</a:t>
            </a:r>
            <a:endParaRPr lang="en-US" sz="1100" dirty="0"/>
          </a:p>
        </p:txBody>
      </p:sp>
      <p:sp>
        <p:nvSpPr>
          <p:cNvPr id="20" name="num_196"/>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197"/>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B answers: Yes, that's right. / No, actually I…</a:t>
            </a:r>
            <a:endParaRPr lang="en-US" sz="1250" dirty="0"/>
          </a:p>
        </p:txBody>
      </p:sp>
      <p:sp>
        <p:nvSpPr>
          <p:cNvPr id="22" name="num_198"/>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3" name="box_199"/>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Swap roles. Which inspector had the best memory?</a:t>
            </a:r>
            <a:endParaRPr lang="en-US" sz="1250" dirty="0"/>
          </a:p>
        </p:txBody>
      </p:sp>
      <p:sp>
        <p:nvSpPr>
          <p:cNvPr id="24" name="bubble_200"/>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You were born in Palermo, weren't you? – Yes, that's right.</a:t>
            </a:r>
            <a:endParaRPr lang="en-US" sz="1300" dirty="0"/>
          </a:p>
        </p:txBody>
      </p:sp>
      <p:sp>
        <p:nvSpPr>
          <p:cNvPr id="25" name="pageTag_201"/>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Communication 'Just checking' A p.110, B p.114</a:t>
            </a:r>
            <a:endParaRPr lang="en-US" sz="105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02"/>
          <p:cNvSpPr/>
          <p:nvPr/>
        </p:nvSpPr>
        <p:spPr>
          <a:xfrm>
            <a:off x="54864" y="54864"/>
            <a:ext cx="9034272" cy="5033772"/>
          </a:xfrm>
          <a:prstGeom prst="rect">
            <a:avLst/>
          </a:prstGeom>
          <a:ln w="114300">
            <a:solidFill>
              <a:srgbClr val="A8E6B4"/>
            </a:solidFill>
            <a:prstDash val="solid"/>
          </a:ln>
        </p:spPr>
      </p:sp>
      <p:pic>
        <p:nvPicPr>
          <p:cNvPr id="4" name="logo_20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20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10B · Part 1</a:t>
            </a:r>
            <a:endParaRPr lang="en-US" sz="1000" dirty="0"/>
          </a:p>
        </p:txBody>
      </p:sp>
      <p:sp>
        <p:nvSpPr>
          <p:cNvPr id="6" name="title_205"/>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sub_206"/>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8" name="box_207"/>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b="1" dirty="0">
                <a:solidFill>
                  <a:srgbClr val="111111"/>
                </a:solidFill>
                <a:latin typeface="Calibri" pitchFamily="34" charset="0"/>
                <a:ea typeface="Calibri" pitchFamily="34" charset="-122"/>
                <a:cs typeface="Calibri" pitchFamily="34" charset="-120"/>
              </a:rPr>
              <a:t>✓  I can use crime words: witness, suspect, evidence…</a:t>
            </a:r>
            <a:endParaRPr lang="en-US" sz="1300" dirty="0"/>
          </a:p>
        </p:txBody>
      </p:sp>
      <p:sp>
        <p:nvSpPr>
          <p:cNvPr id="9" name="faces_208"/>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0" name="box_209"/>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understand a detective talking about theories.</a:t>
            </a:r>
            <a:endParaRPr lang="en-US" sz="1350" dirty="0"/>
          </a:p>
        </p:txBody>
      </p:sp>
      <p:sp>
        <p:nvSpPr>
          <p:cNvPr id="11" name="faces_210"/>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211"/>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check information with question tags ↘.</a:t>
            </a:r>
            <a:endParaRPr lang="en-US" sz="1350" dirty="0"/>
          </a:p>
        </p:txBody>
      </p:sp>
      <p:sp>
        <p:nvSpPr>
          <p:cNvPr id="13" name="faces_212"/>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hw_213"/>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10B: 1a, 1b, 2a</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Grammar Bank 10B: a 6–10, b 6–10</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10B-1</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5" name="stamp_214"/>
          <p:cNvSpPr txBox="1"/>
          <p:nvPr/>
        </p:nvSpPr>
        <p:spPr>
          <a:xfrm>
            <a:off x="365760" y="3657600"/>
            <a:ext cx="539496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10B part 2 · May and June · a short story</a:t>
            </a:r>
            <a:endParaRPr lang="en-US" sz="12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15"/>
          <p:cNvSpPr/>
          <p:nvPr/>
        </p:nvSpPr>
        <p:spPr>
          <a:xfrm>
            <a:off x="54864" y="54864"/>
            <a:ext cx="9034272" cy="5033772"/>
          </a:xfrm>
          <a:prstGeom prst="rect">
            <a:avLst/>
          </a:prstGeom>
          <a:ln w="114300">
            <a:solidFill>
              <a:srgbClr val="A8E6B4"/>
            </a:solidFill>
            <a:prstDash val="solid"/>
          </a:ln>
        </p:spPr>
      </p:sp>
      <p:pic>
        <p:nvPicPr>
          <p:cNvPr id="4" name="logo_21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1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Grammar photocopiable 10B</a:t>
            </a:r>
            <a:endParaRPr lang="en-US" sz="900" dirty="0"/>
          </a:p>
        </p:txBody>
      </p:sp>
      <p:sp>
        <p:nvSpPr>
          <p:cNvPr id="6" name="timer_21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extra_219"/>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2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10B · Part 1</a:t>
            </a:r>
            <a:endParaRPr lang="en-US" sz="1000" dirty="0"/>
          </a:p>
        </p:txBody>
      </p:sp>
      <p:sp>
        <p:nvSpPr>
          <p:cNvPr id="9" name="title_221"/>
          <p:cNvSpPr txBox="1"/>
          <p:nvPr/>
        </p:nvSpPr>
        <p:spPr>
          <a:xfrm rot="-120000">
            <a:off x="320040" y="676656"/>
            <a:ext cx="502005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Complete the conversations</a:t>
            </a:r>
            <a:endParaRPr lang="en-US" sz="1500" dirty="0"/>
          </a:p>
        </p:txBody>
      </p:sp>
      <p:sp>
        <p:nvSpPr>
          <p:cNvPr id="10" name="post_222"/>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23"/>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2" name="signB_22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Handout: complete the five conversations with question tags.</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Scheda: completa le cinque conversazioni con le question tag.</a:t>
            </a:r>
            <a:endParaRPr lang="en-US" sz="1200" dirty="0"/>
          </a:p>
        </p:txBody>
      </p:sp>
      <p:sp>
        <p:nvSpPr>
          <p:cNvPr id="13" name="iconBack_225"/>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226" descr="pi:PiPencilSimple">    </p:cNvPr>
          <p:cNvPicPr>
            <a:picLocks noChangeAspect="1"/>
          </p:cNvPicPr>
          <p:nvPr/>
        </p:nvPicPr>
        <p:blipFill>
          <a:blip r:embed="rId3"/>
          <a:stretch>
            <a:fillRect/>
          </a:stretch>
        </p:blipFill>
        <p:spPr>
          <a:xfrm>
            <a:off x="914400" y="3474720"/>
            <a:ext cx="685800" cy="685800"/>
          </a:xfrm>
          <a:prstGeom prst="rect">
            <a:avLst/>
          </a:prstGeom>
        </p:spPr>
      </p:pic>
      <p:sp>
        <p:nvSpPr>
          <p:cNvPr id="15" name="box_227"/>
          <p:cNvSpPr txBox="1"/>
          <p:nvPr/>
        </p:nvSpPr>
        <p:spPr>
          <a:xfrm>
            <a:off x="2788920" y="1371600"/>
            <a:ext cx="4224528"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1  You really don't remember me, ___? · We were at school together, ___?</a:t>
            </a:r>
            <a:endParaRPr lang="en-US" sz="1050" dirty="0"/>
          </a:p>
        </p:txBody>
      </p:sp>
      <p:sp>
        <p:nvSpPr>
          <p:cNvPr id="16" name="R1_a0"/>
          <p:cNvSpPr txBox="1"/>
          <p:nvPr/>
        </p:nvSpPr>
        <p:spPr>
          <a:xfrm>
            <a:off x="7068312" y="1408176"/>
            <a:ext cx="1755648"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2 do you · 3 weren't we</a:t>
            </a:r>
            <a:endParaRPr lang="en-US" sz="1150" dirty="0"/>
          </a:p>
        </p:txBody>
      </p:sp>
      <p:sp>
        <p:nvSpPr>
          <p:cNvPr id="17" name="box_228"/>
          <p:cNvSpPr txBox="1"/>
          <p:nvPr/>
        </p:nvSpPr>
        <p:spPr>
          <a:xfrm>
            <a:off x="2788920" y="2055571"/>
            <a:ext cx="4224528"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2  It wasn't your ex-boyfriend, ___? · He isn't still calling you, ___? · Ex-boyfriends don't just ring for a chat, ___?</a:t>
            </a:r>
            <a:endParaRPr lang="en-US" sz="1050" dirty="0"/>
          </a:p>
        </p:txBody>
      </p:sp>
      <p:sp>
        <p:nvSpPr>
          <p:cNvPr id="18" name="R2_a1"/>
          <p:cNvSpPr txBox="1"/>
          <p:nvPr/>
        </p:nvSpPr>
        <p:spPr>
          <a:xfrm>
            <a:off x="7068312" y="2092147"/>
            <a:ext cx="1755648"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4 was it · 5 is he · 6 do they</a:t>
            </a:r>
            <a:endParaRPr lang="en-US" sz="1150" dirty="0"/>
          </a:p>
        </p:txBody>
      </p:sp>
      <p:sp>
        <p:nvSpPr>
          <p:cNvPr id="19" name="box_229"/>
          <p:cNvSpPr txBox="1"/>
          <p:nvPr/>
        </p:nvSpPr>
        <p:spPr>
          <a:xfrm>
            <a:off x="2788920" y="2739542"/>
            <a:ext cx="4224528"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3  You haven't forgotten about your doctor's appointment, ___? · Tomorrow's Tuesday, ___? · You'll ring me tomorrow, ___?</a:t>
            </a:r>
            <a:endParaRPr lang="en-US" sz="1050" dirty="0"/>
          </a:p>
        </p:txBody>
      </p:sp>
      <p:sp>
        <p:nvSpPr>
          <p:cNvPr id="20" name="R3_a2"/>
          <p:cNvSpPr txBox="1"/>
          <p:nvPr/>
        </p:nvSpPr>
        <p:spPr>
          <a:xfrm>
            <a:off x="7068312" y="2776118"/>
            <a:ext cx="1755648"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7 have you · 8 isn't it · 9 won't you</a:t>
            </a:r>
            <a:endParaRPr lang="en-US" sz="1150" dirty="0"/>
          </a:p>
        </p:txBody>
      </p:sp>
      <p:sp>
        <p:nvSpPr>
          <p:cNvPr id="21" name="box_230"/>
          <p:cNvSpPr txBox="1"/>
          <p:nvPr/>
        </p:nvSpPr>
        <p:spPr>
          <a:xfrm>
            <a:off x="2788920" y="3423514"/>
            <a:ext cx="4224528"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4  Mrs Jones is really strict, ___? · She never lets anyone talk in class, ___? · We got loads yesterday, ___?</a:t>
            </a:r>
            <a:endParaRPr lang="en-US" sz="1050" dirty="0"/>
          </a:p>
        </p:txBody>
      </p:sp>
      <p:sp>
        <p:nvSpPr>
          <p:cNvPr id="22" name="R4_a3"/>
          <p:cNvSpPr txBox="1"/>
          <p:nvPr/>
        </p:nvSpPr>
        <p:spPr>
          <a:xfrm>
            <a:off x="7068312" y="3460090"/>
            <a:ext cx="1755648"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10 isn't she · 11 does she · 12 didn't we</a:t>
            </a:r>
            <a:endParaRPr lang="en-US" sz="1150" dirty="0"/>
          </a:p>
        </p:txBody>
      </p:sp>
      <p:sp>
        <p:nvSpPr>
          <p:cNvPr id="23" name="box_231"/>
          <p:cNvSpPr txBox="1"/>
          <p:nvPr/>
        </p:nvSpPr>
        <p:spPr>
          <a:xfrm>
            <a:off x="2788920" y="4107485"/>
            <a:ext cx="4224528"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5  You aren't having problems at school, ___? · You haven't had an argument, ___? · You'd tell me if there was a problem, ___?</a:t>
            </a:r>
            <a:endParaRPr lang="en-US" sz="1050" dirty="0"/>
          </a:p>
        </p:txBody>
      </p:sp>
      <p:sp>
        <p:nvSpPr>
          <p:cNvPr id="24" name="R5_a4"/>
          <p:cNvSpPr txBox="1"/>
          <p:nvPr/>
        </p:nvSpPr>
        <p:spPr>
          <a:xfrm>
            <a:off x="7068312" y="4144061"/>
            <a:ext cx="1755648"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13 are you · 14 have you · 15 wouldn't you</a:t>
            </a:r>
            <a:endParaRPr lang="en-US" sz="1150" dirty="0"/>
          </a:p>
        </p:txBody>
      </p:sp>
      <p:sp>
        <p:nvSpPr>
          <p:cNvPr id="25" name="pageTag_23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 Print: B1_10B_Photocopiables.pdf, page 1 · Teacher: Grammar photocopiable 10B p.168</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33"/>
          <p:cNvSpPr/>
          <p:nvPr/>
        </p:nvSpPr>
        <p:spPr>
          <a:xfrm>
            <a:off x="54864" y="54864"/>
            <a:ext cx="9034272" cy="5033772"/>
          </a:xfrm>
          <a:prstGeom prst="rect">
            <a:avLst/>
          </a:prstGeom>
          <a:ln w="114300">
            <a:solidFill>
              <a:srgbClr val="A8E6B4"/>
            </a:solidFill>
            <a:prstDash val="solid"/>
          </a:ln>
        </p:spPr>
      </p:sp>
      <p:pic>
        <p:nvPicPr>
          <p:cNvPr id="4" name="logo_23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3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Game · Alibi</a:t>
            </a:r>
            <a:endParaRPr lang="en-US" sz="900" dirty="0"/>
          </a:p>
        </p:txBody>
      </p:sp>
      <p:sp>
        <p:nvSpPr>
          <p:cNvPr id="6" name="timer_23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10 min</a:t>
            </a:r>
            <a:endParaRPr lang="en-US" sz="1200" dirty="0"/>
          </a:p>
        </p:txBody>
      </p:sp>
      <p:sp>
        <p:nvSpPr>
          <p:cNvPr id="7" name="extra_237"/>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3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10B · Part 1</a:t>
            </a:r>
            <a:endParaRPr lang="en-US" sz="1000" dirty="0"/>
          </a:p>
        </p:txBody>
      </p:sp>
      <p:sp>
        <p:nvSpPr>
          <p:cNvPr id="9" name="title_239"/>
          <p:cNvSpPr txBox="1"/>
          <p:nvPr/>
        </p:nvSpPr>
        <p:spPr>
          <a:xfrm rot="-120000">
            <a:off x="320040" y="676656"/>
            <a:ext cx="154533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Alibi!</a:t>
            </a:r>
            <a:endParaRPr lang="en-US" sz="1500" dirty="0"/>
          </a:p>
        </p:txBody>
      </p:sp>
      <p:sp>
        <p:nvSpPr>
          <p:cNvPr id="10" name="post_240"/>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41"/>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2" name="signB_24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Two suspects. One story. Can the detectives find a difference?</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Due sospettati. Una storia. I detective trovano una differenza?</a:t>
            </a:r>
            <a:endParaRPr lang="en-US" sz="1200" dirty="0"/>
          </a:p>
        </p:txBody>
      </p:sp>
      <p:sp>
        <p:nvSpPr>
          <p:cNvPr id="13" name="iconBack_243"/>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244" descr="pi:PiPoliceCar">    </p:cNvPr>
          <p:cNvPicPr>
            <a:picLocks noChangeAspect="1"/>
          </p:cNvPicPr>
          <p:nvPr/>
        </p:nvPicPr>
        <p:blipFill>
          <a:blip r:embed="rId3"/>
          <a:stretch>
            <a:fillRect/>
          </a:stretch>
        </p:blipFill>
        <p:spPr>
          <a:xfrm>
            <a:off x="914400" y="3474720"/>
            <a:ext cx="685800" cy="685800"/>
          </a:xfrm>
          <a:prstGeom prst="rect">
            <a:avLst/>
          </a:prstGeom>
        </p:spPr>
      </p:pic>
      <p:sp>
        <p:nvSpPr>
          <p:cNvPr id="15" name="num_245"/>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6" name="box_246"/>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Story: last night someone took the teacher's chocolate cake from the staff room!</a:t>
            </a:r>
            <a:endParaRPr lang="en-US" sz="1100" dirty="0"/>
          </a:p>
        </p:txBody>
      </p:sp>
      <p:sp>
        <p:nvSpPr>
          <p:cNvPr id="17" name="num_247"/>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8" name="box_248"/>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Two 'suspects' go outside for 3 minutes and agree their alibi: where were they from 7 to 10 p.m.?</a:t>
            </a:r>
            <a:endParaRPr lang="en-US" sz="950" dirty="0"/>
          </a:p>
        </p:txBody>
      </p:sp>
      <p:sp>
        <p:nvSpPr>
          <p:cNvPr id="19" name="num_249"/>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0" name="box_250"/>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The class = detectives: prepare questions (Where did you eat? What did you wear?).</a:t>
            </a:r>
            <a:endParaRPr lang="en-US" sz="1100" dirty="0"/>
          </a:p>
        </p:txBody>
      </p:sp>
      <p:sp>
        <p:nvSpPr>
          <p:cNvPr id="21" name="num_251"/>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2" name="box_252"/>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Suspect 1 comes in alone and answers. Then suspect 2.</a:t>
            </a:r>
            <a:endParaRPr lang="en-US" sz="1300" dirty="0"/>
          </a:p>
        </p:txBody>
      </p:sp>
      <p:sp>
        <p:nvSpPr>
          <p:cNvPr id="23" name="num_253"/>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4" name="box_254"/>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Detectives check with tags: You had pizza, didn't you? Any difference = guilty!</a:t>
            </a:r>
            <a:endParaRPr lang="en-US" sz="1150" dirty="0"/>
          </a:p>
        </p:txBody>
      </p:sp>
      <p:sp>
        <p:nvSpPr>
          <p:cNvPr id="25" name="bubble_255"/>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You went to the cinema, didn't you? – Yes. – But your friend said you went bowling!</a:t>
            </a:r>
            <a:endParaRPr lang="en-US" sz="1100" dirty="0"/>
          </a:p>
        </p:txBody>
      </p:sp>
    </p:spTree>
  </p:cSld>
  <p:clrMapOvr>
    <a:masterClrMapping/>
  </p:clrMapOvr>
  <p:transition spd="med">
    <p:push dir="l"/>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56"/>
          <p:cNvSpPr/>
          <p:nvPr/>
        </p:nvSpPr>
        <p:spPr>
          <a:xfrm>
            <a:off x="54864" y="54864"/>
            <a:ext cx="9034272" cy="5033772"/>
          </a:xfrm>
          <a:prstGeom prst="rect">
            <a:avLst/>
          </a:prstGeom>
          <a:ln w="114300">
            <a:solidFill>
              <a:srgbClr val="A8E6B4"/>
            </a:solidFill>
            <a:prstDash val="solid"/>
          </a:ln>
        </p:spPr>
      </p:sp>
      <p:pic>
        <p:nvPicPr>
          <p:cNvPr id="4" name="logo_25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5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About you</a:t>
            </a:r>
            <a:endParaRPr lang="en-US" sz="900" dirty="0"/>
          </a:p>
        </p:txBody>
      </p:sp>
      <p:sp>
        <p:nvSpPr>
          <p:cNvPr id="6" name="timer_25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260"/>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6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10B · Part 1</a:t>
            </a:r>
            <a:endParaRPr lang="en-US" sz="1000" dirty="0"/>
          </a:p>
        </p:txBody>
      </p:sp>
      <p:sp>
        <p:nvSpPr>
          <p:cNvPr id="9" name="title_262"/>
          <p:cNvSpPr txBox="1"/>
          <p:nvPr/>
        </p:nvSpPr>
        <p:spPr>
          <a:xfrm rot="-120000">
            <a:off x="320040" y="676656"/>
            <a:ext cx="380390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I think I know you…</a:t>
            </a:r>
            <a:endParaRPr lang="en-US" sz="1500" dirty="0"/>
          </a:p>
        </p:txBody>
      </p:sp>
      <p:sp>
        <p:nvSpPr>
          <p:cNvPr id="10" name="post_263"/>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64"/>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2" name="signB_26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Complete for your partner. Then CHECK with a tag!</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Completa per il tuo compagno. Poi CONTROLLA con una tag!</a:t>
            </a:r>
            <a:endParaRPr lang="en-US" sz="1250" dirty="0"/>
          </a:p>
        </p:txBody>
      </p:sp>
      <p:sp>
        <p:nvSpPr>
          <p:cNvPr id="13" name="iconBack_266"/>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267" descr="pi:PiUsers">    </p:cNvPr>
          <p:cNvPicPr>
            <a:picLocks noChangeAspect="1"/>
          </p:cNvPicPr>
          <p:nvPr/>
        </p:nvPicPr>
        <p:blipFill>
          <a:blip r:embed="rId3"/>
          <a:stretch>
            <a:fillRect/>
          </a:stretch>
        </p:blipFill>
        <p:spPr>
          <a:xfrm>
            <a:off x="914400" y="3474720"/>
            <a:ext cx="685800" cy="685800"/>
          </a:xfrm>
          <a:prstGeom prst="rect">
            <a:avLst/>
          </a:prstGeom>
        </p:spPr>
      </p:pic>
      <p:sp>
        <p:nvSpPr>
          <p:cNvPr id="15" name="box_268"/>
          <p:cNvSpPr txBox="1"/>
          <p:nvPr/>
        </p:nvSpPr>
        <p:spPr>
          <a:xfrm>
            <a:off x="2788920" y="1371600"/>
            <a:ext cx="6035040"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You have ___ brothers and sisters, ___?</a:t>
            </a:r>
            <a:endParaRPr lang="en-US" sz="1300" dirty="0"/>
          </a:p>
        </p:txBody>
      </p:sp>
      <p:sp>
        <p:nvSpPr>
          <p:cNvPr id="16" name="box_269"/>
          <p:cNvSpPr txBox="1"/>
          <p:nvPr/>
        </p:nvSpPr>
        <p:spPr>
          <a:xfrm>
            <a:off x="2788920" y="1941576"/>
            <a:ext cx="6035040"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You're from ___, ___?</a:t>
            </a:r>
            <a:endParaRPr lang="en-US" sz="1300" dirty="0"/>
          </a:p>
        </p:txBody>
      </p:sp>
      <p:sp>
        <p:nvSpPr>
          <p:cNvPr id="17" name="box_270"/>
          <p:cNvSpPr txBox="1"/>
          <p:nvPr/>
        </p:nvSpPr>
        <p:spPr>
          <a:xfrm>
            <a:off x="2788920" y="2511552"/>
            <a:ext cx="6035040"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You don't like ___, ___?</a:t>
            </a:r>
            <a:endParaRPr lang="en-US" sz="1300" dirty="0"/>
          </a:p>
        </p:txBody>
      </p:sp>
      <p:sp>
        <p:nvSpPr>
          <p:cNvPr id="18" name="box_271"/>
          <p:cNvSpPr txBox="1"/>
          <p:nvPr/>
        </p:nvSpPr>
        <p:spPr>
          <a:xfrm>
            <a:off x="2788920" y="3081528"/>
            <a:ext cx="6035040"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You'd like to go to ___, ___?</a:t>
            </a:r>
            <a:endParaRPr lang="en-US" sz="1300" dirty="0"/>
          </a:p>
        </p:txBody>
      </p:sp>
      <p:sp>
        <p:nvSpPr>
          <p:cNvPr id="19" name="box_272"/>
          <p:cNvSpPr txBox="1"/>
          <p:nvPr/>
        </p:nvSpPr>
        <p:spPr>
          <a:xfrm>
            <a:off x="2788920" y="3651504"/>
            <a:ext cx="6035040"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You can't ___, ___?</a:t>
            </a:r>
            <a:endParaRPr lang="en-US" sz="1300" dirty="0"/>
          </a:p>
        </p:txBody>
      </p:sp>
      <p:sp>
        <p:nvSpPr>
          <p:cNvPr id="20" name="box_273"/>
          <p:cNvSpPr txBox="1"/>
          <p:nvPr/>
        </p:nvSpPr>
        <p:spPr>
          <a:xfrm>
            <a:off x="2788920" y="4221480"/>
            <a:ext cx="6035040"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6  You went to ___ last weekend, ___?</a:t>
            </a:r>
            <a:endParaRPr lang="en-US" sz="130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10B-1 And the murderer is…</dc:title>
  <dc:subject>PptxGenJS Presentation</dc:subject>
  <dc:creator>London Language School</dc:creator>
  <cp:lastModifiedBy>London Language School</cp:lastModifiedBy>
  <cp:revision>1</cp:revision>
  <dcterms:created xsi:type="dcterms:W3CDTF">2026-10-05T09:39:24Z</dcterms:created>
  <dcterms:modified xsi:type="dcterms:W3CDTF">2026-10-05T09:39:24Z</dcterms:modified>
</cp:coreProperties>
</file>