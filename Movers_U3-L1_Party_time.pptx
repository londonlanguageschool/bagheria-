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(2 min). Self-assessment (TB30): 'What's happening?' (A party.) Point to the unit title: 'Yes, it's party time! Look, everyone's wearing costumes.' Check 'costume' (vestito in maschera). 'Do you like wearing costumes?' Don't teach the job words yet – they come in the flashcards.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UNIT 2 (3 min). SEE: 8 Unit 2 pictures, NO words. TEACHER: 'Team A – ready, steady, GO!' and time 20 seconds on your phone. STUDENTS: the team says the phrases one by one, pointing (any team member can speak, but each child must say at least one). GROUPING: 2 teams. SCORE: 1 point per correct phrase in 20 s; then Team B tries to beat it. LANGUAGE: go skating, listen to music, read a comic, watch a film, write an email, go shopping, have breakfast, get dressed. REVEAL: the teacher confirms each phrase aloud; disputed ones = class decides. Bonus: 'How often do you go skating?' to the winner.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(5 min). PB p.30 ex.1: play the unit video. 'What are you wearing at the costume party? Draw yourself in the box.' 2 minutes of quick drawing (book or paper). Children can say their costume in Italian if they don't know the word yet – recast in English ('Ah, you're a pirate!'). MISSION (TB30): 'This is our Mission: Plan and act out a scene.' Go through the 4 stages quickly (click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Big red nose! Make a funny face! 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Stir the pot! Mmm, yummy! 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Open your mouth! Say 'Aaah!' 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Listen to the heart: boom-boom! 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Drive the tractor! 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Sunglasses on! Smile! 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Put a plaster on your arm! 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One eye closed! Arrr! 🏴‍☠️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Hold the microphone and sing! 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Open the present! Wow! 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PRESENTATION (TB31): 'I'm a teacher. It's my job. Is Mr Friendly a teacher? (No, a cook.) Let's learn some more jobs.' PICTURE FIRST – students guess (Italian guesses are fine: you say the English). Click 1: word – repeat whisper → normal → monster voice. Click 2: Italian. Click 3: TPR – everyone does it. Always say the full chunk: 'He's a doctor. She's a nurse.' TPR: Dig, dig, dig… treasure! 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(4 min). SEE: the words, answers hidden. TEACHER: say each word, students clap the syllables – a BIG clap on the strong part, a small clap on the weak part. Ask 'Which part is big?' – students hold up 1 or 2 fingers (commit), THEN click to reveal. CATCH IT: say some words wrong on purpose ('doc-TOR', 'pi-RA-te', 'treasur-a') – students shout 'NO!' and say it right. Final consonants: no extra vowel ('dentist', not 'dentist-a'). ITALIAN TRAP (item 6): in Italian 'è dottore', in English we need 'a': 'He's a doctor', 'She's a nurse'. Teams: you say an Italian job sentence, first team with 'a' in the right place wins 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POINT (5 min). TB31: 'What's happening? (A birthday party.) Whose birthday is it?' – students answer, then click. Read the caption, teach 'surprise'. Play 1.35: students point. Play again: they colour (or say the colour on the screen version). Before each reveal: 'Show me with your pencil – which colour?' (commit). KEY (TB31): present – purple, treasure box – orange. Audio: Eva and Jenny are pop stars, Tom is a film star (Craig Daniels), Cameron a clown, Grandma a pirate, Jim a doctor, Mrs Friendly a nurse, Mr Friendly a cook, Grandpa a farmer.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CHANT (5 min). Play 1.36 (or the chant video). Check 'invite' (invitare). Round 1: listen and point to the pictures in the book. Round 2: say it with the audio, clapping. Round 3: give each child a job flashcard – they jump up and mime when they hear their job (and sit down fast!). Round 4 (if time): girls / boys alternate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ANSWER part 1 (3 min). Play 1.37 and pause after each question: pairs whisper the name to each other (commit), then one pair says it, then click to reveal. KEY (TB31): 1 Grandma 2 Tom 3 Eva and Jenny 4 Mrs Friendly.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ANSWER part 2. KEY (TB31): 5 Grandpa 6 Cameron 7 Jim 8 Mr Friendly. Challenge: answer with a full sentence and 'a' ('Jim's a doctor').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(10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WHAT'S MISSING (4 min, 2 rounds). Teams: 1 point for the right word, +1 for 'He's a pirate!' with 'a'. Round 2 = dentist and treasure.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(15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WHAT'S MISSING (4 min, 2 rounds). Teams: 1 point for the right word, +1 for 'He's a pirate!' with 'a'. Round 2 = dentist and treasure.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– PARTY MOVES (4 min). SEE: 6 pictures; actions appear on click. TEACHER: click and shout the job ('You're a CLOWN!'), model the action once. STUDENTS: stand, do the action and say the word. Round 2 'Simon says': only move if I say 'Simon says… be a pirate!'; wrong move → sit down. GROUPING: whole class. SCORE: last 3 standing = winners (no points needed). LANGUAGE: the 6 jobs (receptive) + 'I'm a clown!' when you point at a child. Keep it fast, 4 min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MIME IT! (7 min). SEE: the 8 jobs with words (support for weaker children). TEACHER: shows one child a real flashcard secretly (or whispers the job). STUDENTS: the child mimes for 20 seconds; ONLY their team may ask 'Are you a …?' – the mimer answers 'Yes, I am / No, I'm not.' GROUPING: 2 teams, alternating turns. SCORE: correct guess with the full question = 2 points; just the word = 1 point; if the team fails, the other team can steal for 1 point. LANGUAGE: Are you a …? Yes, I am. / No, I'm not. REVEAL: the mimer shows the card. Make sure quieter children get a turn as mimers (no speaking needed).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challenge: point at 3 children – each says one job with 'a' before leaving ('She's a nurse!'). Thumbs up / middle / down for each 'I can'. AB p.30 = My unit goals (look at it together). AB p.31 ex.2–3 (/ɑː/ sound, AB audio 4.15–4.16) – do them at the start of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– BOARD RACE (5 min). SEE: 8 pictures, no words (also stick real flashcards on the board). TEACHER: gives a CLUE, not the word: 'This person looks at your teeth' (dentist), 'You give it at a birthday party' (present), 'This person sings' (pop star), 'A pirate loves it' (treasure), 'This person makes food' (cook), 'This person has got a tractor' (farmer), 'This person works with a doctor' (nurse), 'Big red nose!' (clown). STUDENTS: one runner per team touches the card. GROUPING: 2 teams, new runners each round. SCORE: touch first = 1 point, +1 if they say the sentence with 'a'. LANGUAGE: He's / She's a …. REVEAL: teacher says the answer and the class repeats.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3 · LESSON 1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 time!</a:t>
            </a:r>
            <a:endParaRPr lang="en-US" sz="32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jobs and party words 🎉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mestieri e parole della festa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2545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2545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WATCH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party video.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il video della festa.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11 party words.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Impara 11 parole della festa.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the jobs!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 i mestieri!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3-p31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907" y="1325880"/>
            <a:ext cx="3098547" cy="3154680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cl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pi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Surprise! It's a party!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Sorpresa! È una festa!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1239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p.30–31 · 🎬 video · 🎧 1.35–1.37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Beat the clock!</a:t>
            </a:r>
            <a:endParaRPr lang="en-US" sz="2700" dirty="0"/>
          </a:p>
        </p:txBody>
      </p:sp>
      <p:sp>
        <p:nvSpPr>
          <p:cNvPr id="5" name="in_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Unit 2! Say the words before the time is up!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Unità 2! Di' le parole prima che finisca il tempo!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20 SEC</a:t>
            </a:r>
            <a:endParaRPr lang="en-US" sz="1000" dirty="0"/>
          </a:p>
        </p:txBody>
      </p:sp>
      <p:sp>
        <p:nvSpPr>
          <p:cNvPr id="7" name="st_28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9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30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0" name="se_31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pictures.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le immagini.</a:t>
            </a:r>
            <a:endParaRPr lang="en-US" sz="1050" dirty="0"/>
          </a:p>
        </p:txBody>
      </p:sp>
      <p:sp>
        <p:nvSpPr>
          <p:cNvPr id="11" name="st_32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33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34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35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say all 8 in 20 seconds!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Squadra: dite tutte e 8 in 20 secondi!</a:t>
            </a:r>
            <a:endParaRPr lang="en-US" sz="1050" dirty="0"/>
          </a:p>
        </p:txBody>
      </p:sp>
      <p:sp>
        <p:nvSpPr>
          <p:cNvPr id="15" name="st_36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37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38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39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the other team's time!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Batti il tempo dell'altra squadra!</a:t>
            </a:r>
            <a:endParaRPr lang="en-US" sz="1050" dirty="0"/>
          </a:p>
        </p:txBody>
      </p:sp>
      <p:sp>
        <p:nvSpPr>
          <p:cNvPr id="19" name="cd_40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41" descr="/home/claude/movers/img/fc/go-ska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1" name="cd_42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43" descr="/home/claude/movers/img/fc/listen-to-mu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3" name="cd_44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45" descr="/home/claude/movers/img/fc/read-a-co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5" name="cd_46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47" descr="/home/claude/movers/img/fc/watch-a-fil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7" name="cd_48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49" descr="/home/claude/movers/img/fc/write-an-em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834640"/>
            <a:ext cx="1179576" cy="1179576"/>
          </a:xfrm>
          <a:prstGeom prst="rect">
            <a:avLst/>
          </a:prstGeom>
        </p:spPr>
      </p:pic>
      <p:sp>
        <p:nvSpPr>
          <p:cNvPr id="29" name="cd_50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0" name="ci_51" descr="/home/claude/movers/img/fc/go-shopp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834640"/>
            <a:ext cx="1179576" cy="1179576"/>
          </a:xfrm>
          <a:prstGeom prst="rect">
            <a:avLst/>
          </a:prstGeom>
        </p:spPr>
      </p:pic>
      <p:sp>
        <p:nvSpPr>
          <p:cNvPr id="31" name="cd_52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53" descr="/home/claude/movers/img/fc/have-breakfa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834640"/>
            <a:ext cx="1179576" cy="1179576"/>
          </a:xfrm>
          <a:prstGeom prst="rect">
            <a:avLst/>
          </a:prstGeom>
        </p:spPr>
      </p:pic>
      <p:sp>
        <p:nvSpPr>
          <p:cNvPr id="33" name="cd_54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55" descr="/home/claude/movers/img/fc/get-dress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2834640"/>
            <a:ext cx="1179576" cy="11795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</a:t>
            </a:r>
            <a:endParaRPr lang="en-US" sz="1600" dirty="0"/>
          </a:p>
        </p:txBody>
      </p:sp>
      <p:sp>
        <p:nvSpPr>
          <p:cNvPr id="4" name="bm_5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Costume party!</a:t>
            </a:r>
            <a:endParaRPr lang="en-US" sz="2700" dirty="0"/>
          </a:p>
        </p:txBody>
      </p:sp>
      <p:sp>
        <p:nvSpPr>
          <p:cNvPr id="5" name="in_5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 the video. Draw yourself at the party.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il video. Disegnati alla festa.</a:t>
            </a:r>
            <a:endParaRPr lang="en-US" sz="1400" dirty="0"/>
          </a:p>
        </p:txBody>
      </p:sp>
      <p:sp>
        <p:nvSpPr>
          <p:cNvPr id="6" name="mode_5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⏱ 5 MIN</a:t>
            </a:r>
            <a:endParaRPr lang="en-US" sz="1000" dirty="0"/>
          </a:p>
        </p:txBody>
      </p:sp>
      <p:sp>
        <p:nvSpPr>
          <p:cNvPr id="7" name="pf_6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61" descr="/home/claude/movers/img/crop/u3-p30-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67" y="1325880"/>
            <a:ext cx="3443025" cy="3246120"/>
          </a:xfrm>
          <a:prstGeom prst="rect">
            <a:avLst/>
          </a:prstGeom>
        </p:spPr>
      </p:pic>
      <p:sp>
        <p:nvSpPr>
          <p:cNvPr id="9" name="q_62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the children wearing?</a:t>
            </a:r>
            <a:endParaRPr lang="en-US" sz="1250" dirty="0"/>
          </a:p>
        </p:txBody>
      </p:sp>
      <p:sp>
        <p:nvSpPr>
          <p:cNvPr id="10" name="R1_a63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Costumes! (a pirate, a vampire, a monster…)</a:t>
            </a:r>
            <a:endParaRPr lang="en-US" sz="1250" dirty="0"/>
          </a:p>
        </p:txBody>
      </p:sp>
      <p:sp>
        <p:nvSpPr>
          <p:cNvPr id="11" name="q_64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Our Mission: Plan and act out a scene!</a:t>
            </a:r>
            <a:endParaRPr lang="en-US" sz="1250" dirty="0"/>
          </a:p>
        </p:txBody>
      </p:sp>
      <p:sp>
        <p:nvSpPr>
          <p:cNvPr id="12" name="R2_a65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job · 2 describe · 3 write · ⭐ act!</a:t>
            </a:r>
            <a:endParaRPr lang="en-US" sz="1250" dirty="0"/>
          </a:p>
        </p:txBody>
      </p:sp>
      <p:sp>
        <p:nvSpPr>
          <p:cNvPr id="13" name="bk_66"/>
          <p:cNvSpPr/>
          <p:nvPr/>
        </p:nvSpPr>
        <p:spPr>
          <a:xfrm>
            <a:off x="228600" y="4681728"/>
            <a:ext cx="326898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p.30 · 🎬 Unit 3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6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6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1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713" y="1234440"/>
            <a:ext cx="2012574" cy="2651760"/>
          </a:xfrm>
          <a:prstGeom prst="rect">
            <a:avLst/>
          </a:prstGeom>
        </p:spPr>
      </p:pic>
      <p:sp>
        <p:nvSpPr>
          <p:cNvPr id="8" name="R1_w7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clown</a:t>
            </a:r>
            <a:endParaRPr lang="en-US" sz="3600" dirty="0"/>
          </a:p>
        </p:txBody>
      </p:sp>
      <p:sp>
        <p:nvSpPr>
          <p:cNvPr id="9" name="R2_it7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pagliaccio</a:t>
            </a:r>
            <a:endParaRPr lang="en-US" sz="1600" dirty="0"/>
          </a:p>
        </p:txBody>
      </p:sp>
      <p:sp>
        <p:nvSpPr>
          <p:cNvPr id="10" name="R3_tpr7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Big red nose! Make a funny face! 🤡</a:t>
            </a:r>
            <a:endParaRPr lang="en-US" sz="1300" dirty="0"/>
          </a:p>
        </p:txBody>
      </p:sp>
      <p:sp>
        <p:nvSpPr>
          <p:cNvPr id="11" name="n_7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11</a:t>
            </a:r>
            <a:endParaRPr lang="en-US" sz="1200" dirty="0"/>
          </a:p>
        </p:txBody>
      </p:sp>
      <p:sp>
        <p:nvSpPr>
          <p:cNvPr id="12" name="bk_7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7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1" descr="/home/claude/movers/img/fc/c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509" y="1234440"/>
            <a:ext cx="2222982" cy="2651760"/>
          </a:xfrm>
          <a:prstGeom prst="rect">
            <a:avLst/>
          </a:prstGeom>
        </p:spPr>
      </p:pic>
      <p:sp>
        <p:nvSpPr>
          <p:cNvPr id="8" name="R1_w8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</a:t>
            </a:r>
            <a:endParaRPr lang="en-US" sz="3600" dirty="0"/>
          </a:p>
        </p:txBody>
      </p:sp>
      <p:sp>
        <p:nvSpPr>
          <p:cNvPr id="9" name="R2_it8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cuoco / cuoca</a:t>
            </a:r>
            <a:endParaRPr lang="en-US" sz="1600" dirty="0"/>
          </a:p>
        </p:txBody>
      </p:sp>
      <p:sp>
        <p:nvSpPr>
          <p:cNvPr id="10" name="R3_tpr8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Stir the pot! Mmm, yummy! 🍳</a:t>
            </a:r>
            <a:endParaRPr lang="en-US" sz="1300" dirty="0"/>
          </a:p>
        </p:txBody>
      </p:sp>
      <p:sp>
        <p:nvSpPr>
          <p:cNvPr id="11" name="n_8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11</a:t>
            </a:r>
            <a:endParaRPr lang="en-US" sz="1200" dirty="0"/>
          </a:p>
        </p:txBody>
      </p:sp>
      <p:sp>
        <p:nvSpPr>
          <p:cNvPr id="12" name="bk_8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8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1" descr="/home/claude/movers/img/fc/dent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780" y="1234440"/>
            <a:ext cx="1902440" cy="2651760"/>
          </a:xfrm>
          <a:prstGeom prst="rect">
            <a:avLst/>
          </a:prstGeom>
        </p:spPr>
      </p:pic>
      <p:sp>
        <p:nvSpPr>
          <p:cNvPr id="8" name="R1_w9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dentist</a:t>
            </a:r>
            <a:endParaRPr lang="en-US" sz="3600" dirty="0"/>
          </a:p>
        </p:txBody>
      </p:sp>
      <p:sp>
        <p:nvSpPr>
          <p:cNvPr id="9" name="R2_it9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dentista</a:t>
            </a:r>
            <a:endParaRPr lang="en-US" sz="1600" dirty="0"/>
          </a:p>
        </p:txBody>
      </p:sp>
      <p:sp>
        <p:nvSpPr>
          <p:cNvPr id="10" name="R3_tpr9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your mouth! Say 'Aaah!' 🦷</a:t>
            </a:r>
            <a:endParaRPr lang="en-US" sz="1300" dirty="0"/>
          </a:p>
        </p:txBody>
      </p:sp>
      <p:sp>
        <p:nvSpPr>
          <p:cNvPr id="11" name="n_9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11</a:t>
            </a:r>
            <a:endParaRPr lang="en-US" sz="1200" dirty="0"/>
          </a:p>
        </p:txBody>
      </p:sp>
      <p:sp>
        <p:nvSpPr>
          <p:cNvPr id="12" name="bk_9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9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1" descr="/home/claude/movers/img/fc/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448" y="1234440"/>
            <a:ext cx="2209104" cy="2651760"/>
          </a:xfrm>
          <a:prstGeom prst="rect">
            <a:avLst/>
          </a:prstGeom>
        </p:spPr>
      </p:pic>
      <p:sp>
        <p:nvSpPr>
          <p:cNvPr id="8" name="R1_w10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3600" dirty="0"/>
          </a:p>
        </p:txBody>
      </p:sp>
      <p:sp>
        <p:nvSpPr>
          <p:cNvPr id="9" name="R2_it10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medico / dottore</a:t>
            </a:r>
            <a:endParaRPr lang="en-US" sz="1600" dirty="0"/>
          </a:p>
        </p:txBody>
      </p:sp>
      <p:sp>
        <p:nvSpPr>
          <p:cNvPr id="10" name="R3_tpr10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to the heart: boom-boom! 🩺</a:t>
            </a:r>
            <a:endParaRPr lang="en-US" sz="1300" dirty="0"/>
          </a:p>
        </p:txBody>
      </p:sp>
      <p:sp>
        <p:nvSpPr>
          <p:cNvPr id="11" name="n_10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11</a:t>
            </a:r>
            <a:endParaRPr lang="en-US" sz="1200" dirty="0"/>
          </a:p>
        </p:txBody>
      </p:sp>
      <p:sp>
        <p:nvSpPr>
          <p:cNvPr id="12" name="bk_10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0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1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1" descr="/home/claude/movers/img/fc/far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464" y="1234440"/>
            <a:ext cx="1971072" cy="2651760"/>
          </a:xfrm>
          <a:prstGeom prst="rect">
            <a:avLst/>
          </a:prstGeom>
        </p:spPr>
      </p:pic>
      <p:sp>
        <p:nvSpPr>
          <p:cNvPr id="8" name="R1_w11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3600" dirty="0"/>
          </a:p>
        </p:txBody>
      </p:sp>
      <p:sp>
        <p:nvSpPr>
          <p:cNvPr id="9" name="R2_it11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contadino / agricoltore</a:t>
            </a:r>
            <a:endParaRPr lang="en-US" sz="1600" dirty="0"/>
          </a:p>
        </p:txBody>
      </p:sp>
      <p:sp>
        <p:nvSpPr>
          <p:cNvPr id="10" name="R3_tpr11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Drive the tractor! 🚜</a:t>
            </a:r>
            <a:endParaRPr lang="en-US" sz="1300" dirty="0"/>
          </a:p>
        </p:txBody>
      </p:sp>
      <p:sp>
        <p:nvSpPr>
          <p:cNvPr id="11" name="n_11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11</a:t>
            </a:r>
            <a:endParaRPr lang="en-US" sz="1200" dirty="0"/>
          </a:p>
        </p:txBody>
      </p:sp>
      <p:sp>
        <p:nvSpPr>
          <p:cNvPr id="12" name="bk_11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1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1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2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21" descr="/home/claude/movers/img/fc/film-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642" y="1234440"/>
            <a:ext cx="2198716" cy="2651760"/>
          </a:xfrm>
          <a:prstGeom prst="rect">
            <a:avLst/>
          </a:prstGeom>
        </p:spPr>
      </p:pic>
      <p:sp>
        <p:nvSpPr>
          <p:cNvPr id="8" name="R1_w12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star</a:t>
            </a:r>
            <a:endParaRPr lang="en-US" sz="3600" dirty="0"/>
          </a:p>
        </p:txBody>
      </p:sp>
      <p:sp>
        <p:nvSpPr>
          <p:cNvPr id="9" name="R2_it12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del cinema</a:t>
            </a:r>
            <a:endParaRPr lang="en-US" sz="1600" dirty="0"/>
          </a:p>
        </p:txBody>
      </p:sp>
      <p:sp>
        <p:nvSpPr>
          <p:cNvPr id="10" name="R3_tpr12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Sunglasses on! Smile! 😎</a:t>
            </a:r>
            <a:endParaRPr lang="en-US" sz="1300" dirty="0"/>
          </a:p>
        </p:txBody>
      </p:sp>
      <p:sp>
        <p:nvSpPr>
          <p:cNvPr id="11" name="n_12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11</a:t>
            </a:r>
            <a:endParaRPr lang="en-US" sz="1200" dirty="0"/>
          </a:p>
        </p:txBody>
      </p:sp>
      <p:sp>
        <p:nvSpPr>
          <p:cNvPr id="12" name="bk_12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2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2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3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31" descr="/home/claude/movers/img/fc/nu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365" y="1234440"/>
            <a:ext cx="1841269" cy="2651760"/>
          </a:xfrm>
          <a:prstGeom prst="rect">
            <a:avLst/>
          </a:prstGeom>
        </p:spPr>
      </p:pic>
      <p:sp>
        <p:nvSpPr>
          <p:cNvPr id="8" name="R1_w13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nurse</a:t>
            </a:r>
            <a:endParaRPr lang="en-US" sz="3600" dirty="0"/>
          </a:p>
        </p:txBody>
      </p:sp>
      <p:sp>
        <p:nvSpPr>
          <p:cNvPr id="9" name="R2_it13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infermiere / infermiera</a:t>
            </a:r>
            <a:endParaRPr lang="en-US" sz="1600" dirty="0"/>
          </a:p>
        </p:txBody>
      </p:sp>
      <p:sp>
        <p:nvSpPr>
          <p:cNvPr id="10" name="R3_tpr13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Put a plaster on your arm! 🩹</a:t>
            </a:r>
            <a:endParaRPr lang="en-US" sz="1300" dirty="0"/>
          </a:p>
        </p:txBody>
      </p:sp>
      <p:sp>
        <p:nvSpPr>
          <p:cNvPr id="11" name="n_13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/ 11</a:t>
            </a:r>
            <a:endParaRPr lang="en-US" sz="1200" dirty="0"/>
          </a:p>
        </p:txBody>
      </p:sp>
      <p:sp>
        <p:nvSpPr>
          <p:cNvPr id="12" name="bk_13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3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3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4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41" descr="/home/claude/movers/img/fc/pi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239" y="1234440"/>
            <a:ext cx="1965522" cy="2651760"/>
          </a:xfrm>
          <a:prstGeom prst="rect">
            <a:avLst/>
          </a:prstGeom>
        </p:spPr>
      </p:pic>
      <p:sp>
        <p:nvSpPr>
          <p:cNvPr id="8" name="R1_w14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pirate</a:t>
            </a:r>
            <a:endParaRPr lang="en-US" sz="3600" dirty="0"/>
          </a:p>
        </p:txBody>
      </p:sp>
      <p:sp>
        <p:nvSpPr>
          <p:cNvPr id="9" name="R2_it14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pirata</a:t>
            </a:r>
            <a:endParaRPr lang="en-US" sz="1600" dirty="0"/>
          </a:p>
        </p:txBody>
      </p:sp>
      <p:sp>
        <p:nvSpPr>
          <p:cNvPr id="10" name="R3_tpr14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One eye closed! Arrr! 🏴‍☠️</a:t>
            </a:r>
            <a:endParaRPr lang="en-US" sz="1300" dirty="0"/>
          </a:p>
        </p:txBody>
      </p:sp>
      <p:sp>
        <p:nvSpPr>
          <p:cNvPr id="11" name="n_14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/ 11</a:t>
            </a:r>
            <a:endParaRPr lang="en-US" sz="1200" dirty="0"/>
          </a:p>
        </p:txBody>
      </p:sp>
      <p:sp>
        <p:nvSpPr>
          <p:cNvPr id="12" name="bk_14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4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4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5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51" descr="/home/claude/movers/img/fc/pop-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825" y="1234440"/>
            <a:ext cx="2002349" cy="2651760"/>
          </a:xfrm>
          <a:prstGeom prst="rect">
            <a:avLst/>
          </a:prstGeom>
        </p:spPr>
      </p:pic>
      <p:sp>
        <p:nvSpPr>
          <p:cNvPr id="8" name="R1_w15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 star</a:t>
            </a:r>
            <a:endParaRPr lang="en-US" sz="3600" dirty="0"/>
          </a:p>
        </p:txBody>
      </p:sp>
      <p:sp>
        <p:nvSpPr>
          <p:cNvPr id="9" name="R2_it15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star / cantante</a:t>
            </a:r>
            <a:endParaRPr lang="en-US" sz="1600" dirty="0"/>
          </a:p>
        </p:txBody>
      </p:sp>
      <p:sp>
        <p:nvSpPr>
          <p:cNvPr id="10" name="R3_tpr15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Hold the microphone and sing! 🎤</a:t>
            </a:r>
            <a:endParaRPr lang="en-US" sz="1300" dirty="0"/>
          </a:p>
        </p:txBody>
      </p:sp>
      <p:sp>
        <p:nvSpPr>
          <p:cNvPr id="11" name="n_15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/ 11</a:t>
            </a:r>
            <a:endParaRPr lang="en-US" sz="1200" dirty="0"/>
          </a:p>
        </p:txBody>
      </p:sp>
      <p:sp>
        <p:nvSpPr>
          <p:cNvPr id="12" name="bk_15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5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5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6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61" descr="/home/claude/movers/img/fc/pre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256" y="1234440"/>
            <a:ext cx="2171488" cy="2651760"/>
          </a:xfrm>
          <a:prstGeom prst="rect">
            <a:avLst/>
          </a:prstGeom>
        </p:spPr>
      </p:pic>
      <p:sp>
        <p:nvSpPr>
          <p:cNvPr id="8" name="R1_w16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</a:t>
            </a:r>
            <a:endParaRPr lang="en-US" sz="3600" dirty="0"/>
          </a:p>
        </p:txBody>
      </p:sp>
      <p:sp>
        <p:nvSpPr>
          <p:cNvPr id="9" name="R2_it16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regalo</a:t>
            </a:r>
            <a:endParaRPr lang="en-US" sz="1600" dirty="0"/>
          </a:p>
        </p:txBody>
      </p:sp>
      <p:sp>
        <p:nvSpPr>
          <p:cNvPr id="10" name="R3_tpr16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the present! Wow! 🎁</a:t>
            </a:r>
            <a:endParaRPr lang="en-US" sz="1300" dirty="0"/>
          </a:p>
        </p:txBody>
      </p:sp>
      <p:sp>
        <p:nvSpPr>
          <p:cNvPr id="11" name="n_16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/ 11</a:t>
            </a:r>
            <a:endParaRPr lang="en-US" sz="1200" dirty="0"/>
          </a:p>
        </p:txBody>
      </p:sp>
      <p:sp>
        <p:nvSpPr>
          <p:cNvPr id="12" name="bk_16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6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6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7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71" descr="/home/claude/movers/img/fc/treas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459" y="1234440"/>
            <a:ext cx="1999082" cy="2651760"/>
          </a:xfrm>
          <a:prstGeom prst="rect">
            <a:avLst/>
          </a:prstGeom>
        </p:spPr>
      </p:pic>
      <p:sp>
        <p:nvSpPr>
          <p:cNvPr id="8" name="R1_w17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treasure</a:t>
            </a:r>
            <a:endParaRPr lang="en-US" sz="3600" dirty="0"/>
          </a:p>
        </p:txBody>
      </p:sp>
      <p:sp>
        <p:nvSpPr>
          <p:cNvPr id="9" name="R2_it17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tesoro</a:t>
            </a:r>
            <a:endParaRPr lang="en-US" sz="1600" dirty="0"/>
          </a:p>
        </p:txBody>
      </p:sp>
      <p:sp>
        <p:nvSpPr>
          <p:cNvPr id="10" name="R3_tpr17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Dig, dig, dig… treasure! 💰</a:t>
            </a:r>
            <a:endParaRPr lang="en-US" sz="1300" dirty="0"/>
          </a:p>
        </p:txBody>
      </p:sp>
      <p:sp>
        <p:nvSpPr>
          <p:cNvPr id="11" name="n_17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/ 11</a:t>
            </a:r>
            <a:endParaRPr lang="en-US" sz="1200" dirty="0"/>
          </a:p>
        </p:txBody>
      </p:sp>
      <p:sp>
        <p:nvSpPr>
          <p:cNvPr id="12" name="bk_17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7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IT!</a:t>
            </a:r>
            <a:endParaRPr lang="en-US" sz="1600" dirty="0"/>
          </a:p>
        </p:txBody>
      </p:sp>
      <p:sp>
        <p:nvSpPr>
          <p:cNvPr id="4" name="bm_17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Clap it!</a:t>
            </a:r>
            <a:endParaRPr lang="en-US" sz="3200" dirty="0"/>
          </a:p>
        </p:txBody>
      </p:sp>
      <p:sp>
        <p:nvSpPr>
          <p:cNvPr id="5" name="in_17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Clap the word. Which part is BIG?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Batti le mani. Quale parte è FORTE?</a:t>
            </a:r>
            <a:endParaRPr lang="en-US" sz="1400" dirty="0"/>
          </a:p>
        </p:txBody>
      </p:sp>
      <p:sp>
        <p:nvSpPr>
          <p:cNvPr id="6" name="mode_18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CLASS · ⏱ 4 MIN</a:t>
            </a:r>
            <a:endParaRPr lang="en-US" sz="1000" dirty="0"/>
          </a:p>
        </p:txBody>
      </p:sp>
      <p:sp>
        <p:nvSpPr>
          <p:cNvPr id="7" name="diff_181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BIG = ● · small = •</a:t>
            </a:r>
            <a:endParaRPr lang="en-US" sz="950" dirty="0"/>
          </a:p>
        </p:txBody>
      </p:sp>
      <p:sp>
        <p:nvSpPr>
          <p:cNvPr id="8" name="pf_18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83" descr="/home/claude/movers/img/fc/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956" y="1325880"/>
            <a:ext cx="2704248" cy="3246120"/>
          </a:xfrm>
          <a:prstGeom prst="rect">
            <a:avLst/>
          </a:prstGeom>
        </p:spPr>
      </p:pic>
      <p:sp>
        <p:nvSpPr>
          <p:cNvPr id="10" name="q_184"/>
          <p:cNvSpPr/>
          <p:nvPr/>
        </p:nvSpPr>
        <p:spPr>
          <a:xfrm>
            <a:off x="5760720" y="13258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doctor</a:t>
            </a:r>
            <a:endParaRPr lang="en-US" sz="1100" dirty="0"/>
          </a:p>
        </p:txBody>
      </p:sp>
      <p:sp>
        <p:nvSpPr>
          <p:cNvPr id="11" name="R1_a185"/>
          <p:cNvSpPr/>
          <p:nvPr/>
        </p:nvSpPr>
        <p:spPr>
          <a:xfrm>
            <a:off x="5989320" y="16111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DOC-tor  ● •</a:t>
            </a:r>
            <a:endParaRPr lang="en-US" sz="1100" dirty="0"/>
          </a:p>
        </p:txBody>
      </p:sp>
      <p:sp>
        <p:nvSpPr>
          <p:cNvPr id="12" name="q_186"/>
          <p:cNvSpPr/>
          <p:nvPr/>
        </p:nvSpPr>
        <p:spPr>
          <a:xfrm>
            <a:off x="5760720" y="187452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dentist</a:t>
            </a:r>
            <a:endParaRPr lang="en-US" sz="1100" dirty="0"/>
          </a:p>
        </p:txBody>
      </p:sp>
      <p:sp>
        <p:nvSpPr>
          <p:cNvPr id="13" name="R2_a187"/>
          <p:cNvSpPr/>
          <p:nvPr/>
        </p:nvSpPr>
        <p:spPr>
          <a:xfrm>
            <a:off x="5989320" y="215981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DEN-tist  ● •</a:t>
            </a:r>
            <a:endParaRPr lang="en-US" sz="1100" dirty="0"/>
          </a:p>
        </p:txBody>
      </p:sp>
      <p:sp>
        <p:nvSpPr>
          <p:cNvPr id="14" name="q_188"/>
          <p:cNvSpPr/>
          <p:nvPr/>
        </p:nvSpPr>
        <p:spPr>
          <a:xfrm>
            <a:off x="5760720" y="242316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pirate</a:t>
            </a:r>
            <a:endParaRPr lang="en-US" sz="1100" dirty="0"/>
          </a:p>
        </p:txBody>
      </p:sp>
      <p:sp>
        <p:nvSpPr>
          <p:cNvPr id="15" name="R3_a189"/>
          <p:cNvSpPr/>
          <p:nvPr/>
        </p:nvSpPr>
        <p:spPr>
          <a:xfrm>
            <a:off x="5989320" y="270845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PI-rate  ● •  (not pi-RA-ta!)</a:t>
            </a:r>
            <a:endParaRPr lang="en-US" sz="1100" dirty="0"/>
          </a:p>
        </p:txBody>
      </p:sp>
      <p:sp>
        <p:nvSpPr>
          <p:cNvPr id="16" name="q_190"/>
          <p:cNvSpPr/>
          <p:nvPr/>
        </p:nvSpPr>
        <p:spPr>
          <a:xfrm>
            <a:off x="5760720" y="297180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</a:t>
            </a:r>
            <a:endParaRPr lang="en-US" sz="1100" dirty="0"/>
          </a:p>
        </p:txBody>
      </p:sp>
      <p:sp>
        <p:nvSpPr>
          <p:cNvPr id="17" name="R4_a191"/>
          <p:cNvSpPr/>
          <p:nvPr/>
        </p:nvSpPr>
        <p:spPr>
          <a:xfrm>
            <a:off x="5989320" y="325709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PRE-sent  ● •</a:t>
            </a:r>
            <a:endParaRPr lang="en-US" sz="1100" dirty="0"/>
          </a:p>
        </p:txBody>
      </p:sp>
      <p:sp>
        <p:nvSpPr>
          <p:cNvPr id="18" name="q_192"/>
          <p:cNvSpPr/>
          <p:nvPr/>
        </p:nvSpPr>
        <p:spPr>
          <a:xfrm>
            <a:off x="5760720" y="352044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treasure</a:t>
            </a:r>
            <a:endParaRPr lang="en-US" sz="1100" dirty="0"/>
          </a:p>
        </p:txBody>
      </p:sp>
      <p:sp>
        <p:nvSpPr>
          <p:cNvPr id="19" name="R5_a193"/>
          <p:cNvSpPr/>
          <p:nvPr/>
        </p:nvSpPr>
        <p:spPr>
          <a:xfrm>
            <a:off x="5989320" y="380573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TREA-sure  ● •</a:t>
            </a:r>
            <a:endParaRPr lang="en-US" sz="1100" dirty="0"/>
          </a:p>
        </p:txBody>
      </p:sp>
      <p:sp>
        <p:nvSpPr>
          <p:cNvPr id="20" name="q_194"/>
          <p:cNvSpPr/>
          <p:nvPr/>
        </p:nvSpPr>
        <p:spPr>
          <a:xfrm>
            <a:off x="5760720" y="40690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È dottore. → in English?</a:t>
            </a:r>
            <a:endParaRPr lang="en-US" sz="1100" dirty="0"/>
          </a:p>
        </p:txBody>
      </p:sp>
      <p:sp>
        <p:nvSpPr>
          <p:cNvPr id="21" name="R6_a195"/>
          <p:cNvSpPr/>
          <p:nvPr/>
        </p:nvSpPr>
        <p:spPr>
          <a:xfrm>
            <a:off x="5989320" y="43543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A doctor. (Don't forget 'a'!)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9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19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 and colour</a:t>
            </a:r>
            <a:endParaRPr lang="en-US" sz="2700" dirty="0"/>
          </a:p>
        </p:txBody>
      </p:sp>
      <p:sp>
        <p:nvSpPr>
          <p:cNvPr id="5" name="in_19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point. Then listen again and colour.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indica. Poi ascolta di nuovo e colora.</a:t>
            </a:r>
            <a:endParaRPr lang="en-US" sz="1400" dirty="0"/>
          </a:p>
        </p:txBody>
      </p:sp>
      <p:sp>
        <p:nvSpPr>
          <p:cNvPr id="6" name="mode_19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5 MIN</a:t>
            </a:r>
            <a:endParaRPr lang="en-US" sz="1000" dirty="0"/>
          </a:p>
        </p:txBody>
      </p:sp>
      <p:sp>
        <p:nvSpPr>
          <p:cNvPr id="7" name="pf_20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01" descr="/home/claude/movers/img/crop/u3-p31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00" y="1325880"/>
            <a:ext cx="3188360" cy="3246120"/>
          </a:xfrm>
          <a:prstGeom prst="rect">
            <a:avLst/>
          </a:prstGeom>
        </p:spPr>
      </p:pic>
      <p:sp>
        <p:nvSpPr>
          <p:cNvPr id="9" name="q_202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birthday is it?</a:t>
            </a:r>
            <a:endParaRPr lang="en-US" sz="1250" dirty="0"/>
          </a:p>
        </p:txBody>
      </p:sp>
      <p:sp>
        <p:nvSpPr>
          <p:cNvPr id="10" name="R1_a203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Grandpa's! 🎂</a:t>
            </a:r>
            <a:endParaRPr lang="en-US" sz="1250" dirty="0"/>
          </a:p>
        </p:txBody>
      </p:sp>
      <p:sp>
        <p:nvSpPr>
          <p:cNvPr id="11" name="q_204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colour is the present?</a:t>
            </a:r>
            <a:endParaRPr lang="en-US" sz="1250" dirty="0"/>
          </a:p>
        </p:txBody>
      </p:sp>
      <p:sp>
        <p:nvSpPr>
          <p:cNvPr id="12" name="R2_a205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purple 💜</a:t>
            </a:r>
            <a:endParaRPr lang="en-US" sz="1250" dirty="0"/>
          </a:p>
        </p:txBody>
      </p:sp>
      <p:sp>
        <p:nvSpPr>
          <p:cNvPr id="13" name="q_206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colour is the treasure box?</a:t>
            </a:r>
            <a:endParaRPr lang="en-US" sz="1250" dirty="0"/>
          </a:p>
        </p:txBody>
      </p:sp>
      <p:sp>
        <p:nvSpPr>
          <p:cNvPr id="14" name="R3_a207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orange 🧡</a:t>
            </a:r>
            <a:endParaRPr lang="en-US" sz="1250" dirty="0"/>
          </a:p>
        </p:txBody>
      </p:sp>
      <p:sp>
        <p:nvSpPr>
          <p:cNvPr id="15" name="bk_20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CHANT</a:t>
            </a:r>
            <a:endParaRPr lang="en-US" sz="1600" dirty="0"/>
          </a:p>
        </p:txBody>
      </p:sp>
      <p:sp>
        <p:nvSpPr>
          <p:cNvPr id="4" name="bm_21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8E5B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the chant!</a:t>
            </a:r>
            <a:endParaRPr lang="en-US" sz="2700" dirty="0"/>
          </a:p>
        </p:txBody>
      </p:sp>
      <p:sp>
        <p:nvSpPr>
          <p:cNvPr id="5" name="in_21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the chant. Stand up for YOUR job!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Di' il chant. Alzati per il TUO mestiere!</a:t>
            </a:r>
            <a:endParaRPr lang="en-US" sz="1400" dirty="0"/>
          </a:p>
        </p:txBody>
      </p:sp>
      <p:sp>
        <p:nvSpPr>
          <p:cNvPr id="6" name="mode_21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CLASS · ⏱ 5 MIN</a:t>
            </a:r>
            <a:endParaRPr lang="en-US" sz="1000" dirty="0"/>
          </a:p>
        </p:txBody>
      </p:sp>
      <p:sp>
        <p:nvSpPr>
          <p:cNvPr id="7" name="st_213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14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215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216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chant.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il chant.</a:t>
            </a:r>
            <a:endParaRPr lang="en-US" sz="1050" dirty="0"/>
          </a:p>
        </p:txBody>
      </p:sp>
      <p:sp>
        <p:nvSpPr>
          <p:cNvPr id="11" name="st_217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218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219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220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it. Clap the rhythm!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Dillo. Batti il ritmo!</a:t>
            </a:r>
            <a:endParaRPr lang="en-US" sz="1050" dirty="0"/>
          </a:p>
        </p:txBody>
      </p:sp>
      <p:sp>
        <p:nvSpPr>
          <p:cNvPr id="15" name="st_221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222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223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8" name="se_224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for YOUR job!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Alzati per il TUO mestiere!</a:t>
            </a:r>
            <a:endParaRPr lang="en-US" sz="1050" dirty="0"/>
          </a:p>
        </p:txBody>
      </p:sp>
      <p:sp>
        <p:nvSpPr>
          <p:cNvPr id="19" name="gl_225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Farmer Friendly's costume party!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Wear a costume, bring a present.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clown, a doctor, a pirate with treasure,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pop star, a film star, a dentist and a nurse.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Mr Friendly's a cook and he's cooking for the party.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Invite everyone to a costume party! (×2)</a:t>
            </a:r>
            <a:endParaRPr lang="en-US" sz="1400" dirty="0"/>
          </a:p>
        </p:txBody>
      </p:sp>
      <p:sp>
        <p:nvSpPr>
          <p:cNvPr id="20" name="bk_226"/>
          <p:cNvSpPr/>
          <p:nvPr/>
        </p:nvSpPr>
        <p:spPr>
          <a:xfrm>
            <a:off x="228600" y="4681728"/>
            <a:ext cx="396849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1.36 · 🎬 chant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2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2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it?</a:t>
            </a:r>
            <a:endParaRPr lang="en-US" sz="3200" dirty="0"/>
          </a:p>
        </p:txBody>
      </p:sp>
      <p:sp>
        <p:nvSpPr>
          <p:cNvPr id="5" name="in_22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Who is it? Say the name!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Chi è? Di' il nome!</a:t>
            </a:r>
            <a:endParaRPr lang="en-US" sz="1400" dirty="0"/>
          </a:p>
        </p:txBody>
      </p:sp>
      <p:sp>
        <p:nvSpPr>
          <p:cNvPr id="6" name="mode_23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pf_23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32" descr="/home/claude/movers/img/crop/u3-p31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00" y="1325880"/>
            <a:ext cx="3188360" cy="3246120"/>
          </a:xfrm>
          <a:prstGeom prst="rect">
            <a:avLst/>
          </a:prstGeom>
        </p:spPr>
      </p:pic>
      <p:sp>
        <p:nvSpPr>
          <p:cNvPr id="9" name="q_233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the pirate?</a:t>
            </a:r>
            <a:endParaRPr lang="en-US" sz="1250" dirty="0"/>
          </a:p>
        </p:txBody>
      </p:sp>
      <p:sp>
        <p:nvSpPr>
          <p:cNvPr id="10" name="R1_a234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Grandma</a:t>
            </a:r>
            <a:endParaRPr lang="en-US" sz="1250" dirty="0"/>
          </a:p>
        </p:txBody>
      </p:sp>
      <p:sp>
        <p:nvSpPr>
          <p:cNvPr id="11" name="q_235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the film star?</a:t>
            </a:r>
            <a:endParaRPr lang="en-US" sz="1250" dirty="0"/>
          </a:p>
        </p:txBody>
      </p:sp>
      <p:sp>
        <p:nvSpPr>
          <p:cNvPr id="12" name="R2_a236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Tom</a:t>
            </a:r>
            <a:endParaRPr lang="en-US" sz="1250" dirty="0"/>
          </a:p>
        </p:txBody>
      </p:sp>
      <p:sp>
        <p:nvSpPr>
          <p:cNvPr id="13" name="q_237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are the pop stars?</a:t>
            </a:r>
            <a:endParaRPr lang="en-US" sz="1250" dirty="0"/>
          </a:p>
        </p:txBody>
      </p:sp>
      <p:sp>
        <p:nvSpPr>
          <p:cNvPr id="14" name="R3_a238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Eva and Jenny</a:t>
            </a:r>
            <a:endParaRPr lang="en-US" sz="1250" dirty="0"/>
          </a:p>
        </p:txBody>
      </p:sp>
      <p:sp>
        <p:nvSpPr>
          <p:cNvPr id="15" name="q_239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the nurse?</a:t>
            </a:r>
            <a:endParaRPr lang="en-US" sz="1250" dirty="0"/>
          </a:p>
        </p:txBody>
      </p:sp>
      <p:sp>
        <p:nvSpPr>
          <p:cNvPr id="16" name="R4_a240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Mrs Friendly</a:t>
            </a:r>
            <a:endParaRPr lang="en-US" sz="1250" dirty="0"/>
          </a:p>
        </p:txBody>
      </p:sp>
      <p:sp>
        <p:nvSpPr>
          <p:cNvPr id="17" name="bk_241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4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it?</a:t>
            </a:r>
            <a:endParaRPr lang="en-US" sz="3200" dirty="0"/>
          </a:p>
        </p:txBody>
      </p:sp>
      <p:sp>
        <p:nvSpPr>
          <p:cNvPr id="5" name="in_24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Who is it? Say the name!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Chi è? Di' il nome!</a:t>
            </a:r>
            <a:endParaRPr lang="en-US" sz="1400" dirty="0"/>
          </a:p>
        </p:txBody>
      </p:sp>
      <p:sp>
        <p:nvSpPr>
          <p:cNvPr id="6" name="mode_24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diff_246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Say: Grandpa's a farmer!</a:t>
            </a:r>
            <a:endParaRPr lang="en-US" sz="950" dirty="0"/>
          </a:p>
        </p:txBody>
      </p:sp>
      <p:sp>
        <p:nvSpPr>
          <p:cNvPr id="8" name="pf_247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248" descr="/home/claude/movers/img/crop/u3-p31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00" y="1325880"/>
            <a:ext cx="3188360" cy="3246120"/>
          </a:xfrm>
          <a:prstGeom prst="rect">
            <a:avLst/>
          </a:prstGeom>
        </p:spPr>
      </p:pic>
      <p:sp>
        <p:nvSpPr>
          <p:cNvPr id="10" name="q_249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the farmer?</a:t>
            </a:r>
            <a:endParaRPr lang="en-US" sz="1250" dirty="0"/>
          </a:p>
        </p:txBody>
      </p:sp>
      <p:sp>
        <p:nvSpPr>
          <p:cNvPr id="11" name="R1_a250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Grandpa</a:t>
            </a:r>
            <a:endParaRPr lang="en-US" sz="1250" dirty="0"/>
          </a:p>
        </p:txBody>
      </p:sp>
      <p:sp>
        <p:nvSpPr>
          <p:cNvPr id="12" name="q_251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the clown?</a:t>
            </a:r>
            <a:endParaRPr lang="en-US" sz="1250" dirty="0"/>
          </a:p>
        </p:txBody>
      </p:sp>
      <p:sp>
        <p:nvSpPr>
          <p:cNvPr id="13" name="R2_a252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Cameron</a:t>
            </a:r>
            <a:endParaRPr lang="en-US" sz="1250" dirty="0"/>
          </a:p>
        </p:txBody>
      </p:sp>
      <p:sp>
        <p:nvSpPr>
          <p:cNvPr id="14" name="q_253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the doctor?</a:t>
            </a:r>
            <a:endParaRPr lang="en-US" sz="1250" dirty="0"/>
          </a:p>
        </p:txBody>
      </p:sp>
      <p:sp>
        <p:nvSpPr>
          <p:cNvPr id="15" name="R3_a254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</a:t>
            </a:r>
            <a:endParaRPr lang="en-US" sz="1250" dirty="0"/>
          </a:p>
        </p:txBody>
      </p:sp>
      <p:sp>
        <p:nvSpPr>
          <p:cNvPr id="16" name="q_255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the dentist and the cook?</a:t>
            </a:r>
            <a:endParaRPr lang="en-US" sz="1250" dirty="0"/>
          </a:p>
        </p:txBody>
      </p:sp>
      <p:sp>
        <p:nvSpPr>
          <p:cNvPr id="17" name="R4_a256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Mr Friendly</a:t>
            </a:r>
            <a:endParaRPr lang="en-US" sz="1250" dirty="0"/>
          </a:p>
        </p:txBody>
      </p:sp>
      <p:sp>
        <p:nvSpPr>
          <p:cNvPr id="18" name="bk_257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 · 🎧 1.37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5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26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10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261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262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263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clown</a:t>
            </a:r>
            <a:endParaRPr lang="en-US" sz="1200" dirty="0"/>
          </a:p>
        </p:txBody>
      </p:sp>
      <p:sp>
        <p:nvSpPr>
          <p:cNvPr id="9" name="cd_264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265" descr="/home/claude/movers/img/fc/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266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</a:t>
            </a:r>
            <a:endParaRPr lang="en-US" sz="1200" dirty="0"/>
          </a:p>
        </p:txBody>
      </p:sp>
      <p:sp>
        <p:nvSpPr>
          <p:cNvPr id="12" name="cd_267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268" descr="/home/claude/movers/img/fc/dent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269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dentist</a:t>
            </a:r>
            <a:endParaRPr lang="en-US" sz="1200" dirty="0"/>
          </a:p>
        </p:txBody>
      </p:sp>
      <p:sp>
        <p:nvSpPr>
          <p:cNvPr id="15" name="cd_270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271" descr="/home/claude/movers/img/fc/do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272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1200" dirty="0"/>
          </a:p>
        </p:txBody>
      </p:sp>
      <p:sp>
        <p:nvSpPr>
          <p:cNvPr id="18" name="cd_273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274" descr="/home/claude/movers/img/fc/farm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275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200" dirty="0"/>
          </a:p>
        </p:txBody>
      </p:sp>
      <p:sp>
        <p:nvSpPr>
          <p:cNvPr id="21" name="cd_276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77" descr="/home/claude/movers/img/fc/film-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278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star</a:t>
            </a:r>
            <a:endParaRPr lang="en-US" sz="1200" dirty="0"/>
          </a:p>
        </p:txBody>
      </p:sp>
      <p:sp>
        <p:nvSpPr>
          <p:cNvPr id="24" name="cd_279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280" descr="/home/claude/movers/img/fc/nur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281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nurse</a:t>
            </a:r>
            <a:endParaRPr lang="en-US" sz="1200" dirty="0"/>
          </a:p>
        </p:txBody>
      </p:sp>
      <p:sp>
        <p:nvSpPr>
          <p:cNvPr id="27" name="cd_282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283" descr="/home/claude/movers/img/fc/pir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9" name="lb_284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pirate</a:t>
            </a:r>
            <a:endParaRPr lang="en-US" sz="1200" dirty="0"/>
          </a:p>
        </p:txBody>
      </p:sp>
      <p:sp>
        <p:nvSpPr>
          <p:cNvPr id="30" name="cd_285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286" descr="/home/claude/movers/img/fc/pop-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2" name="lb_287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 star</a:t>
            </a:r>
            <a:endParaRPr lang="en-US" sz="1200" dirty="0"/>
          </a:p>
        </p:txBody>
      </p:sp>
      <p:sp>
        <p:nvSpPr>
          <p:cNvPr id="33" name="cd_288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289" descr="/home/claude/movers/img/fc/treasur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5" name="lb_290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treasure</a:t>
            </a:r>
            <a:endParaRPr lang="en-US" sz="1200" dirty="0"/>
          </a:p>
        </p:txBody>
      </p:sp>
      <p:sp>
        <p:nvSpPr>
          <p:cNvPr id="36" name="bk_291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Words: Pupil's Book p.31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9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9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29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your eyes! What's missing? Write it or whisper it to your partner.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Apri gli occhi! Cosa manca? Scrivilo o dillo al compagno.</a:t>
            </a:r>
            <a:endParaRPr lang="en-US" sz="1350" dirty="0"/>
          </a:p>
        </p:txBody>
      </p:sp>
      <p:sp>
        <p:nvSpPr>
          <p:cNvPr id="6" name="cd_295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296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297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clown</a:t>
            </a:r>
            <a:endParaRPr lang="en-US" sz="1200" dirty="0"/>
          </a:p>
        </p:txBody>
      </p:sp>
      <p:sp>
        <p:nvSpPr>
          <p:cNvPr id="9" name="cd_298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299" descr="/home/claude/movers/img/fc/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300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</a:t>
            </a:r>
            <a:endParaRPr lang="en-US" sz="1200" dirty="0"/>
          </a:p>
        </p:txBody>
      </p:sp>
      <p:sp>
        <p:nvSpPr>
          <p:cNvPr id="12" name="cd_301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02" descr="/home/claude/movers/img/fc/dent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303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dentist</a:t>
            </a:r>
            <a:endParaRPr lang="en-US" sz="1200" dirty="0"/>
          </a:p>
        </p:txBody>
      </p:sp>
      <p:sp>
        <p:nvSpPr>
          <p:cNvPr id="15" name="cd_304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05" descr="/home/claude/movers/img/fc/do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306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1200" dirty="0"/>
          </a:p>
        </p:txBody>
      </p:sp>
      <p:sp>
        <p:nvSpPr>
          <p:cNvPr id="18" name="cd_307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308" descr="/home/claude/movers/img/fc/farm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309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200" dirty="0"/>
          </a:p>
        </p:txBody>
      </p:sp>
      <p:sp>
        <p:nvSpPr>
          <p:cNvPr id="21" name="cd_310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11" descr="/home/claude/movers/img/fc/film-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312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star</a:t>
            </a:r>
            <a:endParaRPr lang="en-US" sz="1200" dirty="0"/>
          </a:p>
        </p:txBody>
      </p:sp>
      <p:sp>
        <p:nvSpPr>
          <p:cNvPr id="24" name="cd_313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314" descr="/home/claude/movers/img/fc/nur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315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nurse</a:t>
            </a:r>
            <a:endParaRPr lang="en-US" sz="1200" dirty="0"/>
          </a:p>
        </p:txBody>
      </p:sp>
      <p:sp>
        <p:nvSpPr>
          <p:cNvPr id="27" name="q_316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28" name="cd_317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318" descr="/home/claude/movers/img/fc/pop-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0" name="lb_319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 star</a:t>
            </a:r>
            <a:endParaRPr lang="en-US" sz="1200" dirty="0"/>
          </a:p>
        </p:txBody>
      </p:sp>
      <p:sp>
        <p:nvSpPr>
          <p:cNvPr id="31" name="cd_320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321" descr="/home/claude/movers/img/fc/treasur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3" name="lb_322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treasure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2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32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32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the pirate!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È il pirata!</a:t>
            </a:r>
            <a:endParaRPr lang="en-US" sz="1400" dirty="0"/>
          </a:p>
        </p:txBody>
      </p:sp>
      <p:sp>
        <p:nvSpPr>
          <p:cNvPr id="6" name="cd_326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27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328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clown</a:t>
            </a:r>
            <a:endParaRPr lang="en-US" sz="1200" dirty="0"/>
          </a:p>
        </p:txBody>
      </p:sp>
      <p:sp>
        <p:nvSpPr>
          <p:cNvPr id="9" name="cd_329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330" descr="/home/claude/movers/img/fc/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331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</a:t>
            </a:r>
            <a:endParaRPr lang="en-US" sz="1200" dirty="0"/>
          </a:p>
        </p:txBody>
      </p:sp>
      <p:sp>
        <p:nvSpPr>
          <p:cNvPr id="12" name="cd_332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33" descr="/home/claude/movers/img/fc/dent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334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dentist</a:t>
            </a:r>
            <a:endParaRPr lang="en-US" sz="1200" dirty="0"/>
          </a:p>
        </p:txBody>
      </p:sp>
      <p:sp>
        <p:nvSpPr>
          <p:cNvPr id="15" name="cd_335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36" descr="/home/claude/movers/img/fc/do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337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1200" dirty="0"/>
          </a:p>
        </p:txBody>
      </p:sp>
      <p:sp>
        <p:nvSpPr>
          <p:cNvPr id="18" name="cd_338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339" descr="/home/claude/movers/img/fc/farm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340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200" dirty="0"/>
          </a:p>
        </p:txBody>
      </p:sp>
      <p:sp>
        <p:nvSpPr>
          <p:cNvPr id="21" name="cd_341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42" descr="/home/claude/movers/img/fc/film-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343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star</a:t>
            </a:r>
            <a:endParaRPr lang="en-US" sz="1200" dirty="0"/>
          </a:p>
        </p:txBody>
      </p:sp>
      <p:sp>
        <p:nvSpPr>
          <p:cNvPr id="24" name="cd_344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345" descr="/home/claude/movers/img/fc/nur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346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nurse</a:t>
            </a:r>
            <a:endParaRPr lang="en-US" sz="1200" dirty="0"/>
          </a:p>
        </p:txBody>
      </p:sp>
      <p:sp>
        <p:nvSpPr>
          <p:cNvPr id="27" name="cd_347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348" descr="/home/claude/movers/img/fc/pir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9" name="lb_349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pirate</a:t>
            </a:r>
            <a:endParaRPr lang="en-US" sz="1200" dirty="0"/>
          </a:p>
        </p:txBody>
      </p:sp>
      <p:sp>
        <p:nvSpPr>
          <p:cNvPr id="30" name="hl_350"/>
          <p:cNvSpPr/>
          <p:nvPr/>
        </p:nvSpPr>
        <p:spPr>
          <a:xfrm>
            <a:off x="3739896" y="2889504"/>
            <a:ext cx="1664208" cy="1664208"/>
          </a:xfrm>
          <a:prstGeom prst="roundRect">
            <a:avLst>
              <a:gd name="adj" fmla="val 6593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31" name="cd_351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352" descr="/home/claude/movers/img/fc/pop-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3" name="lb_353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 star</a:t>
            </a:r>
            <a:endParaRPr lang="en-US" sz="1200" dirty="0"/>
          </a:p>
        </p:txBody>
      </p:sp>
      <p:sp>
        <p:nvSpPr>
          <p:cNvPr id="34" name="cd_354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355" descr="/home/claude/movers/img/fc/treasur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6" name="lb_356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treasure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5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ROUND 2 🔥</a:t>
            </a:r>
            <a:endParaRPr lang="en-US" sz="1450" dirty="0"/>
          </a:p>
        </p:txBody>
      </p:sp>
      <p:sp>
        <p:nvSpPr>
          <p:cNvPr id="4" name="bm_35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35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15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360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61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362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clown</a:t>
            </a:r>
            <a:endParaRPr lang="en-US" sz="1200" dirty="0"/>
          </a:p>
        </p:txBody>
      </p:sp>
      <p:sp>
        <p:nvSpPr>
          <p:cNvPr id="9" name="cd_363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364" descr="/home/claude/movers/img/fc/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365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</a:t>
            </a:r>
            <a:endParaRPr lang="en-US" sz="1200" dirty="0"/>
          </a:p>
        </p:txBody>
      </p:sp>
      <p:sp>
        <p:nvSpPr>
          <p:cNvPr id="12" name="cd_366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67" descr="/home/claude/movers/img/fc/dent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368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dentist</a:t>
            </a:r>
            <a:endParaRPr lang="en-US" sz="1200" dirty="0"/>
          </a:p>
        </p:txBody>
      </p:sp>
      <p:sp>
        <p:nvSpPr>
          <p:cNvPr id="15" name="cd_369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70" descr="/home/claude/movers/img/fc/do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371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1200" dirty="0"/>
          </a:p>
        </p:txBody>
      </p:sp>
      <p:sp>
        <p:nvSpPr>
          <p:cNvPr id="18" name="cd_372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373" descr="/home/claude/movers/img/fc/farm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374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200" dirty="0"/>
          </a:p>
        </p:txBody>
      </p:sp>
      <p:sp>
        <p:nvSpPr>
          <p:cNvPr id="21" name="cd_375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76" descr="/home/claude/movers/img/fc/film-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377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star</a:t>
            </a:r>
            <a:endParaRPr lang="en-US" sz="1200" dirty="0"/>
          </a:p>
        </p:txBody>
      </p:sp>
      <p:sp>
        <p:nvSpPr>
          <p:cNvPr id="24" name="cd_378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379" descr="/home/claude/movers/img/fc/nur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380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nurse</a:t>
            </a:r>
            <a:endParaRPr lang="en-US" sz="1200" dirty="0"/>
          </a:p>
        </p:txBody>
      </p:sp>
      <p:sp>
        <p:nvSpPr>
          <p:cNvPr id="27" name="cd_381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382" descr="/home/claude/movers/img/fc/pir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9" name="lb_383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pirate</a:t>
            </a:r>
            <a:endParaRPr lang="en-US" sz="1200" dirty="0"/>
          </a:p>
        </p:txBody>
      </p:sp>
      <p:sp>
        <p:nvSpPr>
          <p:cNvPr id="30" name="cd_384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385" descr="/home/claude/movers/img/fc/pop-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2" name="lb_386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 star</a:t>
            </a:r>
            <a:endParaRPr lang="en-US" sz="1200" dirty="0"/>
          </a:p>
        </p:txBody>
      </p:sp>
      <p:sp>
        <p:nvSpPr>
          <p:cNvPr id="33" name="cd_387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388" descr="/home/claude/movers/img/fc/treasur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5" name="lb_389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treasure</a:t>
            </a:r>
            <a:endParaRPr lang="en-US" sz="1200" dirty="0"/>
          </a:p>
        </p:txBody>
      </p:sp>
      <p:sp>
        <p:nvSpPr>
          <p:cNvPr id="36" name="bk_390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Words: Pupil's Book p.31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9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ROUND 2 🔥</a:t>
            </a:r>
            <a:endParaRPr lang="en-US" sz="1450" dirty="0"/>
          </a:p>
        </p:txBody>
      </p:sp>
      <p:sp>
        <p:nvSpPr>
          <p:cNvPr id="4" name="bm_39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39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pictures are missing! Write them down.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Mancano DUE immagini! Scrivile.</a:t>
            </a:r>
            <a:endParaRPr lang="en-US" sz="1400" dirty="0"/>
          </a:p>
        </p:txBody>
      </p:sp>
      <p:sp>
        <p:nvSpPr>
          <p:cNvPr id="6" name="cd_394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95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396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clown</a:t>
            </a:r>
            <a:endParaRPr lang="en-US" sz="1200" dirty="0"/>
          </a:p>
        </p:txBody>
      </p:sp>
      <p:sp>
        <p:nvSpPr>
          <p:cNvPr id="9" name="cd_397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398" descr="/home/claude/movers/img/fc/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399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</a:t>
            </a:r>
            <a:endParaRPr lang="en-US" sz="1200" dirty="0"/>
          </a:p>
        </p:txBody>
      </p:sp>
      <p:sp>
        <p:nvSpPr>
          <p:cNvPr id="12" name="q_400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13" name="cd_401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402" descr="/home/claude/movers/img/fc/do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5" name="lb_403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1200" dirty="0"/>
          </a:p>
        </p:txBody>
      </p:sp>
      <p:sp>
        <p:nvSpPr>
          <p:cNvPr id="16" name="cd_404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405" descr="/home/claude/movers/img/fc/farm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18" name="lb_406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200" dirty="0"/>
          </a:p>
        </p:txBody>
      </p:sp>
      <p:sp>
        <p:nvSpPr>
          <p:cNvPr id="19" name="cd_407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408" descr="/home/claude/movers/img/fc/film-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1" name="lb_409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star</a:t>
            </a:r>
            <a:endParaRPr lang="en-US" sz="1200" dirty="0"/>
          </a:p>
        </p:txBody>
      </p:sp>
      <p:sp>
        <p:nvSpPr>
          <p:cNvPr id="22" name="cd_410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411" descr="/home/claude/movers/img/fc/nur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4" name="lb_412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nurse</a:t>
            </a:r>
            <a:endParaRPr lang="en-US" sz="1200" dirty="0"/>
          </a:p>
        </p:txBody>
      </p:sp>
      <p:sp>
        <p:nvSpPr>
          <p:cNvPr id="25" name="cd_413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414" descr="/home/claude/movers/img/fc/pir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7" name="lb_415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pirate</a:t>
            </a:r>
            <a:endParaRPr lang="en-US" sz="1200" dirty="0"/>
          </a:p>
        </p:txBody>
      </p:sp>
      <p:sp>
        <p:nvSpPr>
          <p:cNvPr id="28" name="cd_416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417" descr="/home/claude/movers/img/fc/pop-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0" name="lb_418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 star</a:t>
            </a:r>
            <a:endParaRPr lang="en-US" sz="1200" dirty="0"/>
          </a:p>
        </p:txBody>
      </p:sp>
      <p:sp>
        <p:nvSpPr>
          <p:cNvPr id="31" name="q_419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</p:spTree>
  </p:cSld>
  <p:clrMapOvr>
    <a:masterClrMapping/>
  </p:clrMapOvr>
  <p:transition spd="med">
    <p:push dir="l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2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42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42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the dentist and the treasure!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cd_423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424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425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clown</a:t>
            </a:r>
            <a:endParaRPr lang="en-US" sz="1200" dirty="0"/>
          </a:p>
        </p:txBody>
      </p:sp>
      <p:sp>
        <p:nvSpPr>
          <p:cNvPr id="9" name="cd_426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427" descr="/home/claude/movers/img/fc/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428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</a:t>
            </a:r>
            <a:endParaRPr lang="en-US" sz="1200" dirty="0"/>
          </a:p>
        </p:txBody>
      </p:sp>
      <p:sp>
        <p:nvSpPr>
          <p:cNvPr id="12" name="cd_429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430" descr="/home/claude/movers/img/fc/dent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431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dentist</a:t>
            </a:r>
            <a:endParaRPr lang="en-US" sz="1200" dirty="0"/>
          </a:p>
        </p:txBody>
      </p:sp>
      <p:sp>
        <p:nvSpPr>
          <p:cNvPr id="15" name="hl_432"/>
          <p:cNvSpPr/>
          <p:nvPr/>
        </p:nvSpPr>
        <p:spPr>
          <a:xfrm>
            <a:off x="3739896" y="1225296"/>
            <a:ext cx="1664208" cy="1664208"/>
          </a:xfrm>
          <a:prstGeom prst="roundRect">
            <a:avLst>
              <a:gd name="adj" fmla="val 6593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16" name="cd_433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434" descr="/home/claude/movers/img/fc/do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8" name="lb_435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1200" dirty="0"/>
          </a:p>
        </p:txBody>
      </p:sp>
      <p:sp>
        <p:nvSpPr>
          <p:cNvPr id="19" name="cd_436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437" descr="/home/claude/movers/img/fc/farm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1" name="lb_438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200" dirty="0"/>
          </a:p>
        </p:txBody>
      </p:sp>
      <p:sp>
        <p:nvSpPr>
          <p:cNvPr id="22" name="cd_439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440" descr="/home/claude/movers/img/fc/film-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4" name="lb_441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star</a:t>
            </a:r>
            <a:endParaRPr lang="en-US" sz="1200" dirty="0"/>
          </a:p>
        </p:txBody>
      </p:sp>
      <p:sp>
        <p:nvSpPr>
          <p:cNvPr id="25" name="cd_442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443" descr="/home/claude/movers/img/fc/nur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7" name="lb_444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nurse</a:t>
            </a:r>
            <a:endParaRPr lang="en-US" sz="1200" dirty="0"/>
          </a:p>
        </p:txBody>
      </p:sp>
      <p:sp>
        <p:nvSpPr>
          <p:cNvPr id="28" name="cd_445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446" descr="/home/claude/movers/img/fc/pir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30" name="lb_447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pirate</a:t>
            </a:r>
            <a:endParaRPr lang="en-US" sz="1200" dirty="0"/>
          </a:p>
        </p:txBody>
      </p:sp>
      <p:sp>
        <p:nvSpPr>
          <p:cNvPr id="31" name="cd_448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449" descr="/home/claude/movers/img/fc/pop-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3" name="lb_450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 star</a:t>
            </a:r>
            <a:endParaRPr lang="en-US" sz="1200" dirty="0"/>
          </a:p>
        </p:txBody>
      </p:sp>
      <p:sp>
        <p:nvSpPr>
          <p:cNvPr id="34" name="cd_451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452" descr="/home/claude/movers/img/fc/treasur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6" name="lb_453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treasure</a:t>
            </a:r>
            <a:endParaRPr lang="en-US" sz="1200" dirty="0"/>
          </a:p>
        </p:txBody>
      </p:sp>
      <p:sp>
        <p:nvSpPr>
          <p:cNvPr id="37" name="hl_454"/>
          <p:cNvSpPr/>
          <p:nvPr/>
        </p:nvSpPr>
        <p:spPr>
          <a:xfrm>
            <a:off x="7214616" y="2889504"/>
            <a:ext cx="1664208" cy="1664208"/>
          </a:xfrm>
          <a:prstGeom prst="roundRect">
            <a:avLst>
              <a:gd name="adj" fmla="val 6593"/>
            </a:avLst>
          </a:prstGeom>
          <a:ln w="76200">
            <a:solidFill>
              <a:srgbClr val="6CCB3B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5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45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 moves!</a:t>
            </a:r>
            <a:endParaRPr lang="en-US" sz="3200" dirty="0"/>
          </a:p>
        </p:txBody>
      </p:sp>
      <p:sp>
        <p:nvSpPr>
          <p:cNvPr id="5" name="in_45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to the teacher and do the action!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l'insegnante e fai l'azione!</a:t>
            </a:r>
            <a:endParaRPr lang="en-US" sz="1400" dirty="0"/>
          </a:p>
        </p:txBody>
      </p:sp>
      <p:sp>
        <p:nvSpPr>
          <p:cNvPr id="6" name="mode_45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CLASS · ⏱ 4 MIN</a:t>
            </a:r>
            <a:endParaRPr lang="en-US" sz="1000" dirty="0"/>
          </a:p>
        </p:txBody>
      </p:sp>
      <p:sp>
        <p:nvSpPr>
          <p:cNvPr id="7" name="cd_459"/>
          <p:cNvSpPr/>
          <p:nvPr/>
        </p:nvSpPr>
        <p:spPr>
          <a:xfrm>
            <a:off x="27432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460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1133856" cy="1133856"/>
          </a:xfrm>
          <a:prstGeom prst="rect">
            <a:avLst/>
          </a:prstGeom>
        </p:spPr>
      </p:pic>
      <p:sp>
        <p:nvSpPr>
          <p:cNvPr id="9" name="R1_a461"/>
          <p:cNvSpPr/>
          <p:nvPr/>
        </p:nvSpPr>
        <p:spPr>
          <a:xfrm>
            <a:off x="162763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Clown! Jump and fall down! 🤡</a:t>
            </a:r>
            <a:endParaRPr lang="en-US" sz="1250" dirty="0"/>
          </a:p>
        </p:txBody>
      </p:sp>
      <p:sp>
        <p:nvSpPr>
          <p:cNvPr id="10" name="cd_462"/>
          <p:cNvSpPr/>
          <p:nvPr/>
        </p:nvSpPr>
        <p:spPr>
          <a:xfrm>
            <a:off x="313944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463" descr="/home/claude/movers/img/fc/pi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592" y="1399032"/>
            <a:ext cx="1133856" cy="1133856"/>
          </a:xfrm>
          <a:prstGeom prst="rect">
            <a:avLst/>
          </a:prstGeom>
        </p:spPr>
      </p:pic>
      <p:sp>
        <p:nvSpPr>
          <p:cNvPr id="12" name="R2_a464"/>
          <p:cNvSpPr/>
          <p:nvPr/>
        </p:nvSpPr>
        <p:spPr>
          <a:xfrm>
            <a:off x="449275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Pirate! Wooden leg walk! 🏴‍☠️</a:t>
            </a:r>
            <a:endParaRPr lang="en-US" sz="1250" dirty="0"/>
          </a:p>
        </p:txBody>
      </p:sp>
      <p:sp>
        <p:nvSpPr>
          <p:cNvPr id="13" name="cd_465"/>
          <p:cNvSpPr/>
          <p:nvPr/>
        </p:nvSpPr>
        <p:spPr>
          <a:xfrm>
            <a:off x="600456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466" descr="/home/claude/movers/img/fc/pop-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2" y="1399032"/>
            <a:ext cx="1133856" cy="1133856"/>
          </a:xfrm>
          <a:prstGeom prst="rect">
            <a:avLst/>
          </a:prstGeom>
        </p:spPr>
      </p:pic>
      <p:sp>
        <p:nvSpPr>
          <p:cNvPr id="15" name="R3_a467"/>
          <p:cNvSpPr/>
          <p:nvPr/>
        </p:nvSpPr>
        <p:spPr>
          <a:xfrm>
            <a:off x="735787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Pop star! Sing and dance! 🎤</a:t>
            </a:r>
            <a:endParaRPr lang="en-US" sz="1250" dirty="0"/>
          </a:p>
        </p:txBody>
      </p:sp>
      <p:sp>
        <p:nvSpPr>
          <p:cNvPr id="16" name="cd_468"/>
          <p:cNvSpPr/>
          <p:nvPr/>
        </p:nvSpPr>
        <p:spPr>
          <a:xfrm>
            <a:off x="27432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469" descr="/home/claude/movers/img/fc/film-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99232"/>
            <a:ext cx="1133856" cy="1133856"/>
          </a:xfrm>
          <a:prstGeom prst="rect">
            <a:avLst/>
          </a:prstGeom>
        </p:spPr>
      </p:pic>
      <p:sp>
        <p:nvSpPr>
          <p:cNvPr id="18" name="R4_a470"/>
          <p:cNvSpPr/>
          <p:nvPr/>
        </p:nvSpPr>
        <p:spPr>
          <a:xfrm>
            <a:off x="162763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Film star! Wave to your fans! 👋</a:t>
            </a:r>
            <a:endParaRPr lang="en-US" sz="1250" dirty="0"/>
          </a:p>
        </p:txBody>
      </p:sp>
      <p:sp>
        <p:nvSpPr>
          <p:cNvPr id="19" name="cd_471"/>
          <p:cNvSpPr/>
          <p:nvPr/>
        </p:nvSpPr>
        <p:spPr>
          <a:xfrm>
            <a:off x="313944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472" descr="/home/claude/movers/img/fc/doct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92" y="2999232"/>
            <a:ext cx="1133856" cy="1133856"/>
          </a:xfrm>
          <a:prstGeom prst="rect">
            <a:avLst/>
          </a:prstGeom>
        </p:spPr>
      </p:pic>
      <p:sp>
        <p:nvSpPr>
          <p:cNvPr id="21" name="R5_a473"/>
          <p:cNvSpPr/>
          <p:nvPr/>
        </p:nvSpPr>
        <p:spPr>
          <a:xfrm>
            <a:off x="449275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Doctor! 'Open your mouth!' 🩺</a:t>
            </a:r>
            <a:endParaRPr lang="en-US" sz="1250" dirty="0"/>
          </a:p>
        </p:txBody>
      </p:sp>
      <p:sp>
        <p:nvSpPr>
          <p:cNvPr id="22" name="cd_474"/>
          <p:cNvSpPr/>
          <p:nvPr/>
        </p:nvSpPr>
        <p:spPr>
          <a:xfrm>
            <a:off x="600456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475" descr="/home/claude/movers/img/fc/coo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712" y="2999232"/>
            <a:ext cx="1133856" cy="1133856"/>
          </a:xfrm>
          <a:prstGeom prst="rect">
            <a:avLst/>
          </a:prstGeom>
        </p:spPr>
      </p:pic>
      <p:sp>
        <p:nvSpPr>
          <p:cNvPr id="24" name="R6_a476"/>
          <p:cNvSpPr/>
          <p:nvPr/>
        </p:nvSpPr>
        <p:spPr>
          <a:xfrm>
            <a:off x="735787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Cook! Make a big cake! 🎂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7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47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Mime it! Who am I?</a:t>
            </a:r>
            <a:endParaRPr lang="en-US" sz="2700" dirty="0"/>
          </a:p>
        </p:txBody>
      </p:sp>
      <p:sp>
        <p:nvSpPr>
          <p:cNvPr id="5" name="in_47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Mime a job. Your team guesses!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Mima un mestiere. La tua squadra indovina!</a:t>
            </a:r>
            <a:endParaRPr lang="en-US" sz="1400" dirty="0"/>
          </a:p>
        </p:txBody>
      </p:sp>
      <p:sp>
        <p:nvSpPr>
          <p:cNvPr id="6" name="mode_48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7 MIN</a:t>
            </a:r>
            <a:endParaRPr lang="en-US" sz="1000" dirty="0"/>
          </a:p>
        </p:txBody>
      </p:sp>
      <p:sp>
        <p:nvSpPr>
          <p:cNvPr id="7" name="diff_481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Are you a …?</a:t>
            </a:r>
            <a:endParaRPr lang="en-US" sz="950" dirty="0"/>
          </a:p>
        </p:txBody>
      </p:sp>
      <p:sp>
        <p:nvSpPr>
          <p:cNvPr id="8" name="diff_482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Are you a nurse or a doctor?</a:t>
            </a:r>
            <a:endParaRPr lang="en-US" sz="950" dirty="0"/>
          </a:p>
        </p:txBody>
      </p:sp>
      <p:sp>
        <p:nvSpPr>
          <p:cNvPr id="9" name="st_483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484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485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2" name="se_486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secret card.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la carta segreta.</a:t>
            </a:r>
            <a:endParaRPr lang="en-US" sz="1050" dirty="0"/>
          </a:p>
        </p:txBody>
      </p:sp>
      <p:sp>
        <p:nvSpPr>
          <p:cNvPr id="13" name="st_487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488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489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6" name="se_490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the job. No words!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 il mestiere. Niente parole!</a:t>
            </a:r>
            <a:endParaRPr lang="en-US" sz="1050" dirty="0"/>
          </a:p>
        </p:txBody>
      </p:sp>
      <p:sp>
        <p:nvSpPr>
          <p:cNvPr id="17" name="st_491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492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493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20" name="se_494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'Are you a …?' – 'Yes, I am!'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Squadra: 'Are you a …?' – 'Yes, I am!'</a:t>
            </a:r>
            <a:endParaRPr lang="en-US" sz="1050" dirty="0"/>
          </a:p>
        </p:txBody>
      </p:sp>
      <p:sp>
        <p:nvSpPr>
          <p:cNvPr id="21" name="cd_495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496" descr="/home/claude/movers/img/fc/cl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6" y="1399032"/>
            <a:ext cx="834847" cy="834847"/>
          </a:xfrm>
          <a:prstGeom prst="rect">
            <a:avLst/>
          </a:prstGeom>
        </p:spPr>
      </p:pic>
      <p:sp>
        <p:nvSpPr>
          <p:cNvPr id="23" name="lb_497"/>
          <p:cNvSpPr/>
          <p:nvPr/>
        </p:nvSpPr>
        <p:spPr>
          <a:xfrm>
            <a:off x="314553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clown</a:t>
            </a:r>
            <a:endParaRPr lang="en-US" sz="1100" dirty="0"/>
          </a:p>
        </p:txBody>
      </p:sp>
      <p:sp>
        <p:nvSpPr>
          <p:cNvPr id="24" name="cd_498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499" descr="/home/claude/movers/img/fc/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16" y="1399032"/>
            <a:ext cx="834847" cy="834847"/>
          </a:xfrm>
          <a:prstGeom prst="rect">
            <a:avLst/>
          </a:prstGeom>
        </p:spPr>
      </p:pic>
      <p:sp>
        <p:nvSpPr>
          <p:cNvPr id="26" name="lb_500"/>
          <p:cNvSpPr/>
          <p:nvPr/>
        </p:nvSpPr>
        <p:spPr>
          <a:xfrm>
            <a:off x="460857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</a:t>
            </a:r>
            <a:endParaRPr lang="en-US" sz="1100" dirty="0"/>
          </a:p>
        </p:txBody>
      </p:sp>
      <p:sp>
        <p:nvSpPr>
          <p:cNvPr id="27" name="cd_501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502" descr="/home/claude/movers/img/fc/dent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6" y="1399032"/>
            <a:ext cx="834847" cy="834847"/>
          </a:xfrm>
          <a:prstGeom prst="rect">
            <a:avLst/>
          </a:prstGeom>
        </p:spPr>
      </p:pic>
      <p:sp>
        <p:nvSpPr>
          <p:cNvPr id="29" name="lb_503"/>
          <p:cNvSpPr/>
          <p:nvPr/>
        </p:nvSpPr>
        <p:spPr>
          <a:xfrm>
            <a:off x="607161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dentist</a:t>
            </a:r>
            <a:endParaRPr lang="en-US" sz="1100" dirty="0"/>
          </a:p>
        </p:txBody>
      </p:sp>
      <p:sp>
        <p:nvSpPr>
          <p:cNvPr id="30" name="cd_504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505" descr="/home/claude/movers/img/fc/do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596" y="1399032"/>
            <a:ext cx="834847" cy="834847"/>
          </a:xfrm>
          <a:prstGeom prst="rect">
            <a:avLst/>
          </a:prstGeom>
        </p:spPr>
      </p:pic>
      <p:sp>
        <p:nvSpPr>
          <p:cNvPr id="32" name="lb_506"/>
          <p:cNvSpPr/>
          <p:nvPr/>
        </p:nvSpPr>
        <p:spPr>
          <a:xfrm>
            <a:off x="753465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1100" dirty="0"/>
          </a:p>
        </p:txBody>
      </p:sp>
      <p:sp>
        <p:nvSpPr>
          <p:cNvPr id="33" name="cd_507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508" descr="/home/claude/movers/img/fc/farm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476" y="2834640"/>
            <a:ext cx="834847" cy="834847"/>
          </a:xfrm>
          <a:prstGeom prst="rect">
            <a:avLst/>
          </a:prstGeom>
        </p:spPr>
      </p:pic>
      <p:sp>
        <p:nvSpPr>
          <p:cNvPr id="35" name="lb_509"/>
          <p:cNvSpPr/>
          <p:nvPr/>
        </p:nvSpPr>
        <p:spPr>
          <a:xfrm>
            <a:off x="314553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100" dirty="0"/>
          </a:p>
        </p:txBody>
      </p:sp>
      <p:sp>
        <p:nvSpPr>
          <p:cNvPr id="36" name="cd_510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7" name="ci_511" descr="/home/claude/movers/img/fc/film-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516" y="2834640"/>
            <a:ext cx="834847" cy="834847"/>
          </a:xfrm>
          <a:prstGeom prst="rect">
            <a:avLst/>
          </a:prstGeom>
        </p:spPr>
      </p:pic>
      <p:sp>
        <p:nvSpPr>
          <p:cNvPr id="38" name="lb_512"/>
          <p:cNvSpPr/>
          <p:nvPr/>
        </p:nvSpPr>
        <p:spPr>
          <a:xfrm>
            <a:off x="460857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star</a:t>
            </a:r>
            <a:endParaRPr lang="en-US" sz="1100" dirty="0"/>
          </a:p>
        </p:txBody>
      </p:sp>
      <p:sp>
        <p:nvSpPr>
          <p:cNvPr id="39" name="cd_513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40" name="ci_514" descr="/home/claude/movers/img/fc/nur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0556" y="2834640"/>
            <a:ext cx="834847" cy="834847"/>
          </a:xfrm>
          <a:prstGeom prst="rect">
            <a:avLst/>
          </a:prstGeom>
        </p:spPr>
      </p:pic>
      <p:sp>
        <p:nvSpPr>
          <p:cNvPr id="41" name="lb_515"/>
          <p:cNvSpPr/>
          <p:nvPr/>
        </p:nvSpPr>
        <p:spPr>
          <a:xfrm>
            <a:off x="607161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nurse</a:t>
            </a:r>
            <a:endParaRPr lang="en-US" sz="1100" dirty="0"/>
          </a:p>
        </p:txBody>
      </p:sp>
      <p:sp>
        <p:nvSpPr>
          <p:cNvPr id="42" name="cd_516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43" name="ci_517" descr="/home/claude/movers/img/fc/pir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3596" y="2834640"/>
            <a:ext cx="834847" cy="834847"/>
          </a:xfrm>
          <a:prstGeom prst="rect">
            <a:avLst/>
          </a:prstGeom>
        </p:spPr>
      </p:pic>
      <p:sp>
        <p:nvSpPr>
          <p:cNvPr id="44" name="lb_518"/>
          <p:cNvSpPr/>
          <p:nvPr/>
        </p:nvSpPr>
        <p:spPr>
          <a:xfrm>
            <a:off x="753465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pirate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1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520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52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522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name jobs and party things.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i mestieri e le cose della festa.</a:t>
            </a:r>
            <a:endParaRPr lang="en-US" sz="1300" dirty="0"/>
          </a:p>
        </p:txBody>
      </p:sp>
      <p:sp>
        <p:nvSpPr>
          <p:cNvPr id="7" name="can_523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'He's a doctor' with 'a'.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'He's a doctor' con 'a'.</a:t>
            </a:r>
            <a:endParaRPr lang="en-US" sz="1300" dirty="0"/>
          </a:p>
        </p:txBody>
      </p:sp>
      <p:sp>
        <p:nvSpPr>
          <p:cNvPr id="8" name="can_524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the party chant.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il chant della festa.</a:t>
            </a:r>
            <a:endParaRPr lang="en-US" sz="1300" dirty="0"/>
          </a:p>
        </p:txBody>
      </p:sp>
      <p:sp>
        <p:nvSpPr>
          <p:cNvPr id="9" name="hw_525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 (jobs!)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p.31: ex.1 (crossword)</a:t>
            </a:r>
            <a:endParaRPr lang="en-US" sz="1250" dirty="0"/>
          </a:p>
        </p:txBody>
      </p:sp>
      <p:sp>
        <p:nvSpPr>
          <p:cNvPr id="10" name="nx_526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the Friendly Farm costume story!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2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52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Board race!</a:t>
            </a:r>
            <a:endParaRPr lang="en-US" sz="2700" dirty="0"/>
          </a:p>
        </p:txBody>
      </p:sp>
      <p:sp>
        <p:nvSpPr>
          <p:cNvPr id="5" name="in_52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teams. Run and touch the right picture!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Due squadre. Corri e tocca l'immagine giusta!</a:t>
            </a:r>
            <a:endParaRPr lang="en-US" sz="1400" dirty="0"/>
          </a:p>
        </p:txBody>
      </p:sp>
      <p:sp>
        <p:nvSpPr>
          <p:cNvPr id="6" name="mode_53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st_531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532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533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534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clue.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l'indizio.</a:t>
            </a:r>
            <a:endParaRPr lang="en-US" sz="1050" dirty="0"/>
          </a:p>
        </p:txBody>
      </p:sp>
      <p:sp>
        <p:nvSpPr>
          <p:cNvPr id="11" name="st_535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536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537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4" name="se_538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touch the card first!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 e tocca la carta per primo!</a:t>
            </a:r>
            <a:endParaRPr lang="en-US" sz="1050" dirty="0"/>
          </a:p>
        </p:txBody>
      </p:sp>
      <p:sp>
        <p:nvSpPr>
          <p:cNvPr id="15" name="st_539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540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541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8" name="se_542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'She's a nurse!' = 1 point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Di': 'She's a nurse!' = 1 punto</a:t>
            </a:r>
            <a:endParaRPr lang="en-US" sz="1050" dirty="0"/>
          </a:p>
        </p:txBody>
      </p:sp>
      <p:sp>
        <p:nvSpPr>
          <p:cNvPr id="19" name="cd_543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544" descr="/home/claude/movers/img/fc/nu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1" name="cd_545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546" descr="/home/claude/movers/img/fc/pop-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3" name="cd_547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548" descr="/home/claude/movers/img/fc/farm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5" name="cd_549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550" descr="/home/claude/movers/img/fc/treasu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7" name="cd_551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552" descr="/home/claude/movers/img/fc/pres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834640"/>
            <a:ext cx="1179576" cy="1179576"/>
          </a:xfrm>
          <a:prstGeom prst="rect">
            <a:avLst/>
          </a:prstGeom>
        </p:spPr>
      </p:pic>
      <p:sp>
        <p:nvSpPr>
          <p:cNvPr id="29" name="cd_553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0" name="ci_554" descr="/home/claude/movers/img/fc/denti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834640"/>
            <a:ext cx="1179576" cy="1179576"/>
          </a:xfrm>
          <a:prstGeom prst="rect">
            <a:avLst/>
          </a:prstGeom>
        </p:spPr>
      </p:pic>
      <p:sp>
        <p:nvSpPr>
          <p:cNvPr id="31" name="cd_555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556" descr="/home/claude/movers/img/fc/coo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834640"/>
            <a:ext cx="1179576" cy="1179576"/>
          </a:xfrm>
          <a:prstGeom prst="rect">
            <a:avLst/>
          </a:prstGeom>
        </p:spPr>
      </p:pic>
      <p:sp>
        <p:nvSpPr>
          <p:cNvPr id="33" name="cd_557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558" descr="/home/claude/movers/img/fc/clow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2834640"/>
            <a:ext cx="1179576" cy="11795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3 · LESSON 1 · Party time!</dc:title>
  <dc:subject>PptxGenJS Presentation</dc:subject>
  <dc:creator>PptxGenJS</dc:creator>
  <cp:lastModifiedBy>PptxGenJS</cp:lastModifiedBy>
  <cp:revision>1</cp:revision>
  <dcterms:created xsi:type="dcterms:W3CDTF">2026-10-06T10:51:32Z</dcterms:created>
  <dcterms:modified xsi:type="dcterms:W3CDTF">2026-10-06T10:51:32Z</dcterms:modified>
</cp:coreProperties>
</file>