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1A (60 min) · First lesson of the A2 Adults course. ⚠ Built without the Student's Book pages: it covers the SB 1A syllabus (word order in questions, common verb phrases, the alphabet — SB pp.6–7) with our own activities, so you DON'T need the book today. No audio needed: you are the model. Aims: ask and answer personal questions with the right word order (QASI: Question word – Auxiliary – Subject – Infinitive); use common verb phrases; spell names/letters clearly; hear and say 'do you' as /djə/. Timing: cover 2 · worst question 5 · verb phrases 6 · notice 4 · rule 4 · error hunt 5 · order 4 · stress 4 · alphabet 4 · letters game 6 · predict &amp; interview 10 · exit 3 = 57 min. Click 1: question. Let 2–3 students answer BEFORE click 2. Introduce yourself briefly and get everyone's name (write them on the board — you'll use them in the spelling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LEAD-IN (5 min). Adult, slightly provocative but light: people have opinions about rude questions. Pairs rank 1–6 (2 min), then compare with another pair. Model first: 'I think number 2 is the worst because it's private.' Useful language on the board: It's private / It's rude / It's OK / In Italy we… (cultural comparison — e.g. In Italy people often ask 'Sei sposato?' quickly). Click 1: sticky with the sentence frame. Don't correct question grammar yet — notice which questions they find hard to SAY (word order) and come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(3 min). Picture first: students call out what they know, then click 1 shows all 8 phrases. Drill in chorus. Point out the verb + word partnerships: DO sport (not make), LISTEN TO music, GO TO the cinema. These 8 phrases make the questions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(4 min). Students write the missing verbs alone (2 min) — COMMIT before the click — then compare in pairs. Click 1: all answers. Drill quickly in chorus. Italian L1 issues: DO sport/exercise (not 'make'), LISTEN TO music (the 'to' is often lost), GO TO the cinema, 'have' brothers (not 'Do you have brothers?' is fine — but NOT 'Have you brothers?' in modern English). Keep these 8 questions in mind: they come back in the interview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NOTICE (4 min). Ask: 'What kind of word is in capitals?' Let students say it in Italian if they need to (verbo ausiliare). One click per line: each time, ask WHY this auxiliary BEFORE clicking (present/past/he-she/be/can). Key point: in Italian a question is often only intonation ('Vivi a Bagheria?'), but English NEEDS the auxiliary.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(4 min). Read across each row with the class: 'Where – do – you – live?' Ask concept questions: 'After did, do we say went or go?' (go). 'Does he LIVES?' (No — live). 'Are you married?' — no do with be. QASI is a memory trick: some teachers say 'QUASI' (Italian!) — students love that: QU-A-S-I. Italian 10-second comparison is in the Watch out box: no more explanation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HUNT (5 min). These are REAL Italian-speaker mistakes. Pairs correct all six (2–3 min). One click = one answer: ask a pair for each correction BEFORE clicking. Team option: 1 point per correct question. Note 2: 'What means…?' is a classic — it is Italian 'Cosa significa…?'. Note 5: 'What did you on Saturday?' — 'do' is the main verb AND we need the auxiliary did: two different 'do's!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ORDER (4 min). Students write (no speaking first) — writing makes them commit. One click = one answer. Point out 'usually' goes BEFORE the main verb: Where do you usually eat…? Fast finishers: write the answer to each question for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(4 min). Say each question twice at natural speed; students tap the table on the stressed words. Click 1 shows the stressed words and the weak forms. Then backchain: LIVE? → you LIVE? → do you LIVE? → Where do you LIVE? Italian speakers stress every syllable equally and pronounce 'do you' fully — that makes them sound slow and makes native speakers hard to understand. Goal = understanding fast speech, not a perfect accent.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ALPHABET (4 min). Students say the alphabet round the class first (fast) — you'll hear the Italian problems. Before each click, ask: 'Which other letters sound like A?' Classic Italian problems: E said like Italian 'i' (→ /iː/ is E!), I said like 'ai' — correct but confused with E; G and J swapped (G = /dʒiː/, J = /dʒeɪ/); A said like Italian 'e'; H = 'aitch' (not 'acca'); W = 'double U'; R = /ɑː/. Quick test: spell 'EGG', 'JAI', 'HIGH' — students write what they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(6 min). Teams take turns choosing a box. 1 point for saying the letters correctly (strict on E/I, G/J, A/E, H, R, W!), 1 point for the meaning. Click 1 shows all meanings at the end (don't click until the game is over). Then 2-minute SPELLING follow-up in pairs: A spells their surname and street, B writes it — then check. Real-life reason: on the phone, in hotels, emails. Bonus: 'How do you spell Bagheria?'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(10 min). PREDICTION makes the interview interesting: students have a reason to listen to the answer. Give 2 min to write questions + predictions (monitor word order — this is the moment to correct!). Interview 5 min — swap roles halfway. The follow-up question is the key A2 skill: model it with a strong student first. Feedback: 1 or 2 good questions on the board, 2 or 3 errors to correct anonymously ('Somebody said: Where you work?').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rate themselves (faces). Give the homework sheet (normal or easier — let students choose; no public labels). Remind them to photograph the homework and hand it in on the LLS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(5 min) — if you have time. You spell each word aloud letter by letter (don't say the word!). Teams write it; first correct team gets a point. Click 1 reveals all words at the end. These words are full of E/I, G/J, H, W, Y, Q — the letters Italians confuse.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DBA7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E106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1A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PRE-INT (A2) · 1A · Part 1 · SB pp.6–7 topics</a:t>
            </a:r>
            <a:endParaRPr lang="en-US" sz="8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590288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YOU? DO YOU?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word order in questions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621024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common verb phrases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the alphabet · do you /djə/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Chats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FDBA7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Handsha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NEVER ask someone you've just met?</a:t>
            </a:r>
            <a:endParaRPr lang="en-US" sz="135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you earn?! 😬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LEAD-IN · First meetings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640994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is the WORST first question?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them in pairs: 1 = the worst. 2 minutes!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coppia, mettili in ordine: 1 = la peggiore. 2 minuti!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rt_29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WORST 😬</a:t>
            </a:r>
            <a:endParaRPr lang="en-US" sz="1100" dirty="0"/>
          </a:p>
        </p:txBody>
      </p:sp>
      <p:sp>
        <p:nvSpPr>
          <p:cNvPr id="15" name="rb_30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OK 🙂</a:t>
            </a:r>
            <a:endParaRPr lang="en-US" sz="1100" dirty="0"/>
          </a:p>
        </p:txBody>
      </p:sp>
      <p:sp>
        <p:nvSpPr>
          <p:cNvPr id="16" name="arrow_31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FDBA7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slot_32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8" name="ri_33" descr="How old are you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9" name="box_34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are you?</a:t>
            </a:r>
            <a:endParaRPr lang="en-US" sz="1300" dirty="0"/>
          </a:p>
        </p:txBody>
      </p:sp>
      <p:sp>
        <p:nvSpPr>
          <p:cNvPr id="20" name="slot_35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1" name="ri_36" descr="How much do you earn?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2" name="box_37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you earn?</a:t>
            </a:r>
            <a:endParaRPr lang="en-US" sz="1300" dirty="0"/>
          </a:p>
        </p:txBody>
      </p:sp>
      <p:sp>
        <p:nvSpPr>
          <p:cNvPr id="23" name="slot_38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4" name="ri_39" descr="Are you married?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5" name="box_40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married?</a:t>
            </a:r>
            <a:endParaRPr lang="en-US" sz="1300" dirty="0"/>
          </a:p>
        </p:txBody>
      </p:sp>
      <p:sp>
        <p:nvSpPr>
          <p:cNvPr id="26" name="slot_41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7" name="ri_42" descr="Why don't you have children?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8" name="box_43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you have children?</a:t>
            </a:r>
            <a:endParaRPr lang="en-US" sz="1300" dirty="0"/>
          </a:p>
        </p:txBody>
      </p:sp>
      <p:sp>
        <p:nvSpPr>
          <p:cNvPr id="29" name="slot_44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0" name="ri_45" descr="Who did you vote for?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31" name="box_46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you vote for?</a:t>
            </a:r>
            <a:endParaRPr lang="en-US" sz="1300" dirty="0"/>
          </a:p>
        </p:txBody>
      </p:sp>
      <p:sp>
        <p:nvSpPr>
          <p:cNvPr id="32" name="slot_47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3" name="ri_48" descr="What do you do?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4" name="box_49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do?</a:t>
            </a:r>
            <a:endParaRPr lang="en-US" sz="1300" dirty="0"/>
          </a:p>
        </p:txBody>
      </p:sp>
      <p:sp>
        <p:nvSpPr>
          <p:cNvPr id="35" name="R1_ans"/>
          <p:cNvSpPr txBox="1"/>
          <p:nvPr/>
        </p:nvSpPr>
        <p:spPr>
          <a:xfrm rot="-120000">
            <a:off x="411480" y="3886200"/>
            <a:ext cx="224028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answer! Say WHY: 'I think … is the worst because …'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Common verb phrases</a:t>
            </a:r>
            <a:endParaRPr lang="en-US" sz="900" dirty="0"/>
          </a:p>
        </p:txBody>
      </p:sp>
      <p:sp>
        <p:nvSpPr>
          <p:cNvPr id="6" name="timer_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55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you do?</a:t>
            </a:r>
            <a:endParaRPr lang="en-US" sz="1500" dirty="0"/>
          </a:p>
        </p:txBody>
      </p:sp>
      <p:sp>
        <p:nvSpPr>
          <p:cNvPr id="9" name="post_5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5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5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pictures. Say the verb phrase in English. Then click.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le immagini. Di' l'espressione in inglese. Poi clicca.</a:t>
            </a:r>
            <a:endParaRPr lang="en-US" sz="1100" dirty="0"/>
          </a:p>
        </p:txBody>
      </p:sp>
      <p:sp>
        <p:nvSpPr>
          <p:cNvPr id="12" name="pt_59"/>
          <p:cNvSpPr/>
          <p:nvPr/>
        </p:nvSpPr>
        <p:spPr>
          <a:xfrm>
            <a:off x="2788920" y="1325880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pn_60"/>
          <p:cNvSpPr txBox="1"/>
          <p:nvPr/>
        </p:nvSpPr>
        <p:spPr>
          <a:xfrm>
            <a:off x="2834640" y="1362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pic>
        <p:nvPicPr>
          <p:cNvPr id="14" name="pi_61" descr="live in a fl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222" y="1380744"/>
            <a:ext cx="1165860" cy="1165860"/>
          </a:xfrm>
          <a:prstGeom prst="rect">
            <a:avLst/>
          </a:prstGeom>
        </p:spPr>
      </p:pic>
      <p:sp>
        <p:nvSpPr>
          <p:cNvPr id="15" name="R1_pw0"/>
          <p:cNvSpPr txBox="1"/>
          <p:nvPr/>
        </p:nvSpPr>
        <p:spPr>
          <a:xfrm>
            <a:off x="2825496" y="2528316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flat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vivere in un appartamento</a:t>
            </a:r>
            <a:endParaRPr lang="en-US" sz="1100" dirty="0"/>
          </a:p>
        </p:txBody>
      </p:sp>
      <p:sp>
        <p:nvSpPr>
          <p:cNvPr id="16" name="pt_62"/>
          <p:cNvSpPr/>
          <p:nvPr/>
        </p:nvSpPr>
        <p:spPr>
          <a:xfrm>
            <a:off x="4325112" y="1325880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pn_63"/>
          <p:cNvSpPr txBox="1"/>
          <p:nvPr/>
        </p:nvSpPr>
        <p:spPr>
          <a:xfrm>
            <a:off x="4370832" y="1362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pic>
        <p:nvPicPr>
          <p:cNvPr id="18" name="pi_64" descr="have brothers and sist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414" y="1380744"/>
            <a:ext cx="1165860" cy="1165860"/>
          </a:xfrm>
          <a:prstGeom prst="rect">
            <a:avLst/>
          </a:prstGeom>
        </p:spPr>
      </p:pic>
      <p:sp>
        <p:nvSpPr>
          <p:cNvPr id="19" name="R1_pw1"/>
          <p:cNvSpPr txBox="1"/>
          <p:nvPr/>
        </p:nvSpPr>
        <p:spPr>
          <a:xfrm>
            <a:off x="4361688" y="2528316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brothers and sisters</a:t>
            </a:r>
            <a:endParaRPr lang="en-US" sz="8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avere fratelli e sorelle</a:t>
            </a:r>
            <a:endParaRPr lang="en-US" sz="850" dirty="0"/>
          </a:p>
        </p:txBody>
      </p:sp>
      <p:sp>
        <p:nvSpPr>
          <p:cNvPr id="20" name="pt_65"/>
          <p:cNvSpPr/>
          <p:nvPr/>
        </p:nvSpPr>
        <p:spPr>
          <a:xfrm>
            <a:off x="5861304" y="1325880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pn_66"/>
          <p:cNvSpPr txBox="1"/>
          <p:nvPr/>
        </p:nvSpPr>
        <p:spPr>
          <a:xfrm>
            <a:off x="5907024" y="1362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pic>
        <p:nvPicPr>
          <p:cNvPr id="22" name="pi_67" descr="do spo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606" y="1380744"/>
            <a:ext cx="1165860" cy="1165860"/>
          </a:xfrm>
          <a:prstGeom prst="rect">
            <a:avLst/>
          </a:prstGeom>
        </p:spPr>
      </p:pic>
      <p:sp>
        <p:nvSpPr>
          <p:cNvPr id="23" name="R1_pw2"/>
          <p:cNvSpPr txBox="1"/>
          <p:nvPr/>
        </p:nvSpPr>
        <p:spPr>
          <a:xfrm>
            <a:off x="5897880" y="2528316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sport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sport</a:t>
            </a:r>
            <a:endParaRPr lang="en-US" sz="1300" dirty="0"/>
          </a:p>
        </p:txBody>
      </p:sp>
      <p:sp>
        <p:nvSpPr>
          <p:cNvPr id="24" name="pt_68"/>
          <p:cNvSpPr/>
          <p:nvPr/>
        </p:nvSpPr>
        <p:spPr>
          <a:xfrm>
            <a:off x="7397496" y="1325880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pn_69"/>
          <p:cNvSpPr txBox="1"/>
          <p:nvPr/>
        </p:nvSpPr>
        <p:spPr>
          <a:xfrm>
            <a:off x="7443216" y="1362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pic>
        <p:nvPicPr>
          <p:cNvPr id="26" name="pi_70" descr="listen to musi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798" y="1380744"/>
            <a:ext cx="1165860" cy="1165860"/>
          </a:xfrm>
          <a:prstGeom prst="rect">
            <a:avLst/>
          </a:prstGeom>
        </p:spPr>
      </p:pic>
      <p:sp>
        <p:nvSpPr>
          <p:cNvPr id="27" name="R1_pw3"/>
          <p:cNvSpPr txBox="1"/>
          <p:nvPr/>
        </p:nvSpPr>
        <p:spPr>
          <a:xfrm>
            <a:off x="7434072" y="2528316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music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ascoltare musica</a:t>
            </a:r>
            <a:endParaRPr lang="en-US" sz="1300" dirty="0"/>
          </a:p>
        </p:txBody>
      </p:sp>
      <p:sp>
        <p:nvSpPr>
          <p:cNvPr id="28" name="pt_71"/>
          <p:cNvSpPr/>
          <p:nvPr/>
        </p:nvSpPr>
        <p:spPr>
          <a:xfrm>
            <a:off x="2788920" y="3058668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pn_72"/>
          <p:cNvSpPr txBox="1"/>
          <p:nvPr/>
        </p:nvSpPr>
        <p:spPr>
          <a:xfrm>
            <a:off x="2834640" y="30952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pic>
        <p:nvPicPr>
          <p:cNvPr id="30" name="pi_73" descr="watch TV seri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9222" y="3113532"/>
            <a:ext cx="1165860" cy="1165860"/>
          </a:xfrm>
          <a:prstGeom prst="rect">
            <a:avLst/>
          </a:prstGeom>
        </p:spPr>
      </p:pic>
      <p:sp>
        <p:nvSpPr>
          <p:cNvPr id="31" name="R1_pw4"/>
          <p:cNvSpPr txBox="1"/>
          <p:nvPr/>
        </p:nvSpPr>
        <p:spPr>
          <a:xfrm>
            <a:off x="2825496" y="4261104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TV series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guardare serie TV</a:t>
            </a:r>
            <a:endParaRPr lang="en-US" sz="1300" dirty="0"/>
          </a:p>
        </p:txBody>
      </p:sp>
      <p:sp>
        <p:nvSpPr>
          <p:cNvPr id="32" name="pt_74"/>
          <p:cNvSpPr/>
          <p:nvPr/>
        </p:nvSpPr>
        <p:spPr>
          <a:xfrm>
            <a:off x="4325112" y="3058668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pn_75"/>
          <p:cNvSpPr txBox="1"/>
          <p:nvPr/>
        </p:nvSpPr>
        <p:spPr>
          <a:xfrm>
            <a:off x="4370832" y="30952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pic>
        <p:nvPicPr>
          <p:cNvPr id="34" name="pi_76" descr="go to the cinem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5414" y="3113532"/>
            <a:ext cx="1165860" cy="1165860"/>
          </a:xfrm>
          <a:prstGeom prst="rect">
            <a:avLst/>
          </a:prstGeom>
        </p:spPr>
      </p:pic>
      <p:sp>
        <p:nvSpPr>
          <p:cNvPr id="35" name="R1_pw5"/>
          <p:cNvSpPr txBox="1"/>
          <p:nvPr/>
        </p:nvSpPr>
        <p:spPr>
          <a:xfrm>
            <a:off x="4361688" y="4261104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cinema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andare al cinema</a:t>
            </a:r>
            <a:endParaRPr lang="en-US" sz="1300" dirty="0"/>
          </a:p>
        </p:txBody>
      </p:sp>
      <p:sp>
        <p:nvSpPr>
          <p:cNvPr id="36" name="pt_77"/>
          <p:cNvSpPr/>
          <p:nvPr/>
        </p:nvSpPr>
        <p:spPr>
          <a:xfrm>
            <a:off x="5861304" y="3058668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7" name="pn_78"/>
          <p:cNvSpPr txBox="1"/>
          <p:nvPr/>
        </p:nvSpPr>
        <p:spPr>
          <a:xfrm>
            <a:off x="5907024" y="30952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pic>
        <p:nvPicPr>
          <p:cNvPr id="38" name="pi_79" descr="speak languag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1606" y="3113532"/>
            <a:ext cx="1165860" cy="1165860"/>
          </a:xfrm>
          <a:prstGeom prst="rect">
            <a:avLst/>
          </a:prstGeom>
        </p:spPr>
      </p:pic>
      <p:sp>
        <p:nvSpPr>
          <p:cNvPr id="39" name="R1_pw6"/>
          <p:cNvSpPr txBox="1"/>
          <p:nvPr/>
        </p:nvSpPr>
        <p:spPr>
          <a:xfrm>
            <a:off x="5897880" y="4261104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languages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parlare lingue</a:t>
            </a:r>
            <a:endParaRPr lang="en-US" sz="1250" dirty="0"/>
          </a:p>
        </p:txBody>
      </p:sp>
      <p:sp>
        <p:nvSpPr>
          <p:cNvPr id="40" name="pt_80"/>
          <p:cNvSpPr/>
          <p:nvPr/>
        </p:nvSpPr>
        <p:spPr>
          <a:xfrm>
            <a:off x="7397496" y="3058668"/>
            <a:ext cx="1426464" cy="16230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1" name="pn_81"/>
          <p:cNvSpPr txBox="1"/>
          <p:nvPr/>
        </p:nvSpPr>
        <p:spPr>
          <a:xfrm>
            <a:off x="7443216" y="30952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pic>
        <p:nvPicPr>
          <p:cNvPr id="42" name="pi_82" descr="get up earl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7798" y="3113532"/>
            <a:ext cx="1165860" cy="1165860"/>
          </a:xfrm>
          <a:prstGeom prst="rect">
            <a:avLst/>
          </a:prstGeom>
        </p:spPr>
      </p:pic>
      <p:sp>
        <p:nvSpPr>
          <p:cNvPr id="43" name="R1_pw7"/>
          <p:cNvSpPr txBox="1"/>
          <p:nvPr/>
        </p:nvSpPr>
        <p:spPr>
          <a:xfrm>
            <a:off x="7434072" y="4261104"/>
            <a:ext cx="1353312" cy="384048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 early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alzarsi presto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8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· Common verb phrases</a:t>
            </a:r>
            <a:endParaRPr lang="en-US" sz="900" dirty="0"/>
          </a:p>
        </p:txBody>
      </p:sp>
      <p:sp>
        <p:nvSpPr>
          <p:cNvPr id="6" name="timer_8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8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88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the questions</a:t>
            </a:r>
            <a:endParaRPr lang="en-US" sz="1500" dirty="0"/>
          </a:p>
        </p:txBody>
      </p:sp>
      <p:sp>
        <p:nvSpPr>
          <p:cNvPr id="9" name="post_8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9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9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missing verb from the pictures. Then compare with a partner.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il verbo che manca (dalle immagini). Poi confronta con un compagno.</a:t>
            </a:r>
            <a:endParaRPr lang="en-US" sz="1000" dirty="0"/>
          </a:p>
        </p:txBody>
      </p:sp>
      <p:sp>
        <p:nvSpPr>
          <p:cNvPr id="12" name="iconBack_9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93" descr="pi:Pi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example_94"/>
          <p:cNvSpPr txBox="1"/>
          <p:nvPr/>
        </p:nvSpPr>
        <p:spPr>
          <a:xfrm>
            <a:off x="2788920" y="1298448"/>
            <a:ext cx="6035040" cy="420624"/>
          </a:xfrm>
          <a:prstGeom prst="rect">
            <a:avLst/>
          </a:prstGeom>
          <a:solidFill>
            <a:srgbClr val="FFF7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Do you ___ coffee in the morning?  →  drink</a:t>
            </a:r>
            <a:endParaRPr lang="en-US" sz="1350" dirty="0"/>
          </a:p>
        </p:txBody>
      </p:sp>
      <p:sp>
        <p:nvSpPr>
          <p:cNvPr id="15" name="box_95"/>
          <p:cNvSpPr txBox="1"/>
          <p:nvPr/>
        </p:nvSpPr>
        <p:spPr>
          <a:xfrm>
            <a:off x="2788920" y="1810512"/>
            <a:ext cx="1831177" cy="61722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 you ___ in a house or a flat?</a:t>
            </a:r>
            <a:endParaRPr lang="en-US" sz="1400" dirty="0"/>
          </a:p>
        </p:txBody>
      </p:sp>
      <p:sp>
        <p:nvSpPr>
          <p:cNvPr id="16" name="R1_a0"/>
          <p:cNvSpPr txBox="1"/>
          <p:nvPr/>
        </p:nvSpPr>
        <p:spPr>
          <a:xfrm>
            <a:off x="4674961" y="1847088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17" name="box_96"/>
          <p:cNvSpPr txBox="1"/>
          <p:nvPr/>
        </p:nvSpPr>
        <p:spPr>
          <a:xfrm>
            <a:off x="5870448" y="1810512"/>
            <a:ext cx="1831177" cy="61722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 you ___ any brothers or sisters?</a:t>
            </a:r>
            <a:endParaRPr lang="en-US" sz="1400" dirty="0"/>
          </a:p>
        </p:txBody>
      </p:sp>
      <p:sp>
        <p:nvSpPr>
          <p:cNvPr id="18" name="R1_a1"/>
          <p:cNvSpPr txBox="1"/>
          <p:nvPr/>
        </p:nvSpPr>
        <p:spPr>
          <a:xfrm>
            <a:off x="7756489" y="1847088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400" dirty="0"/>
          </a:p>
        </p:txBody>
      </p:sp>
      <p:sp>
        <p:nvSpPr>
          <p:cNvPr id="19" name="box_97"/>
          <p:cNvSpPr txBox="1"/>
          <p:nvPr/>
        </p:nvSpPr>
        <p:spPr>
          <a:xfrm>
            <a:off x="2788920" y="2555748"/>
            <a:ext cx="1831177" cy="61722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Do you ___ any sport or exercise?</a:t>
            </a:r>
            <a:endParaRPr lang="en-US" sz="1400" dirty="0"/>
          </a:p>
        </p:txBody>
      </p:sp>
      <p:sp>
        <p:nvSpPr>
          <p:cNvPr id="20" name="R1_a2"/>
          <p:cNvSpPr txBox="1"/>
          <p:nvPr/>
        </p:nvSpPr>
        <p:spPr>
          <a:xfrm>
            <a:off x="4674961" y="2592324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21" name="box_98"/>
          <p:cNvSpPr txBox="1"/>
          <p:nvPr/>
        </p:nvSpPr>
        <p:spPr>
          <a:xfrm>
            <a:off x="5870448" y="2555748"/>
            <a:ext cx="1831177" cy="61722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kind of music do you ___?</a:t>
            </a:r>
            <a:endParaRPr lang="en-US" sz="1400" dirty="0"/>
          </a:p>
        </p:txBody>
      </p:sp>
      <p:sp>
        <p:nvSpPr>
          <p:cNvPr id="22" name="R1_a3"/>
          <p:cNvSpPr txBox="1"/>
          <p:nvPr/>
        </p:nvSpPr>
        <p:spPr>
          <a:xfrm>
            <a:off x="7756489" y="2592324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</a:t>
            </a:r>
            <a:endParaRPr lang="en-US" sz="1400" dirty="0"/>
          </a:p>
        </p:txBody>
      </p:sp>
      <p:sp>
        <p:nvSpPr>
          <p:cNvPr id="23" name="box_99"/>
          <p:cNvSpPr txBox="1"/>
          <p:nvPr/>
        </p:nvSpPr>
        <p:spPr>
          <a:xfrm>
            <a:off x="2788920" y="3300984"/>
            <a:ext cx="1831177" cy="61722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TV series do you ___?</a:t>
            </a:r>
            <a:endParaRPr lang="en-US" sz="1400" dirty="0"/>
          </a:p>
        </p:txBody>
      </p:sp>
      <p:sp>
        <p:nvSpPr>
          <p:cNvPr id="24" name="R1_a4"/>
          <p:cNvSpPr txBox="1"/>
          <p:nvPr/>
        </p:nvSpPr>
        <p:spPr>
          <a:xfrm>
            <a:off x="4674961" y="3337560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400" dirty="0"/>
          </a:p>
        </p:txBody>
      </p:sp>
      <p:sp>
        <p:nvSpPr>
          <p:cNvPr id="25" name="box_100"/>
          <p:cNvSpPr txBox="1"/>
          <p:nvPr/>
        </p:nvSpPr>
        <p:spPr>
          <a:xfrm>
            <a:off x="5870448" y="3300984"/>
            <a:ext cx="1831177" cy="61722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How often do you ___ the cinema?</a:t>
            </a:r>
            <a:endParaRPr lang="en-US" sz="1400" dirty="0"/>
          </a:p>
        </p:txBody>
      </p:sp>
      <p:sp>
        <p:nvSpPr>
          <p:cNvPr id="26" name="R1_a5"/>
          <p:cNvSpPr txBox="1"/>
          <p:nvPr/>
        </p:nvSpPr>
        <p:spPr>
          <a:xfrm>
            <a:off x="7756489" y="3337560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</a:t>
            </a:r>
            <a:endParaRPr lang="en-US" sz="1400" dirty="0"/>
          </a:p>
        </p:txBody>
      </p:sp>
      <p:sp>
        <p:nvSpPr>
          <p:cNvPr id="27" name="box_101"/>
          <p:cNvSpPr txBox="1"/>
          <p:nvPr/>
        </p:nvSpPr>
        <p:spPr>
          <a:xfrm>
            <a:off x="2788920" y="4046220"/>
            <a:ext cx="1831177" cy="61722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Can you ___ any other languages?</a:t>
            </a:r>
            <a:endParaRPr lang="en-US" sz="1400" dirty="0"/>
          </a:p>
        </p:txBody>
      </p:sp>
      <p:sp>
        <p:nvSpPr>
          <p:cNvPr id="28" name="R1_a6"/>
          <p:cNvSpPr txBox="1"/>
          <p:nvPr/>
        </p:nvSpPr>
        <p:spPr>
          <a:xfrm>
            <a:off x="4674961" y="4082796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400" dirty="0"/>
          </a:p>
        </p:txBody>
      </p:sp>
      <p:sp>
        <p:nvSpPr>
          <p:cNvPr id="29" name="box_102"/>
          <p:cNvSpPr txBox="1"/>
          <p:nvPr/>
        </p:nvSpPr>
        <p:spPr>
          <a:xfrm>
            <a:off x="5870448" y="4046220"/>
            <a:ext cx="1831177" cy="61722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What time do you ___ during the week?</a:t>
            </a:r>
            <a:endParaRPr lang="en-US" sz="1300" dirty="0"/>
          </a:p>
        </p:txBody>
      </p:sp>
      <p:sp>
        <p:nvSpPr>
          <p:cNvPr id="30" name="R1_a7"/>
          <p:cNvSpPr txBox="1"/>
          <p:nvPr/>
        </p:nvSpPr>
        <p:spPr>
          <a:xfrm>
            <a:off x="7756489" y="4082796"/>
            <a:ext cx="1067471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</a:t>
            </a:r>
            <a:endParaRPr lang="en-US" sz="1400" dirty="0"/>
          </a:p>
        </p:txBody>
      </p:sp>
      <p:sp>
        <p:nvSpPr>
          <p:cNvPr id="31" name="sticky_103"/>
          <p:cNvSpPr txBox="1"/>
          <p:nvPr/>
        </p:nvSpPr>
        <p:spPr>
          <a:xfrm rot="-120000">
            <a:off x="411480" y="406908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trap: fare sport = DO sport (not make)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0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Notice</a:t>
            </a:r>
            <a:endParaRPr lang="en-US" sz="900" dirty="0"/>
          </a:p>
        </p:txBody>
      </p:sp>
      <p:sp>
        <p:nvSpPr>
          <p:cNvPr id="6" name="timer_10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0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109"/>
          <p:cNvSpPr txBox="1"/>
          <p:nvPr/>
        </p:nvSpPr>
        <p:spPr>
          <a:xfrm rot="-120000">
            <a:off x="320040" y="676656"/>
            <a:ext cx="623620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at the 2nd word. What is it?</a:t>
            </a:r>
            <a:endParaRPr lang="en-US" sz="1500" dirty="0"/>
          </a:p>
        </p:txBody>
      </p:sp>
      <p:sp>
        <p:nvSpPr>
          <p:cNvPr id="9" name="post_11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1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words have in common? Guess BEFORE the click.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hanno in comune? Indovina PRIMA del clic.</a:t>
            </a:r>
            <a:endParaRPr lang="en-US" sz="1200" dirty="0"/>
          </a:p>
        </p:txBody>
      </p:sp>
      <p:sp>
        <p:nvSpPr>
          <p:cNvPr id="12" name="iconBack_113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14" descr="pi:Pi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15"/>
          <p:cNvSpPr txBox="1"/>
          <p:nvPr/>
        </p:nvSpPr>
        <p:spPr>
          <a:xfrm>
            <a:off x="2788920" y="1371600"/>
            <a:ext cx="3741725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   DO   you live?</a:t>
            </a:r>
            <a:endParaRPr lang="en-US" sz="1500" dirty="0"/>
          </a:p>
        </p:txBody>
      </p:sp>
      <p:sp>
        <p:nvSpPr>
          <p:cNvPr id="15" name="R1_a0"/>
          <p:cNvSpPr txBox="1"/>
          <p:nvPr/>
        </p:nvSpPr>
        <p:spPr>
          <a:xfrm>
            <a:off x="6585509" y="1408176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→ present</a:t>
            </a:r>
            <a:endParaRPr lang="en-US" sz="1300" dirty="0"/>
          </a:p>
        </p:txBody>
      </p:sp>
      <p:sp>
        <p:nvSpPr>
          <p:cNvPr id="16" name="box_116"/>
          <p:cNvSpPr txBox="1"/>
          <p:nvPr/>
        </p:nvSpPr>
        <p:spPr>
          <a:xfrm>
            <a:off x="2788920" y="2055571"/>
            <a:ext cx="374172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Where   DID   you study English before?</a:t>
            </a:r>
            <a:endParaRPr lang="en-US" sz="1400" dirty="0"/>
          </a:p>
        </p:txBody>
      </p:sp>
      <p:sp>
        <p:nvSpPr>
          <p:cNvPr id="17" name="R2_a1"/>
          <p:cNvSpPr txBox="1"/>
          <p:nvPr/>
        </p:nvSpPr>
        <p:spPr>
          <a:xfrm>
            <a:off x="6585509" y="2092147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→ past</a:t>
            </a:r>
            <a:endParaRPr lang="en-US" sz="1300" dirty="0"/>
          </a:p>
        </p:txBody>
      </p:sp>
      <p:sp>
        <p:nvSpPr>
          <p:cNvPr id="18" name="box_117"/>
          <p:cNvSpPr txBox="1"/>
          <p:nvPr/>
        </p:nvSpPr>
        <p:spPr>
          <a:xfrm>
            <a:off x="2788920" y="2739542"/>
            <a:ext cx="3741725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time   DOES   your partner get up?</a:t>
            </a:r>
            <a:endParaRPr lang="en-US" sz="1400" dirty="0"/>
          </a:p>
        </p:txBody>
      </p:sp>
      <p:sp>
        <p:nvSpPr>
          <p:cNvPr id="19" name="R3_a2"/>
          <p:cNvSpPr txBox="1"/>
          <p:nvPr/>
        </p:nvSpPr>
        <p:spPr>
          <a:xfrm>
            <a:off x="6585509" y="2776118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→ he / she / it</a:t>
            </a:r>
            <a:endParaRPr lang="en-US" sz="1300" dirty="0"/>
          </a:p>
        </p:txBody>
      </p:sp>
      <p:sp>
        <p:nvSpPr>
          <p:cNvPr id="20" name="box_118"/>
          <p:cNvSpPr txBox="1"/>
          <p:nvPr/>
        </p:nvSpPr>
        <p:spPr>
          <a:xfrm>
            <a:off x="2788920" y="3423514"/>
            <a:ext cx="374172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ARE   you married?</a:t>
            </a:r>
            <a:endParaRPr lang="en-US" sz="1500" dirty="0"/>
          </a:p>
        </p:txBody>
      </p:sp>
      <p:sp>
        <p:nvSpPr>
          <p:cNvPr id="21" name="R4_a3"/>
          <p:cNvSpPr txBox="1"/>
          <p:nvPr/>
        </p:nvSpPr>
        <p:spPr>
          <a:xfrm>
            <a:off x="6585509" y="3460090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→ be (no do!)</a:t>
            </a:r>
            <a:endParaRPr lang="en-US" sz="1300" dirty="0"/>
          </a:p>
        </p:txBody>
      </p:sp>
      <p:sp>
        <p:nvSpPr>
          <p:cNvPr id="22" name="box_119"/>
          <p:cNvSpPr txBox="1"/>
          <p:nvPr/>
        </p:nvSpPr>
        <p:spPr>
          <a:xfrm>
            <a:off x="2788920" y="4107485"/>
            <a:ext cx="3741725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CAN   you speak French?</a:t>
            </a:r>
            <a:endParaRPr lang="en-US" sz="1500" dirty="0"/>
          </a:p>
        </p:txBody>
      </p:sp>
      <p:sp>
        <p:nvSpPr>
          <p:cNvPr id="23" name="R5_a4"/>
          <p:cNvSpPr txBox="1"/>
          <p:nvPr/>
        </p:nvSpPr>
        <p:spPr>
          <a:xfrm>
            <a:off x="6585509" y="4144061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→ can (no do!)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2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Word order in questions</a:t>
            </a:r>
            <a:endParaRPr lang="en-US" sz="900" dirty="0"/>
          </a:p>
        </p:txBody>
      </p:sp>
      <p:sp>
        <p:nvSpPr>
          <p:cNvPr id="6" name="timer_12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2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125"/>
          <p:cNvSpPr txBox="1"/>
          <p:nvPr/>
        </p:nvSpPr>
        <p:spPr>
          <a:xfrm rot="-120000">
            <a:off x="320040" y="676656"/>
            <a:ext cx="276148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– A – S – I</a:t>
            </a:r>
            <a:endParaRPr lang="en-US" sz="1500" dirty="0"/>
          </a:p>
        </p:txBody>
      </p:sp>
      <p:sp>
        <p:nvSpPr>
          <p:cNvPr id="9" name="rh_126"/>
          <p:cNvSpPr txBox="1"/>
          <p:nvPr/>
        </p:nvSpPr>
        <p:spPr>
          <a:xfrm>
            <a:off x="320040" y="1371600"/>
            <a:ext cx="2029968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· question word</a:t>
            </a:r>
            <a:endParaRPr lang="en-US" sz="1300" dirty="0"/>
          </a:p>
        </p:txBody>
      </p:sp>
      <p:sp>
        <p:nvSpPr>
          <p:cNvPr id="10" name="rb_127"/>
          <p:cNvSpPr txBox="1"/>
          <p:nvPr/>
        </p:nvSpPr>
        <p:spPr>
          <a:xfrm>
            <a:off x="320040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(none)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interrogativa</a:t>
            </a:r>
            <a:endParaRPr lang="en-US" sz="1350" dirty="0"/>
          </a:p>
        </p:txBody>
      </p:sp>
      <p:sp>
        <p:nvSpPr>
          <p:cNvPr id="11" name="rh_128"/>
          <p:cNvSpPr txBox="1"/>
          <p:nvPr/>
        </p:nvSpPr>
        <p:spPr>
          <a:xfrm>
            <a:off x="2478024" y="1371600"/>
            <a:ext cx="2029968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· auxiliary</a:t>
            </a:r>
            <a:endParaRPr lang="en-US" sz="1300" dirty="0"/>
          </a:p>
        </p:txBody>
      </p:sp>
      <p:sp>
        <p:nvSpPr>
          <p:cNvPr id="12" name="rb_129"/>
          <p:cNvSpPr txBox="1"/>
          <p:nvPr/>
        </p:nvSpPr>
        <p:spPr>
          <a:xfrm>
            <a:off x="2478024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/ can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/ does / did / be / can</a:t>
            </a:r>
            <a:endParaRPr lang="en-US" sz="1350" dirty="0"/>
          </a:p>
        </p:txBody>
      </p:sp>
      <p:sp>
        <p:nvSpPr>
          <p:cNvPr id="13" name="rh_130"/>
          <p:cNvSpPr txBox="1"/>
          <p:nvPr/>
        </p:nvSpPr>
        <p:spPr>
          <a:xfrm>
            <a:off x="4636008" y="1371600"/>
            <a:ext cx="2029968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 · subject</a:t>
            </a:r>
            <a:endParaRPr lang="en-US" sz="1300" dirty="0"/>
          </a:p>
        </p:txBody>
      </p:sp>
      <p:sp>
        <p:nvSpPr>
          <p:cNvPr id="14" name="rb_131"/>
          <p:cNvSpPr txBox="1"/>
          <p:nvPr/>
        </p:nvSpPr>
        <p:spPr>
          <a:xfrm>
            <a:off x="4636008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soggetto</a:t>
            </a:r>
            <a:endParaRPr lang="en-US" sz="1350" dirty="0"/>
          </a:p>
        </p:txBody>
      </p:sp>
      <p:sp>
        <p:nvSpPr>
          <p:cNvPr id="15" name="rh_132"/>
          <p:cNvSpPr txBox="1"/>
          <p:nvPr/>
        </p:nvSpPr>
        <p:spPr>
          <a:xfrm>
            <a:off x="6793992" y="1371600"/>
            <a:ext cx="2029968" cy="384048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· infinitive</a:t>
            </a:r>
            <a:endParaRPr lang="en-US" sz="1300" dirty="0"/>
          </a:p>
        </p:txBody>
      </p:sp>
      <p:sp>
        <p:nvSpPr>
          <p:cNvPr id="16" name="rb_133"/>
          <p:cNvSpPr txBox="1"/>
          <p:nvPr/>
        </p:nvSpPr>
        <p:spPr>
          <a:xfrm>
            <a:off x="6793992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gym?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married? / swim?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base (senza -s, senza -ed)</a:t>
            </a:r>
            <a:endParaRPr lang="en-US" sz="1350" dirty="0"/>
          </a:p>
        </p:txBody>
      </p:sp>
      <p:sp>
        <p:nvSpPr>
          <p:cNvPr id="17" name="watch_134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Italian: Dove vivi?  →  In English: Where DO you live?  (NOT Where you live?)  ·  did + infinitive: What did you DO? (not did you did)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· Error hunt</a:t>
            </a:r>
            <a:endParaRPr lang="en-US" sz="900" dirty="0"/>
          </a:p>
        </p:txBody>
      </p:sp>
      <p:sp>
        <p:nvSpPr>
          <p:cNvPr id="6" name="timer_1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140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the mistake!</a:t>
            </a:r>
            <a:endParaRPr lang="en-US" sz="1500" dirty="0"/>
          </a:p>
        </p:txBody>
      </p:sp>
      <p:sp>
        <p:nvSpPr>
          <p:cNvPr id="9" name="post_14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4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4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has ONE mistake. Correct it in pairs.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domanda ha UN errore. Correggetelo in coppia.</a:t>
            </a:r>
            <a:endParaRPr lang="en-US" sz="1250" dirty="0"/>
          </a:p>
        </p:txBody>
      </p:sp>
      <p:sp>
        <p:nvSpPr>
          <p:cNvPr id="12" name="iconBack_14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45" descr="pi:PiB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example_146"/>
          <p:cNvSpPr txBox="1"/>
          <p:nvPr/>
        </p:nvSpPr>
        <p:spPr>
          <a:xfrm>
            <a:off x="2788920" y="1298448"/>
            <a:ext cx="6035040" cy="420624"/>
          </a:xfrm>
          <a:prstGeom prst="rect">
            <a:avLst/>
          </a:prstGeom>
          <a:solidFill>
            <a:srgbClr val="FFF7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Where you work?  →  Where DO you work?  (the helper verb is missing)</a:t>
            </a:r>
            <a:endParaRPr lang="en-US" sz="1150" dirty="0"/>
          </a:p>
        </p:txBody>
      </p:sp>
      <p:sp>
        <p:nvSpPr>
          <p:cNvPr id="15" name="box_147"/>
          <p:cNvSpPr txBox="1"/>
          <p:nvPr/>
        </p:nvSpPr>
        <p:spPr>
          <a:xfrm>
            <a:off x="2788920" y="1810512"/>
            <a:ext cx="1476756" cy="8656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 you live?</a:t>
            </a:r>
            <a:endParaRPr lang="en-US" sz="1400" dirty="0"/>
          </a:p>
        </p:txBody>
      </p:sp>
      <p:sp>
        <p:nvSpPr>
          <p:cNvPr id="16" name="R1_a0"/>
          <p:cNvSpPr txBox="1"/>
          <p:nvPr/>
        </p:nvSpPr>
        <p:spPr>
          <a:xfrm>
            <a:off x="4320540" y="1847088"/>
            <a:ext cx="1421892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live?</a:t>
            </a:r>
            <a:endParaRPr lang="en-US" sz="1250" dirty="0"/>
          </a:p>
        </p:txBody>
      </p:sp>
      <p:sp>
        <p:nvSpPr>
          <p:cNvPr id="17" name="box_148"/>
          <p:cNvSpPr txBox="1"/>
          <p:nvPr/>
        </p:nvSpPr>
        <p:spPr>
          <a:xfrm>
            <a:off x="5870448" y="1810512"/>
            <a:ext cx="1476756" cy="8656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means 'shy'?</a:t>
            </a:r>
            <a:endParaRPr lang="en-US" sz="1400" dirty="0"/>
          </a:p>
        </p:txBody>
      </p:sp>
      <p:sp>
        <p:nvSpPr>
          <p:cNvPr id="18" name="R2_a1"/>
          <p:cNvSpPr txBox="1"/>
          <p:nvPr/>
        </p:nvSpPr>
        <p:spPr>
          <a:xfrm>
            <a:off x="7402068" y="1847088"/>
            <a:ext cx="1421892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'shy' mean?</a:t>
            </a:r>
            <a:endParaRPr lang="en-US" sz="1250" dirty="0"/>
          </a:p>
        </p:txBody>
      </p:sp>
      <p:sp>
        <p:nvSpPr>
          <p:cNvPr id="19" name="box_149"/>
          <p:cNvSpPr txBox="1"/>
          <p:nvPr/>
        </p:nvSpPr>
        <p:spPr>
          <a:xfrm>
            <a:off x="2788920" y="2804160"/>
            <a:ext cx="1476756" cy="8656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are married?</a:t>
            </a:r>
            <a:endParaRPr lang="en-US" sz="1400" dirty="0"/>
          </a:p>
        </p:txBody>
      </p:sp>
      <p:sp>
        <p:nvSpPr>
          <p:cNvPr id="20" name="R3_a2"/>
          <p:cNvSpPr txBox="1"/>
          <p:nvPr/>
        </p:nvSpPr>
        <p:spPr>
          <a:xfrm>
            <a:off x="4320540" y="2840736"/>
            <a:ext cx="1421892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married?</a:t>
            </a:r>
            <a:endParaRPr lang="en-US" sz="1250" dirty="0"/>
          </a:p>
        </p:txBody>
      </p:sp>
      <p:sp>
        <p:nvSpPr>
          <p:cNvPr id="21" name="box_150"/>
          <p:cNvSpPr txBox="1"/>
          <p:nvPr/>
        </p:nvSpPr>
        <p:spPr>
          <a:xfrm>
            <a:off x="5870448" y="2804160"/>
            <a:ext cx="1476756" cy="865632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Where you were born?</a:t>
            </a:r>
            <a:endParaRPr lang="en-US" sz="1400" dirty="0"/>
          </a:p>
        </p:txBody>
      </p:sp>
      <p:sp>
        <p:nvSpPr>
          <p:cNvPr id="22" name="R4_a3"/>
          <p:cNvSpPr txBox="1"/>
          <p:nvPr/>
        </p:nvSpPr>
        <p:spPr>
          <a:xfrm>
            <a:off x="7402068" y="2840736"/>
            <a:ext cx="1421892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were you born?</a:t>
            </a:r>
            <a:endParaRPr lang="en-US" sz="1250" dirty="0"/>
          </a:p>
        </p:txBody>
      </p:sp>
      <p:sp>
        <p:nvSpPr>
          <p:cNvPr id="23" name="box_151"/>
          <p:cNvSpPr txBox="1"/>
          <p:nvPr/>
        </p:nvSpPr>
        <p:spPr>
          <a:xfrm>
            <a:off x="2788920" y="3797808"/>
            <a:ext cx="1476756" cy="865632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did you on Saturday?</a:t>
            </a:r>
            <a:endParaRPr lang="en-US" sz="1400" dirty="0"/>
          </a:p>
        </p:txBody>
      </p:sp>
      <p:sp>
        <p:nvSpPr>
          <p:cNvPr id="24" name="R5_a4"/>
          <p:cNvSpPr txBox="1"/>
          <p:nvPr/>
        </p:nvSpPr>
        <p:spPr>
          <a:xfrm>
            <a:off x="4320540" y="3834384"/>
            <a:ext cx="1421892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on Saturday?</a:t>
            </a:r>
            <a:endParaRPr lang="en-US" sz="1250" dirty="0"/>
          </a:p>
        </p:txBody>
      </p:sp>
      <p:sp>
        <p:nvSpPr>
          <p:cNvPr id="25" name="box_152"/>
          <p:cNvSpPr txBox="1"/>
          <p:nvPr/>
        </p:nvSpPr>
        <p:spPr>
          <a:xfrm>
            <a:off x="5870448" y="3797808"/>
            <a:ext cx="1476756" cy="865632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How often you go to the gym?</a:t>
            </a:r>
            <a:endParaRPr lang="en-US" sz="1400" dirty="0"/>
          </a:p>
        </p:txBody>
      </p:sp>
      <p:sp>
        <p:nvSpPr>
          <p:cNvPr id="26" name="R6_a5"/>
          <p:cNvSpPr txBox="1"/>
          <p:nvPr/>
        </p:nvSpPr>
        <p:spPr>
          <a:xfrm>
            <a:off x="7402068" y="3834384"/>
            <a:ext cx="1421892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go to the gym?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5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· Word order</a:t>
            </a:r>
            <a:endParaRPr lang="en-US" sz="900" dirty="0"/>
          </a:p>
        </p:txBody>
      </p:sp>
      <p:sp>
        <p:nvSpPr>
          <p:cNvPr id="6" name="timer_15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5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158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the question</a:t>
            </a:r>
            <a:endParaRPr lang="en-US" sz="1500" dirty="0"/>
          </a:p>
        </p:txBody>
      </p:sp>
      <p:sp>
        <p:nvSpPr>
          <p:cNvPr id="9" name="post_15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6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words in order to make a question. Write it on paper. Then check.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le parole in ordine e scrivi la domanda. Poi controlla.</a:t>
            </a:r>
            <a:endParaRPr lang="en-US" sz="1200" dirty="0"/>
          </a:p>
        </p:txBody>
      </p:sp>
      <p:sp>
        <p:nvSpPr>
          <p:cNvPr id="12" name="iconBack_16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63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example_164"/>
          <p:cNvSpPr txBox="1"/>
          <p:nvPr/>
        </p:nvSpPr>
        <p:spPr>
          <a:xfrm>
            <a:off x="2788920" y="1298448"/>
            <a:ext cx="6035040" cy="420624"/>
          </a:xfrm>
          <a:prstGeom prst="rect">
            <a:avLst/>
          </a:prstGeom>
          <a:solidFill>
            <a:srgbClr val="FFF7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live / where / you / do / ?  →  Where do you live?  (Q – A – S – I)</a:t>
            </a:r>
            <a:endParaRPr lang="en-US" sz="1300" dirty="0"/>
          </a:p>
        </p:txBody>
      </p:sp>
      <p:sp>
        <p:nvSpPr>
          <p:cNvPr id="15" name="box_165"/>
          <p:cNvSpPr txBox="1"/>
          <p:nvPr/>
        </p:nvSpPr>
        <p:spPr>
          <a:xfrm>
            <a:off x="2788920" y="1810512"/>
            <a:ext cx="3017520" cy="468173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kind / you / what / of / do / films / like / ?</a:t>
            </a:r>
            <a:endParaRPr lang="en-US" sz="1100" dirty="0"/>
          </a:p>
        </p:txBody>
      </p:sp>
      <p:sp>
        <p:nvSpPr>
          <p:cNvPr id="16" name="R1_a0"/>
          <p:cNvSpPr txBox="1"/>
          <p:nvPr/>
        </p:nvSpPr>
        <p:spPr>
          <a:xfrm>
            <a:off x="5861304" y="1847088"/>
            <a:ext cx="2962656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films do you like?</a:t>
            </a:r>
            <a:endParaRPr lang="en-US" sz="1300" dirty="0"/>
          </a:p>
        </p:txBody>
      </p:sp>
      <p:sp>
        <p:nvSpPr>
          <p:cNvPr id="17" name="box_166"/>
          <p:cNvSpPr txBox="1"/>
          <p:nvPr/>
        </p:nvSpPr>
        <p:spPr>
          <a:xfrm>
            <a:off x="2788920" y="2406701"/>
            <a:ext cx="3017520" cy="468173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usually / you / lunch / where / do / eat / ?</a:t>
            </a:r>
            <a:endParaRPr lang="en-US" sz="1100" dirty="0"/>
          </a:p>
        </p:txBody>
      </p:sp>
      <p:sp>
        <p:nvSpPr>
          <p:cNvPr id="18" name="R2_a1"/>
          <p:cNvSpPr txBox="1"/>
          <p:nvPr/>
        </p:nvSpPr>
        <p:spPr>
          <a:xfrm>
            <a:off x="5861304" y="2443277"/>
            <a:ext cx="2962656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usually eat lunch?</a:t>
            </a:r>
            <a:endParaRPr lang="en-US" sz="1300" dirty="0"/>
          </a:p>
        </p:txBody>
      </p:sp>
      <p:sp>
        <p:nvSpPr>
          <p:cNvPr id="19" name="box_167"/>
          <p:cNvSpPr txBox="1"/>
          <p:nvPr/>
        </p:nvSpPr>
        <p:spPr>
          <a:xfrm>
            <a:off x="2788920" y="3002890"/>
            <a:ext cx="3017520" cy="468173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last / did / what / you / weekend / do / ?</a:t>
            </a:r>
            <a:endParaRPr lang="en-US" sz="1100" dirty="0"/>
          </a:p>
        </p:txBody>
      </p:sp>
      <p:sp>
        <p:nvSpPr>
          <p:cNvPr id="20" name="R3_a2"/>
          <p:cNvSpPr txBox="1"/>
          <p:nvPr/>
        </p:nvSpPr>
        <p:spPr>
          <a:xfrm>
            <a:off x="5861304" y="3039466"/>
            <a:ext cx="2962656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last weekend?</a:t>
            </a:r>
            <a:endParaRPr lang="en-US" sz="1300" dirty="0"/>
          </a:p>
        </p:txBody>
      </p:sp>
      <p:sp>
        <p:nvSpPr>
          <p:cNvPr id="21" name="box_168"/>
          <p:cNvSpPr txBox="1"/>
          <p:nvPr/>
        </p:nvSpPr>
        <p:spPr>
          <a:xfrm>
            <a:off x="2788920" y="3599078"/>
            <a:ext cx="3017520" cy="468173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/ languages / other / any / can / speak / ?</a:t>
            </a:r>
            <a:endParaRPr lang="en-US" sz="1000" dirty="0"/>
          </a:p>
        </p:txBody>
      </p:sp>
      <p:sp>
        <p:nvSpPr>
          <p:cNvPr id="22" name="R4_a3"/>
          <p:cNvSpPr txBox="1"/>
          <p:nvPr/>
        </p:nvSpPr>
        <p:spPr>
          <a:xfrm>
            <a:off x="5861304" y="3635654"/>
            <a:ext cx="2962656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speak any other languages?</a:t>
            </a:r>
            <a:endParaRPr lang="en-US" sz="1300" dirty="0"/>
          </a:p>
        </p:txBody>
      </p:sp>
      <p:sp>
        <p:nvSpPr>
          <p:cNvPr id="23" name="box_169"/>
          <p:cNvSpPr txBox="1"/>
          <p:nvPr/>
        </p:nvSpPr>
        <p:spPr>
          <a:xfrm>
            <a:off x="2788920" y="4195267"/>
            <a:ext cx="3017520" cy="468173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bed / go / you / do / what time / to / ?</a:t>
            </a:r>
            <a:endParaRPr lang="en-US" sz="1250" dirty="0"/>
          </a:p>
        </p:txBody>
      </p:sp>
      <p:sp>
        <p:nvSpPr>
          <p:cNvPr id="24" name="R5_a4"/>
          <p:cNvSpPr txBox="1"/>
          <p:nvPr/>
        </p:nvSpPr>
        <p:spPr>
          <a:xfrm>
            <a:off x="5861304" y="4231843"/>
            <a:ext cx="2962656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 you go to bed?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do you /djə/</a:t>
            </a:r>
            <a:endParaRPr lang="en-US" sz="900" dirty="0"/>
          </a:p>
        </p:txBody>
      </p:sp>
      <p:sp>
        <p:nvSpPr>
          <p:cNvPr id="6" name="timer_17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7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175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Hear the rhythm</a:t>
            </a:r>
            <a:endParaRPr lang="en-US" sz="1500" dirty="0"/>
          </a:p>
        </p:txBody>
      </p:sp>
      <p:sp>
        <p:nvSpPr>
          <p:cNvPr id="9" name="post_17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7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7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your teacher. Tap the table on the LOUD words. Then repeat.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l'insegnante. Batti sul banco sulle parole FORTI. Poi ripeti.</a:t>
            </a:r>
            <a:endParaRPr lang="en-US" sz="1050" dirty="0"/>
          </a:p>
        </p:txBody>
      </p:sp>
      <p:sp>
        <p:nvSpPr>
          <p:cNvPr id="12" name="iconBack_17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80" descr="pi:PiSpeakerHi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example_181"/>
          <p:cNvSpPr txBox="1"/>
          <p:nvPr/>
        </p:nvSpPr>
        <p:spPr>
          <a:xfrm>
            <a:off x="2788920" y="1298448"/>
            <a:ext cx="6035040" cy="420624"/>
          </a:xfrm>
          <a:prstGeom prst="rect">
            <a:avLst/>
          </a:prstGeom>
          <a:solidFill>
            <a:srgbClr val="FFF7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words are LOUD and long; 'do you' is quick and quiet: Where d'you LIVE?</a:t>
            </a:r>
            <a:endParaRPr lang="en-US" sz="1050" dirty="0"/>
          </a:p>
        </p:txBody>
      </p:sp>
      <p:sp>
        <p:nvSpPr>
          <p:cNvPr id="15" name="box_182"/>
          <p:cNvSpPr txBox="1"/>
          <p:nvPr/>
        </p:nvSpPr>
        <p:spPr>
          <a:xfrm>
            <a:off x="2788920" y="1810512"/>
            <a:ext cx="3621024" cy="61722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 do you LIVE?</a:t>
            </a:r>
            <a:endParaRPr lang="en-US" sz="1500" dirty="0"/>
          </a:p>
        </p:txBody>
      </p:sp>
      <p:sp>
        <p:nvSpPr>
          <p:cNvPr id="16" name="R1_a0"/>
          <p:cNvSpPr txBox="1"/>
          <p:nvPr/>
        </p:nvSpPr>
        <p:spPr>
          <a:xfrm>
            <a:off x="6464808" y="1847088"/>
            <a:ext cx="2359152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· LIVE = strong · do you = /djə/</a:t>
            </a:r>
            <a:endParaRPr lang="en-US" sz="1300" dirty="0"/>
          </a:p>
        </p:txBody>
      </p:sp>
      <p:sp>
        <p:nvSpPr>
          <p:cNvPr id="17" name="box_183"/>
          <p:cNvSpPr txBox="1"/>
          <p:nvPr/>
        </p:nvSpPr>
        <p:spPr>
          <a:xfrm>
            <a:off x="2788920" y="2555748"/>
            <a:ext cx="3621024" cy="61722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do you DO?</a:t>
            </a:r>
            <a:endParaRPr lang="en-US" sz="1500" dirty="0"/>
          </a:p>
        </p:txBody>
      </p:sp>
      <p:sp>
        <p:nvSpPr>
          <p:cNvPr id="18" name="R2_a1"/>
          <p:cNvSpPr txBox="1"/>
          <p:nvPr/>
        </p:nvSpPr>
        <p:spPr>
          <a:xfrm>
            <a:off x="6464808" y="2592324"/>
            <a:ext cx="2359152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DO = strong · /wɒdjə duː/</a:t>
            </a:r>
            <a:endParaRPr lang="en-US" sz="1300" dirty="0"/>
          </a:p>
        </p:txBody>
      </p:sp>
      <p:sp>
        <p:nvSpPr>
          <p:cNvPr id="19" name="box_184"/>
          <p:cNvSpPr txBox="1"/>
          <p:nvPr/>
        </p:nvSpPr>
        <p:spPr>
          <a:xfrm>
            <a:off x="2788920" y="3300984"/>
            <a:ext cx="3621024" cy="61722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did you do last WEEKEND?</a:t>
            </a:r>
            <a:endParaRPr lang="en-US" sz="1500" dirty="0"/>
          </a:p>
        </p:txBody>
      </p:sp>
      <p:sp>
        <p:nvSpPr>
          <p:cNvPr id="20" name="R3_a2"/>
          <p:cNvSpPr txBox="1"/>
          <p:nvPr/>
        </p:nvSpPr>
        <p:spPr>
          <a:xfrm>
            <a:off x="6464808" y="3337560"/>
            <a:ext cx="2359152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= /dɪdʒə/</a:t>
            </a:r>
            <a:endParaRPr lang="en-US" sz="1300" dirty="0"/>
          </a:p>
        </p:txBody>
      </p:sp>
      <p:sp>
        <p:nvSpPr>
          <p:cNvPr id="21" name="box_185"/>
          <p:cNvSpPr txBox="1"/>
          <p:nvPr/>
        </p:nvSpPr>
        <p:spPr>
          <a:xfrm>
            <a:off x="2788920" y="4046220"/>
            <a:ext cx="3621024" cy="61722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Can you SPEAK French?</a:t>
            </a:r>
            <a:endParaRPr lang="en-US" sz="1500" dirty="0"/>
          </a:p>
        </p:txBody>
      </p:sp>
      <p:sp>
        <p:nvSpPr>
          <p:cNvPr id="22" name="R4_a3"/>
          <p:cNvSpPr txBox="1"/>
          <p:nvPr/>
        </p:nvSpPr>
        <p:spPr>
          <a:xfrm>
            <a:off x="6464808" y="4082796"/>
            <a:ext cx="2359152" cy="544068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= /kən/ (weak)</a:t>
            </a:r>
            <a:endParaRPr lang="en-US" sz="1300" dirty="0"/>
          </a:p>
        </p:txBody>
      </p:sp>
      <p:sp>
        <p:nvSpPr>
          <p:cNvPr id="23" name="sticky_186"/>
          <p:cNvSpPr txBox="1"/>
          <p:nvPr/>
        </p:nvSpPr>
        <p:spPr>
          <a:xfrm rot="-120000">
            <a:off x="411480" y="406908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'do-you' slowly! → /djə/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18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The alphabet</a:t>
            </a:r>
            <a:endParaRPr lang="en-US" sz="900" dirty="0"/>
          </a:p>
        </p:txBody>
      </p:sp>
      <p:sp>
        <p:nvSpPr>
          <p:cNvPr id="6" name="timer_19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9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192"/>
          <p:cNvSpPr txBox="1"/>
          <p:nvPr/>
        </p:nvSpPr>
        <p:spPr>
          <a:xfrm rot="-120000">
            <a:off x="320040" y="676656"/>
            <a:ext cx="467258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sound, which group?</a:t>
            </a:r>
            <a:endParaRPr lang="en-US" sz="1500" dirty="0"/>
          </a:p>
        </p:txBody>
      </p:sp>
      <p:sp>
        <p:nvSpPr>
          <p:cNvPr id="9" name="post_19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9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9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each sound. Which letters have the same sound? Guess, then click.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il suono. Quali lettere hanno lo stesso suono? Indovina, poi clicca.</a:t>
            </a:r>
            <a:endParaRPr lang="en-US" sz="1100" dirty="0"/>
          </a:p>
        </p:txBody>
      </p:sp>
      <p:sp>
        <p:nvSpPr>
          <p:cNvPr id="12" name="iconBack_19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97" descr="pi:PiTextA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example_198"/>
          <p:cNvSpPr txBox="1"/>
          <p:nvPr/>
        </p:nvSpPr>
        <p:spPr>
          <a:xfrm>
            <a:off x="2788920" y="1298448"/>
            <a:ext cx="6035040" cy="420624"/>
          </a:xfrm>
          <a:prstGeom prst="rect">
            <a:avLst/>
          </a:prstGeom>
          <a:solidFill>
            <a:srgbClr val="FFF7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say the sound, then try the letters aloud: /eɪ/… A? ✓  B? ✗  C? ✗ …</a:t>
            </a:r>
            <a:endParaRPr lang="en-US" sz="1100" dirty="0"/>
          </a:p>
        </p:txBody>
      </p:sp>
      <p:sp>
        <p:nvSpPr>
          <p:cNvPr id="15" name="box_199"/>
          <p:cNvSpPr txBox="1"/>
          <p:nvPr/>
        </p:nvSpPr>
        <p:spPr>
          <a:xfrm>
            <a:off x="2788920" y="1810512"/>
            <a:ext cx="2534717" cy="468173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/eɪ/  as in  A  (day)</a:t>
            </a:r>
            <a:endParaRPr lang="en-US" sz="1450" dirty="0"/>
          </a:p>
        </p:txBody>
      </p:sp>
      <p:sp>
        <p:nvSpPr>
          <p:cNvPr id="16" name="R1_a0"/>
          <p:cNvSpPr txBox="1"/>
          <p:nvPr/>
        </p:nvSpPr>
        <p:spPr>
          <a:xfrm>
            <a:off x="5378501" y="1847088"/>
            <a:ext cx="3445459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H  J  K</a:t>
            </a:r>
            <a:endParaRPr lang="en-US" sz="1400" dirty="0"/>
          </a:p>
        </p:txBody>
      </p:sp>
      <p:sp>
        <p:nvSpPr>
          <p:cNvPr id="17" name="box_200"/>
          <p:cNvSpPr txBox="1"/>
          <p:nvPr/>
        </p:nvSpPr>
        <p:spPr>
          <a:xfrm>
            <a:off x="2788920" y="2406701"/>
            <a:ext cx="2534717" cy="468173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/iː/  as in  B  (see)</a:t>
            </a:r>
            <a:endParaRPr lang="en-US" sz="1450" dirty="0"/>
          </a:p>
        </p:txBody>
      </p:sp>
      <p:sp>
        <p:nvSpPr>
          <p:cNvPr id="18" name="R2_a1"/>
          <p:cNvSpPr txBox="1"/>
          <p:nvPr/>
        </p:nvSpPr>
        <p:spPr>
          <a:xfrm>
            <a:off x="5378501" y="2443277"/>
            <a:ext cx="3445459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C  D  E  G  P  T  V</a:t>
            </a:r>
            <a:endParaRPr lang="en-US" sz="1400" dirty="0"/>
          </a:p>
        </p:txBody>
      </p:sp>
      <p:sp>
        <p:nvSpPr>
          <p:cNvPr id="19" name="box_201"/>
          <p:cNvSpPr txBox="1"/>
          <p:nvPr/>
        </p:nvSpPr>
        <p:spPr>
          <a:xfrm>
            <a:off x="2788920" y="3002890"/>
            <a:ext cx="2534717" cy="468173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/e/  as in  F  (ten)</a:t>
            </a:r>
            <a:endParaRPr lang="en-US" sz="1450" dirty="0"/>
          </a:p>
        </p:txBody>
      </p:sp>
      <p:sp>
        <p:nvSpPr>
          <p:cNvPr id="20" name="R3_a2"/>
          <p:cNvSpPr txBox="1"/>
          <p:nvPr/>
        </p:nvSpPr>
        <p:spPr>
          <a:xfrm>
            <a:off x="5378501" y="3039466"/>
            <a:ext cx="3445459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L  M  N  S  X  Z</a:t>
            </a:r>
            <a:endParaRPr lang="en-US" sz="1400" dirty="0"/>
          </a:p>
        </p:txBody>
      </p:sp>
      <p:sp>
        <p:nvSpPr>
          <p:cNvPr id="21" name="box_202"/>
          <p:cNvSpPr txBox="1"/>
          <p:nvPr/>
        </p:nvSpPr>
        <p:spPr>
          <a:xfrm>
            <a:off x="2788920" y="3599078"/>
            <a:ext cx="2534717" cy="468173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/aɪ/  as in  I  (my)</a:t>
            </a:r>
            <a:endParaRPr lang="en-US" sz="1450" dirty="0"/>
          </a:p>
        </p:txBody>
      </p:sp>
      <p:sp>
        <p:nvSpPr>
          <p:cNvPr id="22" name="R4_a3"/>
          <p:cNvSpPr txBox="1"/>
          <p:nvPr/>
        </p:nvSpPr>
        <p:spPr>
          <a:xfrm>
            <a:off x="5378501" y="3635654"/>
            <a:ext cx="3445459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Y</a:t>
            </a:r>
            <a:endParaRPr lang="en-US" sz="1400" dirty="0"/>
          </a:p>
        </p:txBody>
      </p:sp>
      <p:sp>
        <p:nvSpPr>
          <p:cNvPr id="23" name="box_203"/>
          <p:cNvSpPr txBox="1"/>
          <p:nvPr/>
        </p:nvSpPr>
        <p:spPr>
          <a:xfrm>
            <a:off x="2788920" y="4195267"/>
            <a:ext cx="2534717" cy="468173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/əʊ/ · /uː/ · /ɑː/</a:t>
            </a:r>
            <a:endParaRPr lang="en-US" sz="1450" dirty="0"/>
          </a:p>
        </p:txBody>
      </p:sp>
      <p:sp>
        <p:nvSpPr>
          <p:cNvPr id="24" name="R5_a4"/>
          <p:cNvSpPr txBox="1"/>
          <p:nvPr/>
        </p:nvSpPr>
        <p:spPr>
          <a:xfrm>
            <a:off x="5378501" y="4231843"/>
            <a:ext cx="3445459" cy="395021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·  Q U W  ·  R</a:t>
            </a:r>
            <a:endParaRPr lang="en-US" sz="1400" dirty="0"/>
          </a:p>
        </p:txBody>
      </p:sp>
      <p:sp>
        <p:nvSpPr>
          <p:cNvPr id="25" name="sticky_204"/>
          <p:cNvSpPr txBox="1"/>
          <p:nvPr/>
        </p:nvSpPr>
        <p:spPr>
          <a:xfrm rot="-120000">
            <a:off x="411480" y="406908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pairs: E / I · G / J · A / E · H = /eɪtʃ/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20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Letters race</a:t>
            </a:r>
            <a:endParaRPr lang="en-US" sz="900" dirty="0"/>
          </a:p>
        </p:txBody>
      </p:sp>
      <p:sp>
        <p:nvSpPr>
          <p:cNvPr id="6" name="timer_20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2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210"/>
          <p:cNvSpPr txBox="1"/>
          <p:nvPr/>
        </p:nvSpPr>
        <p:spPr>
          <a:xfrm rot="-120000">
            <a:off x="320040" y="676656"/>
            <a:ext cx="658368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the letters. What do they mean?</a:t>
            </a:r>
            <a:endParaRPr lang="en-US" sz="1500" dirty="0"/>
          </a:p>
        </p:txBody>
      </p:sp>
      <p:sp>
        <p:nvSpPr>
          <p:cNvPr id="9" name="post_21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1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teams. Say the letters correctly AND say what they mean = 2 points.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squadre. Pronuncia le lettere E di' cosa significano = 2 punti.</a:t>
            </a:r>
            <a:endParaRPr lang="en-US" sz="1200" dirty="0"/>
          </a:p>
        </p:txBody>
      </p:sp>
      <p:sp>
        <p:nvSpPr>
          <p:cNvPr id="12" name="iconBack_21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15" descr="pi:Pi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example_216"/>
          <p:cNvSpPr txBox="1"/>
          <p:nvPr/>
        </p:nvSpPr>
        <p:spPr>
          <a:xfrm>
            <a:off x="2788920" y="1298448"/>
            <a:ext cx="6035040" cy="420624"/>
          </a:xfrm>
          <a:prstGeom prst="rect">
            <a:avLst/>
          </a:prstGeom>
          <a:solidFill>
            <a:srgbClr val="FFF7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UK  →  'you – kay' = the United Kingdom  (2 points!)</a:t>
            </a:r>
            <a:endParaRPr lang="en-US" sz="1350" dirty="0"/>
          </a:p>
        </p:txBody>
      </p:sp>
      <p:sp>
        <p:nvSpPr>
          <p:cNvPr id="15" name="box_217"/>
          <p:cNvSpPr txBox="1"/>
          <p:nvPr/>
        </p:nvSpPr>
        <p:spPr>
          <a:xfrm>
            <a:off x="2788920" y="1810512"/>
            <a:ext cx="924641" cy="8656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BBC</a:t>
            </a:r>
            <a:endParaRPr lang="en-US" sz="1500" dirty="0"/>
          </a:p>
        </p:txBody>
      </p:sp>
      <p:sp>
        <p:nvSpPr>
          <p:cNvPr id="16" name="R1_a0"/>
          <p:cNvSpPr txBox="1"/>
          <p:nvPr/>
        </p:nvSpPr>
        <p:spPr>
          <a:xfrm>
            <a:off x="3768425" y="1847088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Broadcasting Corporation</a:t>
            </a:r>
            <a:endParaRPr lang="en-US" sz="1100" dirty="0"/>
          </a:p>
        </p:txBody>
      </p:sp>
      <p:sp>
        <p:nvSpPr>
          <p:cNvPr id="17" name="box_218"/>
          <p:cNvSpPr txBox="1"/>
          <p:nvPr/>
        </p:nvSpPr>
        <p:spPr>
          <a:xfrm>
            <a:off x="4843272" y="1810512"/>
            <a:ext cx="924641" cy="8656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USA</a:t>
            </a:r>
            <a:endParaRPr lang="en-US" sz="1500" dirty="0"/>
          </a:p>
        </p:txBody>
      </p:sp>
      <p:sp>
        <p:nvSpPr>
          <p:cNvPr id="18" name="R1_a1"/>
          <p:cNvSpPr txBox="1"/>
          <p:nvPr/>
        </p:nvSpPr>
        <p:spPr>
          <a:xfrm>
            <a:off x="5822777" y="1847088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of America</a:t>
            </a:r>
            <a:endParaRPr lang="en-US" sz="1100" dirty="0"/>
          </a:p>
        </p:txBody>
      </p:sp>
      <p:sp>
        <p:nvSpPr>
          <p:cNvPr id="19" name="box_219"/>
          <p:cNvSpPr txBox="1"/>
          <p:nvPr/>
        </p:nvSpPr>
        <p:spPr>
          <a:xfrm>
            <a:off x="6897624" y="1810512"/>
            <a:ext cx="924641" cy="8656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ASAP</a:t>
            </a:r>
            <a:endParaRPr lang="en-US" sz="1500" dirty="0"/>
          </a:p>
        </p:txBody>
      </p:sp>
      <p:sp>
        <p:nvSpPr>
          <p:cNvPr id="20" name="R1_a2"/>
          <p:cNvSpPr txBox="1"/>
          <p:nvPr/>
        </p:nvSpPr>
        <p:spPr>
          <a:xfrm>
            <a:off x="7877129" y="1847088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possible</a:t>
            </a:r>
            <a:endParaRPr lang="en-US" sz="1100" dirty="0"/>
          </a:p>
        </p:txBody>
      </p:sp>
      <p:sp>
        <p:nvSpPr>
          <p:cNvPr id="21" name="box_220"/>
          <p:cNvSpPr txBox="1"/>
          <p:nvPr/>
        </p:nvSpPr>
        <p:spPr>
          <a:xfrm>
            <a:off x="2788920" y="2804160"/>
            <a:ext cx="924641" cy="865632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DIY</a:t>
            </a:r>
            <a:endParaRPr lang="en-US" sz="1500" dirty="0"/>
          </a:p>
        </p:txBody>
      </p:sp>
      <p:sp>
        <p:nvSpPr>
          <p:cNvPr id="22" name="R1_a3"/>
          <p:cNvSpPr txBox="1"/>
          <p:nvPr/>
        </p:nvSpPr>
        <p:spPr>
          <a:xfrm>
            <a:off x="3768425" y="2840736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yourself</a:t>
            </a:r>
            <a:endParaRPr lang="en-US" sz="1100" dirty="0"/>
          </a:p>
        </p:txBody>
      </p:sp>
      <p:sp>
        <p:nvSpPr>
          <p:cNvPr id="23" name="box_221"/>
          <p:cNvSpPr txBox="1"/>
          <p:nvPr/>
        </p:nvSpPr>
        <p:spPr>
          <a:xfrm>
            <a:off x="4843272" y="2804160"/>
            <a:ext cx="924641" cy="865632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FAQ</a:t>
            </a:r>
            <a:endParaRPr lang="en-US" sz="1500" dirty="0"/>
          </a:p>
        </p:txBody>
      </p:sp>
      <p:sp>
        <p:nvSpPr>
          <p:cNvPr id="24" name="R1_a4"/>
          <p:cNvSpPr txBox="1"/>
          <p:nvPr/>
        </p:nvSpPr>
        <p:spPr>
          <a:xfrm>
            <a:off x="5822777" y="2840736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1100" dirty="0"/>
          </a:p>
        </p:txBody>
      </p:sp>
      <p:sp>
        <p:nvSpPr>
          <p:cNvPr id="25" name="box_222"/>
          <p:cNvSpPr txBox="1"/>
          <p:nvPr/>
        </p:nvSpPr>
        <p:spPr>
          <a:xfrm>
            <a:off x="6897624" y="2804160"/>
            <a:ext cx="924641" cy="865632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VIP</a:t>
            </a:r>
            <a:endParaRPr lang="en-US" sz="1500" dirty="0"/>
          </a:p>
        </p:txBody>
      </p:sp>
      <p:sp>
        <p:nvSpPr>
          <p:cNvPr id="26" name="R1_a5"/>
          <p:cNvSpPr txBox="1"/>
          <p:nvPr/>
        </p:nvSpPr>
        <p:spPr>
          <a:xfrm>
            <a:off x="7877129" y="2840736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important person</a:t>
            </a:r>
            <a:endParaRPr lang="en-US" sz="1100" dirty="0"/>
          </a:p>
        </p:txBody>
      </p:sp>
      <p:sp>
        <p:nvSpPr>
          <p:cNvPr id="27" name="box_223"/>
          <p:cNvSpPr txBox="1"/>
          <p:nvPr/>
        </p:nvSpPr>
        <p:spPr>
          <a:xfrm>
            <a:off x="2788920" y="3797808"/>
            <a:ext cx="924641" cy="8656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CV</a:t>
            </a:r>
            <a:endParaRPr lang="en-US" sz="1500" dirty="0"/>
          </a:p>
        </p:txBody>
      </p:sp>
      <p:sp>
        <p:nvSpPr>
          <p:cNvPr id="28" name="R1_a6"/>
          <p:cNvSpPr txBox="1"/>
          <p:nvPr/>
        </p:nvSpPr>
        <p:spPr>
          <a:xfrm>
            <a:off x="3768425" y="3834384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vitae</a:t>
            </a:r>
            <a:endParaRPr lang="en-US" sz="1100" dirty="0"/>
          </a:p>
        </p:txBody>
      </p:sp>
      <p:sp>
        <p:nvSpPr>
          <p:cNvPr id="29" name="box_224"/>
          <p:cNvSpPr txBox="1"/>
          <p:nvPr/>
        </p:nvSpPr>
        <p:spPr>
          <a:xfrm>
            <a:off x="4843272" y="3797808"/>
            <a:ext cx="924641" cy="8656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PIN</a:t>
            </a:r>
            <a:endParaRPr lang="en-US" sz="1500" dirty="0"/>
          </a:p>
        </p:txBody>
      </p:sp>
      <p:sp>
        <p:nvSpPr>
          <p:cNvPr id="30" name="R1_a7"/>
          <p:cNvSpPr txBox="1"/>
          <p:nvPr/>
        </p:nvSpPr>
        <p:spPr>
          <a:xfrm>
            <a:off x="5822777" y="3834384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identification number</a:t>
            </a:r>
            <a:endParaRPr lang="en-US" sz="1100" dirty="0"/>
          </a:p>
        </p:txBody>
      </p:sp>
      <p:sp>
        <p:nvSpPr>
          <p:cNvPr id="31" name="box_225"/>
          <p:cNvSpPr txBox="1"/>
          <p:nvPr/>
        </p:nvSpPr>
        <p:spPr>
          <a:xfrm>
            <a:off x="6897624" y="3797808"/>
            <a:ext cx="924641" cy="8656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IKEA</a:t>
            </a:r>
            <a:endParaRPr lang="en-US" sz="1500" dirty="0"/>
          </a:p>
        </p:txBody>
      </p:sp>
      <p:sp>
        <p:nvSpPr>
          <p:cNvPr id="32" name="R1_a8"/>
          <p:cNvSpPr txBox="1"/>
          <p:nvPr/>
        </p:nvSpPr>
        <p:spPr>
          <a:xfrm>
            <a:off x="7877129" y="3834384"/>
            <a:ext cx="946831" cy="7924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word! /aɪˈkiːə/ – Italians say 'ikea'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22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Predict, then ask</a:t>
            </a:r>
            <a:endParaRPr lang="en-US" sz="900" dirty="0"/>
          </a:p>
        </p:txBody>
      </p:sp>
      <p:sp>
        <p:nvSpPr>
          <p:cNvPr id="6" name="timer_22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footer_2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8" name="title_231"/>
          <p:cNvSpPr txBox="1"/>
          <p:nvPr/>
        </p:nvSpPr>
        <p:spPr>
          <a:xfrm rot="-120000">
            <a:off x="320040" y="676656"/>
            <a:ext cx="449884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well can you guess?</a:t>
            </a:r>
            <a:endParaRPr lang="en-US" sz="1500" dirty="0"/>
          </a:p>
        </p:txBody>
      </p:sp>
      <p:sp>
        <p:nvSpPr>
          <p:cNvPr id="9" name="post_23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3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3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your partner's answers. Then interview them. 1 point for each correct guess!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le risposte del compagno. Poi intervistalo. 1 punto per ogni risposta indovinata!</a:t>
            </a:r>
            <a:endParaRPr lang="en-US" sz="1000" dirty="0"/>
          </a:p>
        </p:txBody>
      </p:sp>
      <p:sp>
        <p:nvSpPr>
          <p:cNvPr id="12" name="iconBack_23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36" descr="pi:Pi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37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238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6 questions from today (verb phrases slide + your own). Write them with the right word order.</a:t>
            </a:r>
            <a:endParaRPr lang="en-US" sz="950" dirty="0"/>
          </a:p>
        </p:txBody>
      </p:sp>
      <p:sp>
        <p:nvSpPr>
          <p:cNvPr id="16" name="num_239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240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ask: write what you think your partner will answer. Don't show them!</a:t>
            </a:r>
            <a:endParaRPr lang="en-US" sz="1100" dirty="0"/>
          </a:p>
        </p:txBody>
      </p:sp>
      <p:sp>
        <p:nvSpPr>
          <p:cNvPr id="18" name="num_241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242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your partner. Ask ONE follow-up question each time: Why? Really? How often? Where?</a:t>
            </a:r>
            <a:endParaRPr lang="en-US" sz="950" dirty="0"/>
          </a:p>
        </p:txBody>
      </p:sp>
      <p:sp>
        <p:nvSpPr>
          <p:cNvPr id="20" name="num_243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244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your points. Who knows their partner best?</a:t>
            </a:r>
            <a:endParaRPr lang="en-US" sz="1300" dirty="0"/>
          </a:p>
        </p:txBody>
      </p:sp>
      <p:sp>
        <p:nvSpPr>
          <p:cNvPr id="22" name="num_245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246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class ONE surprising thing you learnt: 'Marco can speak…! / Anna didn't…'</a:t>
            </a:r>
            <a:endParaRPr lang="en-US" sz="1100" dirty="0"/>
          </a:p>
        </p:txBody>
      </p:sp>
      <p:sp>
        <p:nvSpPr>
          <p:cNvPr id="24" name="bubble_24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What kind of music do you listen to?  B: Opera.  A: Really? Why?  B: My grandfather…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24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5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6" name="title_251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52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53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ask questions with do / does / did / are / can.</a:t>
            </a:r>
            <a:endParaRPr lang="en-US" sz="1350" dirty="0"/>
          </a:p>
        </p:txBody>
      </p:sp>
      <p:sp>
        <p:nvSpPr>
          <p:cNvPr id="9" name="faces_254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55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common verb phrases (do sport, listen to music…).</a:t>
            </a:r>
            <a:endParaRPr lang="en-US" sz="1200" dirty="0"/>
          </a:p>
        </p:txBody>
      </p:sp>
      <p:sp>
        <p:nvSpPr>
          <p:cNvPr id="11" name="faces_256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57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spell my name and say the alphabet clearly.</a:t>
            </a:r>
            <a:endParaRPr lang="en-US" sz="1350" dirty="0"/>
          </a:p>
        </p:txBody>
      </p:sp>
      <p:sp>
        <p:nvSpPr>
          <p:cNvPr id="13" name="faces_258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59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1A (2 sheets: normal / easier)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1A (teacher's choice)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60"/>
          <p:cNvSpPr txBox="1"/>
          <p:nvPr/>
        </p:nvSpPr>
        <p:spPr>
          <a:xfrm>
            <a:off x="365760" y="3657600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1B · The perfect date? (describing people · present simple)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FDBA74"/>
            </a:solidFill>
            <a:prstDash val="solid"/>
          </a:ln>
        </p:spPr>
      </p:sp>
      <p:pic>
        <p:nvPicPr>
          <p:cNvPr id="4" name="logo_26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Spelling challenge</a:t>
            </a:r>
            <a:endParaRPr lang="en-US" sz="900" dirty="0"/>
          </a:p>
        </p:txBody>
      </p:sp>
      <p:sp>
        <p:nvSpPr>
          <p:cNvPr id="6" name="timer_26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6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6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Part 1</a:t>
            </a:r>
            <a:endParaRPr lang="en-US" sz="1000" dirty="0"/>
          </a:p>
        </p:txBody>
      </p:sp>
      <p:sp>
        <p:nvSpPr>
          <p:cNvPr id="9" name="title_267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Spell it to win it</a:t>
            </a:r>
            <a:endParaRPr lang="en-US" sz="1500" dirty="0"/>
          </a:p>
        </p:txBody>
      </p:sp>
      <p:sp>
        <p:nvSpPr>
          <p:cNvPr id="10" name="post_26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6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7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spells a word. First team to WRITE it correctly wins a point.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fa lo spelling. La prima squadra che lo scrive giusto vince.</a:t>
            </a:r>
            <a:endParaRPr lang="en-US" sz="1100" dirty="0"/>
          </a:p>
        </p:txBody>
      </p:sp>
      <p:sp>
        <p:nvSpPr>
          <p:cNvPr id="13" name="iconBack_27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72" descr="pi:PiE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73"/>
          <p:cNvSpPr txBox="1"/>
          <p:nvPr/>
        </p:nvSpPr>
        <p:spPr>
          <a:xfrm>
            <a:off x="2788920" y="1371600"/>
            <a:ext cx="147675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Word 1</a:t>
            </a:r>
            <a:endParaRPr lang="en-US" sz="1500" dirty="0"/>
          </a:p>
        </p:txBody>
      </p:sp>
      <p:sp>
        <p:nvSpPr>
          <p:cNvPr id="16" name="R1_a0"/>
          <p:cNvSpPr txBox="1"/>
          <p:nvPr/>
        </p:nvSpPr>
        <p:spPr>
          <a:xfrm>
            <a:off x="4320540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17" name="box_274"/>
          <p:cNvSpPr txBox="1"/>
          <p:nvPr/>
        </p:nvSpPr>
        <p:spPr>
          <a:xfrm>
            <a:off x="5870448" y="1371600"/>
            <a:ext cx="147675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Word 2</a:t>
            </a:r>
            <a:endParaRPr lang="en-US" sz="1500" dirty="0"/>
          </a:p>
        </p:txBody>
      </p:sp>
      <p:sp>
        <p:nvSpPr>
          <p:cNvPr id="18" name="R1_a1"/>
          <p:cNvSpPr txBox="1"/>
          <p:nvPr/>
        </p:nvSpPr>
        <p:spPr>
          <a:xfrm>
            <a:off x="7402068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</a:t>
            </a:r>
            <a:endParaRPr lang="en-US" sz="1300" dirty="0"/>
          </a:p>
        </p:txBody>
      </p:sp>
      <p:sp>
        <p:nvSpPr>
          <p:cNvPr id="19" name="box_275"/>
          <p:cNvSpPr txBox="1"/>
          <p:nvPr/>
        </p:nvSpPr>
        <p:spPr>
          <a:xfrm>
            <a:off x="2788920" y="2368296"/>
            <a:ext cx="147675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Word 3</a:t>
            </a:r>
            <a:endParaRPr lang="en-US" sz="1500" dirty="0"/>
          </a:p>
        </p:txBody>
      </p:sp>
      <p:sp>
        <p:nvSpPr>
          <p:cNvPr id="20" name="R1_a2"/>
          <p:cNvSpPr txBox="1"/>
          <p:nvPr/>
        </p:nvSpPr>
        <p:spPr>
          <a:xfrm>
            <a:off x="4320540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300" dirty="0"/>
          </a:p>
        </p:txBody>
      </p:sp>
      <p:sp>
        <p:nvSpPr>
          <p:cNvPr id="21" name="box_276"/>
          <p:cNvSpPr txBox="1"/>
          <p:nvPr/>
        </p:nvSpPr>
        <p:spPr>
          <a:xfrm>
            <a:off x="5870448" y="2368296"/>
            <a:ext cx="147675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Word 4</a:t>
            </a:r>
            <a:endParaRPr lang="en-US" sz="1500" dirty="0"/>
          </a:p>
        </p:txBody>
      </p:sp>
      <p:sp>
        <p:nvSpPr>
          <p:cNvPr id="22" name="R1_a3"/>
          <p:cNvSpPr txBox="1"/>
          <p:nvPr/>
        </p:nvSpPr>
        <p:spPr>
          <a:xfrm>
            <a:off x="7402068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</a:t>
            </a:r>
            <a:endParaRPr lang="en-US" sz="1300" dirty="0"/>
          </a:p>
        </p:txBody>
      </p:sp>
      <p:sp>
        <p:nvSpPr>
          <p:cNvPr id="23" name="box_277"/>
          <p:cNvSpPr txBox="1"/>
          <p:nvPr/>
        </p:nvSpPr>
        <p:spPr>
          <a:xfrm>
            <a:off x="2788920" y="3364992"/>
            <a:ext cx="147675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Word 5</a:t>
            </a:r>
            <a:endParaRPr lang="en-US" sz="1500" dirty="0"/>
          </a:p>
        </p:txBody>
      </p:sp>
      <p:sp>
        <p:nvSpPr>
          <p:cNvPr id="24" name="R1_a4"/>
          <p:cNvSpPr txBox="1"/>
          <p:nvPr/>
        </p:nvSpPr>
        <p:spPr>
          <a:xfrm>
            <a:off x="4320540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</a:t>
            </a:r>
            <a:endParaRPr lang="en-US" sz="1300" dirty="0"/>
          </a:p>
        </p:txBody>
      </p:sp>
      <p:sp>
        <p:nvSpPr>
          <p:cNvPr id="25" name="box_278"/>
          <p:cNvSpPr txBox="1"/>
          <p:nvPr/>
        </p:nvSpPr>
        <p:spPr>
          <a:xfrm>
            <a:off x="5870448" y="3364992"/>
            <a:ext cx="147675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Word 6</a:t>
            </a:r>
            <a:endParaRPr lang="en-US" sz="1500" dirty="0"/>
          </a:p>
        </p:txBody>
      </p:sp>
      <p:sp>
        <p:nvSpPr>
          <p:cNvPr id="26" name="R1_a5"/>
          <p:cNvSpPr txBox="1"/>
          <p:nvPr/>
        </p:nvSpPr>
        <p:spPr>
          <a:xfrm>
            <a:off x="7402068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YACHT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1A Are you? Do you?</dc:title>
  <dc:subject>PptxGenJS Presentation</dc:subject>
  <dc:creator>London Language School</dc:creator>
  <cp:lastModifiedBy>London Language School</cp:lastModifiedBy>
  <cp:revision>1</cp:revision>
  <dcterms:created xsi:type="dcterms:W3CDTF">2026-10-06T20:28:55Z</dcterms:created>
  <dcterms:modified xsi:type="dcterms:W3CDTF">2026-10-06T20:28:55Z</dcterms:modified>
</cp:coreProperties>
</file>