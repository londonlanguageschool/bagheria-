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(1 min). Point to the picture: What can you see? (a boy and a girl, music, a TV…). Today we learn 8 free time activities and sing a song.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OF LESSON 2 (4 min). GAME PLAN · SEE: a 'liar' emoji + 3 routine flashcards (no sentences on screen) · TEACHER: Say 3 sentences about yourself, e.g. 1 'I always have a shower in the morning.' 2 'I never have breakfast.' 3 'I sometimes clean my teeth with chocolate toothpaste.' Pause 10 s: 'Which one is a lie? Teams, hold up 1, 2 or 3 fingers!' · STUDENTS: Teams agree and show fingers (commit). Then in pairs, each learner says 3 sentences (2 true, 1 lie); the partner guesses · GROUPING: teams (round 1), then pairs · SCORE/WIN: 1 point per team that finds the lie; in pairs: 1 point if your partner DOESN'T find your lie · TIME: 4 min · LANGUAGE: I always / often / sometimes / never + wake up / get up / have a shower / have breakfast / clean my teeth · REVEAL: the teacher reveals the lie (e.g. 3!) and the class corrects it: 'You never clean your teeth with chocolate!'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TIME FLASHCARDS (8 min). Picture first – learners guess (Italian OK), click 1 word, click 2 Italian, click 3 TPR mime. TB questions while you go: Which film do you often watch? Where can you go skating in Bagheria? Who do you write emails to? Do you like going shopping? Italian trap: 'go shopping' (NOT 'make shopping' – fare shopping). TPR: Headphones on! Dance with your head! 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TIME FLASHCARDS (8 min). Picture first – learners guess (Italian OK), click 1 word, click 2 Italian, click 3 TPR mime. TB questions while you go: Which film do you often watch? Where can you go skating in Bagheria? Who do you write emails to? Do you like going shopping? Italian trap: 'go shopping' (NOT 'make shopping' – fare shopping). TPR: Type on the keyboard! Click 'send'! 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TIME FLASHCARDS (8 min). Picture first – learners guess (Italian OK), click 1 word, click 2 Italian, click 3 TPR mime. TB questions while you go: Which film do you often watch? Where can you go skating in Bagheria? Who do you write emails to? Do you like going shopping? Italian trap: 'go shopping' (NOT 'make shopping' – fare shopping). TPR: Skate! Left foot, right foot! 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TIME FLASHCARDS (8 min). Picture first – learners guess (Italian OK), click 1 word, click 2 Italian, click 3 TPR mime. TB questions while you go: Which film do you often watch? Where can you go skating in Bagheria? Who do you write emails to? Do you like going shopping? Italian trap: 'go shopping' (NOT 'make shopping' – fare shopping). TPR: Open the comic and laugh! Ha ha! 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TIME FLASHCARDS (8 min). Picture first – learners guess (Italian OK), click 1 word, click 2 Italian, click 3 TPR mime. TB questions while you go: Which film do you often watch? Where can you go skating in Bagheria? Who do you write emails to? Do you like going shopping? Italian trap: 'go shopping' (NOT 'make shopping' – fare shopping). TPR: Push the trolley! Pay! 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TIME FLASHCARDS (8 min). Picture first – learners guess (Italian OK), click 1 word, click 2 Italian, click 3 TPR mime. TB questions while you go: Which film do you often watch? Where can you go skating in Bagheria? Who do you write emails to? Do you like going shopping? Italian trap: 'go shopping' (NOT 'make shopping' – fare shopping). TPR: Eat popcorn! Wow! 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TIME FLASHCARDS (8 min). Picture first – learners guess (Italian OK), click 1 word, click 2 Italian, click 3 TPR mime. TB questions while you go: Which film do you often watch? Where can you go skating in Bagheria? Who do you write emails to? Do you like going shopping? Italian trap: 'go shopping' (NOT 'make shopping' – fare shopping). TPR: Put in the CD… press PLAY! 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TIME FLASHCARDS (8 min). Picture first – learners guess (Italian OK), click 1 word, click 2 Italian, click 3 TPR mime. TB questions while you go: Which film do you often watch? Where can you go skating in Bagheria? Who do you write emails to? Do you like going shopping? Italian trap: 'go shopping' (NOT 'make shopping' – fare shopping). TPR: Press the remote control! Sit on the sofa! 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FOR ITALIAN LEARNERS (3 min). Italians read letters the Italian way (CD = 'ci-dì', DVD = 'di-vu-dì') and add a vowel after final consonants (shopping-a, skating-e). Model the rule lines. Then say each practice item as written: learners vote – right hand up = English 🇬🇧, left hand up = Italian 🇮🇹 (commit) → click → everybody says the English version 3 times (whisper, normal, monster). -ing ends softly in the nose: 'ng' – no 'g' sound and no vowel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(3 min). Say the activity, learners mime. Then 'Stop!' – everybody freezes. Speed up. Round 3 (retrieval): YOU mime only – learners shout the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p.22 ex.1 (4 min). Say a sentence – learners point: She's listening to music. / She's skating. / She's watching a DVD. Number 1 = c (example). Play the audio or video: learners write numbers in their book (or on paper a–h). Pairs compare (commit), then click once to show ALL answers. KEY: a 6 b 3 (c 1) d 8 e 2 f 4 g 5 h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SONG part 1 (with slide 2/2) (5 min). Say each activity from the song with its action; learners repeat. Play the audio or video: learners sing and do the actions. Then everybody STANDS UP and performs it. Extension: karaoke version (track 1.29).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SONG part 2. Activities 5–8: go shopping, watch films, listen to a CD, watch a DVD. Split the class: boys sing 'How often… how often…', girls sing 'Do you ever… do you ever…' – then swap. Pronunciation check: see-dee, dee-vee-dee!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p.22 ex.2 (4 min). MODEL → SUPPORTED → INDEPENDENT. 1) Model with a strong learner, miming a clipboard (Q1, click for the model answer). 2) Supported: Q2 – everyone answers with the frame (click). 3) Independent: pairs ask the 5 questions on the clipboard and write their partner's answers. Stronger learners: once/twice a week, on Saturdays. Fast finishers: write how often they read a book, a magazine, an e-book. Watch the word order: 'I never read comics' (not 'I read never').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MIME IT (4 min). GAME PLAN · SEE: 4 example cards (only to remind them of the activities) · TEACHER: Whisper an activity to a learner (or show a flashcard secretly). Start a 20-second timer. · STUDENTS: The mimer mimes; the OTHER team guesses with the present continuous ('You're watching a film!'). The guesser then asks 'How often do you watch films?' and the mimer answers truthfully · GROUPING: 2 teams take turns · SCORE/WIN: Correct guess = 1 point; correct How often question = +1 point; perfect -ing pronunciation = +1 bonus · TIME: 4 min · LANGUAGE: You're …ing! · How often do you …? · I sometimes … · REVEAL: the mimer says 'Yes!' or 'No!'; after 20 s the teacher shows the card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p.23 ex.1 (5 min). TB presentation: 'I sometimes ride my bike to school. When I ride my bike there are RULES. I MUST wear a helmet. I MUSTN'T ride on the pavement.' Ask Q1 (click). PREDICT: 'What's Jack's present? Where can he go? Guess!' (vote 1, 2 or 3). Play 1.30: learners tick (commit), then click. KEY: Picture 2. Audio: Jack mustn't skate in the street; he must skate in the roller skating area in the park and wear a helmet; he mustn't wear his skates in the house – he must put them in the cupboard.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GRACIE'S GRAMMAR (4 min). Play 1.31 and pause for learners to repeat. must = devi (✓ thumbs up) · mustn't = non devi (✗ crossed arms). PRONUNCIATION: mustn't = MUS-nt – the first 't' is silent. ITALIAN TRAP: 'devo indossare' → learners say 'I must TO wear'. No 'to' after must! Practice: learners write (commit) → click. Items 2–3 are based on Jack's audio (our sentences, not in the book).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p.23 ex.2 + 3 (5 min). 'Let's think about rules in the classroom. Must you put up your hand to speak?' (Yes, we must.) Learners read and circle (commit), then click for each answer. KEY: 2 mustn't 3 must 4 mustn't. Ex.3: in pairs, write 2 more class rules (We must speak English! We mustn't eat in class…) – frames on the board 'We must … / We mustn't …'. Best rules go on an LLS class rules poster.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STAGE 2 (5 min). Learners work in their Stage 1 pairs with the tables from Lesson 2. They draw a weekly timetable (Monday–Sunday – capital letters!) and add a fun activity for each day for the pair they interviewed. Model: 'They never go roller skating.' 'Let's write skate on Sunday.' Support: days + activities on the board. LEAVE SPACE for safety information (Stage 3). KEEP the timetables! AB p.18: 'My mission diary 2'.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Exit challenge: 'Tell your partner ONE rule for your house with must or mustn't' (e.g. You mustn't play football in the kitchen!). Thumbs for each 'I can'. Add a tick to Stage 2 on the Mission poster. TIMING (core ≈ 58 min): cover 1 · lie game 4 · flashcards 8 · sounds 3 · TPR 3 · number 4 · song 5 · ask &amp; answer 4 · mime 4 · Jack 5 · grammar 4 · rules 5 · mission 5 · exit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BINGO (5 min). GAME PLAN · SEE: the 8 activities with words (for spelling support) · TEACHER: Call questions in random order ('Do you ever watch a DVD?'). Keep a list of what you called. · STUDENTS: Write 4 of the 8 activities in a 2×2 grid; cross out the ones they hear · GROUPING: individual · SCORE/WIN: first to cross out all 4 shouts BINGO! and reads back their 4 activities with correct pronunciation (see-dee!); the winner calls the next round · TIME: 5 min · LANGUAGE: the 8 free time phrases · REVEAL: the teacher checks the winner's card against the called 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BOARD RACE (5 min). GAME PLAN · SEE: 8 pictures without words (stick the paper flashcards on the board too) · TEACHER: Say e.g. 'Do you ever read a comic in the car?' or a definition ('You use a computer')  · STUDENTS: the first learner of each team runs and touches the picture · GROUPING: 2 teams in lines · SCORE/WIN: first touch = 1 point, +1 if they then say a true sentence with an adverb ('I often read comics') · TIME: 5 min · LANGUAGE: the 8 phrases + always/often/sometimes/never · REVEAL: the teacher names the correct picture after each round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2 · LESSON 3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 fun!</a:t>
            </a:r>
            <a:endParaRPr lang="en-US" sz="27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free time activities 🛼🎧 + must / mustn't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le attività del tempo libero + must / mustn't</a:t>
            </a:r>
            <a:endParaRPr lang="en-US" sz="125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8 free time activities.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Impara 8 attività del tempo libero.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8E5BE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8E5BE8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Rocky's song!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Canta la canzone di Rocky!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class rules: must / mustn't.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le regole della classe.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2-p22-pic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62" y="1325880"/>
            <a:ext cx="2385435" cy="3154680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go-skat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read-a-co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often do you go skating?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Quanto spesso vai sui pattini?</a:t>
            </a:r>
            <a:endParaRPr lang="en-US" sz="14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5902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pp.22–23 · 🎧 1.28–1.31 · 🎬 song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one is a lie?</a:t>
            </a:r>
            <a:endParaRPr lang="en-US" sz="2400" dirty="0"/>
          </a:p>
        </p:txBody>
      </p:sp>
      <p:sp>
        <p:nvSpPr>
          <p:cNvPr id="5" name="in_26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teacher says 3 sentences. ONE is a lie! Which one?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L'insegnante dice 3 frasi. UNA è una bugia! Quale?</a:t>
            </a:r>
            <a:endParaRPr lang="en-US" sz="125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4 MIN</a:t>
            </a:r>
            <a:endParaRPr lang="en-US" sz="1000" dirty="0"/>
          </a:p>
        </p:txBody>
      </p:sp>
      <p:sp>
        <p:nvSpPr>
          <p:cNvPr id="7" name="diff_28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 always / never + verb</a:t>
            </a:r>
            <a:endParaRPr lang="en-US" sz="950" dirty="0"/>
          </a:p>
        </p:txBody>
      </p:sp>
      <p:sp>
        <p:nvSpPr>
          <p:cNvPr id="8" name="diff_29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Add a day or a time!</a:t>
            </a:r>
            <a:endParaRPr lang="en-US" sz="950" dirty="0"/>
          </a:p>
        </p:txBody>
      </p:sp>
      <p:sp>
        <p:nvSpPr>
          <p:cNvPr id="9" name="st_30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n_31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k_32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2" name="se_33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3 sentences.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3 frasi.</a:t>
            </a:r>
            <a:endParaRPr lang="en-US" sz="1050" dirty="0"/>
          </a:p>
        </p:txBody>
      </p:sp>
      <p:sp>
        <p:nvSpPr>
          <p:cNvPr id="13" name="st_34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n_35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k_36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6" name="se_37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which is the lie? 1, 2 or 3?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Squadra: quale è la bugia? 1, 2 o 3?</a:t>
            </a:r>
            <a:endParaRPr lang="en-US" sz="1050" dirty="0"/>
          </a:p>
        </p:txBody>
      </p:sp>
      <p:sp>
        <p:nvSpPr>
          <p:cNvPr id="17" name="st_38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n_39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k_40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20" name="se_41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Tell your partner 3.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Tocca a te! Dinne 3 al compagno.</a:t>
            </a:r>
            <a:endParaRPr lang="en-US" sz="1050" dirty="0"/>
          </a:p>
        </p:txBody>
      </p:sp>
      <p:sp>
        <p:nvSpPr>
          <p:cNvPr id="21" name="cd_42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43" descr="/home/claude/movers/img/e-u2li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3" name="cd_44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45" descr="/home/claude/movers/img/fc/wake-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5" name="cd_46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47" descr="/home/claude/movers/img/fc/have-a-show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7" name="cd_48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49" descr="/home/claude/movers/img/fc/toothbr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9" name="bk_50"/>
          <p:cNvSpPr/>
          <p:nvPr/>
        </p:nvSpPr>
        <p:spPr>
          <a:xfrm>
            <a:off x="228600" y="4681728"/>
            <a:ext cx="402336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Retrieval · Lesson 2 routines + always / never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52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time!</a:t>
            </a:r>
            <a:endParaRPr lang="en-US" sz="3200" dirty="0"/>
          </a:p>
        </p:txBody>
      </p:sp>
      <p:sp>
        <p:nvSpPr>
          <p:cNvPr id="5" name="in_5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54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55" descr="/home/claude/movers/img/fc/listen-to-mus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597" y="1234440"/>
            <a:ext cx="1972807" cy="2651760"/>
          </a:xfrm>
          <a:prstGeom prst="rect">
            <a:avLst/>
          </a:prstGeom>
        </p:spPr>
      </p:pic>
      <p:sp>
        <p:nvSpPr>
          <p:cNvPr id="8" name="R1_w56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to music</a:t>
            </a:r>
            <a:endParaRPr lang="en-US" sz="3000" dirty="0"/>
          </a:p>
        </p:txBody>
      </p:sp>
      <p:sp>
        <p:nvSpPr>
          <p:cNvPr id="9" name="R2_it57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ascoltare musica</a:t>
            </a:r>
            <a:endParaRPr lang="en-US" sz="1600" dirty="0"/>
          </a:p>
        </p:txBody>
      </p:sp>
      <p:sp>
        <p:nvSpPr>
          <p:cNvPr id="10" name="R3_tpr58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Headphones on! Dance with your head! 🎧</a:t>
            </a:r>
            <a:endParaRPr lang="en-US" sz="1300" dirty="0"/>
          </a:p>
        </p:txBody>
      </p:sp>
      <p:sp>
        <p:nvSpPr>
          <p:cNvPr id="11" name="n_59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8</a:t>
            </a:r>
            <a:endParaRPr lang="en-US" sz="1200" dirty="0"/>
          </a:p>
        </p:txBody>
      </p:sp>
      <p:sp>
        <p:nvSpPr>
          <p:cNvPr id="12" name="bk_60"/>
          <p:cNvSpPr/>
          <p:nvPr/>
        </p:nvSpPr>
        <p:spPr>
          <a:xfrm>
            <a:off x="228600" y="4681728"/>
            <a:ext cx="365760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Free time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62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time!</a:t>
            </a:r>
            <a:endParaRPr lang="en-US" sz="3200" dirty="0"/>
          </a:p>
        </p:txBody>
      </p:sp>
      <p:sp>
        <p:nvSpPr>
          <p:cNvPr id="5" name="in_6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64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65" descr="/home/claude/movers/img/fc/write-an-e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12" y="1234440"/>
            <a:ext cx="1987776" cy="2651760"/>
          </a:xfrm>
          <a:prstGeom prst="rect">
            <a:avLst/>
          </a:prstGeom>
        </p:spPr>
      </p:pic>
      <p:sp>
        <p:nvSpPr>
          <p:cNvPr id="8" name="R1_w66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an email</a:t>
            </a:r>
            <a:endParaRPr lang="en-US" sz="3600" dirty="0"/>
          </a:p>
        </p:txBody>
      </p:sp>
      <p:sp>
        <p:nvSpPr>
          <p:cNvPr id="9" name="R2_it67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scrivere un'email</a:t>
            </a:r>
            <a:endParaRPr lang="en-US" sz="1600" dirty="0"/>
          </a:p>
        </p:txBody>
      </p:sp>
      <p:sp>
        <p:nvSpPr>
          <p:cNvPr id="10" name="R3_tpr68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Type on the keyboard! Click 'send'! 💻</a:t>
            </a:r>
            <a:endParaRPr lang="en-US" sz="1300" dirty="0"/>
          </a:p>
        </p:txBody>
      </p:sp>
      <p:sp>
        <p:nvSpPr>
          <p:cNvPr id="11" name="n_69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8</a:t>
            </a:r>
            <a:endParaRPr lang="en-US" sz="1200" dirty="0"/>
          </a:p>
        </p:txBody>
      </p:sp>
      <p:sp>
        <p:nvSpPr>
          <p:cNvPr id="12" name="bk_70"/>
          <p:cNvSpPr/>
          <p:nvPr/>
        </p:nvSpPr>
        <p:spPr>
          <a:xfrm>
            <a:off x="228600" y="4681728"/>
            <a:ext cx="365760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Free time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72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time!</a:t>
            </a:r>
            <a:endParaRPr lang="en-US" sz="3200" dirty="0"/>
          </a:p>
        </p:txBody>
      </p:sp>
      <p:sp>
        <p:nvSpPr>
          <p:cNvPr id="5" name="in_7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74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5" descr="/home/claude/movers/img/fc/go-ska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233" y="1234440"/>
            <a:ext cx="2089534" cy="2651760"/>
          </a:xfrm>
          <a:prstGeom prst="rect">
            <a:avLst/>
          </a:prstGeom>
        </p:spPr>
      </p:pic>
      <p:sp>
        <p:nvSpPr>
          <p:cNvPr id="8" name="R1_w76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skating</a:t>
            </a:r>
            <a:endParaRPr lang="en-US" sz="3600" dirty="0"/>
          </a:p>
        </p:txBody>
      </p:sp>
      <p:sp>
        <p:nvSpPr>
          <p:cNvPr id="9" name="R2_it77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andare sui pattini</a:t>
            </a:r>
            <a:endParaRPr lang="en-US" sz="1600" dirty="0"/>
          </a:p>
        </p:txBody>
      </p:sp>
      <p:sp>
        <p:nvSpPr>
          <p:cNvPr id="10" name="R3_tpr78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Skate! Left foot, right foot! 🛼</a:t>
            </a:r>
            <a:endParaRPr lang="en-US" sz="1300" dirty="0"/>
          </a:p>
        </p:txBody>
      </p:sp>
      <p:sp>
        <p:nvSpPr>
          <p:cNvPr id="11" name="n_79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8</a:t>
            </a:r>
            <a:endParaRPr lang="en-US" sz="1200" dirty="0"/>
          </a:p>
        </p:txBody>
      </p:sp>
      <p:sp>
        <p:nvSpPr>
          <p:cNvPr id="12" name="bk_80"/>
          <p:cNvSpPr/>
          <p:nvPr/>
        </p:nvSpPr>
        <p:spPr>
          <a:xfrm>
            <a:off x="228600" y="4681728"/>
            <a:ext cx="365760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Free time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82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time!</a:t>
            </a:r>
            <a:endParaRPr lang="en-US" sz="3200" dirty="0"/>
          </a:p>
        </p:txBody>
      </p:sp>
      <p:sp>
        <p:nvSpPr>
          <p:cNvPr id="5" name="in_8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84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85" descr="/home/claude/movers/img/fc/read-a-co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662" y="1234440"/>
            <a:ext cx="2010675" cy="2651760"/>
          </a:xfrm>
          <a:prstGeom prst="rect">
            <a:avLst/>
          </a:prstGeom>
        </p:spPr>
      </p:pic>
      <p:sp>
        <p:nvSpPr>
          <p:cNvPr id="8" name="R1_w86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a comic</a:t>
            </a:r>
            <a:endParaRPr lang="en-US" sz="3600" dirty="0"/>
          </a:p>
        </p:txBody>
      </p:sp>
      <p:sp>
        <p:nvSpPr>
          <p:cNvPr id="9" name="R2_it87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leggere un fumetto</a:t>
            </a:r>
            <a:endParaRPr lang="en-US" sz="1600" dirty="0"/>
          </a:p>
        </p:txBody>
      </p:sp>
      <p:sp>
        <p:nvSpPr>
          <p:cNvPr id="10" name="R3_tpr88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Open the comic and laugh! Ha ha! 📖</a:t>
            </a:r>
            <a:endParaRPr lang="en-US" sz="1300" dirty="0"/>
          </a:p>
        </p:txBody>
      </p:sp>
      <p:sp>
        <p:nvSpPr>
          <p:cNvPr id="11" name="n_89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8</a:t>
            </a:r>
            <a:endParaRPr lang="en-US" sz="1200" dirty="0"/>
          </a:p>
        </p:txBody>
      </p:sp>
      <p:sp>
        <p:nvSpPr>
          <p:cNvPr id="12" name="bk_90"/>
          <p:cNvSpPr/>
          <p:nvPr/>
        </p:nvSpPr>
        <p:spPr>
          <a:xfrm>
            <a:off x="228600" y="4681728"/>
            <a:ext cx="365760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Free time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92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time!</a:t>
            </a:r>
            <a:endParaRPr lang="en-US" sz="3200" dirty="0"/>
          </a:p>
        </p:txBody>
      </p:sp>
      <p:sp>
        <p:nvSpPr>
          <p:cNvPr id="5" name="in_9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94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5" descr="/home/claude/movers/img/fc/go-shop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15" y="1234440"/>
            <a:ext cx="2039170" cy="2651760"/>
          </a:xfrm>
          <a:prstGeom prst="rect">
            <a:avLst/>
          </a:prstGeom>
        </p:spPr>
      </p:pic>
      <p:sp>
        <p:nvSpPr>
          <p:cNvPr id="8" name="R1_w96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shopping</a:t>
            </a:r>
            <a:endParaRPr lang="en-US" sz="3600" dirty="0"/>
          </a:p>
        </p:txBody>
      </p:sp>
      <p:sp>
        <p:nvSpPr>
          <p:cNvPr id="9" name="R2_it97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shopping</a:t>
            </a:r>
            <a:endParaRPr lang="en-US" sz="1600" dirty="0"/>
          </a:p>
        </p:txBody>
      </p:sp>
      <p:sp>
        <p:nvSpPr>
          <p:cNvPr id="10" name="R3_tpr98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 the trolley! Pay! 🛒</a:t>
            </a:r>
            <a:endParaRPr lang="en-US" sz="1300" dirty="0"/>
          </a:p>
        </p:txBody>
      </p:sp>
      <p:sp>
        <p:nvSpPr>
          <p:cNvPr id="11" name="n_99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8</a:t>
            </a:r>
            <a:endParaRPr lang="en-US" sz="1200" dirty="0"/>
          </a:p>
        </p:txBody>
      </p:sp>
      <p:sp>
        <p:nvSpPr>
          <p:cNvPr id="12" name="bk_100"/>
          <p:cNvSpPr/>
          <p:nvPr/>
        </p:nvSpPr>
        <p:spPr>
          <a:xfrm>
            <a:off x="228600" y="4681728"/>
            <a:ext cx="365760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Free time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02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time!</a:t>
            </a:r>
            <a:endParaRPr lang="en-US" sz="3200" dirty="0"/>
          </a:p>
        </p:txBody>
      </p:sp>
      <p:sp>
        <p:nvSpPr>
          <p:cNvPr id="5" name="in_10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04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5" descr="/home/claude/movers/img/fc/watch-a-fil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685" y="1234440"/>
            <a:ext cx="2066630" cy="2651760"/>
          </a:xfrm>
          <a:prstGeom prst="rect">
            <a:avLst/>
          </a:prstGeom>
        </p:spPr>
      </p:pic>
      <p:sp>
        <p:nvSpPr>
          <p:cNvPr id="8" name="R1_w106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a film</a:t>
            </a:r>
            <a:endParaRPr lang="en-US" sz="3600" dirty="0"/>
          </a:p>
        </p:txBody>
      </p:sp>
      <p:sp>
        <p:nvSpPr>
          <p:cNvPr id="9" name="R2_it107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guardare un film</a:t>
            </a:r>
            <a:endParaRPr lang="en-US" sz="1600" dirty="0"/>
          </a:p>
        </p:txBody>
      </p:sp>
      <p:sp>
        <p:nvSpPr>
          <p:cNvPr id="10" name="R3_tpr108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Eat popcorn! Wow! 🍿</a:t>
            </a:r>
            <a:endParaRPr lang="en-US" sz="1300" dirty="0"/>
          </a:p>
        </p:txBody>
      </p:sp>
      <p:sp>
        <p:nvSpPr>
          <p:cNvPr id="11" name="n_109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8</a:t>
            </a:r>
            <a:endParaRPr lang="en-US" sz="1200" dirty="0"/>
          </a:p>
        </p:txBody>
      </p:sp>
      <p:sp>
        <p:nvSpPr>
          <p:cNvPr id="12" name="bk_110"/>
          <p:cNvSpPr/>
          <p:nvPr/>
        </p:nvSpPr>
        <p:spPr>
          <a:xfrm>
            <a:off x="228600" y="4681728"/>
            <a:ext cx="365760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Free time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12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time!</a:t>
            </a:r>
            <a:endParaRPr lang="en-US" sz="3200" dirty="0"/>
          </a:p>
        </p:txBody>
      </p:sp>
      <p:sp>
        <p:nvSpPr>
          <p:cNvPr id="5" name="in_11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14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15" descr="/home/claude/movers/img/fc/listen-to-a-c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004" y="1234440"/>
            <a:ext cx="1995992" cy="2651760"/>
          </a:xfrm>
          <a:prstGeom prst="rect">
            <a:avLst/>
          </a:prstGeom>
        </p:spPr>
      </p:pic>
      <p:sp>
        <p:nvSpPr>
          <p:cNvPr id="8" name="R1_w116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to a CD</a:t>
            </a:r>
            <a:endParaRPr lang="en-US" sz="3600" dirty="0"/>
          </a:p>
        </p:txBody>
      </p:sp>
      <p:sp>
        <p:nvSpPr>
          <p:cNvPr id="9" name="R2_it117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ascoltare un CD</a:t>
            </a:r>
            <a:endParaRPr lang="en-US" sz="1600" dirty="0"/>
          </a:p>
        </p:txBody>
      </p:sp>
      <p:sp>
        <p:nvSpPr>
          <p:cNvPr id="10" name="R3_tpr118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Put in the CD… press PLAY! 💿</a:t>
            </a:r>
            <a:endParaRPr lang="en-US" sz="1300" dirty="0"/>
          </a:p>
        </p:txBody>
      </p:sp>
      <p:sp>
        <p:nvSpPr>
          <p:cNvPr id="11" name="n_119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/ 8</a:t>
            </a:r>
            <a:endParaRPr lang="en-US" sz="1200" dirty="0"/>
          </a:p>
        </p:txBody>
      </p:sp>
      <p:sp>
        <p:nvSpPr>
          <p:cNvPr id="12" name="bk_120"/>
          <p:cNvSpPr/>
          <p:nvPr/>
        </p:nvSpPr>
        <p:spPr>
          <a:xfrm>
            <a:off x="228600" y="4681728"/>
            <a:ext cx="365760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Free time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22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time!</a:t>
            </a:r>
            <a:endParaRPr lang="en-US" sz="3200" dirty="0"/>
          </a:p>
        </p:txBody>
      </p:sp>
      <p:sp>
        <p:nvSpPr>
          <p:cNvPr id="5" name="in_12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24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25" descr="/home/claude/movers/img/fc/watch-a-dv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362" y="1234440"/>
            <a:ext cx="2195275" cy="2651760"/>
          </a:xfrm>
          <a:prstGeom prst="rect">
            <a:avLst/>
          </a:prstGeom>
        </p:spPr>
      </p:pic>
      <p:sp>
        <p:nvSpPr>
          <p:cNvPr id="8" name="R1_w126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a DVD</a:t>
            </a:r>
            <a:endParaRPr lang="en-US" sz="3600" dirty="0"/>
          </a:p>
        </p:txBody>
      </p:sp>
      <p:sp>
        <p:nvSpPr>
          <p:cNvPr id="9" name="R2_it127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guardare un DVD</a:t>
            </a:r>
            <a:endParaRPr lang="en-US" sz="1600" dirty="0"/>
          </a:p>
        </p:txBody>
      </p:sp>
      <p:sp>
        <p:nvSpPr>
          <p:cNvPr id="10" name="R3_tpr128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Press the remote control! Sit on the sofa! 📺</a:t>
            </a:r>
            <a:endParaRPr lang="en-US" sz="1300" dirty="0"/>
          </a:p>
        </p:txBody>
      </p:sp>
      <p:sp>
        <p:nvSpPr>
          <p:cNvPr id="11" name="n_129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/ 8</a:t>
            </a:r>
            <a:endParaRPr lang="en-US" sz="1200" dirty="0"/>
          </a:p>
        </p:txBody>
      </p:sp>
      <p:sp>
        <p:nvSpPr>
          <p:cNvPr id="12" name="bk_130"/>
          <p:cNvSpPr/>
          <p:nvPr/>
        </p:nvSpPr>
        <p:spPr>
          <a:xfrm>
            <a:off x="228600" y="4681728"/>
            <a:ext cx="365760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Free time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3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SOUNDS 👂</a:t>
            </a:r>
            <a:endParaRPr lang="en-US" sz="1600" dirty="0"/>
          </a:p>
        </p:txBody>
      </p:sp>
      <p:sp>
        <p:nvSpPr>
          <p:cNvPr id="4" name="bm_132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or Italian?</a:t>
            </a:r>
            <a:endParaRPr lang="en-US" sz="2400" dirty="0"/>
          </a:p>
        </p:txBody>
      </p:sp>
      <p:sp>
        <p:nvSpPr>
          <p:cNvPr id="5" name="in_133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Is it an English sound or an Italian sound?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È un suono inglese o italiano?</a:t>
            </a:r>
            <a:endParaRPr lang="en-US" sz="1400" dirty="0"/>
          </a:p>
        </p:txBody>
      </p:sp>
      <p:sp>
        <p:nvSpPr>
          <p:cNvPr id="6" name="mode_13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✋ VOTE</a:t>
            </a:r>
            <a:endParaRPr lang="en-US" sz="1000" dirty="0"/>
          </a:p>
        </p:txBody>
      </p:sp>
      <p:sp>
        <p:nvSpPr>
          <p:cNvPr id="7" name="gb_135"/>
          <p:cNvSpPr/>
          <p:nvPr/>
        </p:nvSpPr>
        <p:spPr>
          <a:xfrm>
            <a:off x="320040" y="1280160"/>
            <a:ext cx="8503920" cy="1609344"/>
          </a:xfrm>
          <a:prstGeom prst="roundRect">
            <a:avLst>
              <a:gd name="adj" fmla="val 6818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8" name="gl_136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CD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see-dee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(not 'ci-di')</a:t>
            </a:r>
            <a:endParaRPr lang="en-US" sz="1500" dirty="0"/>
          </a:p>
        </p:txBody>
      </p:sp>
      <p:sp>
        <p:nvSpPr>
          <p:cNvPr id="9" name="gl_137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DVD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dee-vee-dee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(not 'di-vu-di')</a:t>
            </a:r>
            <a:endParaRPr lang="en-US" sz="1500" dirty="0"/>
          </a:p>
        </p:txBody>
      </p:sp>
      <p:sp>
        <p:nvSpPr>
          <p:cNvPr id="10" name="gl_138"/>
          <p:cNvSpPr/>
          <p:nvPr/>
        </p:nvSpPr>
        <p:spPr>
          <a:xfrm>
            <a:off x="548640" y="21854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LIS-en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(no 't'!) · skating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SKAY-ting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11" name="pq_139"/>
          <p:cNvSpPr/>
          <p:nvPr/>
        </p:nvSpPr>
        <p:spPr>
          <a:xfrm>
            <a:off x="365760" y="3026664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Teacher: 'ci-di'</a:t>
            </a:r>
            <a:endParaRPr lang="en-US" sz="1300" dirty="0"/>
          </a:p>
        </p:txBody>
      </p:sp>
      <p:sp>
        <p:nvSpPr>
          <p:cNvPr id="12" name="R1_pa140"/>
          <p:cNvSpPr/>
          <p:nvPr/>
        </p:nvSpPr>
        <p:spPr>
          <a:xfrm>
            <a:off x="6126480" y="3026664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🇮🇹 → see-dee</a:t>
            </a:r>
            <a:endParaRPr lang="en-US" sz="1300" dirty="0"/>
          </a:p>
        </p:txBody>
      </p:sp>
      <p:sp>
        <p:nvSpPr>
          <p:cNvPr id="13" name="pq_141"/>
          <p:cNvSpPr/>
          <p:nvPr/>
        </p:nvSpPr>
        <p:spPr>
          <a:xfrm>
            <a:off x="365760" y="3424428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Teacher: 'dee-vee-dee'</a:t>
            </a:r>
            <a:endParaRPr lang="en-US" sz="1300" dirty="0"/>
          </a:p>
        </p:txBody>
      </p:sp>
      <p:sp>
        <p:nvSpPr>
          <p:cNvPr id="14" name="R2_pa142"/>
          <p:cNvSpPr/>
          <p:nvPr/>
        </p:nvSpPr>
        <p:spPr>
          <a:xfrm>
            <a:off x="6126480" y="3424428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🇬🇧 right!</a:t>
            </a:r>
            <a:endParaRPr lang="en-US" sz="1300" dirty="0"/>
          </a:p>
        </p:txBody>
      </p:sp>
      <p:sp>
        <p:nvSpPr>
          <p:cNvPr id="15" name="pq_143"/>
          <p:cNvSpPr/>
          <p:nvPr/>
        </p:nvSpPr>
        <p:spPr>
          <a:xfrm>
            <a:off x="365760" y="3822192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Teacher: 'lis-TEN'</a:t>
            </a:r>
            <a:endParaRPr lang="en-US" sz="1300" dirty="0"/>
          </a:p>
        </p:txBody>
      </p:sp>
      <p:sp>
        <p:nvSpPr>
          <p:cNvPr id="16" name="R3_pa144"/>
          <p:cNvSpPr/>
          <p:nvPr/>
        </p:nvSpPr>
        <p:spPr>
          <a:xfrm>
            <a:off x="6126480" y="3822192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🇮🇹 → LIS-en</a:t>
            </a:r>
            <a:endParaRPr lang="en-US" sz="1300" dirty="0"/>
          </a:p>
        </p:txBody>
      </p:sp>
      <p:sp>
        <p:nvSpPr>
          <p:cNvPr id="17" name="pq_145"/>
          <p:cNvSpPr/>
          <p:nvPr/>
        </p:nvSpPr>
        <p:spPr>
          <a:xfrm>
            <a:off x="365760" y="4219956"/>
            <a:ext cx="5669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Teacher: 'shopping-a'</a:t>
            </a:r>
            <a:endParaRPr lang="en-US" sz="1300" dirty="0"/>
          </a:p>
        </p:txBody>
      </p:sp>
      <p:sp>
        <p:nvSpPr>
          <p:cNvPr id="18" name="R4_pa146"/>
          <p:cNvSpPr/>
          <p:nvPr/>
        </p:nvSpPr>
        <p:spPr>
          <a:xfrm>
            <a:off x="6126480" y="4219956"/>
            <a:ext cx="2743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🇮🇹 → SHOP-ing (no 'a'!)</a:t>
            </a:r>
            <a:endParaRPr lang="en-US" sz="1300" dirty="0"/>
          </a:p>
        </p:txBody>
      </p:sp>
      <p:sp>
        <p:nvSpPr>
          <p:cNvPr id="19" name="bk_147"/>
          <p:cNvSpPr/>
          <p:nvPr/>
        </p:nvSpPr>
        <p:spPr>
          <a:xfrm>
            <a:off x="228600" y="4681728"/>
            <a:ext cx="288036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Pronunciation · letters + -ing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4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4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time moves!</a:t>
            </a:r>
            <a:endParaRPr lang="en-US" sz="2700" dirty="0"/>
          </a:p>
        </p:txBody>
      </p:sp>
      <p:sp>
        <p:nvSpPr>
          <p:cNvPr id="5" name="in_15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mime! Faster… faster!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mima! Più veloce… più veloce!</a:t>
            </a:r>
            <a:endParaRPr lang="en-US" sz="1400" dirty="0"/>
          </a:p>
        </p:txBody>
      </p:sp>
      <p:sp>
        <p:nvSpPr>
          <p:cNvPr id="6" name="mode_15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 · ⏱ 3 MIN</a:t>
            </a:r>
            <a:endParaRPr lang="en-US" sz="1000" dirty="0"/>
          </a:p>
        </p:txBody>
      </p:sp>
      <p:sp>
        <p:nvSpPr>
          <p:cNvPr id="7" name="cd_152"/>
          <p:cNvSpPr/>
          <p:nvPr/>
        </p:nvSpPr>
        <p:spPr>
          <a:xfrm>
            <a:off x="27432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153" descr="/home/claude/movers/img/fc/go-ska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905256" cy="905256"/>
          </a:xfrm>
          <a:prstGeom prst="rect">
            <a:avLst/>
          </a:prstGeom>
        </p:spPr>
      </p:pic>
      <p:sp>
        <p:nvSpPr>
          <p:cNvPr id="9" name="R1_a154"/>
          <p:cNvSpPr/>
          <p:nvPr/>
        </p:nvSpPr>
        <p:spPr>
          <a:xfrm>
            <a:off x="139903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Skate!</a:t>
            </a:r>
            <a:endParaRPr lang="en-US" sz="1250" dirty="0"/>
          </a:p>
        </p:txBody>
      </p:sp>
      <p:sp>
        <p:nvSpPr>
          <p:cNvPr id="10" name="cd_155"/>
          <p:cNvSpPr/>
          <p:nvPr/>
        </p:nvSpPr>
        <p:spPr>
          <a:xfrm>
            <a:off x="242316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156" descr="/home/claude/movers/img/fc/listen-to-mus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1399032"/>
            <a:ext cx="905256" cy="905256"/>
          </a:xfrm>
          <a:prstGeom prst="rect">
            <a:avLst/>
          </a:prstGeom>
        </p:spPr>
      </p:pic>
      <p:sp>
        <p:nvSpPr>
          <p:cNvPr id="12" name="R2_a157"/>
          <p:cNvSpPr/>
          <p:nvPr/>
        </p:nvSpPr>
        <p:spPr>
          <a:xfrm>
            <a:off x="354787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Dance!</a:t>
            </a:r>
            <a:endParaRPr lang="en-US" sz="1250" dirty="0"/>
          </a:p>
        </p:txBody>
      </p:sp>
      <p:sp>
        <p:nvSpPr>
          <p:cNvPr id="13" name="cd_158"/>
          <p:cNvSpPr/>
          <p:nvPr/>
        </p:nvSpPr>
        <p:spPr>
          <a:xfrm>
            <a:off x="457200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159" descr="/home/claude/movers/img/fc/write-an-e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399032"/>
            <a:ext cx="905256" cy="905256"/>
          </a:xfrm>
          <a:prstGeom prst="rect">
            <a:avLst/>
          </a:prstGeom>
        </p:spPr>
      </p:pic>
      <p:sp>
        <p:nvSpPr>
          <p:cNvPr id="15" name="R3_a160"/>
          <p:cNvSpPr/>
          <p:nvPr/>
        </p:nvSpPr>
        <p:spPr>
          <a:xfrm>
            <a:off x="569671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Type!</a:t>
            </a:r>
            <a:endParaRPr lang="en-US" sz="1250" dirty="0"/>
          </a:p>
        </p:txBody>
      </p:sp>
      <p:sp>
        <p:nvSpPr>
          <p:cNvPr id="16" name="cd_161"/>
          <p:cNvSpPr/>
          <p:nvPr/>
        </p:nvSpPr>
        <p:spPr>
          <a:xfrm>
            <a:off x="672084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162" descr="/home/claude/movers/img/fc/read-a-com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1399032"/>
            <a:ext cx="905256" cy="905256"/>
          </a:xfrm>
          <a:prstGeom prst="rect">
            <a:avLst/>
          </a:prstGeom>
        </p:spPr>
      </p:pic>
      <p:sp>
        <p:nvSpPr>
          <p:cNvPr id="18" name="R4_a163"/>
          <p:cNvSpPr/>
          <p:nvPr/>
        </p:nvSpPr>
        <p:spPr>
          <a:xfrm>
            <a:off x="784555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 and laugh!</a:t>
            </a:r>
            <a:endParaRPr lang="en-US" sz="1250" dirty="0"/>
          </a:p>
        </p:txBody>
      </p:sp>
      <p:sp>
        <p:nvSpPr>
          <p:cNvPr id="19" name="cd_164"/>
          <p:cNvSpPr/>
          <p:nvPr/>
        </p:nvSpPr>
        <p:spPr>
          <a:xfrm>
            <a:off x="27432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165" descr="/home/claude/movers/img/fc/go-shopp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999232"/>
            <a:ext cx="905256" cy="905256"/>
          </a:xfrm>
          <a:prstGeom prst="rect">
            <a:avLst/>
          </a:prstGeom>
        </p:spPr>
      </p:pic>
      <p:sp>
        <p:nvSpPr>
          <p:cNvPr id="21" name="R5_a166"/>
          <p:cNvSpPr/>
          <p:nvPr/>
        </p:nvSpPr>
        <p:spPr>
          <a:xfrm>
            <a:off x="139903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 the trolley!</a:t>
            </a:r>
            <a:endParaRPr lang="en-US" sz="1250" dirty="0"/>
          </a:p>
        </p:txBody>
      </p:sp>
      <p:sp>
        <p:nvSpPr>
          <p:cNvPr id="22" name="cd_167"/>
          <p:cNvSpPr/>
          <p:nvPr/>
        </p:nvSpPr>
        <p:spPr>
          <a:xfrm>
            <a:off x="242316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168" descr="/home/claude/movers/img/fc/watch-a-fil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6312" y="2999232"/>
            <a:ext cx="905256" cy="905256"/>
          </a:xfrm>
          <a:prstGeom prst="rect">
            <a:avLst/>
          </a:prstGeom>
        </p:spPr>
      </p:pic>
      <p:sp>
        <p:nvSpPr>
          <p:cNvPr id="24" name="R6_a169"/>
          <p:cNvSpPr/>
          <p:nvPr/>
        </p:nvSpPr>
        <p:spPr>
          <a:xfrm>
            <a:off x="354787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Eat popcorn!</a:t>
            </a:r>
            <a:endParaRPr lang="en-US" sz="1250" dirty="0"/>
          </a:p>
        </p:txBody>
      </p:sp>
      <p:sp>
        <p:nvSpPr>
          <p:cNvPr id="25" name="cd_170"/>
          <p:cNvSpPr/>
          <p:nvPr/>
        </p:nvSpPr>
        <p:spPr>
          <a:xfrm>
            <a:off x="457200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171" descr="/home/claude/movers/img/fc/listen-to-a-c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2999232"/>
            <a:ext cx="905256" cy="905256"/>
          </a:xfrm>
          <a:prstGeom prst="rect">
            <a:avLst/>
          </a:prstGeom>
        </p:spPr>
      </p:pic>
      <p:sp>
        <p:nvSpPr>
          <p:cNvPr id="27" name="R7_a172"/>
          <p:cNvSpPr/>
          <p:nvPr/>
        </p:nvSpPr>
        <p:spPr>
          <a:xfrm>
            <a:off x="569671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Press PLAY!</a:t>
            </a:r>
            <a:endParaRPr lang="en-US" sz="1250" dirty="0"/>
          </a:p>
        </p:txBody>
      </p:sp>
      <p:sp>
        <p:nvSpPr>
          <p:cNvPr id="28" name="cd_173"/>
          <p:cNvSpPr/>
          <p:nvPr/>
        </p:nvSpPr>
        <p:spPr>
          <a:xfrm>
            <a:off x="672084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174" descr="/home/claude/movers/img/fc/watch-a-dv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992" y="2999232"/>
            <a:ext cx="905256" cy="905256"/>
          </a:xfrm>
          <a:prstGeom prst="rect">
            <a:avLst/>
          </a:prstGeom>
        </p:spPr>
      </p:pic>
      <p:sp>
        <p:nvSpPr>
          <p:cNvPr id="30" name="R8_a175"/>
          <p:cNvSpPr/>
          <p:nvPr/>
        </p:nvSpPr>
        <p:spPr>
          <a:xfrm>
            <a:off x="784555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Sit on the sofa!</a:t>
            </a:r>
            <a:endParaRPr lang="en-US" sz="1250" dirty="0"/>
          </a:p>
        </p:txBody>
      </p:sp>
      <p:sp>
        <p:nvSpPr>
          <p:cNvPr id="31" name="bk_176"/>
          <p:cNvSpPr/>
          <p:nvPr/>
        </p:nvSpPr>
        <p:spPr>
          <a:xfrm>
            <a:off x="228600" y="4681728"/>
            <a:ext cx="210312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Free time activities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7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17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and number</a:t>
            </a:r>
            <a:endParaRPr lang="en-US" sz="2700" dirty="0"/>
          </a:p>
        </p:txBody>
      </p:sp>
      <p:sp>
        <p:nvSpPr>
          <p:cNvPr id="5" name="in_17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number the pictures a–h.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numera le immagini a–h.</a:t>
            </a:r>
            <a:endParaRPr lang="en-US" sz="1400" dirty="0"/>
          </a:p>
        </p:txBody>
      </p:sp>
      <p:sp>
        <p:nvSpPr>
          <p:cNvPr id="6" name="mode_18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👂 LISTEN</a:t>
            </a:r>
            <a:endParaRPr lang="en-US" sz="1000" dirty="0"/>
          </a:p>
        </p:txBody>
      </p:sp>
      <p:sp>
        <p:nvSpPr>
          <p:cNvPr id="7" name="pf_181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82" descr="/home/claude/movers/img/crop/u2-p22-pic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91" y="1325880"/>
            <a:ext cx="2454578" cy="3246120"/>
          </a:xfrm>
          <a:prstGeom prst="rect">
            <a:avLst/>
          </a:prstGeom>
        </p:spPr>
      </p:pic>
      <p:sp>
        <p:nvSpPr>
          <p:cNvPr id="9" name="q_183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?  b ?</a:t>
            </a:r>
            <a:endParaRPr lang="en-US" sz="1250" dirty="0"/>
          </a:p>
        </p:txBody>
      </p:sp>
      <p:sp>
        <p:nvSpPr>
          <p:cNvPr id="10" name="R1_a184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6 · b 3</a:t>
            </a:r>
            <a:endParaRPr lang="en-US" sz="1250" dirty="0"/>
          </a:p>
        </p:txBody>
      </p:sp>
      <p:sp>
        <p:nvSpPr>
          <p:cNvPr id="11" name="q_185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 ?  d ?</a:t>
            </a:r>
            <a:endParaRPr lang="en-US" sz="1250" dirty="0"/>
          </a:p>
        </p:txBody>
      </p:sp>
      <p:sp>
        <p:nvSpPr>
          <p:cNvPr id="12" name="R1_a186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 1 (example) · d 8</a:t>
            </a:r>
            <a:endParaRPr lang="en-US" sz="1250" dirty="0"/>
          </a:p>
        </p:txBody>
      </p:sp>
      <p:sp>
        <p:nvSpPr>
          <p:cNvPr id="13" name="q_187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 ?  f ?</a:t>
            </a:r>
            <a:endParaRPr lang="en-US" sz="1250" dirty="0"/>
          </a:p>
        </p:txBody>
      </p:sp>
      <p:sp>
        <p:nvSpPr>
          <p:cNvPr id="14" name="R1_a188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 2 · f 4</a:t>
            </a:r>
            <a:endParaRPr lang="en-US" sz="1250" dirty="0"/>
          </a:p>
        </p:txBody>
      </p:sp>
      <p:sp>
        <p:nvSpPr>
          <p:cNvPr id="15" name="q_189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 ?  h ?</a:t>
            </a:r>
            <a:endParaRPr lang="en-US" sz="1250" dirty="0"/>
          </a:p>
        </p:txBody>
      </p:sp>
      <p:sp>
        <p:nvSpPr>
          <p:cNvPr id="16" name="R1_a190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 5 · h 7</a:t>
            </a:r>
            <a:endParaRPr lang="en-US" sz="1250" dirty="0"/>
          </a:p>
        </p:txBody>
      </p:sp>
      <p:sp>
        <p:nvSpPr>
          <p:cNvPr id="17" name="bk_191"/>
          <p:cNvSpPr/>
          <p:nvPr/>
        </p:nvSpPr>
        <p:spPr>
          <a:xfrm>
            <a:off x="228600" y="4681728"/>
            <a:ext cx="38907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🎧 1.28 · 🎬 song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9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SONG</a:t>
            </a:r>
            <a:endParaRPr lang="en-US" sz="1600" dirty="0"/>
          </a:p>
        </p:txBody>
      </p:sp>
      <p:sp>
        <p:nvSpPr>
          <p:cNvPr id="4" name="bm_19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Rocky's song (1)</a:t>
            </a:r>
            <a:endParaRPr lang="en-US" sz="2700" dirty="0"/>
          </a:p>
        </p:txBody>
      </p:sp>
      <p:sp>
        <p:nvSpPr>
          <p:cNvPr id="5" name="in_19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Sing the song and do the actions!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Canta la canzone e fai le azioni!</a:t>
            </a:r>
            <a:endParaRPr lang="en-US" sz="1400" dirty="0"/>
          </a:p>
        </p:txBody>
      </p:sp>
      <p:sp>
        <p:nvSpPr>
          <p:cNvPr id="6" name="mode_19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 · 🏃 MOVE</a:t>
            </a:r>
            <a:endParaRPr lang="en-US" sz="1000" dirty="0"/>
          </a:p>
        </p:txBody>
      </p:sp>
      <p:sp>
        <p:nvSpPr>
          <p:cNvPr id="7" name="pf_196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97" descr="/home/claude/movers/img/crop/u2-p22-song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141" y="1325880"/>
            <a:ext cx="4093718" cy="3246120"/>
          </a:xfrm>
          <a:prstGeom prst="rect">
            <a:avLst/>
          </a:prstGeom>
        </p:spPr>
      </p:pic>
      <p:sp>
        <p:nvSpPr>
          <p:cNvPr id="9" name="bk_198"/>
          <p:cNvSpPr/>
          <p:nvPr/>
        </p:nvSpPr>
        <p:spPr>
          <a:xfrm>
            <a:off x="228600" y="4681728"/>
            <a:ext cx="420166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🎧 1.28 (karaoke 1.29) · 🎬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9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SONG</a:t>
            </a:r>
            <a:endParaRPr lang="en-US" sz="1600" dirty="0"/>
          </a:p>
        </p:txBody>
      </p:sp>
      <p:sp>
        <p:nvSpPr>
          <p:cNvPr id="4" name="bm_20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Rocky's song (2)</a:t>
            </a:r>
            <a:endParaRPr lang="en-US" sz="2700" dirty="0"/>
          </a:p>
        </p:txBody>
      </p:sp>
      <p:sp>
        <p:nvSpPr>
          <p:cNvPr id="5" name="in_20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Sing the song and do the actions!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Canta la canzone e fai le azioni!</a:t>
            </a:r>
            <a:endParaRPr lang="en-US" sz="1400" dirty="0"/>
          </a:p>
        </p:txBody>
      </p:sp>
      <p:sp>
        <p:nvSpPr>
          <p:cNvPr id="6" name="mode_20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 · 🏃 MOVE</a:t>
            </a:r>
            <a:endParaRPr lang="en-US" sz="1000" dirty="0"/>
          </a:p>
        </p:txBody>
      </p:sp>
      <p:sp>
        <p:nvSpPr>
          <p:cNvPr id="7" name="pf_203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04" descr="/home/claude/movers/img/crop/u2-p22-son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241" y="1325880"/>
            <a:ext cx="3919517" cy="3246120"/>
          </a:xfrm>
          <a:prstGeom prst="rect">
            <a:avLst/>
          </a:prstGeom>
        </p:spPr>
      </p:pic>
      <p:sp>
        <p:nvSpPr>
          <p:cNvPr id="9" name="bk_205"/>
          <p:cNvSpPr/>
          <p:nvPr/>
        </p:nvSpPr>
        <p:spPr>
          <a:xfrm>
            <a:off x="228600" y="4681728"/>
            <a:ext cx="420166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🎧 1.28 (karaoke 1.29) · 🎬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</a:t>
            </a:r>
            <a:endParaRPr lang="en-US" sz="1600" dirty="0"/>
          </a:p>
        </p:txBody>
      </p:sp>
      <p:sp>
        <p:nvSpPr>
          <p:cNvPr id="4" name="bm_20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and answer</a:t>
            </a:r>
            <a:endParaRPr lang="en-US" sz="2700" dirty="0"/>
          </a:p>
        </p:txBody>
      </p:sp>
      <p:sp>
        <p:nvSpPr>
          <p:cNvPr id="5" name="in_20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Ask your partner. Answer with often, sometimes or never.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Chiedi al compagno. Rispondi con often, sometimes o never.</a:t>
            </a:r>
            <a:endParaRPr lang="en-US" sz="1250" dirty="0"/>
          </a:p>
        </p:txBody>
      </p:sp>
      <p:sp>
        <p:nvSpPr>
          <p:cNvPr id="6" name="mode_20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4 MIN</a:t>
            </a:r>
            <a:endParaRPr lang="en-US" sz="1000" dirty="0"/>
          </a:p>
        </p:txBody>
      </p:sp>
      <p:sp>
        <p:nvSpPr>
          <p:cNvPr id="7" name="pf_210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11" descr="/home/claude/movers/img/crop/u2-p22-clip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45445"/>
            <a:ext cx="5120640" cy="2006991"/>
          </a:xfrm>
          <a:prstGeom prst="rect">
            <a:avLst/>
          </a:prstGeom>
        </p:spPr>
      </p:pic>
      <p:sp>
        <p:nvSpPr>
          <p:cNvPr id="9" name="q_212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Model: How often do you go skating?</a:t>
            </a:r>
            <a:endParaRPr lang="en-US" sz="1250" dirty="0"/>
          </a:p>
        </p:txBody>
      </p:sp>
      <p:sp>
        <p:nvSpPr>
          <p:cNvPr id="10" name="R1_a213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sometimes go skating.</a:t>
            </a:r>
            <a:endParaRPr lang="en-US" sz="1250" dirty="0"/>
          </a:p>
        </p:txBody>
      </p:sp>
      <p:sp>
        <p:nvSpPr>
          <p:cNvPr id="11" name="q_214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How often do you read comics?</a:t>
            </a:r>
            <a:endParaRPr lang="en-US" sz="1250" dirty="0"/>
          </a:p>
        </p:txBody>
      </p:sp>
      <p:sp>
        <p:nvSpPr>
          <p:cNvPr id="12" name="R2_a215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often / sometimes / never read comics.</a:t>
            </a:r>
            <a:endParaRPr lang="en-US" sz="1250" dirty="0"/>
          </a:p>
        </p:txBody>
      </p:sp>
      <p:sp>
        <p:nvSpPr>
          <p:cNvPr id="13" name="bk_216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p.22 · ex.2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1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1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Mime it!</a:t>
            </a:r>
            <a:endParaRPr lang="en-US" sz="3200" dirty="0"/>
          </a:p>
        </p:txBody>
      </p:sp>
      <p:sp>
        <p:nvSpPr>
          <p:cNvPr id="5" name="in_21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Mime an activity. The class guesses and asks: How often…?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Mima un'attività. La classe indovina e chiede: How often…?</a:t>
            </a:r>
            <a:endParaRPr lang="en-US" sz="1250" dirty="0"/>
          </a:p>
        </p:txBody>
      </p:sp>
      <p:sp>
        <p:nvSpPr>
          <p:cNvPr id="6" name="mode_22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4 MIN</a:t>
            </a:r>
            <a:endParaRPr lang="en-US" sz="1000" dirty="0"/>
          </a:p>
        </p:txBody>
      </p:sp>
      <p:sp>
        <p:nvSpPr>
          <p:cNvPr id="7" name="diff_221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You're …ing! How often…?</a:t>
            </a:r>
            <a:endParaRPr lang="en-US" sz="950" dirty="0"/>
          </a:p>
        </p:txBody>
      </p:sp>
      <p:sp>
        <p:nvSpPr>
          <p:cNvPr id="8" name="st_222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223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224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1" name="se_225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Mime a free time activity.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 un'attività del tempo libero.</a:t>
            </a:r>
            <a:endParaRPr lang="en-US" sz="1050" dirty="0"/>
          </a:p>
        </p:txBody>
      </p:sp>
      <p:sp>
        <p:nvSpPr>
          <p:cNvPr id="12" name="st_226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227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228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5" name="se_229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Class: You're reading a comic!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 Stai leggendo un fumetto!</a:t>
            </a:r>
            <a:endParaRPr lang="en-US" sz="1050" dirty="0"/>
          </a:p>
        </p:txBody>
      </p:sp>
      <p:sp>
        <p:nvSpPr>
          <p:cNvPr id="16" name="st_230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231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232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9" name="se_233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How often do you…?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Chiedi: Quanto spesso…?</a:t>
            </a:r>
            <a:endParaRPr lang="en-US" sz="1050" dirty="0"/>
          </a:p>
        </p:txBody>
      </p:sp>
      <p:sp>
        <p:nvSpPr>
          <p:cNvPr id="20" name="cd_234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235" descr="/home/claude/movers/img/fc/listen-to-mus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2" name="cd_236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37" descr="/home/claude/movers/img/fc/go-skat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4" name="cd_238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239" descr="/home/claude/movers/img/fc/watch-a-fil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6" name="cd_240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7" name="ci_241" descr="/home/claude/movers/img/fc/write-an-em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8" name="bk_242"/>
          <p:cNvSpPr/>
          <p:nvPr/>
        </p:nvSpPr>
        <p:spPr>
          <a:xfrm>
            <a:off x="228600" y="4681728"/>
            <a:ext cx="319125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Free time activities · How often…?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244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Jack's present</a:t>
            </a:r>
            <a:endParaRPr lang="en-US" sz="2700" dirty="0"/>
          </a:p>
        </p:txBody>
      </p:sp>
      <p:sp>
        <p:nvSpPr>
          <p:cNvPr id="5" name="in_24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 can Jack go with his birthday present? Listen and tick ✓.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Dove può andare Jack con il suo regalo di compleanno? Ascolta e spunta ✓.</a:t>
            </a:r>
            <a:endParaRPr lang="en-US" sz="1100" dirty="0"/>
          </a:p>
        </p:txBody>
      </p:sp>
      <p:sp>
        <p:nvSpPr>
          <p:cNvPr id="6" name="mode_24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👂 LISTEN</a:t>
            </a:r>
            <a:endParaRPr lang="en-US" sz="1000" dirty="0"/>
          </a:p>
        </p:txBody>
      </p:sp>
      <p:sp>
        <p:nvSpPr>
          <p:cNvPr id="7" name="pf_247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48" descr="/home/claude/movers/img/crop/u2-p23-jac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95604"/>
            <a:ext cx="5120640" cy="906673"/>
          </a:xfrm>
          <a:prstGeom prst="rect">
            <a:avLst/>
          </a:prstGeom>
        </p:spPr>
      </p:pic>
      <p:sp>
        <p:nvSpPr>
          <p:cNvPr id="9" name="q_249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in picture 1, 2, 3?</a:t>
            </a:r>
            <a:endParaRPr lang="en-US" sz="1250" dirty="0"/>
          </a:p>
        </p:txBody>
      </p:sp>
      <p:sp>
        <p:nvSpPr>
          <p:cNvPr id="10" name="R1_a250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a street · 2 a skate park · 3 a swimming pool</a:t>
            </a:r>
            <a:endParaRPr lang="en-US" sz="1250" dirty="0"/>
          </a:p>
        </p:txBody>
      </p:sp>
      <p:sp>
        <p:nvSpPr>
          <p:cNvPr id="11" name="q_251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first: where can Jack go?</a:t>
            </a:r>
            <a:endParaRPr lang="en-US" sz="1250" dirty="0"/>
          </a:p>
        </p:txBody>
      </p:sp>
      <p:sp>
        <p:nvSpPr>
          <p:cNvPr id="12" name="R2_a252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 2 ✓ (the skate park)</a:t>
            </a:r>
            <a:endParaRPr lang="en-US" sz="1250" dirty="0"/>
          </a:p>
        </p:txBody>
      </p:sp>
      <p:sp>
        <p:nvSpPr>
          <p:cNvPr id="13" name="q_253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Jack's birthday present?</a:t>
            </a:r>
            <a:endParaRPr lang="en-US" sz="1250" dirty="0"/>
          </a:p>
        </p:txBody>
      </p:sp>
      <p:sp>
        <p:nvSpPr>
          <p:cNvPr id="14" name="R3_a254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Roller skates 🛼</a:t>
            </a:r>
            <a:endParaRPr lang="en-US" sz="1250" dirty="0"/>
          </a:p>
        </p:txBody>
      </p:sp>
      <p:sp>
        <p:nvSpPr>
          <p:cNvPr id="15" name="bk_255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p.23 · 🎧 1.30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5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</a:t>
            </a:r>
            <a:endParaRPr lang="en-US" sz="1600" dirty="0"/>
          </a:p>
        </p:txBody>
      </p:sp>
      <p:sp>
        <p:nvSpPr>
          <p:cNvPr id="4" name="bm_25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Gracie's Grammar</a:t>
            </a:r>
            <a:endParaRPr lang="en-US" sz="2700" dirty="0"/>
          </a:p>
        </p:txBody>
      </p:sp>
      <p:sp>
        <p:nvSpPr>
          <p:cNvPr id="5" name="mode_25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✍ WRITE</a:t>
            </a:r>
            <a:endParaRPr lang="en-US" sz="1000" dirty="0"/>
          </a:p>
        </p:txBody>
      </p:sp>
      <p:sp>
        <p:nvSpPr>
          <p:cNvPr id="6" name="gb_259"/>
          <p:cNvSpPr/>
          <p:nvPr/>
        </p:nvSpPr>
        <p:spPr>
          <a:xfrm>
            <a:off x="320040" y="1280160"/>
            <a:ext cx="8503920" cy="1609344"/>
          </a:xfrm>
          <a:prstGeom prst="roundRect">
            <a:avLst>
              <a:gd name="adj" fmla="val 6818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pic>
        <p:nvPicPr>
          <p:cNvPr id="7" name="pic_260" descr="/home/claude/movers/img/fc/grac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54287"/>
            <a:ext cx="868680" cy="1042803"/>
          </a:xfrm>
          <a:prstGeom prst="rect">
            <a:avLst/>
          </a:prstGeom>
        </p:spPr>
      </p:pic>
      <p:sp>
        <p:nvSpPr>
          <p:cNvPr id="8" name="gl_261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I do?</a:t>
            </a:r>
            <a:endParaRPr lang="en-US" sz="1500" dirty="0"/>
          </a:p>
        </p:txBody>
      </p:sp>
      <p:sp>
        <p:nvSpPr>
          <p:cNvPr id="9" name="gl_262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mustn't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wear your skates in the house.</a:t>
            </a:r>
            <a:endParaRPr lang="en-US" sz="1500" dirty="0"/>
          </a:p>
        </p:txBody>
      </p:sp>
      <p:sp>
        <p:nvSpPr>
          <p:cNvPr id="10" name="gl_263"/>
          <p:cNvSpPr/>
          <p:nvPr/>
        </p:nvSpPr>
        <p:spPr>
          <a:xfrm>
            <a:off x="548640" y="21854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put them in the cupboard.</a:t>
            </a:r>
            <a:endParaRPr lang="en-US" sz="1500" dirty="0"/>
          </a:p>
        </p:txBody>
      </p:sp>
      <p:sp>
        <p:nvSpPr>
          <p:cNvPr id="11" name="pq_264"/>
          <p:cNvSpPr/>
          <p:nvPr/>
        </p:nvSpPr>
        <p:spPr>
          <a:xfrm>
            <a:off x="365760" y="30266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must to wear a helmet. ✗</a:t>
            </a:r>
            <a:endParaRPr lang="en-US" sz="1300" dirty="0"/>
          </a:p>
        </p:txBody>
      </p:sp>
      <p:sp>
        <p:nvSpPr>
          <p:cNvPr id="12" name="R1_pa265"/>
          <p:cNvSpPr/>
          <p:nvPr/>
        </p:nvSpPr>
        <p:spPr>
          <a:xfrm>
            <a:off x="6126480" y="3026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 wear (no 'to'!)</a:t>
            </a:r>
            <a:endParaRPr lang="en-US" sz="1300" dirty="0"/>
          </a:p>
        </p:txBody>
      </p:sp>
      <p:sp>
        <p:nvSpPr>
          <p:cNvPr id="13" name="pq_266"/>
          <p:cNvSpPr/>
          <p:nvPr/>
        </p:nvSpPr>
        <p:spPr>
          <a:xfrm>
            <a:off x="365760" y="34838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___ skate in the street. ✗</a:t>
            </a:r>
            <a:endParaRPr lang="en-US" sz="1300" dirty="0"/>
          </a:p>
        </p:txBody>
      </p:sp>
      <p:sp>
        <p:nvSpPr>
          <p:cNvPr id="14" name="R2_pa267"/>
          <p:cNvSpPr/>
          <p:nvPr/>
        </p:nvSpPr>
        <p:spPr>
          <a:xfrm>
            <a:off x="6126480" y="3483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mustn't</a:t>
            </a:r>
            <a:endParaRPr lang="en-US" sz="1300" dirty="0"/>
          </a:p>
        </p:txBody>
      </p:sp>
      <p:sp>
        <p:nvSpPr>
          <p:cNvPr id="15" name="pq_268"/>
          <p:cNvSpPr/>
          <p:nvPr/>
        </p:nvSpPr>
        <p:spPr>
          <a:xfrm>
            <a:off x="365760" y="39410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___ eat sweets in the swimming pool. ✗</a:t>
            </a:r>
            <a:endParaRPr lang="en-US" sz="1300" dirty="0"/>
          </a:p>
        </p:txBody>
      </p:sp>
      <p:sp>
        <p:nvSpPr>
          <p:cNvPr id="16" name="R3_pa269"/>
          <p:cNvSpPr/>
          <p:nvPr/>
        </p:nvSpPr>
        <p:spPr>
          <a:xfrm>
            <a:off x="6126480" y="3941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mustn't</a:t>
            </a:r>
            <a:endParaRPr lang="en-US" sz="1300" dirty="0"/>
          </a:p>
        </p:txBody>
      </p:sp>
      <p:sp>
        <p:nvSpPr>
          <p:cNvPr id="17" name="bk_270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p.23 · 🎧 1.31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7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</a:t>
            </a:r>
            <a:endParaRPr lang="en-US" sz="1600" dirty="0"/>
          </a:p>
        </p:txBody>
      </p:sp>
      <p:sp>
        <p:nvSpPr>
          <p:cNvPr id="4" name="bm_27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 rules</a:t>
            </a:r>
            <a:endParaRPr lang="en-US" sz="3200" dirty="0"/>
          </a:p>
        </p:txBody>
      </p:sp>
      <p:sp>
        <p:nvSpPr>
          <p:cNvPr id="5" name="in_27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 and circle to make class rules.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Leggi e cerchia per creare le regole della classe.</a:t>
            </a:r>
            <a:endParaRPr lang="en-US" sz="1400" dirty="0"/>
          </a:p>
        </p:txBody>
      </p:sp>
      <p:sp>
        <p:nvSpPr>
          <p:cNvPr id="6" name="mode_27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✍ WRITE</a:t>
            </a:r>
            <a:endParaRPr lang="en-US" sz="1000" dirty="0"/>
          </a:p>
        </p:txBody>
      </p:sp>
      <p:sp>
        <p:nvSpPr>
          <p:cNvPr id="7" name="pf_275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76" descr="/home/claude/movers/img/crop/u2-p23-rul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78762"/>
            <a:ext cx="5120640" cy="1140357"/>
          </a:xfrm>
          <a:prstGeom prst="rect">
            <a:avLst/>
          </a:prstGeom>
        </p:spPr>
      </p:pic>
      <p:sp>
        <p:nvSpPr>
          <p:cNvPr id="9" name="q_277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 ___ listen to the teacher.</a:t>
            </a:r>
            <a:endParaRPr lang="en-US" sz="1250" dirty="0"/>
          </a:p>
        </p:txBody>
      </p:sp>
      <p:sp>
        <p:nvSpPr>
          <p:cNvPr id="10" name="R1_a278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 (example)</a:t>
            </a:r>
            <a:endParaRPr lang="en-US" sz="1250" dirty="0"/>
          </a:p>
        </p:txBody>
      </p:sp>
      <p:sp>
        <p:nvSpPr>
          <p:cNvPr id="11" name="q_279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 ___ talk when the teacher is talking.</a:t>
            </a:r>
            <a:endParaRPr lang="en-US" sz="1250" dirty="0"/>
          </a:p>
        </p:txBody>
      </p:sp>
      <p:sp>
        <p:nvSpPr>
          <p:cNvPr id="12" name="R2_a280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mustn't</a:t>
            </a:r>
            <a:endParaRPr lang="en-US" sz="1250" dirty="0"/>
          </a:p>
        </p:txBody>
      </p:sp>
      <p:sp>
        <p:nvSpPr>
          <p:cNvPr id="13" name="q_281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 ___ do our homework.</a:t>
            </a:r>
            <a:endParaRPr lang="en-US" sz="1250" dirty="0"/>
          </a:p>
        </p:txBody>
      </p:sp>
      <p:sp>
        <p:nvSpPr>
          <p:cNvPr id="14" name="R3_a282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</a:t>
            </a:r>
            <a:endParaRPr lang="en-US" sz="1250" dirty="0"/>
          </a:p>
        </p:txBody>
      </p:sp>
      <p:sp>
        <p:nvSpPr>
          <p:cNvPr id="15" name="q_283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 ___ put our feet on the chairs.</a:t>
            </a:r>
            <a:endParaRPr lang="en-US" sz="1250" dirty="0"/>
          </a:p>
        </p:txBody>
      </p:sp>
      <p:sp>
        <p:nvSpPr>
          <p:cNvPr id="16" name="R4_a284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mustn't</a:t>
            </a:r>
            <a:endParaRPr lang="en-US" sz="1250" dirty="0"/>
          </a:p>
        </p:txBody>
      </p:sp>
      <p:sp>
        <p:nvSpPr>
          <p:cNvPr id="17" name="bk_285"/>
          <p:cNvSpPr/>
          <p:nvPr/>
        </p:nvSpPr>
        <p:spPr>
          <a:xfrm>
            <a:off x="228600" y="4681728"/>
            <a:ext cx="288036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p.23 · ex.2 and 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8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28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Stage 2</a:t>
            </a:r>
            <a:endParaRPr lang="en-US" sz="2700" dirty="0"/>
          </a:p>
        </p:txBody>
      </p:sp>
      <p:sp>
        <p:nvSpPr>
          <p:cNvPr id="5" name="in_28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 pairs, make a fun activities timetable for a week.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 coppia, fate un programma di attività divertenti per una settimana.</a:t>
            </a:r>
            <a:endParaRPr lang="en-US" sz="1300" dirty="0"/>
          </a:p>
        </p:txBody>
      </p:sp>
      <p:sp>
        <p:nvSpPr>
          <p:cNvPr id="6" name="mode_28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5 MIN</a:t>
            </a:r>
            <a:endParaRPr lang="en-US" sz="1000" dirty="0"/>
          </a:p>
        </p:txBody>
      </p:sp>
      <p:sp>
        <p:nvSpPr>
          <p:cNvPr id="7" name="pf_290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91" descr="/home/claude/movers/img/crop/u2-p23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30" y="1325880"/>
            <a:ext cx="7355740" cy="3246120"/>
          </a:xfrm>
          <a:prstGeom prst="rect">
            <a:avLst/>
          </a:prstGeom>
        </p:spPr>
      </p:pic>
      <p:sp>
        <p:nvSpPr>
          <p:cNvPr id="9" name="bk_292"/>
          <p:cNvSpPr/>
          <p:nvPr/>
        </p:nvSpPr>
        <p:spPr>
          <a:xfrm>
            <a:off x="228600" y="4681728"/>
            <a:ext cx="326898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p.23 · Mission Stage 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9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29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29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296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8 free time activities.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8 attività del tempo libero.</a:t>
            </a:r>
            <a:endParaRPr lang="en-US" sz="1300" dirty="0"/>
          </a:p>
        </p:txBody>
      </p:sp>
      <p:sp>
        <p:nvSpPr>
          <p:cNvPr id="7" name="can_297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CD and DVD in English!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CD e DVD in inglese!</a:t>
            </a:r>
            <a:endParaRPr lang="en-US" sz="1300" dirty="0"/>
          </a:p>
        </p:txBody>
      </p:sp>
      <p:sp>
        <p:nvSpPr>
          <p:cNvPr id="8" name="can_298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make rules with must and mustn't.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fare regole con must e mustn't.</a:t>
            </a:r>
            <a:endParaRPr lang="en-US" sz="1300" dirty="0"/>
          </a:p>
        </p:txBody>
      </p:sp>
      <p:sp>
        <p:nvSpPr>
          <p:cNvPr id="9" name="hw_299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p.22: ex.1 and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p.23: ex.1 and 2</a:t>
            </a:r>
            <a:endParaRPr lang="en-US" sz="1250" dirty="0"/>
          </a:p>
        </p:txBody>
      </p:sp>
      <p:sp>
        <p:nvSpPr>
          <p:cNvPr id="10" name="nx_300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Let's be healthy! Safe sport 🚴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0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0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Bingo!</a:t>
            </a:r>
            <a:endParaRPr lang="en-US" sz="2700" dirty="0"/>
          </a:p>
        </p:txBody>
      </p:sp>
      <p:sp>
        <p:nvSpPr>
          <p:cNvPr id="5" name="in_30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Choose 4 activities. Listen. Cross them out. BINGO!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Scegli 4 attività. Ascolta. Cancellale. BINGO!</a:t>
            </a:r>
            <a:endParaRPr lang="en-US" sz="1400" dirty="0"/>
          </a:p>
        </p:txBody>
      </p:sp>
      <p:sp>
        <p:nvSpPr>
          <p:cNvPr id="6" name="mode_30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⏱ 5 MIN</a:t>
            </a:r>
            <a:endParaRPr lang="en-US" sz="1000" dirty="0"/>
          </a:p>
        </p:txBody>
      </p:sp>
      <p:sp>
        <p:nvSpPr>
          <p:cNvPr id="7" name="st_305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8E5BE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306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8E5BE8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307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🖍️ DRAW</a:t>
            </a:r>
            <a:endParaRPr lang="en-US" sz="1300" dirty="0"/>
          </a:p>
        </p:txBody>
      </p:sp>
      <p:sp>
        <p:nvSpPr>
          <p:cNvPr id="10" name="se_308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4 activities in a 2×2 grid.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Scrivi 4 attività in una griglia 2×2.</a:t>
            </a:r>
            <a:endParaRPr lang="en-US" sz="1050" dirty="0"/>
          </a:p>
        </p:txBody>
      </p:sp>
      <p:sp>
        <p:nvSpPr>
          <p:cNvPr id="11" name="st_309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310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311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4" name="se_312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How often do you…?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L'insegnante: How often do you…?</a:t>
            </a:r>
            <a:endParaRPr lang="en-US" sz="1050" dirty="0"/>
          </a:p>
        </p:txBody>
      </p:sp>
      <p:sp>
        <p:nvSpPr>
          <p:cNvPr id="15" name="st_313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314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315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8" name="se_316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crossed out? Shout BINGO!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cancellate? Grida BINGO!</a:t>
            </a:r>
            <a:endParaRPr lang="en-US" sz="1050" dirty="0"/>
          </a:p>
        </p:txBody>
      </p:sp>
      <p:sp>
        <p:nvSpPr>
          <p:cNvPr id="19" name="cd_317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18" descr="/home/claude/movers/img/fc/go-shop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476" y="1399032"/>
            <a:ext cx="834847" cy="834847"/>
          </a:xfrm>
          <a:prstGeom prst="rect">
            <a:avLst/>
          </a:prstGeom>
        </p:spPr>
      </p:pic>
      <p:sp>
        <p:nvSpPr>
          <p:cNvPr id="21" name="lb_319"/>
          <p:cNvSpPr/>
          <p:nvPr/>
        </p:nvSpPr>
        <p:spPr>
          <a:xfrm>
            <a:off x="314553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shopping</a:t>
            </a:r>
            <a:endParaRPr lang="en-US" sz="1100" dirty="0"/>
          </a:p>
        </p:txBody>
      </p:sp>
      <p:sp>
        <p:nvSpPr>
          <p:cNvPr id="22" name="cd_320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321" descr="/home/claude/movers/img/fc/go-skat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16" y="1399032"/>
            <a:ext cx="834847" cy="834847"/>
          </a:xfrm>
          <a:prstGeom prst="rect">
            <a:avLst/>
          </a:prstGeom>
        </p:spPr>
      </p:pic>
      <p:sp>
        <p:nvSpPr>
          <p:cNvPr id="24" name="lb_322"/>
          <p:cNvSpPr/>
          <p:nvPr/>
        </p:nvSpPr>
        <p:spPr>
          <a:xfrm>
            <a:off x="460857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skating</a:t>
            </a:r>
            <a:endParaRPr lang="en-US" sz="1100" dirty="0"/>
          </a:p>
        </p:txBody>
      </p:sp>
      <p:sp>
        <p:nvSpPr>
          <p:cNvPr id="25" name="cd_323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324" descr="/home/claude/movers/img/fc/listen-to-a-c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56" y="1399032"/>
            <a:ext cx="834847" cy="834847"/>
          </a:xfrm>
          <a:prstGeom prst="rect">
            <a:avLst/>
          </a:prstGeom>
        </p:spPr>
      </p:pic>
      <p:sp>
        <p:nvSpPr>
          <p:cNvPr id="27" name="lb_325"/>
          <p:cNvSpPr/>
          <p:nvPr/>
        </p:nvSpPr>
        <p:spPr>
          <a:xfrm>
            <a:off x="607161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to a cd</a:t>
            </a:r>
            <a:endParaRPr lang="en-US" sz="1100" dirty="0"/>
          </a:p>
        </p:txBody>
      </p:sp>
      <p:sp>
        <p:nvSpPr>
          <p:cNvPr id="28" name="cd_326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327" descr="/home/claude/movers/img/fc/listen-to-mus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596" y="1399032"/>
            <a:ext cx="834847" cy="834847"/>
          </a:xfrm>
          <a:prstGeom prst="rect">
            <a:avLst/>
          </a:prstGeom>
        </p:spPr>
      </p:pic>
      <p:sp>
        <p:nvSpPr>
          <p:cNvPr id="30" name="lb_328"/>
          <p:cNvSpPr/>
          <p:nvPr/>
        </p:nvSpPr>
        <p:spPr>
          <a:xfrm>
            <a:off x="753465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to music</a:t>
            </a:r>
            <a:endParaRPr lang="en-US" sz="1100" dirty="0"/>
          </a:p>
        </p:txBody>
      </p:sp>
      <p:sp>
        <p:nvSpPr>
          <p:cNvPr id="31" name="cd_329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330" descr="/home/claude/movers/img/fc/read-a-com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476" y="2834640"/>
            <a:ext cx="834847" cy="834847"/>
          </a:xfrm>
          <a:prstGeom prst="rect">
            <a:avLst/>
          </a:prstGeom>
        </p:spPr>
      </p:pic>
      <p:sp>
        <p:nvSpPr>
          <p:cNvPr id="33" name="lb_331"/>
          <p:cNvSpPr/>
          <p:nvPr/>
        </p:nvSpPr>
        <p:spPr>
          <a:xfrm>
            <a:off x="314553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a comic</a:t>
            </a:r>
            <a:endParaRPr lang="en-US" sz="1100" dirty="0"/>
          </a:p>
        </p:txBody>
      </p:sp>
      <p:sp>
        <p:nvSpPr>
          <p:cNvPr id="34" name="cd_332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333" descr="/home/claude/movers/img/fc/watch-a-dv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516" y="2834640"/>
            <a:ext cx="834847" cy="834847"/>
          </a:xfrm>
          <a:prstGeom prst="rect">
            <a:avLst/>
          </a:prstGeom>
        </p:spPr>
      </p:pic>
      <p:sp>
        <p:nvSpPr>
          <p:cNvPr id="36" name="lb_334"/>
          <p:cNvSpPr/>
          <p:nvPr/>
        </p:nvSpPr>
        <p:spPr>
          <a:xfrm>
            <a:off x="460857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a dvd</a:t>
            </a:r>
            <a:endParaRPr lang="en-US" sz="1100" dirty="0"/>
          </a:p>
        </p:txBody>
      </p:sp>
      <p:sp>
        <p:nvSpPr>
          <p:cNvPr id="37" name="cd_335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8" name="ci_336" descr="/home/claude/movers/img/fc/watch-a-fil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0556" y="2834640"/>
            <a:ext cx="834847" cy="834847"/>
          </a:xfrm>
          <a:prstGeom prst="rect">
            <a:avLst/>
          </a:prstGeom>
        </p:spPr>
      </p:pic>
      <p:sp>
        <p:nvSpPr>
          <p:cNvPr id="39" name="lb_337"/>
          <p:cNvSpPr/>
          <p:nvPr/>
        </p:nvSpPr>
        <p:spPr>
          <a:xfrm>
            <a:off x="607161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a film</a:t>
            </a:r>
            <a:endParaRPr lang="en-US" sz="1100" dirty="0"/>
          </a:p>
        </p:txBody>
      </p:sp>
      <p:sp>
        <p:nvSpPr>
          <p:cNvPr id="40" name="cd_338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41" name="ci_339" descr="/home/claude/movers/img/fc/write-an-emai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3596" y="2834640"/>
            <a:ext cx="834847" cy="834847"/>
          </a:xfrm>
          <a:prstGeom prst="rect">
            <a:avLst/>
          </a:prstGeom>
        </p:spPr>
      </p:pic>
      <p:sp>
        <p:nvSpPr>
          <p:cNvPr id="42" name="lb_340"/>
          <p:cNvSpPr/>
          <p:nvPr/>
        </p:nvSpPr>
        <p:spPr>
          <a:xfrm>
            <a:off x="753465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an email</a:t>
            </a:r>
            <a:endParaRPr lang="en-US" sz="1100" dirty="0"/>
          </a:p>
        </p:txBody>
      </p:sp>
      <p:sp>
        <p:nvSpPr>
          <p:cNvPr id="43" name="bk_341"/>
          <p:cNvSpPr/>
          <p:nvPr/>
        </p:nvSpPr>
        <p:spPr>
          <a:xfrm>
            <a:off x="228600" y="4681728"/>
            <a:ext cx="210312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Free time activities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4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43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Board race!</a:t>
            </a:r>
            <a:endParaRPr lang="en-US" sz="2700" dirty="0"/>
          </a:p>
        </p:txBody>
      </p:sp>
      <p:sp>
        <p:nvSpPr>
          <p:cNvPr id="5" name="in_344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teams. Listen, run and touch the picture!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Due squadre. Ascolta, corri e tocca l'immagine!</a:t>
            </a:r>
            <a:endParaRPr lang="en-US" sz="1400" dirty="0"/>
          </a:p>
        </p:txBody>
      </p:sp>
      <p:sp>
        <p:nvSpPr>
          <p:cNvPr id="6" name="mode_34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st_346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347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348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349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says a line from the song.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 dice una frase della canzone.</a:t>
            </a:r>
            <a:endParaRPr lang="en-US" sz="1050" dirty="0"/>
          </a:p>
        </p:txBody>
      </p:sp>
      <p:sp>
        <p:nvSpPr>
          <p:cNvPr id="11" name="st_350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351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352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4" name="se_353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and touch the right picture!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 e tocca l'immagine giusta!</a:t>
            </a:r>
            <a:endParaRPr lang="en-US" sz="1050" dirty="0"/>
          </a:p>
        </p:txBody>
      </p:sp>
      <p:sp>
        <p:nvSpPr>
          <p:cNvPr id="15" name="st_354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355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356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8" name="se_357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I sometimes … / I never …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Di': I sometimes … / I never …</a:t>
            </a:r>
            <a:endParaRPr lang="en-US" sz="1050" dirty="0"/>
          </a:p>
        </p:txBody>
      </p:sp>
      <p:sp>
        <p:nvSpPr>
          <p:cNvPr id="19" name="cd_358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59" descr="/home/claude/movers/img/fc/go-shop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1" name="cd_360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361" descr="/home/claude/movers/img/fc/go-skat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3" name="cd_362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363" descr="/home/claude/movers/img/fc/listen-to-a-c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5" name="cd_364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365" descr="/home/claude/movers/img/fc/listen-to-mus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7" name="cd_366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367" descr="/home/claude/movers/img/fc/read-a-com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2834640"/>
            <a:ext cx="1179576" cy="1179576"/>
          </a:xfrm>
          <a:prstGeom prst="rect">
            <a:avLst/>
          </a:prstGeom>
        </p:spPr>
      </p:pic>
      <p:sp>
        <p:nvSpPr>
          <p:cNvPr id="29" name="cd_368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0" name="ci_369" descr="/home/claude/movers/img/fc/watch-a-dv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834640"/>
            <a:ext cx="1179576" cy="1179576"/>
          </a:xfrm>
          <a:prstGeom prst="rect">
            <a:avLst/>
          </a:prstGeom>
        </p:spPr>
      </p:pic>
      <p:sp>
        <p:nvSpPr>
          <p:cNvPr id="31" name="cd_370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371" descr="/home/claude/movers/img/fc/watch-a-fil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834640"/>
            <a:ext cx="1179576" cy="1179576"/>
          </a:xfrm>
          <a:prstGeom prst="rect">
            <a:avLst/>
          </a:prstGeom>
        </p:spPr>
      </p:pic>
      <p:sp>
        <p:nvSpPr>
          <p:cNvPr id="33" name="cd_372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4" name="ci_373" descr="/home/claude/movers/img/fc/write-an-emai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2834640"/>
            <a:ext cx="1179576" cy="1179576"/>
          </a:xfrm>
          <a:prstGeom prst="rect">
            <a:avLst/>
          </a:prstGeom>
        </p:spPr>
      </p:pic>
      <p:sp>
        <p:nvSpPr>
          <p:cNvPr id="35" name="bk_374"/>
          <p:cNvSpPr/>
          <p:nvPr/>
        </p:nvSpPr>
        <p:spPr>
          <a:xfrm>
            <a:off x="228600" y="4681728"/>
            <a:ext cx="295808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Free time activities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2 · LESSON 3 · Free time fun!</dc:title>
  <dc:subject>PptxGenJS Presentation</dc:subject>
  <dc:creator>PptxGenJS</dc:creator>
  <cp:lastModifiedBy>PptxGenJS</cp:lastModifiedBy>
  <cp:revision>1</cp:revision>
  <dcterms:created xsi:type="dcterms:W3CDTF">2026-10-06T10:51:30Z</dcterms:created>
  <dcterms:modified xsi:type="dcterms:W3CDTF">2026-10-06T10:51:30Z</dcterms:modified>
</cp:coreProperties>
</file>