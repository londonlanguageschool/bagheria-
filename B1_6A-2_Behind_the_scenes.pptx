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mp3" ContentType="audio/mpeg"/>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6A PART 2 (60 min) · SB pp.58–59. Aims: cinema vocabulary – kinds of film, people and things, verb phrases (Vocabulary Bank Cinema p.159); listen to Dagmara, a Polish student who became Steven Spielberg's interpreter on Schindler's List (audio 6.7–6.9); Film quiz (Communicative photocopiable p.188 – passive + cinema); cinema interview. Writing p.119 (a film review) = optional homework. Timing: cover 2 · revision 5 · kinds of film 5 · people and things 6 · what's the difference 5 · listening Part 1 8 · listening Part 2 8 · Film quiz 7 · this or that 7 · exit 3 = 56 min. NOTE: the next lesson (6B-1) revises this lesson with 'Beat the clock' – cast, soundtrack, sequel, extra, subtitles and Dagmara / Spielberg / Schindler's List: make sure these are taught well today. Click 1: the question; ask 'How?' before click 2.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REVISION of 6A part 1 (5 min). VARIATION: spot the lie (team competition) – all sentences are in the passive. Two teams; read each round aloud (practise the past participles!), teams have 20 seconds to agree on the lie, then click to reveal. Answers from the article (pp.56–57): 1 B – extras aren't individually very well paid · 2 B – the Gandhi funeral scene needed 300,000 extras · 3 B – in winter scenes the snow is often fake (it can be 30 degrees!) · 4 C – Ben-Hur is mentioned as an epic of the past; the cardboard cut-outs were used in Gladiator. Bonus point: correct the lie with a passive sentence ('Extras aren't paid very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(5 min). SB 4a (1 min): 'Look at some extracts from the text in 1. What do you think the highlighted words mean?' 1 A lot of that time is spent just sitting around, waiting to be used in a scene. 2 Phones aren't allowed on set. 3 This is why now a lot of British films are being shot in Eastern Europe. 4 The cost of extras is one of the reasons why epics such as Ben-Hur are largely a thing of the past. – quick check of scene, on set, shot (= filmed), epic (= a long film with a lot of action, usually historical) – TG. Vocabulary Bank p.159, 1 Kinds of film: students match, play 6.4 to check (5 action film · 3 animation · 12 comedy · 1 drama · 11 historical film · 6 horror film · 2 musical · 10 rom-com · 9 science fiction film · 7 thriller · 4 war film · 8 western). Drill; click 1 for the Italian. TG notes: film = movie (AmE); sci-fi is common. Activation: pairs name a film for each kind. TG EXTRA IDEA: adjectives exciting, funny, moving, scary, violent – which kinds of film are they? (e.g. moving: a drama, a historical film, a war film). VARIATION: personalisation – 'What kind of film do you never watch?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(6 min). Vocabulary Bank p.159, 2 People and things: students match the 15 words and definitions; play 6.5 to check (cast · star · soundtrack · plot · scene · audience · sequel · special effects · trailer · script · extra · subtitles · review · set · critic). The slide has 8 of the 15 definitions (from 6.5); click 1 for the words. Drill sequel /ˈsiːkwəl/, subtitles /ˈsʌbtaɪtlz/, critic (stress on cri-). TG: you may also teach prequel. Then 3 Verbs and verb phrases (6.6): E is based on (= an adaptation of a true story) · A is set in (= situated in that place / time) · B is directed by · C plays the part of · F was shot on location (= outside the studio) · D is dubbed (= words spoken in another language by foreign actors). Activation: cover and test. These definitions are the ones used again in the 6B-1 revision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(5 min). SB 4c: 'Explain the difference between these pairs of words and phrases.' – the slide has the book's seven pairs in order. Click once per pair (TG answers, shortened): plot = the story / script = the words · a horror film = designed to frighten / a thriller = an exciting story, especially about crime · a musical = story told with songs and dancing / a soundtrack = the music from a film · cast = all the actors / stars = the most important actors · dubbed = actors' voices replaced by foreign actors' voices / subtitles = translation on the screen, original voices · the set = where it's being shot / it's set in = where and when the story happens · a critic = a person who writes about films / a review = the article. VARIATION: contrast / mild controversy – quick vote: dubbed or subtitled? (In Italy almost everything is dubbed – would they like more films in English with subtitles?)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(8 min). 5a (1 min): read about Schindler's List; who has seen it? other Spielberg films (E.T., Jurassic Park, Saving Private Ryan…). 5b PREDICTION: look at the photos – who are they and where? Play 6.7 (Part 1). TG ANSWER: they were on the set of Schindler's List; Dagmara was interpreting for Spielberg. (The music at the start is from the soundtrack.) 5c: students read the book's sentences 1–6 (on the slide), then listen again and mark T / F. TG ANSWERS: 1 F (She was a student.) · 2 T · 3 F (It was a party for all the actors and the crew.) · 4 F (The interpreter couldn't come.) · 5 F (She drank a couple of glasses.) · 6 T. Click 1 for all answers. Extra details from the script: the film was shot in Krakow, where she lives; she was a production assistant, translating documents and the script; 'I had to pinch myself'. VARIATION: prediction.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(8 min). 5d (2 min): go through the Making notes box ('When we make notes, we only write down key words, e.g. we write film set every day NOT She had to go to the film set every day.'); play 6.8 (three extracts), pausing – students complete the gaps (script: 1 I had to go to the film set every day and translate Spielberg's instructions to the Polish actors, and also to the extras. 2 It was really exciting, and I often felt as if I was a director myself. 3 The worst thing was when we had to shoot a scene again and again because Spielberg thought it wasn't exactly right). 5e: students read the book's questions 1–6 (on the slide); play 6.9 (Part 2) – they write KEY WORDS only. 5f: compare, play again. Click 1 for the key words (TG). 5g: pairs answer in full sentences – TG: 1 Some scenes were repeated 16 times. It made her think it was her fault and it made her nervous. 2 He was stressed. He apologized; she cried a little; all was right again. 3 He was demanding; he was really nice and treated her like a daughter; it was freezing on set and he made sure she had a warm coat and gloves. 4 Two party scenes: one didn't make the final cut, and before the other she tripped, twisted her ankle and was in pain. 5 Yes, she interpreted at the premiere of Schindler's List in Poland (broadcast live on TV). 6 Production assistant on his next movie in Hollywood. No, not at all ('I had my moment'). 5h (whole class) – book: 'Would you like to have done Dagmara's job? Do you think she made the right decision in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FILM QUIZ (7 min). Print the Communicative photocopiable 6A 'Film quiz' (TG p.188): B1_6A_Photocopiables.pdf, page 2 (page 3 = the same quiz, other layout with the answers in [brackets]) – one per pair, cut into A and B. OFFICIAL PROCEDURE (TG p.172): students complete their questions with the correct passive tense of the verb in brackets (2 min); check by eliciting the verbs only (you could copy the key onto the board). Students sit face to face and must NOT see each other's worksheet. A asks question 1 and reads out the three options; if B chooses the correct option (the one in bold on A's sheet) B gets a point. Then B asks his / her first question, and so on. Who got the most points? OFFICIAL FORMS (TG): A 1 was directed · 2 is based · 3 was dubbed · 4 was made · 5 was chosen · 6 was nominated · 7 was played · 8 is set · B 1 was … based · 2 was shot · 3 is … set · 4 were directed · 5 was based · 6 was … introduced · 7 has … been nominated · 8 was composed. Quiz answers (bold on the sheet): A 1 c · 2 a · 3 a · 4 b · 5 c · 6 a · 7 b · 8 b · B 1 a · 2 a · 3 b · 4 c · 5 b · 6 a · 7 b · 8 b. EXTRA CHALLENGE (TG): students write some more quiz questions of their own. VARIATION: information gap + competition – it practises today's cinema words AND part 1's passive.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(7 min). VARIATION: forced choice as a warm-up to SB 6 (2 min): pairs go through the 8 pairs quickly, choosing one and giving a reason. Then SB 6a/6b (5 min): the cinema interview on p.59 (1 Can you think of a film you've seen which…? was incredibly funny · made you feel good · had a very sad ending · you've seen several times · sent you to sleep · had a memorable soundtrack. 2 Do you prefer…? seeing films at home or in the cinema · seeing a American films b other foreign films c films from your country · seeing foreign films dubbed or with subtitles. 3 Tell me about a really good film you've seen in the last year. What kind of film is it? Is it based on a book or on a real event? Where and when is it set? Who stars in it? Who is it directed by? Does it have a good plot? Does it have a good soundtrack? Why do you like it?) – students think about their answers, then interview each other to find out if they have similar tastes; ask for as much information as possible. Feedback: who has the most similar tastes? TG EXTRA IDEA: the class interviews you. Link: dubbed vs subtitled is a hot topic in Italy – encourage opinions. Writing p.119 (a film review: directed, stars, nominated, set, filmed, recommend, action, soundtrack, special effects) can be set as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(3 min). Students choose a face for each can-do. Homework: Workbook 6A 3a, 3b, 3c (cinema vocabulary) + Vocabulary Bank Cinema p.159 (cover and test yourself) + the 6A-2 homework sheet (easier version available). Optional: Writing A film review p.119 – complete the model, then write about a film they recommend in four paragraphs (answers in the key). Remind them: next lesson starts with a cinema-word 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 (8 min). VARIATION: student-generated content + forced choice (the class can only finance one film). Uses the cinema vocabulary and the passive (will be shot, is based on, is set in). Printed practice: Vocabulary photocopiable Cinema (last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 (6 min) – local link. Giuseppe Tornatore was born in Bagheria; his film Baarìa (2009) is set in Bagheria (⚠ verify any further details before you teach – e.g. awards, locations). Many films and TV series have been shot in Sicily (students will know: Il commissario Montalbano, Cinema Paradiso…). VARIATION: personalisation (local pride) + passive practice. Let the students be the experts.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 (7 min) or HOMEWORK. Vocabulary photocopiable 6A 'Cinema' – print B1_6A_Photocopiables.pdf, page 4 (one per student). TG: set a time limit (e.g. five minutes); students complete the reviews with the correct noun or compound noun, singular or plural; the first letter or two is given. OFFICIAL ANSWERS (TG): 1 war (example) · 2 extras · 3 star · 4 soundtrack · 5 plot · 6 trailer · 7 action film · 8 special effects · 9 script · 10 scene · 11 sequel · 12 subtitles · 13 dubbed · 14 comedy · 15 drama · 16 set. ACTIVATION: pairs – which of the films would you prefer to watch? Why? VARIATION: forced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image" Target="../media/image-3-12.png"/><Relationship Id="rId13" Type="http://schemas.openxmlformats.org/officeDocument/2006/relationships/image" Target="../media/image-3-13.png"/><Relationship Id="rId14" Type="http://schemas.openxmlformats.org/officeDocument/2006/relationships/image" Target="../media/image-3-14.png"/><Relationship Id="rId15" Type="http://schemas.openxmlformats.org/officeDocument/2006/relationships/audio" Target="../media/media-3-15.mp3"/><Relationship Id="rId16" Type="http://schemas.microsoft.com/office/2007/relationships/media" Target="../media/media-3-15.mp3"/><Relationship Id="rId17" Type="http://schemas.openxmlformats.org/officeDocument/2006/relationships/image" Target="../media/image-3-17.png"/><Relationship Id="rId18" Type="http://schemas.openxmlformats.org/officeDocument/2006/relationships/slideLayout" Target="../slideLayouts/slideLayout1.xml"/><Relationship Id="rId1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audio" Target="../media/media-4-11.mp3"/><Relationship Id="rId12" Type="http://schemas.microsoft.com/office/2007/relationships/media" Target="../media/media-4-11.mp3"/><Relationship Id="rId13" Type="http://schemas.openxmlformats.org/officeDocument/2006/relationships/image" Target="../media/image-4-13.png"/><Relationship Id="rId14" Type="http://schemas.openxmlformats.org/officeDocument/2006/relationships/audio" Target="../media/media-4-14.mp3"/><Relationship Id="rId15" Type="http://schemas.microsoft.com/office/2007/relationships/media" Target="../media/media-4-14.mp3"/><Relationship Id="rId16" Type="http://schemas.openxmlformats.org/officeDocument/2006/relationships/image" Target="../media/image-4-16.png"/><Relationship Id="rId17" Type="http://schemas.openxmlformats.org/officeDocument/2006/relationships/slideLayout" Target="../slideLayouts/slideLayout1.xml"/><Relationship Id="rId1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image" Target="../media/image-6-2.png"/><Relationship Id="rId3" Type="http://schemas.openxmlformats.org/officeDocument/2006/relationships/audio" Target="../media/media-6-3.mp3"/><Relationship Id="rId4" Type="http://schemas.microsoft.com/office/2007/relationships/media" Target="../media/media-6-3.mp3"/><Relationship Id="rId5" Type="http://schemas.openxmlformats.org/officeDocument/2006/relationships/image" Target="../media/image-6-5.png"/><Relationship Id="rId6" Type="http://schemas.openxmlformats.org/officeDocument/2006/relationships/image" Target="../media/image-6-6.jp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audio" Target="../media/media-7-3.mp3"/><Relationship Id="rId4" Type="http://schemas.microsoft.com/office/2007/relationships/media" Target="../media/media-7-3.mp3"/><Relationship Id="rId5" Type="http://schemas.openxmlformats.org/officeDocument/2006/relationships/image" Target="../media/image-7-5.png"/><Relationship Id="rId6" Type="http://schemas.openxmlformats.org/officeDocument/2006/relationships/audio" Target="../media/media-7-6.mp3"/><Relationship Id="rId7" Type="http://schemas.microsoft.com/office/2007/relationships/media" Target="../media/media-7-6.mp3"/><Relationship Id="rId8" Type="http://schemas.openxmlformats.org/officeDocument/2006/relationships/image" Target="../media/image-7-8.png"/><Relationship Id="rId9" Type="http://schemas.openxmlformats.org/officeDocument/2006/relationships/image" Target="../media/image-7-9.jpg"/><Relationship Id="rId10" Type="http://schemas.openxmlformats.org/officeDocument/2006/relationships/slideLayout" Target="../slideLayouts/slideLayout1.xml"/><Relationship Id="rId11"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
          <p:cNvSpPr/>
          <p:nvPr/>
        </p:nvSpPr>
        <p:spPr>
          <a:xfrm>
            <a:off x="54864" y="54864"/>
            <a:ext cx="9034272" cy="5033772"/>
          </a:xfrm>
          <a:prstGeom prst="rect">
            <a:avLst/>
          </a:prstGeom>
          <a:ln w="114300">
            <a:solidFill>
              <a:srgbClr val="A8E6B4"/>
            </a:solidFill>
            <a:prstDash val="solid"/>
          </a:ln>
        </p:spPr>
      </p:sp>
      <p:sp>
        <p:nvSpPr>
          <p:cNvPr id="4" name="logoBack_2"/>
          <p:cNvSpPr/>
          <p:nvPr/>
        </p:nvSpPr>
        <p:spPr>
          <a:xfrm>
            <a:off x="8229600" y="155448"/>
            <a:ext cx="676656" cy="676656"/>
          </a:xfrm>
          <a:prstGeom prst="ellipse">
            <a:avLst/>
          </a:prstGeom>
          <a:solidFill>
            <a:srgbClr val="FFFFFF"/>
          </a:solidFill>
          <a:ln w="25400">
            <a:solidFill>
              <a:srgbClr val="A8E6B4"/>
            </a:solidFill>
            <a:prstDash val="solid"/>
          </a:ln>
        </p:spPr>
      </p:sp>
      <p:pic>
        <p:nvPicPr>
          <p:cNvPr id="5" name="logo_3"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6" name="footer_4"/>
          <p:cNvSpPr txBox="1"/>
          <p:nvPr/>
        </p:nvSpPr>
        <p:spPr>
          <a:xfrm>
            <a:off x="7132320" y="4818888"/>
            <a:ext cx="1737360" cy="219456"/>
          </a:xfrm>
          <a:prstGeom prst="rect">
            <a:avLst/>
          </a:prstGeom>
          <a:solidFill>
            <a:srgbClr val="204034"/>
          </a:solidFill>
          <a:ln/>
        </p:spPr>
        <p:txBody>
          <a:bodyPr wrap="square" lIns="0" tIns="0" rIns="0" bIns="0" rtlCol="0" anchor="ctr"/>
          <a:lstStyle/>
          <a:p>
            <a:pPr algn="ctr" indent="0" marL="0">
              <a:buNone/>
            </a:pPr>
            <a:r>
              <a:rPr lang="en-US" sz="1000" dirty="0">
                <a:solidFill>
                  <a:srgbClr val="E9E2FB"/>
                </a:solidFill>
                <a:latin typeface="Calibri" pitchFamily="34" charset="0"/>
                <a:ea typeface="Calibri" pitchFamily="34" charset="-122"/>
                <a:cs typeface="Calibri" pitchFamily="34" charset="-120"/>
              </a:rPr>
              <a:t>6A · Part 2</a:t>
            </a:r>
            <a:endParaRPr lang="en-US" sz="1000" dirty="0"/>
          </a:p>
        </p:txBody>
      </p:sp>
      <p:sp>
        <p:nvSpPr>
          <p:cNvPr id="7" name="unit_5"/>
          <p:cNvSpPr txBox="1"/>
          <p:nvPr/>
        </p:nvSpPr>
        <p:spPr>
          <a:xfrm>
            <a:off x="411480" y="320040"/>
            <a:ext cx="1737360" cy="914400"/>
          </a:xfrm>
          <a:prstGeom prst="rect">
            <a:avLst/>
          </a:prstGeom>
          <a:noFill/>
          <a:ln/>
        </p:spPr>
        <p:txBody>
          <a:bodyPr wrap="square" rtlCol="0" anchor="ctr">
            <a:normAutofit/>
          </a:bodyPr>
          <a:lstStyle/>
          <a:p>
            <a:pPr indent="0" marL="0">
              <a:buNone/>
            </a:pPr>
            <a:r>
              <a:rPr lang="en-US" sz="4600" dirty="0">
                <a:solidFill>
                  <a:srgbClr val="FFD84D"/>
                </a:solidFill>
                <a:latin typeface="Arial Black" pitchFamily="34" charset="0"/>
                <a:ea typeface="Arial Black" pitchFamily="34" charset="-122"/>
                <a:cs typeface="Arial Black" pitchFamily="34" charset="-120"/>
              </a:rPr>
              <a:t>6A</a:t>
            </a:r>
            <a:endParaRPr lang="en-US" sz="4600" dirty="0"/>
          </a:p>
        </p:txBody>
      </p:sp>
      <p:sp>
        <p:nvSpPr>
          <p:cNvPr id="8" name="course_6"/>
          <p:cNvSpPr txBox="1"/>
          <p:nvPr/>
        </p:nvSpPr>
        <p:spPr>
          <a:xfrm>
            <a:off x="2103120" y="566928"/>
            <a:ext cx="3840480" cy="365760"/>
          </a:xfrm>
          <a:prstGeom prst="rect">
            <a:avLst/>
          </a:prstGeom>
          <a:noFill/>
          <a:ln/>
        </p:spPr>
        <p:txBody>
          <a:bodyPr wrap="square" rtlCol="0" anchor="ctr"/>
          <a:lstStyle/>
          <a:p>
            <a:pPr indent="0" marL="0">
              <a:buNone/>
            </a:pPr>
            <a:r>
              <a:rPr lang="en-US" sz="1100" dirty="0">
                <a:solidFill>
                  <a:srgbClr val="E9E2FB"/>
                </a:solidFill>
                <a:latin typeface="Arial Black" pitchFamily="34" charset="0"/>
                <a:ea typeface="Arial Black" pitchFamily="34" charset="-122"/>
                <a:cs typeface="Arial Black" pitchFamily="34" charset="-120"/>
              </a:rPr>
              <a:t>ENGLISH FILE B1 · 6A · Part 2 · SB pp.58–59</a:t>
            </a:r>
            <a:endParaRPr lang="en-US" sz="1100" dirty="0"/>
          </a:p>
        </p:txBody>
      </p:sp>
      <p:sp>
        <p:nvSpPr>
          <p:cNvPr id="9" name="title_7"/>
          <p:cNvSpPr txBox="1"/>
          <p:nvPr/>
        </p:nvSpPr>
        <p:spPr>
          <a:xfrm rot="120000">
            <a:off x="411480" y="1325880"/>
            <a:ext cx="4837176" cy="777240"/>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52400" tIns="152400" rIns="152400" bIns="152400" rtlCol="0" anchor="ctr"/>
          <a:lstStyle/>
          <a:p>
            <a:pPr indent="0" marL="0">
              <a:buNone/>
            </a:pPr>
            <a:r>
              <a:rPr lang="en-US" sz="2650" dirty="0">
                <a:solidFill>
                  <a:srgbClr val="111111"/>
                </a:solidFill>
                <a:latin typeface="Arial Black" pitchFamily="34" charset="0"/>
                <a:ea typeface="Arial Black" pitchFamily="34" charset="-122"/>
                <a:cs typeface="Arial Black" pitchFamily="34" charset="-120"/>
              </a:rPr>
              <a:t>BEHIND THE SCENES</a:t>
            </a:r>
            <a:endParaRPr lang="en-US" sz="2650" dirty="0"/>
          </a:p>
        </p:txBody>
      </p:sp>
      <p:sp>
        <p:nvSpPr>
          <p:cNvPr id="10" name="stamp_8"/>
          <p:cNvSpPr txBox="1"/>
          <p:nvPr/>
        </p:nvSpPr>
        <p:spPr>
          <a:xfrm>
            <a:off x="457200" y="2468880"/>
            <a:ext cx="2372868" cy="384048"/>
          </a:xfrm>
          <a:prstGeom prst="roundRect">
            <a:avLst>
              <a:gd name="adj" fmla="val 14286"/>
            </a:avLst>
          </a:prstGeom>
          <a:solidFill>
            <a:srgbClr val="204034"/>
          </a:solidFill>
          <a:ln w="38100">
            <a:solidFill>
              <a:srgbClr val="48BDF2"/>
            </a:solidFill>
          </a:ln>
        </p:spPr>
        <p:txBody>
          <a:bodyPr wrap="square" lIns="25400" tIns="25400" rIns="25400" bIns="25400" rtlCol="0" anchor="ctr"/>
          <a:lstStyle/>
          <a:p>
            <a:pPr algn="ctr" indent="0" marL="0">
              <a:buNone/>
            </a:pPr>
            <a:r>
              <a:rPr lang="en-US" sz="1200" dirty="0">
                <a:solidFill>
                  <a:srgbClr val="FFFFFF"/>
                </a:solidFill>
                <a:latin typeface="Arial Black" pitchFamily="34" charset="0"/>
                <a:ea typeface="Arial Black" pitchFamily="34" charset="-122"/>
                <a:cs typeface="Arial Black" pitchFamily="34" charset="-120"/>
              </a:rPr>
              <a:t>VOCABULARY · cinema</a:t>
            </a:r>
            <a:endParaRPr lang="en-US" sz="1200" dirty="0"/>
          </a:p>
        </p:txBody>
      </p:sp>
      <p:sp>
        <p:nvSpPr>
          <p:cNvPr id="11" name="stamp_9"/>
          <p:cNvSpPr txBox="1"/>
          <p:nvPr/>
        </p:nvSpPr>
        <p:spPr>
          <a:xfrm>
            <a:off x="457200" y="2944368"/>
            <a:ext cx="3909060" cy="384048"/>
          </a:xfrm>
          <a:prstGeom prst="roundRect">
            <a:avLst>
              <a:gd name="adj" fmla="val 14286"/>
            </a:avLst>
          </a:prstGeom>
          <a:solidFill>
            <a:srgbClr val="204034"/>
          </a:solidFill>
          <a:ln w="38100">
            <a:solidFill>
              <a:srgbClr val="1FA463"/>
            </a:solidFill>
          </a:ln>
        </p:spPr>
        <p:txBody>
          <a:bodyPr wrap="square" lIns="25400" tIns="25400" rIns="25400" bIns="25400" rtlCol="0" anchor="ctr"/>
          <a:lstStyle/>
          <a:p>
            <a:pPr algn="ctr" indent="0" marL="0">
              <a:buNone/>
            </a:pPr>
            <a:r>
              <a:rPr lang="en-US" sz="1200" dirty="0">
                <a:solidFill>
                  <a:srgbClr val="FFFFFF"/>
                </a:solidFill>
                <a:latin typeface="Arial Black" pitchFamily="34" charset="0"/>
                <a:ea typeface="Arial Black" pitchFamily="34" charset="-122"/>
                <a:cs typeface="Arial Black" pitchFamily="34" charset="-120"/>
              </a:rPr>
              <a:t>LISTENING · Spielberg's interpreter</a:t>
            </a:r>
            <a:endParaRPr lang="en-US" sz="1200" dirty="0"/>
          </a:p>
        </p:txBody>
      </p:sp>
      <p:sp>
        <p:nvSpPr>
          <p:cNvPr id="12" name="stamp_10"/>
          <p:cNvSpPr txBox="1"/>
          <p:nvPr/>
        </p:nvSpPr>
        <p:spPr>
          <a:xfrm>
            <a:off x="457200" y="3419856"/>
            <a:ext cx="4293108" cy="384048"/>
          </a:xfrm>
          <a:prstGeom prst="roundRect">
            <a:avLst>
              <a:gd name="adj" fmla="val 14286"/>
            </a:avLst>
          </a:prstGeom>
          <a:solidFill>
            <a:srgbClr val="204034"/>
          </a:solidFill>
          <a:ln w="38100">
            <a:solidFill>
              <a:srgbClr val="EF2F2F"/>
            </a:solidFill>
          </a:ln>
        </p:spPr>
        <p:txBody>
          <a:bodyPr wrap="square" lIns="25400" tIns="25400" rIns="25400" bIns="25400" rtlCol="0" anchor="ctr"/>
          <a:lstStyle/>
          <a:p>
            <a:pPr algn="ctr" indent="0" marL="0">
              <a:buNone/>
            </a:pPr>
            <a:r>
              <a:rPr lang="en-US" sz="1200" dirty="0">
                <a:solidFill>
                  <a:srgbClr val="FFFFFF"/>
                </a:solidFill>
                <a:latin typeface="Arial Black" pitchFamily="34" charset="0"/>
                <a:ea typeface="Arial Black" pitchFamily="34" charset="-122"/>
                <a:cs typeface="Arial Black" pitchFamily="34" charset="-120"/>
              </a:rPr>
              <a:t>SPEAKING · Film quiz + cinema interview</a:t>
            </a:r>
            <a:endParaRPr lang="en-US" sz="1200" dirty="0"/>
          </a:p>
        </p:txBody>
      </p:sp>
      <p:sp>
        <p:nvSpPr>
          <p:cNvPr id="13" name="iconBack_11"/>
          <p:cNvSpPr/>
          <p:nvPr/>
        </p:nvSpPr>
        <p:spPr>
          <a:xfrm>
            <a:off x="5669280" y="685800"/>
            <a:ext cx="1737360" cy="1737360"/>
          </a:xfrm>
          <a:prstGeom prst="ellipse">
            <a:avLst/>
          </a:prstGeom>
          <a:solidFill>
            <a:srgbClr val="FFD84D"/>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4" name="icon_12" descr="pi:PiFilmSlate">    </p:cNvPr>
          <p:cNvPicPr>
            <a:picLocks noChangeAspect="1"/>
          </p:cNvPicPr>
          <p:nvPr/>
        </p:nvPicPr>
        <p:blipFill>
          <a:blip r:embed="rId3"/>
          <a:stretch>
            <a:fillRect/>
          </a:stretch>
        </p:blipFill>
        <p:spPr>
          <a:xfrm>
            <a:off x="6016752" y="1033272"/>
            <a:ext cx="1042416" cy="1042416"/>
          </a:xfrm>
          <a:prstGeom prst="rect">
            <a:avLst/>
          </a:prstGeom>
        </p:spPr>
      </p:pic>
      <p:sp>
        <p:nvSpPr>
          <p:cNvPr id="15" name="iconBack_13"/>
          <p:cNvSpPr/>
          <p:nvPr/>
        </p:nvSpPr>
        <p:spPr>
          <a:xfrm>
            <a:off x="7315200" y="1508760"/>
            <a:ext cx="1097280" cy="109728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6" name="icon_14" descr="pi:PiPopcorn">    </p:cNvPr>
          <p:cNvPicPr>
            <a:picLocks noChangeAspect="1"/>
          </p:cNvPicPr>
          <p:nvPr/>
        </p:nvPicPr>
        <p:blipFill>
          <a:blip r:embed="rId4"/>
          <a:stretch>
            <a:fillRect/>
          </a:stretch>
        </p:blipFill>
        <p:spPr>
          <a:xfrm>
            <a:off x="7534656" y="1728216"/>
            <a:ext cx="658368" cy="658368"/>
          </a:xfrm>
          <a:prstGeom prst="rect">
            <a:avLst/>
          </a:prstGeom>
        </p:spPr>
      </p:pic>
      <p:sp>
        <p:nvSpPr>
          <p:cNvPr id="17" name="iconBack_15"/>
          <p:cNvSpPr/>
          <p:nvPr/>
        </p:nvSpPr>
        <p:spPr>
          <a:xfrm>
            <a:off x="5486400" y="2514600"/>
            <a:ext cx="960120" cy="960120"/>
          </a:xfrm>
          <a:prstGeom prst="ellipse">
            <a:avLst/>
          </a:prstGeom>
          <a:solidFill>
            <a:srgbClr val="A8E6B4"/>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8" name="icon_16" descr="pi:PiTranslate">    </p:cNvPr>
          <p:cNvPicPr>
            <a:picLocks noChangeAspect="1"/>
          </p:cNvPicPr>
          <p:nvPr/>
        </p:nvPicPr>
        <p:blipFill>
          <a:blip r:embed="rId5"/>
          <a:stretch>
            <a:fillRect/>
          </a:stretch>
        </p:blipFill>
        <p:spPr>
          <a:xfrm>
            <a:off x="5678424" y="2706624"/>
            <a:ext cx="576072" cy="576072"/>
          </a:xfrm>
          <a:prstGeom prst="rect">
            <a:avLst/>
          </a:prstGeom>
        </p:spPr>
      </p:pic>
      <p:sp>
        <p:nvSpPr>
          <p:cNvPr id="19" name="R1_q"/>
          <p:cNvSpPr txBox="1"/>
          <p:nvPr/>
        </p:nvSpPr>
        <p:spPr>
          <a:xfrm>
            <a:off x="5120640" y="3337560"/>
            <a:ext cx="2377440" cy="777240"/>
          </a:xfrm>
          <a:prstGeom prst="wedgeRoundRectCallout">
            <a:avLst/>
          </a:prstGeom>
          <a:solidFill>
            <a:srgbClr val="48BDF2"/>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350" b="1" dirty="0">
                <a:solidFill>
                  <a:srgbClr val="111111"/>
                </a:solidFill>
                <a:latin typeface="Calibri" pitchFamily="34" charset="0"/>
                <a:ea typeface="Calibri" pitchFamily="34" charset="-122"/>
                <a:cs typeface="Calibri" pitchFamily="34" charset="-120"/>
              </a:rPr>
              <a:t>A student from Krakow meets Steven Spielberg…</a:t>
            </a:r>
            <a:endParaRPr lang="en-US" sz="1350" dirty="0"/>
          </a:p>
        </p:txBody>
      </p:sp>
      <p:sp>
        <p:nvSpPr>
          <p:cNvPr id="20" name="R2_a"/>
          <p:cNvSpPr txBox="1"/>
          <p:nvPr/>
        </p:nvSpPr>
        <p:spPr>
          <a:xfrm>
            <a:off x="6629400" y="4069080"/>
            <a:ext cx="2148840" cy="594360"/>
          </a:xfrm>
          <a:prstGeom prst="wedgeRoundRectCallou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300" b="1" dirty="0">
                <a:solidFill>
                  <a:srgbClr val="111111"/>
                </a:solidFill>
                <a:latin typeface="Calibri" pitchFamily="34" charset="0"/>
                <a:ea typeface="Calibri" pitchFamily="34" charset="-122"/>
                <a:cs typeface="Calibri" pitchFamily="34" charset="-120"/>
              </a:rPr>
              <a:t>…and becomes his interpreter!</a:t>
            </a:r>
            <a:endParaRPr lang="en-US" sz="1300" dirty="0"/>
          </a:p>
        </p:txBody>
      </p:sp>
      <p:sp>
        <p:nvSpPr>
          <p:cNvPr id="21" name="tnote_17"/>
          <p:cNvSpPr txBox="1"/>
          <p:nvPr/>
        </p:nvSpPr>
        <p:spPr>
          <a:xfrm>
            <a:off x="411480" y="4773168"/>
            <a:ext cx="5029200" cy="237744"/>
          </a:xfrm>
          <a:prstGeom prst="rect">
            <a:avLst/>
          </a:prstGeom>
          <a:noFill/>
          <a:ln/>
        </p:spPr>
        <p:txBody>
          <a:bodyPr wrap="square" rtlCol="0" anchor="ctr"/>
          <a:lstStyle/>
          <a:p>
            <a:pPr indent="0" marL="0">
              <a:buNone/>
            </a:pPr>
            <a:r>
              <a:rPr lang="en-US" sz="900" dirty="0">
                <a:solidFill>
                  <a:srgbClr val="E9E2FB"/>
                </a:solidFill>
                <a:latin typeface="Calibri" pitchFamily="34" charset="0"/>
                <a:ea typeface="Calibri" pitchFamily="34" charset="-122"/>
                <a:cs typeface="Calibri" pitchFamily="34" charset="-120"/>
              </a:rPr>
              <a:t>Teacher: timings, answers and tips are in the slide notes.</a:t>
            </a:r>
            <a:endParaRPr lang="en-US" sz="9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8"/>
          <p:cNvSpPr/>
          <p:nvPr/>
        </p:nvSpPr>
        <p:spPr>
          <a:xfrm>
            <a:off x="54864" y="54864"/>
            <a:ext cx="9034272" cy="5033772"/>
          </a:xfrm>
          <a:prstGeom prst="rect">
            <a:avLst/>
          </a:prstGeom>
          <a:ln w="114300">
            <a:solidFill>
              <a:srgbClr val="A8E6B4"/>
            </a:solidFill>
            <a:prstDash val="solid"/>
          </a:ln>
        </p:spPr>
      </p:sp>
      <p:pic>
        <p:nvPicPr>
          <p:cNvPr id="4" name="logo_19"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0"/>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REVISION · 6A part 1 · Extras + passive</a:t>
            </a:r>
            <a:endParaRPr lang="en-US" sz="900" dirty="0"/>
          </a:p>
        </p:txBody>
      </p:sp>
      <p:sp>
        <p:nvSpPr>
          <p:cNvPr id="6" name="timer_21"/>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5 min</a:t>
            </a:r>
            <a:endParaRPr lang="en-US" sz="1200" dirty="0"/>
          </a:p>
        </p:txBody>
      </p:sp>
      <p:sp>
        <p:nvSpPr>
          <p:cNvPr id="7" name="footer_22"/>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6A · Part 2</a:t>
            </a:r>
            <a:endParaRPr lang="en-US" sz="1000" dirty="0"/>
          </a:p>
        </p:txBody>
      </p:sp>
      <p:sp>
        <p:nvSpPr>
          <p:cNvPr id="8" name="title_23"/>
          <p:cNvSpPr txBox="1"/>
          <p:nvPr/>
        </p:nvSpPr>
        <p:spPr>
          <a:xfrm rot="90000">
            <a:off x="320040" y="676656"/>
            <a:ext cx="2761488"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Spot the lie!</a:t>
            </a:r>
            <a:endParaRPr lang="en-US" sz="1500" dirty="0"/>
          </a:p>
        </p:txBody>
      </p:sp>
      <p:sp>
        <p:nvSpPr>
          <p:cNvPr id="9" name="tape_24"/>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10" name="tape_25"/>
          <p:cNvSpPr/>
          <p:nvPr/>
        </p:nvSpPr>
        <p:spPr>
          <a:xfrm rot="-720000">
            <a:off x="2514600" y="1069848"/>
            <a:ext cx="685800" cy="219456"/>
          </a:xfrm>
          <a:prstGeom prst="rect">
            <a:avLst/>
          </a:prstGeom>
          <a:solidFill>
            <a:srgbClr val="FFD84D">
              <a:alpha val="75000"/>
            </a:srgbClr>
          </a:solidFill>
          <a:ln w="6350">
            <a:solidFill>
              <a:srgbClr val="FFD84D"/>
            </a:solidFill>
            <a:prstDash val="solid"/>
          </a:ln>
        </p:spPr>
      </p:sp>
      <p:sp>
        <p:nvSpPr>
          <p:cNvPr id="11" name="post_26"/>
          <p:cNvSpPr/>
          <p:nvPr/>
        </p:nvSpPr>
        <p:spPr>
          <a:xfrm>
            <a:off x="429768" y="1554480"/>
            <a:ext cx="128016" cy="2194560"/>
          </a:xfrm>
          <a:prstGeom prst="rect">
            <a:avLst/>
          </a:prstGeom>
          <a:solidFill>
            <a:srgbClr val="8B5A2B"/>
          </a:solidFill>
          <a:ln w="31750">
            <a:solidFill>
              <a:srgbClr val="111111"/>
            </a:solidFill>
            <a:prstDash val="solid"/>
          </a:ln>
        </p:spPr>
      </p:sp>
      <p:sp>
        <p:nvSpPr>
          <p:cNvPr id="12" name="signA_27"/>
          <p:cNvSpPr txBox="1"/>
          <p:nvPr/>
        </p:nvSpPr>
        <p:spPr>
          <a:xfrm rot="-180000">
            <a:off x="320040" y="1371600"/>
            <a:ext cx="2240280" cy="457200"/>
          </a:xfrm>
          <a:prstGeom prst="homePlate">
            <a:avLst/>
          </a:prstGeom>
          <a:solidFill>
            <a:srgbClr val="062F67"/>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THINK!</a:t>
            </a:r>
            <a:pPr indent="0" marL="0">
              <a:buNone/>
            </a:pPr>
            <a:r>
              <a:rPr lang="en-US" sz="1000" dirty="0">
                <a:solidFill>
                  <a:srgbClr val="FFF3B0"/>
                </a:solidFill>
                <a:latin typeface="Arial Black" pitchFamily="34" charset="0"/>
                <a:ea typeface="Arial Black" pitchFamily="34" charset="-122"/>
                <a:cs typeface="Arial Black" pitchFamily="34" charset="-120"/>
              </a:rPr>
              <a:t>  PENSA!</a:t>
            </a:r>
            <a:endParaRPr lang="en-US" sz="1500" dirty="0"/>
          </a:p>
        </p:txBody>
      </p:sp>
      <p:sp>
        <p:nvSpPr>
          <p:cNvPr id="13" name="signB_28"/>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Each round: 3 sentences, 1 lie. Find it!</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Ogni turno: 3 frasi, 1 bugia. Trovala!</a:t>
            </a:r>
            <a:endParaRPr lang="en-US" sz="1250" dirty="0"/>
          </a:p>
        </p:txBody>
      </p:sp>
      <p:sp>
        <p:nvSpPr>
          <p:cNvPr id="14" name="iconBack_29"/>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5" name="icon_30" descr="pi:PiDetective">    </p:cNvPr>
          <p:cNvPicPr>
            <a:picLocks noChangeAspect="1"/>
          </p:cNvPicPr>
          <p:nvPr/>
        </p:nvPicPr>
        <p:blipFill>
          <a:blip r:embed="rId3"/>
          <a:stretch>
            <a:fillRect/>
          </a:stretch>
        </p:blipFill>
        <p:spPr>
          <a:xfrm>
            <a:off x="914400" y="3474720"/>
            <a:ext cx="685800" cy="685800"/>
          </a:xfrm>
          <a:prstGeom prst="rect">
            <a:avLst/>
          </a:prstGeom>
        </p:spPr>
      </p:pic>
      <p:sp>
        <p:nvSpPr>
          <p:cNvPr id="16" name="box_31"/>
          <p:cNvSpPr txBox="1"/>
          <p:nvPr/>
        </p:nvSpPr>
        <p:spPr>
          <a:xfrm>
            <a:off x="2788920" y="1371600"/>
            <a:ext cx="4224528" cy="726948"/>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1  A Days on set can last more than 15 hours.  B Extras are paid very well.  C Phones aren't allowed on set.</a:t>
            </a:r>
            <a:endParaRPr lang="en-US" sz="1150" dirty="0"/>
          </a:p>
        </p:txBody>
      </p:sp>
      <p:sp>
        <p:nvSpPr>
          <p:cNvPr id="17" name="R1_a0"/>
          <p:cNvSpPr txBox="1"/>
          <p:nvPr/>
        </p:nvSpPr>
        <p:spPr>
          <a:xfrm>
            <a:off x="7068312" y="1408176"/>
            <a:ext cx="1755648" cy="653796"/>
          </a:xfrm>
          <a:prstGeom prst="roundRect">
            <a:avLst>
              <a:gd name="adj" fmla="val 8392"/>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B – they aren't well paid</a:t>
            </a:r>
            <a:endParaRPr lang="en-US" sz="1200" dirty="0"/>
          </a:p>
        </p:txBody>
      </p:sp>
      <p:sp>
        <p:nvSpPr>
          <p:cNvPr id="18" name="box_32"/>
          <p:cNvSpPr txBox="1"/>
          <p:nvPr/>
        </p:nvSpPr>
        <p:spPr>
          <a:xfrm>
            <a:off x="2788920" y="2226564"/>
            <a:ext cx="4224528" cy="726948"/>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2  A In Jersey Girl, the clapping was done in silence.  B Gandhi's funeral scene was filmed with 3,000 extras.  C Crowds are often digitized.</a:t>
            </a:r>
            <a:endParaRPr lang="en-US" sz="1150" dirty="0"/>
          </a:p>
        </p:txBody>
      </p:sp>
      <p:sp>
        <p:nvSpPr>
          <p:cNvPr id="19" name="R2_a1"/>
          <p:cNvSpPr txBox="1"/>
          <p:nvPr/>
        </p:nvSpPr>
        <p:spPr>
          <a:xfrm>
            <a:off x="7068312" y="2263140"/>
            <a:ext cx="1755648" cy="653796"/>
          </a:xfrm>
          <a:prstGeom prst="roundRect">
            <a:avLst>
              <a:gd name="adj" fmla="val 8392"/>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B – 300,000 extras!</a:t>
            </a:r>
            <a:endParaRPr lang="en-US" sz="1200" dirty="0"/>
          </a:p>
        </p:txBody>
      </p:sp>
      <p:sp>
        <p:nvSpPr>
          <p:cNvPr id="20" name="box_33"/>
          <p:cNvSpPr txBox="1"/>
          <p:nvPr/>
        </p:nvSpPr>
        <p:spPr>
          <a:xfrm>
            <a:off x="2788920" y="3081528"/>
            <a:ext cx="4224528" cy="726948"/>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3  A Inflatable extras can be stored and reused.  B Fake snow is never used.  C The air conditioning has to be turned off.</a:t>
            </a:r>
            <a:endParaRPr lang="en-US" sz="1150" dirty="0"/>
          </a:p>
        </p:txBody>
      </p:sp>
      <p:sp>
        <p:nvSpPr>
          <p:cNvPr id="21" name="R3_a2"/>
          <p:cNvSpPr txBox="1"/>
          <p:nvPr/>
        </p:nvSpPr>
        <p:spPr>
          <a:xfrm>
            <a:off x="7068312" y="3118104"/>
            <a:ext cx="1755648" cy="653796"/>
          </a:xfrm>
          <a:prstGeom prst="roundRect">
            <a:avLst>
              <a:gd name="adj" fmla="val 8392"/>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B – the snow is often fake</a:t>
            </a:r>
            <a:endParaRPr lang="en-US" sz="1200" dirty="0"/>
          </a:p>
        </p:txBody>
      </p:sp>
      <p:sp>
        <p:nvSpPr>
          <p:cNvPr id="22" name="box_34"/>
          <p:cNvSpPr txBox="1"/>
          <p:nvPr/>
        </p:nvSpPr>
        <p:spPr>
          <a:xfrm>
            <a:off x="2788920" y="3936492"/>
            <a:ext cx="4224528" cy="726948"/>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4  A The extra who posted a photo has never been employed again.  B Many British films are being shot in Eastern Europe.  C Ben-Hur was made with cardboard extras.</a:t>
            </a:r>
            <a:endParaRPr lang="en-US" sz="1100" dirty="0"/>
          </a:p>
        </p:txBody>
      </p:sp>
      <p:sp>
        <p:nvSpPr>
          <p:cNvPr id="23" name="R4_a3"/>
          <p:cNvSpPr txBox="1"/>
          <p:nvPr/>
        </p:nvSpPr>
        <p:spPr>
          <a:xfrm>
            <a:off x="7068312" y="3973068"/>
            <a:ext cx="1755648" cy="653796"/>
          </a:xfrm>
          <a:prstGeom prst="roundRect">
            <a:avLst>
              <a:gd name="adj" fmla="val 8392"/>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C – cardboard cut-outs: Gladiator</a:t>
            </a:r>
            <a:endParaRPr lang="en-US" sz="1200" dirty="0"/>
          </a:p>
        </p:txBody>
      </p:sp>
      <p:sp>
        <p:nvSpPr>
          <p:cNvPr id="24" name="pageTag_35"/>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revision of 6A pp.56–57 · Grammar Bank 6A p.142</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4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fade">
                                      <p:cBhvr>
                                        <p:cTn id="17" dur="400"/>
                                        <p:tgtEl>
                                          <p:spTgt spid="2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36"/>
          <p:cNvSpPr/>
          <p:nvPr/>
        </p:nvSpPr>
        <p:spPr>
          <a:xfrm>
            <a:off x="54864" y="54864"/>
            <a:ext cx="9034272" cy="5033772"/>
          </a:xfrm>
          <a:prstGeom prst="rect">
            <a:avLst/>
          </a:prstGeom>
          <a:ln w="114300">
            <a:solidFill>
              <a:srgbClr val="A8E6B4"/>
            </a:solidFill>
            <a:prstDash val="solid"/>
          </a:ln>
        </p:spPr>
      </p:sp>
      <p:pic>
        <p:nvPicPr>
          <p:cNvPr id="4" name="logo_37"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38"/>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VOCABULARY · Vocabulary Bank Cinema p.159</a:t>
            </a:r>
            <a:endParaRPr lang="en-US" sz="900" dirty="0"/>
          </a:p>
        </p:txBody>
      </p:sp>
      <p:sp>
        <p:nvSpPr>
          <p:cNvPr id="6" name="timer_39"/>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5 min</a:t>
            </a:r>
            <a:endParaRPr lang="en-US" sz="1200" dirty="0"/>
          </a:p>
        </p:txBody>
      </p:sp>
      <p:sp>
        <p:nvSpPr>
          <p:cNvPr id="7" name="footer_40"/>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6A · Part 2</a:t>
            </a:r>
            <a:endParaRPr lang="en-US" sz="1000" dirty="0"/>
          </a:p>
        </p:txBody>
      </p:sp>
      <p:sp>
        <p:nvSpPr>
          <p:cNvPr id="8" name="title_41"/>
          <p:cNvSpPr txBox="1"/>
          <p:nvPr/>
        </p:nvSpPr>
        <p:spPr>
          <a:xfrm rot="90000">
            <a:off x="320040" y="676656"/>
            <a:ext cx="2761488"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Kinds of film</a:t>
            </a:r>
            <a:endParaRPr lang="en-US" sz="1500" dirty="0"/>
          </a:p>
        </p:txBody>
      </p:sp>
      <p:sp>
        <p:nvSpPr>
          <p:cNvPr id="9" name="tape_42"/>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10" name="tape_43"/>
          <p:cNvSpPr/>
          <p:nvPr/>
        </p:nvSpPr>
        <p:spPr>
          <a:xfrm rot="-720000">
            <a:off x="2514600" y="1069848"/>
            <a:ext cx="685800" cy="219456"/>
          </a:xfrm>
          <a:prstGeom prst="rect">
            <a:avLst/>
          </a:prstGeom>
          <a:solidFill>
            <a:srgbClr val="FFD84D">
              <a:alpha val="75000"/>
            </a:srgbClr>
          </a:solidFill>
          <a:ln w="6350">
            <a:solidFill>
              <a:srgbClr val="FFD84D"/>
            </a:solidFill>
            <a:prstDash val="solid"/>
          </a:ln>
        </p:spPr>
      </p:sp>
      <p:sp>
        <p:nvSpPr>
          <p:cNvPr id="11" name="post_44"/>
          <p:cNvSpPr/>
          <p:nvPr/>
        </p:nvSpPr>
        <p:spPr>
          <a:xfrm>
            <a:off x="429768" y="1554480"/>
            <a:ext cx="128016" cy="2194560"/>
          </a:xfrm>
          <a:prstGeom prst="rect">
            <a:avLst/>
          </a:prstGeom>
          <a:solidFill>
            <a:srgbClr val="8B5A2B"/>
          </a:solidFill>
          <a:ln w="31750">
            <a:solidFill>
              <a:srgbClr val="111111"/>
            </a:solidFill>
            <a:prstDash val="solid"/>
          </a:ln>
        </p:spPr>
      </p:sp>
      <p:sp>
        <p:nvSpPr>
          <p:cNvPr id="12" name="signA_45"/>
          <p:cNvSpPr txBox="1"/>
          <p:nvPr/>
        </p:nvSpPr>
        <p:spPr>
          <a:xfrm rot="-180000">
            <a:off x="320040" y="1371600"/>
            <a:ext cx="2240280" cy="457200"/>
          </a:xfrm>
          <a:prstGeom prst="homePlate">
            <a:avLst/>
          </a:prstGeom>
          <a:solidFill>
            <a:srgbClr val="062F67"/>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THINK!</a:t>
            </a:r>
            <a:pPr indent="0" marL="0">
              <a:buNone/>
            </a:pPr>
            <a:r>
              <a:rPr lang="en-US" sz="1000" dirty="0">
                <a:solidFill>
                  <a:srgbClr val="FFF3B0"/>
                </a:solidFill>
                <a:latin typeface="Arial Black" pitchFamily="34" charset="0"/>
                <a:ea typeface="Arial Black" pitchFamily="34" charset="-122"/>
                <a:cs typeface="Arial Black" pitchFamily="34" charset="-120"/>
              </a:rPr>
              <a:t>  PENSA!</a:t>
            </a:r>
            <a:endParaRPr lang="en-US" sz="1500" dirty="0"/>
          </a:p>
        </p:txBody>
      </p:sp>
      <p:sp>
        <p:nvSpPr>
          <p:cNvPr id="13" name="signB_46"/>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Say the words. Name a film for each one!</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Di' le parole. Nomina un film per ognuna!</a:t>
            </a:r>
            <a:endParaRPr lang="en-US" sz="1250" dirty="0"/>
          </a:p>
        </p:txBody>
      </p:sp>
      <p:sp>
        <p:nvSpPr>
          <p:cNvPr id="14" name="tile_47"/>
          <p:cNvSpPr/>
          <p:nvPr/>
        </p:nvSpPr>
        <p:spPr>
          <a:xfrm>
            <a:off x="2788920" y="1371600"/>
            <a:ext cx="1426464" cy="1030224"/>
          </a:xfrm>
          <a:prstGeom prst="roundRect">
            <a:avLst>
              <a:gd name="adj" fmla="val 7101"/>
            </a:avLst>
          </a:prstGeom>
          <a:solidFill>
            <a:srgbClr val="FFFFFF"/>
          </a:solidFill>
          <a:ln w="19050">
            <a:solidFill>
              <a:srgbClr val="111111"/>
            </a:solidFill>
            <a:prstDash val="solid"/>
          </a:ln>
        </p:spPr>
      </p:sp>
      <p:pic>
        <p:nvPicPr>
          <p:cNvPr id="15" name="ti_48" descr="an action film">    </p:cNvPr>
          <p:cNvPicPr>
            <a:picLocks noChangeAspect="1"/>
          </p:cNvPicPr>
          <p:nvPr/>
        </p:nvPicPr>
        <p:blipFill>
          <a:blip r:embed="rId3"/>
          <a:stretch>
            <a:fillRect/>
          </a:stretch>
        </p:blipFill>
        <p:spPr>
          <a:xfrm>
            <a:off x="3296107" y="1426464"/>
            <a:ext cx="412090" cy="412090"/>
          </a:xfrm>
          <a:prstGeom prst="rect">
            <a:avLst/>
          </a:prstGeom>
        </p:spPr>
      </p:pic>
      <p:sp>
        <p:nvSpPr>
          <p:cNvPr id="16" name="tw_49"/>
          <p:cNvSpPr txBox="1"/>
          <p:nvPr/>
        </p:nvSpPr>
        <p:spPr>
          <a:xfrm>
            <a:off x="2825496" y="1856842"/>
            <a:ext cx="1353312" cy="237744"/>
          </a:xfrm>
          <a:prstGeom prst="rect">
            <a:avLst/>
          </a:prstGeom>
          <a:noFill/>
          <a:ln/>
        </p:spPr>
        <p:txBody>
          <a:bodyPr wrap="square" lIns="0" tIns="0" rIns="0" bIns="0" rtlCol="0" anchor="ctr"/>
          <a:lstStyle/>
          <a:p>
            <a:pPr algn="ctr" indent="0" marL="0">
              <a:buNone/>
            </a:pPr>
            <a:r>
              <a:rPr lang="en-US" sz="1250" b="1" dirty="0">
                <a:solidFill>
                  <a:srgbClr val="111111"/>
                </a:solidFill>
                <a:latin typeface="Calibri" pitchFamily="34" charset="0"/>
                <a:ea typeface="Calibri" pitchFamily="34" charset="-122"/>
                <a:cs typeface="Calibri" pitchFamily="34" charset="-120"/>
              </a:rPr>
              <a:t>an action film</a:t>
            </a:r>
            <a:endParaRPr lang="en-US" sz="1250" dirty="0"/>
          </a:p>
        </p:txBody>
      </p:sp>
      <p:sp>
        <p:nvSpPr>
          <p:cNvPr id="17" name="R1_it0"/>
          <p:cNvSpPr txBox="1"/>
          <p:nvPr/>
        </p:nvSpPr>
        <p:spPr>
          <a:xfrm>
            <a:off x="2825496" y="2085442"/>
            <a:ext cx="1353312" cy="288950"/>
          </a:xfrm>
          <a:prstGeom prst="rect">
            <a:avLst/>
          </a:prstGeom>
          <a:noFill/>
          <a:ln/>
        </p:spPr>
        <p:txBody>
          <a:bodyPr wrap="square" lIns="0" tIns="0" rIns="0" bIns="0" rtlCol="0" anchor="t"/>
          <a:lstStyle/>
          <a:p>
            <a:pPr algn="ctr" indent="0" marL="0">
              <a:buNone/>
            </a:pPr>
            <a:r>
              <a:rPr lang="en-US" sz="1050" i="1" dirty="0">
                <a:solidFill>
                  <a:srgbClr val="6D3FC0"/>
                </a:solidFill>
                <a:latin typeface="Calibri" pitchFamily="34" charset="0"/>
                <a:ea typeface="Calibri" pitchFamily="34" charset="-122"/>
                <a:cs typeface="Calibri" pitchFamily="34" charset="-120"/>
              </a:rPr>
              <a:t>film d'azione</a:t>
            </a:r>
            <a:endParaRPr lang="en-US" sz="1050" dirty="0"/>
          </a:p>
        </p:txBody>
      </p:sp>
      <p:sp>
        <p:nvSpPr>
          <p:cNvPr id="18" name="tile_50"/>
          <p:cNvSpPr/>
          <p:nvPr/>
        </p:nvSpPr>
        <p:spPr>
          <a:xfrm>
            <a:off x="4325112" y="1371600"/>
            <a:ext cx="1426464" cy="1030224"/>
          </a:xfrm>
          <a:prstGeom prst="roundRect">
            <a:avLst>
              <a:gd name="adj" fmla="val 7101"/>
            </a:avLst>
          </a:prstGeom>
          <a:solidFill>
            <a:srgbClr val="FFFFFF"/>
          </a:solidFill>
          <a:ln w="19050">
            <a:solidFill>
              <a:srgbClr val="111111"/>
            </a:solidFill>
            <a:prstDash val="solid"/>
          </a:ln>
        </p:spPr>
      </p:sp>
      <p:pic>
        <p:nvPicPr>
          <p:cNvPr id="19" name="ti_51" descr="an animation">    </p:cNvPr>
          <p:cNvPicPr>
            <a:picLocks noChangeAspect="1"/>
          </p:cNvPicPr>
          <p:nvPr/>
        </p:nvPicPr>
        <p:blipFill>
          <a:blip r:embed="rId4"/>
          <a:stretch>
            <a:fillRect/>
          </a:stretch>
        </p:blipFill>
        <p:spPr>
          <a:xfrm>
            <a:off x="4832299" y="1426464"/>
            <a:ext cx="412090" cy="412090"/>
          </a:xfrm>
          <a:prstGeom prst="rect">
            <a:avLst/>
          </a:prstGeom>
        </p:spPr>
      </p:pic>
      <p:sp>
        <p:nvSpPr>
          <p:cNvPr id="20" name="tw_52"/>
          <p:cNvSpPr txBox="1"/>
          <p:nvPr/>
        </p:nvSpPr>
        <p:spPr>
          <a:xfrm>
            <a:off x="4361688" y="1856842"/>
            <a:ext cx="1353312" cy="237744"/>
          </a:xfrm>
          <a:prstGeom prst="rect">
            <a:avLst/>
          </a:prstGeom>
          <a:noFill/>
          <a:ln/>
        </p:spPr>
        <p:txBody>
          <a:bodyPr wrap="square" lIns="0" tIns="0" rIns="0" bIns="0" rtlCol="0" anchor="ctr"/>
          <a:lstStyle/>
          <a:p>
            <a:pPr algn="ctr" indent="0" marL="0">
              <a:buNone/>
            </a:pPr>
            <a:r>
              <a:rPr lang="en-US" sz="1250" b="1" dirty="0">
                <a:solidFill>
                  <a:srgbClr val="111111"/>
                </a:solidFill>
                <a:latin typeface="Calibri" pitchFamily="34" charset="0"/>
                <a:ea typeface="Calibri" pitchFamily="34" charset="-122"/>
                <a:cs typeface="Calibri" pitchFamily="34" charset="-120"/>
              </a:rPr>
              <a:t>an animation</a:t>
            </a:r>
            <a:endParaRPr lang="en-US" sz="1250" dirty="0"/>
          </a:p>
        </p:txBody>
      </p:sp>
      <p:sp>
        <p:nvSpPr>
          <p:cNvPr id="21" name="R1_it1"/>
          <p:cNvSpPr txBox="1"/>
          <p:nvPr/>
        </p:nvSpPr>
        <p:spPr>
          <a:xfrm>
            <a:off x="4361688" y="2085442"/>
            <a:ext cx="1353312" cy="288950"/>
          </a:xfrm>
          <a:prstGeom prst="rect">
            <a:avLst/>
          </a:prstGeom>
          <a:noFill/>
          <a:ln/>
        </p:spPr>
        <p:txBody>
          <a:bodyPr wrap="square" lIns="0" tIns="0" rIns="0" bIns="0" rtlCol="0" anchor="t"/>
          <a:lstStyle/>
          <a:p>
            <a:pPr algn="ctr" indent="0" marL="0">
              <a:buNone/>
            </a:pPr>
            <a:r>
              <a:rPr lang="en-US" sz="1050" i="1" dirty="0">
                <a:solidFill>
                  <a:srgbClr val="6D3FC0"/>
                </a:solidFill>
                <a:latin typeface="Calibri" pitchFamily="34" charset="0"/>
                <a:ea typeface="Calibri" pitchFamily="34" charset="-122"/>
                <a:cs typeface="Calibri" pitchFamily="34" charset="-120"/>
              </a:rPr>
              <a:t>film d'animazione</a:t>
            </a:r>
            <a:endParaRPr lang="en-US" sz="1050" dirty="0"/>
          </a:p>
        </p:txBody>
      </p:sp>
      <p:sp>
        <p:nvSpPr>
          <p:cNvPr id="22" name="tile_53"/>
          <p:cNvSpPr/>
          <p:nvPr/>
        </p:nvSpPr>
        <p:spPr>
          <a:xfrm>
            <a:off x="5861304" y="1371600"/>
            <a:ext cx="1426464" cy="1030224"/>
          </a:xfrm>
          <a:prstGeom prst="roundRect">
            <a:avLst>
              <a:gd name="adj" fmla="val 7101"/>
            </a:avLst>
          </a:prstGeom>
          <a:solidFill>
            <a:srgbClr val="FFFFFF"/>
          </a:solidFill>
          <a:ln w="19050">
            <a:solidFill>
              <a:srgbClr val="111111"/>
            </a:solidFill>
            <a:prstDash val="solid"/>
          </a:ln>
        </p:spPr>
      </p:sp>
      <p:pic>
        <p:nvPicPr>
          <p:cNvPr id="23" name="ti_54" descr="a comedy">    </p:cNvPr>
          <p:cNvPicPr>
            <a:picLocks noChangeAspect="1"/>
          </p:cNvPicPr>
          <p:nvPr/>
        </p:nvPicPr>
        <p:blipFill>
          <a:blip r:embed="rId5"/>
          <a:stretch>
            <a:fillRect/>
          </a:stretch>
        </p:blipFill>
        <p:spPr>
          <a:xfrm>
            <a:off x="6368491" y="1426464"/>
            <a:ext cx="412090" cy="412090"/>
          </a:xfrm>
          <a:prstGeom prst="rect">
            <a:avLst/>
          </a:prstGeom>
        </p:spPr>
      </p:pic>
      <p:sp>
        <p:nvSpPr>
          <p:cNvPr id="24" name="tw_55"/>
          <p:cNvSpPr txBox="1"/>
          <p:nvPr/>
        </p:nvSpPr>
        <p:spPr>
          <a:xfrm>
            <a:off x="5897880" y="1856842"/>
            <a:ext cx="1353312" cy="237744"/>
          </a:xfrm>
          <a:prstGeom prst="rect">
            <a:avLst/>
          </a:prstGeom>
          <a:noFill/>
          <a:ln/>
        </p:spPr>
        <p:txBody>
          <a:bodyPr wrap="square" lIns="0" tIns="0" rIns="0" bIns="0" rtlCol="0" anchor="ctr"/>
          <a:lstStyle/>
          <a:p>
            <a:pPr algn="ctr" indent="0" marL="0">
              <a:buNone/>
            </a:pPr>
            <a:r>
              <a:rPr lang="en-US" sz="1250" b="1" dirty="0">
                <a:solidFill>
                  <a:srgbClr val="111111"/>
                </a:solidFill>
                <a:latin typeface="Calibri" pitchFamily="34" charset="0"/>
                <a:ea typeface="Calibri" pitchFamily="34" charset="-122"/>
                <a:cs typeface="Calibri" pitchFamily="34" charset="-120"/>
              </a:rPr>
              <a:t>a comedy</a:t>
            </a:r>
            <a:endParaRPr lang="en-US" sz="1250" dirty="0"/>
          </a:p>
        </p:txBody>
      </p:sp>
      <p:sp>
        <p:nvSpPr>
          <p:cNvPr id="25" name="R1_it2"/>
          <p:cNvSpPr txBox="1"/>
          <p:nvPr/>
        </p:nvSpPr>
        <p:spPr>
          <a:xfrm>
            <a:off x="5897880" y="2085442"/>
            <a:ext cx="1353312" cy="288950"/>
          </a:xfrm>
          <a:prstGeom prst="rect">
            <a:avLst/>
          </a:prstGeom>
          <a:noFill/>
          <a:ln/>
        </p:spPr>
        <p:txBody>
          <a:bodyPr wrap="square" lIns="0" tIns="0" rIns="0" bIns="0" rtlCol="0" anchor="t"/>
          <a:lstStyle/>
          <a:p>
            <a:pPr algn="ctr" indent="0" marL="0">
              <a:buNone/>
            </a:pPr>
            <a:r>
              <a:rPr lang="en-US" sz="1050" i="1" dirty="0">
                <a:solidFill>
                  <a:srgbClr val="6D3FC0"/>
                </a:solidFill>
                <a:latin typeface="Calibri" pitchFamily="34" charset="0"/>
                <a:ea typeface="Calibri" pitchFamily="34" charset="-122"/>
                <a:cs typeface="Calibri" pitchFamily="34" charset="-120"/>
              </a:rPr>
              <a:t>commedia</a:t>
            </a:r>
            <a:endParaRPr lang="en-US" sz="1050" dirty="0"/>
          </a:p>
        </p:txBody>
      </p:sp>
      <p:sp>
        <p:nvSpPr>
          <p:cNvPr id="26" name="tile_56"/>
          <p:cNvSpPr/>
          <p:nvPr/>
        </p:nvSpPr>
        <p:spPr>
          <a:xfrm>
            <a:off x="7397496" y="1371600"/>
            <a:ext cx="1426464" cy="1030224"/>
          </a:xfrm>
          <a:prstGeom prst="roundRect">
            <a:avLst>
              <a:gd name="adj" fmla="val 7101"/>
            </a:avLst>
          </a:prstGeom>
          <a:solidFill>
            <a:srgbClr val="FFFFFF"/>
          </a:solidFill>
          <a:ln w="19050">
            <a:solidFill>
              <a:srgbClr val="111111"/>
            </a:solidFill>
            <a:prstDash val="solid"/>
          </a:ln>
        </p:spPr>
      </p:sp>
      <p:pic>
        <p:nvPicPr>
          <p:cNvPr id="27" name="ti_57" descr="a drama">    </p:cNvPr>
          <p:cNvPicPr>
            <a:picLocks noChangeAspect="1"/>
          </p:cNvPicPr>
          <p:nvPr/>
        </p:nvPicPr>
        <p:blipFill>
          <a:blip r:embed="rId6"/>
          <a:stretch>
            <a:fillRect/>
          </a:stretch>
        </p:blipFill>
        <p:spPr>
          <a:xfrm>
            <a:off x="7904683" y="1426464"/>
            <a:ext cx="412090" cy="412090"/>
          </a:xfrm>
          <a:prstGeom prst="rect">
            <a:avLst/>
          </a:prstGeom>
        </p:spPr>
      </p:pic>
      <p:sp>
        <p:nvSpPr>
          <p:cNvPr id="28" name="tw_58"/>
          <p:cNvSpPr txBox="1"/>
          <p:nvPr/>
        </p:nvSpPr>
        <p:spPr>
          <a:xfrm>
            <a:off x="7434072" y="1856842"/>
            <a:ext cx="1353312" cy="237744"/>
          </a:xfrm>
          <a:prstGeom prst="rect">
            <a:avLst/>
          </a:prstGeom>
          <a:noFill/>
          <a:ln/>
        </p:spPr>
        <p:txBody>
          <a:bodyPr wrap="square" lIns="0" tIns="0" rIns="0" bIns="0" rtlCol="0" anchor="ctr"/>
          <a:lstStyle/>
          <a:p>
            <a:pPr algn="ctr" indent="0" marL="0">
              <a:buNone/>
            </a:pPr>
            <a:r>
              <a:rPr lang="en-US" sz="1250" b="1" dirty="0">
                <a:solidFill>
                  <a:srgbClr val="111111"/>
                </a:solidFill>
                <a:latin typeface="Calibri" pitchFamily="34" charset="0"/>
                <a:ea typeface="Calibri" pitchFamily="34" charset="-122"/>
                <a:cs typeface="Calibri" pitchFamily="34" charset="-120"/>
              </a:rPr>
              <a:t>a drama</a:t>
            </a:r>
            <a:endParaRPr lang="en-US" sz="1250" dirty="0"/>
          </a:p>
        </p:txBody>
      </p:sp>
      <p:sp>
        <p:nvSpPr>
          <p:cNvPr id="29" name="R1_it3"/>
          <p:cNvSpPr txBox="1"/>
          <p:nvPr/>
        </p:nvSpPr>
        <p:spPr>
          <a:xfrm>
            <a:off x="7434072" y="2085442"/>
            <a:ext cx="1353312" cy="288950"/>
          </a:xfrm>
          <a:prstGeom prst="rect">
            <a:avLst/>
          </a:prstGeom>
          <a:noFill/>
          <a:ln/>
        </p:spPr>
        <p:txBody>
          <a:bodyPr wrap="square" lIns="0" tIns="0" rIns="0" bIns="0" rtlCol="0" anchor="t"/>
          <a:lstStyle/>
          <a:p>
            <a:pPr algn="ctr" indent="0" marL="0">
              <a:buNone/>
            </a:pPr>
            <a:r>
              <a:rPr lang="en-US" sz="1050" i="1" dirty="0">
                <a:solidFill>
                  <a:srgbClr val="6D3FC0"/>
                </a:solidFill>
                <a:latin typeface="Calibri" pitchFamily="34" charset="0"/>
                <a:ea typeface="Calibri" pitchFamily="34" charset="-122"/>
                <a:cs typeface="Calibri" pitchFamily="34" charset="-120"/>
              </a:rPr>
              <a:t>dramma</a:t>
            </a:r>
            <a:endParaRPr lang="en-US" sz="1050" dirty="0"/>
          </a:p>
        </p:txBody>
      </p:sp>
      <p:sp>
        <p:nvSpPr>
          <p:cNvPr id="30" name="tile_59"/>
          <p:cNvSpPr/>
          <p:nvPr/>
        </p:nvSpPr>
        <p:spPr>
          <a:xfrm>
            <a:off x="2788920" y="2511552"/>
            <a:ext cx="1426464" cy="1030224"/>
          </a:xfrm>
          <a:prstGeom prst="roundRect">
            <a:avLst>
              <a:gd name="adj" fmla="val 7101"/>
            </a:avLst>
          </a:prstGeom>
          <a:solidFill>
            <a:srgbClr val="FFFFFF"/>
          </a:solidFill>
          <a:ln w="19050">
            <a:solidFill>
              <a:srgbClr val="111111"/>
            </a:solidFill>
            <a:prstDash val="solid"/>
          </a:ln>
        </p:spPr>
      </p:sp>
      <p:pic>
        <p:nvPicPr>
          <p:cNvPr id="31" name="ti_60" descr="a historical film">    </p:cNvPr>
          <p:cNvPicPr>
            <a:picLocks noChangeAspect="1"/>
          </p:cNvPicPr>
          <p:nvPr/>
        </p:nvPicPr>
        <p:blipFill>
          <a:blip r:embed="rId7"/>
          <a:stretch>
            <a:fillRect/>
          </a:stretch>
        </p:blipFill>
        <p:spPr>
          <a:xfrm>
            <a:off x="3296107" y="2566416"/>
            <a:ext cx="412090" cy="412090"/>
          </a:xfrm>
          <a:prstGeom prst="rect">
            <a:avLst/>
          </a:prstGeom>
        </p:spPr>
      </p:pic>
      <p:sp>
        <p:nvSpPr>
          <p:cNvPr id="32" name="tw_61"/>
          <p:cNvSpPr txBox="1"/>
          <p:nvPr/>
        </p:nvSpPr>
        <p:spPr>
          <a:xfrm>
            <a:off x="2825496" y="2996794"/>
            <a:ext cx="1353312" cy="237744"/>
          </a:xfrm>
          <a:prstGeom prst="rect">
            <a:avLst/>
          </a:prstGeom>
          <a:noFill/>
          <a:ln/>
        </p:spPr>
        <p:txBody>
          <a:bodyPr wrap="square" lIns="0" tIns="0" rIns="0" bIns="0" rtlCol="0" anchor="ctr"/>
          <a:lstStyle/>
          <a:p>
            <a:pPr algn="ctr" indent="0" marL="0">
              <a:buNone/>
            </a:pPr>
            <a:r>
              <a:rPr lang="en-US" sz="1250" b="1" dirty="0">
                <a:solidFill>
                  <a:srgbClr val="111111"/>
                </a:solidFill>
                <a:latin typeface="Calibri" pitchFamily="34" charset="0"/>
                <a:ea typeface="Calibri" pitchFamily="34" charset="-122"/>
                <a:cs typeface="Calibri" pitchFamily="34" charset="-120"/>
              </a:rPr>
              <a:t>a historical film</a:t>
            </a:r>
            <a:endParaRPr lang="en-US" sz="1250" dirty="0"/>
          </a:p>
        </p:txBody>
      </p:sp>
      <p:sp>
        <p:nvSpPr>
          <p:cNvPr id="33" name="R1_it4"/>
          <p:cNvSpPr txBox="1"/>
          <p:nvPr/>
        </p:nvSpPr>
        <p:spPr>
          <a:xfrm>
            <a:off x="2825496" y="3225394"/>
            <a:ext cx="1353312" cy="288950"/>
          </a:xfrm>
          <a:prstGeom prst="rect">
            <a:avLst/>
          </a:prstGeom>
          <a:noFill/>
          <a:ln/>
        </p:spPr>
        <p:txBody>
          <a:bodyPr wrap="square" lIns="0" tIns="0" rIns="0" bIns="0" rtlCol="0" anchor="t"/>
          <a:lstStyle/>
          <a:p>
            <a:pPr algn="ctr" indent="0" marL="0">
              <a:buNone/>
            </a:pPr>
            <a:r>
              <a:rPr lang="en-US" sz="1050" i="1" dirty="0">
                <a:solidFill>
                  <a:srgbClr val="6D3FC0"/>
                </a:solidFill>
                <a:latin typeface="Calibri" pitchFamily="34" charset="0"/>
                <a:ea typeface="Calibri" pitchFamily="34" charset="-122"/>
                <a:cs typeface="Calibri" pitchFamily="34" charset="-120"/>
              </a:rPr>
              <a:t>film storico</a:t>
            </a:r>
            <a:endParaRPr lang="en-US" sz="1050" dirty="0"/>
          </a:p>
        </p:txBody>
      </p:sp>
      <p:sp>
        <p:nvSpPr>
          <p:cNvPr id="34" name="tile_62"/>
          <p:cNvSpPr/>
          <p:nvPr/>
        </p:nvSpPr>
        <p:spPr>
          <a:xfrm>
            <a:off x="4325112" y="2511552"/>
            <a:ext cx="1426464" cy="1030224"/>
          </a:xfrm>
          <a:prstGeom prst="roundRect">
            <a:avLst>
              <a:gd name="adj" fmla="val 7101"/>
            </a:avLst>
          </a:prstGeom>
          <a:solidFill>
            <a:srgbClr val="FFFFFF"/>
          </a:solidFill>
          <a:ln w="19050">
            <a:solidFill>
              <a:srgbClr val="111111"/>
            </a:solidFill>
            <a:prstDash val="solid"/>
          </a:ln>
        </p:spPr>
      </p:sp>
      <p:pic>
        <p:nvPicPr>
          <p:cNvPr id="35" name="ti_63" descr="a horror film">    </p:cNvPr>
          <p:cNvPicPr>
            <a:picLocks noChangeAspect="1"/>
          </p:cNvPicPr>
          <p:nvPr/>
        </p:nvPicPr>
        <p:blipFill>
          <a:blip r:embed="rId8"/>
          <a:stretch>
            <a:fillRect/>
          </a:stretch>
        </p:blipFill>
        <p:spPr>
          <a:xfrm>
            <a:off x="4832299" y="2566416"/>
            <a:ext cx="412090" cy="412090"/>
          </a:xfrm>
          <a:prstGeom prst="rect">
            <a:avLst/>
          </a:prstGeom>
        </p:spPr>
      </p:pic>
      <p:sp>
        <p:nvSpPr>
          <p:cNvPr id="36" name="tw_64"/>
          <p:cNvSpPr txBox="1"/>
          <p:nvPr/>
        </p:nvSpPr>
        <p:spPr>
          <a:xfrm>
            <a:off x="4361688" y="2996794"/>
            <a:ext cx="1353312" cy="237744"/>
          </a:xfrm>
          <a:prstGeom prst="rect">
            <a:avLst/>
          </a:prstGeom>
          <a:noFill/>
          <a:ln/>
        </p:spPr>
        <p:txBody>
          <a:bodyPr wrap="square" lIns="0" tIns="0" rIns="0" bIns="0" rtlCol="0" anchor="ctr"/>
          <a:lstStyle/>
          <a:p>
            <a:pPr algn="ctr" indent="0" marL="0">
              <a:buNone/>
            </a:pPr>
            <a:r>
              <a:rPr lang="en-US" sz="1250" b="1" dirty="0">
                <a:solidFill>
                  <a:srgbClr val="111111"/>
                </a:solidFill>
                <a:latin typeface="Calibri" pitchFamily="34" charset="0"/>
                <a:ea typeface="Calibri" pitchFamily="34" charset="-122"/>
                <a:cs typeface="Calibri" pitchFamily="34" charset="-120"/>
              </a:rPr>
              <a:t>a horror film</a:t>
            </a:r>
            <a:endParaRPr lang="en-US" sz="1250" dirty="0"/>
          </a:p>
        </p:txBody>
      </p:sp>
      <p:sp>
        <p:nvSpPr>
          <p:cNvPr id="37" name="R1_it5"/>
          <p:cNvSpPr txBox="1"/>
          <p:nvPr/>
        </p:nvSpPr>
        <p:spPr>
          <a:xfrm>
            <a:off x="4361688" y="3225394"/>
            <a:ext cx="1353312" cy="288950"/>
          </a:xfrm>
          <a:prstGeom prst="rect">
            <a:avLst/>
          </a:prstGeom>
          <a:noFill/>
          <a:ln/>
        </p:spPr>
        <p:txBody>
          <a:bodyPr wrap="square" lIns="0" tIns="0" rIns="0" bIns="0" rtlCol="0" anchor="t"/>
          <a:lstStyle/>
          <a:p>
            <a:pPr algn="ctr" indent="0" marL="0">
              <a:buNone/>
            </a:pPr>
            <a:r>
              <a:rPr lang="en-US" sz="1050" i="1" dirty="0">
                <a:solidFill>
                  <a:srgbClr val="6D3FC0"/>
                </a:solidFill>
                <a:latin typeface="Calibri" pitchFamily="34" charset="0"/>
                <a:ea typeface="Calibri" pitchFamily="34" charset="-122"/>
                <a:cs typeface="Calibri" pitchFamily="34" charset="-120"/>
              </a:rPr>
              <a:t>film horror</a:t>
            </a:r>
            <a:endParaRPr lang="en-US" sz="1050" dirty="0"/>
          </a:p>
        </p:txBody>
      </p:sp>
      <p:sp>
        <p:nvSpPr>
          <p:cNvPr id="38" name="tile_65"/>
          <p:cNvSpPr/>
          <p:nvPr/>
        </p:nvSpPr>
        <p:spPr>
          <a:xfrm>
            <a:off x="5861304" y="2511552"/>
            <a:ext cx="1426464" cy="1030224"/>
          </a:xfrm>
          <a:prstGeom prst="roundRect">
            <a:avLst>
              <a:gd name="adj" fmla="val 7101"/>
            </a:avLst>
          </a:prstGeom>
          <a:solidFill>
            <a:srgbClr val="FFFFFF"/>
          </a:solidFill>
          <a:ln w="19050">
            <a:solidFill>
              <a:srgbClr val="111111"/>
            </a:solidFill>
            <a:prstDash val="solid"/>
          </a:ln>
        </p:spPr>
      </p:sp>
      <p:pic>
        <p:nvPicPr>
          <p:cNvPr id="39" name="ti_66" descr="a musical">    </p:cNvPr>
          <p:cNvPicPr>
            <a:picLocks noChangeAspect="1"/>
          </p:cNvPicPr>
          <p:nvPr/>
        </p:nvPicPr>
        <p:blipFill>
          <a:blip r:embed="rId9"/>
          <a:stretch>
            <a:fillRect/>
          </a:stretch>
        </p:blipFill>
        <p:spPr>
          <a:xfrm>
            <a:off x="6368491" y="2566416"/>
            <a:ext cx="412090" cy="412090"/>
          </a:xfrm>
          <a:prstGeom prst="rect">
            <a:avLst/>
          </a:prstGeom>
        </p:spPr>
      </p:pic>
      <p:sp>
        <p:nvSpPr>
          <p:cNvPr id="40" name="tw_67"/>
          <p:cNvSpPr txBox="1"/>
          <p:nvPr/>
        </p:nvSpPr>
        <p:spPr>
          <a:xfrm>
            <a:off x="5897880" y="2996794"/>
            <a:ext cx="1353312" cy="237744"/>
          </a:xfrm>
          <a:prstGeom prst="rect">
            <a:avLst/>
          </a:prstGeom>
          <a:noFill/>
          <a:ln/>
        </p:spPr>
        <p:txBody>
          <a:bodyPr wrap="square" lIns="0" tIns="0" rIns="0" bIns="0" rtlCol="0" anchor="ctr"/>
          <a:lstStyle/>
          <a:p>
            <a:pPr algn="ctr" indent="0" marL="0">
              <a:buNone/>
            </a:pPr>
            <a:r>
              <a:rPr lang="en-US" sz="1250" b="1" dirty="0">
                <a:solidFill>
                  <a:srgbClr val="111111"/>
                </a:solidFill>
                <a:latin typeface="Calibri" pitchFamily="34" charset="0"/>
                <a:ea typeface="Calibri" pitchFamily="34" charset="-122"/>
                <a:cs typeface="Calibri" pitchFamily="34" charset="-120"/>
              </a:rPr>
              <a:t>a musical</a:t>
            </a:r>
            <a:endParaRPr lang="en-US" sz="1250" dirty="0"/>
          </a:p>
        </p:txBody>
      </p:sp>
      <p:sp>
        <p:nvSpPr>
          <p:cNvPr id="41" name="R1_it6"/>
          <p:cNvSpPr txBox="1"/>
          <p:nvPr/>
        </p:nvSpPr>
        <p:spPr>
          <a:xfrm>
            <a:off x="5897880" y="3225394"/>
            <a:ext cx="1353312" cy="288950"/>
          </a:xfrm>
          <a:prstGeom prst="rect">
            <a:avLst/>
          </a:prstGeom>
          <a:noFill/>
          <a:ln/>
        </p:spPr>
        <p:txBody>
          <a:bodyPr wrap="square" lIns="0" tIns="0" rIns="0" bIns="0" rtlCol="0" anchor="t"/>
          <a:lstStyle/>
          <a:p>
            <a:pPr algn="ctr" indent="0" marL="0">
              <a:buNone/>
            </a:pPr>
            <a:r>
              <a:rPr lang="en-US" sz="1050" i="1" dirty="0">
                <a:solidFill>
                  <a:srgbClr val="6D3FC0"/>
                </a:solidFill>
                <a:latin typeface="Calibri" pitchFamily="34" charset="0"/>
                <a:ea typeface="Calibri" pitchFamily="34" charset="-122"/>
                <a:cs typeface="Calibri" pitchFamily="34" charset="-120"/>
              </a:rPr>
              <a:t>musical</a:t>
            </a:r>
            <a:endParaRPr lang="en-US" sz="1050" dirty="0"/>
          </a:p>
        </p:txBody>
      </p:sp>
      <p:sp>
        <p:nvSpPr>
          <p:cNvPr id="42" name="tile_68"/>
          <p:cNvSpPr/>
          <p:nvPr/>
        </p:nvSpPr>
        <p:spPr>
          <a:xfrm>
            <a:off x="7397496" y="2511552"/>
            <a:ext cx="1426464" cy="1030224"/>
          </a:xfrm>
          <a:prstGeom prst="roundRect">
            <a:avLst>
              <a:gd name="adj" fmla="val 7101"/>
            </a:avLst>
          </a:prstGeom>
          <a:solidFill>
            <a:srgbClr val="FFFFFF"/>
          </a:solidFill>
          <a:ln w="19050">
            <a:solidFill>
              <a:srgbClr val="111111"/>
            </a:solidFill>
            <a:prstDash val="solid"/>
          </a:ln>
        </p:spPr>
      </p:sp>
      <p:pic>
        <p:nvPicPr>
          <p:cNvPr id="43" name="ti_69" descr="a rom-com">    </p:cNvPr>
          <p:cNvPicPr>
            <a:picLocks noChangeAspect="1"/>
          </p:cNvPicPr>
          <p:nvPr/>
        </p:nvPicPr>
        <p:blipFill>
          <a:blip r:embed="rId10"/>
          <a:stretch>
            <a:fillRect/>
          </a:stretch>
        </p:blipFill>
        <p:spPr>
          <a:xfrm>
            <a:off x="7904683" y="2566416"/>
            <a:ext cx="412090" cy="412090"/>
          </a:xfrm>
          <a:prstGeom prst="rect">
            <a:avLst/>
          </a:prstGeom>
        </p:spPr>
      </p:pic>
      <p:sp>
        <p:nvSpPr>
          <p:cNvPr id="44" name="tw_70"/>
          <p:cNvSpPr txBox="1"/>
          <p:nvPr/>
        </p:nvSpPr>
        <p:spPr>
          <a:xfrm>
            <a:off x="7434072" y="2996794"/>
            <a:ext cx="1353312" cy="237744"/>
          </a:xfrm>
          <a:prstGeom prst="rect">
            <a:avLst/>
          </a:prstGeom>
          <a:noFill/>
          <a:ln/>
        </p:spPr>
        <p:txBody>
          <a:bodyPr wrap="square" lIns="0" tIns="0" rIns="0" bIns="0" rtlCol="0" anchor="ctr"/>
          <a:lstStyle/>
          <a:p>
            <a:pPr algn="ctr" indent="0" marL="0">
              <a:buNone/>
            </a:pPr>
            <a:r>
              <a:rPr lang="en-US" sz="1250" b="1" dirty="0">
                <a:solidFill>
                  <a:srgbClr val="111111"/>
                </a:solidFill>
                <a:latin typeface="Calibri" pitchFamily="34" charset="0"/>
                <a:ea typeface="Calibri" pitchFamily="34" charset="-122"/>
                <a:cs typeface="Calibri" pitchFamily="34" charset="-120"/>
              </a:rPr>
              <a:t>a rom-com</a:t>
            </a:r>
            <a:endParaRPr lang="en-US" sz="1250" dirty="0"/>
          </a:p>
        </p:txBody>
      </p:sp>
      <p:sp>
        <p:nvSpPr>
          <p:cNvPr id="45" name="R1_it7"/>
          <p:cNvSpPr txBox="1"/>
          <p:nvPr/>
        </p:nvSpPr>
        <p:spPr>
          <a:xfrm>
            <a:off x="7434072" y="3225394"/>
            <a:ext cx="1353312" cy="288950"/>
          </a:xfrm>
          <a:prstGeom prst="rect">
            <a:avLst/>
          </a:prstGeom>
          <a:noFill/>
          <a:ln/>
        </p:spPr>
        <p:txBody>
          <a:bodyPr wrap="square" lIns="0" tIns="0" rIns="0" bIns="0" rtlCol="0" anchor="t"/>
          <a:lstStyle/>
          <a:p>
            <a:pPr algn="ctr" indent="0" marL="0">
              <a:buNone/>
            </a:pPr>
            <a:r>
              <a:rPr lang="en-US" sz="1050" i="1" dirty="0">
                <a:solidFill>
                  <a:srgbClr val="6D3FC0"/>
                </a:solidFill>
                <a:latin typeface="Calibri" pitchFamily="34" charset="0"/>
                <a:ea typeface="Calibri" pitchFamily="34" charset="-122"/>
                <a:cs typeface="Calibri" pitchFamily="34" charset="-120"/>
              </a:rPr>
              <a:t>commedia romantica</a:t>
            </a:r>
            <a:endParaRPr lang="en-US" sz="1050" dirty="0"/>
          </a:p>
        </p:txBody>
      </p:sp>
      <p:sp>
        <p:nvSpPr>
          <p:cNvPr id="46" name="tile_71"/>
          <p:cNvSpPr/>
          <p:nvPr/>
        </p:nvSpPr>
        <p:spPr>
          <a:xfrm>
            <a:off x="2788920" y="3651504"/>
            <a:ext cx="1426464" cy="1030224"/>
          </a:xfrm>
          <a:prstGeom prst="roundRect">
            <a:avLst>
              <a:gd name="adj" fmla="val 7101"/>
            </a:avLst>
          </a:prstGeom>
          <a:solidFill>
            <a:srgbClr val="FFFFFF"/>
          </a:solidFill>
          <a:ln w="19050">
            <a:solidFill>
              <a:srgbClr val="111111"/>
            </a:solidFill>
            <a:prstDash val="solid"/>
          </a:ln>
        </p:spPr>
      </p:sp>
      <p:pic>
        <p:nvPicPr>
          <p:cNvPr id="47" name="ti_72" descr="a science fiction film">    </p:cNvPr>
          <p:cNvPicPr>
            <a:picLocks noChangeAspect="1"/>
          </p:cNvPicPr>
          <p:nvPr/>
        </p:nvPicPr>
        <p:blipFill>
          <a:blip r:embed="rId11"/>
          <a:stretch>
            <a:fillRect/>
          </a:stretch>
        </p:blipFill>
        <p:spPr>
          <a:xfrm>
            <a:off x="3296107" y="3706368"/>
            <a:ext cx="412090" cy="412090"/>
          </a:xfrm>
          <a:prstGeom prst="rect">
            <a:avLst/>
          </a:prstGeom>
        </p:spPr>
      </p:pic>
      <p:sp>
        <p:nvSpPr>
          <p:cNvPr id="48" name="tw_73"/>
          <p:cNvSpPr txBox="1"/>
          <p:nvPr/>
        </p:nvSpPr>
        <p:spPr>
          <a:xfrm>
            <a:off x="2825496" y="4136746"/>
            <a:ext cx="1353312" cy="237744"/>
          </a:xfrm>
          <a:prstGeom prst="rect">
            <a:avLst/>
          </a:prstGeom>
          <a:noFill/>
          <a:ln/>
        </p:spPr>
        <p:txBody>
          <a:bodyPr wrap="square" lIns="0" tIns="0" rIns="0" bIns="0" rtlCol="0" anchor="ctr"/>
          <a:lstStyle/>
          <a:p>
            <a:pPr algn="ctr" indent="0" marL="0">
              <a:buNone/>
            </a:pPr>
            <a:r>
              <a:rPr lang="en-US" sz="1050" b="1" dirty="0">
                <a:solidFill>
                  <a:srgbClr val="111111"/>
                </a:solidFill>
                <a:latin typeface="Calibri" pitchFamily="34" charset="0"/>
                <a:ea typeface="Calibri" pitchFamily="34" charset="-122"/>
                <a:cs typeface="Calibri" pitchFamily="34" charset="-120"/>
              </a:rPr>
              <a:t>a science fiction film</a:t>
            </a:r>
            <a:endParaRPr lang="en-US" sz="1050" dirty="0"/>
          </a:p>
        </p:txBody>
      </p:sp>
      <p:sp>
        <p:nvSpPr>
          <p:cNvPr id="49" name="R1_it8"/>
          <p:cNvSpPr txBox="1"/>
          <p:nvPr/>
        </p:nvSpPr>
        <p:spPr>
          <a:xfrm>
            <a:off x="2825496" y="4365346"/>
            <a:ext cx="1353312" cy="288950"/>
          </a:xfrm>
          <a:prstGeom prst="rect">
            <a:avLst/>
          </a:prstGeom>
          <a:noFill/>
          <a:ln/>
        </p:spPr>
        <p:txBody>
          <a:bodyPr wrap="square" lIns="0" tIns="0" rIns="0" bIns="0" rtlCol="0" anchor="t"/>
          <a:lstStyle/>
          <a:p>
            <a:pPr algn="ctr" indent="0" marL="0">
              <a:buNone/>
            </a:pPr>
            <a:r>
              <a:rPr lang="en-US" sz="1050" i="1" dirty="0">
                <a:solidFill>
                  <a:srgbClr val="6D3FC0"/>
                </a:solidFill>
                <a:latin typeface="Calibri" pitchFamily="34" charset="0"/>
                <a:ea typeface="Calibri" pitchFamily="34" charset="-122"/>
                <a:cs typeface="Calibri" pitchFamily="34" charset="-120"/>
              </a:rPr>
              <a:t>film di fantascienza</a:t>
            </a:r>
            <a:endParaRPr lang="en-US" sz="1050" dirty="0"/>
          </a:p>
        </p:txBody>
      </p:sp>
      <p:sp>
        <p:nvSpPr>
          <p:cNvPr id="50" name="tile_74"/>
          <p:cNvSpPr/>
          <p:nvPr/>
        </p:nvSpPr>
        <p:spPr>
          <a:xfrm>
            <a:off x="4325112" y="3651504"/>
            <a:ext cx="1426464" cy="1030224"/>
          </a:xfrm>
          <a:prstGeom prst="roundRect">
            <a:avLst>
              <a:gd name="adj" fmla="val 7101"/>
            </a:avLst>
          </a:prstGeom>
          <a:solidFill>
            <a:srgbClr val="FFFFFF"/>
          </a:solidFill>
          <a:ln w="19050">
            <a:solidFill>
              <a:srgbClr val="111111"/>
            </a:solidFill>
            <a:prstDash val="solid"/>
          </a:ln>
        </p:spPr>
      </p:sp>
      <p:pic>
        <p:nvPicPr>
          <p:cNvPr id="51" name="ti_75" descr="a thriller">    </p:cNvPr>
          <p:cNvPicPr>
            <a:picLocks noChangeAspect="1"/>
          </p:cNvPicPr>
          <p:nvPr/>
        </p:nvPicPr>
        <p:blipFill>
          <a:blip r:embed="rId12"/>
          <a:stretch>
            <a:fillRect/>
          </a:stretch>
        </p:blipFill>
        <p:spPr>
          <a:xfrm>
            <a:off x="4832299" y="3706368"/>
            <a:ext cx="412090" cy="412090"/>
          </a:xfrm>
          <a:prstGeom prst="rect">
            <a:avLst/>
          </a:prstGeom>
        </p:spPr>
      </p:pic>
      <p:sp>
        <p:nvSpPr>
          <p:cNvPr id="52" name="tw_76"/>
          <p:cNvSpPr txBox="1"/>
          <p:nvPr/>
        </p:nvSpPr>
        <p:spPr>
          <a:xfrm>
            <a:off x="4361688" y="4136746"/>
            <a:ext cx="1353312" cy="237744"/>
          </a:xfrm>
          <a:prstGeom prst="rect">
            <a:avLst/>
          </a:prstGeom>
          <a:noFill/>
          <a:ln/>
        </p:spPr>
        <p:txBody>
          <a:bodyPr wrap="square" lIns="0" tIns="0" rIns="0" bIns="0" rtlCol="0" anchor="ctr"/>
          <a:lstStyle/>
          <a:p>
            <a:pPr algn="ctr" indent="0" marL="0">
              <a:buNone/>
            </a:pPr>
            <a:r>
              <a:rPr lang="en-US" sz="1250" b="1" dirty="0">
                <a:solidFill>
                  <a:srgbClr val="111111"/>
                </a:solidFill>
                <a:latin typeface="Calibri" pitchFamily="34" charset="0"/>
                <a:ea typeface="Calibri" pitchFamily="34" charset="-122"/>
                <a:cs typeface="Calibri" pitchFamily="34" charset="-120"/>
              </a:rPr>
              <a:t>a thriller</a:t>
            </a:r>
            <a:endParaRPr lang="en-US" sz="1250" dirty="0"/>
          </a:p>
        </p:txBody>
      </p:sp>
      <p:sp>
        <p:nvSpPr>
          <p:cNvPr id="53" name="R1_it9"/>
          <p:cNvSpPr txBox="1"/>
          <p:nvPr/>
        </p:nvSpPr>
        <p:spPr>
          <a:xfrm>
            <a:off x="4361688" y="4365346"/>
            <a:ext cx="1353312" cy="288950"/>
          </a:xfrm>
          <a:prstGeom prst="rect">
            <a:avLst/>
          </a:prstGeom>
          <a:noFill/>
          <a:ln/>
        </p:spPr>
        <p:txBody>
          <a:bodyPr wrap="square" lIns="0" tIns="0" rIns="0" bIns="0" rtlCol="0" anchor="t"/>
          <a:lstStyle/>
          <a:p>
            <a:pPr algn="ctr" indent="0" marL="0">
              <a:buNone/>
            </a:pPr>
            <a:r>
              <a:rPr lang="en-US" sz="1050" i="1" dirty="0">
                <a:solidFill>
                  <a:srgbClr val="6D3FC0"/>
                </a:solidFill>
                <a:latin typeface="Calibri" pitchFamily="34" charset="0"/>
                <a:ea typeface="Calibri" pitchFamily="34" charset="-122"/>
                <a:cs typeface="Calibri" pitchFamily="34" charset="-120"/>
              </a:rPr>
              <a:t>thriller / giallo</a:t>
            </a:r>
            <a:endParaRPr lang="en-US" sz="1050" dirty="0"/>
          </a:p>
        </p:txBody>
      </p:sp>
      <p:sp>
        <p:nvSpPr>
          <p:cNvPr id="54" name="tile_77"/>
          <p:cNvSpPr/>
          <p:nvPr/>
        </p:nvSpPr>
        <p:spPr>
          <a:xfrm>
            <a:off x="5861304" y="3651504"/>
            <a:ext cx="1426464" cy="1030224"/>
          </a:xfrm>
          <a:prstGeom prst="roundRect">
            <a:avLst>
              <a:gd name="adj" fmla="val 7101"/>
            </a:avLst>
          </a:prstGeom>
          <a:solidFill>
            <a:srgbClr val="FFFFFF"/>
          </a:solidFill>
          <a:ln w="19050">
            <a:solidFill>
              <a:srgbClr val="111111"/>
            </a:solidFill>
            <a:prstDash val="solid"/>
          </a:ln>
        </p:spPr>
      </p:sp>
      <p:pic>
        <p:nvPicPr>
          <p:cNvPr id="55" name="ti_78" descr="a war film">    </p:cNvPr>
          <p:cNvPicPr>
            <a:picLocks noChangeAspect="1"/>
          </p:cNvPicPr>
          <p:nvPr/>
        </p:nvPicPr>
        <p:blipFill>
          <a:blip r:embed="rId13"/>
          <a:stretch>
            <a:fillRect/>
          </a:stretch>
        </p:blipFill>
        <p:spPr>
          <a:xfrm>
            <a:off x="6368491" y="3706368"/>
            <a:ext cx="412090" cy="412090"/>
          </a:xfrm>
          <a:prstGeom prst="rect">
            <a:avLst/>
          </a:prstGeom>
        </p:spPr>
      </p:pic>
      <p:sp>
        <p:nvSpPr>
          <p:cNvPr id="56" name="tw_79"/>
          <p:cNvSpPr txBox="1"/>
          <p:nvPr/>
        </p:nvSpPr>
        <p:spPr>
          <a:xfrm>
            <a:off x="5897880" y="4136746"/>
            <a:ext cx="1353312" cy="237744"/>
          </a:xfrm>
          <a:prstGeom prst="rect">
            <a:avLst/>
          </a:prstGeom>
          <a:noFill/>
          <a:ln/>
        </p:spPr>
        <p:txBody>
          <a:bodyPr wrap="square" lIns="0" tIns="0" rIns="0" bIns="0" rtlCol="0" anchor="ctr"/>
          <a:lstStyle/>
          <a:p>
            <a:pPr algn="ctr" indent="0" marL="0">
              <a:buNone/>
            </a:pPr>
            <a:r>
              <a:rPr lang="en-US" sz="1250" b="1" dirty="0">
                <a:solidFill>
                  <a:srgbClr val="111111"/>
                </a:solidFill>
                <a:latin typeface="Calibri" pitchFamily="34" charset="0"/>
                <a:ea typeface="Calibri" pitchFamily="34" charset="-122"/>
                <a:cs typeface="Calibri" pitchFamily="34" charset="-120"/>
              </a:rPr>
              <a:t>a war film</a:t>
            </a:r>
            <a:endParaRPr lang="en-US" sz="1250" dirty="0"/>
          </a:p>
        </p:txBody>
      </p:sp>
      <p:sp>
        <p:nvSpPr>
          <p:cNvPr id="57" name="R1_it10"/>
          <p:cNvSpPr txBox="1"/>
          <p:nvPr/>
        </p:nvSpPr>
        <p:spPr>
          <a:xfrm>
            <a:off x="5897880" y="4365346"/>
            <a:ext cx="1353312" cy="288950"/>
          </a:xfrm>
          <a:prstGeom prst="rect">
            <a:avLst/>
          </a:prstGeom>
          <a:noFill/>
          <a:ln/>
        </p:spPr>
        <p:txBody>
          <a:bodyPr wrap="square" lIns="0" tIns="0" rIns="0" bIns="0" rtlCol="0" anchor="t"/>
          <a:lstStyle/>
          <a:p>
            <a:pPr algn="ctr" indent="0" marL="0">
              <a:buNone/>
            </a:pPr>
            <a:r>
              <a:rPr lang="en-US" sz="1050" i="1" dirty="0">
                <a:solidFill>
                  <a:srgbClr val="6D3FC0"/>
                </a:solidFill>
                <a:latin typeface="Calibri" pitchFamily="34" charset="0"/>
                <a:ea typeface="Calibri" pitchFamily="34" charset="-122"/>
                <a:cs typeface="Calibri" pitchFamily="34" charset="-120"/>
              </a:rPr>
              <a:t>film di guerra</a:t>
            </a:r>
            <a:endParaRPr lang="en-US" sz="1050" dirty="0"/>
          </a:p>
        </p:txBody>
      </p:sp>
      <p:sp>
        <p:nvSpPr>
          <p:cNvPr id="58" name="tile_80"/>
          <p:cNvSpPr/>
          <p:nvPr/>
        </p:nvSpPr>
        <p:spPr>
          <a:xfrm>
            <a:off x="7397496" y="3651504"/>
            <a:ext cx="1426464" cy="1030224"/>
          </a:xfrm>
          <a:prstGeom prst="roundRect">
            <a:avLst>
              <a:gd name="adj" fmla="val 7101"/>
            </a:avLst>
          </a:prstGeom>
          <a:solidFill>
            <a:srgbClr val="FFFFFF"/>
          </a:solidFill>
          <a:ln w="19050">
            <a:solidFill>
              <a:srgbClr val="111111"/>
            </a:solidFill>
            <a:prstDash val="solid"/>
          </a:ln>
        </p:spPr>
      </p:sp>
      <p:pic>
        <p:nvPicPr>
          <p:cNvPr id="59" name="ti_81" descr="a western">    </p:cNvPr>
          <p:cNvPicPr>
            <a:picLocks noChangeAspect="1"/>
          </p:cNvPicPr>
          <p:nvPr/>
        </p:nvPicPr>
        <p:blipFill>
          <a:blip r:embed="rId14"/>
          <a:stretch>
            <a:fillRect/>
          </a:stretch>
        </p:blipFill>
        <p:spPr>
          <a:xfrm>
            <a:off x="7904683" y="3706368"/>
            <a:ext cx="412090" cy="412090"/>
          </a:xfrm>
          <a:prstGeom prst="rect">
            <a:avLst/>
          </a:prstGeom>
        </p:spPr>
      </p:pic>
      <p:sp>
        <p:nvSpPr>
          <p:cNvPr id="60" name="tw_82"/>
          <p:cNvSpPr txBox="1"/>
          <p:nvPr/>
        </p:nvSpPr>
        <p:spPr>
          <a:xfrm>
            <a:off x="7434072" y="4136746"/>
            <a:ext cx="1353312" cy="237744"/>
          </a:xfrm>
          <a:prstGeom prst="rect">
            <a:avLst/>
          </a:prstGeom>
          <a:noFill/>
          <a:ln/>
        </p:spPr>
        <p:txBody>
          <a:bodyPr wrap="square" lIns="0" tIns="0" rIns="0" bIns="0" rtlCol="0" anchor="ctr"/>
          <a:lstStyle/>
          <a:p>
            <a:pPr algn="ctr" indent="0" marL="0">
              <a:buNone/>
            </a:pPr>
            <a:r>
              <a:rPr lang="en-US" sz="1250" b="1" dirty="0">
                <a:solidFill>
                  <a:srgbClr val="111111"/>
                </a:solidFill>
                <a:latin typeface="Calibri" pitchFamily="34" charset="0"/>
                <a:ea typeface="Calibri" pitchFamily="34" charset="-122"/>
                <a:cs typeface="Calibri" pitchFamily="34" charset="-120"/>
              </a:rPr>
              <a:t>a western</a:t>
            </a:r>
            <a:endParaRPr lang="en-US" sz="1250" dirty="0"/>
          </a:p>
        </p:txBody>
      </p:sp>
      <p:sp>
        <p:nvSpPr>
          <p:cNvPr id="61" name="R1_it11"/>
          <p:cNvSpPr txBox="1"/>
          <p:nvPr/>
        </p:nvSpPr>
        <p:spPr>
          <a:xfrm>
            <a:off x="7434072" y="4365346"/>
            <a:ext cx="1353312" cy="288950"/>
          </a:xfrm>
          <a:prstGeom prst="rect">
            <a:avLst/>
          </a:prstGeom>
          <a:noFill/>
          <a:ln/>
        </p:spPr>
        <p:txBody>
          <a:bodyPr wrap="square" lIns="0" tIns="0" rIns="0" bIns="0" rtlCol="0" anchor="t"/>
          <a:lstStyle/>
          <a:p>
            <a:pPr algn="ctr" indent="0" marL="0">
              <a:buNone/>
            </a:pPr>
            <a:r>
              <a:rPr lang="en-US" sz="1050" i="1" dirty="0">
                <a:solidFill>
                  <a:srgbClr val="6D3FC0"/>
                </a:solidFill>
                <a:latin typeface="Calibri" pitchFamily="34" charset="0"/>
                <a:ea typeface="Calibri" pitchFamily="34" charset="-122"/>
                <a:cs typeface="Calibri" pitchFamily="34" charset="-120"/>
              </a:rPr>
              <a:t>western</a:t>
            </a:r>
            <a:endParaRPr lang="en-US" sz="1050" dirty="0"/>
          </a:p>
        </p:txBody>
      </p:sp>
      <p:sp>
        <p:nvSpPr>
          <p:cNvPr id="62" name="pageTag_83"/>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p.58 · 4a, 4b · Vocabulary Bank Cinema p.159 · 1 Kinds of film · audio 6.4</a:t>
            </a:r>
            <a:endParaRPr lang="en-US" sz="1050" dirty="0"/>
          </a:p>
        </p:txBody>
      </p:sp>
      <p:pic>
        <p:nvPicPr>
          <p:cNvPr id="63" name="Media 0">
            <a:hlinkClick r:id="" action="ppaction://media"/>
          </p:cNvPr>
          <p:cNvPicPr>
            <a:picLocks noChangeAspect="1"/>
          </p:cNvPicPr>
          <p:nvPr>
            <a:audioFile r:link="rId15"/>
            <p:extLst>
              <p:ext uri="{DAA4B4D4-6D71-4841-9C94-3DE7FCFB9230}">
                <p14:media xmlns:p14="http://schemas.microsoft.com/office/powerpoint/2010/main" r:embed="rId16"/>
              </p:ext>
            </p:extLst>
          </p:nvPr>
        </p:nvPicPr>
        <p:blipFill>
          <a:blip r:embed="rId17"/>
          <a:stretch>
            <a:fillRect/>
          </a:stretch>
        </p:blipFill>
        <p:spPr>
          <a:xfrm>
            <a:off x="5166360" y="155448"/>
            <a:ext cx="384048" cy="384048"/>
          </a:xfrm>
          <a:prstGeom prst="rect">
            <a:avLst/>
          </a:prstGeom>
        </p:spPr>
      </p:pic>
      <p:sp>
        <p:nvSpPr>
          <p:cNvPr id="64" name="atr_84"/>
          <p:cNvSpPr txBox="1"/>
          <p:nvPr/>
        </p:nvSpPr>
        <p:spPr>
          <a:xfrm>
            <a:off x="5120640" y="530352"/>
            <a:ext cx="475488" cy="164592"/>
          </a:xfrm>
          <a:prstGeom prst="rect">
            <a:avLst/>
          </a:prstGeom>
          <a:noFill/>
          <a:ln/>
        </p:spPr>
        <p:txBody>
          <a:bodyPr wrap="square" lIns="0" tIns="0" rIns="0" bIns="0" rtlCol="0" anchor="ctr"/>
          <a:lstStyle/>
          <a:p>
            <a:pPr algn="ctr" indent="0" marL="0">
              <a:buNone/>
            </a:pPr>
            <a:r>
              <a:rPr lang="en-US" sz="800" b="1" dirty="0">
                <a:solidFill>
                  <a:srgbClr val="062F67"/>
                </a:solidFill>
                <a:latin typeface="Calibri" pitchFamily="34" charset="0"/>
                <a:ea typeface="Calibri" pitchFamily="34" charset="-122"/>
                <a:cs typeface="Calibri" pitchFamily="34" charset="-120"/>
              </a:rPr>
              <a:t>6.4</a:t>
            </a:r>
            <a:endParaRPr lang="en-US" sz="8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00"/>
                                        <p:tgtEl>
                                          <p:spTgt spid="17"/>
                                        </p:tgtEl>
                                      </p:cBhvr>
                                    </p:animEffect>
                                  </p:childTnLst>
                                </p:cTn>
                              </p:par>
                              <p:par>
                                <p:cTn id="8" presetID="10" presetClass="entr" presetSubtype="0" fill="hold"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400"/>
                                        <p:tgtEl>
                                          <p:spTgt spid="21"/>
                                        </p:tgtEl>
                                      </p:cBhvr>
                                    </p:animEffect>
                                  </p:childTnLst>
                                </p:cTn>
                              </p:par>
                              <p:par>
                                <p:cTn id="11" presetID="10" presetClass="entr" presetSubtype="0" fill="hold" nodeType="withEffect">
                                  <p:stCondLst>
                                    <p:cond delay="0"/>
                                  </p:stCondLst>
                                  <p:childTnLst>
                                    <p:set>
                                      <p:cBhvr>
                                        <p:cTn id="12" dur="1" fill="hold">
                                          <p:stCondLst>
                                            <p:cond delay="0"/>
                                          </p:stCondLst>
                                        </p:cTn>
                                        <p:tgtEl>
                                          <p:spTgt spid="25"/>
                                        </p:tgtEl>
                                        <p:attrNameLst>
                                          <p:attrName>style.visibility</p:attrName>
                                        </p:attrNameLst>
                                      </p:cBhvr>
                                      <p:to>
                                        <p:strVal val="visible"/>
                                      </p:to>
                                    </p:set>
                                    <p:animEffect transition="in" filter="fade">
                                      <p:cBhvr>
                                        <p:cTn id="13" dur="400"/>
                                        <p:tgtEl>
                                          <p:spTgt spid="25"/>
                                        </p:tgtEl>
                                      </p:cBhvr>
                                    </p:animEffect>
                                  </p:childTnLst>
                                </p:cTn>
                              </p:par>
                              <p:par>
                                <p:cTn id="14" presetID="10" presetClass="entr" presetSubtype="0" fill="hold" nodeType="withEffect">
                                  <p:stCondLst>
                                    <p:cond delay="0"/>
                                  </p:stCondLst>
                                  <p:childTnLst>
                                    <p:set>
                                      <p:cBhvr>
                                        <p:cTn id="15" dur="1" fill="hold">
                                          <p:stCondLst>
                                            <p:cond delay="0"/>
                                          </p:stCondLst>
                                        </p:cTn>
                                        <p:tgtEl>
                                          <p:spTgt spid="29"/>
                                        </p:tgtEl>
                                        <p:attrNameLst>
                                          <p:attrName>style.visibility</p:attrName>
                                        </p:attrNameLst>
                                      </p:cBhvr>
                                      <p:to>
                                        <p:strVal val="visible"/>
                                      </p:to>
                                    </p:set>
                                    <p:animEffect transition="in" filter="fade">
                                      <p:cBhvr>
                                        <p:cTn id="16" dur="400"/>
                                        <p:tgtEl>
                                          <p:spTgt spid="29"/>
                                        </p:tgtEl>
                                      </p:cBhvr>
                                    </p:animEffect>
                                  </p:childTnLst>
                                </p:cTn>
                              </p:par>
                              <p:par>
                                <p:cTn id="17" presetID="10" presetClass="entr" presetSubtype="0" fill="hold" nodeType="withEffect">
                                  <p:stCondLst>
                                    <p:cond delay="0"/>
                                  </p:stCondLst>
                                  <p:childTnLst>
                                    <p:set>
                                      <p:cBhvr>
                                        <p:cTn id="18" dur="1" fill="hold">
                                          <p:stCondLst>
                                            <p:cond delay="0"/>
                                          </p:stCondLst>
                                        </p:cTn>
                                        <p:tgtEl>
                                          <p:spTgt spid="33"/>
                                        </p:tgtEl>
                                        <p:attrNameLst>
                                          <p:attrName>style.visibility</p:attrName>
                                        </p:attrNameLst>
                                      </p:cBhvr>
                                      <p:to>
                                        <p:strVal val="visible"/>
                                      </p:to>
                                    </p:set>
                                    <p:animEffect transition="in" filter="fade">
                                      <p:cBhvr>
                                        <p:cTn id="19" dur="400"/>
                                        <p:tgtEl>
                                          <p:spTgt spid="33"/>
                                        </p:tgtEl>
                                      </p:cBhvr>
                                    </p:animEffect>
                                  </p:childTnLst>
                                </p:cTn>
                              </p:par>
                              <p:par>
                                <p:cTn id="20" presetID="10" presetClass="entr" presetSubtype="0" fill="hold" nodeType="withEffect">
                                  <p:stCondLst>
                                    <p:cond delay="0"/>
                                  </p:stCondLst>
                                  <p:childTnLst>
                                    <p:set>
                                      <p:cBhvr>
                                        <p:cTn id="21" dur="1" fill="hold">
                                          <p:stCondLst>
                                            <p:cond delay="0"/>
                                          </p:stCondLst>
                                        </p:cTn>
                                        <p:tgtEl>
                                          <p:spTgt spid="37"/>
                                        </p:tgtEl>
                                        <p:attrNameLst>
                                          <p:attrName>style.visibility</p:attrName>
                                        </p:attrNameLst>
                                      </p:cBhvr>
                                      <p:to>
                                        <p:strVal val="visible"/>
                                      </p:to>
                                    </p:set>
                                    <p:animEffect transition="in" filter="fade">
                                      <p:cBhvr>
                                        <p:cTn id="22" dur="400"/>
                                        <p:tgtEl>
                                          <p:spTgt spid="37"/>
                                        </p:tgtEl>
                                      </p:cBhvr>
                                    </p:animEffect>
                                  </p:childTnLst>
                                </p:cTn>
                              </p:par>
                              <p:par>
                                <p:cTn id="23" presetID="10" presetClass="entr" presetSubtype="0" fill="hold" nodeType="withEffect">
                                  <p:stCondLst>
                                    <p:cond delay="0"/>
                                  </p:stCondLst>
                                  <p:childTnLst>
                                    <p:set>
                                      <p:cBhvr>
                                        <p:cTn id="24" dur="1" fill="hold">
                                          <p:stCondLst>
                                            <p:cond delay="0"/>
                                          </p:stCondLst>
                                        </p:cTn>
                                        <p:tgtEl>
                                          <p:spTgt spid="41"/>
                                        </p:tgtEl>
                                        <p:attrNameLst>
                                          <p:attrName>style.visibility</p:attrName>
                                        </p:attrNameLst>
                                      </p:cBhvr>
                                      <p:to>
                                        <p:strVal val="visible"/>
                                      </p:to>
                                    </p:set>
                                    <p:animEffect transition="in" filter="fade">
                                      <p:cBhvr>
                                        <p:cTn id="25" dur="400"/>
                                        <p:tgtEl>
                                          <p:spTgt spid="41"/>
                                        </p:tgtEl>
                                      </p:cBhvr>
                                    </p:animEffect>
                                  </p:childTnLst>
                                </p:cTn>
                              </p:par>
                              <p:par>
                                <p:cTn id="26" presetID="10" presetClass="entr" presetSubtype="0" fill="hold" nodeType="withEffect">
                                  <p:stCondLst>
                                    <p:cond delay="0"/>
                                  </p:stCondLst>
                                  <p:childTnLst>
                                    <p:set>
                                      <p:cBhvr>
                                        <p:cTn id="27" dur="1" fill="hold">
                                          <p:stCondLst>
                                            <p:cond delay="0"/>
                                          </p:stCondLst>
                                        </p:cTn>
                                        <p:tgtEl>
                                          <p:spTgt spid="45"/>
                                        </p:tgtEl>
                                        <p:attrNameLst>
                                          <p:attrName>style.visibility</p:attrName>
                                        </p:attrNameLst>
                                      </p:cBhvr>
                                      <p:to>
                                        <p:strVal val="visible"/>
                                      </p:to>
                                    </p:set>
                                    <p:animEffect transition="in" filter="fade">
                                      <p:cBhvr>
                                        <p:cTn id="28" dur="400"/>
                                        <p:tgtEl>
                                          <p:spTgt spid="45"/>
                                        </p:tgtEl>
                                      </p:cBhvr>
                                    </p:animEffect>
                                  </p:childTnLst>
                                </p:cTn>
                              </p:par>
                              <p:par>
                                <p:cTn id="29" presetID="10" presetClass="entr" presetSubtype="0" fill="hold" nodeType="withEffect">
                                  <p:stCondLst>
                                    <p:cond delay="0"/>
                                  </p:stCondLst>
                                  <p:childTnLst>
                                    <p:set>
                                      <p:cBhvr>
                                        <p:cTn id="30" dur="1" fill="hold">
                                          <p:stCondLst>
                                            <p:cond delay="0"/>
                                          </p:stCondLst>
                                        </p:cTn>
                                        <p:tgtEl>
                                          <p:spTgt spid="49"/>
                                        </p:tgtEl>
                                        <p:attrNameLst>
                                          <p:attrName>style.visibility</p:attrName>
                                        </p:attrNameLst>
                                      </p:cBhvr>
                                      <p:to>
                                        <p:strVal val="visible"/>
                                      </p:to>
                                    </p:set>
                                    <p:animEffect transition="in" filter="fade">
                                      <p:cBhvr>
                                        <p:cTn id="31" dur="400"/>
                                        <p:tgtEl>
                                          <p:spTgt spid="49"/>
                                        </p:tgtEl>
                                      </p:cBhvr>
                                    </p:animEffect>
                                  </p:childTnLst>
                                </p:cTn>
                              </p:par>
                              <p:par>
                                <p:cTn id="32" presetID="10" presetClass="entr" presetSubtype="0" fill="hold" nodeType="withEffect">
                                  <p:stCondLst>
                                    <p:cond delay="0"/>
                                  </p:stCondLst>
                                  <p:childTnLst>
                                    <p:set>
                                      <p:cBhvr>
                                        <p:cTn id="33" dur="1" fill="hold">
                                          <p:stCondLst>
                                            <p:cond delay="0"/>
                                          </p:stCondLst>
                                        </p:cTn>
                                        <p:tgtEl>
                                          <p:spTgt spid="53"/>
                                        </p:tgtEl>
                                        <p:attrNameLst>
                                          <p:attrName>style.visibility</p:attrName>
                                        </p:attrNameLst>
                                      </p:cBhvr>
                                      <p:to>
                                        <p:strVal val="visible"/>
                                      </p:to>
                                    </p:set>
                                    <p:animEffect transition="in" filter="fade">
                                      <p:cBhvr>
                                        <p:cTn id="34" dur="400"/>
                                        <p:tgtEl>
                                          <p:spTgt spid="53"/>
                                        </p:tgtEl>
                                      </p:cBhvr>
                                    </p:animEffect>
                                  </p:childTnLst>
                                </p:cTn>
                              </p:par>
                              <p:par>
                                <p:cTn id="35" presetID="10" presetClass="entr" presetSubtype="0" fill="hold" nodeType="withEffect">
                                  <p:stCondLst>
                                    <p:cond delay="0"/>
                                  </p:stCondLst>
                                  <p:childTnLst>
                                    <p:set>
                                      <p:cBhvr>
                                        <p:cTn id="36" dur="1" fill="hold">
                                          <p:stCondLst>
                                            <p:cond delay="0"/>
                                          </p:stCondLst>
                                        </p:cTn>
                                        <p:tgtEl>
                                          <p:spTgt spid="57"/>
                                        </p:tgtEl>
                                        <p:attrNameLst>
                                          <p:attrName>style.visibility</p:attrName>
                                        </p:attrNameLst>
                                      </p:cBhvr>
                                      <p:to>
                                        <p:strVal val="visible"/>
                                      </p:to>
                                    </p:set>
                                    <p:animEffect transition="in" filter="fade">
                                      <p:cBhvr>
                                        <p:cTn id="37" dur="400"/>
                                        <p:tgtEl>
                                          <p:spTgt spid="57"/>
                                        </p:tgtEl>
                                      </p:cBhvr>
                                    </p:animEffect>
                                  </p:childTnLst>
                                </p:cTn>
                              </p:par>
                              <p:par>
                                <p:cTn id="38" presetID="10" presetClass="entr" presetSubtype="0" fill="hold" nodeType="withEffect">
                                  <p:stCondLst>
                                    <p:cond delay="0"/>
                                  </p:stCondLst>
                                  <p:childTnLst>
                                    <p:set>
                                      <p:cBhvr>
                                        <p:cTn id="39" dur="1" fill="hold">
                                          <p:stCondLst>
                                            <p:cond delay="0"/>
                                          </p:stCondLst>
                                        </p:cTn>
                                        <p:tgtEl>
                                          <p:spTgt spid="61"/>
                                        </p:tgtEl>
                                        <p:attrNameLst>
                                          <p:attrName>style.visibility</p:attrName>
                                        </p:attrNameLst>
                                      </p:cBhvr>
                                      <p:to>
                                        <p:strVal val="visible"/>
                                      </p:to>
                                    </p:set>
                                    <p:animEffect transition="in" filter="fade">
                                      <p:cBhvr>
                                        <p:cTn id="40" dur="4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41" restart="whenNotActive" fill="hold" evtFilter="cancelBubble" nodeType="interactiveSeq">
                <p:stCondLst>
                  <p:cond evt="onClick" delay="0">
                    <p:tgtEl>
                      <p:spTgt spid="63"/>
                    </p:tgtEl>
                  </p:cond>
                </p:stCondLst>
                <p:endSync evt="end" delay="0">
                  <p:rtn val="all"/>
                </p:endSync>
                <p:childTnLst>
                  <p:par>
                    <p:cTn id="42" fill="hold">
                      <p:stCondLst>
                        <p:cond delay="0"/>
                      </p:stCondLst>
                      <p:childTnLst>
                        <p:par>
                          <p:cTn id="43" fill="hold">
                            <p:stCondLst>
                              <p:cond delay="0"/>
                            </p:stCondLst>
                            <p:childTnLst>
                              <p:par>
                                <p:cTn id="44" presetID="2" presetClass="mediacall" presetSubtype="0" fill="hold" nodeType="clickEffect">
                                  <p:stCondLst>
                                    <p:cond delay="0"/>
                                  </p:stCondLst>
                                  <p:childTnLst>
                                    <p:cmd type="call" cmd="togglePause">
                                      <p:cBhvr>
                                        <p:cTn id="45" dur="1" fill="hold"/>
                                        <p:tgtEl>
                                          <p:spTgt spid="63"/>
                                        </p:tgtEl>
                                      </p:cBhvr>
                                    </p:cmd>
                                  </p:childTnLst>
                                </p:cTn>
                              </p:par>
                            </p:childTnLst>
                          </p:cTn>
                        </p:par>
                      </p:childTnLst>
                    </p:cTn>
                  </p:par>
                </p:childTnLst>
              </p:cTn>
              <p:nextCondLst>
                <p:cond evt="onClick" delay="0">
                  <p:tgtEl>
                    <p:spTgt spid="63"/>
                  </p:tgtEl>
                </p:cond>
              </p:nextCondLst>
            </p:seq>
            <p:audio>
              <p:cMediaNode vol="80000">
                <p:cTn id="46" fill="hold" display="0">
                  <p:stCondLst>
                    <p:cond delay="indefinite"/>
                  </p:stCondLst>
                  <p:endCondLst>
                    <p:cond evt="onStopAudio" delay="0">
                      <p:tgtEl>
                        <p:sldTgt/>
                      </p:tgtEl>
                    </p:cond>
                  </p:endCondLst>
                </p:cTn>
                <p:tgtEl>
                  <p:spTgt spid="63"/>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85"/>
          <p:cNvSpPr/>
          <p:nvPr/>
        </p:nvSpPr>
        <p:spPr>
          <a:xfrm>
            <a:off x="54864" y="54864"/>
            <a:ext cx="9034272" cy="5033772"/>
          </a:xfrm>
          <a:prstGeom prst="rect">
            <a:avLst/>
          </a:prstGeom>
          <a:ln w="114300">
            <a:solidFill>
              <a:srgbClr val="A8E6B4"/>
            </a:solidFill>
            <a:prstDash val="solid"/>
          </a:ln>
        </p:spPr>
      </p:sp>
      <p:pic>
        <p:nvPicPr>
          <p:cNvPr id="4" name="logo_86"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87"/>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VOCABULARY · People and things · audio 6.5</a:t>
            </a:r>
            <a:endParaRPr lang="en-US" sz="900" dirty="0"/>
          </a:p>
        </p:txBody>
      </p:sp>
      <p:sp>
        <p:nvSpPr>
          <p:cNvPr id="6" name="timer_88"/>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6 min</a:t>
            </a:r>
            <a:endParaRPr lang="en-US" sz="1200" dirty="0"/>
          </a:p>
        </p:txBody>
      </p:sp>
      <p:sp>
        <p:nvSpPr>
          <p:cNvPr id="7" name="footer_89"/>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6A · Part 2</a:t>
            </a:r>
            <a:endParaRPr lang="en-US" sz="1000" dirty="0"/>
          </a:p>
        </p:txBody>
      </p:sp>
      <p:sp>
        <p:nvSpPr>
          <p:cNvPr id="8" name="title_90"/>
          <p:cNvSpPr txBox="1"/>
          <p:nvPr/>
        </p:nvSpPr>
        <p:spPr>
          <a:xfrm rot="90000">
            <a:off x="320040" y="676656"/>
            <a:ext cx="2587752"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Cinema words</a:t>
            </a:r>
            <a:endParaRPr lang="en-US" sz="1500" dirty="0"/>
          </a:p>
        </p:txBody>
      </p:sp>
      <p:sp>
        <p:nvSpPr>
          <p:cNvPr id="9" name="tape_91"/>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10" name="tape_92"/>
          <p:cNvSpPr/>
          <p:nvPr/>
        </p:nvSpPr>
        <p:spPr>
          <a:xfrm rot="-720000">
            <a:off x="2340864" y="1069848"/>
            <a:ext cx="685800" cy="219456"/>
          </a:xfrm>
          <a:prstGeom prst="rect">
            <a:avLst/>
          </a:prstGeom>
          <a:solidFill>
            <a:srgbClr val="FFD84D">
              <a:alpha val="75000"/>
            </a:srgbClr>
          </a:solidFill>
          <a:ln w="6350">
            <a:solidFill>
              <a:srgbClr val="FFD84D"/>
            </a:solidFill>
            <a:prstDash val="solid"/>
          </a:ln>
        </p:spPr>
      </p:sp>
      <p:sp>
        <p:nvSpPr>
          <p:cNvPr id="11" name="post_93"/>
          <p:cNvSpPr/>
          <p:nvPr/>
        </p:nvSpPr>
        <p:spPr>
          <a:xfrm>
            <a:off x="429768" y="1554480"/>
            <a:ext cx="128016" cy="2194560"/>
          </a:xfrm>
          <a:prstGeom prst="rect">
            <a:avLst/>
          </a:prstGeom>
          <a:solidFill>
            <a:srgbClr val="8B5A2B"/>
          </a:solidFill>
          <a:ln w="31750">
            <a:solidFill>
              <a:srgbClr val="111111"/>
            </a:solidFill>
            <a:prstDash val="solid"/>
          </a:ln>
        </p:spPr>
      </p:sp>
      <p:sp>
        <p:nvSpPr>
          <p:cNvPr id="12" name="signA_94"/>
          <p:cNvSpPr txBox="1"/>
          <p:nvPr/>
        </p:nvSpPr>
        <p:spPr>
          <a:xfrm rot="-180000">
            <a:off x="320040" y="1371600"/>
            <a:ext cx="2240280" cy="457200"/>
          </a:xfrm>
          <a:prstGeom prst="homePlate">
            <a:avLst/>
          </a:prstGeom>
          <a:solidFill>
            <a:srgbClr val="062F67"/>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THINK!</a:t>
            </a:r>
            <a:pPr indent="0" marL="0">
              <a:buNone/>
            </a:pPr>
            <a:r>
              <a:rPr lang="en-US" sz="1000" dirty="0">
                <a:solidFill>
                  <a:srgbClr val="FFF3B0"/>
                </a:solidFill>
                <a:latin typeface="Arial Black" pitchFamily="34" charset="0"/>
                <a:ea typeface="Arial Black" pitchFamily="34" charset="-122"/>
                <a:cs typeface="Arial Black" pitchFamily="34" charset="-120"/>
              </a:rPr>
              <a:t>  PENSA!</a:t>
            </a:r>
            <a:endParaRPr lang="en-US" sz="1500" dirty="0"/>
          </a:p>
        </p:txBody>
      </p:sp>
      <p:sp>
        <p:nvSpPr>
          <p:cNvPr id="13" name="signB_95"/>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Read the definition. What's the word?</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Leggi la definizione. Qual è la parola?</a:t>
            </a:r>
            <a:endParaRPr lang="en-US" sz="1250" dirty="0"/>
          </a:p>
        </p:txBody>
      </p:sp>
      <p:sp>
        <p:nvSpPr>
          <p:cNvPr id="14" name="iconBack_96"/>
          <p:cNvSpPr/>
          <p:nvPr/>
        </p:nvSpPr>
        <p:spPr>
          <a:xfrm>
            <a:off x="2788920" y="1371600"/>
            <a:ext cx="349758" cy="349758"/>
          </a:xfrm>
          <a:prstGeom prst="ellipse">
            <a:avLst/>
          </a:prstGeom>
          <a:solidFill>
            <a:srgbClr val="FFFFFF"/>
          </a:solidFill>
          <a:ln w="15875">
            <a:solidFill>
              <a:srgbClr val="111111"/>
            </a:solidFill>
            <a:prstDash val="solid"/>
          </a:ln>
        </p:spPr>
      </p:sp>
      <p:pic>
        <p:nvPicPr>
          <p:cNvPr id="15" name="icon_97" descr="pi:PiUsersThree">    </p:cNvPr>
          <p:cNvPicPr>
            <a:picLocks noChangeAspect="1"/>
          </p:cNvPicPr>
          <p:nvPr/>
        </p:nvPicPr>
        <p:blipFill>
          <a:blip r:embed="rId3"/>
          <a:stretch>
            <a:fillRect/>
          </a:stretch>
        </p:blipFill>
        <p:spPr>
          <a:xfrm>
            <a:off x="2858872" y="1441552"/>
            <a:ext cx="209855" cy="209855"/>
          </a:xfrm>
          <a:prstGeom prst="rect">
            <a:avLst/>
          </a:prstGeom>
        </p:spPr>
      </p:pic>
      <p:sp>
        <p:nvSpPr>
          <p:cNvPr id="16" name="box_98"/>
          <p:cNvSpPr txBox="1"/>
          <p:nvPr/>
        </p:nvSpPr>
        <p:spPr>
          <a:xfrm>
            <a:off x="3193542" y="1371600"/>
            <a:ext cx="3457804" cy="349758"/>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1  all the people who act in a film</a:t>
            </a:r>
            <a:endParaRPr lang="en-US" sz="1200" dirty="0"/>
          </a:p>
        </p:txBody>
      </p:sp>
      <p:sp>
        <p:nvSpPr>
          <p:cNvPr id="17" name="R1_m0"/>
          <p:cNvSpPr txBox="1"/>
          <p:nvPr/>
        </p:nvSpPr>
        <p:spPr>
          <a:xfrm>
            <a:off x="6724498" y="1389888"/>
            <a:ext cx="2099462" cy="313182"/>
          </a:xfrm>
          <a:prstGeom prst="roundRect">
            <a:avLst>
              <a:gd name="adj" fmla="val 17518"/>
            </a:avLst>
          </a:prstGeom>
          <a:solidFill>
            <a:srgbClr val="FFFFFF"/>
          </a:solidFill>
          <a:ln w="38100">
            <a:solidFill>
              <a:srgbClr val="1FA463"/>
            </a:solidFill>
          </a:ln>
        </p:spPr>
        <p:txBody>
          <a:bodyPr wrap="square" lIns="25400" tIns="25400" rIns="25400" bIns="25400" rtlCol="0" anchor="ctr"/>
          <a:lstStyle/>
          <a:p>
            <a:pPr algn="ctr" indent="0" marL="0">
              <a:buNone/>
            </a:pPr>
            <a:r>
              <a:rPr lang="en-US" sz="1400" dirty="0">
                <a:solidFill>
                  <a:srgbClr val="111111"/>
                </a:solidFill>
                <a:latin typeface="Calibri" pitchFamily="34" charset="0"/>
                <a:ea typeface="Calibri" pitchFamily="34" charset="-122"/>
                <a:cs typeface="Calibri" pitchFamily="34" charset="-120"/>
              </a:rPr>
              <a:t>the cast</a:t>
            </a:r>
            <a:endParaRPr lang="en-US" sz="1400" dirty="0"/>
          </a:p>
        </p:txBody>
      </p:sp>
      <p:sp>
        <p:nvSpPr>
          <p:cNvPr id="18" name="iconBack_99"/>
          <p:cNvSpPr/>
          <p:nvPr/>
        </p:nvSpPr>
        <p:spPr>
          <a:xfrm>
            <a:off x="2788920" y="1794510"/>
            <a:ext cx="349758" cy="349758"/>
          </a:xfrm>
          <a:prstGeom prst="ellipse">
            <a:avLst/>
          </a:prstGeom>
          <a:solidFill>
            <a:srgbClr val="FFFFFF"/>
          </a:solidFill>
          <a:ln w="15875">
            <a:solidFill>
              <a:srgbClr val="111111"/>
            </a:solidFill>
            <a:prstDash val="solid"/>
          </a:ln>
        </p:spPr>
      </p:sp>
      <p:pic>
        <p:nvPicPr>
          <p:cNvPr id="19" name="icon_100" descr="pi:PiMusicNotes">    </p:cNvPr>
          <p:cNvPicPr>
            <a:picLocks noChangeAspect="1"/>
          </p:cNvPicPr>
          <p:nvPr/>
        </p:nvPicPr>
        <p:blipFill>
          <a:blip r:embed="rId4"/>
          <a:stretch>
            <a:fillRect/>
          </a:stretch>
        </p:blipFill>
        <p:spPr>
          <a:xfrm>
            <a:off x="2858872" y="1864462"/>
            <a:ext cx="209855" cy="209855"/>
          </a:xfrm>
          <a:prstGeom prst="rect">
            <a:avLst/>
          </a:prstGeom>
        </p:spPr>
      </p:pic>
      <p:sp>
        <p:nvSpPr>
          <p:cNvPr id="20" name="box_101"/>
          <p:cNvSpPr txBox="1"/>
          <p:nvPr/>
        </p:nvSpPr>
        <p:spPr>
          <a:xfrm>
            <a:off x="3193542" y="1794510"/>
            <a:ext cx="3457804" cy="349758"/>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2  the music of a film</a:t>
            </a:r>
            <a:endParaRPr lang="en-US" sz="1200" dirty="0"/>
          </a:p>
        </p:txBody>
      </p:sp>
      <p:sp>
        <p:nvSpPr>
          <p:cNvPr id="21" name="R1_m1"/>
          <p:cNvSpPr txBox="1"/>
          <p:nvPr/>
        </p:nvSpPr>
        <p:spPr>
          <a:xfrm>
            <a:off x="6724498" y="1812798"/>
            <a:ext cx="2099462" cy="313182"/>
          </a:xfrm>
          <a:prstGeom prst="roundRect">
            <a:avLst>
              <a:gd name="adj" fmla="val 17518"/>
            </a:avLst>
          </a:prstGeom>
          <a:solidFill>
            <a:srgbClr val="FFFFFF"/>
          </a:solidFill>
          <a:ln w="38100">
            <a:solidFill>
              <a:srgbClr val="1FA463"/>
            </a:solidFill>
          </a:ln>
        </p:spPr>
        <p:txBody>
          <a:bodyPr wrap="square" lIns="25400" tIns="25400" rIns="25400" bIns="25400" rtlCol="0" anchor="ctr"/>
          <a:lstStyle/>
          <a:p>
            <a:pPr algn="ctr" indent="0" marL="0">
              <a:buNone/>
            </a:pPr>
            <a:r>
              <a:rPr lang="en-US" sz="1400" dirty="0">
                <a:solidFill>
                  <a:srgbClr val="111111"/>
                </a:solidFill>
                <a:latin typeface="Calibri" pitchFamily="34" charset="0"/>
                <a:ea typeface="Calibri" pitchFamily="34" charset="-122"/>
                <a:cs typeface="Calibri" pitchFamily="34" charset="-120"/>
              </a:rPr>
              <a:t>the soundtrack</a:t>
            </a:r>
            <a:endParaRPr lang="en-US" sz="1400" dirty="0"/>
          </a:p>
        </p:txBody>
      </p:sp>
      <p:sp>
        <p:nvSpPr>
          <p:cNvPr id="22" name="iconBack_102"/>
          <p:cNvSpPr/>
          <p:nvPr/>
        </p:nvSpPr>
        <p:spPr>
          <a:xfrm>
            <a:off x="2788920" y="2217420"/>
            <a:ext cx="349758" cy="349758"/>
          </a:xfrm>
          <a:prstGeom prst="ellipse">
            <a:avLst/>
          </a:prstGeom>
          <a:solidFill>
            <a:srgbClr val="FFFFFF"/>
          </a:solidFill>
          <a:ln w="15875">
            <a:solidFill>
              <a:srgbClr val="111111"/>
            </a:solidFill>
            <a:prstDash val="solid"/>
          </a:ln>
        </p:spPr>
      </p:sp>
      <p:pic>
        <p:nvPicPr>
          <p:cNvPr id="23" name="icon_103" descr="pi:PiBookOpen">    </p:cNvPr>
          <p:cNvPicPr>
            <a:picLocks noChangeAspect="1"/>
          </p:cNvPicPr>
          <p:nvPr/>
        </p:nvPicPr>
        <p:blipFill>
          <a:blip r:embed="rId5"/>
          <a:stretch>
            <a:fillRect/>
          </a:stretch>
        </p:blipFill>
        <p:spPr>
          <a:xfrm>
            <a:off x="2858872" y="2287372"/>
            <a:ext cx="209855" cy="209855"/>
          </a:xfrm>
          <a:prstGeom prst="rect">
            <a:avLst/>
          </a:prstGeom>
        </p:spPr>
      </p:pic>
      <p:sp>
        <p:nvSpPr>
          <p:cNvPr id="24" name="box_104"/>
          <p:cNvSpPr txBox="1"/>
          <p:nvPr/>
        </p:nvSpPr>
        <p:spPr>
          <a:xfrm>
            <a:off x="3193542" y="2217420"/>
            <a:ext cx="3457804" cy="349758"/>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3  the story of a film</a:t>
            </a:r>
            <a:endParaRPr lang="en-US" sz="1200" dirty="0"/>
          </a:p>
        </p:txBody>
      </p:sp>
      <p:sp>
        <p:nvSpPr>
          <p:cNvPr id="25" name="R1_m2"/>
          <p:cNvSpPr txBox="1"/>
          <p:nvPr/>
        </p:nvSpPr>
        <p:spPr>
          <a:xfrm>
            <a:off x="6724498" y="2235708"/>
            <a:ext cx="2099462" cy="313182"/>
          </a:xfrm>
          <a:prstGeom prst="roundRect">
            <a:avLst>
              <a:gd name="adj" fmla="val 17518"/>
            </a:avLst>
          </a:prstGeom>
          <a:solidFill>
            <a:srgbClr val="FFFFFF"/>
          </a:solidFill>
          <a:ln w="38100">
            <a:solidFill>
              <a:srgbClr val="1FA463"/>
            </a:solidFill>
          </a:ln>
        </p:spPr>
        <p:txBody>
          <a:bodyPr wrap="square" lIns="25400" tIns="25400" rIns="25400" bIns="25400" rtlCol="0" anchor="ctr"/>
          <a:lstStyle/>
          <a:p>
            <a:pPr algn="ctr" indent="0" marL="0">
              <a:buNone/>
            </a:pPr>
            <a:r>
              <a:rPr lang="en-US" sz="1400" dirty="0">
                <a:solidFill>
                  <a:srgbClr val="111111"/>
                </a:solidFill>
                <a:latin typeface="Calibri" pitchFamily="34" charset="0"/>
                <a:ea typeface="Calibri" pitchFamily="34" charset="-122"/>
                <a:cs typeface="Calibri" pitchFamily="34" charset="-120"/>
              </a:rPr>
              <a:t>the plot</a:t>
            </a:r>
            <a:endParaRPr lang="en-US" sz="1400" dirty="0"/>
          </a:p>
        </p:txBody>
      </p:sp>
      <p:sp>
        <p:nvSpPr>
          <p:cNvPr id="26" name="iconBack_105"/>
          <p:cNvSpPr/>
          <p:nvPr/>
        </p:nvSpPr>
        <p:spPr>
          <a:xfrm>
            <a:off x="2788920" y="2640330"/>
            <a:ext cx="349758" cy="349758"/>
          </a:xfrm>
          <a:prstGeom prst="ellipse">
            <a:avLst/>
          </a:prstGeom>
          <a:solidFill>
            <a:srgbClr val="FFFFFF"/>
          </a:solidFill>
          <a:ln w="15875">
            <a:solidFill>
              <a:srgbClr val="111111"/>
            </a:solidFill>
            <a:prstDash val="solid"/>
          </a:ln>
        </p:spPr>
      </p:sp>
      <p:pic>
        <p:nvPicPr>
          <p:cNvPr id="27" name="icon_106" descr="pi:PiFilmStrip">    </p:cNvPr>
          <p:cNvPicPr>
            <a:picLocks noChangeAspect="1"/>
          </p:cNvPicPr>
          <p:nvPr/>
        </p:nvPicPr>
        <p:blipFill>
          <a:blip r:embed="rId6"/>
          <a:stretch>
            <a:fillRect/>
          </a:stretch>
        </p:blipFill>
        <p:spPr>
          <a:xfrm>
            <a:off x="2858872" y="2710282"/>
            <a:ext cx="209855" cy="209855"/>
          </a:xfrm>
          <a:prstGeom prst="rect">
            <a:avLst/>
          </a:prstGeom>
        </p:spPr>
      </p:pic>
      <p:sp>
        <p:nvSpPr>
          <p:cNvPr id="28" name="box_107"/>
          <p:cNvSpPr txBox="1"/>
          <p:nvPr/>
        </p:nvSpPr>
        <p:spPr>
          <a:xfrm>
            <a:off x="3193542" y="2640330"/>
            <a:ext cx="3457804" cy="349758"/>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4  a film which continues the story of an earlier film</a:t>
            </a:r>
            <a:endParaRPr lang="en-US" sz="1100" dirty="0"/>
          </a:p>
        </p:txBody>
      </p:sp>
      <p:sp>
        <p:nvSpPr>
          <p:cNvPr id="29" name="R1_m3"/>
          <p:cNvSpPr txBox="1"/>
          <p:nvPr/>
        </p:nvSpPr>
        <p:spPr>
          <a:xfrm>
            <a:off x="6724498" y="2658618"/>
            <a:ext cx="2099462" cy="313182"/>
          </a:xfrm>
          <a:prstGeom prst="roundRect">
            <a:avLst>
              <a:gd name="adj" fmla="val 17518"/>
            </a:avLst>
          </a:prstGeom>
          <a:solidFill>
            <a:srgbClr val="FFFFFF"/>
          </a:solidFill>
          <a:ln w="38100">
            <a:solidFill>
              <a:srgbClr val="1FA463"/>
            </a:solidFill>
          </a:ln>
        </p:spPr>
        <p:txBody>
          <a:bodyPr wrap="square" lIns="25400" tIns="25400" rIns="25400" bIns="25400" rtlCol="0" anchor="ctr"/>
          <a:lstStyle/>
          <a:p>
            <a:pPr algn="ctr" indent="0" marL="0">
              <a:buNone/>
            </a:pPr>
            <a:r>
              <a:rPr lang="en-US" sz="1400" dirty="0">
                <a:solidFill>
                  <a:srgbClr val="111111"/>
                </a:solidFill>
                <a:latin typeface="Calibri" pitchFamily="34" charset="0"/>
                <a:ea typeface="Calibri" pitchFamily="34" charset="-122"/>
                <a:cs typeface="Calibri" pitchFamily="34" charset="-120"/>
              </a:rPr>
              <a:t>a sequel /ˈsiːkwəl/</a:t>
            </a:r>
            <a:endParaRPr lang="en-US" sz="1400" dirty="0"/>
          </a:p>
        </p:txBody>
      </p:sp>
      <p:sp>
        <p:nvSpPr>
          <p:cNvPr id="30" name="iconBack_108"/>
          <p:cNvSpPr/>
          <p:nvPr/>
        </p:nvSpPr>
        <p:spPr>
          <a:xfrm>
            <a:off x="2788920" y="3063240"/>
            <a:ext cx="349758" cy="349758"/>
          </a:xfrm>
          <a:prstGeom prst="ellipse">
            <a:avLst/>
          </a:prstGeom>
          <a:solidFill>
            <a:srgbClr val="FFFFFF"/>
          </a:solidFill>
          <a:ln w="15875">
            <a:solidFill>
              <a:srgbClr val="111111"/>
            </a:solidFill>
            <a:prstDash val="solid"/>
          </a:ln>
        </p:spPr>
      </p:sp>
      <p:pic>
        <p:nvPicPr>
          <p:cNvPr id="31" name="icon_109" descr="pi:PiUsers">    </p:cNvPr>
          <p:cNvPicPr>
            <a:picLocks noChangeAspect="1"/>
          </p:cNvPicPr>
          <p:nvPr/>
        </p:nvPicPr>
        <p:blipFill>
          <a:blip r:embed="rId7"/>
          <a:stretch>
            <a:fillRect/>
          </a:stretch>
        </p:blipFill>
        <p:spPr>
          <a:xfrm>
            <a:off x="2858872" y="3133192"/>
            <a:ext cx="209855" cy="209855"/>
          </a:xfrm>
          <a:prstGeom prst="rect">
            <a:avLst/>
          </a:prstGeom>
        </p:spPr>
      </p:pic>
      <p:sp>
        <p:nvSpPr>
          <p:cNvPr id="32" name="box_110"/>
          <p:cNvSpPr txBox="1"/>
          <p:nvPr/>
        </p:nvSpPr>
        <p:spPr>
          <a:xfrm>
            <a:off x="3193542" y="3063240"/>
            <a:ext cx="3457804" cy="349758"/>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000" dirty="0">
                <a:solidFill>
                  <a:srgbClr val="111111"/>
                </a:solidFill>
                <a:latin typeface="Calibri" pitchFamily="34" charset="0"/>
                <a:ea typeface="Calibri" pitchFamily="34" charset="-122"/>
                <a:cs typeface="Calibri" pitchFamily="34" charset="-120"/>
              </a:rPr>
              <a:t>5  a person who plays a very small part, e.g. in a crowd</a:t>
            </a:r>
            <a:endParaRPr lang="en-US" sz="1000" dirty="0"/>
          </a:p>
        </p:txBody>
      </p:sp>
      <p:sp>
        <p:nvSpPr>
          <p:cNvPr id="33" name="R1_m4"/>
          <p:cNvSpPr txBox="1"/>
          <p:nvPr/>
        </p:nvSpPr>
        <p:spPr>
          <a:xfrm>
            <a:off x="6724498" y="3081528"/>
            <a:ext cx="2099462" cy="313182"/>
          </a:xfrm>
          <a:prstGeom prst="roundRect">
            <a:avLst>
              <a:gd name="adj" fmla="val 17518"/>
            </a:avLst>
          </a:prstGeom>
          <a:solidFill>
            <a:srgbClr val="FFFFFF"/>
          </a:solidFill>
          <a:ln w="38100">
            <a:solidFill>
              <a:srgbClr val="1FA463"/>
            </a:solidFill>
          </a:ln>
        </p:spPr>
        <p:txBody>
          <a:bodyPr wrap="square" lIns="25400" tIns="25400" rIns="25400" bIns="25400" rtlCol="0" anchor="ctr"/>
          <a:lstStyle/>
          <a:p>
            <a:pPr algn="ctr" indent="0" marL="0">
              <a:buNone/>
            </a:pPr>
            <a:r>
              <a:rPr lang="en-US" sz="1400" dirty="0">
                <a:solidFill>
                  <a:srgbClr val="111111"/>
                </a:solidFill>
                <a:latin typeface="Calibri" pitchFamily="34" charset="0"/>
                <a:ea typeface="Calibri" pitchFamily="34" charset="-122"/>
                <a:cs typeface="Calibri" pitchFamily="34" charset="-120"/>
              </a:rPr>
              <a:t>an extra</a:t>
            </a:r>
            <a:endParaRPr lang="en-US" sz="1400" dirty="0"/>
          </a:p>
        </p:txBody>
      </p:sp>
      <p:sp>
        <p:nvSpPr>
          <p:cNvPr id="34" name="iconBack_111"/>
          <p:cNvSpPr/>
          <p:nvPr/>
        </p:nvSpPr>
        <p:spPr>
          <a:xfrm>
            <a:off x="2788920" y="3486150"/>
            <a:ext cx="349758" cy="349758"/>
          </a:xfrm>
          <a:prstGeom prst="ellipse">
            <a:avLst/>
          </a:prstGeom>
          <a:solidFill>
            <a:srgbClr val="FFFFFF"/>
          </a:solidFill>
          <a:ln w="15875">
            <a:solidFill>
              <a:srgbClr val="111111"/>
            </a:solidFill>
            <a:prstDash val="solid"/>
          </a:ln>
        </p:spPr>
      </p:sp>
      <p:pic>
        <p:nvPicPr>
          <p:cNvPr id="35" name="icon_112" descr="pi:PiSubtitles">    </p:cNvPr>
          <p:cNvPicPr>
            <a:picLocks noChangeAspect="1"/>
          </p:cNvPicPr>
          <p:nvPr/>
        </p:nvPicPr>
        <p:blipFill>
          <a:blip r:embed="rId8"/>
          <a:stretch>
            <a:fillRect/>
          </a:stretch>
        </p:blipFill>
        <p:spPr>
          <a:xfrm>
            <a:off x="2858872" y="3556102"/>
            <a:ext cx="209855" cy="209855"/>
          </a:xfrm>
          <a:prstGeom prst="rect">
            <a:avLst/>
          </a:prstGeom>
        </p:spPr>
      </p:pic>
      <p:sp>
        <p:nvSpPr>
          <p:cNvPr id="36" name="box_113"/>
          <p:cNvSpPr txBox="1"/>
          <p:nvPr/>
        </p:nvSpPr>
        <p:spPr>
          <a:xfrm>
            <a:off x="3193542" y="3486150"/>
            <a:ext cx="3457804" cy="349758"/>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6  the translation of the dialogue on the screen</a:t>
            </a:r>
            <a:endParaRPr lang="en-US" sz="1200" dirty="0"/>
          </a:p>
        </p:txBody>
      </p:sp>
      <p:sp>
        <p:nvSpPr>
          <p:cNvPr id="37" name="R1_m5"/>
          <p:cNvSpPr txBox="1"/>
          <p:nvPr/>
        </p:nvSpPr>
        <p:spPr>
          <a:xfrm>
            <a:off x="6724498" y="3504438"/>
            <a:ext cx="2099462" cy="313182"/>
          </a:xfrm>
          <a:prstGeom prst="roundRect">
            <a:avLst>
              <a:gd name="adj" fmla="val 17518"/>
            </a:avLst>
          </a:prstGeom>
          <a:solidFill>
            <a:srgbClr val="FFFFFF"/>
          </a:solidFill>
          <a:ln w="38100">
            <a:solidFill>
              <a:srgbClr val="1FA463"/>
            </a:solidFill>
          </a:ln>
        </p:spPr>
        <p:txBody>
          <a:bodyPr wrap="square" lIns="25400" tIns="25400" rIns="25400" bIns="25400" rtlCol="0" anchor="ctr"/>
          <a:lstStyle/>
          <a:p>
            <a:pPr algn="ctr" indent="0" marL="0">
              <a:buNone/>
            </a:pPr>
            <a:r>
              <a:rPr lang="en-US" sz="1400" dirty="0">
                <a:solidFill>
                  <a:srgbClr val="111111"/>
                </a:solidFill>
                <a:latin typeface="Calibri" pitchFamily="34" charset="0"/>
                <a:ea typeface="Calibri" pitchFamily="34" charset="-122"/>
                <a:cs typeface="Calibri" pitchFamily="34" charset="-120"/>
              </a:rPr>
              <a:t>subtitles /ˈsʌbtaɪtlz/</a:t>
            </a:r>
            <a:endParaRPr lang="en-US" sz="1400" dirty="0"/>
          </a:p>
        </p:txBody>
      </p:sp>
      <p:sp>
        <p:nvSpPr>
          <p:cNvPr id="38" name="iconBack_114"/>
          <p:cNvSpPr/>
          <p:nvPr/>
        </p:nvSpPr>
        <p:spPr>
          <a:xfrm>
            <a:off x="2788920" y="3909060"/>
            <a:ext cx="349758" cy="349758"/>
          </a:xfrm>
          <a:prstGeom prst="ellipse">
            <a:avLst/>
          </a:prstGeom>
          <a:solidFill>
            <a:srgbClr val="FFFFFF"/>
          </a:solidFill>
          <a:ln w="15875">
            <a:solidFill>
              <a:srgbClr val="111111"/>
            </a:solidFill>
            <a:prstDash val="solid"/>
          </a:ln>
        </p:spPr>
      </p:sp>
      <p:pic>
        <p:nvPicPr>
          <p:cNvPr id="39" name="icon_115" descr="pi:PiVideoCamera">    </p:cNvPr>
          <p:cNvPicPr>
            <a:picLocks noChangeAspect="1"/>
          </p:cNvPicPr>
          <p:nvPr/>
        </p:nvPicPr>
        <p:blipFill>
          <a:blip r:embed="rId9"/>
          <a:stretch>
            <a:fillRect/>
          </a:stretch>
        </p:blipFill>
        <p:spPr>
          <a:xfrm>
            <a:off x="2858872" y="3979012"/>
            <a:ext cx="209855" cy="209855"/>
          </a:xfrm>
          <a:prstGeom prst="rect">
            <a:avLst/>
          </a:prstGeom>
        </p:spPr>
      </p:pic>
      <p:sp>
        <p:nvSpPr>
          <p:cNvPr id="40" name="box_116"/>
          <p:cNvSpPr txBox="1"/>
          <p:nvPr/>
        </p:nvSpPr>
        <p:spPr>
          <a:xfrm>
            <a:off x="3193542" y="3909060"/>
            <a:ext cx="3457804" cy="349758"/>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050" dirty="0">
                <a:solidFill>
                  <a:srgbClr val="111111"/>
                </a:solidFill>
                <a:latin typeface="Calibri" pitchFamily="34" charset="0"/>
                <a:ea typeface="Calibri" pitchFamily="34" charset="-122"/>
                <a:cs typeface="Calibri" pitchFamily="34" charset="-120"/>
              </a:rPr>
              <a:t>7  short scenes shown in advance to advertise a film</a:t>
            </a:r>
            <a:endParaRPr lang="en-US" sz="1050" dirty="0"/>
          </a:p>
        </p:txBody>
      </p:sp>
      <p:sp>
        <p:nvSpPr>
          <p:cNvPr id="41" name="R1_m6"/>
          <p:cNvSpPr txBox="1"/>
          <p:nvPr/>
        </p:nvSpPr>
        <p:spPr>
          <a:xfrm>
            <a:off x="6724498" y="3927348"/>
            <a:ext cx="2099462" cy="313182"/>
          </a:xfrm>
          <a:prstGeom prst="roundRect">
            <a:avLst>
              <a:gd name="adj" fmla="val 17518"/>
            </a:avLst>
          </a:prstGeom>
          <a:solidFill>
            <a:srgbClr val="FFFFFF"/>
          </a:solidFill>
          <a:ln w="38100">
            <a:solidFill>
              <a:srgbClr val="1FA463"/>
            </a:solidFill>
          </a:ln>
        </p:spPr>
        <p:txBody>
          <a:bodyPr wrap="square" lIns="25400" tIns="25400" rIns="25400" bIns="25400" rtlCol="0" anchor="ctr"/>
          <a:lstStyle/>
          <a:p>
            <a:pPr algn="ctr" indent="0" marL="0">
              <a:buNone/>
            </a:pPr>
            <a:r>
              <a:rPr lang="en-US" sz="1400" dirty="0">
                <a:solidFill>
                  <a:srgbClr val="111111"/>
                </a:solidFill>
                <a:latin typeface="Calibri" pitchFamily="34" charset="0"/>
                <a:ea typeface="Calibri" pitchFamily="34" charset="-122"/>
                <a:cs typeface="Calibri" pitchFamily="34" charset="-120"/>
              </a:rPr>
              <a:t>a trailer</a:t>
            </a:r>
            <a:endParaRPr lang="en-US" sz="1400" dirty="0"/>
          </a:p>
        </p:txBody>
      </p:sp>
      <p:sp>
        <p:nvSpPr>
          <p:cNvPr id="42" name="iconBack_117"/>
          <p:cNvSpPr/>
          <p:nvPr/>
        </p:nvSpPr>
        <p:spPr>
          <a:xfrm>
            <a:off x="2788920" y="4331970"/>
            <a:ext cx="349758" cy="349758"/>
          </a:xfrm>
          <a:prstGeom prst="ellipse">
            <a:avLst/>
          </a:prstGeom>
          <a:solidFill>
            <a:srgbClr val="FFFFFF"/>
          </a:solidFill>
          <a:ln w="15875">
            <a:solidFill>
              <a:srgbClr val="111111"/>
            </a:solidFill>
            <a:prstDash val="solid"/>
          </a:ln>
        </p:spPr>
      </p:sp>
      <p:pic>
        <p:nvPicPr>
          <p:cNvPr id="43" name="icon_118" descr="pi:PiNewspaper">    </p:cNvPr>
          <p:cNvPicPr>
            <a:picLocks noChangeAspect="1"/>
          </p:cNvPicPr>
          <p:nvPr/>
        </p:nvPicPr>
        <p:blipFill>
          <a:blip r:embed="rId10"/>
          <a:stretch>
            <a:fillRect/>
          </a:stretch>
        </p:blipFill>
        <p:spPr>
          <a:xfrm>
            <a:off x="2858872" y="4401922"/>
            <a:ext cx="209855" cy="209855"/>
          </a:xfrm>
          <a:prstGeom prst="rect">
            <a:avLst/>
          </a:prstGeom>
        </p:spPr>
      </p:pic>
      <p:sp>
        <p:nvSpPr>
          <p:cNvPr id="44" name="box_119"/>
          <p:cNvSpPr txBox="1"/>
          <p:nvPr/>
        </p:nvSpPr>
        <p:spPr>
          <a:xfrm>
            <a:off x="3193542" y="4331970"/>
            <a:ext cx="3457804" cy="349758"/>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8  a person who writes film reviews</a:t>
            </a:r>
            <a:endParaRPr lang="en-US" sz="1200" dirty="0"/>
          </a:p>
        </p:txBody>
      </p:sp>
      <p:sp>
        <p:nvSpPr>
          <p:cNvPr id="45" name="R1_m7"/>
          <p:cNvSpPr txBox="1"/>
          <p:nvPr/>
        </p:nvSpPr>
        <p:spPr>
          <a:xfrm>
            <a:off x="6724498" y="4350258"/>
            <a:ext cx="2099462" cy="313182"/>
          </a:xfrm>
          <a:prstGeom prst="roundRect">
            <a:avLst>
              <a:gd name="adj" fmla="val 17518"/>
            </a:avLst>
          </a:prstGeom>
          <a:solidFill>
            <a:srgbClr val="FFFFFF"/>
          </a:solidFill>
          <a:ln w="38100">
            <a:solidFill>
              <a:srgbClr val="1FA463"/>
            </a:solidFill>
          </a:ln>
        </p:spPr>
        <p:txBody>
          <a:bodyPr wrap="square" lIns="25400" tIns="25400" rIns="25400" bIns="25400" rtlCol="0" anchor="ctr"/>
          <a:lstStyle/>
          <a:p>
            <a:pPr algn="ctr" indent="0" marL="0">
              <a:buNone/>
            </a:pPr>
            <a:r>
              <a:rPr lang="en-US" sz="1400" dirty="0">
                <a:solidFill>
                  <a:srgbClr val="111111"/>
                </a:solidFill>
                <a:latin typeface="Calibri" pitchFamily="34" charset="0"/>
                <a:ea typeface="Calibri" pitchFamily="34" charset="-122"/>
                <a:cs typeface="Calibri" pitchFamily="34" charset="-120"/>
              </a:rPr>
              <a:t>a critic</a:t>
            </a:r>
            <a:endParaRPr lang="en-US" sz="1400" dirty="0"/>
          </a:p>
        </p:txBody>
      </p:sp>
      <p:sp>
        <p:nvSpPr>
          <p:cNvPr id="46" name="pageTag_120"/>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Vocabulary Bank Cinema p.159 · 2 People and things, 3 Verbs · audio 6.5, 6.6</a:t>
            </a:r>
            <a:endParaRPr lang="en-US" sz="1050" dirty="0"/>
          </a:p>
        </p:txBody>
      </p:sp>
      <p:pic>
        <p:nvPicPr>
          <p:cNvPr id="47" name="Media 0">
            <a:hlinkClick r:id="" action="ppaction://media"/>
          </p:cNvPr>
          <p:cNvPicPr>
            <a:picLocks noChangeAspect="1"/>
          </p:cNvPicPr>
          <p:nvPr>
            <a:audioFile r:link="rId11"/>
            <p:extLst>
              <p:ext uri="{DAA4B4D4-6D71-4841-9C94-3DE7FCFB9230}">
                <p14:media xmlns:p14="http://schemas.microsoft.com/office/powerpoint/2010/main" r:embed="rId12"/>
              </p:ext>
            </p:extLst>
          </p:nvPr>
        </p:nvPicPr>
        <p:blipFill>
          <a:blip r:embed="rId13"/>
          <a:stretch>
            <a:fillRect/>
          </a:stretch>
        </p:blipFill>
        <p:spPr>
          <a:xfrm>
            <a:off x="5166360" y="155448"/>
            <a:ext cx="384048" cy="384048"/>
          </a:xfrm>
          <a:prstGeom prst="rect">
            <a:avLst/>
          </a:prstGeom>
        </p:spPr>
      </p:pic>
      <p:sp>
        <p:nvSpPr>
          <p:cNvPr id="48" name="atr_121"/>
          <p:cNvSpPr txBox="1"/>
          <p:nvPr/>
        </p:nvSpPr>
        <p:spPr>
          <a:xfrm>
            <a:off x="5120640" y="530352"/>
            <a:ext cx="475488" cy="164592"/>
          </a:xfrm>
          <a:prstGeom prst="rect">
            <a:avLst/>
          </a:prstGeom>
          <a:noFill/>
          <a:ln/>
        </p:spPr>
        <p:txBody>
          <a:bodyPr wrap="square" lIns="0" tIns="0" rIns="0" bIns="0" rtlCol="0" anchor="ctr"/>
          <a:lstStyle/>
          <a:p>
            <a:pPr algn="ctr" indent="0" marL="0">
              <a:buNone/>
            </a:pPr>
            <a:r>
              <a:rPr lang="en-US" sz="800" b="1" dirty="0">
                <a:solidFill>
                  <a:srgbClr val="062F67"/>
                </a:solidFill>
                <a:latin typeface="Calibri" pitchFamily="34" charset="0"/>
                <a:ea typeface="Calibri" pitchFamily="34" charset="-122"/>
                <a:cs typeface="Calibri" pitchFamily="34" charset="-120"/>
              </a:rPr>
              <a:t>6.5</a:t>
            </a:r>
            <a:endParaRPr lang="en-US" sz="800" dirty="0"/>
          </a:p>
        </p:txBody>
      </p:sp>
      <p:pic>
        <p:nvPicPr>
          <p:cNvPr id="49" name="Media 1">
            <a:hlinkClick r:id="" action="ppaction://media"/>
          </p:cNvPr>
          <p:cNvPicPr>
            <a:picLocks noChangeAspect="1"/>
          </p:cNvPicPr>
          <p:nvPr>
            <a:audioFile r:link="rId14"/>
            <p:extLst>
              <p:ext uri="{DAA4B4D4-6D71-4841-9C94-3DE7FCFB9230}">
                <p14:media xmlns:p14="http://schemas.microsoft.com/office/powerpoint/2010/main" r:embed="rId15"/>
              </p:ext>
            </p:extLst>
          </p:nvPr>
        </p:nvPicPr>
        <p:blipFill>
          <a:blip r:embed="rId16"/>
          <a:stretch>
            <a:fillRect/>
          </a:stretch>
        </p:blipFill>
        <p:spPr>
          <a:xfrm>
            <a:off x="5641848" y="155448"/>
            <a:ext cx="384048" cy="384048"/>
          </a:xfrm>
          <a:prstGeom prst="rect">
            <a:avLst/>
          </a:prstGeom>
        </p:spPr>
      </p:pic>
      <p:sp>
        <p:nvSpPr>
          <p:cNvPr id="50" name="atr_122"/>
          <p:cNvSpPr txBox="1"/>
          <p:nvPr/>
        </p:nvSpPr>
        <p:spPr>
          <a:xfrm>
            <a:off x="5596128" y="530352"/>
            <a:ext cx="475488" cy="164592"/>
          </a:xfrm>
          <a:prstGeom prst="rect">
            <a:avLst/>
          </a:prstGeom>
          <a:noFill/>
          <a:ln/>
        </p:spPr>
        <p:txBody>
          <a:bodyPr wrap="square" lIns="0" tIns="0" rIns="0" bIns="0" rtlCol="0" anchor="ctr"/>
          <a:lstStyle/>
          <a:p>
            <a:pPr algn="ctr" indent="0" marL="0">
              <a:buNone/>
            </a:pPr>
            <a:r>
              <a:rPr lang="en-US" sz="800" b="1" dirty="0">
                <a:solidFill>
                  <a:srgbClr val="062F67"/>
                </a:solidFill>
                <a:latin typeface="Calibri" pitchFamily="34" charset="0"/>
                <a:ea typeface="Calibri" pitchFamily="34" charset="-122"/>
                <a:cs typeface="Calibri" pitchFamily="34" charset="-120"/>
              </a:rPr>
              <a:t>6.6</a:t>
            </a:r>
            <a:endParaRPr lang="en-US" sz="8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00"/>
                                        <p:tgtEl>
                                          <p:spTgt spid="17"/>
                                        </p:tgtEl>
                                      </p:cBhvr>
                                    </p:animEffect>
                                  </p:childTnLst>
                                </p:cTn>
                              </p:par>
                              <p:par>
                                <p:cTn id="8" presetID="10" presetClass="entr" presetSubtype="0" fill="hold"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400"/>
                                        <p:tgtEl>
                                          <p:spTgt spid="21"/>
                                        </p:tgtEl>
                                      </p:cBhvr>
                                    </p:animEffect>
                                  </p:childTnLst>
                                </p:cTn>
                              </p:par>
                              <p:par>
                                <p:cTn id="11" presetID="10" presetClass="entr" presetSubtype="0" fill="hold" nodeType="withEffect">
                                  <p:stCondLst>
                                    <p:cond delay="0"/>
                                  </p:stCondLst>
                                  <p:childTnLst>
                                    <p:set>
                                      <p:cBhvr>
                                        <p:cTn id="12" dur="1" fill="hold">
                                          <p:stCondLst>
                                            <p:cond delay="0"/>
                                          </p:stCondLst>
                                        </p:cTn>
                                        <p:tgtEl>
                                          <p:spTgt spid="25"/>
                                        </p:tgtEl>
                                        <p:attrNameLst>
                                          <p:attrName>style.visibility</p:attrName>
                                        </p:attrNameLst>
                                      </p:cBhvr>
                                      <p:to>
                                        <p:strVal val="visible"/>
                                      </p:to>
                                    </p:set>
                                    <p:animEffect transition="in" filter="fade">
                                      <p:cBhvr>
                                        <p:cTn id="13" dur="400"/>
                                        <p:tgtEl>
                                          <p:spTgt spid="25"/>
                                        </p:tgtEl>
                                      </p:cBhvr>
                                    </p:animEffect>
                                  </p:childTnLst>
                                </p:cTn>
                              </p:par>
                              <p:par>
                                <p:cTn id="14" presetID="10" presetClass="entr" presetSubtype="0" fill="hold" nodeType="withEffect">
                                  <p:stCondLst>
                                    <p:cond delay="0"/>
                                  </p:stCondLst>
                                  <p:childTnLst>
                                    <p:set>
                                      <p:cBhvr>
                                        <p:cTn id="15" dur="1" fill="hold">
                                          <p:stCondLst>
                                            <p:cond delay="0"/>
                                          </p:stCondLst>
                                        </p:cTn>
                                        <p:tgtEl>
                                          <p:spTgt spid="29"/>
                                        </p:tgtEl>
                                        <p:attrNameLst>
                                          <p:attrName>style.visibility</p:attrName>
                                        </p:attrNameLst>
                                      </p:cBhvr>
                                      <p:to>
                                        <p:strVal val="visible"/>
                                      </p:to>
                                    </p:set>
                                    <p:animEffect transition="in" filter="fade">
                                      <p:cBhvr>
                                        <p:cTn id="16" dur="400"/>
                                        <p:tgtEl>
                                          <p:spTgt spid="29"/>
                                        </p:tgtEl>
                                      </p:cBhvr>
                                    </p:animEffect>
                                  </p:childTnLst>
                                </p:cTn>
                              </p:par>
                              <p:par>
                                <p:cTn id="17" presetID="10" presetClass="entr" presetSubtype="0" fill="hold" nodeType="withEffect">
                                  <p:stCondLst>
                                    <p:cond delay="0"/>
                                  </p:stCondLst>
                                  <p:childTnLst>
                                    <p:set>
                                      <p:cBhvr>
                                        <p:cTn id="18" dur="1" fill="hold">
                                          <p:stCondLst>
                                            <p:cond delay="0"/>
                                          </p:stCondLst>
                                        </p:cTn>
                                        <p:tgtEl>
                                          <p:spTgt spid="33"/>
                                        </p:tgtEl>
                                        <p:attrNameLst>
                                          <p:attrName>style.visibility</p:attrName>
                                        </p:attrNameLst>
                                      </p:cBhvr>
                                      <p:to>
                                        <p:strVal val="visible"/>
                                      </p:to>
                                    </p:set>
                                    <p:animEffect transition="in" filter="fade">
                                      <p:cBhvr>
                                        <p:cTn id="19" dur="400"/>
                                        <p:tgtEl>
                                          <p:spTgt spid="33"/>
                                        </p:tgtEl>
                                      </p:cBhvr>
                                    </p:animEffect>
                                  </p:childTnLst>
                                </p:cTn>
                              </p:par>
                              <p:par>
                                <p:cTn id="20" presetID="10" presetClass="entr" presetSubtype="0" fill="hold" nodeType="withEffect">
                                  <p:stCondLst>
                                    <p:cond delay="0"/>
                                  </p:stCondLst>
                                  <p:childTnLst>
                                    <p:set>
                                      <p:cBhvr>
                                        <p:cTn id="21" dur="1" fill="hold">
                                          <p:stCondLst>
                                            <p:cond delay="0"/>
                                          </p:stCondLst>
                                        </p:cTn>
                                        <p:tgtEl>
                                          <p:spTgt spid="37"/>
                                        </p:tgtEl>
                                        <p:attrNameLst>
                                          <p:attrName>style.visibility</p:attrName>
                                        </p:attrNameLst>
                                      </p:cBhvr>
                                      <p:to>
                                        <p:strVal val="visible"/>
                                      </p:to>
                                    </p:set>
                                    <p:animEffect transition="in" filter="fade">
                                      <p:cBhvr>
                                        <p:cTn id="22" dur="400"/>
                                        <p:tgtEl>
                                          <p:spTgt spid="37"/>
                                        </p:tgtEl>
                                      </p:cBhvr>
                                    </p:animEffect>
                                  </p:childTnLst>
                                </p:cTn>
                              </p:par>
                              <p:par>
                                <p:cTn id="23" presetID="10" presetClass="entr" presetSubtype="0" fill="hold" nodeType="withEffect">
                                  <p:stCondLst>
                                    <p:cond delay="0"/>
                                  </p:stCondLst>
                                  <p:childTnLst>
                                    <p:set>
                                      <p:cBhvr>
                                        <p:cTn id="24" dur="1" fill="hold">
                                          <p:stCondLst>
                                            <p:cond delay="0"/>
                                          </p:stCondLst>
                                        </p:cTn>
                                        <p:tgtEl>
                                          <p:spTgt spid="41"/>
                                        </p:tgtEl>
                                        <p:attrNameLst>
                                          <p:attrName>style.visibility</p:attrName>
                                        </p:attrNameLst>
                                      </p:cBhvr>
                                      <p:to>
                                        <p:strVal val="visible"/>
                                      </p:to>
                                    </p:set>
                                    <p:animEffect transition="in" filter="fade">
                                      <p:cBhvr>
                                        <p:cTn id="25" dur="400"/>
                                        <p:tgtEl>
                                          <p:spTgt spid="41"/>
                                        </p:tgtEl>
                                      </p:cBhvr>
                                    </p:animEffect>
                                  </p:childTnLst>
                                </p:cTn>
                              </p:par>
                              <p:par>
                                <p:cTn id="26" presetID="10" presetClass="entr" presetSubtype="0" fill="hold" nodeType="withEffect">
                                  <p:stCondLst>
                                    <p:cond delay="0"/>
                                  </p:stCondLst>
                                  <p:childTnLst>
                                    <p:set>
                                      <p:cBhvr>
                                        <p:cTn id="27" dur="1" fill="hold">
                                          <p:stCondLst>
                                            <p:cond delay="0"/>
                                          </p:stCondLst>
                                        </p:cTn>
                                        <p:tgtEl>
                                          <p:spTgt spid="45"/>
                                        </p:tgtEl>
                                        <p:attrNameLst>
                                          <p:attrName>style.visibility</p:attrName>
                                        </p:attrNameLst>
                                      </p:cBhvr>
                                      <p:to>
                                        <p:strVal val="visible"/>
                                      </p:to>
                                    </p:set>
                                    <p:animEffect transition="in" filter="fade">
                                      <p:cBhvr>
                                        <p:cTn id="28" dur="4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29" restart="whenNotActive" fill="hold" evtFilter="cancelBubble" nodeType="interactiveSeq">
                <p:stCondLst>
                  <p:cond evt="onClick" delay="0">
                    <p:tgtEl>
                      <p:spTgt spid="47"/>
                    </p:tgtEl>
                  </p:cond>
                </p:stCondLst>
                <p:endSync evt="end" delay="0">
                  <p:rtn val="all"/>
                </p:endSync>
                <p:childTnLst>
                  <p:par>
                    <p:cTn id="30" fill="hold">
                      <p:stCondLst>
                        <p:cond delay="0"/>
                      </p:stCondLst>
                      <p:childTnLst>
                        <p:par>
                          <p:cTn id="31" fill="hold">
                            <p:stCondLst>
                              <p:cond delay="0"/>
                            </p:stCondLst>
                            <p:childTnLst>
                              <p:par>
                                <p:cTn id="32" presetID="2" presetClass="mediacall" presetSubtype="0" fill="hold" nodeType="clickEffect">
                                  <p:stCondLst>
                                    <p:cond delay="0"/>
                                  </p:stCondLst>
                                  <p:childTnLst>
                                    <p:cmd type="call" cmd="togglePause">
                                      <p:cBhvr>
                                        <p:cTn id="33" dur="1" fill="hold"/>
                                        <p:tgtEl>
                                          <p:spTgt spid="47"/>
                                        </p:tgtEl>
                                      </p:cBhvr>
                                    </p:cmd>
                                  </p:childTnLst>
                                </p:cTn>
                              </p:par>
                            </p:childTnLst>
                          </p:cTn>
                        </p:par>
                      </p:childTnLst>
                    </p:cTn>
                  </p:par>
                </p:childTnLst>
              </p:cTn>
              <p:nextCondLst>
                <p:cond evt="onClick" delay="0">
                  <p:tgtEl>
                    <p:spTgt spid="47"/>
                  </p:tgtEl>
                </p:cond>
              </p:nextCondLst>
            </p:seq>
            <p:seq concurrent="1" nextAc="seek">
              <p:cTn id="34" restart="whenNotActive" fill="hold" evtFilter="cancelBubble" nodeType="interactiveSeq">
                <p:stCondLst>
                  <p:cond evt="onClick" delay="0">
                    <p:tgtEl>
                      <p:spTgt spid="49"/>
                    </p:tgtEl>
                  </p:cond>
                </p:stCondLst>
                <p:endSync evt="end" delay="0">
                  <p:rtn val="all"/>
                </p:endSync>
                <p:childTnLst>
                  <p:par>
                    <p:cTn id="35" fill="hold">
                      <p:stCondLst>
                        <p:cond delay="0"/>
                      </p:stCondLst>
                      <p:childTnLst>
                        <p:par>
                          <p:cTn id="36" fill="hold">
                            <p:stCondLst>
                              <p:cond delay="0"/>
                            </p:stCondLst>
                            <p:childTnLst>
                              <p:par>
                                <p:cTn id="37" presetID="2" presetClass="mediacall" presetSubtype="0" fill="hold" nodeType="clickEffect">
                                  <p:stCondLst>
                                    <p:cond delay="0"/>
                                  </p:stCondLst>
                                  <p:childTnLst>
                                    <p:cmd type="call" cmd="togglePause">
                                      <p:cBhvr>
                                        <p:cTn id="38" dur="1" fill="hold"/>
                                        <p:tgtEl>
                                          <p:spTgt spid="49"/>
                                        </p:tgtEl>
                                      </p:cBhvr>
                                    </p:cmd>
                                  </p:childTnLst>
                                </p:cTn>
                              </p:par>
                            </p:childTnLst>
                          </p:cTn>
                        </p:par>
                      </p:childTnLst>
                    </p:cTn>
                  </p:par>
                </p:childTnLst>
              </p:cTn>
              <p:nextCondLst>
                <p:cond evt="onClick" delay="0">
                  <p:tgtEl>
                    <p:spTgt spid="49"/>
                  </p:tgtEl>
                </p:cond>
              </p:nextCondLst>
            </p:seq>
            <p:audio>
              <p:cMediaNode vol="80000">
                <p:cTn id="39" fill="hold" display="0">
                  <p:stCondLst>
                    <p:cond delay="indefinite"/>
                  </p:stCondLst>
                  <p:endCondLst>
                    <p:cond evt="onStopAudio" delay="0">
                      <p:tgtEl>
                        <p:sldTgt/>
                      </p:tgtEl>
                    </p:cond>
                  </p:endCondLst>
                </p:cTn>
                <p:tgtEl>
                  <p:spTgt spid="47"/>
                </p:tgtEl>
              </p:cMediaNode>
            </p:audio>
            <p:audio>
              <p:cMediaNode vol="80000">
                <p:cTn id="40" fill="hold" display="0">
                  <p:stCondLst>
                    <p:cond delay="indefinite"/>
                  </p:stCondLst>
                  <p:endCondLst>
                    <p:cond evt="onStopAudio" delay="0">
                      <p:tgtEl>
                        <p:sldTgt/>
                      </p:tgtEl>
                    </p:cond>
                  </p:endCondLst>
                </p:cTn>
                <p:tgtEl>
                  <p:spTgt spid="49"/>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23"/>
          <p:cNvSpPr/>
          <p:nvPr/>
        </p:nvSpPr>
        <p:spPr>
          <a:xfrm>
            <a:off x="54864" y="54864"/>
            <a:ext cx="9034272" cy="5033772"/>
          </a:xfrm>
          <a:prstGeom prst="rect">
            <a:avLst/>
          </a:prstGeom>
          <a:ln w="114300">
            <a:solidFill>
              <a:srgbClr val="A8E6B4"/>
            </a:solidFill>
            <a:prstDash val="solid"/>
          </a:ln>
        </p:spPr>
      </p:sp>
      <p:pic>
        <p:nvPicPr>
          <p:cNvPr id="4" name="logo_124"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25"/>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VOCABULARY · Confusing pairs</a:t>
            </a:r>
            <a:endParaRPr lang="en-US" sz="900" dirty="0"/>
          </a:p>
        </p:txBody>
      </p:sp>
      <p:sp>
        <p:nvSpPr>
          <p:cNvPr id="6" name="timer_126"/>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5 min</a:t>
            </a:r>
            <a:endParaRPr lang="en-US" sz="1200" dirty="0"/>
          </a:p>
        </p:txBody>
      </p:sp>
      <p:sp>
        <p:nvSpPr>
          <p:cNvPr id="7" name="footer_127"/>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6A · Part 2</a:t>
            </a:r>
            <a:endParaRPr lang="en-US" sz="1000" dirty="0"/>
          </a:p>
        </p:txBody>
      </p:sp>
      <p:sp>
        <p:nvSpPr>
          <p:cNvPr id="8" name="title_128"/>
          <p:cNvSpPr txBox="1"/>
          <p:nvPr/>
        </p:nvSpPr>
        <p:spPr>
          <a:xfrm rot="90000">
            <a:off x="320040" y="676656"/>
            <a:ext cx="4325112"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What's the difference?</a:t>
            </a:r>
            <a:endParaRPr lang="en-US" sz="1500" dirty="0"/>
          </a:p>
        </p:txBody>
      </p:sp>
      <p:sp>
        <p:nvSpPr>
          <p:cNvPr id="9" name="tape_129"/>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10" name="tape_130"/>
          <p:cNvSpPr/>
          <p:nvPr/>
        </p:nvSpPr>
        <p:spPr>
          <a:xfrm rot="-720000">
            <a:off x="4078224" y="1069848"/>
            <a:ext cx="685800" cy="219456"/>
          </a:xfrm>
          <a:prstGeom prst="rect">
            <a:avLst/>
          </a:prstGeom>
          <a:solidFill>
            <a:srgbClr val="FFD84D">
              <a:alpha val="75000"/>
            </a:srgbClr>
          </a:solidFill>
          <a:ln w="6350">
            <a:solidFill>
              <a:srgbClr val="FFD84D"/>
            </a:solidFill>
            <a:prstDash val="solid"/>
          </a:ln>
        </p:spPr>
      </p:sp>
      <p:sp>
        <p:nvSpPr>
          <p:cNvPr id="11" name="post_131"/>
          <p:cNvSpPr/>
          <p:nvPr/>
        </p:nvSpPr>
        <p:spPr>
          <a:xfrm>
            <a:off x="429768" y="1554480"/>
            <a:ext cx="128016" cy="2194560"/>
          </a:xfrm>
          <a:prstGeom prst="rect">
            <a:avLst/>
          </a:prstGeom>
          <a:solidFill>
            <a:srgbClr val="8B5A2B"/>
          </a:solidFill>
          <a:ln w="31750">
            <a:solidFill>
              <a:srgbClr val="111111"/>
            </a:solidFill>
            <a:prstDash val="solid"/>
          </a:ln>
        </p:spPr>
      </p:sp>
      <p:sp>
        <p:nvSpPr>
          <p:cNvPr id="12" name="signA_132"/>
          <p:cNvSpPr txBox="1"/>
          <p:nvPr/>
        </p:nvSpPr>
        <p:spPr>
          <a:xfrm rot="-180000">
            <a:off x="320040" y="1371600"/>
            <a:ext cx="2240280" cy="457200"/>
          </a:xfrm>
          <a:prstGeom prst="homePlate">
            <a:avLst/>
          </a:prstGeom>
          <a:solidFill>
            <a:srgbClr val="062F67"/>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THINK!</a:t>
            </a:r>
            <a:pPr indent="0" marL="0">
              <a:buNone/>
            </a:pPr>
            <a:r>
              <a:rPr lang="en-US" sz="1000" dirty="0">
                <a:solidFill>
                  <a:srgbClr val="FFF3B0"/>
                </a:solidFill>
                <a:latin typeface="Arial Black" pitchFamily="34" charset="0"/>
                <a:ea typeface="Arial Black" pitchFamily="34" charset="-122"/>
                <a:cs typeface="Arial Black" pitchFamily="34" charset="-120"/>
              </a:rPr>
              <a:t>  PENSA!</a:t>
            </a:r>
            <a:endParaRPr lang="en-US" sz="1500" dirty="0"/>
          </a:p>
        </p:txBody>
      </p:sp>
      <p:sp>
        <p:nvSpPr>
          <p:cNvPr id="13" name="signB_133"/>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Pairs: explain the difference. Then check!</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In coppia: spiegate la differenza. Poi controllate!</a:t>
            </a:r>
            <a:endParaRPr lang="en-US" sz="1250" dirty="0"/>
          </a:p>
        </p:txBody>
      </p:sp>
      <p:sp>
        <p:nvSpPr>
          <p:cNvPr id="14" name="box_134"/>
          <p:cNvSpPr txBox="1"/>
          <p:nvPr/>
        </p:nvSpPr>
        <p:spPr>
          <a:xfrm>
            <a:off x="2788920" y="1371600"/>
            <a:ext cx="2414016" cy="360535"/>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1  a plot and a script</a:t>
            </a:r>
            <a:endParaRPr lang="en-US" sz="1200" dirty="0"/>
          </a:p>
        </p:txBody>
      </p:sp>
      <p:sp>
        <p:nvSpPr>
          <p:cNvPr id="15" name="R1_a0"/>
          <p:cNvSpPr txBox="1"/>
          <p:nvPr/>
        </p:nvSpPr>
        <p:spPr>
          <a:xfrm>
            <a:off x="5257800" y="1408176"/>
            <a:ext cx="3566160" cy="287383"/>
          </a:xfrm>
          <a:prstGeom prst="roundRect">
            <a:avLst>
              <a:gd name="adj" fmla="val 19091"/>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the story / the words of a film</a:t>
            </a:r>
            <a:endParaRPr lang="en-US" sz="1100" dirty="0"/>
          </a:p>
        </p:txBody>
      </p:sp>
      <p:sp>
        <p:nvSpPr>
          <p:cNvPr id="16" name="box_135"/>
          <p:cNvSpPr txBox="1"/>
          <p:nvPr/>
        </p:nvSpPr>
        <p:spPr>
          <a:xfrm>
            <a:off x="2788920" y="1860151"/>
            <a:ext cx="2414016" cy="360535"/>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2  a horror film and a thriller</a:t>
            </a:r>
            <a:endParaRPr lang="en-US" sz="1200" dirty="0"/>
          </a:p>
        </p:txBody>
      </p:sp>
      <p:sp>
        <p:nvSpPr>
          <p:cNvPr id="17" name="R2_a1"/>
          <p:cNvSpPr txBox="1"/>
          <p:nvPr/>
        </p:nvSpPr>
        <p:spPr>
          <a:xfrm>
            <a:off x="5257800" y="1896727"/>
            <a:ext cx="3566160" cy="287383"/>
          </a:xfrm>
          <a:prstGeom prst="roundRect">
            <a:avLst>
              <a:gd name="adj" fmla="val 19091"/>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made to frighten you / exciting story, often about crime</a:t>
            </a:r>
            <a:endParaRPr lang="en-US" sz="1100" dirty="0"/>
          </a:p>
        </p:txBody>
      </p:sp>
      <p:sp>
        <p:nvSpPr>
          <p:cNvPr id="18" name="box_136"/>
          <p:cNvSpPr txBox="1"/>
          <p:nvPr/>
        </p:nvSpPr>
        <p:spPr>
          <a:xfrm>
            <a:off x="2788920" y="2348702"/>
            <a:ext cx="2414016" cy="360535"/>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3  a musical and a soundtrack</a:t>
            </a:r>
            <a:endParaRPr lang="en-US" sz="1200" dirty="0"/>
          </a:p>
        </p:txBody>
      </p:sp>
      <p:sp>
        <p:nvSpPr>
          <p:cNvPr id="19" name="R3_a2"/>
          <p:cNvSpPr txBox="1"/>
          <p:nvPr/>
        </p:nvSpPr>
        <p:spPr>
          <a:xfrm>
            <a:off x="5257800" y="2385278"/>
            <a:ext cx="3566160" cy="287383"/>
          </a:xfrm>
          <a:prstGeom prst="roundRect">
            <a:avLst>
              <a:gd name="adj" fmla="val 19091"/>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a story told with songs and dancing / the music of a film</a:t>
            </a:r>
            <a:endParaRPr lang="en-US" sz="1050" dirty="0"/>
          </a:p>
        </p:txBody>
      </p:sp>
      <p:sp>
        <p:nvSpPr>
          <p:cNvPr id="20" name="box_137"/>
          <p:cNvSpPr txBox="1"/>
          <p:nvPr/>
        </p:nvSpPr>
        <p:spPr>
          <a:xfrm>
            <a:off x="2788920" y="2837253"/>
            <a:ext cx="2414016" cy="360535"/>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4  the cast and the stars</a:t>
            </a:r>
            <a:endParaRPr lang="en-US" sz="1200" dirty="0"/>
          </a:p>
        </p:txBody>
      </p:sp>
      <p:sp>
        <p:nvSpPr>
          <p:cNvPr id="21" name="R4_a3"/>
          <p:cNvSpPr txBox="1"/>
          <p:nvPr/>
        </p:nvSpPr>
        <p:spPr>
          <a:xfrm>
            <a:off x="5257800" y="2873829"/>
            <a:ext cx="3566160" cy="287383"/>
          </a:xfrm>
          <a:prstGeom prst="roundRect">
            <a:avLst>
              <a:gd name="adj" fmla="val 19091"/>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all the actors / the most important actors</a:t>
            </a:r>
            <a:endParaRPr lang="en-US" sz="1100" dirty="0"/>
          </a:p>
        </p:txBody>
      </p:sp>
      <p:sp>
        <p:nvSpPr>
          <p:cNvPr id="22" name="box_138"/>
          <p:cNvSpPr txBox="1"/>
          <p:nvPr/>
        </p:nvSpPr>
        <p:spPr>
          <a:xfrm>
            <a:off x="2788920" y="3325803"/>
            <a:ext cx="2414016" cy="360535"/>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950" dirty="0">
                <a:solidFill>
                  <a:srgbClr val="111111"/>
                </a:solidFill>
                <a:latin typeface="Calibri" pitchFamily="34" charset="0"/>
                <a:ea typeface="Calibri" pitchFamily="34" charset="-122"/>
                <a:cs typeface="Calibri" pitchFamily="34" charset="-120"/>
              </a:rPr>
              <a:t>5  a dubbed film and a film with subtitles</a:t>
            </a:r>
            <a:endParaRPr lang="en-US" sz="950" dirty="0"/>
          </a:p>
        </p:txBody>
      </p:sp>
      <p:sp>
        <p:nvSpPr>
          <p:cNvPr id="23" name="R5_a4"/>
          <p:cNvSpPr txBox="1"/>
          <p:nvPr/>
        </p:nvSpPr>
        <p:spPr>
          <a:xfrm>
            <a:off x="5257800" y="3362379"/>
            <a:ext cx="3566160" cy="287383"/>
          </a:xfrm>
          <a:prstGeom prst="roundRect">
            <a:avLst>
              <a:gd name="adj" fmla="val 19091"/>
            </a:avLst>
          </a:prstGeom>
          <a:solidFill>
            <a:srgbClr val="FFFFFF"/>
          </a:solidFill>
          <a:ln w="38100">
            <a:solidFill>
              <a:srgbClr val="1FA463"/>
            </a:solidFill>
          </a:ln>
        </p:spPr>
        <p:txBody>
          <a:bodyPr wrap="square" lIns="25400" tIns="25400" rIns="25400" bIns="25400" rtlCol="0" anchor="ctr"/>
          <a:lstStyle/>
          <a:p>
            <a:pPr algn="ctr" indent="0" marL="0">
              <a:buNone/>
            </a:pPr>
            <a:r>
              <a:rPr lang="en-US" sz="850" dirty="0">
                <a:solidFill>
                  <a:srgbClr val="111111"/>
                </a:solidFill>
                <a:latin typeface="Calibri" pitchFamily="34" charset="0"/>
                <a:ea typeface="Calibri" pitchFamily="34" charset="-122"/>
                <a:cs typeface="Calibri" pitchFamily="34" charset="-120"/>
              </a:rPr>
              <a:t>new voices in your language / original voices + translation on screen</a:t>
            </a:r>
            <a:endParaRPr lang="en-US" sz="850" dirty="0"/>
          </a:p>
        </p:txBody>
      </p:sp>
      <p:sp>
        <p:nvSpPr>
          <p:cNvPr id="24" name="box_139"/>
          <p:cNvSpPr txBox="1"/>
          <p:nvPr/>
        </p:nvSpPr>
        <p:spPr>
          <a:xfrm>
            <a:off x="2788920" y="3814354"/>
            <a:ext cx="2414016" cy="360535"/>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900" dirty="0">
                <a:solidFill>
                  <a:srgbClr val="111111"/>
                </a:solidFill>
                <a:latin typeface="Calibri" pitchFamily="34" charset="0"/>
                <a:ea typeface="Calibri" pitchFamily="34" charset="-122"/>
                <a:cs typeface="Calibri" pitchFamily="34" charset="-120"/>
              </a:rPr>
              <a:t>6  the set of a film and the film was set in…</a:t>
            </a:r>
            <a:endParaRPr lang="en-US" sz="900" dirty="0"/>
          </a:p>
        </p:txBody>
      </p:sp>
      <p:sp>
        <p:nvSpPr>
          <p:cNvPr id="25" name="R6_a5"/>
          <p:cNvSpPr txBox="1"/>
          <p:nvPr/>
        </p:nvSpPr>
        <p:spPr>
          <a:xfrm>
            <a:off x="5257800" y="3850930"/>
            <a:ext cx="3566160" cy="287383"/>
          </a:xfrm>
          <a:prstGeom prst="roundRect">
            <a:avLst>
              <a:gd name="adj" fmla="val 19091"/>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where it's shot / where and when the story happens</a:t>
            </a:r>
            <a:endParaRPr lang="en-US" sz="1100" dirty="0"/>
          </a:p>
        </p:txBody>
      </p:sp>
      <p:sp>
        <p:nvSpPr>
          <p:cNvPr id="26" name="box_140"/>
          <p:cNvSpPr txBox="1"/>
          <p:nvPr/>
        </p:nvSpPr>
        <p:spPr>
          <a:xfrm>
            <a:off x="2788920" y="4302905"/>
            <a:ext cx="2414016" cy="360535"/>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7  a critic and a review</a:t>
            </a:r>
            <a:endParaRPr lang="en-US" sz="1200" dirty="0"/>
          </a:p>
        </p:txBody>
      </p:sp>
      <p:sp>
        <p:nvSpPr>
          <p:cNvPr id="27" name="R7_a6"/>
          <p:cNvSpPr txBox="1"/>
          <p:nvPr/>
        </p:nvSpPr>
        <p:spPr>
          <a:xfrm>
            <a:off x="5257800" y="4339481"/>
            <a:ext cx="3566160" cy="287383"/>
          </a:xfrm>
          <a:prstGeom prst="roundRect">
            <a:avLst>
              <a:gd name="adj" fmla="val 19091"/>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a person / the article</a:t>
            </a:r>
            <a:endParaRPr lang="en-US" sz="1100" dirty="0"/>
          </a:p>
        </p:txBody>
      </p:sp>
      <p:sp>
        <p:nvSpPr>
          <p:cNvPr id="28" name="pageTag_141"/>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p.58 · 4c</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4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4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4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fade">
                                      <p:cBhvr>
                                        <p:cTn id="27" dur="400"/>
                                        <p:tgtEl>
                                          <p:spTgt spid="2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fade">
                                      <p:cBhvr>
                                        <p:cTn id="32" dur="400"/>
                                        <p:tgtEl>
                                          <p:spTgt spid="25"/>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42"/>
          <p:cNvSpPr/>
          <p:nvPr/>
        </p:nvSpPr>
        <p:spPr>
          <a:xfrm>
            <a:off x="54864" y="54864"/>
            <a:ext cx="9034272" cy="5033772"/>
          </a:xfrm>
          <a:prstGeom prst="rect">
            <a:avLst/>
          </a:prstGeom>
          <a:ln w="114300">
            <a:solidFill>
              <a:srgbClr val="A8E6B4"/>
            </a:solidFill>
            <a:prstDash val="solid"/>
          </a:ln>
        </p:spPr>
      </p:sp>
      <p:pic>
        <p:nvPicPr>
          <p:cNvPr id="4" name="logo_143"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44"/>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LISTENING · Part 1 · audio 6.7</a:t>
            </a:r>
            <a:endParaRPr lang="en-US" sz="900" dirty="0"/>
          </a:p>
        </p:txBody>
      </p:sp>
      <p:sp>
        <p:nvSpPr>
          <p:cNvPr id="6" name="timer_145"/>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8 min</a:t>
            </a:r>
            <a:endParaRPr lang="en-US" sz="1200" dirty="0"/>
          </a:p>
        </p:txBody>
      </p:sp>
      <p:sp>
        <p:nvSpPr>
          <p:cNvPr id="7" name="footer_146"/>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6A · Part 2</a:t>
            </a:r>
            <a:endParaRPr lang="en-US" sz="1000" dirty="0"/>
          </a:p>
        </p:txBody>
      </p:sp>
      <p:sp>
        <p:nvSpPr>
          <p:cNvPr id="8" name="title_147"/>
          <p:cNvSpPr txBox="1"/>
          <p:nvPr/>
        </p:nvSpPr>
        <p:spPr>
          <a:xfrm rot="90000">
            <a:off x="320040" y="676656"/>
            <a:ext cx="4498848"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Spielberg's interpreter</a:t>
            </a:r>
            <a:endParaRPr lang="en-US" sz="1500" dirty="0"/>
          </a:p>
        </p:txBody>
      </p:sp>
      <p:sp>
        <p:nvSpPr>
          <p:cNvPr id="9" name="tape_148"/>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10" name="tape_149"/>
          <p:cNvSpPr/>
          <p:nvPr/>
        </p:nvSpPr>
        <p:spPr>
          <a:xfrm rot="-720000">
            <a:off x="4251960" y="1069848"/>
            <a:ext cx="685800" cy="219456"/>
          </a:xfrm>
          <a:prstGeom prst="rect">
            <a:avLst/>
          </a:prstGeom>
          <a:solidFill>
            <a:srgbClr val="FFD84D">
              <a:alpha val="75000"/>
            </a:srgbClr>
          </a:solidFill>
          <a:ln w="6350">
            <a:solidFill>
              <a:srgbClr val="FFD84D"/>
            </a:solidFill>
            <a:prstDash val="solid"/>
          </a:ln>
        </p:spPr>
      </p:sp>
      <p:sp>
        <p:nvSpPr>
          <p:cNvPr id="11" name="post_150"/>
          <p:cNvSpPr/>
          <p:nvPr/>
        </p:nvSpPr>
        <p:spPr>
          <a:xfrm>
            <a:off x="429768" y="1554480"/>
            <a:ext cx="128016" cy="2194560"/>
          </a:xfrm>
          <a:prstGeom prst="rect">
            <a:avLst/>
          </a:prstGeom>
          <a:solidFill>
            <a:srgbClr val="8B5A2B"/>
          </a:solidFill>
          <a:ln w="31750">
            <a:solidFill>
              <a:srgbClr val="111111"/>
            </a:solidFill>
            <a:prstDash val="solid"/>
          </a:ln>
        </p:spPr>
      </p:sp>
      <p:sp>
        <p:nvSpPr>
          <p:cNvPr id="12" name="signA_151"/>
          <p:cNvSpPr txBox="1"/>
          <p:nvPr/>
        </p:nvSpPr>
        <p:spPr>
          <a:xfrm rot="-180000">
            <a:off x="320040" y="1371600"/>
            <a:ext cx="2240280" cy="457200"/>
          </a:xfrm>
          <a:prstGeom prst="homePlate">
            <a:avLst/>
          </a:prstGeom>
          <a:solidFill>
            <a:srgbClr val="48BDF2"/>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LISTEN!</a:t>
            </a:r>
            <a:pPr indent="0" marL="0">
              <a:buNone/>
            </a:pPr>
            <a:r>
              <a:rPr lang="en-US" sz="1000" dirty="0">
                <a:solidFill>
                  <a:srgbClr val="FFF3B0"/>
                </a:solidFill>
                <a:latin typeface="Arial Black" pitchFamily="34" charset="0"/>
                <a:ea typeface="Arial Black" pitchFamily="34" charset="-122"/>
                <a:cs typeface="Arial Black" pitchFamily="34" charset="-120"/>
              </a:rPr>
              <a:t>  ASCOLTA!</a:t>
            </a:r>
            <a:endParaRPr lang="en-US" sz="1500" dirty="0"/>
          </a:p>
        </p:txBody>
      </p:sp>
      <p:sp>
        <p:nvSpPr>
          <p:cNvPr id="13" name="signB_152"/>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Look at the photos on p.58. Who? Where? Then T or F?</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Guarda le foto a p.58. Chi? Dove? Poi vero o falso?</a:t>
            </a:r>
            <a:endParaRPr lang="en-US" sz="1250" dirty="0"/>
          </a:p>
        </p:txBody>
      </p:sp>
      <p:pic>
        <p:nvPicPr>
          <p:cNvPr id="14" name="Media 0">
            <a:hlinkClick r:id="" action="ppaction://media"/>
          </p:cNvPr>
          <p:cNvPicPr>
            <a:picLocks noChangeAspect="1"/>
          </p:cNvPicPr>
          <p:nvPr>
            <a:audioFile r:link="rId3"/>
            <p:extLst>
              <p:ext uri="{DAA4B4D4-6D71-4841-9C94-3DE7FCFB9230}">
                <p14:media xmlns:p14="http://schemas.microsoft.com/office/powerpoint/2010/main" r:embed="rId4"/>
              </p:ext>
            </p:extLst>
          </p:nvPr>
        </p:nvPicPr>
        <p:blipFill>
          <a:blip r:embed="rId5"/>
          <a:stretch>
            <a:fillRect/>
          </a:stretch>
        </p:blipFill>
        <p:spPr>
          <a:xfrm>
            <a:off x="2788920" y="1371600"/>
            <a:ext cx="640080" cy="640080"/>
          </a:xfrm>
          <a:prstGeom prst="rect">
            <a:avLst/>
          </a:prstGeom>
        </p:spPr>
      </p:pic>
      <p:sp>
        <p:nvSpPr>
          <p:cNvPr id="15" name="tr_153"/>
          <p:cNvSpPr txBox="1"/>
          <p:nvPr/>
        </p:nvSpPr>
        <p:spPr>
          <a:xfrm>
            <a:off x="3474720" y="1371600"/>
            <a:ext cx="822960" cy="640080"/>
          </a:xfrm>
          <a:prstGeom prst="rect">
            <a:avLst/>
          </a:prstGeom>
          <a:noFill/>
          <a:ln/>
        </p:spPr>
        <p:txBody>
          <a:bodyPr wrap="square" rtlCol="0" anchor="ctr"/>
          <a:lstStyle/>
          <a:p>
            <a:pPr indent="0" marL="0">
              <a:buNone/>
            </a:pPr>
            <a:r>
              <a:rPr lang="en-US" sz="1300" dirty="0">
                <a:solidFill>
                  <a:srgbClr val="062F67"/>
                </a:solidFill>
                <a:latin typeface="Arial Black" pitchFamily="34" charset="0"/>
                <a:ea typeface="Arial Black" pitchFamily="34" charset="-122"/>
                <a:cs typeface="Arial Black" pitchFamily="34" charset="-120"/>
              </a:rPr>
              <a:t>🎧 6.7</a:t>
            </a:r>
            <a:endParaRPr lang="en-US" sz="1300" dirty="0"/>
          </a:p>
        </p:txBody>
      </p:sp>
      <p:sp>
        <p:nvSpPr>
          <p:cNvPr id="16" name="box_154"/>
          <p:cNvSpPr txBox="1"/>
          <p:nvPr/>
        </p:nvSpPr>
        <p:spPr>
          <a:xfrm>
            <a:off x="2788920" y="2103120"/>
            <a:ext cx="3983126" cy="36576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800" dirty="0">
                <a:solidFill>
                  <a:srgbClr val="111111"/>
                </a:solidFill>
                <a:latin typeface="Calibri" pitchFamily="34" charset="0"/>
                <a:ea typeface="Calibri" pitchFamily="34" charset="-122"/>
                <a:cs typeface="Calibri" pitchFamily="34" charset="-120"/>
              </a:rPr>
              <a:t>1  When the film company came to Krakow, Dagmara was working as a teacher.</a:t>
            </a:r>
            <a:endParaRPr lang="en-US" sz="800" dirty="0"/>
          </a:p>
        </p:txBody>
      </p:sp>
      <p:sp>
        <p:nvSpPr>
          <p:cNvPr id="17" name="R1_la0"/>
          <p:cNvSpPr txBox="1"/>
          <p:nvPr/>
        </p:nvSpPr>
        <p:spPr>
          <a:xfrm>
            <a:off x="6826910" y="2130552"/>
            <a:ext cx="1997050" cy="310896"/>
          </a:xfrm>
          <a:prstGeom prst="roundRect">
            <a:avLst>
              <a:gd name="adj" fmla="val 1764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F – she was a student</a:t>
            </a:r>
            <a:endParaRPr lang="en-US" sz="1150" dirty="0"/>
          </a:p>
        </p:txBody>
      </p:sp>
      <p:sp>
        <p:nvSpPr>
          <p:cNvPr id="18" name="box_155"/>
          <p:cNvSpPr txBox="1"/>
          <p:nvPr/>
        </p:nvSpPr>
        <p:spPr>
          <a:xfrm>
            <a:off x="2788920" y="2542032"/>
            <a:ext cx="3983126" cy="36576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2  She got a job doing translations for them.</a:t>
            </a:r>
            <a:endParaRPr lang="en-US" sz="1100" dirty="0"/>
          </a:p>
        </p:txBody>
      </p:sp>
      <p:sp>
        <p:nvSpPr>
          <p:cNvPr id="19" name="R1_la1"/>
          <p:cNvSpPr txBox="1"/>
          <p:nvPr/>
        </p:nvSpPr>
        <p:spPr>
          <a:xfrm>
            <a:off x="6826910" y="2569464"/>
            <a:ext cx="1997050" cy="310896"/>
          </a:xfrm>
          <a:prstGeom prst="roundRect">
            <a:avLst>
              <a:gd name="adj" fmla="val 1764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T</a:t>
            </a:r>
            <a:endParaRPr lang="en-US" sz="1150" dirty="0"/>
          </a:p>
        </p:txBody>
      </p:sp>
      <p:sp>
        <p:nvSpPr>
          <p:cNvPr id="20" name="box_156"/>
          <p:cNvSpPr txBox="1"/>
          <p:nvPr/>
        </p:nvSpPr>
        <p:spPr>
          <a:xfrm>
            <a:off x="2788920" y="2980944"/>
            <a:ext cx="3983126" cy="36576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000" dirty="0">
                <a:solidFill>
                  <a:srgbClr val="111111"/>
                </a:solidFill>
                <a:latin typeface="Calibri" pitchFamily="34" charset="0"/>
                <a:ea typeface="Calibri" pitchFamily="34" charset="-122"/>
                <a:cs typeface="Calibri" pitchFamily="34" charset="-120"/>
              </a:rPr>
              <a:t>3  There was a party at the hotel to celebrate Spielberg's birthday.</a:t>
            </a:r>
            <a:endParaRPr lang="en-US" sz="1000" dirty="0"/>
          </a:p>
        </p:txBody>
      </p:sp>
      <p:sp>
        <p:nvSpPr>
          <p:cNvPr id="21" name="R1_la2"/>
          <p:cNvSpPr txBox="1"/>
          <p:nvPr/>
        </p:nvSpPr>
        <p:spPr>
          <a:xfrm>
            <a:off x="6826910" y="3008376"/>
            <a:ext cx="1997050" cy="310896"/>
          </a:xfrm>
          <a:prstGeom prst="roundRect">
            <a:avLst>
              <a:gd name="adj" fmla="val 1764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F – for all the actors and crew</a:t>
            </a:r>
            <a:endParaRPr lang="en-US" sz="1100" dirty="0"/>
          </a:p>
        </p:txBody>
      </p:sp>
      <p:sp>
        <p:nvSpPr>
          <p:cNvPr id="22" name="box_157"/>
          <p:cNvSpPr txBox="1"/>
          <p:nvPr/>
        </p:nvSpPr>
        <p:spPr>
          <a:xfrm>
            <a:off x="2788920" y="3419856"/>
            <a:ext cx="3983126" cy="365760"/>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4  Spielberg's interpreter was late.</a:t>
            </a:r>
            <a:endParaRPr lang="en-US" sz="1100" dirty="0"/>
          </a:p>
        </p:txBody>
      </p:sp>
      <p:sp>
        <p:nvSpPr>
          <p:cNvPr id="23" name="R1_la3"/>
          <p:cNvSpPr txBox="1"/>
          <p:nvPr/>
        </p:nvSpPr>
        <p:spPr>
          <a:xfrm>
            <a:off x="6826910" y="3447288"/>
            <a:ext cx="1997050" cy="310896"/>
          </a:xfrm>
          <a:prstGeom prst="roundRect">
            <a:avLst>
              <a:gd name="adj" fmla="val 1764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F – she couldn't come</a:t>
            </a:r>
            <a:endParaRPr lang="en-US" sz="1150" dirty="0"/>
          </a:p>
        </p:txBody>
      </p:sp>
      <p:sp>
        <p:nvSpPr>
          <p:cNvPr id="24" name="box_158"/>
          <p:cNvSpPr txBox="1"/>
          <p:nvPr/>
        </p:nvSpPr>
        <p:spPr>
          <a:xfrm>
            <a:off x="2788920" y="3858768"/>
            <a:ext cx="3983126" cy="365760"/>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700" dirty="0">
                <a:solidFill>
                  <a:srgbClr val="111111"/>
                </a:solidFill>
                <a:latin typeface="Calibri" pitchFamily="34" charset="0"/>
                <a:ea typeface="Calibri" pitchFamily="34" charset="-122"/>
                <a:cs typeface="Calibri" pitchFamily="34" charset="-120"/>
              </a:rPr>
              <a:t>5  Dagmara was very nervous, so she drank a bottle of champagne to give herself courage.</a:t>
            </a:r>
            <a:endParaRPr lang="en-US" sz="700" dirty="0"/>
          </a:p>
        </p:txBody>
      </p:sp>
      <p:sp>
        <p:nvSpPr>
          <p:cNvPr id="25" name="R1_la4"/>
          <p:cNvSpPr txBox="1"/>
          <p:nvPr/>
        </p:nvSpPr>
        <p:spPr>
          <a:xfrm>
            <a:off x="6826910" y="3886200"/>
            <a:ext cx="1997050" cy="310896"/>
          </a:xfrm>
          <a:prstGeom prst="roundRect">
            <a:avLst>
              <a:gd name="adj" fmla="val 1764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F – a couple of glasses</a:t>
            </a:r>
            <a:endParaRPr lang="en-US" sz="1150" dirty="0"/>
          </a:p>
        </p:txBody>
      </p:sp>
      <p:sp>
        <p:nvSpPr>
          <p:cNvPr id="26" name="box_159"/>
          <p:cNvSpPr txBox="1"/>
          <p:nvPr/>
        </p:nvSpPr>
        <p:spPr>
          <a:xfrm>
            <a:off x="2788920" y="4297680"/>
            <a:ext cx="3983126" cy="365760"/>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6  Spielberg was very pleased with the way she did her job.</a:t>
            </a:r>
            <a:endParaRPr lang="en-US" sz="1100" dirty="0"/>
          </a:p>
        </p:txBody>
      </p:sp>
      <p:sp>
        <p:nvSpPr>
          <p:cNvPr id="27" name="R1_la5"/>
          <p:cNvSpPr txBox="1"/>
          <p:nvPr/>
        </p:nvSpPr>
        <p:spPr>
          <a:xfrm>
            <a:off x="6826910" y="4325112"/>
            <a:ext cx="1997050" cy="310896"/>
          </a:xfrm>
          <a:prstGeom prst="roundRect">
            <a:avLst>
              <a:gd name="adj" fmla="val 1764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T</a:t>
            </a:r>
            <a:endParaRPr lang="en-US" sz="1150" dirty="0"/>
          </a:p>
        </p:txBody>
      </p:sp>
      <p:sp>
        <p:nvSpPr>
          <p:cNvPr id="28" name="pageTag_160"/>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p.58 · 5a, 5b, 5c · audio 6.7</a:t>
            </a:r>
            <a:endParaRPr lang="en-US" sz="1050" dirty="0"/>
          </a:p>
        </p:txBody>
      </p:sp>
      <p:sp>
        <p:nvSpPr>
          <p:cNvPr id="29" name="pframe_161"/>
          <p:cNvSpPr/>
          <p:nvPr/>
        </p:nvSpPr>
        <p:spPr>
          <a:xfrm rot="-120000">
            <a:off x="548640" y="3200400"/>
            <a:ext cx="1691640" cy="1444752"/>
          </a:xfrm>
          <a:prstGeom prst="rect">
            <a:avLst/>
          </a:prstGeom>
          <a:solidFill>
            <a:srgbClr val="FFFFFF"/>
          </a:solidFill>
          <a:ln w="19050">
            <a:solidFill>
              <a:srgbClr val="111111"/>
            </a:solidFill>
            <a:prstDash val="solid"/>
          </a:ln>
          <a:effectLst>
            <a:outerShdw sx="100000" sy="100000" kx="0" ky="0" algn="bl" rotWithShape="0" blurRad="101600" dist="38100" dir="2700000">
              <a:srgbClr val="000000">
                <a:alpha val="35000"/>
              </a:srgbClr>
            </a:outerShdw>
          </a:effectLst>
        </p:spPr>
      </p:sp>
      <p:pic>
        <p:nvPicPr>
          <p:cNvPr id="30" name="pimg_162" descr="Dagmara and Spielberg">    </p:cNvPr>
          <p:cNvPicPr>
            <a:picLocks noChangeAspect="1"/>
          </p:cNvPicPr>
          <p:nvPr/>
        </p:nvPicPr>
        <p:blipFill>
          <a:blip r:embed="rId6"/>
          <a:srcRect l="0" r="0" t="0" b="0"/>
          <a:stretch/>
        </p:blipFill>
        <p:spPr>
          <a:xfrm rot="-120000">
            <a:off x="621792" y="3273552"/>
            <a:ext cx="1545336" cy="1024128"/>
          </a:xfrm>
          <a:prstGeom prst="rect">
            <a:avLst/>
          </a:prstGeom>
        </p:spPr>
      </p:pic>
      <p:sp>
        <p:nvSpPr>
          <p:cNvPr id="31" name="pcap_163"/>
          <p:cNvSpPr txBox="1"/>
          <p:nvPr/>
        </p:nvSpPr>
        <p:spPr>
          <a:xfrm rot="-120000">
            <a:off x="548640" y="4306824"/>
            <a:ext cx="1691640" cy="274320"/>
          </a:xfrm>
          <a:prstGeom prst="rect">
            <a:avLst/>
          </a:prstGeom>
          <a:noFill/>
          <a:ln/>
        </p:spPr>
        <p:txBody>
          <a:bodyPr wrap="square" rtlCol="0" anchor="ctr"/>
          <a:lstStyle/>
          <a:p>
            <a:pPr algn="ctr" indent="0" marL="0">
              <a:buNone/>
            </a:pPr>
            <a:r>
              <a:rPr lang="en-US" sz="1050" i="1" dirty="0">
                <a:solidFill>
                  <a:srgbClr val="111111"/>
                </a:solidFill>
                <a:latin typeface="Calibri" pitchFamily="34" charset="0"/>
                <a:ea typeface="Calibri" pitchFamily="34" charset="-122"/>
                <a:cs typeface="Calibri" pitchFamily="34" charset="-120"/>
              </a:rPr>
              <a:t>Dagmara and Spielberg</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00"/>
                                        <p:tgtEl>
                                          <p:spTgt spid="17"/>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par>
                                <p:cTn id="11" presetID="10" presetClass="entr" presetSubtype="0" fill="hold" nodeType="with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400"/>
                                        <p:tgtEl>
                                          <p:spTgt spid="21"/>
                                        </p:tgtEl>
                                      </p:cBhvr>
                                    </p:animEffect>
                                  </p:childTnLst>
                                </p:cTn>
                              </p:par>
                              <p:par>
                                <p:cTn id="14" presetID="10" presetClass="entr" presetSubtype="0" fill="hold" nodeType="withEffect">
                                  <p:stCondLst>
                                    <p:cond delay="0"/>
                                  </p:stCondLst>
                                  <p:childTnLst>
                                    <p:set>
                                      <p:cBhvr>
                                        <p:cTn id="15" dur="1" fill="hold">
                                          <p:stCondLst>
                                            <p:cond delay="0"/>
                                          </p:stCondLst>
                                        </p:cTn>
                                        <p:tgtEl>
                                          <p:spTgt spid="23"/>
                                        </p:tgtEl>
                                        <p:attrNameLst>
                                          <p:attrName>style.visibility</p:attrName>
                                        </p:attrNameLst>
                                      </p:cBhvr>
                                      <p:to>
                                        <p:strVal val="visible"/>
                                      </p:to>
                                    </p:set>
                                    <p:animEffect transition="in" filter="fade">
                                      <p:cBhvr>
                                        <p:cTn id="16" dur="400"/>
                                        <p:tgtEl>
                                          <p:spTgt spid="23"/>
                                        </p:tgtEl>
                                      </p:cBhvr>
                                    </p:animEffect>
                                  </p:childTnLst>
                                </p:cTn>
                              </p:par>
                              <p:par>
                                <p:cTn id="17" presetID="10" presetClass="entr" presetSubtype="0" fill="hold" nodeType="with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fade">
                                      <p:cBhvr>
                                        <p:cTn id="19" dur="400"/>
                                        <p:tgtEl>
                                          <p:spTgt spid="25"/>
                                        </p:tgtEl>
                                      </p:cBhvr>
                                    </p:animEffect>
                                  </p:childTnLst>
                                </p:cTn>
                              </p:par>
                              <p:par>
                                <p:cTn id="20" presetID="10" presetClass="entr" presetSubtype="0" fill="hold" nodeType="with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23" restart="whenNotActive" fill="hold" evtFilter="cancelBubble" nodeType="interactiveSeq">
                <p:stCondLst>
                  <p:cond evt="onClick" delay="0">
                    <p:tgtEl>
                      <p:spTgt spid="14"/>
                    </p:tgtEl>
                  </p:cond>
                </p:stCondLst>
                <p:endSync evt="end" delay="0">
                  <p:rtn val="all"/>
                </p:endSync>
                <p:childTnLst>
                  <p:par>
                    <p:cTn id="24" fill="hold">
                      <p:stCondLst>
                        <p:cond delay="0"/>
                      </p:stCondLst>
                      <p:childTnLst>
                        <p:par>
                          <p:cTn id="25" fill="hold">
                            <p:stCondLst>
                              <p:cond delay="0"/>
                            </p:stCondLst>
                            <p:childTnLst>
                              <p:par>
                                <p:cTn id="26" presetID="2" presetClass="mediacall" presetSubtype="0" fill="hold" nodeType="clickEffect">
                                  <p:stCondLst>
                                    <p:cond delay="0"/>
                                  </p:stCondLst>
                                  <p:childTnLst>
                                    <p:cmd type="call" cmd="togglePause">
                                      <p:cBhvr>
                                        <p:cTn id="27" dur="1" fill="hold"/>
                                        <p:tgtEl>
                                          <p:spTgt spid="14"/>
                                        </p:tgtEl>
                                      </p:cBhvr>
                                    </p:cmd>
                                  </p:childTnLst>
                                </p:cTn>
                              </p:par>
                            </p:childTnLst>
                          </p:cTn>
                        </p:par>
                      </p:childTnLst>
                    </p:cTn>
                  </p:par>
                </p:childTnLst>
              </p:cTn>
              <p:nextCondLst>
                <p:cond evt="onClick" delay="0">
                  <p:tgtEl>
                    <p:spTgt spid="14"/>
                  </p:tgtEl>
                </p:cond>
              </p:nextCondLst>
            </p:seq>
            <p:audio>
              <p:cMediaNode vol="80000">
                <p:cTn id="28" fill="hold" display="0">
                  <p:stCondLst>
                    <p:cond delay="indefinite"/>
                  </p:stCondLst>
                  <p:endCondLst>
                    <p:cond evt="onStopAudio" delay="0">
                      <p:tgtEl>
                        <p:sldTgt/>
                      </p:tgtEl>
                    </p:cond>
                  </p:endCondLst>
                </p:cTn>
                <p:tgtEl>
                  <p:spTgt spid="14"/>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64"/>
          <p:cNvSpPr/>
          <p:nvPr/>
        </p:nvSpPr>
        <p:spPr>
          <a:xfrm>
            <a:off x="54864" y="54864"/>
            <a:ext cx="9034272" cy="5033772"/>
          </a:xfrm>
          <a:prstGeom prst="rect">
            <a:avLst/>
          </a:prstGeom>
          <a:ln w="114300">
            <a:solidFill>
              <a:srgbClr val="A8E6B4"/>
            </a:solidFill>
            <a:prstDash val="solid"/>
          </a:ln>
        </p:spPr>
      </p:sp>
      <p:pic>
        <p:nvPicPr>
          <p:cNvPr id="4" name="logo_165"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66"/>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LISTENING · Part 2 · audio 6.8, 6.9</a:t>
            </a:r>
            <a:endParaRPr lang="en-US" sz="900" dirty="0"/>
          </a:p>
        </p:txBody>
      </p:sp>
      <p:sp>
        <p:nvSpPr>
          <p:cNvPr id="6" name="timer_167"/>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8 min</a:t>
            </a:r>
            <a:endParaRPr lang="en-US" sz="1200" dirty="0"/>
          </a:p>
        </p:txBody>
      </p:sp>
      <p:sp>
        <p:nvSpPr>
          <p:cNvPr id="7" name="footer_168"/>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6A · Part 2</a:t>
            </a:r>
            <a:endParaRPr lang="en-US" sz="1000" dirty="0"/>
          </a:p>
        </p:txBody>
      </p:sp>
      <p:sp>
        <p:nvSpPr>
          <p:cNvPr id="8" name="title_169"/>
          <p:cNvSpPr txBox="1"/>
          <p:nvPr/>
        </p:nvSpPr>
        <p:spPr>
          <a:xfrm rot="90000">
            <a:off x="320040" y="676656"/>
            <a:ext cx="2414016"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Life on set</a:t>
            </a:r>
            <a:endParaRPr lang="en-US" sz="1500" dirty="0"/>
          </a:p>
        </p:txBody>
      </p:sp>
      <p:sp>
        <p:nvSpPr>
          <p:cNvPr id="9" name="tape_170"/>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10" name="tape_171"/>
          <p:cNvSpPr/>
          <p:nvPr/>
        </p:nvSpPr>
        <p:spPr>
          <a:xfrm rot="-720000">
            <a:off x="2167128" y="1069848"/>
            <a:ext cx="685800" cy="219456"/>
          </a:xfrm>
          <a:prstGeom prst="rect">
            <a:avLst/>
          </a:prstGeom>
          <a:solidFill>
            <a:srgbClr val="FFD84D">
              <a:alpha val="75000"/>
            </a:srgbClr>
          </a:solidFill>
          <a:ln w="6350">
            <a:solidFill>
              <a:srgbClr val="FFD84D"/>
            </a:solidFill>
            <a:prstDash val="solid"/>
          </a:ln>
        </p:spPr>
      </p:sp>
      <p:sp>
        <p:nvSpPr>
          <p:cNvPr id="11" name="post_172"/>
          <p:cNvSpPr/>
          <p:nvPr/>
        </p:nvSpPr>
        <p:spPr>
          <a:xfrm>
            <a:off x="429768" y="1554480"/>
            <a:ext cx="128016" cy="2194560"/>
          </a:xfrm>
          <a:prstGeom prst="rect">
            <a:avLst/>
          </a:prstGeom>
          <a:solidFill>
            <a:srgbClr val="8B5A2B"/>
          </a:solidFill>
          <a:ln w="31750">
            <a:solidFill>
              <a:srgbClr val="111111"/>
            </a:solidFill>
            <a:prstDash val="solid"/>
          </a:ln>
        </p:spPr>
      </p:sp>
      <p:sp>
        <p:nvSpPr>
          <p:cNvPr id="12" name="signA_173"/>
          <p:cNvSpPr txBox="1"/>
          <p:nvPr/>
        </p:nvSpPr>
        <p:spPr>
          <a:xfrm rot="-180000">
            <a:off x="320040" y="1371600"/>
            <a:ext cx="2240280" cy="457200"/>
          </a:xfrm>
          <a:prstGeom prst="homePlate">
            <a:avLst/>
          </a:prstGeom>
          <a:solidFill>
            <a:srgbClr val="48BDF2"/>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LISTEN!</a:t>
            </a:r>
            <a:pPr indent="0" marL="0">
              <a:buNone/>
            </a:pPr>
            <a:r>
              <a:rPr lang="en-US" sz="1000" dirty="0">
                <a:solidFill>
                  <a:srgbClr val="FFF3B0"/>
                </a:solidFill>
                <a:latin typeface="Arial Black" pitchFamily="34" charset="0"/>
                <a:ea typeface="Arial Black" pitchFamily="34" charset="-122"/>
                <a:cs typeface="Arial Black" pitchFamily="34" charset="-120"/>
              </a:rPr>
              <a:t>  ASCOLTA!</a:t>
            </a:r>
            <a:endParaRPr lang="en-US" sz="1500" dirty="0"/>
          </a:p>
        </p:txBody>
      </p:sp>
      <p:sp>
        <p:nvSpPr>
          <p:cNvPr id="13" name="signB_174"/>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100" dirty="0">
                <a:solidFill>
                  <a:srgbClr val="111111"/>
                </a:solidFill>
                <a:latin typeface="Calibri" pitchFamily="34" charset="0"/>
                <a:ea typeface="Calibri" pitchFamily="34" charset="-122"/>
                <a:cs typeface="Calibri" pitchFamily="34" charset="-120"/>
              </a:rPr>
              <a:t>Make notes – key words only! Then answer in full sentences.</a:t>
            </a:r>
            <a:endParaRPr lang="en-US" sz="1100" dirty="0"/>
          </a:p>
          <a:p>
            <a:pPr indent="0" marL="0">
              <a:buNone/>
            </a:pPr>
            <a:r>
              <a:rPr lang="en-US" sz="1000" i="1" dirty="0">
                <a:solidFill>
                  <a:srgbClr val="334155"/>
                </a:solidFill>
                <a:latin typeface="Calibri" pitchFamily="34" charset="0"/>
                <a:ea typeface="Calibri" pitchFamily="34" charset="-122"/>
                <a:cs typeface="Calibri" pitchFamily="34" charset="-120"/>
              </a:rPr>
              <a:t>Prendi appunti – solo parole chiave! Poi rispondi con frasi complete.</a:t>
            </a:r>
            <a:endParaRPr lang="en-US" sz="1100" dirty="0"/>
          </a:p>
        </p:txBody>
      </p:sp>
      <p:pic>
        <p:nvPicPr>
          <p:cNvPr id="14" name="Media 0">
            <a:hlinkClick r:id="" action="ppaction://media"/>
          </p:cNvPr>
          <p:cNvPicPr>
            <a:picLocks noChangeAspect="1"/>
          </p:cNvPicPr>
          <p:nvPr>
            <a:audioFile r:link="rId3"/>
            <p:extLst>
              <p:ext uri="{DAA4B4D4-6D71-4841-9C94-3DE7FCFB9230}">
                <p14:media xmlns:p14="http://schemas.microsoft.com/office/powerpoint/2010/main" r:embed="rId4"/>
              </p:ext>
            </p:extLst>
          </p:nvPr>
        </p:nvPicPr>
        <p:blipFill>
          <a:blip r:embed="rId5"/>
          <a:stretch>
            <a:fillRect/>
          </a:stretch>
        </p:blipFill>
        <p:spPr>
          <a:xfrm>
            <a:off x="2788920" y="1371600"/>
            <a:ext cx="640080" cy="640080"/>
          </a:xfrm>
          <a:prstGeom prst="rect">
            <a:avLst/>
          </a:prstGeom>
        </p:spPr>
      </p:pic>
      <p:sp>
        <p:nvSpPr>
          <p:cNvPr id="15" name="tr_175"/>
          <p:cNvSpPr txBox="1"/>
          <p:nvPr/>
        </p:nvSpPr>
        <p:spPr>
          <a:xfrm>
            <a:off x="3474720" y="1371600"/>
            <a:ext cx="822960" cy="640080"/>
          </a:xfrm>
          <a:prstGeom prst="rect">
            <a:avLst/>
          </a:prstGeom>
          <a:noFill/>
          <a:ln/>
        </p:spPr>
        <p:txBody>
          <a:bodyPr wrap="square" rtlCol="0" anchor="ctr"/>
          <a:lstStyle/>
          <a:p>
            <a:pPr indent="0" marL="0">
              <a:buNone/>
            </a:pPr>
            <a:r>
              <a:rPr lang="en-US" sz="1300" dirty="0">
                <a:solidFill>
                  <a:srgbClr val="062F67"/>
                </a:solidFill>
                <a:latin typeface="Arial Black" pitchFamily="34" charset="0"/>
                <a:ea typeface="Arial Black" pitchFamily="34" charset="-122"/>
                <a:cs typeface="Arial Black" pitchFamily="34" charset="-120"/>
              </a:rPr>
              <a:t>🎧 6.8</a:t>
            </a:r>
            <a:endParaRPr lang="en-US" sz="1300" dirty="0"/>
          </a:p>
        </p:txBody>
      </p:sp>
      <p:pic>
        <p:nvPicPr>
          <p:cNvPr id="16" name="Media 1">
            <a:hlinkClick r:id="" action="ppaction://media"/>
          </p:cNvPr>
          <p:cNvPicPr>
            <a:picLocks noChangeAspect="1"/>
          </p:cNvPicPr>
          <p:nvPr>
            <a:audioFile r:link="rId6"/>
            <p:extLst>
              <p:ext uri="{DAA4B4D4-6D71-4841-9C94-3DE7FCFB9230}">
                <p14:media xmlns:p14="http://schemas.microsoft.com/office/powerpoint/2010/main" r:embed="rId7"/>
              </p:ext>
            </p:extLst>
          </p:nvPr>
        </p:nvPicPr>
        <p:blipFill>
          <a:blip r:embed="rId8"/>
          <a:stretch>
            <a:fillRect/>
          </a:stretch>
        </p:blipFill>
        <p:spPr>
          <a:xfrm>
            <a:off x="4343400" y="1371600"/>
            <a:ext cx="640080" cy="640080"/>
          </a:xfrm>
          <a:prstGeom prst="rect">
            <a:avLst/>
          </a:prstGeom>
        </p:spPr>
      </p:pic>
      <p:sp>
        <p:nvSpPr>
          <p:cNvPr id="17" name="tr_176"/>
          <p:cNvSpPr txBox="1"/>
          <p:nvPr/>
        </p:nvSpPr>
        <p:spPr>
          <a:xfrm>
            <a:off x="5029200" y="1371600"/>
            <a:ext cx="822960" cy="640080"/>
          </a:xfrm>
          <a:prstGeom prst="rect">
            <a:avLst/>
          </a:prstGeom>
          <a:noFill/>
          <a:ln/>
        </p:spPr>
        <p:txBody>
          <a:bodyPr wrap="square" rtlCol="0" anchor="ctr"/>
          <a:lstStyle/>
          <a:p>
            <a:pPr indent="0" marL="0">
              <a:buNone/>
            </a:pPr>
            <a:r>
              <a:rPr lang="en-US" sz="1300" dirty="0">
                <a:solidFill>
                  <a:srgbClr val="062F67"/>
                </a:solidFill>
                <a:latin typeface="Arial Black" pitchFamily="34" charset="0"/>
                <a:ea typeface="Arial Black" pitchFamily="34" charset="-122"/>
                <a:cs typeface="Arial Black" pitchFamily="34" charset="-120"/>
              </a:rPr>
              <a:t>🎧 6.9</a:t>
            </a:r>
            <a:endParaRPr lang="en-US" sz="1300" dirty="0"/>
          </a:p>
        </p:txBody>
      </p:sp>
      <p:sp>
        <p:nvSpPr>
          <p:cNvPr id="18" name="box_177"/>
          <p:cNvSpPr txBox="1"/>
          <p:nvPr/>
        </p:nvSpPr>
        <p:spPr>
          <a:xfrm>
            <a:off x="2788920" y="2103120"/>
            <a:ext cx="3741725" cy="36576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700" dirty="0">
                <a:solidFill>
                  <a:srgbClr val="111111"/>
                </a:solidFill>
                <a:latin typeface="Calibri" pitchFamily="34" charset="0"/>
                <a:ea typeface="Calibri" pitchFamily="34" charset="-122"/>
                <a:cs typeface="Calibri" pitchFamily="34" charset="-120"/>
              </a:rPr>
              <a:t>1  How many times were some scenes repeated? How did that make Dagmara feel?</a:t>
            </a:r>
            <a:endParaRPr lang="en-US" sz="700" dirty="0"/>
          </a:p>
        </p:txBody>
      </p:sp>
      <p:sp>
        <p:nvSpPr>
          <p:cNvPr id="19" name="R1_la0"/>
          <p:cNvSpPr txBox="1"/>
          <p:nvPr/>
        </p:nvSpPr>
        <p:spPr>
          <a:xfrm>
            <a:off x="6585509" y="2130552"/>
            <a:ext cx="2238451" cy="310896"/>
          </a:xfrm>
          <a:prstGeom prst="roundRect">
            <a:avLst>
              <a:gd name="adj" fmla="val 1764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16 times · 'my fault?' · nervous</a:t>
            </a:r>
            <a:endParaRPr lang="en-US" sz="1100" dirty="0"/>
          </a:p>
        </p:txBody>
      </p:sp>
      <p:sp>
        <p:nvSpPr>
          <p:cNvPr id="20" name="box_178"/>
          <p:cNvSpPr txBox="1"/>
          <p:nvPr/>
        </p:nvSpPr>
        <p:spPr>
          <a:xfrm>
            <a:off x="2788920" y="2542032"/>
            <a:ext cx="3741725" cy="36576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850" dirty="0">
                <a:solidFill>
                  <a:srgbClr val="111111"/>
                </a:solidFill>
                <a:latin typeface="Calibri" pitchFamily="34" charset="0"/>
                <a:ea typeface="Calibri" pitchFamily="34" charset="-122"/>
                <a:cs typeface="Calibri" pitchFamily="34" charset="-120"/>
              </a:rPr>
              <a:t>2  Why did Spielberg start shouting at her? What happened after that?</a:t>
            </a:r>
            <a:endParaRPr lang="en-US" sz="850" dirty="0"/>
          </a:p>
        </p:txBody>
      </p:sp>
      <p:sp>
        <p:nvSpPr>
          <p:cNvPr id="21" name="R1_la1"/>
          <p:cNvSpPr txBox="1"/>
          <p:nvPr/>
        </p:nvSpPr>
        <p:spPr>
          <a:xfrm>
            <a:off x="6585509" y="2569464"/>
            <a:ext cx="2238451" cy="310896"/>
          </a:xfrm>
          <a:prstGeom prst="roundRect">
            <a:avLst>
              <a:gd name="adj" fmla="val 17647"/>
            </a:avLst>
          </a:prstGeom>
          <a:solidFill>
            <a:srgbClr val="FFFFFF"/>
          </a:solidFill>
          <a:ln w="38100">
            <a:solidFill>
              <a:srgbClr val="1FA463"/>
            </a:solidFill>
          </a:ln>
        </p:spPr>
        <p:txBody>
          <a:bodyPr wrap="square" lIns="25400" tIns="25400" rIns="25400" bIns="25400" rtlCol="0" anchor="ctr"/>
          <a:lstStyle/>
          <a:p>
            <a:pPr algn="ctr" indent="0" marL="0">
              <a:buNone/>
            </a:pPr>
            <a:r>
              <a:rPr lang="en-US" sz="950" dirty="0">
                <a:solidFill>
                  <a:srgbClr val="111111"/>
                </a:solidFill>
                <a:latin typeface="Calibri" pitchFamily="34" charset="0"/>
                <a:ea typeface="Calibri" pitchFamily="34" charset="-122"/>
                <a:cs typeface="Calibri" pitchFamily="34" charset="-120"/>
              </a:rPr>
              <a:t>stressed · apologized · she cried · OK</a:t>
            </a:r>
            <a:endParaRPr lang="en-US" sz="950" dirty="0"/>
          </a:p>
        </p:txBody>
      </p:sp>
      <p:sp>
        <p:nvSpPr>
          <p:cNvPr id="22" name="box_179"/>
          <p:cNvSpPr txBox="1"/>
          <p:nvPr/>
        </p:nvSpPr>
        <p:spPr>
          <a:xfrm>
            <a:off x="2788920" y="2980944"/>
            <a:ext cx="3741725" cy="36576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800" dirty="0">
                <a:solidFill>
                  <a:srgbClr val="111111"/>
                </a:solidFill>
                <a:latin typeface="Calibri" pitchFamily="34" charset="0"/>
                <a:ea typeface="Calibri" pitchFamily="34" charset="-122"/>
                <a:cs typeface="Calibri" pitchFamily="34" charset="-120"/>
              </a:rPr>
              <a:t>3  In general, how did Spielberg treat her? What example does she give?</a:t>
            </a:r>
            <a:endParaRPr lang="en-US" sz="800" dirty="0"/>
          </a:p>
        </p:txBody>
      </p:sp>
      <p:sp>
        <p:nvSpPr>
          <p:cNvPr id="23" name="R1_la2"/>
          <p:cNvSpPr txBox="1"/>
          <p:nvPr/>
        </p:nvSpPr>
        <p:spPr>
          <a:xfrm>
            <a:off x="6585509" y="3008376"/>
            <a:ext cx="2238451" cy="310896"/>
          </a:xfrm>
          <a:prstGeom prst="roundRect">
            <a:avLst>
              <a:gd name="adj" fmla="val 17647"/>
            </a:avLst>
          </a:prstGeom>
          <a:solidFill>
            <a:srgbClr val="FFFFFF"/>
          </a:solidFill>
          <a:ln w="38100">
            <a:solidFill>
              <a:srgbClr val="1FA463"/>
            </a:solidFill>
          </a:ln>
        </p:spPr>
        <p:txBody>
          <a:bodyPr wrap="square" lIns="25400" tIns="25400" rIns="25400" bIns="25400" rtlCol="0" anchor="ctr"/>
          <a:lstStyle/>
          <a:p>
            <a:pPr algn="ctr" indent="0" marL="0">
              <a:buNone/>
            </a:pPr>
            <a:r>
              <a:rPr lang="en-US" sz="800" dirty="0">
                <a:solidFill>
                  <a:srgbClr val="111111"/>
                </a:solidFill>
                <a:latin typeface="Calibri" pitchFamily="34" charset="0"/>
                <a:ea typeface="Calibri" pitchFamily="34" charset="-122"/>
                <a:cs typeface="Calibri" pitchFamily="34" charset="-120"/>
              </a:rPr>
              <a:t>really nice, like a daughter · warm coat, gloves</a:t>
            </a:r>
            <a:endParaRPr lang="en-US" sz="800" dirty="0"/>
          </a:p>
        </p:txBody>
      </p:sp>
      <p:sp>
        <p:nvSpPr>
          <p:cNvPr id="24" name="box_180"/>
          <p:cNvSpPr txBox="1"/>
          <p:nvPr/>
        </p:nvSpPr>
        <p:spPr>
          <a:xfrm>
            <a:off x="2788920" y="3419856"/>
            <a:ext cx="3741725" cy="365760"/>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700" dirty="0">
                <a:solidFill>
                  <a:srgbClr val="111111"/>
                </a:solidFill>
                <a:latin typeface="Calibri" pitchFamily="34" charset="0"/>
                <a:ea typeface="Calibri" pitchFamily="34" charset="-122"/>
                <a:cs typeface="Calibri" pitchFamily="34" charset="-120"/>
              </a:rPr>
              <a:t>4  What scenes was she going to appear in as an extra? Why did she not appear in the final version of the film?</a:t>
            </a:r>
            <a:endParaRPr lang="en-US" sz="700" dirty="0"/>
          </a:p>
        </p:txBody>
      </p:sp>
      <p:sp>
        <p:nvSpPr>
          <p:cNvPr id="25" name="R1_la3"/>
          <p:cNvSpPr txBox="1"/>
          <p:nvPr/>
        </p:nvSpPr>
        <p:spPr>
          <a:xfrm>
            <a:off x="6585509" y="3447288"/>
            <a:ext cx="2238451" cy="310896"/>
          </a:xfrm>
          <a:prstGeom prst="roundRect">
            <a:avLst>
              <a:gd name="adj" fmla="val 17647"/>
            </a:avLst>
          </a:prstGeom>
          <a:solidFill>
            <a:srgbClr val="FFFFFF"/>
          </a:solidFill>
          <a:ln w="38100">
            <a:solidFill>
              <a:srgbClr val="1FA463"/>
            </a:solidFill>
          </a:ln>
        </p:spPr>
        <p:txBody>
          <a:bodyPr wrap="square" lIns="25400" tIns="25400" rIns="25400" bIns="25400" rtlCol="0" anchor="ctr"/>
          <a:lstStyle/>
          <a:p>
            <a:pPr algn="ctr" indent="0" marL="0">
              <a:buNone/>
            </a:pPr>
            <a:r>
              <a:rPr lang="en-US" sz="900" dirty="0">
                <a:solidFill>
                  <a:srgbClr val="111111"/>
                </a:solidFill>
                <a:latin typeface="Calibri" pitchFamily="34" charset="0"/>
                <a:ea typeface="Calibri" pitchFamily="34" charset="-122"/>
                <a:cs typeface="Calibri" pitchFamily="34" charset="-120"/>
              </a:rPr>
              <a:t>2 party scenes: 1 cut · twisted her ankle</a:t>
            </a:r>
            <a:endParaRPr lang="en-US" sz="900" dirty="0"/>
          </a:p>
        </p:txBody>
      </p:sp>
      <p:sp>
        <p:nvSpPr>
          <p:cNvPr id="26" name="box_181"/>
          <p:cNvSpPr txBox="1"/>
          <p:nvPr/>
        </p:nvSpPr>
        <p:spPr>
          <a:xfrm>
            <a:off x="2788920" y="3858768"/>
            <a:ext cx="3741725" cy="365760"/>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050" dirty="0">
                <a:solidFill>
                  <a:srgbClr val="111111"/>
                </a:solidFill>
                <a:latin typeface="Calibri" pitchFamily="34" charset="0"/>
                <a:ea typeface="Calibri" pitchFamily="34" charset="-122"/>
                <a:cs typeface="Calibri" pitchFamily="34" charset="-120"/>
              </a:rPr>
              <a:t>5  Did she ever work with Spielberg again?</a:t>
            </a:r>
            <a:endParaRPr lang="en-US" sz="1050" dirty="0"/>
          </a:p>
        </p:txBody>
      </p:sp>
      <p:sp>
        <p:nvSpPr>
          <p:cNvPr id="27" name="R1_la4"/>
          <p:cNvSpPr txBox="1"/>
          <p:nvPr/>
        </p:nvSpPr>
        <p:spPr>
          <a:xfrm>
            <a:off x="6585509" y="3886200"/>
            <a:ext cx="2238451" cy="310896"/>
          </a:xfrm>
          <a:prstGeom prst="roundRect">
            <a:avLst>
              <a:gd name="adj" fmla="val 1764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yes – the premiere in Poland</a:t>
            </a:r>
            <a:endParaRPr lang="en-US" sz="1100" dirty="0"/>
          </a:p>
        </p:txBody>
      </p:sp>
      <p:sp>
        <p:nvSpPr>
          <p:cNvPr id="28" name="box_182"/>
          <p:cNvSpPr txBox="1"/>
          <p:nvPr/>
        </p:nvSpPr>
        <p:spPr>
          <a:xfrm>
            <a:off x="2788920" y="4297680"/>
            <a:ext cx="3741725" cy="365760"/>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750" dirty="0">
                <a:solidFill>
                  <a:srgbClr val="111111"/>
                </a:solidFill>
                <a:latin typeface="Calibri" pitchFamily="34" charset="0"/>
                <a:ea typeface="Calibri" pitchFamily="34" charset="-122"/>
                <a:cs typeface="Calibri" pitchFamily="34" charset="-120"/>
              </a:rPr>
              <a:t>6  What offer did Spielberg make to Dagmara? Does she regret not accepting it?</a:t>
            </a:r>
            <a:endParaRPr lang="en-US" sz="750" dirty="0"/>
          </a:p>
        </p:txBody>
      </p:sp>
      <p:sp>
        <p:nvSpPr>
          <p:cNvPr id="29" name="R1_la5"/>
          <p:cNvSpPr txBox="1"/>
          <p:nvPr/>
        </p:nvSpPr>
        <p:spPr>
          <a:xfrm>
            <a:off x="6585509" y="4325112"/>
            <a:ext cx="2238451" cy="310896"/>
          </a:xfrm>
          <a:prstGeom prst="roundRect">
            <a:avLst>
              <a:gd name="adj" fmla="val 1764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00" dirty="0">
                <a:solidFill>
                  <a:srgbClr val="111111"/>
                </a:solidFill>
                <a:latin typeface="Calibri" pitchFamily="34" charset="0"/>
                <a:ea typeface="Calibri" pitchFamily="34" charset="-122"/>
                <a:cs typeface="Calibri" pitchFamily="34" charset="-120"/>
              </a:rPr>
              <a:t>assistant in Hollywood · no, not at all</a:t>
            </a:r>
            <a:endParaRPr lang="en-US" sz="1000" dirty="0"/>
          </a:p>
        </p:txBody>
      </p:sp>
      <p:sp>
        <p:nvSpPr>
          <p:cNvPr id="30" name="pageTag_183"/>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p.59 · 5d, 5e, 5f, 5g, 5h · audio 6.8, 6.9</a:t>
            </a:r>
            <a:endParaRPr lang="en-US" sz="1050" dirty="0"/>
          </a:p>
        </p:txBody>
      </p:sp>
      <p:sp>
        <p:nvSpPr>
          <p:cNvPr id="31" name="pframe_184"/>
          <p:cNvSpPr/>
          <p:nvPr/>
        </p:nvSpPr>
        <p:spPr>
          <a:xfrm rot="-120000">
            <a:off x="914400" y="3108960"/>
            <a:ext cx="914400" cy="1563624"/>
          </a:xfrm>
          <a:prstGeom prst="rect">
            <a:avLst/>
          </a:prstGeom>
          <a:solidFill>
            <a:srgbClr val="FFFFFF"/>
          </a:solidFill>
          <a:ln w="19050">
            <a:solidFill>
              <a:srgbClr val="111111"/>
            </a:solidFill>
            <a:prstDash val="solid"/>
          </a:ln>
          <a:effectLst>
            <a:outerShdw sx="100000" sy="100000" kx="0" ky="0" algn="bl" rotWithShape="0" blurRad="101600" dist="38100" dir="2700000">
              <a:srgbClr val="000000">
                <a:alpha val="35000"/>
              </a:srgbClr>
            </a:outerShdw>
          </a:effectLst>
        </p:spPr>
      </p:sp>
      <p:pic>
        <p:nvPicPr>
          <p:cNvPr id="32" name="pimg_185" descr="picture">    </p:cNvPr>
          <p:cNvPicPr>
            <a:picLocks noChangeAspect="1"/>
          </p:cNvPicPr>
          <p:nvPr/>
        </p:nvPicPr>
        <p:blipFill>
          <a:blip r:embed="rId9"/>
          <a:srcRect l="0" r="0" t="0" b="0"/>
          <a:stretch/>
        </p:blipFill>
        <p:spPr>
          <a:xfrm rot="-120000">
            <a:off x="987552" y="3182112"/>
            <a:ext cx="768096" cy="1344168"/>
          </a:xfrm>
          <a:prstGeom prst="rect">
            <a:avLst/>
          </a:prstGeom>
        </p:spPr>
      </p:pic>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par>
                                <p:cTn id="8" presetID="10" presetClass="entr" presetSubtype="0" fill="hold"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400"/>
                                        <p:tgtEl>
                                          <p:spTgt spid="21"/>
                                        </p:tgtEl>
                                      </p:cBhvr>
                                    </p:animEffect>
                                  </p:childTnLst>
                                </p:cTn>
                              </p:par>
                              <p:par>
                                <p:cTn id="11" presetID="10" presetClass="entr" presetSubtype="0" fill="hold" nodeType="withEffect">
                                  <p:stCondLst>
                                    <p:cond delay="0"/>
                                  </p:stCondLst>
                                  <p:childTnLst>
                                    <p:set>
                                      <p:cBhvr>
                                        <p:cTn id="12" dur="1" fill="hold">
                                          <p:stCondLst>
                                            <p:cond delay="0"/>
                                          </p:stCondLst>
                                        </p:cTn>
                                        <p:tgtEl>
                                          <p:spTgt spid="23"/>
                                        </p:tgtEl>
                                        <p:attrNameLst>
                                          <p:attrName>style.visibility</p:attrName>
                                        </p:attrNameLst>
                                      </p:cBhvr>
                                      <p:to>
                                        <p:strVal val="visible"/>
                                      </p:to>
                                    </p:set>
                                    <p:animEffect transition="in" filter="fade">
                                      <p:cBhvr>
                                        <p:cTn id="13" dur="400"/>
                                        <p:tgtEl>
                                          <p:spTgt spid="23"/>
                                        </p:tgtEl>
                                      </p:cBhvr>
                                    </p:animEffect>
                                  </p:childTnLst>
                                </p:cTn>
                              </p:par>
                              <p:par>
                                <p:cTn id="14" presetID="10" presetClass="entr" presetSubtype="0" fill="hold"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400"/>
                                        <p:tgtEl>
                                          <p:spTgt spid="25"/>
                                        </p:tgtEl>
                                      </p:cBhvr>
                                    </p:animEffect>
                                  </p:childTnLst>
                                </p:cTn>
                              </p:par>
                              <p:par>
                                <p:cTn id="17" presetID="10" presetClass="entr" presetSubtype="0" fill="hold" nodeType="withEffect">
                                  <p:stCondLst>
                                    <p:cond delay="0"/>
                                  </p:stCondLst>
                                  <p:childTnLst>
                                    <p:set>
                                      <p:cBhvr>
                                        <p:cTn id="18" dur="1" fill="hold">
                                          <p:stCondLst>
                                            <p:cond delay="0"/>
                                          </p:stCondLst>
                                        </p:cTn>
                                        <p:tgtEl>
                                          <p:spTgt spid="27"/>
                                        </p:tgtEl>
                                        <p:attrNameLst>
                                          <p:attrName>style.visibility</p:attrName>
                                        </p:attrNameLst>
                                      </p:cBhvr>
                                      <p:to>
                                        <p:strVal val="visible"/>
                                      </p:to>
                                    </p:set>
                                    <p:animEffect transition="in" filter="fade">
                                      <p:cBhvr>
                                        <p:cTn id="19" dur="400"/>
                                        <p:tgtEl>
                                          <p:spTgt spid="27"/>
                                        </p:tgtEl>
                                      </p:cBhvr>
                                    </p:animEffect>
                                  </p:childTnLst>
                                </p:cTn>
                              </p:par>
                              <p:par>
                                <p:cTn id="20" presetID="10" presetClass="entr" presetSubtype="0" fill="hold" nodeType="with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fade">
                                      <p:cBhvr>
                                        <p:cTn id="22" dur="4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23" restart="whenNotActive" fill="hold" evtFilter="cancelBubble" nodeType="interactiveSeq">
                <p:stCondLst>
                  <p:cond evt="onClick" delay="0">
                    <p:tgtEl>
                      <p:spTgt spid="14"/>
                    </p:tgtEl>
                  </p:cond>
                </p:stCondLst>
                <p:endSync evt="end" delay="0">
                  <p:rtn val="all"/>
                </p:endSync>
                <p:childTnLst>
                  <p:par>
                    <p:cTn id="24" fill="hold">
                      <p:stCondLst>
                        <p:cond delay="0"/>
                      </p:stCondLst>
                      <p:childTnLst>
                        <p:par>
                          <p:cTn id="25" fill="hold">
                            <p:stCondLst>
                              <p:cond delay="0"/>
                            </p:stCondLst>
                            <p:childTnLst>
                              <p:par>
                                <p:cTn id="26" presetID="2" presetClass="mediacall" presetSubtype="0" fill="hold" nodeType="clickEffect">
                                  <p:stCondLst>
                                    <p:cond delay="0"/>
                                  </p:stCondLst>
                                  <p:childTnLst>
                                    <p:cmd type="call" cmd="togglePause">
                                      <p:cBhvr>
                                        <p:cTn id="27" dur="1" fill="hold"/>
                                        <p:tgtEl>
                                          <p:spTgt spid="14"/>
                                        </p:tgtEl>
                                      </p:cBhvr>
                                    </p:cmd>
                                  </p:childTnLst>
                                </p:cTn>
                              </p:par>
                            </p:childTnLst>
                          </p:cTn>
                        </p:par>
                      </p:childTnLst>
                    </p:cTn>
                  </p:par>
                </p:childTnLst>
              </p:cTn>
              <p:nextCondLst>
                <p:cond evt="onClick" delay="0">
                  <p:tgtEl>
                    <p:spTgt spid="14"/>
                  </p:tgtEl>
                </p:cond>
              </p:nextCondLst>
            </p:seq>
            <p:seq concurrent="1" nextAc="seek">
              <p:cTn id="28" restart="whenNotActive" fill="hold" evtFilter="cancelBubble" nodeType="interactiveSeq">
                <p:stCondLst>
                  <p:cond evt="onClick" delay="0">
                    <p:tgtEl>
                      <p:spTgt spid="16"/>
                    </p:tgtEl>
                  </p:cond>
                </p:stCondLst>
                <p:endSync evt="end" delay="0">
                  <p:rtn val="all"/>
                </p:endSync>
                <p:childTnLst>
                  <p:par>
                    <p:cTn id="29" fill="hold">
                      <p:stCondLst>
                        <p:cond delay="0"/>
                      </p:stCondLst>
                      <p:childTnLst>
                        <p:par>
                          <p:cTn id="30" fill="hold">
                            <p:stCondLst>
                              <p:cond delay="0"/>
                            </p:stCondLst>
                            <p:childTnLst>
                              <p:par>
                                <p:cTn id="31" presetID="2" presetClass="mediacall" presetSubtype="0" fill="hold" nodeType="clickEffect">
                                  <p:stCondLst>
                                    <p:cond delay="0"/>
                                  </p:stCondLst>
                                  <p:childTnLst>
                                    <p:cmd type="call" cmd="togglePause">
                                      <p:cBhvr>
                                        <p:cTn id="32" dur="1" fill="hold"/>
                                        <p:tgtEl>
                                          <p:spTgt spid="16"/>
                                        </p:tgtEl>
                                      </p:cBhvr>
                                    </p:cmd>
                                  </p:childTnLst>
                                </p:cTn>
                              </p:par>
                            </p:childTnLst>
                          </p:cTn>
                        </p:par>
                      </p:childTnLst>
                    </p:cTn>
                  </p:par>
                </p:childTnLst>
              </p:cTn>
              <p:nextCondLst>
                <p:cond evt="onClick" delay="0">
                  <p:tgtEl>
                    <p:spTgt spid="16"/>
                  </p:tgtEl>
                </p:cond>
              </p:nextCondLst>
            </p:seq>
            <p:audio>
              <p:cMediaNode vol="80000">
                <p:cTn id="33" fill="hold" display="0">
                  <p:stCondLst>
                    <p:cond delay="indefinite"/>
                  </p:stCondLst>
                  <p:endCondLst>
                    <p:cond evt="onStopAudio" delay="0">
                      <p:tgtEl>
                        <p:sldTgt/>
                      </p:tgtEl>
                    </p:cond>
                  </p:endCondLst>
                </p:cTn>
                <p:tgtEl>
                  <p:spTgt spid="14"/>
                </p:tgtEl>
              </p:cMediaNode>
            </p:audio>
            <p:audio>
              <p:cMediaNode vol="80000">
                <p:cTn id="34" fill="hold" display="0">
                  <p:stCondLst>
                    <p:cond delay="indefinite"/>
                  </p:stCondLst>
                  <p:endCondLst>
                    <p:cond evt="onStopAudio" delay="0">
                      <p:tgtEl>
                        <p:sldTgt/>
                      </p:tgtEl>
                    </p:cond>
                  </p:endCondLst>
                </p:cTn>
                <p:tgtEl>
                  <p:spTgt spid="16"/>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86"/>
          <p:cNvSpPr/>
          <p:nvPr/>
        </p:nvSpPr>
        <p:spPr>
          <a:xfrm>
            <a:off x="54864" y="54864"/>
            <a:ext cx="9034272" cy="5033772"/>
          </a:xfrm>
          <a:prstGeom prst="rect">
            <a:avLst/>
          </a:prstGeom>
          <a:ln w="114300">
            <a:solidFill>
              <a:srgbClr val="A8E6B4"/>
            </a:solidFill>
            <a:prstDash val="solid"/>
          </a:ln>
        </p:spPr>
      </p:sp>
      <p:pic>
        <p:nvPicPr>
          <p:cNvPr id="4" name="logo_187"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88"/>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SPEAKING · Communicative photocopiable 6A · A v B</a:t>
            </a:r>
            <a:endParaRPr lang="en-US" sz="900" dirty="0"/>
          </a:p>
        </p:txBody>
      </p:sp>
      <p:sp>
        <p:nvSpPr>
          <p:cNvPr id="6" name="timer_189"/>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7 min</a:t>
            </a:r>
            <a:endParaRPr lang="en-US" sz="1200" dirty="0"/>
          </a:p>
        </p:txBody>
      </p:sp>
      <p:sp>
        <p:nvSpPr>
          <p:cNvPr id="7" name="footer_190"/>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6A · Part 2</a:t>
            </a:r>
            <a:endParaRPr lang="en-US" sz="1000" dirty="0"/>
          </a:p>
        </p:txBody>
      </p:sp>
      <p:sp>
        <p:nvSpPr>
          <p:cNvPr id="8" name="title_191"/>
          <p:cNvSpPr txBox="1"/>
          <p:nvPr/>
        </p:nvSpPr>
        <p:spPr>
          <a:xfrm rot="90000">
            <a:off x="320040" y="676656"/>
            <a:ext cx="2066544"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Film quiz</a:t>
            </a:r>
            <a:endParaRPr lang="en-US" sz="1500" dirty="0"/>
          </a:p>
        </p:txBody>
      </p:sp>
      <p:sp>
        <p:nvSpPr>
          <p:cNvPr id="9" name="tape_192"/>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10" name="tape_193"/>
          <p:cNvSpPr/>
          <p:nvPr/>
        </p:nvSpPr>
        <p:spPr>
          <a:xfrm rot="-720000">
            <a:off x="1819656" y="1069848"/>
            <a:ext cx="685800" cy="219456"/>
          </a:xfrm>
          <a:prstGeom prst="rect">
            <a:avLst/>
          </a:prstGeom>
          <a:solidFill>
            <a:srgbClr val="FFD84D">
              <a:alpha val="75000"/>
            </a:srgbClr>
          </a:solidFill>
          <a:ln w="6350">
            <a:solidFill>
              <a:srgbClr val="FFD84D"/>
            </a:solidFill>
            <a:prstDash val="solid"/>
          </a:ln>
        </p:spPr>
      </p:sp>
      <p:sp>
        <p:nvSpPr>
          <p:cNvPr id="11" name="post_194"/>
          <p:cNvSpPr/>
          <p:nvPr/>
        </p:nvSpPr>
        <p:spPr>
          <a:xfrm>
            <a:off x="429768" y="1554480"/>
            <a:ext cx="128016" cy="2194560"/>
          </a:xfrm>
          <a:prstGeom prst="rect">
            <a:avLst/>
          </a:prstGeom>
          <a:solidFill>
            <a:srgbClr val="8B5A2B"/>
          </a:solidFill>
          <a:ln w="31750">
            <a:solidFill>
              <a:srgbClr val="111111"/>
            </a:solidFill>
            <a:prstDash val="solid"/>
          </a:ln>
        </p:spPr>
      </p:sp>
      <p:sp>
        <p:nvSpPr>
          <p:cNvPr id="12" name="signA_195"/>
          <p:cNvSpPr txBox="1"/>
          <p:nvPr/>
        </p:nvSpPr>
        <p:spPr>
          <a:xfrm rot="-180000">
            <a:off x="320040" y="1371600"/>
            <a:ext cx="2240280" cy="457200"/>
          </a:xfrm>
          <a:prstGeom prst="homePlate">
            <a:avLst/>
          </a:prstGeom>
          <a:solidFill>
            <a:srgbClr val="EF2F2F"/>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SPEAK!</a:t>
            </a:r>
            <a:pPr indent="0" marL="0">
              <a:buNone/>
            </a:pPr>
            <a:r>
              <a:rPr lang="en-US" sz="1000" dirty="0">
                <a:solidFill>
                  <a:srgbClr val="FFF3B0"/>
                </a:solidFill>
                <a:latin typeface="Arial Black" pitchFamily="34" charset="0"/>
                <a:ea typeface="Arial Black" pitchFamily="34" charset="-122"/>
                <a:cs typeface="Arial Black" pitchFamily="34" charset="-120"/>
              </a:rPr>
              <a:t>  PARLA!</a:t>
            </a:r>
            <a:endParaRPr lang="en-US" sz="1500" dirty="0"/>
          </a:p>
        </p:txBody>
      </p:sp>
      <p:sp>
        <p:nvSpPr>
          <p:cNvPr id="13" name="signB_196"/>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100" dirty="0">
                <a:solidFill>
                  <a:srgbClr val="111111"/>
                </a:solidFill>
                <a:latin typeface="Calibri" pitchFamily="34" charset="0"/>
                <a:ea typeface="Calibri" pitchFamily="34" charset="-122"/>
                <a:cs typeface="Calibri" pitchFamily="34" charset="-120"/>
              </a:rPr>
              <a:t>Complete your questions with the passive. Then quiz your partner!</a:t>
            </a:r>
            <a:endParaRPr lang="en-US" sz="1100" dirty="0"/>
          </a:p>
          <a:p>
            <a:pPr indent="0" marL="0">
              <a:buNone/>
            </a:pPr>
            <a:r>
              <a:rPr lang="en-US" sz="1000" i="1" dirty="0">
                <a:solidFill>
                  <a:srgbClr val="334155"/>
                </a:solidFill>
                <a:latin typeface="Calibri" pitchFamily="34" charset="0"/>
                <a:ea typeface="Calibri" pitchFamily="34" charset="-122"/>
                <a:cs typeface="Calibri" pitchFamily="34" charset="-120"/>
              </a:rPr>
              <a:t>Completa le domande con il passivo. Poi fai il quiz al compagno!</a:t>
            </a:r>
            <a:endParaRPr lang="en-US" sz="1100" dirty="0"/>
          </a:p>
        </p:txBody>
      </p:sp>
      <p:sp>
        <p:nvSpPr>
          <p:cNvPr id="14" name="iconBack_197"/>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5" name="icon_198" descr="gi:GiFilmProjector">    </p:cNvPr>
          <p:cNvPicPr>
            <a:picLocks noChangeAspect="1"/>
          </p:cNvPicPr>
          <p:nvPr/>
        </p:nvPicPr>
        <p:blipFill>
          <a:blip r:embed="rId3"/>
          <a:stretch>
            <a:fillRect/>
          </a:stretch>
        </p:blipFill>
        <p:spPr>
          <a:xfrm>
            <a:off x="914400" y="3474720"/>
            <a:ext cx="685800" cy="685800"/>
          </a:xfrm>
          <a:prstGeom prst="rect">
            <a:avLst/>
          </a:prstGeom>
        </p:spPr>
      </p:pic>
      <p:sp>
        <p:nvSpPr>
          <p:cNvPr id="16" name="num_199"/>
          <p:cNvSpPr txBox="1"/>
          <p:nvPr/>
        </p:nvSpPr>
        <p:spPr>
          <a:xfrm>
            <a:off x="2788920" y="1412748"/>
            <a:ext cx="384048" cy="384048"/>
          </a:xfrm>
          <a:prstGeom prst="ellipse">
            <a:avLst/>
          </a:prstGeom>
          <a:solidFill>
            <a:srgbClr val="EF2F2F"/>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1</a:t>
            </a:r>
            <a:endParaRPr lang="en-US" sz="1300" dirty="0"/>
          </a:p>
        </p:txBody>
      </p:sp>
      <p:sp>
        <p:nvSpPr>
          <p:cNvPr id="17" name="box_200"/>
          <p:cNvSpPr txBox="1"/>
          <p:nvPr/>
        </p:nvSpPr>
        <p:spPr>
          <a:xfrm>
            <a:off x="3264408" y="1371600"/>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 Print: B1_6A_Photocopiables.pdf, page 2 – cut into A and B.</a:t>
            </a:r>
            <a:endParaRPr lang="en-US" sz="1250" dirty="0"/>
          </a:p>
        </p:txBody>
      </p:sp>
      <p:sp>
        <p:nvSpPr>
          <p:cNvPr id="18" name="num_201"/>
          <p:cNvSpPr txBox="1"/>
          <p:nvPr/>
        </p:nvSpPr>
        <p:spPr>
          <a:xfrm>
            <a:off x="2788920" y="1970532"/>
            <a:ext cx="384048" cy="384048"/>
          </a:xfrm>
          <a:prstGeom prst="ellipse">
            <a:avLst/>
          </a:prstGeom>
          <a:solidFill>
            <a:srgbClr val="48BDF2"/>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2</a:t>
            </a:r>
            <a:endParaRPr lang="en-US" sz="1300" dirty="0"/>
          </a:p>
        </p:txBody>
      </p:sp>
      <p:sp>
        <p:nvSpPr>
          <p:cNvPr id="19" name="box_202"/>
          <p:cNvSpPr txBox="1"/>
          <p:nvPr/>
        </p:nvSpPr>
        <p:spPr>
          <a:xfrm>
            <a:off x="3264408" y="1929384"/>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Complete your 8 questions with the passive – careful with the tense!</a:t>
            </a:r>
            <a:endParaRPr lang="en-US" sz="1250" dirty="0"/>
          </a:p>
        </p:txBody>
      </p:sp>
      <p:sp>
        <p:nvSpPr>
          <p:cNvPr id="20" name="num_203"/>
          <p:cNvSpPr txBox="1"/>
          <p:nvPr/>
        </p:nvSpPr>
        <p:spPr>
          <a:xfrm>
            <a:off x="2788920" y="2528316"/>
            <a:ext cx="384048" cy="384048"/>
          </a:xfrm>
          <a:prstGeom prst="ellipse">
            <a:avLst/>
          </a:prstGeom>
          <a:solidFill>
            <a:srgbClr val="1FA463"/>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3</a:t>
            </a:r>
            <a:endParaRPr lang="en-US" sz="1300" dirty="0"/>
          </a:p>
        </p:txBody>
      </p:sp>
      <p:sp>
        <p:nvSpPr>
          <p:cNvPr id="21" name="box_204"/>
          <p:cNvSpPr txBox="1"/>
          <p:nvPr/>
        </p:nvSpPr>
        <p:spPr>
          <a:xfrm>
            <a:off x="3264408" y="2487168"/>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Teacher checks the questions.</a:t>
            </a:r>
            <a:endParaRPr lang="en-US" sz="1250" dirty="0"/>
          </a:p>
        </p:txBody>
      </p:sp>
      <p:sp>
        <p:nvSpPr>
          <p:cNvPr id="22" name="num_205"/>
          <p:cNvSpPr txBox="1"/>
          <p:nvPr/>
        </p:nvSpPr>
        <p:spPr>
          <a:xfrm>
            <a:off x="2788920" y="3086100"/>
            <a:ext cx="384048" cy="384048"/>
          </a:xfrm>
          <a:prstGeom prst="ellipse">
            <a:avLst/>
          </a:prstGeom>
          <a:solidFill>
            <a:srgbClr val="F59E0B"/>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4</a:t>
            </a:r>
            <a:endParaRPr lang="en-US" sz="1300" dirty="0"/>
          </a:p>
        </p:txBody>
      </p:sp>
      <p:sp>
        <p:nvSpPr>
          <p:cNvPr id="23" name="box_206"/>
          <p:cNvSpPr txBox="1"/>
          <p:nvPr/>
        </p:nvSpPr>
        <p:spPr>
          <a:xfrm>
            <a:off x="3264408" y="3044952"/>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050" dirty="0">
                <a:solidFill>
                  <a:srgbClr val="111111"/>
                </a:solidFill>
                <a:latin typeface="Calibri" pitchFamily="34" charset="0"/>
                <a:ea typeface="Calibri" pitchFamily="34" charset="-122"/>
                <a:cs typeface="Calibri" pitchFamily="34" charset="-120"/>
              </a:rPr>
              <a:t>A asks B question 1 – B chooses a, b or c. Then B asks A. One point per correct answer.</a:t>
            </a:r>
            <a:endParaRPr lang="en-US" sz="1050" dirty="0"/>
          </a:p>
        </p:txBody>
      </p:sp>
      <p:sp>
        <p:nvSpPr>
          <p:cNvPr id="24" name="num_207"/>
          <p:cNvSpPr txBox="1"/>
          <p:nvPr/>
        </p:nvSpPr>
        <p:spPr>
          <a:xfrm>
            <a:off x="2788920" y="3643884"/>
            <a:ext cx="384048" cy="384048"/>
          </a:xfrm>
          <a:prstGeom prst="ellipse">
            <a:avLst/>
          </a:prstGeom>
          <a:solidFill>
            <a:srgbClr val="6D3FC0"/>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5</a:t>
            </a:r>
            <a:endParaRPr lang="en-US" sz="1300" dirty="0"/>
          </a:p>
        </p:txBody>
      </p:sp>
      <p:sp>
        <p:nvSpPr>
          <p:cNvPr id="25" name="box_208"/>
          <p:cNvSpPr txBox="1"/>
          <p:nvPr/>
        </p:nvSpPr>
        <p:spPr>
          <a:xfrm>
            <a:off x="3264408" y="3602736"/>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Who knows more about films?</a:t>
            </a:r>
            <a:endParaRPr lang="en-US" sz="1250" dirty="0"/>
          </a:p>
        </p:txBody>
      </p:sp>
      <p:sp>
        <p:nvSpPr>
          <p:cNvPr id="26" name="bubble_209"/>
          <p:cNvSpPr txBox="1"/>
          <p:nvPr/>
        </p:nvSpPr>
        <p:spPr>
          <a:xfrm>
            <a:off x="3246120" y="4160520"/>
            <a:ext cx="5577840" cy="502920"/>
          </a:xfrm>
          <a:prstGeom prst="round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250" b="1" i="1" dirty="0">
                <a:solidFill>
                  <a:srgbClr val="111111"/>
                </a:solidFill>
                <a:latin typeface="Calibri" pitchFamily="34" charset="0"/>
                <a:ea typeface="Calibri" pitchFamily="34" charset="-122"/>
                <a:cs typeface="Calibri" pitchFamily="34" charset="-120"/>
              </a:rPr>
              <a:t>Which of these films was directed by Steven Spielberg? a … b … c …</a:t>
            </a:r>
            <a:endParaRPr lang="en-US" sz="1250" dirty="0"/>
          </a:p>
        </p:txBody>
      </p:sp>
      <p:sp>
        <p:nvSpPr>
          <p:cNvPr id="27" name="pageTag_210"/>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Communicative photocopiable 6A 'Film quiz' (TG p.188, notes p.172)</a:t>
            </a:r>
            <a:endParaRPr lang="en-US" sz="1050" dirty="0"/>
          </a:p>
        </p:txBody>
      </p:sp>
    </p:spTree>
  </p:cSld>
  <p:clrMapOvr>
    <a:masterClrMapping/>
  </p:clrMapOvr>
  <p:transition spd="med">
    <p:push dir="l"/>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11"/>
          <p:cNvSpPr/>
          <p:nvPr/>
        </p:nvSpPr>
        <p:spPr>
          <a:xfrm>
            <a:off x="54864" y="54864"/>
            <a:ext cx="9034272" cy="5033772"/>
          </a:xfrm>
          <a:prstGeom prst="rect">
            <a:avLst/>
          </a:prstGeom>
          <a:ln w="114300">
            <a:solidFill>
              <a:srgbClr val="A8E6B4"/>
            </a:solidFill>
            <a:prstDash val="solid"/>
          </a:ln>
        </p:spPr>
      </p:sp>
      <p:pic>
        <p:nvPicPr>
          <p:cNvPr id="4" name="logo_212"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13"/>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SPEAKING · Cinema interview</a:t>
            </a:r>
            <a:endParaRPr lang="en-US" sz="900" dirty="0"/>
          </a:p>
        </p:txBody>
      </p:sp>
      <p:sp>
        <p:nvSpPr>
          <p:cNvPr id="6" name="timer_214"/>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7 min</a:t>
            </a:r>
            <a:endParaRPr lang="en-US" sz="1200" dirty="0"/>
          </a:p>
        </p:txBody>
      </p:sp>
      <p:sp>
        <p:nvSpPr>
          <p:cNvPr id="7" name="footer_215"/>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6A · Part 2</a:t>
            </a:r>
            <a:endParaRPr lang="en-US" sz="1000" dirty="0"/>
          </a:p>
        </p:txBody>
      </p:sp>
      <p:sp>
        <p:nvSpPr>
          <p:cNvPr id="8" name="title_216"/>
          <p:cNvSpPr txBox="1"/>
          <p:nvPr/>
        </p:nvSpPr>
        <p:spPr>
          <a:xfrm rot="90000">
            <a:off x="320040" y="676656"/>
            <a:ext cx="2761488"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This or that?</a:t>
            </a:r>
            <a:endParaRPr lang="en-US" sz="1500" dirty="0"/>
          </a:p>
        </p:txBody>
      </p:sp>
      <p:sp>
        <p:nvSpPr>
          <p:cNvPr id="9" name="tape_217"/>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10" name="tape_218"/>
          <p:cNvSpPr/>
          <p:nvPr/>
        </p:nvSpPr>
        <p:spPr>
          <a:xfrm rot="-720000">
            <a:off x="2514600" y="1069848"/>
            <a:ext cx="685800" cy="219456"/>
          </a:xfrm>
          <a:prstGeom prst="rect">
            <a:avLst/>
          </a:prstGeom>
          <a:solidFill>
            <a:srgbClr val="FFD84D">
              <a:alpha val="75000"/>
            </a:srgbClr>
          </a:solidFill>
          <a:ln w="6350">
            <a:solidFill>
              <a:srgbClr val="FFD84D"/>
            </a:solidFill>
            <a:prstDash val="solid"/>
          </a:ln>
        </p:spPr>
      </p:sp>
      <p:sp>
        <p:nvSpPr>
          <p:cNvPr id="11" name="post_219"/>
          <p:cNvSpPr/>
          <p:nvPr/>
        </p:nvSpPr>
        <p:spPr>
          <a:xfrm>
            <a:off x="429768" y="1554480"/>
            <a:ext cx="128016" cy="2194560"/>
          </a:xfrm>
          <a:prstGeom prst="rect">
            <a:avLst/>
          </a:prstGeom>
          <a:solidFill>
            <a:srgbClr val="8B5A2B"/>
          </a:solidFill>
          <a:ln w="31750">
            <a:solidFill>
              <a:srgbClr val="111111"/>
            </a:solidFill>
            <a:prstDash val="solid"/>
          </a:ln>
        </p:spPr>
      </p:sp>
      <p:sp>
        <p:nvSpPr>
          <p:cNvPr id="12" name="signA_220"/>
          <p:cNvSpPr txBox="1"/>
          <p:nvPr/>
        </p:nvSpPr>
        <p:spPr>
          <a:xfrm rot="-180000">
            <a:off x="320040" y="1371600"/>
            <a:ext cx="2240280" cy="457200"/>
          </a:xfrm>
          <a:prstGeom prst="homePlate">
            <a:avLst/>
          </a:prstGeom>
          <a:solidFill>
            <a:srgbClr val="EF2F2F"/>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SPEAK!</a:t>
            </a:r>
            <a:pPr indent="0" marL="0">
              <a:buNone/>
            </a:pPr>
            <a:r>
              <a:rPr lang="en-US" sz="1000" dirty="0">
                <a:solidFill>
                  <a:srgbClr val="FFF3B0"/>
                </a:solidFill>
                <a:latin typeface="Arial Black" pitchFamily="34" charset="0"/>
                <a:ea typeface="Arial Black" pitchFamily="34" charset="-122"/>
                <a:cs typeface="Arial Black" pitchFamily="34" charset="-120"/>
              </a:rPr>
              <a:t>  PARLA!</a:t>
            </a:r>
            <a:endParaRPr lang="en-US" sz="1500" dirty="0"/>
          </a:p>
        </p:txBody>
      </p:sp>
      <p:sp>
        <p:nvSpPr>
          <p:cNvPr id="13" name="signB_221"/>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Choose ONE – no 'both'! Then explain to your partner.</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Scegli UNO – non 'tutti e due'! Poi spiega al compagno.</a:t>
            </a:r>
            <a:endParaRPr lang="en-US" sz="1250" dirty="0"/>
          </a:p>
        </p:txBody>
      </p:sp>
      <p:sp>
        <p:nvSpPr>
          <p:cNvPr id="14" name="box_222"/>
          <p:cNvSpPr txBox="1"/>
          <p:nvPr/>
        </p:nvSpPr>
        <p:spPr>
          <a:xfrm>
            <a:off x="2788920" y="1371600"/>
            <a:ext cx="2953512" cy="726948"/>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350" dirty="0">
                <a:solidFill>
                  <a:srgbClr val="111111"/>
                </a:solidFill>
                <a:latin typeface="Calibri" pitchFamily="34" charset="0"/>
                <a:ea typeface="Calibri" pitchFamily="34" charset="-122"/>
                <a:cs typeface="Calibri" pitchFamily="34" charset="-120"/>
              </a:rPr>
              <a:t>1  the cinema or at home on the sofa?</a:t>
            </a:r>
            <a:endParaRPr lang="en-US" sz="1350" dirty="0"/>
          </a:p>
        </p:txBody>
      </p:sp>
      <p:sp>
        <p:nvSpPr>
          <p:cNvPr id="15" name="box_223"/>
          <p:cNvSpPr txBox="1"/>
          <p:nvPr/>
        </p:nvSpPr>
        <p:spPr>
          <a:xfrm>
            <a:off x="5870448" y="1371600"/>
            <a:ext cx="2953512" cy="726948"/>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350" dirty="0">
                <a:solidFill>
                  <a:srgbClr val="111111"/>
                </a:solidFill>
                <a:latin typeface="Calibri" pitchFamily="34" charset="0"/>
                <a:ea typeface="Calibri" pitchFamily="34" charset="-122"/>
                <a:cs typeface="Calibri" pitchFamily="34" charset="-120"/>
              </a:rPr>
              <a:t>2  dubbed or original with subtitles?</a:t>
            </a:r>
            <a:endParaRPr lang="en-US" sz="1350" dirty="0"/>
          </a:p>
        </p:txBody>
      </p:sp>
      <p:sp>
        <p:nvSpPr>
          <p:cNvPr id="16" name="box_224"/>
          <p:cNvSpPr txBox="1"/>
          <p:nvPr/>
        </p:nvSpPr>
        <p:spPr>
          <a:xfrm>
            <a:off x="2788920" y="2226564"/>
            <a:ext cx="2953512" cy="726948"/>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350" dirty="0">
                <a:solidFill>
                  <a:srgbClr val="111111"/>
                </a:solidFill>
                <a:latin typeface="Calibri" pitchFamily="34" charset="0"/>
                <a:ea typeface="Calibri" pitchFamily="34" charset="-122"/>
                <a:cs typeface="Calibri" pitchFamily="34" charset="-120"/>
              </a:rPr>
              <a:t>3  watch the trailer or avoid it?</a:t>
            </a:r>
            <a:endParaRPr lang="en-US" sz="1350" dirty="0"/>
          </a:p>
        </p:txBody>
      </p:sp>
      <p:sp>
        <p:nvSpPr>
          <p:cNvPr id="17" name="box_225"/>
          <p:cNvSpPr txBox="1"/>
          <p:nvPr/>
        </p:nvSpPr>
        <p:spPr>
          <a:xfrm>
            <a:off x="5870448" y="2226564"/>
            <a:ext cx="2953512" cy="726948"/>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350" dirty="0">
                <a:solidFill>
                  <a:srgbClr val="111111"/>
                </a:solidFill>
                <a:latin typeface="Calibri" pitchFamily="34" charset="0"/>
                <a:ea typeface="Calibri" pitchFamily="34" charset="-122"/>
                <a:cs typeface="Calibri" pitchFamily="34" charset="-120"/>
              </a:rPr>
              <a:t>4  the book or the film?</a:t>
            </a:r>
            <a:endParaRPr lang="en-US" sz="1350" dirty="0"/>
          </a:p>
        </p:txBody>
      </p:sp>
      <p:sp>
        <p:nvSpPr>
          <p:cNvPr id="18" name="box_226"/>
          <p:cNvSpPr txBox="1"/>
          <p:nvPr/>
        </p:nvSpPr>
        <p:spPr>
          <a:xfrm>
            <a:off x="2788920" y="3081528"/>
            <a:ext cx="2953512" cy="726948"/>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350" dirty="0">
                <a:solidFill>
                  <a:srgbClr val="111111"/>
                </a:solidFill>
                <a:latin typeface="Calibri" pitchFamily="34" charset="0"/>
                <a:ea typeface="Calibri" pitchFamily="34" charset="-122"/>
                <a:cs typeface="Calibri" pitchFamily="34" charset="-120"/>
              </a:rPr>
              <a:t>5  the original or the sequel?</a:t>
            </a:r>
            <a:endParaRPr lang="en-US" sz="1350" dirty="0"/>
          </a:p>
        </p:txBody>
      </p:sp>
      <p:sp>
        <p:nvSpPr>
          <p:cNvPr id="19" name="box_227"/>
          <p:cNvSpPr txBox="1"/>
          <p:nvPr/>
        </p:nvSpPr>
        <p:spPr>
          <a:xfrm>
            <a:off x="5870448" y="3081528"/>
            <a:ext cx="2953512" cy="726948"/>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1350" dirty="0">
                <a:solidFill>
                  <a:srgbClr val="111111"/>
                </a:solidFill>
                <a:latin typeface="Calibri" pitchFamily="34" charset="0"/>
                <a:ea typeface="Calibri" pitchFamily="34" charset="-122"/>
                <a:cs typeface="Calibri" pitchFamily="34" charset="-120"/>
              </a:rPr>
              <a:t>6  a horror film or a rom-com?</a:t>
            </a:r>
            <a:endParaRPr lang="en-US" sz="1350" dirty="0"/>
          </a:p>
        </p:txBody>
      </p:sp>
      <p:sp>
        <p:nvSpPr>
          <p:cNvPr id="20" name="box_228"/>
          <p:cNvSpPr txBox="1"/>
          <p:nvPr/>
        </p:nvSpPr>
        <p:spPr>
          <a:xfrm>
            <a:off x="2788920" y="3936492"/>
            <a:ext cx="2953512" cy="726948"/>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350" dirty="0">
                <a:solidFill>
                  <a:srgbClr val="111111"/>
                </a:solidFill>
                <a:latin typeface="Calibri" pitchFamily="34" charset="0"/>
                <a:ea typeface="Calibri" pitchFamily="34" charset="-122"/>
                <a:cs typeface="Calibri" pitchFamily="34" charset="-120"/>
              </a:rPr>
              <a:t>7  popcorn or no food?</a:t>
            </a:r>
            <a:endParaRPr lang="en-US" sz="1350" dirty="0"/>
          </a:p>
        </p:txBody>
      </p:sp>
      <p:sp>
        <p:nvSpPr>
          <p:cNvPr id="21" name="box_229"/>
          <p:cNvSpPr txBox="1"/>
          <p:nvPr/>
        </p:nvSpPr>
        <p:spPr>
          <a:xfrm>
            <a:off x="5870448" y="3936492"/>
            <a:ext cx="2953512" cy="726948"/>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350" dirty="0">
                <a:solidFill>
                  <a:srgbClr val="111111"/>
                </a:solidFill>
                <a:latin typeface="Calibri" pitchFamily="34" charset="0"/>
                <a:ea typeface="Calibri" pitchFamily="34" charset="-122"/>
                <a:cs typeface="Calibri" pitchFamily="34" charset="-120"/>
              </a:rPr>
              <a:t>8  cry at films: never or often?</a:t>
            </a:r>
            <a:endParaRPr lang="en-US" sz="1350" dirty="0"/>
          </a:p>
        </p:txBody>
      </p:sp>
      <p:sp>
        <p:nvSpPr>
          <p:cNvPr id="22" name="sticky_230"/>
          <p:cNvSpPr txBox="1"/>
          <p:nvPr/>
        </p:nvSpPr>
        <p:spPr>
          <a:xfrm rot="-120000">
            <a:off x="411480" y="4023360"/>
            <a:ext cx="2194560" cy="640080"/>
          </a:xfrm>
          <a:prstGeom prst="rect">
            <a:avLst/>
          </a:prstGeom>
          <a:solidFill>
            <a:srgbClr val="FFD84D"/>
          </a:solidFill>
          <a:ln w="12700">
            <a:solidFill>
              <a:srgbClr val="B7950B"/>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150" b="1" dirty="0">
                <a:solidFill>
                  <a:srgbClr val="111111"/>
                </a:solidFill>
                <a:latin typeface="Calibri" pitchFamily="34" charset="0"/>
                <a:ea typeface="Calibri" pitchFamily="34" charset="-122"/>
                <a:cs typeface="Calibri" pitchFamily="34" charset="-120"/>
              </a:rPr>
              <a:t>I'd rather… because… · Definitely… · I can't stand…</a:t>
            </a:r>
            <a:endParaRPr lang="en-US" sz="1150" dirty="0"/>
          </a:p>
        </p:txBody>
      </p:sp>
      <p:sp>
        <p:nvSpPr>
          <p:cNvPr id="23" name="pageTag_231"/>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p.59 · 6a, 6b</a:t>
            </a:r>
            <a:endParaRPr lang="en-US" sz="1050" dirty="0"/>
          </a:p>
        </p:txBody>
      </p:sp>
    </p:spTree>
  </p:cSld>
  <p:clrMapOvr>
    <a:masterClrMapping/>
  </p:clrMapOvr>
  <p:transition spd="med">
    <p:push dir="l"/>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32"/>
          <p:cNvSpPr/>
          <p:nvPr/>
        </p:nvSpPr>
        <p:spPr>
          <a:xfrm>
            <a:off x="54864" y="54864"/>
            <a:ext cx="9034272" cy="5033772"/>
          </a:xfrm>
          <a:prstGeom prst="rect">
            <a:avLst/>
          </a:prstGeom>
          <a:ln w="114300">
            <a:solidFill>
              <a:srgbClr val="A8E6B4"/>
            </a:solidFill>
            <a:prstDash val="solid"/>
          </a:ln>
        </p:spPr>
      </p:sp>
      <p:pic>
        <p:nvPicPr>
          <p:cNvPr id="4" name="logo_233"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footer_234"/>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6A · Part 2</a:t>
            </a:r>
            <a:endParaRPr lang="en-US" sz="1000" dirty="0"/>
          </a:p>
        </p:txBody>
      </p:sp>
      <p:sp>
        <p:nvSpPr>
          <p:cNvPr id="6" name="title_235"/>
          <p:cNvSpPr txBox="1"/>
          <p:nvPr/>
        </p:nvSpPr>
        <p:spPr>
          <a:xfrm rot="90000">
            <a:off x="320040" y="676656"/>
            <a:ext cx="4151376"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Look what you can do!</a:t>
            </a:r>
            <a:endParaRPr lang="en-US" sz="1500" dirty="0"/>
          </a:p>
        </p:txBody>
      </p:sp>
      <p:sp>
        <p:nvSpPr>
          <p:cNvPr id="7" name="tape_236"/>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8" name="tape_237"/>
          <p:cNvSpPr/>
          <p:nvPr/>
        </p:nvSpPr>
        <p:spPr>
          <a:xfrm rot="-720000">
            <a:off x="3904488" y="1069848"/>
            <a:ext cx="685800" cy="219456"/>
          </a:xfrm>
          <a:prstGeom prst="rect">
            <a:avLst/>
          </a:prstGeom>
          <a:solidFill>
            <a:srgbClr val="FFD84D">
              <a:alpha val="75000"/>
            </a:srgbClr>
          </a:solidFill>
          <a:ln w="6350">
            <a:solidFill>
              <a:srgbClr val="FFD84D"/>
            </a:solidFill>
            <a:prstDash val="solid"/>
          </a:ln>
        </p:spPr>
      </p:sp>
      <p:sp>
        <p:nvSpPr>
          <p:cNvPr id="9" name="sub_238"/>
          <p:cNvSpPr txBox="1"/>
          <p:nvPr/>
        </p:nvSpPr>
        <p:spPr>
          <a:xfrm>
            <a:off x="365760" y="1234440"/>
            <a:ext cx="3657600" cy="274320"/>
          </a:xfrm>
          <a:prstGeom prst="rect">
            <a:avLst/>
          </a:prstGeom>
          <a:noFill/>
          <a:ln/>
        </p:spPr>
        <p:txBody>
          <a:bodyPr wrap="square" rtlCol="0" anchor="ctr"/>
          <a:lstStyle/>
          <a:p>
            <a:pPr indent="0" marL="0">
              <a:buNone/>
            </a:pPr>
            <a:r>
              <a:rPr lang="en-US" sz="1200" i="1" dirty="0">
                <a:solidFill>
                  <a:srgbClr val="334155"/>
                </a:solidFill>
                <a:latin typeface="Calibri" pitchFamily="34" charset="0"/>
                <a:ea typeface="Calibri" pitchFamily="34" charset="-122"/>
                <a:cs typeface="Calibri" pitchFamily="34" charset="-120"/>
              </a:rPr>
              <a:t>Guarda cosa sai fare adesso!</a:t>
            </a:r>
            <a:endParaRPr lang="en-US" sz="1200" dirty="0"/>
          </a:p>
        </p:txBody>
      </p:sp>
      <p:sp>
        <p:nvSpPr>
          <p:cNvPr id="10" name="box_239"/>
          <p:cNvSpPr txBox="1"/>
          <p:nvPr/>
        </p:nvSpPr>
        <p:spPr>
          <a:xfrm>
            <a:off x="365760" y="1600200"/>
            <a:ext cx="4846320" cy="54864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350" b="1" dirty="0">
                <a:solidFill>
                  <a:srgbClr val="111111"/>
                </a:solidFill>
                <a:latin typeface="Calibri" pitchFamily="34" charset="0"/>
                <a:ea typeface="Calibri" pitchFamily="34" charset="-122"/>
                <a:cs typeface="Calibri" pitchFamily="34" charset="-120"/>
              </a:rPr>
              <a:t>✓  I can talk about films with cinema vocabulary.</a:t>
            </a:r>
            <a:endParaRPr lang="en-US" sz="1350" dirty="0"/>
          </a:p>
        </p:txBody>
      </p:sp>
      <p:sp>
        <p:nvSpPr>
          <p:cNvPr id="11" name="faces_240"/>
          <p:cNvSpPr txBox="1"/>
          <p:nvPr/>
        </p:nvSpPr>
        <p:spPr>
          <a:xfrm>
            <a:off x="5230368" y="1600200"/>
            <a:ext cx="1188720" cy="548640"/>
          </a:xfrm>
          <a:prstGeom prst="rect">
            <a:avLst/>
          </a:prstGeom>
          <a:noFill/>
          <a:ln/>
        </p:spPr>
        <p:txBody>
          <a:bodyPr wrap="square" rtlCol="0" anchor="ctr"/>
          <a:lstStyle/>
          <a:p>
            <a:pPr algn="ctr" indent="0" marL="0">
              <a:buNone/>
            </a:pPr>
            <a:r>
              <a:rPr lang="en-US" sz="1400" dirty="0">
                <a:solidFill>
                  <a:srgbClr val="000000"/>
                </a:solidFill>
                <a:latin typeface="Calibri" pitchFamily="34" charset="0"/>
                <a:ea typeface="Calibri" pitchFamily="34" charset="-122"/>
                <a:cs typeface="Calibri" pitchFamily="34" charset="-120"/>
              </a:rPr>
              <a:t>😀 🙂 😐</a:t>
            </a:r>
            <a:endParaRPr lang="en-US" sz="1400" dirty="0"/>
          </a:p>
        </p:txBody>
      </p:sp>
      <p:sp>
        <p:nvSpPr>
          <p:cNvPr id="12" name="box_241"/>
          <p:cNvSpPr txBox="1"/>
          <p:nvPr/>
        </p:nvSpPr>
        <p:spPr>
          <a:xfrm>
            <a:off x="365760" y="2240280"/>
            <a:ext cx="4846320" cy="54864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350" b="1" dirty="0">
                <a:solidFill>
                  <a:srgbClr val="111111"/>
                </a:solidFill>
                <a:latin typeface="Calibri" pitchFamily="34" charset="0"/>
                <a:ea typeface="Calibri" pitchFamily="34" charset="-122"/>
                <a:cs typeface="Calibri" pitchFamily="34" charset="-120"/>
              </a:rPr>
              <a:t>✓  I can understand an interview and make notes.</a:t>
            </a:r>
            <a:endParaRPr lang="en-US" sz="1350" dirty="0"/>
          </a:p>
        </p:txBody>
      </p:sp>
      <p:sp>
        <p:nvSpPr>
          <p:cNvPr id="13" name="faces_242"/>
          <p:cNvSpPr txBox="1"/>
          <p:nvPr/>
        </p:nvSpPr>
        <p:spPr>
          <a:xfrm>
            <a:off x="5230368" y="2240280"/>
            <a:ext cx="1188720" cy="548640"/>
          </a:xfrm>
          <a:prstGeom prst="rect">
            <a:avLst/>
          </a:prstGeom>
          <a:noFill/>
          <a:ln/>
        </p:spPr>
        <p:txBody>
          <a:bodyPr wrap="square" rtlCol="0" anchor="ctr"/>
          <a:lstStyle/>
          <a:p>
            <a:pPr algn="ctr" indent="0" marL="0">
              <a:buNone/>
            </a:pPr>
            <a:r>
              <a:rPr lang="en-US" sz="1400" dirty="0">
                <a:solidFill>
                  <a:srgbClr val="000000"/>
                </a:solidFill>
                <a:latin typeface="Calibri" pitchFamily="34" charset="0"/>
                <a:ea typeface="Calibri" pitchFamily="34" charset="-122"/>
                <a:cs typeface="Calibri" pitchFamily="34" charset="-120"/>
              </a:rPr>
              <a:t>😀 🙂 😐</a:t>
            </a:r>
            <a:endParaRPr lang="en-US" sz="1400" dirty="0"/>
          </a:p>
        </p:txBody>
      </p:sp>
      <p:sp>
        <p:nvSpPr>
          <p:cNvPr id="14" name="box_243"/>
          <p:cNvSpPr txBox="1"/>
          <p:nvPr/>
        </p:nvSpPr>
        <p:spPr>
          <a:xfrm>
            <a:off x="365760" y="2880360"/>
            <a:ext cx="4846320" cy="54864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350" b="1" dirty="0">
                <a:solidFill>
                  <a:srgbClr val="111111"/>
                </a:solidFill>
                <a:latin typeface="Calibri" pitchFamily="34" charset="0"/>
                <a:ea typeface="Calibri" pitchFamily="34" charset="-122"/>
                <a:cs typeface="Calibri" pitchFamily="34" charset="-120"/>
              </a:rPr>
              <a:t>✓  I can ask and answer questions about films.</a:t>
            </a:r>
            <a:endParaRPr lang="en-US" sz="1350" dirty="0"/>
          </a:p>
        </p:txBody>
      </p:sp>
      <p:sp>
        <p:nvSpPr>
          <p:cNvPr id="15" name="faces_244"/>
          <p:cNvSpPr txBox="1"/>
          <p:nvPr/>
        </p:nvSpPr>
        <p:spPr>
          <a:xfrm>
            <a:off x="5230368" y="2880360"/>
            <a:ext cx="1188720" cy="548640"/>
          </a:xfrm>
          <a:prstGeom prst="rect">
            <a:avLst/>
          </a:prstGeom>
          <a:noFill/>
          <a:ln/>
        </p:spPr>
        <p:txBody>
          <a:bodyPr wrap="square" rtlCol="0" anchor="ctr"/>
          <a:lstStyle/>
          <a:p>
            <a:pPr algn="ctr" indent="0" marL="0">
              <a:buNone/>
            </a:pPr>
            <a:r>
              <a:rPr lang="en-US" sz="1400" dirty="0">
                <a:solidFill>
                  <a:srgbClr val="000000"/>
                </a:solidFill>
                <a:latin typeface="Calibri" pitchFamily="34" charset="0"/>
                <a:ea typeface="Calibri" pitchFamily="34" charset="-122"/>
                <a:cs typeface="Calibri" pitchFamily="34" charset="-120"/>
              </a:rPr>
              <a:t>😀 🙂 😐</a:t>
            </a:r>
            <a:endParaRPr lang="en-US" sz="1400" dirty="0"/>
          </a:p>
        </p:txBody>
      </p:sp>
      <p:sp>
        <p:nvSpPr>
          <p:cNvPr id="16" name="hw_245"/>
          <p:cNvSpPr txBox="1"/>
          <p:nvPr/>
        </p:nvSpPr>
        <p:spPr>
          <a:xfrm rot="90000">
            <a:off x="6446520" y="1325880"/>
            <a:ext cx="2377440" cy="2651760"/>
          </a:xfrm>
          <a:prstGeom prst="rect">
            <a:avLst/>
          </a:prstGeom>
          <a:solidFill>
            <a:srgbClr val="062F67"/>
          </a:solidFill>
          <a:ln w="31750">
            <a:solidFill>
              <a:srgbClr val="111111"/>
            </a:solidFill>
          </a:ln>
          <a:effectLst>
            <a:outerShdw sx="100000" sy="100000" kx="0" ky="0" algn="bl" rotWithShape="0" blurRad="101600" dist="38100" dir="2700000">
              <a:srgbClr val="000000">
                <a:alpha val="35000"/>
              </a:srgbClr>
            </a:outerShdw>
          </a:effectLst>
        </p:spPr>
        <p:txBody>
          <a:bodyPr wrap="square" lIns="114300" tIns="114300" rIns="114300" bIns="114300" rtlCol="0" anchor="t"/>
          <a:lstStyle/>
          <a:p>
            <a:pPr indent="0" marL="0">
              <a:spcAft>
                <a:spcPts val="500"/>
              </a:spcAft>
              <a:buNone/>
            </a:pPr>
            <a:r>
              <a:rPr lang="en-US" sz="1200" b="1" dirty="0">
                <a:solidFill>
                  <a:srgbClr val="FFD84D"/>
                </a:solidFill>
                <a:latin typeface="Arial Black" pitchFamily="34" charset="0"/>
                <a:ea typeface="Arial Black" pitchFamily="34" charset="-122"/>
                <a:cs typeface="Arial Black" pitchFamily="34" charset="-120"/>
              </a:rPr>
              <a:t>HOMEWORK · COMPITI</a:t>
            </a:r>
            <a:endParaRPr lang="en-US" sz="1250" dirty="0"/>
          </a:p>
          <a:p>
            <a:pPr indent="0" marL="0">
              <a:spcAft>
                <a:spcPts val="500"/>
              </a:spcAft>
              <a:buNone/>
            </a:pPr>
            <a:r>
              <a:rPr lang="en-US" sz="1250" dirty="0">
                <a:solidFill>
                  <a:srgbClr val="FFFFFF"/>
                </a:solidFill>
                <a:latin typeface="Calibri" pitchFamily="34" charset="0"/>
                <a:ea typeface="Calibri" pitchFamily="34" charset="-122"/>
                <a:cs typeface="Calibri" pitchFamily="34" charset="-120"/>
              </a:rPr>
              <a:t>• Workbook 6A: 3a, 3b, 3c</a:t>
            </a:r>
            <a:endParaRPr lang="en-US" sz="1250" dirty="0"/>
          </a:p>
          <a:p>
            <a:pPr indent="0" marL="0">
              <a:spcAft>
                <a:spcPts val="500"/>
              </a:spcAft>
              <a:buNone/>
            </a:pPr>
            <a:r>
              <a:rPr lang="en-US" sz="1250" dirty="0">
                <a:solidFill>
                  <a:srgbClr val="FFFFFF"/>
                </a:solidFill>
                <a:latin typeface="Calibri" pitchFamily="34" charset="0"/>
                <a:ea typeface="Calibri" pitchFamily="34" charset="-122"/>
                <a:cs typeface="Calibri" pitchFamily="34" charset="-120"/>
              </a:rPr>
              <a:t>• Vocabulary Bank p.159: test yourself</a:t>
            </a:r>
            <a:endParaRPr lang="en-US" sz="1250" dirty="0"/>
          </a:p>
          <a:p>
            <a:pPr indent="0" marL="0">
              <a:spcAft>
                <a:spcPts val="500"/>
              </a:spcAft>
              <a:buNone/>
            </a:pPr>
            <a:r>
              <a:rPr lang="en-US" sz="1250" dirty="0">
                <a:solidFill>
                  <a:srgbClr val="FFFFFF"/>
                </a:solidFill>
                <a:latin typeface="Calibri" pitchFamily="34" charset="0"/>
                <a:ea typeface="Calibri" pitchFamily="34" charset="-122"/>
                <a:cs typeface="Calibri" pitchFamily="34" charset="-120"/>
              </a:rPr>
              <a:t>• Writing p.119 (optional)</a:t>
            </a:r>
            <a:endParaRPr lang="en-US" sz="1250" dirty="0"/>
          </a:p>
          <a:p>
            <a:pPr indent="0" marL="0">
              <a:spcAft>
                <a:spcPts val="500"/>
              </a:spcAft>
              <a:buNone/>
            </a:pPr>
            <a:r>
              <a:rPr lang="en-US" sz="1250" dirty="0">
                <a:solidFill>
                  <a:srgbClr val="FFFFFF"/>
                </a:solidFill>
                <a:latin typeface="Calibri" pitchFamily="34" charset="0"/>
                <a:ea typeface="Calibri" pitchFamily="34" charset="-122"/>
                <a:cs typeface="Calibri" pitchFamily="34" charset="-120"/>
              </a:rPr>
              <a:t>• Homework sheet 6A-2</a:t>
            </a:r>
            <a:endParaRPr lang="en-US" sz="1250" dirty="0"/>
          </a:p>
          <a:p>
            <a:pPr indent="0" marL="0">
              <a:spcAft>
                <a:spcPts val="500"/>
              </a:spcAft>
              <a:buNone/>
            </a:pPr>
            <a:r>
              <a:rPr lang="en-US" sz="1050" i="1" dirty="0">
                <a:solidFill>
                  <a:srgbClr val="C7D2FE"/>
                </a:solidFill>
                <a:latin typeface="Calibri" pitchFamily="34" charset="0"/>
                <a:ea typeface="Calibri" pitchFamily="34" charset="-122"/>
                <a:cs typeface="Calibri" pitchFamily="34" charset="-120"/>
              </a:rPr>
              <a:t>📷 Hand it in on the LLS app · Consegna nell'app LLS</a:t>
            </a:r>
            <a:endParaRPr lang="en-US" sz="1250" dirty="0"/>
          </a:p>
        </p:txBody>
      </p:sp>
      <p:sp>
        <p:nvSpPr>
          <p:cNvPr id="17" name="stamp_246"/>
          <p:cNvSpPr txBox="1"/>
          <p:nvPr/>
        </p:nvSpPr>
        <p:spPr>
          <a:xfrm>
            <a:off x="365760" y="3657600"/>
            <a:ext cx="5212080" cy="384048"/>
          </a:xfrm>
          <a:prstGeom prst="roundRect">
            <a:avLst>
              <a:gd name="adj" fmla="val 14286"/>
            </a:avLst>
          </a:prstGeom>
          <a:solidFill>
            <a:srgbClr val="FFFFFF"/>
          </a:solidFill>
          <a:ln w="38100">
            <a:solidFill>
              <a:srgbClr val="6D3FC0"/>
            </a:solidFill>
          </a:ln>
        </p:spPr>
        <p:txBody>
          <a:bodyPr wrap="square" lIns="25400" tIns="25400" rIns="25400" bIns="25400" rtlCol="0" anchor="ctr"/>
          <a:lstStyle/>
          <a:p>
            <a:pPr algn="ctr" indent="0" marL="0">
              <a:buNone/>
            </a:pPr>
            <a:r>
              <a:rPr lang="en-US" sz="1200" dirty="0">
                <a:solidFill>
                  <a:srgbClr val="6D3FC0"/>
                </a:solidFill>
                <a:latin typeface="Calibri" pitchFamily="34" charset="0"/>
                <a:ea typeface="Calibri" pitchFamily="34" charset="-122"/>
                <a:cs typeface="Calibri" pitchFamily="34" charset="-120"/>
              </a:rPr>
              <a:t>Next lesson: 6B part 1 · Every picture tells a story</a:t>
            </a:r>
            <a:endParaRPr lang="en-US" sz="1200" dirty="0"/>
          </a:p>
        </p:txBody>
      </p:sp>
    </p:spTree>
  </p:cSld>
  <p:clrMapOvr>
    <a:masterClrMapping/>
  </p:clrMapOvr>
  <p:transition spd="med">
    <p:push dir="l"/>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47"/>
          <p:cNvSpPr/>
          <p:nvPr/>
        </p:nvSpPr>
        <p:spPr>
          <a:xfrm>
            <a:off x="54864" y="54864"/>
            <a:ext cx="9034272" cy="5033772"/>
          </a:xfrm>
          <a:prstGeom prst="rect">
            <a:avLst/>
          </a:prstGeom>
          <a:ln w="114300">
            <a:solidFill>
              <a:srgbClr val="A8E6B4"/>
            </a:solidFill>
            <a:prstDash val="solid"/>
          </a:ln>
        </p:spPr>
      </p:sp>
      <p:pic>
        <p:nvPicPr>
          <p:cNvPr id="4" name="logo_248"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49"/>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EXTRA · Speaking · Pitch a film</a:t>
            </a:r>
            <a:endParaRPr lang="en-US" sz="900" dirty="0"/>
          </a:p>
        </p:txBody>
      </p:sp>
      <p:sp>
        <p:nvSpPr>
          <p:cNvPr id="6" name="timer_250"/>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8 min</a:t>
            </a:r>
            <a:endParaRPr lang="en-US" sz="1200" dirty="0"/>
          </a:p>
        </p:txBody>
      </p:sp>
      <p:sp>
        <p:nvSpPr>
          <p:cNvPr id="7" name="extra_251"/>
          <p:cNvSpPr txBox="1"/>
          <p:nvPr/>
        </p:nvSpPr>
        <p:spPr>
          <a:xfrm rot="360000">
            <a:off x="5943600" y="201168"/>
            <a:ext cx="1005840" cy="347472"/>
          </a:xfrm>
          <a:prstGeom prst="roundRect">
            <a:avLst>
              <a:gd name="adj" fmla="val 21053"/>
            </a:avLst>
          </a:prstGeom>
          <a:solidFill>
            <a:srgbClr val="1FA463"/>
          </a:solidFill>
          <a:ln w="317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EXTRA</a:t>
            </a:r>
            <a:endParaRPr lang="en-US" sz="1300" dirty="0"/>
          </a:p>
        </p:txBody>
      </p:sp>
      <p:sp>
        <p:nvSpPr>
          <p:cNvPr id="8" name="footer_252"/>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6A · Part 2</a:t>
            </a:r>
            <a:endParaRPr lang="en-US" sz="1000" dirty="0"/>
          </a:p>
        </p:txBody>
      </p:sp>
      <p:sp>
        <p:nvSpPr>
          <p:cNvPr id="9" name="title_253"/>
          <p:cNvSpPr txBox="1"/>
          <p:nvPr/>
        </p:nvSpPr>
        <p:spPr>
          <a:xfrm rot="90000">
            <a:off x="320040" y="676656"/>
            <a:ext cx="3282696"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Pitch your film!</a:t>
            </a:r>
            <a:endParaRPr lang="en-US" sz="1500" dirty="0"/>
          </a:p>
        </p:txBody>
      </p:sp>
      <p:sp>
        <p:nvSpPr>
          <p:cNvPr id="10" name="tape_254"/>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11" name="tape_255"/>
          <p:cNvSpPr/>
          <p:nvPr/>
        </p:nvSpPr>
        <p:spPr>
          <a:xfrm rot="-720000">
            <a:off x="3035808" y="1069848"/>
            <a:ext cx="685800" cy="219456"/>
          </a:xfrm>
          <a:prstGeom prst="rect">
            <a:avLst/>
          </a:prstGeom>
          <a:solidFill>
            <a:srgbClr val="FFD84D">
              <a:alpha val="75000"/>
            </a:srgbClr>
          </a:solidFill>
          <a:ln w="6350">
            <a:solidFill>
              <a:srgbClr val="FFD84D"/>
            </a:solidFill>
            <a:prstDash val="solid"/>
          </a:ln>
        </p:spPr>
      </p:sp>
      <p:sp>
        <p:nvSpPr>
          <p:cNvPr id="12" name="post_256"/>
          <p:cNvSpPr/>
          <p:nvPr/>
        </p:nvSpPr>
        <p:spPr>
          <a:xfrm>
            <a:off x="429768" y="1554480"/>
            <a:ext cx="128016" cy="2194560"/>
          </a:xfrm>
          <a:prstGeom prst="rect">
            <a:avLst/>
          </a:prstGeom>
          <a:solidFill>
            <a:srgbClr val="8B5A2B"/>
          </a:solidFill>
          <a:ln w="31750">
            <a:solidFill>
              <a:srgbClr val="111111"/>
            </a:solidFill>
            <a:prstDash val="solid"/>
          </a:ln>
        </p:spPr>
      </p:sp>
      <p:sp>
        <p:nvSpPr>
          <p:cNvPr id="13" name="signA_257"/>
          <p:cNvSpPr txBox="1"/>
          <p:nvPr/>
        </p:nvSpPr>
        <p:spPr>
          <a:xfrm rot="-180000">
            <a:off x="320040" y="1371600"/>
            <a:ext cx="2240280" cy="457200"/>
          </a:xfrm>
          <a:prstGeom prst="homePlate">
            <a:avLst/>
          </a:prstGeom>
          <a:solidFill>
            <a:srgbClr val="EF2F2F"/>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SPEAK!</a:t>
            </a:r>
            <a:pPr indent="0" marL="0">
              <a:buNone/>
            </a:pPr>
            <a:r>
              <a:rPr lang="en-US" sz="1000" dirty="0">
                <a:solidFill>
                  <a:srgbClr val="FFF3B0"/>
                </a:solidFill>
                <a:latin typeface="Arial Black" pitchFamily="34" charset="0"/>
                <a:ea typeface="Arial Black" pitchFamily="34" charset="-122"/>
                <a:cs typeface="Arial Black" pitchFamily="34" charset="-120"/>
              </a:rPr>
              <a:t>  PARLA!</a:t>
            </a:r>
            <a:endParaRPr lang="en-US" sz="1500" dirty="0"/>
          </a:p>
        </p:txBody>
      </p:sp>
      <p:sp>
        <p:nvSpPr>
          <p:cNvPr id="14" name="signB_258"/>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Groups: invent a film. Pitch it to the producers!</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Gruppi: inventate un film. Presentatelo ai produttori!</a:t>
            </a:r>
            <a:endParaRPr lang="en-US" sz="1250" dirty="0"/>
          </a:p>
        </p:txBody>
      </p:sp>
      <p:sp>
        <p:nvSpPr>
          <p:cNvPr id="15" name="iconBack_259"/>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6" name="icon_260" descr="pi:PiVideoCamera">    </p:cNvPr>
          <p:cNvPicPr>
            <a:picLocks noChangeAspect="1"/>
          </p:cNvPicPr>
          <p:nvPr/>
        </p:nvPicPr>
        <p:blipFill>
          <a:blip r:embed="rId3"/>
          <a:stretch>
            <a:fillRect/>
          </a:stretch>
        </p:blipFill>
        <p:spPr>
          <a:xfrm>
            <a:off x="914400" y="3474720"/>
            <a:ext cx="685800" cy="685800"/>
          </a:xfrm>
          <a:prstGeom prst="rect">
            <a:avLst/>
          </a:prstGeom>
        </p:spPr>
      </p:pic>
      <p:sp>
        <p:nvSpPr>
          <p:cNvPr id="17" name="num_261"/>
          <p:cNvSpPr txBox="1"/>
          <p:nvPr/>
        </p:nvSpPr>
        <p:spPr>
          <a:xfrm>
            <a:off x="2788920" y="1482471"/>
            <a:ext cx="384048" cy="384048"/>
          </a:xfrm>
          <a:prstGeom prst="ellipse">
            <a:avLst/>
          </a:prstGeom>
          <a:solidFill>
            <a:srgbClr val="EF2F2F"/>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1</a:t>
            </a:r>
            <a:endParaRPr lang="en-US" sz="1300" dirty="0"/>
          </a:p>
        </p:txBody>
      </p:sp>
      <p:sp>
        <p:nvSpPr>
          <p:cNvPr id="18" name="box_262"/>
          <p:cNvSpPr txBox="1"/>
          <p:nvPr/>
        </p:nvSpPr>
        <p:spPr>
          <a:xfrm>
            <a:off x="3264408" y="1371600"/>
            <a:ext cx="5559552" cy="605790"/>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Groups of 3: invent a film. Decide: the kind of film, where it's set, the plot (3 sentences), the cast.</a:t>
            </a:r>
            <a:endParaRPr lang="en-US" sz="1300" dirty="0"/>
          </a:p>
        </p:txBody>
      </p:sp>
      <p:sp>
        <p:nvSpPr>
          <p:cNvPr id="19" name="num_263"/>
          <p:cNvSpPr txBox="1"/>
          <p:nvPr/>
        </p:nvSpPr>
        <p:spPr>
          <a:xfrm>
            <a:off x="2788920" y="2179701"/>
            <a:ext cx="384048" cy="384048"/>
          </a:xfrm>
          <a:prstGeom prst="ellipse">
            <a:avLst/>
          </a:prstGeom>
          <a:solidFill>
            <a:srgbClr val="48BDF2"/>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2</a:t>
            </a:r>
            <a:endParaRPr lang="en-US" sz="1300" dirty="0"/>
          </a:p>
        </p:txBody>
      </p:sp>
      <p:sp>
        <p:nvSpPr>
          <p:cNvPr id="20" name="box_264"/>
          <p:cNvSpPr txBox="1"/>
          <p:nvPr/>
        </p:nvSpPr>
        <p:spPr>
          <a:xfrm>
            <a:off x="3264408" y="2068830"/>
            <a:ext cx="5559552" cy="605790"/>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It must be shot in Sicily!</a:t>
            </a:r>
            <a:endParaRPr lang="en-US" sz="1300" dirty="0"/>
          </a:p>
        </p:txBody>
      </p:sp>
      <p:sp>
        <p:nvSpPr>
          <p:cNvPr id="21" name="num_265"/>
          <p:cNvSpPr txBox="1"/>
          <p:nvPr/>
        </p:nvSpPr>
        <p:spPr>
          <a:xfrm>
            <a:off x="2788920" y="2876931"/>
            <a:ext cx="384048" cy="384048"/>
          </a:xfrm>
          <a:prstGeom prst="ellipse">
            <a:avLst/>
          </a:prstGeom>
          <a:solidFill>
            <a:srgbClr val="1FA463"/>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3</a:t>
            </a:r>
            <a:endParaRPr lang="en-US" sz="1300" dirty="0"/>
          </a:p>
        </p:txBody>
      </p:sp>
      <p:sp>
        <p:nvSpPr>
          <p:cNvPr id="22" name="box_266"/>
          <p:cNvSpPr txBox="1"/>
          <p:nvPr/>
        </p:nvSpPr>
        <p:spPr>
          <a:xfrm>
            <a:off x="3264408" y="2766060"/>
            <a:ext cx="5559552" cy="605790"/>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Prepare a 1-minute pitch: 'It's a thriller. It's set in Bagheria in 1950. It's based on…'</a:t>
            </a:r>
            <a:endParaRPr lang="en-US" sz="1300" dirty="0"/>
          </a:p>
        </p:txBody>
      </p:sp>
      <p:sp>
        <p:nvSpPr>
          <p:cNvPr id="23" name="num_267"/>
          <p:cNvSpPr txBox="1"/>
          <p:nvPr/>
        </p:nvSpPr>
        <p:spPr>
          <a:xfrm>
            <a:off x="2788920" y="3574161"/>
            <a:ext cx="384048" cy="384048"/>
          </a:xfrm>
          <a:prstGeom prst="ellipse">
            <a:avLst/>
          </a:prstGeom>
          <a:solidFill>
            <a:srgbClr val="F59E0B"/>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4</a:t>
            </a:r>
            <a:endParaRPr lang="en-US" sz="1300" dirty="0"/>
          </a:p>
        </p:txBody>
      </p:sp>
      <p:sp>
        <p:nvSpPr>
          <p:cNvPr id="24" name="box_268"/>
          <p:cNvSpPr txBox="1"/>
          <p:nvPr/>
        </p:nvSpPr>
        <p:spPr>
          <a:xfrm>
            <a:off x="3264408" y="3463290"/>
            <a:ext cx="5559552" cy="605790"/>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Present it. The class (the producers) choose ONE film to make.</a:t>
            </a:r>
            <a:endParaRPr lang="en-US" sz="1300" dirty="0"/>
          </a:p>
        </p:txBody>
      </p:sp>
      <p:sp>
        <p:nvSpPr>
          <p:cNvPr id="25" name="bubble_269"/>
          <p:cNvSpPr txBox="1"/>
          <p:nvPr/>
        </p:nvSpPr>
        <p:spPr>
          <a:xfrm>
            <a:off x="3246120" y="4160520"/>
            <a:ext cx="5577840" cy="502920"/>
          </a:xfrm>
          <a:prstGeom prst="round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100" b="1" i="1" dirty="0">
                <a:solidFill>
                  <a:srgbClr val="111111"/>
                </a:solidFill>
                <a:latin typeface="Calibri" pitchFamily="34" charset="0"/>
                <a:ea typeface="Calibri" pitchFamily="34" charset="-122"/>
                <a:cs typeface="Calibri" pitchFamily="34" charset="-120"/>
              </a:rPr>
              <a:t>It's a rom-com set in Palermo. It will be shot on location in Mondello. The soundtrack will be written by…</a:t>
            </a:r>
            <a:endParaRPr lang="en-US" sz="1100" dirty="0"/>
          </a:p>
        </p:txBody>
      </p:sp>
    </p:spTree>
  </p:cSld>
  <p:clrMapOvr>
    <a:masterClrMapping/>
  </p:clrMapOvr>
  <p:transition spd="med">
    <p:push dir="l"/>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70"/>
          <p:cNvSpPr/>
          <p:nvPr/>
        </p:nvSpPr>
        <p:spPr>
          <a:xfrm>
            <a:off x="54864" y="54864"/>
            <a:ext cx="9034272" cy="5033772"/>
          </a:xfrm>
          <a:prstGeom prst="rect">
            <a:avLst/>
          </a:prstGeom>
          <a:ln w="114300">
            <a:solidFill>
              <a:srgbClr val="A8E6B4"/>
            </a:solidFill>
            <a:prstDash val="solid"/>
          </a:ln>
        </p:spPr>
      </p:sp>
      <p:pic>
        <p:nvPicPr>
          <p:cNvPr id="4" name="logo_271"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72"/>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EXTRA · Local · Cinema and Sicily</a:t>
            </a:r>
            <a:endParaRPr lang="en-US" sz="900" dirty="0"/>
          </a:p>
        </p:txBody>
      </p:sp>
      <p:sp>
        <p:nvSpPr>
          <p:cNvPr id="6" name="timer_273"/>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6 min</a:t>
            </a:r>
            <a:endParaRPr lang="en-US" sz="1200" dirty="0"/>
          </a:p>
        </p:txBody>
      </p:sp>
      <p:sp>
        <p:nvSpPr>
          <p:cNvPr id="7" name="extra_274"/>
          <p:cNvSpPr txBox="1"/>
          <p:nvPr/>
        </p:nvSpPr>
        <p:spPr>
          <a:xfrm rot="360000">
            <a:off x="5943600" y="201168"/>
            <a:ext cx="1005840" cy="347472"/>
          </a:xfrm>
          <a:prstGeom prst="roundRect">
            <a:avLst>
              <a:gd name="adj" fmla="val 21053"/>
            </a:avLst>
          </a:prstGeom>
          <a:solidFill>
            <a:srgbClr val="1FA463"/>
          </a:solidFill>
          <a:ln w="317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EXTRA</a:t>
            </a:r>
            <a:endParaRPr lang="en-US" sz="1300" dirty="0"/>
          </a:p>
        </p:txBody>
      </p:sp>
      <p:sp>
        <p:nvSpPr>
          <p:cNvPr id="8" name="footer_275"/>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6A · Part 2</a:t>
            </a:r>
            <a:endParaRPr lang="en-US" sz="1000" dirty="0"/>
          </a:p>
        </p:txBody>
      </p:sp>
      <p:sp>
        <p:nvSpPr>
          <p:cNvPr id="9" name="title_276"/>
          <p:cNvSpPr txBox="1"/>
          <p:nvPr/>
        </p:nvSpPr>
        <p:spPr>
          <a:xfrm rot="90000">
            <a:off x="320040" y="676656"/>
            <a:ext cx="3630168"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Films and Bagheria</a:t>
            </a:r>
            <a:endParaRPr lang="en-US" sz="1500" dirty="0"/>
          </a:p>
        </p:txBody>
      </p:sp>
      <p:sp>
        <p:nvSpPr>
          <p:cNvPr id="10" name="tape_277"/>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11" name="tape_278"/>
          <p:cNvSpPr/>
          <p:nvPr/>
        </p:nvSpPr>
        <p:spPr>
          <a:xfrm rot="-720000">
            <a:off x="3383280" y="1069848"/>
            <a:ext cx="685800" cy="219456"/>
          </a:xfrm>
          <a:prstGeom prst="rect">
            <a:avLst/>
          </a:prstGeom>
          <a:solidFill>
            <a:srgbClr val="FFD84D">
              <a:alpha val="75000"/>
            </a:srgbClr>
          </a:solidFill>
          <a:ln w="6350">
            <a:solidFill>
              <a:srgbClr val="FFD84D"/>
            </a:solidFill>
            <a:prstDash val="solid"/>
          </a:ln>
        </p:spPr>
      </p:sp>
      <p:sp>
        <p:nvSpPr>
          <p:cNvPr id="12" name="post_279"/>
          <p:cNvSpPr/>
          <p:nvPr/>
        </p:nvSpPr>
        <p:spPr>
          <a:xfrm>
            <a:off x="429768" y="1554480"/>
            <a:ext cx="128016" cy="2194560"/>
          </a:xfrm>
          <a:prstGeom prst="rect">
            <a:avLst/>
          </a:prstGeom>
          <a:solidFill>
            <a:srgbClr val="8B5A2B"/>
          </a:solidFill>
          <a:ln w="31750">
            <a:solidFill>
              <a:srgbClr val="111111"/>
            </a:solidFill>
            <a:prstDash val="solid"/>
          </a:ln>
        </p:spPr>
      </p:sp>
      <p:sp>
        <p:nvSpPr>
          <p:cNvPr id="13" name="signA_280"/>
          <p:cNvSpPr txBox="1"/>
          <p:nvPr/>
        </p:nvSpPr>
        <p:spPr>
          <a:xfrm rot="-180000">
            <a:off x="320040" y="1371600"/>
            <a:ext cx="2240280" cy="457200"/>
          </a:xfrm>
          <a:prstGeom prst="homePlate">
            <a:avLst/>
          </a:prstGeom>
          <a:solidFill>
            <a:srgbClr val="EF2F2F"/>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SPEAK!</a:t>
            </a:r>
            <a:pPr indent="0" marL="0">
              <a:buNone/>
            </a:pPr>
            <a:r>
              <a:rPr lang="en-US" sz="1000" dirty="0">
                <a:solidFill>
                  <a:srgbClr val="FFF3B0"/>
                </a:solidFill>
                <a:latin typeface="Arial Black" pitchFamily="34" charset="0"/>
                <a:ea typeface="Arial Black" pitchFamily="34" charset="-122"/>
                <a:cs typeface="Arial Black" pitchFamily="34" charset="-120"/>
              </a:rPr>
              <a:t>  PARLA!</a:t>
            </a:r>
            <a:endParaRPr lang="en-US" sz="1500" dirty="0"/>
          </a:p>
        </p:txBody>
      </p:sp>
      <p:sp>
        <p:nvSpPr>
          <p:cNvPr id="14" name="signB_281"/>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What do you know? Make passive sentences!</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Cosa sapete? Fate frasi al passivo!</a:t>
            </a:r>
            <a:endParaRPr lang="en-US" sz="1250" dirty="0"/>
          </a:p>
        </p:txBody>
      </p:sp>
      <p:sp>
        <p:nvSpPr>
          <p:cNvPr id="15" name="box_282"/>
          <p:cNvSpPr txBox="1"/>
          <p:nvPr/>
        </p:nvSpPr>
        <p:spPr>
          <a:xfrm>
            <a:off x="2788920" y="1371600"/>
            <a:ext cx="6035040" cy="726948"/>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1  Which famous director was born in Bagheria?</a:t>
            </a:r>
            <a:endParaRPr lang="en-US" sz="1300" dirty="0"/>
          </a:p>
        </p:txBody>
      </p:sp>
      <p:sp>
        <p:nvSpPr>
          <p:cNvPr id="16" name="box_283"/>
          <p:cNvSpPr txBox="1"/>
          <p:nvPr/>
        </p:nvSpPr>
        <p:spPr>
          <a:xfrm>
            <a:off x="2788920" y="2226564"/>
            <a:ext cx="6035040" cy="726948"/>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2  Baarìa: who was it directed by? Where is it set?</a:t>
            </a:r>
            <a:endParaRPr lang="en-US" sz="1300" dirty="0"/>
          </a:p>
        </p:txBody>
      </p:sp>
      <p:sp>
        <p:nvSpPr>
          <p:cNvPr id="17" name="box_284"/>
          <p:cNvSpPr txBox="1"/>
          <p:nvPr/>
        </p:nvSpPr>
        <p:spPr>
          <a:xfrm>
            <a:off x="2788920" y="3081528"/>
            <a:ext cx="6035040" cy="726948"/>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3  Which films or TV series have been shot in Sicily?</a:t>
            </a:r>
            <a:endParaRPr lang="en-US" sz="1300" dirty="0"/>
          </a:p>
        </p:txBody>
      </p:sp>
      <p:sp>
        <p:nvSpPr>
          <p:cNvPr id="18" name="box_285"/>
          <p:cNvSpPr txBox="1"/>
          <p:nvPr/>
        </p:nvSpPr>
        <p:spPr>
          <a:xfrm>
            <a:off x="2788920" y="3936492"/>
            <a:ext cx="6035040" cy="726948"/>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4  Should more films be shot in Bagheria? Why?</a:t>
            </a:r>
            <a:endParaRPr lang="en-US" sz="1300" dirty="0"/>
          </a:p>
        </p:txBody>
      </p:sp>
      <p:sp>
        <p:nvSpPr>
          <p:cNvPr id="19" name="sticky_286"/>
          <p:cNvSpPr txBox="1"/>
          <p:nvPr/>
        </p:nvSpPr>
        <p:spPr>
          <a:xfrm rot="-120000">
            <a:off x="411480" y="4023360"/>
            <a:ext cx="2194560" cy="640080"/>
          </a:xfrm>
          <a:prstGeom prst="rect">
            <a:avLst/>
          </a:prstGeom>
          <a:solidFill>
            <a:srgbClr val="FFD84D"/>
          </a:solidFill>
          <a:ln w="12700">
            <a:solidFill>
              <a:srgbClr val="B7950B"/>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150" b="1" dirty="0">
                <a:solidFill>
                  <a:srgbClr val="111111"/>
                </a:solidFill>
                <a:latin typeface="Calibri" pitchFamily="34" charset="0"/>
                <a:ea typeface="Calibri" pitchFamily="34" charset="-122"/>
                <a:cs typeface="Calibri" pitchFamily="34" charset="-120"/>
              </a:rPr>
              <a:t>It was directed by… · It was shot in… · It's set in…</a:t>
            </a:r>
            <a:endParaRPr lang="en-US" sz="1150" dirty="0"/>
          </a:p>
        </p:txBody>
      </p:sp>
    </p:spTree>
  </p:cSld>
  <p:clrMapOvr>
    <a:masterClrMapping/>
  </p:clrMapOvr>
  <p:transition spd="med">
    <p:push dir="l"/>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87"/>
          <p:cNvSpPr/>
          <p:nvPr/>
        </p:nvSpPr>
        <p:spPr>
          <a:xfrm>
            <a:off x="54864" y="54864"/>
            <a:ext cx="9034272" cy="5033772"/>
          </a:xfrm>
          <a:prstGeom prst="rect">
            <a:avLst/>
          </a:prstGeom>
          <a:ln w="114300">
            <a:solidFill>
              <a:srgbClr val="A8E6B4"/>
            </a:solidFill>
            <a:prstDash val="solid"/>
          </a:ln>
        </p:spPr>
      </p:sp>
      <p:pic>
        <p:nvPicPr>
          <p:cNvPr id="4" name="logo_288"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89"/>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EXTRA · Vocabulary photocopiable · Cinema</a:t>
            </a:r>
            <a:endParaRPr lang="en-US" sz="900" dirty="0"/>
          </a:p>
        </p:txBody>
      </p:sp>
      <p:sp>
        <p:nvSpPr>
          <p:cNvPr id="6" name="timer_290"/>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7 min</a:t>
            </a:r>
            <a:endParaRPr lang="en-US" sz="1200" dirty="0"/>
          </a:p>
        </p:txBody>
      </p:sp>
      <p:sp>
        <p:nvSpPr>
          <p:cNvPr id="7" name="extra_291"/>
          <p:cNvSpPr txBox="1"/>
          <p:nvPr/>
        </p:nvSpPr>
        <p:spPr>
          <a:xfrm rot="360000">
            <a:off x="5943600" y="201168"/>
            <a:ext cx="1005840" cy="347472"/>
          </a:xfrm>
          <a:prstGeom prst="roundRect">
            <a:avLst>
              <a:gd name="adj" fmla="val 21053"/>
            </a:avLst>
          </a:prstGeom>
          <a:solidFill>
            <a:srgbClr val="1FA463"/>
          </a:solidFill>
          <a:ln w="317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EXTRA</a:t>
            </a:r>
            <a:endParaRPr lang="en-US" sz="1300" dirty="0"/>
          </a:p>
        </p:txBody>
      </p:sp>
      <p:sp>
        <p:nvSpPr>
          <p:cNvPr id="8" name="footer_292"/>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6A · Part 2</a:t>
            </a:r>
            <a:endParaRPr lang="en-US" sz="1000" dirty="0"/>
          </a:p>
        </p:txBody>
      </p:sp>
      <p:sp>
        <p:nvSpPr>
          <p:cNvPr id="9" name="title_293"/>
          <p:cNvSpPr txBox="1"/>
          <p:nvPr/>
        </p:nvSpPr>
        <p:spPr>
          <a:xfrm rot="90000">
            <a:off x="320040" y="676656"/>
            <a:ext cx="3803904"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Bill's film reviews</a:t>
            </a:r>
            <a:endParaRPr lang="en-US" sz="1500" dirty="0"/>
          </a:p>
        </p:txBody>
      </p:sp>
      <p:sp>
        <p:nvSpPr>
          <p:cNvPr id="10" name="tape_294"/>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11" name="tape_295"/>
          <p:cNvSpPr/>
          <p:nvPr/>
        </p:nvSpPr>
        <p:spPr>
          <a:xfrm rot="-720000">
            <a:off x="3557016" y="1069848"/>
            <a:ext cx="685800" cy="219456"/>
          </a:xfrm>
          <a:prstGeom prst="rect">
            <a:avLst/>
          </a:prstGeom>
          <a:solidFill>
            <a:srgbClr val="FFD84D">
              <a:alpha val="75000"/>
            </a:srgbClr>
          </a:solidFill>
          <a:ln w="6350">
            <a:solidFill>
              <a:srgbClr val="FFD84D"/>
            </a:solidFill>
            <a:prstDash val="solid"/>
          </a:ln>
        </p:spPr>
      </p:sp>
      <p:sp>
        <p:nvSpPr>
          <p:cNvPr id="12" name="post_296"/>
          <p:cNvSpPr/>
          <p:nvPr/>
        </p:nvSpPr>
        <p:spPr>
          <a:xfrm>
            <a:off x="429768" y="1554480"/>
            <a:ext cx="128016" cy="2194560"/>
          </a:xfrm>
          <a:prstGeom prst="rect">
            <a:avLst/>
          </a:prstGeom>
          <a:solidFill>
            <a:srgbClr val="8B5A2B"/>
          </a:solidFill>
          <a:ln w="31750">
            <a:solidFill>
              <a:srgbClr val="111111"/>
            </a:solidFill>
            <a:prstDash val="solid"/>
          </a:ln>
        </p:spPr>
      </p:sp>
      <p:sp>
        <p:nvSpPr>
          <p:cNvPr id="13" name="signA_297"/>
          <p:cNvSpPr txBox="1"/>
          <p:nvPr/>
        </p:nvSpPr>
        <p:spPr>
          <a:xfrm rot="-180000">
            <a:off x="320040" y="1371600"/>
            <a:ext cx="2240280" cy="457200"/>
          </a:xfrm>
          <a:prstGeom prst="homePlate">
            <a:avLst/>
          </a:prstGeom>
          <a:solidFill>
            <a:srgbClr val="48BDF2"/>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READ!</a:t>
            </a:r>
            <a:pPr indent="0" marL="0">
              <a:buNone/>
            </a:pPr>
            <a:r>
              <a:rPr lang="en-US" sz="1000" dirty="0">
                <a:solidFill>
                  <a:srgbClr val="FFF3B0"/>
                </a:solidFill>
                <a:latin typeface="Arial Black" pitchFamily="34" charset="0"/>
                <a:ea typeface="Arial Black" pitchFamily="34" charset="-122"/>
                <a:cs typeface="Arial Black" pitchFamily="34" charset="-120"/>
              </a:rPr>
              <a:t>  LEGGI!</a:t>
            </a:r>
            <a:endParaRPr lang="en-US" sz="1500" dirty="0"/>
          </a:p>
        </p:txBody>
      </p:sp>
      <p:sp>
        <p:nvSpPr>
          <p:cNvPr id="14" name="signB_298"/>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Read three film reviews. Complete the cinema words.</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Leggi tre recensioni. Completa le parole del cinema.</a:t>
            </a:r>
            <a:endParaRPr lang="en-US" sz="1250" dirty="0"/>
          </a:p>
        </p:txBody>
      </p:sp>
      <p:sp>
        <p:nvSpPr>
          <p:cNvPr id="15" name="iconBack_299"/>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6" name="icon_300" descr="pi:PiPrinter">    </p:cNvPr>
          <p:cNvPicPr>
            <a:picLocks noChangeAspect="1"/>
          </p:cNvPicPr>
          <p:nvPr/>
        </p:nvPicPr>
        <p:blipFill>
          <a:blip r:embed="rId3"/>
          <a:stretch>
            <a:fillRect/>
          </a:stretch>
        </p:blipFill>
        <p:spPr>
          <a:xfrm>
            <a:off x="914400" y="3474720"/>
            <a:ext cx="685800" cy="685800"/>
          </a:xfrm>
          <a:prstGeom prst="rect">
            <a:avLst/>
          </a:prstGeom>
        </p:spPr>
      </p:pic>
      <p:sp>
        <p:nvSpPr>
          <p:cNvPr id="17" name="num_301"/>
          <p:cNvSpPr txBox="1"/>
          <p:nvPr/>
        </p:nvSpPr>
        <p:spPr>
          <a:xfrm>
            <a:off x="2788920" y="1482471"/>
            <a:ext cx="384048" cy="384048"/>
          </a:xfrm>
          <a:prstGeom prst="ellipse">
            <a:avLst/>
          </a:prstGeom>
          <a:solidFill>
            <a:srgbClr val="EF2F2F"/>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1</a:t>
            </a:r>
            <a:endParaRPr lang="en-US" sz="1300" dirty="0"/>
          </a:p>
        </p:txBody>
      </p:sp>
      <p:sp>
        <p:nvSpPr>
          <p:cNvPr id="18" name="box_302"/>
          <p:cNvSpPr txBox="1"/>
          <p:nvPr/>
        </p:nvSpPr>
        <p:spPr>
          <a:xfrm>
            <a:off x="3264408" y="1371600"/>
            <a:ext cx="5559552" cy="605790"/>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Read the reviews: Dunkirk, Wonder Woman, Seven Samurai.</a:t>
            </a:r>
            <a:endParaRPr lang="en-US" sz="1300" dirty="0"/>
          </a:p>
        </p:txBody>
      </p:sp>
      <p:sp>
        <p:nvSpPr>
          <p:cNvPr id="19" name="num_303"/>
          <p:cNvSpPr txBox="1"/>
          <p:nvPr/>
        </p:nvSpPr>
        <p:spPr>
          <a:xfrm>
            <a:off x="2788920" y="2179701"/>
            <a:ext cx="384048" cy="384048"/>
          </a:xfrm>
          <a:prstGeom prst="ellipse">
            <a:avLst/>
          </a:prstGeom>
          <a:solidFill>
            <a:srgbClr val="48BDF2"/>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2</a:t>
            </a:r>
            <a:endParaRPr lang="en-US" sz="1300" dirty="0"/>
          </a:p>
        </p:txBody>
      </p:sp>
      <p:sp>
        <p:nvSpPr>
          <p:cNvPr id="20" name="box_304"/>
          <p:cNvSpPr txBox="1"/>
          <p:nvPr/>
        </p:nvSpPr>
        <p:spPr>
          <a:xfrm>
            <a:off x="3264408" y="2068830"/>
            <a:ext cx="5559552" cy="605790"/>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Complete the words – the first letter or two is given (1 = war).</a:t>
            </a:r>
            <a:endParaRPr lang="en-US" sz="1300" dirty="0"/>
          </a:p>
        </p:txBody>
      </p:sp>
      <p:sp>
        <p:nvSpPr>
          <p:cNvPr id="21" name="num_305"/>
          <p:cNvSpPr txBox="1"/>
          <p:nvPr/>
        </p:nvSpPr>
        <p:spPr>
          <a:xfrm>
            <a:off x="2788920" y="2876931"/>
            <a:ext cx="384048" cy="384048"/>
          </a:xfrm>
          <a:prstGeom prst="ellipse">
            <a:avLst/>
          </a:prstGeom>
          <a:solidFill>
            <a:srgbClr val="1FA463"/>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3</a:t>
            </a:r>
            <a:endParaRPr lang="en-US" sz="1300" dirty="0"/>
          </a:p>
        </p:txBody>
      </p:sp>
      <p:sp>
        <p:nvSpPr>
          <p:cNvPr id="22" name="box_306"/>
          <p:cNvSpPr txBox="1"/>
          <p:nvPr/>
        </p:nvSpPr>
        <p:spPr>
          <a:xfrm>
            <a:off x="3264408" y="2766060"/>
            <a:ext cx="5559552" cy="605790"/>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Time limit: 5 minutes. Then check.</a:t>
            </a:r>
            <a:endParaRPr lang="en-US" sz="1300" dirty="0"/>
          </a:p>
        </p:txBody>
      </p:sp>
      <p:sp>
        <p:nvSpPr>
          <p:cNvPr id="23" name="num_307"/>
          <p:cNvSpPr txBox="1"/>
          <p:nvPr/>
        </p:nvSpPr>
        <p:spPr>
          <a:xfrm>
            <a:off x="2788920" y="3574161"/>
            <a:ext cx="384048" cy="384048"/>
          </a:xfrm>
          <a:prstGeom prst="ellipse">
            <a:avLst/>
          </a:prstGeom>
          <a:solidFill>
            <a:srgbClr val="F59E0B"/>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4</a:t>
            </a:r>
            <a:endParaRPr lang="en-US" sz="1300" dirty="0"/>
          </a:p>
        </p:txBody>
      </p:sp>
      <p:sp>
        <p:nvSpPr>
          <p:cNvPr id="24" name="box_308"/>
          <p:cNvSpPr txBox="1"/>
          <p:nvPr/>
        </p:nvSpPr>
        <p:spPr>
          <a:xfrm>
            <a:off x="3264408" y="3463290"/>
            <a:ext cx="5559552" cy="605790"/>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Which film would you prefer to watch? Why?</a:t>
            </a:r>
            <a:endParaRPr lang="en-US" sz="1300" dirty="0"/>
          </a:p>
        </p:txBody>
      </p:sp>
      <p:sp>
        <p:nvSpPr>
          <p:cNvPr id="25" name="bubble_309"/>
          <p:cNvSpPr txBox="1"/>
          <p:nvPr/>
        </p:nvSpPr>
        <p:spPr>
          <a:xfrm>
            <a:off x="3246120" y="4160520"/>
            <a:ext cx="5577840" cy="502920"/>
          </a:xfrm>
          <a:prstGeom prst="round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300" b="1" i="1" dirty="0">
                <a:solidFill>
                  <a:srgbClr val="111111"/>
                </a:solidFill>
                <a:latin typeface="Calibri" pitchFamily="34" charset="0"/>
                <a:ea typeface="Calibri" pitchFamily="34" charset="-122"/>
                <a:cs typeface="Calibri" pitchFamily="34" charset="-120"/>
              </a:rPr>
              <a:t>📄 Print: B1_6A_Photocopiables.pdf, page 4</a:t>
            </a:r>
            <a:endParaRPr lang="en-US" sz="1300" dirty="0"/>
          </a:p>
        </p:txBody>
      </p:sp>
      <p:sp>
        <p:nvSpPr>
          <p:cNvPr id="26" name="pageTag_310"/>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Vocabulary photocopiable 6A Cinema (TG p.211)</a:t>
            </a:r>
            <a:endParaRPr lang="en-US" sz="1050" dirty="0"/>
          </a:p>
        </p:txBody>
      </p:sp>
    </p:spTree>
  </p:cSld>
  <p:clrMapOvr>
    <a:masterClrMapping/>
  </p:clrMapOvr>
  <p:transition spd="med">
    <p:push dir="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Blac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London Language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B1 6A-2 Behind the scenes</dc:title>
  <dc:subject>PptxGenJS Presentation</dc:subject>
  <dc:creator>London Language School</dc:creator>
  <cp:lastModifiedBy>London Language School</cp:lastModifiedBy>
  <cp:revision>1</cp:revision>
  <dcterms:created xsi:type="dcterms:W3CDTF">2026-10-05T09:39:30Z</dcterms:created>
  <dcterms:modified xsi:type="dcterms:W3CDTF">2026-10-05T09:39:30Z</dcterms:modified>
</cp:coreProperties>
</file>