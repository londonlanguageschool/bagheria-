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6A PART 1 (60 min). ⚠ This lesson REPLACES SB pp.56–57 (reading + Grammar 'used to, be used to, get used to') until the owner sends those pages: context text, tasks and practice are our own; Workbook 6A p.40–41 is used for homework. Aims: distinguish used to + infinitive (past habit/state) / be used to + -ing (familiar) / get used to + -ing (becoming familiar) and choose them for meaning; pronounce used to /ˈjuːstə/ vs used /juːzd/; talk about life changes and push past the first answer with follow-up questions. Timing: cover 2 · rank 4 · reading 6 · notice 5 · rule 4 · pronunciation 4 · error hunt 5 · reformulate 5 · info gap 8 · fading-scaffold rounds 9 · exit 3 = 55 min (+ extras). Click 1: question — let 2–3 students answer before click 2. Don't explain the grammar in the answer yet: 'Remember that sentence — we'll come back to it.'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(4 min). VARIATION: ranking + negative experiences (people have more to say about what they dislike). Pairs agree a ranking (2 min), then two pairs compare and must DEFEND their #1 and #6 (1–2 min). Push beyond the first answer: 'Why is that worse than the baby?' 'Has it happened to you?' 'What would someone who disagrees say?' Feed in: 'it would drive me mad', 'I could live with that', 'at least…'. Click 1: sticky. Listen for anyone already producing 'I'm not used to…' / 'you get used to it' — note it on the board for the Notice stage. Vocabulary pre-teach in passing: snore, sleepwalk, alarm goes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(6 min). Our own text (replaces the SB pp.56–57 reading). Before reading (30 sec): 'A nurse changes from night shifts to day shifts. What will be difficult?' — 2 quick predictions. Students read alone (2 min), compare in pairs, then click 1 reveals all answers. Q5 is an inference question — there's no single answer: ask for evidence from the text ('It's hard' / 'slowly getting used to it' / 'I don't think I'll ever…'). DON'T teach the grammar yet — just ask: 'How many different uses of used can you see?' (used to start / so used to working / not used to getting up / getting used to / get used to — and I'd get home). Leave the text on screen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→ HYPOTHESISE (5 min). Pairs decide the meaning of each sentence FIRST (2 min), then click once per answer (stepwise). Prompt with concept questions rather than explanations: 1 'Does she start at 9 p.m. now?' (no) · 2 'Is would here a conditional?' (no — it's a past habit, like used to; only for actions) · 3 'Was it strange for her?' (no, normal) · 4 'Is it normal for her now? Is it changing?' (not yet; changing) · 5 'Is it normal?' (no). Item 6 = the key hypothesis: in 'be used to' and 'get used to', 'to' is a PREPOSITION, so it's followed by a noun or -ing (like 'I look forward to seeing you'). Italian link: 'ero solita fare' ≈ used to do; 'sono abituata a fare' ≈ I'm used to doing; 'mi sto abituando' ≈ I'm getting used to. VARIATION: hypothesise before the rule (students as grammarians).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(4 min). Elicit each column from the Notice slide before showing details — ask students to complete the heading forms orally first. Key points: (1) used to only exists in the past; for present habits use usually / tend to. (2) did + use to (no -d) in questions and negatives — Italian learners write 'didn't used to'. (3) would only for repeated actions, never states (✗ I would have a beard / ✗ I would live in Rome). (4) be used to / get used to work in ALL tenses and are followed by -ing or a noun. (5) The meaning question: 'Why would a speaker choose get used to rather than be used to?' → to show a process/change. Quick check: 'I'm used to live alone' ✗ → 'I'm used to living alone' / 'I used to live alone' — two different meanings!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(4 min). VARIATION: phonological discrimination with bodies (fingers) instead of writing. Teacher reads each sentence naturally; students show 1 finger for /s/ and 2 for /z/; click for each answer. Rule: used to meaning habit or familiar = /ˈjuːstə/ (s + t merge, 'to' is weak /tə/); used meaning 'utilised' (passive or past of use) = /juːzd/; the noun use = /juːs/, the verb use = /juːz/. Sentence 4 is the trap: it's the passive of use + infinitive of purpose ('used in order to treat'), so /z/ — compare WB 6A 2a sentence 3. Then drill 1–2 with the linking: /aɪ ˈjuːstə ˈlɪv/ — 'I used to live' as one thought group. Workbook 2a–c (audio 6.1) are not in our audio folder: ⚠ do them in class when the audio is available; 2d is homework (no audio needed).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HUNT (5 min). VARIATION: spot the error + team competition; fossilised Italian errors. Teams of 3; 40 seconds per sentence; they write the corrected sentence on paper/mini-whiteboard; click once per item. 1 point for spotting, 1 for a correct fix. Item 6 has two correct answers with different meanings — give a bonus point to any team that explains the difference (familiar now vs past habit). Ask 'Why would an Italian speaker make this mistake?' for 1 and 2 (uso fare… / sono abituato a + infinito).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· reformulation (5 min). VARIATION: reformulate (meaning-based transformation, like the Workbook 1c and Cambridge key word transformations). Pairs write; after 3 minutes click through one by one. Accept any correct alternative (e.g. 4 'I can't get used to sleeping with the window closed'). After each, ask 'Which word in the original told you the meaning?' (at first / now → got used to; in the past… not now → used to; for years → be used to; still → not used to yet; every summer → used to / would; ever feel normal → get used to). Workbook 6A 1c (homework) practises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COMMUNICATE · real information gap (8 min). VARIATION: hidden information + role play + perspective change. Pairs (a trio uses card C). Show A's card while B students turn round; then B's card while A students turn round (or use the printable role cards, out/B2_6A-1_Role_cards.pdf). Partners interview each other using the grammar; the target is to GUESS the new life, so they must ask follow-ups: 'Why?' 'What's the hardest part?' 'Will you ever get used to it?' Monitor and note 3 good sentences and 3 errors for 1-minute feedback. Fast finishers: invent a new role card for the teacher to guess. ROLE CARDS: the next slides show each role on its own slide, hidden until you click. Show A's card while B students turn round, then B's while A turn round — or use the printable role cards (out/…_Role_cards.pdf) if they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A's card. Check the others have turned round BEFORE you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B's card. Check the others have turned round BEFORE you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C (groups of 3)'s card. Check the others have turned round BEFORE you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FADING SCAFFOLD (9 min = 3 rounds × 3 min, new partner each round). Round 1: full useful-language box — each listener must use at least 2 follow-up/reaction phrases. Round 2: keywords only — they rebuild the phrases. Round 3: no support — award a point to anyone who uses a phrase naturally. VARIATION: personalisation with boundaries + persuasion in round 3 ('change their mind'). Push beyond the first answer: 'Example?', 'Has it always been like that?', 'What would change your mind?' Keep topics light (no sensitive personal questions); students can invent if they prefer. Round 1: full support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2: keywords only — students must rebuild the phrases.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3: no support — listen for the phrases and award a point each time someone uses one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Retrieval check without the rule on screen: each student writes ONE true sentence with each structure on a slip (used to / be used to / get used to) and hands it in — read 3 aloud next lesson. Self-assess with the faces. Homework: Workbook 6A 1a–d and 2d; homework sheet (standard or easier version — give the easier one privately, no public labels).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VARIATION: bluffing / find the lie. The follow-up questions are the real practice: liars must improvise details. Correct form errors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min). VARIATION: perspective change + speculation. Groups make 2 sentences per prompt; best/funniest idea wins. Ideas: shared beds, no electric light in many homes, siblings in one room, the knocker-up (someone who woke workers by tapping windows) — don't present these as facts students must know; they're prompts for speculation.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A3F5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E106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6A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B2 · 6A · Part 1 · own material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3355848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 NIGHT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used to / be used to / get used to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used /s/ or /z/?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813048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Life changes (info gap)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gi:GiNightSlee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Ala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B9A3F5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MoonSta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need to fall asleep when you were six?</a:t>
            </a:r>
            <a:endParaRPr lang="en-US" sz="135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on! I used to be scared of the dark.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LEAD-IN · Sleep wreckers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606247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would you hate to live with?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them 1–6. Agree as a pair. 2 minutes!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Mettili in ordine 1–6. Mettetevi d'accordo. 2 minuti!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gi:GiNightSlee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rt_29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WORST</a:t>
            </a:r>
            <a:endParaRPr lang="en-US" sz="1100" dirty="0"/>
          </a:p>
        </p:txBody>
      </p:sp>
      <p:sp>
        <p:nvSpPr>
          <p:cNvPr id="15" name="rb_30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could live with it</a:t>
            </a:r>
            <a:endParaRPr lang="en-US" sz="1100" dirty="0"/>
          </a:p>
        </p:txBody>
      </p:sp>
      <p:sp>
        <p:nvSpPr>
          <p:cNvPr id="16" name="arrow_31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B9A3F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slot_32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8" name="ri_33" descr="a partner who snores like a pneumatic dri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9" name="box_34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who snores like a pneumatic drill</a:t>
            </a:r>
            <a:endParaRPr lang="en-US" sz="1050" dirty="0"/>
          </a:p>
        </p:txBody>
      </p:sp>
      <p:sp>
        <p:nvSpPr>
          <p:cNvPr id="20" name="slot_35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1" name="ri_36" descr="a flatmate who sleepwalks into your ro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2" name="box_37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flatmate who sleepwalks into your room</a:t>
            </a:r>
            <a:endParaRPr lang="en-US" sz="1100" dirty="0"/>
          </a:p>
        </p:txBody>
      </p:sp>
      <p:sp>
        <p:nvSpPr>
          <p:cNvPr id="23" name="slot_38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4" name="ri_39" descr="a baby who wakes up every night at 3 a.m.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5" name="box_40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baby who wakes up every night at 3 a.m.</a:t>
            </a:r>
            <a:endParaRPr lang="en-US" sz="1050" dirty="0"/>
          </a:p>
        </p:txBody>
      </p:sp>
      <p:sp>
        <p:nvSpPr>
          <p:cNvPr id="26" name="slot_41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7" name="ri_42" descr="neighbours who party until 4 a.m.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8" name="box_43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who party until 4 a.m.</a:t>
            </a:r>
            <a:endParaRPr lang="en-US" sz="1300" dirty="0"/>
          </a:p>
        </p:txBody>
      </p:sp>
      <p:sp>
        <p:nvSpPr>
          <p:cNvPr id="29" name="slot_44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0" name="ri_45" descr="a dog that barks at every noi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31" name="box_46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that barks at every noise</a:t>
            </a:r>
            <a:endParaRPr lang="en-US" sz="1300" dirty="0"/>
          </a:p>
        </p:txBody>
      </p:sp>
      <p:sp>
        <p:nvSpPr>
          <p:cNvPr id="32" name="slot_47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3" name="ri_48" descr="a sister whose alarm goes off at 5.3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4" name="box_49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sister whose alarm goes off at 5.30</a:t>
            </a:r>
            <a:endParaRPr lang="en-US" sz="1250" dirty="0"/>
          </a:p>
        </p:txBody>
      </p:sp>
      <p:sp>
        <p:nvSpPr>
          <p:cNvPr id="35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 – but you MUST justify #1 and #6!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· Night owl to early bird</a:t>
            </a:r>
            <a:endParaRPr lang="en-US" sz="900" dirty="0"/>
          </a:p>
        </p:txBody>
      </p:sp>
      <p:sp>
        <p:nvSpPr>
          <p:cNvPr id="6" name="timer_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55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night shift to day shift</a:t>
            </a:r>
            <a:endParaRPr lang="en-US" sz="1500" dirty="0"/>
          </a:p>
        </p:txBody>
      </p:sp>
      <p:sp>
        <p:nvSpPr>
          <p:cNvPr id="9" name="rsign_56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e rispondi alle domande.</a:t>
            </a:r>
            <a:endParaRPr lang="en-US" sz="1000" dirty="0"/>
          </a:p>
        </p:txBody>
      </p:sp>
      <p:sp>
        <p:nvSpPr>
          <p:cNvPr id="10" name="rtext_57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owl to early bird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six years, Giulia was a nurse on the night shift. 'I used to start work at 9 p.m. and I'd get home at about 8 in the morning. I didn't use to see my friends much – they were asleep when I was awake! In the end, I was so used to working at night that a normal weekend felt strange.' Last month she moved to a day job. 'It's hard. I'm not used to getting up at 6.30 yet, and I keep falling asleep on the sofa at 9 p.m. My body is slowly getting used to it, but I don't think I'll ever get used to the morning traffic!'</a:t>
            </a:r>
            <a:endParaRPr lang="en-US" sz="1300" dirty="0"/>
          </a:p>
        </p:txBody>
      </p:sp>
      <p:sp>
        <p:nvSpPr>
          <p:cNvPr id="11" name="box_58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has changed in Giulia's life?</a:t>
            </a:r>
            <a:endParaRPr lang="en-US" sz="1150" dirty="0"/>
          </a:p>
        </p:txBody>
      </p:sp>
      <p:sp>
        <p:nvSpPr>
          <p:cNvPr id="12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shifts → a day job (last month)</a:t>
            </a:r>
            <a:endParaRPr lang="en-US" sz="1050" dirty="0"/>
          </a:p>
        </p:txBody>
      </p:sp>
      <p:sp>
        <p:nvSpPr>
          <p:cNvPr id="13" name="box_59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Was the night shift hard for her in the end?</a:t>
            </a:r>
            <a:endParaRPr lang="en-US" sz="1150" dirty="0"/>
          </a:p>
        </p:txBody>
      </p:sp>
      <p:sp>
        <p:nvSpPr>
          <p:cNvPr id="14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it felt normal</a:t>
            </a:r>
            <a:endParaRPr lang="en-US" sz="1050" dirty="0"/>
          </a:p>
        </p:txBody>
      </p:sp>
      <p:sp>
        <p:nvSpPr>
          <p:cNvPr id="15" name="box_60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is still difficult now? (2 things)</a:t>
            </a:r>
            <a:endParaRPr lang="en-US" sz="1150" dirty="0"/>
          </a:p>
        </p:txBody>
      </p:sp>
      <p:sp>
        <p:nvSpPr>
          <p:cNvPr id="16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up at 6.30 · staying awake after 9 p.m.</a:t>
            </a:r>
            <a:endParaRPr lang="en-US" sz="1000" dirty="0"/>
          </a:p>
        </p:txBody>
      </p:sp>
      <p:sp>
        <p:nvSpPr>
          <p:cNvPr id="17" name="box_61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will she never accept?</a:t>
            </a:r>
            <a:endParaRPr lang="en-US" sz="1150" dirty="0"/>
          </a:p>
        </p:txBody>
      </p:sp>
      <p:sp>
        <p:nvSpPr>
          <p:cNvPr id="18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traffic</a:t>
            </a:r>
            <a:endParaRPr lang="en-US" sz="1050" dirty="0"/>
          </a:p>
        </p:txBody>
      </p:sp>
      <p:sp>
        <p:nvSpPr>
          <p:cNvPr id="19" name="box_62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Is she happy with the change? Find evidence.</a:t>
            </a:r>
            <a:endParaRPr lang="en-US" sz="1150" dirty="0"/>
          </a:p>
        </p:txBody>
      </p:sp>
      <p:sp>
        <p:nvSpPr>
          <p:cNvPr id="20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– 'It's hard' vs 'slowly getting used to it'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6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Notice &amp; hypothesise</a:t>
            </a:r>
            <a:endParaRPr lang="en-US" sz="900" dirty="0"/>
          </a:p>
        </p:txBody>
      </p:sp>
      <p:sp>
        <p:nvSpPr>
          <p:cNvPr id="6" name="timer_6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6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68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word, different meaning?</a:t>
            </a:r>
            <a:endParaRPr lang="en-US" sz="1500" dirty="0"/>
          </a:p>
        </p:txBody>
      </p:sp>
      <p:sp>
        <p:nvSpPr>
          <p:cNvPr id="9" name="post_6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7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sentence mean? Decide BEFORE the click.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significa ogni frase? Decidi PRIMA del clic.</a:t>
            </a:r>
            <a:endParaRPr lang="en-US" sz="1200" dirty="0"/>
          </a:p>
        </p:txBody>
      </p:sp>
      <p:sp>
        <p:nvSpPr>
          <p:cNvPr id="12" name="iconBack_7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73" descr="pi:Pi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74"/>
          <p:cNvSpPr txBox="1"/>
          <p:nvPr/>
        </p:nvSpPr>
        <p:spPr>
          <a:xfrm>
            <a:off x="2788920" y="1371600"/>
            <a:ext cx="3379622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used to start work at 9 p.m.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6223406" y="140817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 habit – finished</a:t>
            </a:r>
            <a:endParaRPr lang="en-US" sz="1200" dirty="0"/>
          </a:p>
        </p:txBody>
      </p:sp>
      <p:sp>
        <p:nvSpPr>
          <p:cNvPr id="16" name="box_75"/>
          <p:cNvSpPr txBox="1"/>
          <p:nvPr/>
        </p:nvSpPr>
        <p:spPr>
          <a:xfrm>
            <a:off x="2788920" y="1941576"/>
            <a:ext cx="3379622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I'd get home at about 8.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6223406" y="1978152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= repeated past action</a:t>
            </a:r>
            <a:endParaRPr lang="en-US" sz="1200" dirty="0"/>
          </a:p>
        </p:txBody>
      </p:sp>
      <p:sp>
        <p:nvSpPr>
          <p:cNvPr id="18" name="box_76"/>
          <p:cNvSpPr txBox="1"/>
          <p:nvPr/>
        </p:nvSpPr>
        <p:spPr>
          <a:xfrm>
            <a:off x="2788920" y="2511552"/>
            <a:ext cx="3379622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was so used to working at night…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6223406" y="2548128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normal / familiar</a:t>
            </a:r>
            <a:endParaRPr lang="en-US" sz="1200" dirty="0"/>
          </a:p>
        </p:txBody>
      </p:sp>
      <p:sp>
        <p:nvSpPr>
          <p:cNvPr id="20" name="box_77"/>
          <p:cNvSpPr txBox="1"/>
          <p:nvPr/>
        </p:nvSpPr>
        <p:spPr>
          <a:xfrm>
            <a:off x="2788920" y="3081528"/>
            <a:ext cx="3379622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My body is getting used to it.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6223406" y="3118104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becoming familiar</a:t>
            </a:r>
            <a:endParaRPr lang="en-US" sz="1200" dirty="0"/>
          </a:p>
        </p:txBody>
      </p:sp>
      <p:sp>
        <p:nvSpPr>
          <p:cNvPr id="22" name="box_78"/>
          <p:cNvSpPr txBox="1"/>
          <p:nvPr/>
        </p:nvSpPr>
        <p:spPr>
          <a:xfrm>
            <a:off x="2788920" y="3651504"/>
            <a:ext cx="3379622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I'm not used to getting up at 6.30.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6223406" y="3688080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still strange for me</a:t>
            </a:r>
            <a:endParaRPr lang="en-US" sz="1200" dirty="0"/>
          </a:p>
        </p:txBody>
      </p:sp>
      <p:sp>
        <p:nvSpPr>
          <p:cNvPr id="24" name="box_79"/>
          <p:cNvSpPr txBox="1"/>
          <p:nvPr/>
        </p:nvSpPr>
        <p:spPr>
          <a:xfrm>
            <a:off x="2788920" y="4221480"/>
            <a:ext cx="3379622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used to + start but used to + working? Why?</a:t>
            </a:r>
            <a:endParaRPr lang="en-US" sz="1150" dirty="0"/>
          </a:p>
        </p:txBody>
      </p:sp>
      <p:sp>
        <p:nvSpPr>
          <p:cNvPr id="25" name="R6_a5"/>
          <p:cNvSpPr txBox="1"/>
          <p:nvPr/>
        </p:nvSpPr>
        <p:spPr>
          <a:xfrm>
            <a:off x="6223406" y="425805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be/get used to: 'to' = preposition → -ing / noun</a:t>
            </a:r>
            <a:endParaRPr lang="en-US" sz="950" dirty="0"/>
          </a:p>
        </p:txBody>
      </p:sp>
      <p:sp>
        <p:nvSpPr>
          <p:cNvPr id="26" name="pageTag_8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own material (replaces SB p.57 Grammar) · Workbook 6A 1 for practice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Clarify</a:t>
            </a:r>
            <a:endParaRPr lang="en-US" sz="900" dirty="0"/>
          </a:p>
        </p:txBody>
      </p:sp>
      <p:sp>
        <p:nvSpPr>
          <p:cNvPr id="6" name="timer_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8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86"/>
          <p:cNvSpPr txBox="1"/>
          <p:nvPr/>
        </p:nvSpPr>
        <p:spPr>
          <a:xfrm rot="-120000">
            <a:off x="320040" y="676656"/>
            <a:ext cx="64099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to / be used to / get used to</a:t>
            </a:r>
            <a:endParaRPr lang="en-US" sz="1500" dirty="0"/>
          </a:p>
        </p:txBody>
      </p:sp>
      <p:sp>
        <p:nvSpPr>
          <p:cNvPr id="9" name="rh_87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to + infinitive</a:t>
            </a:r>
            <a:endParaRPr lang="en-US" sz="1300" dirty="0"/>
          </a:p>
        </p:txBody>
      </p:sp>
      <p:sp>
        <p:nvSpPr>
          <p:cNvPr id="10" name="rb_88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habits &amp; states – not now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snore.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use to sleep well.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to…?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would: past ACTIONS only (not states)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would have long hair</a:t>
            </a:r>
            <a:endParaRPr lang="en-US" sz="1250" dirty="0"/>
          </a:p>
        </p:txBody>
      </p:sp>
      <p:sp>
        <p:nvSpPr>
          <p:cNvPr id="11" name="rh_89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used to + -ing / noun</a:t>
            </a:r>
            <a:endParaRPr lang="en-US" sz="1300" dirty="0"/>
          </a:p>
        </p:txBody>
      </p:sp>
      <p:sp>
        <p:nvSpPr>
          <p:cNvPr id="12" name="rb_90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it's normal, not strange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used to working nights.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wasn't used to the noise.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tense: I've never been used to…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essere abituato a</a:t>
            </a:r>
            <a:endParaRPr lang="en-US" sz="1250" dirty="0"/>
          </a:p>
        </p:txBody>
      </p:sp>
      <p:sp>
        <p:nvSpPr>
          <p:cNvPr id="13" name="rh_91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used to + -ing / noun</a:t>
            </a:r>
            <a:endParaRPr lang="en-US" sz="1300" dirty="0"/>
          </a:p>
        </p:txBody>
      </p:sp>
      <p:sp>
        <p:nvSpPr>
          <p:cNvPr id="14" name="rb_92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become familiar (a process)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getting used to it.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soon get used to it.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get used to the cold.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abituarsi a</a:t>
            </a:r>
            <a:endParaRPr lang="en-US" sz="1250" dirty="0"/>
          </a:p>
        </p:txBody>
      </p:sp>
      <p:sp>
        <p:nvSpPr>
          <p:cNvPr id="15" name="watch_93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habits = usually: ✗ I use to go to bed late → ✓ I usually go to bed late.  Questions/negatives: did … use to (no -d).</a:t>
            </a:r>
            <a:endParaRPr lang="en-US" sz="1000" dirty="0"/>
          </a:p>
        </p:txBody>
      </p:sp>
      <p:sp>
        <p:nvSpPr>
          <p:cNvPr id="16" name="pageTag_9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own material (replaces SB p.57) · Grammar Bank 6A (back of SB) ⚠ check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9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/s/ or /z/?</a:t>
            </a:r>
            <a:endParaRPr lang="en-US" sz="900" dirty="0"/>
          </a:p>
        </p:txBody>
      </p:sp>
      <p:sp>
        <p:nvSpPr>
          <p:cNvPr id="6" name="timer_9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9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100"/>
          <p:cNvSpPr txBox="1"/>
          <p:nvPr/>
        </p:nvSpPr>
        <p:spPr>
          <a:xfrm rot="-120000">
            <a:off x="320040" y="676656"/>
            <a:ext cx="571500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spelling, different sound</a:t>
            </a:r>
            <a:endParaRPr lang="en-US" sz="1500" dirty="0"/>
          </a:p>
        </p:txBody>
      </p:sp>
      <p:sp>
        <p:nvSpPr>
          <p:cNvPr id="9" name="post_10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0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0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reads. Show 1 finger = /s/, 2 = /z/.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legge. 1 dito = /s/, 2 = /z/.</a:t>
            </a:r>
            <a:endParaRPr lang="en-US" sz="1250" dirty="0"/>
          </a:p>
        </p:txBody>
      </p:sp>
      <p:sp>
        <p:nvSpPr>
          <p:cNvPr id="12" name="box_104"/>
          <p:cNvSpPr txBox="1"/>
          <p:nvPr/>
        </p:nvSpPr>
        <p:spPr>
          <a:xfrm>
            <a:off x="2788920" y="1371600"/>
            <a:ext cx="194931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used to live in Palermo.</a:t>
            </a:r>
            <a:endParaRPr lang="en-US" sz="1250" dirty="0"/>
          </a:p>
        </p:txBody>
      </p:sp>
      <p:sp>
        <p:nvSpPr>
          <p:cNvPr id="13" name="R1_a0"/>
          <p:cNvSpPr txBox="1"/>
          <p:nvPr/>
        </p:nvSpPr>
        <p:spPr>
          <a:xfrm>
            <a:off x="4793102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 /ˈjuːstə/</a:t>
            </a:r>
            <a:endParaRPr lang="en-US" sz="1300" dirty="0"/>
          </a:p>
        </p:txBody>
      </p:sp>
      <p:sp>
        <p:nvSpPr>
          <p:cNvPr id="14" name="box_105"/>
          <p:cNvSpPr txBox="1"/>
          <p:nvPr/>
        </p:nvSpPr>
        <p:spPr>
          <a:xfrm>
            <a:off x="5870448" y="1371600"/>
            <a:ext cx="194931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I'm used to it now.</a:t>
            </a:r>
            <a:endParaRPr lang="en-US" sz="1250" dirty="0"/>
          </a:p>
        </p:txBody>
      </p:sp>
      <p:sp>
        <p:nvSpPr>
          <p:cNvPr id="15" name="R2_a1"/>
          <p:cNvSpPr txBox="1"/>
          <p:nvPr/>
        </p:nvSpPr>
        <p:spPr>
          <a:xfrm>
            <a:off x="7874630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 /juːst/</a:t>
            </a:r>
            <a:endParaRPr lang="en-US" sz="1300" dirty="0"/>
          </a:p>
        </p:txBody>
      </p:sp>
      <p:sp>
        <p:nvSpPr>
          <p:cNvPr id="16" name="box_106"/>
          <p:cNvSpPr txBox="1"/>
          <p:nvPr/>
        </p:nvSpPr>
        <p:spPr>
          <a:xfrm>
            <a:off x="2788920" y="2368296"/>
            <a:ext cx="194931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This app is used by millions.</a:t>
            </a:r>
            <a:endParaRPr lang="en-US" sz="1250" dirty="0"/>
          </a:p>
        </p:txBody>
      </p:sp>
      <p:sp>
        <p:nvSpPr>
          <p:cNvPr id="17" name="R3_a2"/>
          <p:cNvSpPr txBox="1"/>
          <p:nvPr/>
        </p:nvSpPr>
        <p:spPr>
          <a:xfrm>
            <a:off x="4793102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 /juːzd/</a:t>
            </a:r>
            <a:endParaRPr lang="en-US" sz="1300" dirty="0"/>
          </a:p>
        </p:txBody>
      </p:sp>
      <p:sp>
        <p:nvSpPr>
          <p:cNvPr id="18" name="box_107"/>
          <p:cNvSpPr txBox="1"/>
          <p:nvPr/>
        </p:nvSpPr>
        <p:spPr>
          <a:xfrm>
            <a:off x="5870448" y="2368296"/>
            <a:ext cx="194931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Antibiotics are used to treat infections.</a:t>
            </a:r>
            <a:endParaRPr lang="en-US" sz="1250" dirty="0"/>
          </a:p>
        </p:txBody>
      </p:sp>
      <p:sp>
        <p:nvSpPr>
          <p:cNvPr id="19" name="R4_a3"/>
          <p:cNvSpPr txBox="1"/>
          <p:nvPr/>
        </p:nvSpPr>
        <p:spPr>
          <a:xfrm>
            <a:off x="7874630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 = utilised</a:t>
            </a:r>
            <a:endParaRPr lang="en-US" sz="1300" dirty="0"/>
          </a:p>
        </p:txBody>
      </p:sp>
      <p:sp>
        <p:nvSpPr>
          <p:cNvPr id="20" name="box_108"/>
          <p:cNvSpPr txBox="1"/>
          <p:nvPr/>
        </p:nvSpPr>
        <p:spPr>
          <a:xfrm>
            <a:off x="2788920" y="3364992"/>
            <a:ext cx="194931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It's no use – I can't sleep!</a:t>
            </a:r>
            <a:endParaRPr lang="en-US" sz="1250" dirty="0"/>
          </a:p>
        </p:txBody>
      </p:sp>
      <p:sp>
        <p:nvSpPr>
          <p:cNvPr id="21" name="R5_a4"/>
          <p:cNvSpPr txBox="1"/>
          <p:nvPr/>
        </p:nvSpPr>
        <p:spPr>
          <a:xfrm>
            <a:off x="4793102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 (noun)</a:t>
            </a:r>
            <a:endParaRPr lang="en-US" sz="1300" dirty="0"/>
          </a:p>
        </p:txBody>
      </p:sp>
      <p:sp>
        <p:nvSpPr>
          <p:cNvPr id="22" name="box_109"/>
          <p:cNvSpPr txBox="1"/>
          <p:nvPr/>
        </p:nvSpPr>
        <p:spPr>
          <a:xfrm>
            <a:off x="5870448" y="3364992"/>
            <a:ext cx="194931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Can I use your charger?</a:t>
            </a:r>
            <a:endParaRPr lang="en-US" sz="1250" dirty="0"/>
          </a:p>
        </p:txBody>
      </p:sp>
      <p:sp>
        <p:nvSpPr>
          <p:cNvPr id="23" name="R6_a5"/>
          <p:cNvSpPr txBox="1"/>
          <p:nvPr/>
        </p:nvSpPr>
        <p:spPr>
          <a:xfrm>
            <a:off x="7874630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 (verb)</a:t>
            </a:r>
            <a:endParaRPr lang="en-US" sz="1300" dirty="0"/>
          </a:p>
        </p:txBody>
      </p:sp>
      <p:sp>
        <p:nvSpPr>
          <p:cNvPr id="24" name="sticky_110"/>
          <p:cNvSpPr txBox="1"/>
          <p:nvPr/>
        </p:nvSpPr>
        <p:spPr>
          <a:xfrm rot="-120000">
            <a:off x="365760" y="3977640"/>
            <a:ext cx="2286000" cy="6858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(habit / familiar) = /ˈjuːstə/ – fast, weak 'to'</a:t>
            </a:r>
            <a:endParaRPr lang="en-US" sz="1150" dirty="0"/>
          </a:p>
        </p:txBody>
      </p:sp>
      <p:sp>
        <p:nvSpPr>
          <p:cNvPr id="25" name="pageTag_11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Workbook 6A 2a–c · audio 6.1 (Workbook audio)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PRACTISE · Error hunt</a:t>
            </a:r>
            <a:endParaRPr lang="en-US" sz="900" dirty="0"/>
          </a:p>
        </p:txBody>
      </p:sp>
      <p:sp>
        <p:nvSpPr>
          <p:cNvPr id="6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117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Italian traps</a:t>
            </a:r>
            <a:endParaRPr lang="en-US" sz="1500" dirty="0"/>
          </a:p>
        </p:txBody>
      </p:sp>
      <p:sp>
        <p:nvSpPr>
          <p:cNvPr id="9" name="post_11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12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find the mistake (1 pt) and fix it (1 pt).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Squadre: trova l'errore (1 pt) e correggilo (1 pt).</a:t>
            </a:r>
            <a:endParaRPr lang="en-US" sz="1250" dirty="0"/>
          </a:p>
        </p:txBody>
      </p:sp>
      <p:sp>
        <p:nvSpPr>
          <p:cNvPr id="12" name="iconBack_12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2" descr="pi:PiB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23"/>
          <p:cNvSpPr txBox="1"/>
          <p:nvPr/>
        </p:nvSpPr>
        <p:spPr>
          <a:xfrm>
            <a:off x="2788920" y="1371600"/>
            <a:ext cx="301752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use to go to bed at midnight.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go to bed…</a:t>
            </a:r>
            <a:endParaRPr lang="en-US" sz="1200" dirty="0"/>
          </a:p>
        </p:txBody>
      </p:sp>
      <p:sp>
        <p:nvSpPr>
          <p:cNvPr id="16" name="box_124"/>
          <p:cNvSpPr txBox="1"/>
          <p:nvPr/>
        </p:nvSpPr>
        <p:spPr>
          <a:xfrm>
            <a:off x="2788920" y="1941576"/>
            <a:ext cx="301752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I'm used to wake up early.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5861304" y="1978152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used to waking up early.</a:t>
            </a:r>
            <a:endParaRPr lang="en-US" sz="1200" dirty="0"/>
          </a:p>
        </p:txBody>
      </p:sp>
      <p:sp>
        <p:nvSpPr>
          <p:cNvPr id="18" name="box_125"/>
          <p:cNvSpPr txBox="1"/>
          <p:nvPr/>
        </p:nvSpPr>
        <p:spPr>
          <a:xfrm>
            <a:off x="2788920" y="2511552"/>
            <a:ext cx="301752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Did you used to have a teddy bear?</a:t>
            </a:r>
            <a:endParaRPr lang="en-US" sz="1250" dirty="0"/>
          </a:p>
        </p:txBody>
      </p:sp>
      <p:sp>
        <p:nvSpPr>
          <p:cNvPr id="19" name="R3_a2"/>
          <p:cNvSpPr txBox="1"/>
          <p:nvPr/>
        </p:nvSpPr>
        <p:spPr>
          <a:xfrm>
            <a:off x="5861304" y="2548128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to have…?</a:t>
            </a:r>
            <a:endParaRPr lang="en-US" sz="1200" dirty="0"/>
          </a:p>
        </p:txBody>
      </p:sp>
      <p:sp>
        <p:nvSpPr>
          <p:cNvPr id="20" name="box_126"/>
          <p:cNvSpPr txBox="1"/>
          <p:nvPr/>
        </p:nvSpPr>
        <p:spPr>
          <a:xfrm>
            <a:off x="2788920" y="3081528"/>
            <a:ext cx="301752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As a child I would have very long hair.</a:t>
            </a:r>
            <a:endParaRPr lang="en-US" sz="1200" dirty="0"/>
          </a:p>
        </p:txBody>
      </p:sp>
      <p:sp>
        <p:nvSpPr>
          <p:cNvPr id="21" name="R4_a3"/>
          <p:cNvSpPr txBox="1"/>
          <p:nvPr/>
        </p:nvSpPr>
        <p:spPr>
          <a:xfrm>
            <a:off x="5861304" y="3118104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have… (state ≠ would)</a:t>
            </a:r>
            <a:endParaRPr lang="en-US" sz="1200" dirty="0"/>
          </a:p>
        </p:txBody>
      </p:sp>
      <p:sp>
        <p:nvSpPr>
          <p:cNvPr id="22" name="box_127"/>
          <p:cNvSpPr txBox="1"/>
          <p:nvPr/>
        </p:nvSpPr>
        <p:spPr>
          <a:xfrm>
            <a:off x="2788920" y="3651504"/>
            <a:ext cx="301752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 can't get used to sleep in a hot room.</a:t>
            </a:r>
            <a:endParaRPr lang="en-US" sz="1150" dirty="0"/>
          </a:p>
        </p:txBody>
      </p:sp>
      <p:sp>
        <p:nvSpPr>
          <p:cNvPr id="23" name="R5_a4"/>
          <p:cNvSpPr txBox="1"/>
          <p:nvPr/>
        </p:nvSpPr>
        <p:spPr>
          <a:xfrm>
            <a:off x="5861304" y="3688080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…get used to sleeping…</a:t>
            </a:r>
            <a:endParaRPr lang="en-US" sz="1200" dirty="0"/>
          </a:p>
        </p:txBody>
      </p:sp>
      <p:sp>
        <p:nvSpPr>
          <p:cNvPr id="24" name="box_128"/>
          <p:cNvSpPr txBox="1"/>
          <p:nvPr/>
        </p:nvSpPr>
        <p:spPr>
          <a:xfrm>
            <a:off x="2788920" y="4221480"/>
            <a:ext cx="301752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She is used to live alone.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5861304" y="425805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used to living / She used to live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3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PRACTISE · Reformulate</a:t>
            </a:r>
            <a:endParaRPr lang="en-US" sz="900" dirty="0"/>
          </a:p>
        </p:txBody>
      </p:sp>
      <p:sp>
        <p:nvSpPr>
          <p:cNvPr id="6" name="timer_13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3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134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another way</a:t>
            </a:r>
            <a:endParaRPr lang="en-US" sz="1500" dirty="0"/>
          </a:p>
        </p:txBody>
      </p:sp>
      <p:sp>
        <p:nvSpPr>
          <p:cNvPr id="9" name="post_13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3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with used to / be used to / get used to.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Riscrivi con used to / be used to / get used to.</a:t>
            </a:r>
            <a:endParaRPr lang="en-US" sz="1250" dirty="0"/>
          </a:p>
        </p:txBody>
      </p:sp>
      <p:sp>
        <p:nvSpPr>
          <p:cNvPr id="12" name="iconBack_13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9" descr="pi:PiArrowsClockwi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40"/>
          <p:cNvSpPr txBox="1"/>
          <p:nvPr/>
        </p:nvSpPr>
        <p:spPr>
          <a:xfrm>
            <a:off x="2788920" y="1371600"/>
            <a:ext cx="3500323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My new school felt strange at first, but now it's normal.</a:t>
            </a:r>
            <a:endParaRPr lang="en-US" sz="950" dirty="0"/>
          </a:p>
        </p:txBody>
      </p:sp>
      <p:sp>
        <p:nvSpPr>
          <p:cNvPr id="15" name="R1_a0"/>
          <p:cNvSpPr txBox="1"/>
          <p:nvPr/>
        </p:nvSpPr>
        <p:spPr>
          <a:xfrm>
            <a:off x="6344107" y="1408176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got used to my new school.</a:t>
            </a:r>
            <a:endParaRPr lang="en-US" sz="1150" dirty="0"/>
          </a:p>
        </p:txBody>
      </p:sp>
      <p:sp>
        <p:nvSpPr>
          <p:cNvPr id="16" name="box_141"/>
          <p:cNvSpPr txBox="1"/>
          <p:nvPr/>
        </p:nvSpPr>
        <p:spPr>
          <a:xfrm>
            <a:off x="2788920" y="1941576"/>
            <a:ext cx="3500323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 the past my brother snored, but he doesn't now.</a:t>
            </a:r>
            <a:endParaRPr lang="en-US" sz="1050" dirty="0"/>
          </a:p>
        </p:txBody>
      </p:sp>
      <p:sp>
        <p:nvSpPr>
          <p:cNvPr id="17" name="R2_a1"/>
          <p:cNvSpPr txBox="1"/>
          <p:nvPr/>
        </p:nvSpPr>
        <p:spPr>
          <a:xfrm>
            <a:off x="6344107" y="1978152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used to snore.</a:t>
            </a:r>
            <a:endParaRPr lang="en-US" sz="1150" dirty="0"/>
          </a:p>
        </p:txBody>
      </p:sp>
      <p:sp>
        <p:nvSpPr>
          <p:cNvPr id="18" name="box_142"/>
          <p:cNvSpPr txBox="1"/>
          <p:nvPr/>
        </p:nvSpPr>
        <p:spPr>
          <a:xfrm>
            <a:off x="2788920" y="2511552"/>
            <a:ext cx="3500323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Waking up at 6 is no problem – I've done it for years.</a:t>
            </a:r>
            <a:endParaRPr lang="en-US" sz="1000" dirty="0"/>
          </a:p>
        </p:txBody>
      </p:sp>
      <p:sp>
        <p:nvSpPr>
          <p:cNvPr id="19" name="R3_a2"/>
          <p:cNvSpPr txBox="1"/>
          <p:nvPr/>
        </p:nvSpPr>
        <p:spPr>
          <a:xfrm>
            <a:off x="6344107" y="2548128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used to waking up at 6.</a:t>
            </a:r>
            <a:endParaRPr lang="en-US" sz="1150" dirty="0"/>
          </a:p>
        </p:txBody>
      </p:sp>
      <p:sp>
        <p:nvSpPr>
          <p:cNvPr id="20" name="box_143"/>
          <p:cNvSpPr txBox="1"/>
          <p:nvPr/>
        </p:nvSpPr>
        <p:spPr>
          <a:xfrm>
            <a:off x="2788920" y="3081528"/>
            <a:ext cx="3500323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It still feels weird to sleep with the window closed.</a:t>
            </a:r>
            <a:endParaRPr lang="en-US" sz="1100" dirty="0"/>
          </a:p>
        </p:txBody>
      </p:sp>
      <p:sp>
        <p:nvSpPr>
          <p:cNvPr id="21" name="R4_a3"/>
          <p:cNvSpPr txBox="1"/>
          <p:nvPr/>
        </p:nvSpPr>
        <p:spPr>
          <a:xfrm>
            <a:off x="6344107" y="3118104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used to / haven't got used to sleeping…</a:t>
            </a:r>
            <a:endParaRPr lang="en-US" sz="1000" dirty="0"/>
          </a:p>
        </p:txBody>
      </p:sp>
      <p:sp>
        <p:nvSpPr>
          <p:cNvPr id="22" name="box_144"/>
          <p:cNvSpPr txBox="1"/>
          <p:nvPr/>
        </p:nvSpPr>
        <p:spPr>
          <a:xfrm>
            <a:off x="2788920" y="3651504"/>
            <a:ext cx="3500323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Every summer we went to Grandma's in Cefalù.</a:t>
            </a:r>
            <a:endParaRPr lang="en-US" sz="1150" dirty="0"/>
          </a:p>
        </p:txBody>
      </p:sp>
      <p:sp>
        <p:nvSpPr>
          <p:cNvPr id="23" name="R5_a4"/>
          <p:cNvSpPr txBox="1"/>
          <p:nvPr/>
        </p:nvSpPr>
        <p:spPr>
          <a:xfrm>
            <a:off x="6344107" y="3688080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to / would go to Grandma's…</a:t>
            </a:r>
            <a:endParaRPr lang="en-US" sz="1050" dirty="0"/>
          </a:p>
        </p:txBody>
      </p:sp>
      <p:sp>
        <p:nvSpPr>
          <p:cNvPr id="24" name="box_145"/>
          <p:cNvSpPr txBox="1"/>
          <p:nvPr/>
        </p:nvSpPr>
        <p:spPr>
          <a:xfrm>
            <a:off x="2788920" y="4221480"/>
            <a:ext cx="3500323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Will working nights ever feel normal for you?</a:t>
            </a:r>
            <a:endParaRPr lang="en-US" sz="1200" dirty="0"/>
          </a:p>
        </p:txBody>
      </p:sp>
      <p:sp>
        <p:nvSpPr>
          <p:cNvPr id="25" name="R6_a5"/>
          <p:cNvSpPr txBox="1"/>
          <p:nvPr/>
        </p:nvSpPr>
        <p:spPr>
          <a:xfrm>
            <a:off x="6344107" y="4258056"/>
            <a:ext cx="247985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ever get used to working nights?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4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Info gap</a:t>
            </a:r>
            <a:endParaRPr lang="en-US" sz="900" dirty="0"/>
          </a:p>
        </p:txBody>
      </p:sp>
      <p:sp>
        <p:nvSpPr>
          <p:cNvPr id="6" name="timer_14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5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151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Guess my new life</a:t>
            </a:r>
            <a:endParaRPr lang="en-US" sz="1500" dirty="0"/>
          </a:p>
        </p:txBody>
      </p:sp>
      <p:sp>
        <p:nvSpPr>
          <p:cNvPr id="9" name="post_15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5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5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gap: you have different information.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informazioni diverse.</a:t>
            </a:r>
            <a:endParaRPr lang="en-US" sz="1250" dirty="0"/>
          </a:p>
        </p:txBody>
      </p:sp>
      <p:sp>
        <p:nvSpPr>
          <p:cNvPr id="12" name="num_155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box_156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secret card. Don't show it! (1 min)</a:t>
            </a:r>
            <a:endParaRPr lang="en-US" sz="1250" dirty="0"/>
          </a:p>
        </p:txBody>
      </p:sp>
      <p:sp>
        <p:nvSpPr>
          <p:cNvPr id="14" name="num_157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box_158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questions to discover your new life.</a:t>
            </a:r>
            <a:endParaRPr lang="en-US" sz="1250" dirty="0"/>
          </a:p>
        </p:txBody>
      </p:sp>
      <p:sp>
        <p:nvSpPr>
          <p:cNvPr id="16" name="num_159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box_160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role with used to / be used to / get used to.</a:t>
            </a:r>
            <a:endParaRPr lang="en-US" sz="1250" dirty="0"/>
          </a:p>
        </p:txBody>
      </p:sp>
      <p:sp>
        <p:nvSpPr>
          <p:cNvPr id="18" name="num_161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box_162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has 3 minutes to guess. Then swap roles.</a:t>
            </a:r>
            <a:endParaRPr lang="en-US" sz="1250" dirty="0"/>
          </a:p>
        </p:txBody>
      </p:sp>
      <p:sp>
        <p:nvSpPr>
          <p:cNvPr id="20" name="num_163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box_164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ask 2 follow-up questions for every answer.</a:t>
            </a:r>
            <a:endParaRPr lang="en-US" sz="1250" dirty="0"/>
          </a:p>
        </p:txBody>
      </p:sp>
      <p:sp>
        <p:nvSpPr>
          <p:cNvPr id="22" name="bubble_165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to…?  ·  Are you used to… yet?  ·  What can't you get used to?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Info gap · Student A</a:t>
            </a:r>
            <a:endParaRPr lang="en-US" sz="900" dirty="0"/>
          </a:p>
        </p:txBody>
      </p:sp>
      <p:sp>
        <p:nvSpPr>
          <p:cNvPr id="6" name="footer_16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warn_170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STUDENT A ONLY · B + C: look away!  ·  Gli altri non guardano!</a:t>
            </a:r>
            <a:endParaRPr lang="en-US" sz="1500" dirty="0"/>
          </a:p>
        </p:txBody>
      </p:sp>
      <p:sp>
        <p:nvSpPr>
          <p:cNvPr id="8" name="R1_card"/>
          <p:cNvSpPr/>
          <p:nvPr/>
        </p:nvSpPr>
        <p:spPr>
          <a:xfrm>
            <a:off x="822960" y="1280160"/>
            <a:ext cx="74980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50800">
            <a:solidFill>
              <a:srgbClr val="EF2F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head"/>
          <p:cNvSpPr txBox="1"/>
          <p:nvPr/>
        </p:nvSpPr>
        <p:spPr>
          <a:xfrm>
            <a:off x="1005840" y="1371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A · New life in the Arctic</a:t>
            </a:r>
            <a:endParaRPr lang="en-US" sz="1700" dirty="0"/>
          </a:p>
        </p:txBody>
      </p:sp>
      <p:sp>
        <p:nvSpPr>
          <p:cNvPr id="10" name="R1_body"/>
          <p:cNvSpPr txBox="1"/>
          <p:nvPr/>
        </p:nvSpPr>
        <p:spPr>
          <a:xfrm>
            <a:off x="1005840" y="1874520"/>
            <a:ext cx="7132320" cy="2697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just moved from Bagheria to Tromsø, Norway – north of the Arctic Circle.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summer the sun never sets. In winter it's dark almost all day.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to: sleep with the window open · eat dinner at 9 p.m. · swim in May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getting used to: blackout curtains · dinner at 6 · four layers of clothes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get used to: daylight at 2 a.m. · €12 for a coffee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'Norway', 'snow' or 'sun' until your partner guesses!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7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Info gap · Student B</a:t>
            </a:r>
            <a:endParaRPr lang="en-US" sz="900" dirty="0"/>
          </a:p>
        </p:txBody>
      </p:sp>
      <p:sp>
        <p:nvSpPr>
          <p:cNvPr id="6" name="footer_1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warn_175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STUDENT B ONLY · A + C: look away!  ·  Gli altri non guardano!</a:t>
            </a:r>
            <a:endParaRPr lang="en-US" sz="1500" dirty="0"/>
          </a:p>
        </p:txBody>
      </p:sp>
      <p:sp>
        <p:nvSpPr>
          <p:cNvPr id="8" name="R1_card"/>
          <p:cNvSpPr/>
          <p:nvPr/>
        </p:nvSpPr>
        <p:spPr>
          <a:xfrm>
            <a:off x="822960" y="1280160"/>
            <a:ext cx="74980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50800">
            <a:solidFill>
              <a:srgbClr val="062F6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head"/>
          <p:cNvSpPr txBox="1"/>
          <p:nvPr/>
        </p:nvSpPr>
        <p:spPr>
          <a:xfrm>
            <a:off x="1005840" y="1371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B · New job in a bakery</a:t>
            </a:r>
            <a:endParaRPr lang="en-US" sz="1700" dirty="0"/>
          </a:p>
        </p:txBody>
      </p:sp>
      <p:sp>
        <p:nvSpPr>
          <p:cNvPr id="10" name="R1_body"/>
          <p:cNvSpPr txBox="1"/>
          <p:nvPr/>
        </p:nvSpPr>
        <p:spPr>
          <a:xfrm>
            <a:off x="1005840" y="1874520"/>
            <a:ext cx="7132320" cy="2697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just started work in a bakery. Your shift starts at 3 a.m.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to: stay up late · sleep until 10 at weekends · eat cornetti, not make them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getting used to: going to bed at 7 p.m. · the heat of the ovens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aren't used to: your hands covered in flour · saying no to parties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get used to: the alarm at 2.15 a.m.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'bread', 'bakery' or 'baker' until your partner guesses!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7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Info gap · Student C (groups of 3)</a:t>
            </a:r>
            <a:endParaRPr lang="en-US" sz="900" dirty="0"/>
          </a:p>
        </p:txBody>
      </p:sp>
      <p:sp>
        <p:nvSpPr>
          <p:cNvPr id="6" name="footer_17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warn_180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STUDENT C ONLY · A + B: look away!  ·  Gli altri non guardano!</a:t>
            </a:r>
            <a:endParaRPr lang="en-US" sz="1500" dirty="0"/>
          </a:p>
        </p:txBody>
      </p:sp>
      <p:sp>
        <p:nvSpPr>
          <p:cNvPr id="8" name="R1_card"/>
          <p:cNvSpPr/>
          <p:nvPr/>
        </p:nvSpPr>
        <p:spPr>
          <a:xfrm>
            <a:off x="822960" y="1280160"/>
            <a:ext cx="74980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50800">
            <a:solidFill>
              <a:srgbClr val="1FA46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head"/>
          <p:cNvSpPr txBox="1"/>
          <p:nvPr/>
        </p:nvSpPr>
        <p:spPr>
          <a:xfrm>
            <a:off x="1005840" y="1371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C (groups of 3) · New student flat</a:t>
            </a:r>
            <a:endParaRPr lang="en-US" sz="1700" dirty="0"/>
          </a:p>
        </p:txBody>
      </p:sp>
      <p:sp>
        <p:nvSpPr>
          <p:cNvPr id="10" name="R1_body"/>
          <p:cNvSpPr txBox="1"/>
          <p:nvPr/>
        </p:nvSpPr>
        <p:spPr>
          <a:xfrm>
            <a:off x="1005840" y="1874520"/>
            <a:ext cx="7132320" cy="2697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just moved into a student flat in Bologna with four flatmates.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to: have your own room · a quiet house · mum's cooking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getting used to: cooking pasta for five · queueing for the bathroom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get used to: one flatmate snores, one plays drums at midnight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'flat', 'flatmate' or 'university' until they guess!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Life changes · round 1 of 3</a:t>
            </a:r>
            <a:endParaRPr lang="en-US" sz="900" dirty="0"/>
          </a:p>
        </p:txBody>
      </p:sp>
      <p:sp>
        <p:nvSpPr>
          <p:cNvPr id="6" name="timer_1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18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8" name="title_186"/>
          <p:cNvSpPr txBox="1"/>
          <p:nvPr/>
        </p:nvSpPr>
        <p:spPr>
          <a:xfrm rot="-120000">
            <a:off x="320040" y="676656"/>
            <a:ext cx="536752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1 · A change at school</a:t>
            </a:r>
            <a:endParaRPr lang="en-US" sz="1500" dirty="0"/>
          </a:p>
        </p:txBody>
      </p:sp>
      <p:sp>
        <p:nvSpPr>
          <p:cNvPr id="9" name="box_187"/>
          <p:cNvSpPr txBox="1"/>
          <p:nvPr/>
        </p:nvSpPr>
        <p:spPr>
          <a:xfrm>
            <a:off x="320040" y="1371600"/>
            <a:ext cx="5806440" cy="6400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new school, timetable, teacher or class: what did you use to do?</a:t>
            </a:r>
            <a:endParaRPr lang="en-US" sz="1400" dirty="0"/>
          </a:p>
        </p:txBody>
      </p:sp>
      <p:sp>
        <p:nvSpPr>
          <p:cNvPr id="10" name="box_188"/>
          <p:cNvSpPr txBox="1"/>
          <p:nvPr/>
        </p:nvSpPr>
        <p:spPr>
          <a:xfrm>
            <a:off x="320040" y="2103120"/>
            <a:ext cx="5806440" cy="6400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have you got used to?</a:t>
            </a:r>
            <a:endParaRPr lang="en-US" sz="1400" dirty="0"/>
          </a:p>
        </p:txBody>
      </p:sp>
      <p:sp>
        <p:nvSpPr>
          <p:cNvPr id="11" name="box_189"/>
          <p:cNvSpPr txBox="1"/>
          <p:nvPr/>
        </p:nvSpPr>
        <p:spPr>
          <a:xfrm>
            <a:off x="320040" y="2834640"/>
            <a:ext cx="5806440" cy="6400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still feels strange?</a:t>
            </a:r>
            <a:endParaRPr lang="en-US" sz="1400" dirty="0"/>
          </a:p>
        </p:txBody>
      </p:sp>
      <p:sp>
        <p:nvSpPr>
          <p:cNvPr id="12" name="phrases_190"/>
          <p:cNvSpPr txBox="1"/>
          <p:nvPr/>
        </p:nvSpPr>
        <p:spPr>
          <a:xfrm rot="90000">
            <a:off x="6309360" y="1371600"/>
            <a:ext cx="2514600" cy="32918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these!  ·  Usale!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Really? How come?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it take you to get used to it?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what you mean – I…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on, so you're saying…?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sounds awful / brilliant!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always true, though?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9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Life changes · round 2 of 3</a:t>
            </a:r>
            <a:endParaRPr lang="en-US" sz="900" dirty="0"/>
          </a:p>
        </p:txBody>
      </p:sp>
      <p:sp>
        <p:nvSpPr>
          <p:cNvPr id="6" name="footer_19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title_195"/>
          <p:cNvSpPr txBox="1"/>
          <p:nvPr/>
        </p:nvSpPr>
        <p:spPr>
          <a:xfrm rot="-120000">
            <a:off x="320040" y="676656"/>
            <a:ext cx="519379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2 · Childhood beliefs</a:t>
            </a:r>
            <a:endParaRPr lang="en-US" sz="1500" dirty="0"/>
          </a:p>
        </p:txBody>
      </p:sp>
      <p:sp>
        <p:nvSpPr>
          <p:cNvPr id="8" name="box_196"/>
          <p:cNvSpPr txBox="1"/>
          <p:nvPr/>
        </p:nvSpPr>
        <p:spPr>
          <a:xfrm>
            <a:off x="320040" y="1371600"/>
            <a:ext cx="5806440" cy="6400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Something you used to believe as a child that seems funny now</a:t>
            </a:r>
            <a:endParaRPr lang="en-US" sz="1400" dirty="0"/>
          </a:p>
        </p:txBody>
      </p:sp>
      <p:sp>
        <p:nvSpPr>
          <p:cNvPr id="9" name="box_197"/>
          <p:cNvSpPr txBox="1"/>
          <p:nvPr/>
        </p:nvSpPr>
        <p:spPr>
          <a:xfrm>
            <a:off x="320040" y="2103120"/>
            <a:ext cx="5806440" cy="6400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Something you used to be scared of</a:t>
            </a:r>
            <a:endParaRPr lang="en-US" sz="1400" dirty="0"/>
          </a:p>
        </p:txBody>
      </p:sp>
      <p:sp>
        <p:nvSpPr>
          <p:cNvPr id="10" name="box_198"/>
          <p:cNvSpPr txBox="1"/>
          <p:nvPr/>
        </p:nvSpPr>
        <p:spPr>
          <a:xfrm>
            <a:off x="320040" y="2834640"/>
            <a:ext cx="5806440" cy="6400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When did you stop? Why?</a:t>
            </a:r>
            <a:endParaRPr lang="en-US" sz="1400" dirty="0"/>
          </a:p>
        </p:txBody>
      </p:sp>
      <p:sp>
        <p:nvSpPr>
          <p:cNvPr id="11" name="kh_199"/>
          <p:cNvSpPr txBox="1"/>
          <p:nvPr/>
        </p:nvSpPr>
        <p:spPr>
          <a:xfrm>
            <a:off x="6309360" y="1371600"/>
            <a:ext cx="2514600" cy="365760"/>
          </a:xfrm>
          <a:prstGeom prst="rect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Keywords only  ·  Solo parole chiave</a:t>
            </a:r>
            <a:endParaRPr lang="en-US" sz="900" dirty="0"/>
          </a:p>
        </p:txBody>
      </p:sp>
      <p:sp>
        <p:nvSpPr>
          <p:cNvPr id="12" name="stamp_200"/>
          <p:cNvSpPr txBox="1"/>
          <p:nvPr/>
        </p:nvSpPr>
        <p:spPr>
          <a:xfrm>
            <a:off x="6309360" y="18288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come?</a:t>
            </a:r>
            <a:endParaRPr lang="en-US" sz="1150" dirty="0"/>
          </a:p>
        </p:txBody>
      </p:sp>
      <p:sp>
        <p:nvSpPr>
          <p:cNvPr id="13" name="stamp_201"/>
          <p:cNvSpPr txBox="1"/>
          <p:nvPr/>
        </p:nvSpPr>
        <p:spPr>
          <a:xfrm>
            <a:off x="7589520" y="18288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part</a:t>
            </a:r>
            <a:endParaRPr lang="en-US" sz="1150" dirty="0"/>
          </a:p>
        </p:txBody>
      </p:sp>
      <p:sp>
        <p:nvSpPr>
          <p:cNvPr id="14" name="stamp_202"/>
          <p:cNvSpPr txBox="1"/>
          <p:nvPr/>
        </p:nvSpPr>
        <p:spPr>
          <a:xfrm>
            <a:off x="6309360" y="22860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long…?</a:t>
            </a:r>
            <a:endParaRPr lang="en-US" sz="1150" dirty="0"/>
          </a:p>
        </p:txBody>
      </p:sp>
      <p:sp>
        <p:nvSpPr>
          <p:cNvPr id="15" name="stamp_203"/>
          <p:cNvSpPr txBox="1"/>
          <p:nvPr/>
        </p:nvSpPr>
        <p:spPr>
          <a:xfrm>
            <a:off x="7589520" y="22860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what…</a:t>
            </a:r>
            <a:endParaRPr lang="en-US" sz="1150" dirty="0"/>
          </a:p>
        </p:txBody>
      </p:sp>
      <p:sp>
        <p:nvSpPr>
          <p:cNvPr id="16" name="stamp_204"/>
          <p:cNvSpPr txBox="1"/>
          <p:nvPr/>
        </p:nvSpPr>
        <p:spPr>
          <a:xfrm>
            <a:off x="6309360" y="27432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you're saying…</a:t>
            </a:r>
            <a:endParaRPr lang="en-US" sz="1050" dirty="0"/>
          </a:p>
        </p:txBody>
      </p:sp>
      <p:sp>
        <p:nvSpPr>
          <p:cNvPr id="17" name="stamp_205"/>
          <p:cNvSpPr txBox="1"/>
          <p:nvPr/>
        </p:nvSpPr>
        <p:spPr>
          <a:xfrm>
            <a:off x="7589520" y="27432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sounds…</a:t>
            </a:r>
            <a:endParaRPr lang="en-US" sz="1150" dirty="0"/>
          </a:p>
        </p:txBody>
      </p:sp>
      <p:sp>
        <p:nvSpPr>
          <p:cNvPr id="18" name="stamp_206"/>
          <p:cNvSpPr txBox="1"/>
          <p:nvPr/>
        </p:nvSpPr>
        <p:spPr>
          <a:xfrm>
            <a:off x="6309360" y="3200400"/>
            <a:ext cx="12161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true?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0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· Life changes · round 3 of 3</a:t>
            </a:r>
            <a:endParaRPr lang="en-US" sz="900" dirty="0"/>
          </a:p>
        </p:txBody>
      </p:sp>
      <p:sp>
        <p:nvSpPr>
          <p:cNvPr id="6" name="footer_21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7" name="title_211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3 · Never!</a:t>
            </a:r>
            <a:endParaRPr lang="en-US" sz="1500" dirty="0"/>
          </a:p>
        </p:txBody>
      </p:sp>
      <p:sp>
        <p:nvSpPr>
          <p:cNvPr id="8" name="box_212"/>
          <p:cNvSpPr txBox="1"/>
          <p:nvPr/>
        </p:nvSpPr>
        <p:spPr>
          <a:xfrm>
            <a:off x="320040" y="1371600"/>
            <a:ext cx="5806440" cy="6400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Something in daily life you'll NEVER get used to</a:t>
            </a:r>
            <a:endParaRPr lang="en-US" sz="1400" dirty="0"/>
          </a:p>
        </p:txBody>
      </p:sp>
      <p:sp>
        <p:nvSpPr>
          <p:cNvPr id="9" name="box_213"/>
          <p:cNvSpPr txBox="1"/>
          <p:nvPr/>
        </p:nvSpPr>
        <p:spPr>
          <a:xfrm>
            <a:off x="320040" y="2103120"/>
            <a:ext cx="5806440" cy="6400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Convince your partner it's really that bad</a:t>
            </a:r>
            <a:endParaRPr lang="en-US" sz="1400" dirty="0"/>
          </a:p>
        </p:txBody>
      </p:sp>
      <p:sp>
        <p:nvSpPr>
          <p:cNvPr id="10" name="box_214"/>
          <p:cNvSpPr txBox="1"/>
          <p:nvPr/>
        </p:nvSpPr>
        <p:spPr>
          <a:xfrm>
            <a:off x="320040" y="2834640"/>
            <a:ext cx="5806440" cy="6400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Partner: try to change their mind!</a:t>
            </a:r>
            <a:endParaRPr lang="en-US" sz="1400" dirty="0"/>
          </a:p>
        </p:txBody>
      </p:sp>
      <p:sp>
        <p:nvSpPr>
          <p:cNvPr id="11" name="none_215"/>
          <p:cNvSpPr txBox="1"/>
          <p:nvPr/>
        </p:nvSpPr>
        <p:spPr>
          <a:xfrm>
            <a:off x="6309360" y="1371600"/>
            <a:ext cx="2514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help now – you know it!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Niente aiuto: lo sai già!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1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1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6" name="title_219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20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21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choose used to, be used to or get used to for meaning.</a:t>
            </a:r>
            <a:endParaRPr lang="en-US" sz="1200" dirty="0"/>
          </a:p>
        </p:txBody>
      </p:sp>
      <p:sp>
        <p:nvSpPr>
          <p:cNvPr id="9" name="faces_222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23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say used to /ˈjuːstə/ naturally.</a:t>
            </a:r>
            <a:endParaRPr lang="en-US" sz="1350" dirty="0"/>
          </a:p>
        </p:txBody>
      </p:sp>
      <p:sp>
        <p:nvSpPr>
          <p:cNvPr id="11" name="faces_224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25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keep a conversation going with follow-up questions.</a:t>
            </a:r>
            <a:endParaRPr lang="en-US" sz="1200" dirty="0"/>
          </a:p>
        </p:txBody>
      </p:sp>
      <p:sp>
        <p:nvSpPr>
          <p:cNvPr id="13" name="faces_226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27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6A: 1a–d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6A: 2d (/s/ /z/)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28"/>
          <p:cNvSpPr txBox="1"/>
          <p:nvPr/>
        </p:nvSpPr>
        <p:spPr>
          <a:xfrm>
            <a:off x="365760" y="3657600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6A part 2 · sleep vocabulary + a sleep expert's podcast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3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Find the lie</a:t>
            </a:r>
            <a:endParaRPr lang="en-US" sz="900" dirty="0"/>
          </a:p>
        </p:txBody>
      </p:sp>
      <p:sp>
        <p:nvSpPr>
          <p:cNvPr id="6" name="timer_23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3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3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9" name="title_235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truths and a lie</a:t>
            </a:r>
            <a:endParaRPr lang="en-US" sz="1500" dirty="0"/>
          </a:p>
        </p:txBody>
      </p:sp>
      <p:sp>
        <p:nvSpPr>
          <p:cNvPr id="10" name="post_23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3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3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true sentences, one lie. Can they find it?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frasi vere e una bugia. La trovano?</a:t>
            </a:r>
            <a:endParaRPr lang="en-US" sz="1250" dirty="0"/>
          </a:p>
        </p:txBody>
      </p:sp>
      <p:sp>
        <p:nvSpPr>
          <p:cNvPr id="13" name="iconBack_23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40" descr="pi:PiDetect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41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42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sentences: one with used to, one with be used to, one with get used to.</a:t>
            </a:r>
            <a:endParaRPr lang="en-US" sz="1300" dirty="0"/>
          </a:p>
        </p:txBody>
      </p:sp>
      <p:sp>
        <p:nvSpPr>
          <p:cNvPr id="17" name="num_243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44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are true, one is a lie.</a:t>
            </a:r>
            <a:endParaRPr lang="en-US" sz="1300" dirty="0"/>
          </a:p>
        </p:txBody>
      </p:sp>
      <p:sp>
        <p:nvSpPr>
          <p:cNvPr id="19" name="num_245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46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to your group. They ask 3 follow-up questions each.</a:t>
            </a:r>
            <a:endParaRPr lang="en-US" sz="1300" dirty="0"/>
          </a:p>
        </p:txBody>
      </p:sp>
      <p:sp>
        <p:nvSpPr>
          <p:cNvPr id="21" name="num_247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48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vote: which is the lie? You get 1 point for every wrong vote.</a:t>
            </a:r>
            <a:endParaRPr lang="en-US" sz="1300" dirty="0"/>
          </a:p>
        </p:txBody>
      </p:sp>
      <p:sp>
        <p:nvSpPr>
          <p:cNvPr id="23" name="bubble_249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have a pet snake. I'm used to sleeping on a sofa. I can't get used to my new glasses.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Then and now</a:t>
            </a:r>
            <a:endParaRPr lang="en-US" sz="900" dirty="0"/>
          </a:p>
        </p:txBody>
      </p:sp>
      <p:sp>
        <p:nvSpPr>
          <p:cNvPr id="6" name="timer_2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5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5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· Part 1</a:t>
            </a:r>
            <a:endParaRPr lang="en-US" sz="1000" dirty="0"/>
          </a:p>
        </p:txBody>
      </p:sp>
      <p:sp>
        <p:nvSpPr>
          <p:cNvPr id="9" name="title_256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Sleep 100 years ago</a:t>
            </a:r>
            <a:endParaRPr lang="en-US" sz="1500" dirty="0"/>
          </a:p>
        </p:txBody>
      </p:sp>
      <p:sp>
        <p:nvSpPr>
          <p:cNvPr id="10" name="post_25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5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2" name="signB_25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Speculate: how was sleep different in 1926?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Ipotizza: com'era il sonno nel 1926?</a:t>
            </a:r>
            <a:endParaRPr lang="en-US" sz="1250" dirty="0"/>
          </a:p>
        </p:txBody>
      </p:sp>
      <p:sp>
        <p:nvSpPr>
          <p:cNvPr id="13" name="iconBack_26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61" descr="pi:PiHour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62"/>
          <p:cNvSpPr txBox="1"/>
          <p:nvPr/>
        </p:nvSpPr>
        <p:spPr>
          <a:xfrm>
            <a:off x="2788920" y="1371600"/>
            <a:ext cx="603504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People used to… (bedrooms? beds? lights?)</a:t>
            </a:r>
            <a:endParaRPr lang="en-US" sz="1300" dirty="0"/>
          </a:p>
        </p:txBody>
      </p:sp>
      <p:sp>
        <p:nvSpPr>
          <p:cNvPr id="16" name="box_263"/>
          <p:cNvSpPr txBox="1"/>
          <p:nvPr/>
        </p:nvSpPr>
        <p:spPr>
          <a:xfrm>
            <a:off x="2788920" y="2226564"/>
            <a:ext cx="603504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They weren't used to… (screens? noise? alarms?)</a:t>
            </a:r>
            <a:endParaRPr lang="en-US" sz="1300" dirty="0"/>
          </a:p>
        </p:txBody>
      </p:sp>
      <p:sp>
        <p:nvSpPr>
          <p:cNvPr id="17" name="box_264"/>
          <p:cNvSpPr txBox="1"/>
          <p:nvPr/>
        </p:nvSpPr>
        <p:spPr>
          <a:xfrm>
            <a:off x="2788920" y="3081528"/>
            <a:ext cx="603504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If they came to 2026, what couldn't they get used to?</a:t>
            </a:r>
            <a:endParaRPr lang="en-US" sz="1300" dirty="0"/>
          </a:p>
        </p:txBody>
      </p:sp>
      <p:sp>
        <p:nvSpPr>
          <p:cNvPr id="18" name="box_265"/>
          <p:cNvSpPr txBox="1"/>
          <p:nvPr/>
        </p:nvSpPr>
        <p:spPr>
          <a:xfrm>
            <a:off x="2788920" y="3936492"/>
            <a:ext cx="603504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would WE never get used to in 1926?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 6A-1 Night night</dc:title>
  <dc:subject>PptxGenJS Presentation</dc:subject>
  <dc:creator>London Language School</dc:creator>
  <cp:lastModifiedBy>London Language School</cp:lastModifiedBy>
  <cp:revision>1</cp:revision>
  <dcterms:created xsi:type="dcterms:W3CDTF">2026-10-06T10:34:25Z</dcterms:created>
  <dcterms:modified xsi:type="dcterms:W3CDTF">2026-10-06T10:34:25Z</dcterms:modified>
</cp:coreProperties>
</file>