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LESSON 2 (60 min). Aims: kitchen equipment, there is / there are, this / these, prepositions of place. Click 1 and 2: the problem of not knowing the word — today we fix it. (2 min)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REVISION (5 min). VARIATION: reverse the obvious — answers first, students make the question. Many questions are possible; accept any correct one. Click 1: example questions. Quick extra: teacher mimes 3 kitchen calls (Hot! Behind! Sharp!).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VOCABULARY (8 min). Cover the words with your hand / say the number and they say the word. Then teach orally (no picture): tongs (pinze), peeler (pelapatate), grater (grattugia), sieve (colino), chopping board (tagliere), frying pan (padella), tray (teglia). Point at real objects if possible.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VOCABULARY (6 min). VARIATION: vocabulary branching — each object gets its verb. Click 1. Then quick-fire: teacher says a verb (weigh!), students name the equipment. Extra verbs: drain pasta in a colander, turn a steak with tongs, peel with a peeler, grate with a grater.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GRAMMAR (6 min). Demonstrate prepositions with a pen and a cup. Practise: Where's the salt? It's on the shelf above the hob.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GRAMMAR PRACTICE (5 min). Individually, then compare. Click 1. Fast finishers: write 2 sentences about the classroom.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READING (6 min). VARIATION: prediction — before reading, ask: What's in a new kitchen? Then read, decide T/F, correct the false ones with there is / there are. Click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INFORMATION GAP (12 min). VARIATION: curiosity gap — B really needs the information. Give B a blank piece of paper. Feedback: 3 good sentences, 3 corrections.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(8 min). Use real kitchen objects or the icons slide on screen (they point at the screen). Speed up each round.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EXIT (3 min). Homework sheet L2 in the portal.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FORCED CHOICE (6 min). VARIATION: forced choice + 'forbidden easy answer' (no 'both', no 'I don't know'). Follow up: Why? Really? Which is worse?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ODD ONE OUT (5 min). VARIATION: categorise + justify. Accept any answer with a good reason (e.g. 'knife – you hold the food, not the tool'). Click 1: suggested answers only.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EXTRA (8 min). VARIATION: constraint challenge. Useful language: It's made of… / You use it for + -ing / It's similar to…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image" Target="../media/image-3-12.png"/><Relationship Id="rId13" Type="http://schemas.openxmlformats.org/officeDocument/2006/relationships/image" Target="../media/image-3-13.png"/><Relationship Id="rId14" Type="http://schemas.openxmlformats.org/officeDocument/2006/relationships/image" Target="../media/image-3-14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velFrame_1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C9B3F0"/>
            </a:solidFill>
            <a:prstDash val="solid"/>
          </a:ln>
        </p:spPr>
      </p:sp>
      <p:sp>
        <p:nvSpPr>
          <p:cNvPr id="4" name="logoBack_2"/>
          <p:cNvSpPr/>
          <p:nvPr/>
        </p:nvSpPr>
        <p:spPr>
          <a:xfrm>
            <a:off x="8229600" y="155448"/>
            <a:ext cx="676656" cy="67665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C9B3F0"/>
            </a:solidFill>
            <a:prstDash val="solid"/>
          </a:ln>
        </p:spPr>
      </p:sp>
      <p:pic>
        <p:nvPicPr>
          <p:cNvPr id="5" name="logo_3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6" name="footer_4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2B244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9E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Kitchen English · L2</a:t>
            </a:r>
            <a:endParaRPr lang="en-US" sz="1000" dirty="0"/>
          </a:p>
        </p:txBody>
      </p:sp>
      <p:sp>
        <p:nvSpPr>
          <p:cNvPr id="7" name="unit_5"/>
          <p:cNvSpPr txBox="1"/>
          <p:nvPr/>
        </p:nvSpPr>
        <p:spPr>
          <a:xfrm>
            <a:off x="411480" y="320040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dirty="0">
                <a:solidFill>
                  <a:srgbClr val="FFD84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L2</a:t>
            </a:r>
            <a:endParaRPr lang="en-US" sz="4600" dirty="0"/>
          </a:p>
        </p:txBody>
      </p:sp>
      <p:sp>
        <p:nvSpPr>
          <p:cNvPr id="8" name="course_6"/>
          <p:cNvSpPr txBox="1"/>
          <p:nvPr/>
        </p:nvSpPr>
        <p:spPr>
          <a:xfrm>
            <a:off x="1828800" y="56692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E2F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KITCHEN ENGLISH · Lesson 2 of 10</a:t>
            </a:r>
            <a:endParaRPr lang="en-US" sz="1200" dirty="0"/>
          </a:p>
        </p:txBody>
      </p:sp>
      <p:sp>
        <p:nvSpPr>
          <p:cNvPr id="9" name="title_7"/>
          <p:cNvSpPr txBox="1"/>
          <p:nvPr/>
        </p:nvSpPr>
        <p:spPr>
          <a:xfrm rot="-180000">
            <a:off x="411480" y="1325880"/>
            <a:ext cx="4837176" cy="777240"/>
          </a:xfrm>
          <a:prstGeom prst="rect">
            <a:avLst/>
          </a:prstGeom>
          <a:solidFill>
            <a:srgbClr val="FFD84D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52400" tIns="152400" rIns="152400" bIns="152400" rtlCol="0" anchor="ctr"/>
          <a:lstStyle/>
          <a:p>
            <a:pPr indent="0" marL="0">
              <a:buNone/>
            </a:pPr>
            <a:r>
              <a:rPr lang="en-US" sz="265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KITCHEN EQUIPMENT</a:t>
            </a:r>
            <a:endParaRPr lang="en-US" sz="2650" dirty="0"/>
          </a:p>
        </p:txBody>
      </p:sp>
      <p:sp>
        <p:nvSpPr>
          <p:cNvPr id="10" name="stamp_8"/>
          <p:cNvSpPr txBox="1"/>
          <p:nvPr/>
        </p:nvSpPr>
        <p:spPr>
          <a:xfrm>
            <a:off x="457200" y="2468880"/>
            <a:ext cx="2660904" cy="384048"/>
          </a:xfrm>
          <a:prstGeom prst="roundRect">
            <a:avLst>
              <a:gd name="adj" fmla="val 14286"/>
            </a:avLst>
          </a:prstGeom>
          <a:solidFill>
            <a:srgbClr val="2B2440"/>
          </a:solidFill>
          <a:ln w="38100">
            <a:solidFill>
              <a:srgbClr val="48BDF2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VOCABULARY · equipment</a:t>
            </a:r>
            <a:endParaRPr lang="en-US" sz="1200" dirty="0"/>
          </a:p>
        </p:txBody>
      </p:sp>
      <p:sp>
        <p:nvSpPr>
          <p:cNvPr id="11" name="stamp_9"/>
          <p:cNvSpPr txBox="1"/>
          <p:nvPr/>
        </p:nvSpPr>
        <p:spPr>
          <a:xfrm>
            <a:off x="457200" y="2944368"/>
            <a:ext cx="4572000" cy="384048"/>
          </a:xfrm>
          <a:prstGeom prst="roundRect">
            <a:avLst>
              <a:gd name="adj" fmla="val 14286"/>
            </a:avLst>
          </a:prstGeom>
          <a:solidFill>
            <a:srgbClr val="2B2440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GRAMMAR · there is / there are · this / these</a:t>
            </a:r>
            <a:endParaRPr lang="en-US" sz="1200" dirty="0"/>
          </a:p>
        </p:txBody>
      </p:sp>
      <p:sp>
        <p:nvSpPr>
          <p:cNvPr id="12" name="stamp_10"/>
          <p:cNvSpPr txBox="1"/>
          <p:nvPr/>
        </p:nvSpPr>
        <p:spPr>
          <a:xfrm>
            <a:off x="457200" y="3419856"/>
            <a:ext cx="2756916" cy="384048"/>
          </a:xfrm>
          <a:prstGeom prst="roundRect">
            <a:avLst>
              <a:gd name="adj" fmla="val 14286"/>
            </a:avLst>
          </a:prstGeom>
          <a:solidFill>
            <a:srgbClr val="2B2440"/>
          </a:solidFill>
          <a:ln w="38100">
            <a:solidFill>
              <a:srgbClr val="EF2F2F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SPEAKING · where is it?</a:t>
            </a:r>
            <a:endParaRPr lang="en-US" sz="1200" dirty="0"/>
          </a:p>
        </p:txBody>
      </p:sp>
      <p:sp>
        <p:nvSpPr>
          <p:cNvPr id="13" name="iconBack_11"/>
          <p:cNvSpPr/>
          <p:nvPr/>
        </p:nvSpPr>
        <p:spPr>
          <a:xfrm>
            <a:off x="5669280" y="685800"/>
            <a:ext cx="1737360" cy="1737360"/>
          </a:xfrm>
          <a:prstGeom prst="ellipse">
            <a:avLst/>
          </a:prstGeom>
          <a:solidFill>
            <a:srgbClr val="FFD84D"/>
          </a:solidFill>
          <a:ln w="3175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pic>
        <p:nvPicPr>
          <p:cNvPr id="14" name="icon_12" descr="saucepa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6752" y="1033272"/>
            <a:ext cx="1042416" cy="1042416"/>
          </a:xfrm>
          <a:prstGeom prst="rect">
            <a:avLst/>
          </a:prstGeom>
        </p:spPr>
      </p:pic>
      <p:sp>
        <p:nvSpPr>
          <p:cNvPr id="15" name="iconBack_13"/>
          <p:cNvSpPr/>
          <p:nvPr/>
        </p:nvSpPr>
        <p:spPr>
          <a:xfrm>
            <a:off x="7315200" y="1508760"/>
            <a:ext cx="1097280" cy="109728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pic>
        <p:nvPicPr>
          <p:cNvPr id="16" name="icon_14" descr="whisk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34656" y="1728216"/>
            <a:ext cx="658368" cy="658368"/>
          </a:xfrm>
          <a:prstGeom prst="rect">
            <a:avLst/>
          </a:prstGeom>
        </p:spPr>
      </p:pic>
      <p:sp>
        <p:nvSpPr>
          <p:cNvPr id="17" name="iconBack_15"/>
          <p:cNvSpPr/>
          <p:nvPr/>
        </p:nvSpPr>
        <p:spPr>
          <a:xfrm>
            <a:off x="5486400" y="2514600"/>
            <a:ext cx="960120" cy="960120"/>
          </a:xfrm>
          <a:prstGeom prst="ellipse">
            <a:avLst/>
          </a:prstGeom>
          <a:solidFill>
            <a:srgbClr val="C9B3F0"/>
          </a:solidFill>
          <a:ln w="3175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pic>
        <p:nvPicPr>
          <p:cNvPr id="18" name="icon_16" descr="ladle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78424" y="2706624"/>
            <a:ext cx="576072" cy="576072"/>
          </a:xfrm>
          <a:prstGeom prst="rect">
            <a:avLst/>
          </a:prstGeom>
        </p:spPr>
      </p:pic>
      <p:sp>
        <p:nvSpPr>
          <p:cNvPr id="19" name="R1_q"/>
          <p:cNvSpPr txBox="1"/>
          <p:nvPr/>
        </p:nvSpPr>
        <p:spPr>
          <a:xfrm>
            <a:off x="5120640" y="3337560"/>
            <a:ext cx="2377440" cy="777240"/>
          </a:xfrm>
          <a:prstGeom prst="wedgeRoundRectCallout">
            <a:avLst/>
          </a:prstGeom>
          <a:solidFill>
            <a:srgbClr val="48BDF2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me the… thing, please!</a:t>
            </a:r>
            <a:endParaRPr lang="en-US" sz="1400" dirty="0"/>
          </a:p>
        </p:txBody>
      </p:sp>
      <p:sp>
        <p:nvSpPr>
          <p:cNvPr id="20" name="R2_a"/>
          <p:cNvSpPr txBox="1"/>
          <p:nvPr/>
        </p:nvSpPr>
        <p:spPr>
          <a:xfrm>
            <a:off x="6629400" y="4069080"/>
            <a:ext cx="2148840" cy="594360"/>
          </a:xfrm>
          <a:prstGeom prst="wedgeRoundRectCallout">
            <a:avLst/>
          </a:prstGeom>
          <a:solidFill>
            <a:srgbClr val="FFD84D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ladle, Chef? Here you are.</a:t>
            </a:r>
            <a:endParaRPr lang="en-US" sz="1300" dirty="0"/>
          </a:p>
        </p:txBody>
      </p:sp>
      <p:sp>
        <p:nvSpPr>
          <p:cNvPr id="21" name="tnote_17"/>
          <p:cNvSpPr txBox="1"/>
          <p:nvPr/>
        </p:nvSpPr>
        <p:spPr>
          <a:xfrm>
            <a:off x="411480" y="4773168"/>
            <a:ext cx="5029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9E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Teacher: timings, answers and tips are in the slide notes.</a:t>
            </a:r>
            <a:endParaRPr lang="en-US" sz="9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velFrame_18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C9B3F0"/>
            </a:solidFill>
            <a:prstDash val="solid"/>
          </a:ln>
        </p:spPr>
      </p:sp>
      <p:pic>
        <p:nvPicPr>
          <p:cNvPr id="4" name="logo_19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5" name="objective_20"/>
          <p:cNvSpPr txBox="1"/>
          <p:nvPr/>
        </p:nvSpPr>
        <p:spPr>
          <a:xfrm>
            <a:off x="320040" y="182880"/>
            <a:ext cx="475488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REVISION · Lesson 1</a:t>
            </a:r>
            <a:endParaRPr lang="en-US" sz="900" dirty="0"/>
          </a:p>
        </p:txBody>
      </p:sp>
      <p:sp>
        <p:nvSpPr>
          <p:cNvPr id="6" name="timer_21"/>
          <p:cNvSpPr txBox="1"/>
          <p:nvPr/>
        </p:nvSpPr>
        <p:spPr>
          <a:xfrm>
            <a:off x="7086600" y="219456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25400">
            <a:solidFill>
              <a:srgbClr val="6D3F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5 min</a:t>
            </a:r>
            <a:endParaRPr lang="en-US" sz="1200" dirty="0"/>
          </a:p>
        </p:txBody>
      </p:sp>
      <p:sp>
        <p:nvSpPr>
          <p:cNvPr id="7" name="footer_22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Kitchen English · L2</a:t>
            </a:r>
            <a:endParaRPr lang="en-US" sz="1000" dirty="0"/>
          </a:p>
        </p:txBody>
      </p:sp>
      <p:sp>
        <p:nvSpPr>
          <p:cNvPr id="8" name="title_23"/>
          <p:cNvSpPr txBox="1"/>
          <p:nvPr/>
        </p:nvSpPr>
        <p:spPr>
          <a:xfrm rot="90000">
            <a:off x="320040" y="676656"/>
            <a:ext cx="2935224" cy="530352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Answers first!</a:t>
            </a:r>
            <a:endParaRPr lang="en-US" sz="1500" dirty="0"/>
          </a:p>
        </p:txBody>
      </p:sp>
      <p:sp>
        <p:nvSpPr>
          <p:cNvPr id="9" name="tape_24"/>
          <p:cNvSpPr/>
          <p:nvPr/>
        </p:nvSpPr>
        <p:spPr>
          <a:xfrm rot="-720000">
            <a:off x="210312" y="585216"/>
            <a:ext cx="685800" cy="219456"/>
          </a:xfrm>
          <a:prstGeom prst="rect">
            <a:avLst/>
          </a:prstGeom>
          <a:solidFill>
            <a:srgbClr val="C9B3F0">
              <a:alpha val="80000"/>
            </a:srgbClr>
          </a:solidFill>
          <a:ln w="6350">
            <a:solidFill>
              <a:srgbClr val="C9B3F0"/>
            </a:solidFill>
            <a:prstDash val="solid"/>
          </a:ln>
        </p:spPr>
      </p:sp>
      <p:sp>
        <p:nvSpPr>
          <p:cNvPr id="10" name="tape_25"/>
          <p:cNvSpPr/>
          <p:nvPr/>
        </p:nvSpPr>
        <p:spPr>
          <a:xfrm rot="-720000">
            <a:off x="2688336" y="1069848"/>
            <a:ext cx="685800" cy="219456"/>
          </a:xfrm>
          <a:prstGeom prst="rect">
            <a:avLst/>
          </a:prstGeom>
          <a:solidFill>
            <a:srgbClr val="C9B3F0">
              <a:alpha val="80000"/>
            </a:srgbClr>
          </a:solidFill>
          <a:ln w="6350">
            <a:solidFill>
              <a:srgbClr val="C9B3F0"/>
            </a:solidFill>
            <a:prstDash val="solid"/>
          </a:ln>
        </p:spPr>
      </p:sp>
      <p:sp>
        <p:nvSpPr>
          <p:cNvPr id="11" name="post_26"/>
          <p:cNvSpPr/>
          <p:nvPr/>
        </p:nvSpPr>
        <p:spPr>
          <a:xfrm>
            <a:off x="429768" y="1554480"/>
            <a:ext cx="128016" cy="2194560"/>
          </a:xfrm>
          <a:prstGeom prst="rect">
            <a:avLst/>
          </a:prstGeom>
          <a:solidFill>
            <a:srgbClr val="8B5A2B"/>
          </a:solidFill>
          <a:ln w="31750">
            <a:solidFill>
              <a:srgbClr val="111111"/>
            </a:solidFill>
            <a:prstDash val="solid"/>
          </a:ln>
        </p:spPr>
      </p:sp>
      <p:sp>
        <p:nvSpPr>
          <p:cNvPr id="12" name="signA_27"/>
          <p:cNvSpPr txBox="1"/>
          <p:nvPr/>
        </p:nvSpPr>
        <p:spPr>
          <a:xfrm rot="-180000">
            <a:off x="320040" y="1371600"/>
            <a:ext cx="2240280" cy="457200"/>
          </a:xfrm>
          <a:prstGeom prst="homePlate">
            <a:avLst/>
          </a:prstGeom>
          <a:solidFill>
            <a:srgbClr val="062F67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THINK!</a:t>
            </a:r>
            <a:pPr indent="0" marL="0">
              <a:buNone/>
            </a:pPr>
            <a:r>
              <a:rPr lang="en-US" sz="1000" dirty="0">
                <a:solidFill>
                  <a:srgbClr val="FFF3B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PENSA!</a:t>
            </a:r>
            <a:endParaRPr lang="en-US" sz="1500" dirty="0"/>
          </a:p>
        </p:txBody>
      </p:sp>
      <p:sp>
        <p:nvSpPr>
          <p:cNvPr id="13" name="signB_28"/>
          <p:cNvSpPr txBox="1"/>
          <p:nvPr/>
        </p:nvSpPr>
        <p:spPr>
          <a:xfrm rot="120000">
            <a:off x="365760" y="1938528"/>
            <a:ext cx="2240280" cy="105156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the ANSWERS. What are the questions?</a:t>
            </a:r>
            <a:endParaRPr lang="en-US" sz="1250" dirty="0"/>
          </a:p>
          <a:p>
            <a:pPr indent="0" marL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Ecco le RISPOSTE. Quali sono le domande?</a:t>
            </a:r>
            <a:endParaRPr lang="en-US" sz="1250" dirty="0"/>
          </a:p>
        </p:txBody>
      </p:sp>
      <p:sp>
        <p:nvSpPr>
          <p:cNvPr id="14" name="box_29"/>
          <p:cNvSpPr txBox="1"/>
          <p:nvPr/>
        </p:nvSpPr>
        <p:spPr>
          <a:xfrm>
            <a:off x="2788920" y="1371600"/>
            <a:ext cx="1476756" cy="868680"/>
          </a:xfrm>
          <a:prstGeom prst="rect">
            <a:avLst/>
          </a:prstGeom>
          <a:solidFill>
            <a:srgbClr val="E0F2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Yes, I am.</a:t>
            </a:r>
            <a:endParaRPr lang="en-US" sz="1350" dirty="0"/>
          </a:p>
        </p:txBody>
      </p:sp>
      <p:sp>
        <p:nvSpPr>
          <p:cNvPr id="15" name="R1_a0"/>
          <p:cNvSpPr txBox="1"/>
          <p:nvPr/>
        </p:nvSpPr>
        <p:spPr>
          <a:xfrm>
            <a:off x="4320540" y="1408176"/>
            <a:ext cx="1421892" cy="795528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you the head chef?</a:t>
            </a:r>
            <a:endParaRPr lang="en-US" sz="1100" dirty="0"/>
          </a:p>
        </p:txBody>
      </p:sp>
      <p:sp>
        <p:nvSpPr>
          <p:cNvPr id="16" name="box_30"/>
          <p:cNvSpPr txBox="1"/>
          <p:nvPr/>
        </p:nvSpPr>
        <p:spPr>
          <a:xfrm>
            <a:off x="5870448" y="1371600"/>
            <a:ext cx="1476756" cy="868680"/>
          </a:xfrm>
          <a:prstGeom prst="rect">
            <a:avLst/>
          </a:prstGeom>
          <a:solidFill>
            <a:srgbClr val="FCE7F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No, she isn't. She's the sous chef.</a:t>
            </a:r>
            <a:endParaRPr lang="en-US" sz="1350" dirty="0"/>
          </a:p>
        </p:txBody>
      </p:sp>
      <p:sp>
        <p:nvSpPr>
          <p:cNvPr id="17" name="R1_a1"/>
          <p:cNvSpPr txBox="1"/>
          <p:nvPr/>
        </p:nvSpPr>
        <p:spPr>
          <a:xfrm>
            <a:off x="7402068" y="1408176"/>
            <a:ext cx="1421892" cy="795528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she the head chef?</a:t>
            </a:r>
            <a:endParaRPr lang="en-US" sz="1100" dirty="0"/>
          </a:p>
        </p:txBody>
      </p:sp>
      <p:sp>
        <p:nvSpPr>
          <p:cNvPr id="18" name="box_31"/>
          <p:cNvSpPr txBox="1"/>
          <p:nvPr/>
        </p:nvSpPr>
        <p:spPr>
          <a:xfrm>
            <a:off x="2788920" y="2368296"/>
            <a:ext cx="1476756" cy="868680"/>
          </a:xfrm>
          <a:prstGeom prst="rect">
            <a:avLst/>
          </a:prstGeom>
          <a:solidFill>
            <a:srgbClr val="FEF9C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He's from Bagheria.</a:t>
            </a:r>
            <a:endParaRPr lang="en-US" sz="1350" dirty="0"/>
          </a:p>
        </p:txBody>
      </p:sp>
      <p:sp>
        <p:nvSpPr>
          <p:cNvPr id="19" name="R1_a2"/>
          <p:cNvSpPr txBox="1"/>
          <p:nvPr/>
        </p:nvSpPr>
        <p:spPr>
          <a:xfrm>
            <a:off x="4320540" y="2404872"/>
            <a:ext cx="1421892" cy="795528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is he from?</a:t>
            </a:r>
            <a:endParaRPr lang="en-US" sz="1100" dirty="0"/>
          </a:p>
        </p:txBody>
      </p:sp>
      <p:sp>
        <p:nvSpPr>
          <p:cNvPr id="20" name="box_32"/>
          <p:cNvSpPr txBox="1"/>
          <p:nvPr/>
        </p:nvSpPr>
        <p:spPr>
          <a:xfrm>
            <a:off x="5870448" y="2368296"/>
            <a:ext cx="1476756" cy="868680"/>
          </a:xfrm>
          <a:prstGeom prst="rect">
            <a:avLst/>
          </a:prstGeom>
          <a:solidFill>
            <a:srgbClr val="DCFCE7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They're in the changing room.</a:t>
            </a:r>
            <a:endParaRPr lang="en-US" sz="1350" dirty="0"/>
          </a:p>
        </p:txBody>
      </p:sp>
      <p:sp>
        <p:nvSpPr>
          <p:cNvPr id="21" name="R1_a3"/>
          <p:cNvSpPr txBox="1"/>
          <p:nvPr/>
        </p:nvSpPr>
        <p:spPr>
          <a:xfrm>
            <a:off x="7402068" y="2404872"/>
            <a:ext cx="1421892" cy="795528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are they?</a:t>
            </a:r>
            <a:endParaRPr lang="en-US" sz="1100" dirty="0"/>
          </a:p>
        </p:txBody>
      </p:sp>
      <p:sp>
        <p:nvSpPr>
          <p:cNvPr id="22" name="box_33"/>
          <p:cNvSpPr txBox="1"/>
          <p:nvPr/>
        </p:nvSpPr>
        <p:spPr>
          <a:xfrm>
            <a:off x="2788920" y="3364992"/>
            <a:ext cx="1476756" cy="868680"/>
          </a:xfrm>
          <a:prstGeom prst="rect">
            <a:avLst/>
          </a:prstGeom>
          <a:solidFill>
            <a:srgbClr val="EDE9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At seven o'clock.</a:t>
            </a:r>
            <a:endParaRPr lang="en-US" sz="1350" dirty="0"/>
          </a:p>
        </p:txBody>
      </p:sp>
      <p:sp>
        <p:nvSpPr>
          <p:cNvPr id="23" name="R1_a4"/>
          <p:cNvSpPr txBox="1"/>
          <p:nvPr/>
        </p:nvSpPr>
        <p:spPr>
          <a:xfrm>
            <a:off x="4320540" y="3401568"/>
            <a:ext cx="1421892" cy="795528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time is service?</a:t>
            </a:r>
            <a:endParaRPr lang="en-US" sz="1100" dirty="0"/>
          </a:p>
        </p:txBody>
      </p:sp>
      <p:sp>
        <p:nvSpPr>
          <p:cNvPr id="24" name="box_34"/>
          <p:cNvSpPr txBox="1"/>
          <p:nvPr/>
        </p:nvSpPr>
        <p:spPr>
          <a:xfrm>
            <a:off x="5870448" y="3364992"/>
            <a:ext cx="1476756" cy="868680"/>
          </a:xfrm>
          <a:prstGeom prst="rect">
            <a:avLst/>
          </a:prstGeom>
          <a:solidFill>
            <a:srgbClr val="FFEDD5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Heard, Chef!</a:t>
            </a:r>
            <a:endParaRPr lang="en-US" sz="1350" dirty="0"/>
          </a:p>
        </p:txBody>
      </p:sp>
      <p:sp>
        <p:nvSpPr>
          <p:cNvPr id="25" name="R1_a5"/>
          <p:cNvSpPr txBox="1"/>
          <p:nvPr/>
        </p:nvSpPr>
        <p:spPr>
          <a:xfrm>
            <a:off x="7402068" y="3401568"/>
            <a:ext cx="1421892" cy="795528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(any order from the chef)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velFrame_35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C9B3F0"/>
            </a:solidFill>
            <a:prstDash val="solid"/>
          </a:ln>
        </p:spPr>
      </p:sp>
      <p:pic>
        <p:nvPicPr>
          <p:cNvPr id="4" name="logo_36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5" name="objective_37"/>
          <p:cNvSpPr txBox="1"/>
          <p:nvPr/>
        </p:nvSpPr>
        <p:spPr>
          <a:xfrm>
            <a:off x="320040" y="182880"/>
            <a:ext cx="475488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VOCABULARY · Equipment</a:t>
            </a:r>
            <a:endParaRPr lang="en-US" sz="900" dirty="0"/>
          </a:p>
        </p:txBody>
      </p:sp>
      <p:sp>
        <p:nvSpPr>
          <p:cNvPr id="6" name="timer_38"/>
          <p:cNvSpPr txBox="1"/>
          <p:nvPr/>
        </p:nvSpPr>
        <p:spPr>
          <a:xfrm>
            <a:off x="7086600" y="219456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25400">
            <a:solidFill>
              <a:srgbClr val="6D3F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8 min</a:t>
            </a:r>
            <a:endParaRPr lang="en-US" sz="1200" dirty="0"/>
          </a:p>
        </p:txBody>
      </p:sp>
      <p:sp>
        <p:nvSpPr>
          <p:cNvPr id="7" name="footer_39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Kitchen English · L2</a:t>
            </a:r>
            <a:endParaRPr lang="en-US" sz="1000" dirty="0"/>
          </a:p>
        </p:txBody>
      </p:sp>
      <p:sp>
        <p:nvSpPr>
          <p:cNvPr id="8" name="title_40"/>
          <p:cNvSpPr txBox="1"/>
          <p:nvPr/>
        </p:nvSpPr>
        <p:spPr>
          <a:xfrm rot="90000">
            <a:off x="320040" y="676656"/>
            <a:ext cx="3803904" cy="530352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What's this called?</a:t>
            </a:r>
            <a:endParaRPr lang="en-US" sz="1500" dirty="0"/>
          </a:p>
        </p:txBody>
      </p:sp>
      <p:sp>
        <p:nvSpPr>
          <p:cNvPr id="9" name="tape_41"/>
          <p:cNvSpPr/>
          <p:nvPr/>
        </p:nvSpPr>
        <p:spPr>
          <a:xfrm rot="-720000">
            <a:off x="210312" y="585216"/>
            <a:ext cx="685800" cy="219456"/>
          </a:xfrm>
          <a:prstGeom prst="rect">
            <a:avLst/>
          </a:prstGeom>
          <a:solidFill>
            <a:srgbClr val="C9B3F0">
              <a:alpha val="80000"/>
            </a:srgbClr>
          </a:solidFill>
          <a:ln w="6350">
            <a:solidFill>
              <a:srgbClr val="C9B3F0"/>
            </a:solidFill>
            <a:prstDash val="solid"/>
          </a:ln>
        </p:spPr>
      </p:sp>
      <p:sp>
        <p:nvSpPr>
          <p:cNvPr id="10" name="tape_42"/>
          <p:cNvSpPr/>
          <p:nvPr/>
        </p:nvSpPr>
        <p:spPr>
          <a:xfrm rot="-720000">
            <a:off x="3557016" y="1069848"/>
            <a:ext cx="685800" cy="219456"/>
          </a:xfrm>
          <a:prstGeom prst="rect">
            <a:avLst/>
          </a:prstGeom>
          <a:solidFill>
            <a:srgbClr val="C9B3F0">
              <a:alpha val="80000"/>
            </a:srgbClr>
          </a:solidFill>
          <a:ln w="6350">
            <a:solidFill>
              <a:srgbClr val="C9B3F0"/>
            </a:solidFill>
            <a:prstDash val="solid"/>
          </a:ln>
        </p:spPr>
      </p:sp>
      <p:sp>
        <p:nvSpPr>
          <p:cNvPr id="11" name="post_43"/>
          <p:cNvSpPr/>
          <p:nvPr/>
        </p:nvSpPr>
        <p:spPr>
          <a:xfrm>
            <a:off x="429768" y="1554480"/>
            <a:ext cx="128016" cy="2194560"/>
          </a:xfrm>
          <a:prstGeom prst="rect">
            <a:avLst/>
          </a:prstGeom>
          <a:solidFill>
            <a:srgbClr val="8B5A2B"/>
          </a:solidFill>
          <a:ln w="31750">
            <a:solidFill>
              <a:srgbClr val="111111"/>
            </a:solidFill>
            <a:prstDash val="solid"/>
          </a:ln>
        </p:spPr>
      </p:sp>
      <p:sp>
        <p:nvSpPr>
          <p:cNvPr id="12" name="signA_44"/>
          <p:cNvSpPr txBox="1"/>
          <p:nvPr/>
        </p:nvSpPr>
        <p:spPr>
          <a:xfrm rot="-180000">
            <a:off x="320040" y="1371600"/>
            <a:ext cx="2240280" cy="457200"/>
          </a:xfrm>
          <a:prstGeom prst="homePlate">
            <a:avLst/>
          </a:prstGeom>
          <a:solidFill>
            <a:srgbClr val="062F67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THINK!</a:t>
            </a:r>
            <a:pPr indent="0" marL="0">
              <a:buNone/>
            </a:pPr>
            <a:r>
              <a:rPr lang="en-US" sz="1000" dirty="0">
                <a:solidFill>
                  <a:srgbClr val="FFF3B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PENSA!</a:t>
            </a:r>
            <a:endParaRPr lang="en-US" sz="1500" dirty="0"/>
          </a:p>
        </p:txBody>
      </p:sp>
      <p:sp>
        <p:nvSpPr>
          <p:cNvPr id="13" name="signB_45"/>
          <p:cNvSpPr txBox="1"/>
          <p:nvPr/>
        </p:nvSpPr>
        <p:spPr>
          <a:xfrm rot="120000">
            <a:off x="365760" y="1938528"/>
            <a:ext cx="2240280" cy="105156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the English word. Click to check the Italian.</a:t>
            </a:r>
            <a:endParaRPr lang="en-US" sz="1250" dirty="0"/>
          </a:p>
          <a:p>
            <a:pPr indent="0" marL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Di' la parola inglese. Clicca per l'italiano.</a:t>
            </a:r>
            <a:endParaRPr lang="en-US" sz="1250" dirty="0"/>
          </a:p>
        </p:txBody>
      </p:sp>
      <p:sp>
        <p:nvSpPr>
          <p:cNvPr id="14" name="tile_46"/>
          <p:cNvSpPr/>
          <p:nvPr/>
        </p:nvSpPr>
        <p:spPr>
          <a:xfrm>
            <a:off x="2788920" y="1371600"/>
            <a:ext cx="1426464" cy="1030224"/>
          </a:xfrm>
          <a:prstGeom prst="roundRect">
            <a:avLst>
              <a:gd name="adj" fmla="val 7101"/>
            </a:avLst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pic>
        <p:nvPicPr>
          <p:cNvPr id="15" name="ti_47" descr="a knif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6107" y="1426464"/>
            <a:ext cx="412090" cy="412090"/>
          </a:xfrm>
          <a:prstGeom prst="rect">
            <a:avLst/>
          </a:prstGeom>
        </p:spPr>
      </p:pic>
      <p:sp>
        <p:nvSpPr>
          <p:cNvPr id="16" name="tw_48"/>
          <p:cNvSpPr txBox="1"/>
          <p:nvPr/>
        </p:nvSpPr>
        <p:spPr>
          <a:xfrm>
            <a:off x="2825496" y="1856842"/>
            <a:ext cx="1353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knife</a:t>
            </a:r>
            <a:endParaRPr lang="en-US" sz="1250" dirty="0"/>
          </a:p>
        </p:txBody>
      </p:sp>
      <p:sp>
        <p:nvSpPr>
          <p:cNvPr id="17" name="R1_it0"/>
          <p:cNvSpPr txBox="1"/>
          <p:nvPr/>
        </p:nvSpPr>
        <p:spPr>
          <a:xfrm>
            <a:off x="2825496" y="2085442"/>
            <a:ext cx="1353312" cy="288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coltello</a:t>
            </a:r>
            <a:endParaRPr lang="en-US" sz="1050" dirty="0"/>
          </a:p>
        </p:txBody>
      </p:sp>
      <p:sp>
        <p:nvSpPr>
          <p:cNvPr id="18" name="tile_49"/>
          <p:cNvSpPr/>
          <p:nvPr/>
        </p:nvSpPr>
        <p:spPr>
          <a:xfrm>
            <a:off x="4325112" y="1371600"/>
            <a:ext cx="1426464" cy="1030224"/>
          </a:xfrm>
          <a:prstGeom prst="roundRect">
            <a:avLst>
              <a:gd name="adj" fmla="val 7101"/>
            </a:avLst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pic>
        <p:nvPicPr>
          <p:cNvPr id="19" name="ti_50" descr="a cleaver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32299" y="1426464"/>
            <a:ext cx="412090" cy="412090"/>
          </a:xfrm>
          <a:prstGeom prst="rect">
            <a:avLst/>
          </a:prstGeom>
        </p:spPr>
      </p:pic>
      <p:sp>
        <p:nvSpPr>
          <p:cNvPr id="20" name="tw_51"/>
          <p:cNvSpPr txBox="1"/>
          <p:nvPr/>
        </p:nvSpPr>
        <p:spPr>
          <a:xfrm>
            <a:off x="4361688" y="1856842"/>
            <a:ext cx="1353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cleaver</a:t>
            </a:r>
            <a:endParaRPr lang="en-US" sz="1250" dirty="0"/>
          </a:p>
        </p:txBody>
      </p:sp>
      <p:sp>
        <p:nvSpPr>
          <p:cNvPr id="21" name="R1_it1"/>
          <p:cNvSpPr txBox="1"/>
          <p:nvPr/>
        </p:nvSpPr>
        <p:spPr>
          <a:xfrm>
            <a:off x="4361688" y="2085442"/>
            <a:ext cx="1353312" cy="288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mannaia</a:t>
            </a:r>
            <a:endParaRPr lang="en-US" sz="1050" dirty="0"/>
          </a:p>
        </p:txBody>
      </p:sp>
      <p:sp>
        <p:nvSpPr>
          <p:cNvPr id="22" name="tile_52"/>
          <p:cNvSpPr/>
          <p:nvPr/>
        </p:nvSpPr>
        <p:spPr>
          <a:xfrm>
            <a:off x="5861304" y="1371600"/>
            <a:ext cx="1426464" cy="1030224"/>
          </a:xfrm>
          <a:prstGeom prst="roundRect">
            <a:avLst>
              <a:gd name="adj" fmla="val 7101"/>
            </a:avLst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pic>
        <p:nvPicPr>
          <p:cNvPr id="23" name="ti_53" descr="a saucepa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68491" y="1426464"/>
            <a:ext cx="412090" cy="412090"/>
          </a:xfrm>
          <a:prstGeom prst="rect">
            <a:avLst/>
          </a:prstGeom>
        </p:spPr>
      </p:pic>
      <p:sp>
        <p:nvSpPr>
          <p:cNvPr id="24" name="tw_54"/>
          <p:cNvSpPr txBox="1"/>
          <p:nvPr/>
        </p:nvSpPr>
        <p:spPr>
          <a:xfrm>
            <a:off x="5897880" y="1856842"/>
            <a:ext cx="1353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saucepan</a:t>
            </a:r>
            <a:endParaRPr lang="en-US" sz="1250" dirty="0"/>
          </a:p>
        </p:txBody>
      </p:sp>
      <p:sp>
        <p:nvSpPr>
          <p:cNvPr id="25" name="R1_it2"/>
          <p:cNvSpPr txBox="1"/>
          <p:nvPr/>
        </p:nvSpPr>
        <p:spPr>
          <a:xfrm>
            <a:off x="5897880" y="2085442"/>
            <a:ext cx="1353312" cy="288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pentola / casseruola</a:t>
            </a:r>
            <a:endParaRPr lang="en-US" sz="1050" dirty="0"/>
          </a:p>
        </p:txBody>
      </p:sp>
      <p:sp>
        <p:nvSpPr>
          <p:cNvPr id="26" name="tile_55"/>
          <p:cNvSpPr/>
          <p:nvPr/>
        </p:nvSpPr>
        <p:spPr>
          <a:xfrm>
            <a:off x="7397496" y="1371600"/>
            <a:ext cx="1426464" cy="1030224"/>
          </a:xfrm>
          <a:prstGeom prst="roundRect">
            <a:avLst>
              <a:gd name="adj" fmla="val 7101"/>
            </a:avLst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pic>
        <p:nvPicPr>
          <p:cNvPr id="27" name="ti_56" descr="a ladle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04683" y="1426464"/>
            <a:ext cx="412090" cy="412090"/>
          </a:xfrm>
          <a:prstGeom prst="rect">
            <a:avLst/>
          </a:prstGeom>
        </p:spPr>
      </p:pic>
      <p:sp>
        <p:nvSpPr>
          <p:cNvPr id="28" name="tw_57"/>
          <p:cNvSpPr txBox="1"/>
          <p:nvPr/>
        </p:nvSpPr>
        <p:spPr>
          <a:xfrm>
            <a:off x="7434072" y="1856842"/>
            <a:ext cx="1353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ladle</a:t>
            </a:r>
            <a:endParaRPr lang="en-US" sz="1250" dirty="0"/>
          </a:p>
        </p:txBody>
      </p:sp>
      <p:sp>
        <p:nvSpPr>
          <p:cNvPr id="29" name="R1_it3"/>
          <p:cNvSpPr txBox="1"/>
          <p:nvPr/>
        </p:nvSpPr>
        <p:spPr>
          <a:xfrm>
            <a:off x="7434072" y="2085442"/>
            <a:ext cx="1353312" cy="288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mestolo</a:t>
            </a:r>
            <a:endParaRPr lang="en-US" sz="1050" dirty="0"/>
          </a:p>
        </p:txBody>
      </p:sp>
      <p:sp>
        <p:nvSpPr>
          <p:cNvPr id="30" name="tile_58"/>
          <p:cNvSpPr/>
          <p:nvPr/>
        </p:nvSpPr>
        <p:spPr>
          <a:xfrm>
            <a:off x="2788920" y="2511552"/>
            <a:ext cx="1426464" cy="1030224"/>
          </a:xfrm>
          <a:prstGeom prst="roundRect">
            <a:avLst>
              <a:gd name="adj" fmla="val 7101"/>
            </a:avLst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pic>
        <p:nvPicPr>
          <p:cNvPr id="31" name="ti_59" descr="a whisk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96107" y="2566416"/>
            <a:ext cx="412090" cy="412090"/>
          </a:xfrm>
          <a:prstGeom prst="rect">
            <a:avLst/>
          </a:prstGeom>
        </p:spPr>
      </p:pic>
      <p:sp>
        <p:nvSpPr>
          <p:cNvPr id="32" name="tw_60"/>
          <p:cNvSpPr txBox="1"/>
          <p:nvPr/>
        </p:nvSpPr>
        <p:spPr>
          <a:xfrm>
            <a:off x="2825496" y="2996794"/>
            <a:ext cx="1353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whisk</a:t>
            </a:r>
            <a:endParaRPr lang="en-US" sz="1250" dirty="0"/>
          </a:p>
        </p:txBody>
      </p:sp>
      <p:sp>
        <p:nvSpPr>
          <p:cNvPr id="33" name="R1_it4"/>
          <p:cNvSpPr txBox="1"/>
          <p:nvPr/>
        </p:nvSpPr>
        <p:spPr>
          <a:xfrm>
            <a:off x="2825496" y="3225394"/>
            <a:ext cx="1353312" cy="288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frusta</a:t>
            </a:r>
            <a:endParaRPr lang="en-US" sz="1050" dirty="0"/>
          </a:p>
        </p:txBody>
      </p:sp>
      <p:sp>
        <p:nvSpPr>
          <p:cNvPr id="34" name="tile_61"/>
          <p:cNvSpPr/>
          <p:nvPr/>
        </p:nvSpPr>
        <p:spPr>
          <a:xfrm>
            <a:off x="4325112" y="2511552"/>
            <a:ext cx="1426464" cy="1030224"/>
          </a:xfrm>
          <a:prstGeom prst="roundRect">
            <a:avLst>
              <a:gd name="adj" fmla="val 7101"/>
            </a:avLst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pic>
        <p:nvPicPr>
          <p:cNvPr id="35" name="ti_62" descr="scales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32299" y="2566416"/>
            <a:ext cx="412090" cy="412090"/>
          </a:xfrm>
          <a:prstGeom prst="rect">
            <a:avLst/>
          </a:prstGeom>
        </p:spPr>
      </p:pic>
      <p:sp>
        <p:nvSpPr>
          <p:cNvPr id="36" name="tw_63"/>
          <p:cNvSpPr txBox="1"/>
          <p:nvPr/>
        </p:nvSpPr>
        <p:spPr>
          <a:xfrm>
            <a:off x="4361688" y="2996794"/>
            <a:ext cx="1353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scales</a:t>
            </a:r>
            <a:endParaRPr lang="en-US" sz="1250" dirty="0"/>
          </a:p>
        </p:txBody>
      </p:sp>
      <p:sp>
        <p:nvSpPr>
          <p:cNvPr id="37" name="R1_it5"/>
          <p:cNvSpPr txBox="1"/>
          <p:nvPr/>
        </p:nvSpPr>
        <p:spPr>
          <a:xfrm>
            <a:off x="4361688" y="3225394"/>
            <a:ext cx="1353312" cy="288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bilancia</a:t>
            </a:r>
            <a:endParaRPr lang="en-US" sz="1050" dirty="0"/>
          </a:p>
        </p:txBody>
      </p:sp>
      <p:sp>
        <p:nvSpPr>
          <p:cNvPr id="38" name="tile_64"/>
          <p:cNvSpPr/>
          <p:nvPr/>
        </p:nvSpPr>
        <p:spPr>
          <a:xfrm>
            <a:off x="5861304" y="2511552"/>
            <a:ext cx="1426464" cy="1030224"/>
          </a:xfrm>
          <a:prstGeom prst="roundRect">
            <a:avLst>
              <a:gd name="adj" fmla="val 7101"/>
            </a:avLst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pic>
        <p:nvPicPr>
          <p:cNvPr id="39" name="ti_65" descr="an oven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68491" y="2566416"/>
            <a:ext cx="412090" cy="412090"/>
          </a:xfrm>
          <a:prstGeom prst="rect">
            <a:avLst/>
          </a:prstGeom>
        </p:spPr>
      </p:pic>
      <p:sp>
        <p:nvSpPr>
          <p:cNvPr id="40" name="tw_66"/>
          <p:cNvSpPr txBox="1"/>
          <p:nvPr/>
        </p:nvSpPr>
        <p:spPr>
          <a:xfrm>
            <a:off x="5897880" y="2996794"/>
            <a:ext cx="1353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oven</a:t>
            </a:r>
            <a:endParaRPr lang="en-US" sz="1250" dirty="0"/>
          </a:p>
        </p:txBody>
      </p:sp>
      <p:sp>
        <p:nvSpPr>
          <p:cNvPr id="41" name="R1_it6"/>
          <p:cNvSpPr txBox="1"/>
          <p:nvPr/>
        </p:nvSpPr>
        <p:spPr>
          <a:xfrm>
            <a:off x="5897880" y="3225394"/>
            <a:ext cx="1353312" cy="288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forno</a:t>
            </a:r>
            <a:endParaRPr lang="en-US" sz="1050" dirty="0"/>
          </a:p>
        </p:txBody>
      </p:sp>
      <p:sp>
        <p:nvSpPr>
          <p:cNvPr id="42" name="tile_67"/>
          <p:cNvSpPr/>
          <p:nvPr/>
        </p:nvSpPr>
        <p:spPr>
          <a:xfrm>
            <a:off x="7397496" y="2511552"/>
            <a:ext cx="1426464" cy="1030224"/>
          </a:xfrm>
          <a:prstGeom prst="roundRect">
            <a:avLst>
              <a:gd name="adj" fmla="val 7101"/>
            </a:avLst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pic>
        <p:nvPicPr>
          <p:cNvPr id="43" name="ti_68" descr="a fridge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904683" y="2566416"/>
            <a:ext cx="412090" cy="412090"/>
          </a:xfrm>
          <a:prstGeom prst="rect">
            <a:avLst/>
          </a:prstGeom>
        </p:spPr>
      </p:pic>
      <p:sp>
        <p:nvSpPr>
          <p:cNvPr id="44" name="tw_69"/>
          <p:cNvSpPr txBox="1"/>
          <p:nvPr/>
        </p:nvSpPr>
        <p:spPr>
          <a:xfrm>
            <a:off x="7434072" y="2996794"/>
            <a:ext cx="1353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fridge</a:t>
            </a:r>
            <a:endParaRPr lang="en-US" sz="1250" dirty="0"/>
          </a:p>
        </p:txBody>
      </p:sp>
      <p:sp>
        <p:nvSpPr>
          <p:cNvPr id="45" name="R1_it7"/>
          <p:cNvSpPr txBox="1"/>
          <p:nvPr/>
        </p:nvSpPr>
        <p:spPr>
          <a:xfrm>
            <a:off x="7434072" y="3225394"/>
            <a:ext cx="1353312" cy="288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frigo</a:t>
            </a:r>
            <a:endParaRPr lang="en-US" sz="1050" dirty="0"/>
          </a:p>
        </p:txBody>
      </p:sp>
      <p:sp>
        <p:nvSpPr>
          <p:cNvPr id="46" name="tile_70"/>
          <p:cNvSpPr/>
          <p:nvPr/>
        </p:nvSpPr>
        <p:spPr>
          <a:xfrm>
            <a:off x="2788920" y="3651504"/>
            <a:ext cx="1426464" cy="1030224"/>
          </a:xfrm>
          <a:prstGeom prst="roundRect">
            <a:avLst>
              <a:gd name="adj" fmla="val 7101"/>
            </a:avLst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pic>
        <p:nvPicPr>
          <p:cNvPr id="47" name="ti_71" descr="a hob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96107" y="3706368"/>
            <a:ext cx="412090" cy="412090"/>
          </a:xfrm>
          <a:prstGeom prst="rect">
            <a:avLst/>
          </a:prstGeom>
        </p:spPr>
      </p:pic>
      <p:sp>
        <p:nvSpPr>
          <p:cNvPr id="48" name="tw_72"/>
          <p:cNvSpPr txBox="1"/>
          <p:nvPr/>
        </p:nvSpPr>
        <p:spPr>
          <a:xfrm>
            <a:off x="2825496" y="4136746"/>
            <a:ext cx="1353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hob</a:t>
            </a:r>
            <a:endParaRPr lang="en-US" sz="1250" dirty="0"/>
          </a:p>
        </p:txBody>
      </p:sp>
      <p:sp>
        <p:nvSpPr>
          <p:cNvPr id="49" name="R1_it8"/>
          <p:cNvSpPr txBox="1"/>
          <p:nvPr/>
        </p:nvSpPr>
        <p:spPr>
          <a:xfrm>
            <a:off x="2825496" y="4365346"/>
            <a:ext cx="1353312" cy="288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piano cottura</a:t>
            </a:r>
            <a:endParaRPr lang="en-US" sz="1050" dirty="0"/>
          </a:p>
        </p:txBody>
      </p:sp>
      <p:sp>
        <p:nvSpPr>
          <p:cNvPr id="50" name="tile_73"/>
          <p:cNvSpPr/>
          <p:nvPr/>
        </p:nvSpPr>
        <p:spPr>
          <a:xfrm>
            <a:off x="4325112" y="3651504"/>
            <a:ext cx="1426464" cy="1030224"/>
          </a:xfrm>
          <a:prstGeom prst="roundRect">
            <a:avLst>
              <a:gd name="adj" fmla="val 7101"/>
            </a:avLst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pic>
        <p:nvPicPr>
          <p:cNvPr id="51" name="ti_74" descr="a microwave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832299" y="3706368"/>
            <a:ext cx="412090" cy="412090"/>
          </a:xfrm>
          <a:prstGeom prst="rect">
            <a:avLst/>
          </a:prstGeom>
        </p:spPr>
      </p:pic>
      <p:sp>
        <p:nvSpPr>
          <p:cNvPr id="52" name="tw_75"/>
          <p:cNvSpPr txBox="1"/>
          <p:nvPr/>
        </p:nvSpPr>
        <p:spPr>
          <a:xfrm>
            <a:off x="4361688" y="4136746"/>
            <a:ext cx="1353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microwave</a:t>
            </a:r>
            <a:endParaRPr lang="en-US" sz="1250" dirty="0"/>
          </a:p>
        </p:txBody>
      </p:sp>
      <p:sp>
        <p:nvSpPr>
          <p:cNvPr id="53" name="R1_it9"/>
          <p:cNvSpPr txBox="1"/>
          <p:nvPr/>
        </p:nvSpPr>
        <p:spPr>
          <a:xfrm>
            <a:off x="4361688" y="4365346"/>
            <a:ext cx="1353312" cy="288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microonde</a:t>
            </a:r>
            <a:endParaRPr lang="en-US" sz="1050" dirty="0"/>
          </a:p>
        </p:txBody>
      </p:sp>
      <p:sp>
        <p:nvSpPr>
          <p:cNvPr id="54" name="tile_76"/>
          <p:cNvSpPr/>
          <p:nvPr/>
        </p:nvSpPr>
        <p:spPr>
          <a:xfrm>
            <a:off x="5861304" y="3651504"/>
            <a:ext cx="1426464" cy="1030224"/>
          </a:xfrm>
          <a:prstGeom prst="roundRect">
            <a:avLst>
              <a:gd name="adj" fmla="val 7101"/>
            </a:avLst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pic>
        <p:nvPicPr>
          <p:cNvPr id="55" name="ti_77" descr="a wooden spoon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368491" y="3706368"/>
            <a:ext cx="412090" cy="412090"/>
          </a:xfrm>
          <a:prstGeom prst="rect">
            <a:avLst/>
          </a:prstGeom>
        </p:spPr>
      </p:pic>
      <p:sp>
        <p:nvSpPr>
          <p:cNvPr id="56" name="tw_78"/>
          <p:cNvSpPr txBox="1"/>
          <p:nvPr/>
        </p:nvSpPr>
        <p:spPr>
          <a:xfrm>
            <a:off x="5897880" y="4136746"/>
            <a:ext cx="1353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wooden spoon</a:t>
            </a:r>
            <a:endParaRPr lang="en-US" sz="1250" dirty="0"/>
          </a:p>
        </p:txBody>
      </p:sp>
      <p:sp>
        <p:nvSpPr>
          <p:cNvPr id="57" name="R1_it10"/>
          <p:cNvSpPr txBox="1"/>
          <p:nvPr/>
        </p:nvSpPr>
        <p:spPr>
          <a:xfrm>
            <a:off x="5897880" y="4365346"/>
            <a:ext cx="1353312" cy="288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cucchiaio di legno</a:t>
            </a:r>
            <a:endParaRPr lang="en-US" sz="1050" dirty="0"/>
          </a:p>
        </p:txBody>
      </p:sp>
      <p:sp>
        <p:nvSpPr>
          <p:cNvPr id="58" name="tile_79"/>
          <p:cNvSpPr/>
          <p:nvPr/>
        </p:nvSpPr>
        <p:spPr>
          <a:xfrm>
            <a:off x="7397496" y="3651504"/>
            <a:ext cx="1426464" cy="1030224"/>
          </a:xfrm>
          <a:prstGeom prst="roundRect">
            <a:avLst>
              <a:gd name="adj" fmla="val 7101"/>
            </a:avLst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pic>
        <p:nvPicPr>
          <p:cNvPr id="59" name="ti_80" descr="oven gloves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904683" y="3706368"/>
            <a:ext cx="412090" cy="412090"/>
          </a:xfrm>
          <a:prstGeom prst="rect">
            <a:avLst/>
          </a:prstGeom>
        </p:spPr>
      </p:pic>
      <p:sp>
        <p:nvSpPr>
          <p:cNvPr id="60" name="tw_81"/>
          <p:cNvSpPr txBox="1"/>
          <p:nvPr/>
        </p:nvSpPr>
        <p:spPr>
          <a:xfrm>
            <a:off x="7434072" y="4136746"/>
            <a:ext cx="1353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oven gloves</a:t>
            </a:r>
            <a:endParaRPr lang="en-US" sz="1250" dirty="0"/>
          </a:p>
        </p:txBody>
      </p:sp>
      <p:sp>
        <p:nvSpPr>
          <p:cNvPr id="61" name="R1_it11"/>
          <p:cNvSpPr txBox="1"/>
          <p:nvPr/>
        </p:nvSpPr>
        <p:spPr>
          <a:xfrm>
            <a:off x="7434072" y="4365346"/>
            <a:ext cx="1353312" cy="288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guanti da forno</a:t>
            </a:r>
            <a:endParaRPr lang="en-US" sz="10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velFrame_82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C9B3F0"/>
            </a:solidFill>
            <a:prstDash val="solid"/>
          </a:ln>
        </p:spPr>
      </p:sp>
      <p:pic>
        <p:nvPicPr>
          <p:cNvPr id="4" name="logo_83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5" name="objective_84"/>
          <p:cNvSpPr txBox="1"/>
          <p:nvPr/>
        </p:nvSpPr>
        <p:spPr>
          <a:xfrm>
            <a:off x="320040" y="182880"/>
            <a:ext cx="475488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VOCABULARY · Verbs with equipment</a:t>
            </a:r>
            <a:endParaRPr lang="en-US" sz="900" dirty="0"/>
          </a:p>
        </p:txBody>
      </p:sp>
      <p:sp>
        <p:nvSpPr>
          <p:cNvPr id="6" name="timer_85"/>
          <p:cNvSpPr txBox="1"/>
          <p:nvPr/>
        </p:nvSpPr>
        <p:spPr>
          <a:xfrm>
            <a:off x="7086600" y="219456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25400">
            <a:solidFill>
              <a:srgbClr val="6D3F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6 min</a:t>
            </a:r>
            <a:endParaRPr lang="en-US" sz="1200" dirty="0"/>
          </a:p>
        </p:txBody>
      </p:sp>
      <p:sp>
        <p:nvSpPr>
          <p:cNvPr id="7" name="footer_86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Kitchen English · L2</a:t>
            </a:r>
            <a:endParaRPr lang="en-US" sz="1000" dirty="0"/>
          </a:p>
        </p:txBody>
      </p:sp>
      <p:sp>
        <p:nvSpPr>
          <p:cNvPr id="8" name="title_87"/>
          <p:cNvSpPr txBox="1"/>
          <p:nvPr/>
        </p:nvSpPr>
        <p:spPr>
          <a:xfrm rot="90000">
            <a:off x="320040" y="676656"/>
            <a:ext cx="4498848" cy="530352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do you do with it?</a:t>
            </a:r>
            <a:endParaRPr lang="en-US" sz="1500" dirty="0"/>
          </a:p>
        </p:txBody>
      </p:sp>
      <p:sp>
        <p:nvSpPr>
          <p:cNvPr id="9" name="tape_88"/>
          <p:cNvSpPr/>
          <p:nvPr/>
        </p:nvSpPr>
        <p:spPr>
          <a:xfrm rot="-720000">
            <a:off x="210312" y="585216"/>
            <a:ext cx="685800" cy="219456"/>
          </a:xfrm>
          <a:prstGeom prst="rect">
            <a:avLst/>
          </a:prstGeom>
          <a:solidFill>
            <a:srgbClr val="C9B3F0">
              <a:alpha val="80000"/>
            </a:srgbClr>
          </a:solidFill>
          <a:ln w="6350">
            <a:solidFill>
              <a:srgbClr val="C9B3F0"/>
            </a:solidFill>
            <a:prstDash val="solid"/>
          </a:ln>
        </p:spPr>
      </p:sp>
      <p:sp>
        <p:nvSpPr>
          <p:cNvPr id="10" name="tape_89"/>
          <p:cNvSpPr/>
          <p:nvPr/>
        </p:nvSpPr>
        <p:spPr>
          <a:xfrm rot="-720000">
            <a:off x="4251960" y="1069848"/>
            <a:ext cx="685800" cy="219456"/>
          </a:xfrm>
          <a:prstGeom prst="rect">
            <a:avLst/>
          </a:prstGeom>
          <a:solidFill>
            <a:srgbClr val="C9B3F0">
              <a:alpha val="80000"/>
            </a:srgbClr>
          </a:solidFill>
          <a:ln w="6350">
            <a:solidFill>
              <a:srgbClr val="C9B3F0"/>
            </a:solidFill>
            <a:prstDash val="solid"/>
          </a:ln>
        </p:spPr>
      </p:sp>
      <p:sp>
        <p:nvSpPr>
          <p:cNvPr id="11" name="post_90"/>
          <p:cNvSpPr/>
          <p:nvPr/>
        </p:nvSpPr>
        <p:spPr>
          <a:xfrm>
            <a:off x="429768" y="1554480"/>
            <a:ext cx="128016" cy="2194560"/>
          </a:xfrm>
          <a:prstGeom prst="rect">
            <a:avLst/>
          </a:prstGeom>
          <a:solidFill>
            <a:srgbClr val="8B5A2B"/>
          </a:solidFill>
          <a:ln w="31750">
            <a:solidFill>
              <a:srgbClr val="111111"/>
            </a:solidFill>
            <a:prstDash val="solid"/>
          </a:ln>
        </p:spPr>
      </p:sp>
      <p:sp>
        <p:nvSpPr>
          <p:cNvPr id="12" name="signA_91"/>
          <p:cNvSpPr txBox="1"/>
          <p:nvPr/>
        </p:nvSpPr>
        <p:spPr>
          <a:xfrm rot="-180000">
            <a:off x="320040" y="1371600"/>
            <a:ext cx="2240280" cy="457200"/>
          </a:xfrm>
          <a:prstGeom prst="homePlate">
            <a:avLst/>
          </a:prstGeom>
          <a:solidFill>
            <a:srgbClr val="062F67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THINK!</a:t>
            </a:r>
            <a:pPr indent="0" marL="0">
              <a:buNone/>
            </a:pPr>
            <a:r>
              <a:rPr lang="en-US" sz="1000" dirty="0">
                <a:solidFill>
                  <a:srgbClr val="FFF3B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PENSA!</a:t>
            </a:r>
            <a:endParaRPr lang="en-US" sz="1500" dirty="0"/>
          </a:p>
        </p:txBody>
      </p:sp>
      <p:sp>
        <p:nvSpPr>
          <p:cNvPr id="13" name="signB_92"/>
          <p:cNvSpPr txBox="1"/>
          <p:nvPr/>
        </p:nvSpPr>
        <p:spPr>
          <a:xfrm rot="120000">
            <a:off x="365760" y="1938528"/>
            <a:ext cx="2240280" cy="105156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verb? Say the full sentence.</a:t>
            </a:r>
            <a:endParaRPr lang="en-US" sz="1250" dirty="0"/>
          </a:p>
          <a:p>
            <a:pPr indent="0" marL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Quale verbo? Di' la frase intera.</a:t>
            </a:r>
            <a:endParaRPr lang="en-US" sz="1250" dirty="0"/>
          </a:p>
        </p:txBody>
      </p:sp>
      <p:sp>
        <p:nvSpPr>
          <p:cNvPr id="14" name="iconBack_93"/>
          <p:cNvSpPr/>
          <p:nvPr/>
        </p:nvSpPr>
        <p:spPr>
          <a:xfrm>
            <a:off x="2788920" y="1371600"/>
            <a:ext cx="349758" cy="34975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11111"/>
            </a:solidFill>
            <a:prstDash val="solid"/>
          </a:ln>
        </p:spPr>
      </p:sp>
      <p:pic>
        <p:nvPicPr>
          <p:cNvPr id="15" name="icon_94" descr="whis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8872" y="1441552"/>
            <a:ext cx="209855" cy="209855"/>
          </a:xfrm>
          <a:prstGeom prst="rect">
            <a:avLst/>
          </a:prstGeom>
        </p:spPr>
      </p:pic>
      <p:sp>
        <p:nvSpPr>
          <p:cNvPr id="16" name="box_95"/>
          <p:cNvSpPr txBox="1"/>
          <p:nvPr/>
        </p:nvSpPr>
        <p:spPr>
          <a:xfrm>
            <a:off x="3193542" y="1371600"/>
            <a:ext cx="3216402" cy="349758"/>
          </a:xfrm>
          <a:prstGeom prst="rect">
            <a:avLst/>
          </a:prstGeom>
          <a:solidFill>
            <a:srgbClr val="E0F2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You ___ eggs with a whisk.</a:t>
            </a:r>
            <a:endParaRPr lang="en-US" sz="1250" dirty="0"/>
          </a:p>
        </p:txBody>
      </p:sp>
      <p:sp>
        <p:nvSpPr>
          <p:cNvPr id="17" name="R1_m0"/>
          <p:cNvSpPr txBox="1"/>
          <p:nvPr/>
        </p:nvSpPr>
        <p:spPr>
          <a:xfrm>
            <a:off x="6483096" y="1389888"/>
            <a:ext cx="2340864" cy="313182"/>
          </a:xfrm>
          <a:prstGeom prst="roundRect">
            <a:avLst>
              <a:gd name="adj" fmla="val 17518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whisk / beat</a:t>
            </a:r>
            <a:endParaRPr lang="en-US" sz="1150" dirty="0"/>
          </a:p>
        </p:txBody>
      </p:sp>
      <p:sp>
        <p:nvSpPr>
          <p:cNvPr id="18" name="iconBack_96"/>
          <p:cNvSpPr/>
          <p:nvPr/>
        </p:nvSpPr>
        <p:spPr>
          <a:xfrm>
            <a:off x="2788920" y="1794510"/>
            <a:ext cx="349758" cy="34975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11111"/>
            </a:solidFill>
            <a:prstDash val="solid"/>
          </a:ln>
        </p:spPr>
      </p:sp>
      <p:pic>
        <p:nvPicPr>
          <p:cNvPr id="19" name="icon_97" descr="ladl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8872" y="1864462"/>
            <a:ext cx="209855" cy="209855"/>
          </a:xfrm>
          <a:prstGeom prst="rect">
            <a:avLst/>
          </a:prstGeom>
        </p:spPr>
      </p:pic>
      <p:sp>
        <p:nvSpPr>
          <p:cNvPr id="20" name="box_98"/>
          <p:cNvSpPr txBox="1"/>
          <p:nvPr/>
        </p:nvSpPr>
        <p:spPr>
          <a:xfrm>
            <a:off x="3193542" y="1794510"/>
            <a:ext cx="3216402" cy="349758"/>
          </a:xfrm>
          <a:prstGeom prst="rect">
            <a:avLst/>
          </a:prstGeom>
          <a:solidFill>
            <a:srgbClr val="FCE7F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You ___ soup with a ladle.</a:t>
            </a:r>
            <a:endParaRPr lang="en-US" sz="1250" dirty="0"/>
          </a:p>
        </p:txBody>
      </p:sp>
      <p:sp>
        <p:nvSpPr>
          <p:cNvPr id="21" name="R1_m1"/>
          <p:cNvSpPr txBox="1"/>
          <p:nvPr/>
        </p:nvSpPr>
        <p:spPr>
          <a:xfrm>
            <a:off x="6483096" y="1812798"/>
            <a:ext cx="2340864" cy="313182"/>
          </a:xfrm>
          <a:prstGeom prst="roundRect">
            <a:avLst>
              <a:gd name="adj" fmla="val 17518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</a:t>
            </a:r>
            <a:endParaRPr lang="en-US" sz="1150" dirty="0"/>
          </a:p>
        </p:txBody>
      </p:sp>
      <p:sp>
        <p:nvSpPr>
          <p:cNvPr id="22" name="iconBack_99"/>
          <p:cNvSpPr/>
          <p:nvPr/>
        </p:nvSpPr>
        <p:spPr>
          <a:xfrm>
            <a:off x="2788920" y="2217420"/>
            <a:ext cx="349758" cy="34975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11111"/>
            </a:solidFill>
            <a:prstDash val="solid"/>
          </a:ln>
        </p:spPr>
      </p:sp>
      <p:pic>
        <p:nvPicPr>
          <p:cNvPr id="23" name="icon_100" descr="scales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58872" y="2287372"/>
            <a:ext cx="209855" cy="209855"/>
          </a:xfrm>
          <a:prstGeom prst="rect">
            <a:avLst/>
          </a:prstGeom>
        </p:spPr>
      </p:pic>
      <p:sp>
        <p:nvSpPr>
          <p:cNvPr id="24" name="box_101"/>
          <p:cNvSpPr txBox="1"/>
          <p:nvPr/>
        </p:nvSpPr>
        <p:spPr>
          <a:xfrm>
            <a:off x="3193542" y="2217420"/>
            <a:ext cx="3216402" cy="349758"/>
          </a:xfrm>
          <a:prstGeom prst="rect">
            <a:avLst/>
          </a:prstGeom>
          <a:solidFill>
            <a:srgbClr val="FEF9C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You ___ flour on the scales.</a:t>
            </a:r>
            <a:endParaRPr lang="en-US" sz="1250" dirty="0"/>
          </a:p>
        </p:txBody>
      </p:sp>
      <p:sp>
        <p:nvSpPr>
          <p:cNvPr id="25" name="R1_m2"/>
          <p:cNvSpPr txBox="1"/>
          <p:nvPr/>
        </p:nvSpPr>
        <p:spPr>
          <a:xfrm>
            <a:off x="6483096" y="2235708"/>
            <a:ext cx="2340864" cy="313182"/>
          </a:xfrm>
          <a:prstGeom prst="roundRect">
            <a:avLst>
              <a:gd name="adj" fmla="val 17518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</a:t>
            </a:r>
            <a:endParaRPr lang="en-US" sz="1150" dirty="0"/>
          </a:p>
        </p:txBody>
      </p:sp>
      <p:sp>
        <p:nvSpPr>
          <p:cNvPr id="26" name="iconBack_102"/>
          <p:cNvSpPr/>
          <p:nvPr/>
        </p:nvSpPr>
        <p:spPr>
          <a:xfrm>
            <a:off x="2788920" y="2640330"/>
            <a:ext cx="349758" cy="34975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11111"/>
            </a:solidFill>
            <a:prstDash val="solid"/>
          </a:ln>
        </p:spPr>
      </p:sp>
      <p:pic>
        <p:nvPicPr>
          <p:cNvPr id="27" name="icon_103" descr="ove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58872" y="2710282"/>
            <a:ext cx="209855" cy="209855"/>
          </a:xfrm>
          <a:prstGeom prst="rect">
            <a:avLst/>
          </a:prstGeom>
        </p:spPr>
      </p:pic>
      <p:sp>
        <p:nvSpPr>
          <p:cNvPr id="28" name="box_104"/>
          <p:cNvSpPr txBox="1"/>
          <p:nvPr/>
        </p:nvSpPr>
        <p:spPr>
          <a:xfrm>
            <a:off x="3193542" y="2640330"/>
            <a:ext cx="3216402" cy="349758"/>
          </a:xfrm>
          <a:prstGeom prst="rect">
            <a:avLst/>
          </a:prstGeom>
          <a:solidFill>
            <a:srgbClr val="DCFCE7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You ___ the oven to 180°C.</a:t>
            </a:r>
            <a:endParaRPr lang="en-US" sz="1250" dirty="0"/>
          </a:p>
        </p:txBody>
      </p:sp>
      <p:sp>
        <p:nvSpPr>
          <p:cNvPr id="29" name="R1_m3"/>
          <p:cNvSpPr txBox="1"/>
          <p:nvPr/>
        </p:nvSpPr>
        <p:spPr>
          <a:xfrm>
            <a:off x="6483096" y="2658618"/>
            <a:ext cx="2340864" cy="313182"/>
          </a:xfrm>
          <a:prstGeom prst="roundRect">
            <a:avLst>
              <a:gd name="adj" fmla="val 17518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preheat / heat</a:t>
            </a:r>
            <a:endParaRPr lang="en-US" sz="1150" dirty="0"/>
          </a:p>
        </p:txBody>
      </p:sp>
      <p:sp>
        <p:nvSpPr>
          <p:cNvPr id="30" name="iconBack_105"/>
          <p:cNvSpPr/>
          <p:nvPr/>
        </p:nvSpPr>
        <p:spPr>
          <a:xfrm>
            <a:off x="2788920" y="3063240"/>
            <a:ext cx="349758" cy="34975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11111"/>
            </a:solidFill>
            <a:prstDash val="solid"/>
          </a:ln>
        </p:spPr>
      </p:sp>
      <p:pic>
        <p:nvPicPr>
          <p:cNvPr id="31" name="icon_106" descr="knife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58872" y="3133192"/>
            <a:ext cx="209855" cy="209855"/>
          </a:xfrm>
          <a:prstGeom prst="rect">
            <a:avLst/>
          </a:prstGeom>
        </p:spPr>
      </p:pic>
      <p:sp>
        <p:nvSpPr>
          <p:cNvPr id="32" name="box_107"/>
          <p:cNvSpPr txBox="1"/>
          <p:nvPr/>
        </p:nvSpPr>
        <p:spPr>
          <a:xfrm>
            <a:off x="3193542" y="3063240"/>
            <a:ext cx="3216402" cy="349758"/>
          </a:xfrm>
          <a:prstGeom prst="rect">
            <a:avLst/>
          </a:prstGeom>
          <a:solidFill>
            <a:srgbClr val="EDE9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You ___ onions with a knife.</a:t>
            </a:r>
            <a:endParaRPr lang="en-US" sz="1250" dirty="0"/>
          </a:p>
        </p:txBody>
      </p:sp>
      <p:sp>
        <p:nvSpPr>
          <p:cNvPr id="33" name="R1_m4"/>
          <p:cNvSpPr txBox="1"/>
          <p:nvPr/>
        </p:nvSpPr>
        <p:spPr>
          <a:xfrm>
            <a:off x="6483096" y="3081528"/>
            <a:ext cx="2340864" cy="313182"/>
          </a:xfrm>
          <a:prstGeom prst="roundRect">
            <a:avLst>
              <a:gd name="adj" fmla="val 17518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chop / slice</a:t>
            </a:r>
            <a:endParaRPr lang="en-US" sz="1150" dirty="0"/>
          </a:p>
        </p:txBody>
      </p:sp>
      <p:sp>
        <p:nvSpPr>
          <p:cNvPr id="34" name="iconBack_108"/>
          <p:cNvSpPr/>
          <p:nvPr/>
        </p:nvSpPr>
        <p:spPr>
          <a:xfrm>
            <a:off x="2788920" y="3486150"/>
            <a:ext cx="349758" cy="34975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11111"/>
            </a:solidFill>
            <a:prstDash val="solid"/>
          </a:ln>
        </p:spPr>
      </p:sp>
      <p:pic>
        <p:nvPicPr>
          <p:cNvPr id="35" name="icon_109" descr="saucepan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858872" y="3556102"/>
            <a:ext cx="209855" cy="209855"/>
          </a:xfrm>
          <a:prstGeom prst="rect">
            <a:avLst/>
          </a:prstGeom>
        </p:spPr>
      </p:pic>
      <p:sp>
        <p:nvSpPr>
          <p:cNvPr id="36" name="box_110"/>
          <p:cNvSpPr txBox="1"/>
          <p:nvPr/>
        </p:nvSpPr>
        <p:spPr>
          <a:xfrm>
            <a:off x="3193542" y="3486150"/>
            <a:ext cx="3216402" cy="349758"/>
          </a:xfrm>
          <a:prstGeom prst="rect">
            <a:avLst/>
          </a:prstGeom>
          <a:solidFill>
            <a:srgbClr val="FFEDD5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You ___ pasta in a saucepan.</a:t>
            </a:r>
            <a:endParaRPr lang="en-US" sz="1250" dirty="0"/>
          </a:p>
        </p:txBody>
      </p:sp>
      <p:sp>
        <p:nvSpPr>
          <p:cNvPr id="37" name="R1_m5"/>
          <p:cNvSpPr txBox="1"/>
          <p:nvPr/>
        </p:nvSpPr>
        <p:spPr>
          <a:xfrm>
            <a:off x="6483096" y="3504438"/>
            <a:ext cx="2340864" cy="313182"/>
          </a:xfrm>
          <a:prstGeom prst="roundRect">
            <a:avLst>
              <a:gd name="adj" fmla="val 17518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boil / cook</a:t>
            </a:r>
            <a:endParaRPr lang="en-US" sz="1150" dirty="0"/>
          </a:p>
        </p:txBody>
      </p:sp>
      <p:sp>
        <p:nvSpPr>
          <p:cNvPr id="38" name="iconBack_111"/>
          <p:cNvSpPr/>
          <p:nvPr/>
        </p:nvSpPr>
        <p:spPr>
          <a:xfrm>
            <a:off x="2788920" y="3909060"/>
            <a:ext cx="349758" cy="34975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11111"/>
            </a:solidFill>
            <a:prstDash val="solid"/>
          </a:ln>
        </p:spPr>
      </p:sp>
      <p:pic>
        <p:nvPicPr>
          <p:cNvPr id="39" name="icon_112" descr="gloves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858872" y="3979012"/>
            <a:ext cx="209855" cy="209855"/>
          </a:xfrm>
          <a:prstGeom prst="rect">
            <a:avLst/>
          </a:prstGeom>
        </p:spPr>
      </p:pic>
      <p:sp>
        <p:nvSpPr>
          <p:cNvPr id="40" name="box_113"/>
          <p:cNvSpPr txBox="1"/>
          <p:nvPr/>
        </p:nvSpPr>
        <p:spPr>
          <a:xfrm>
            <a:off x="3193542" y="3909060"/>
            <a:ext cx="3216402" cy="349758"/>
          </a:xfrm>
          <a:prstGeom prst="rect">
            <a:avLst/>
          </a:prstGeom>
          <a:solidFill>
            <a:srgbClr val="E0F2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 You ___ hot trays with oven gloves.</a:t>
            </a:r>
            <a:endParaRPr lang="en-US" sz="1250" dirty="0"/>
          </a:p>
        </p:txBody>
      </p:sp>
      <p:sp>
        <p:nvSpPr>
          <p:cNvPr id="41" name="R1_m6"/>
          <p:cNvSpPr txBox="1"/>
          <p:nvPr/>
        </p:nvSpPr>
        <p:spPr>
          <a:xfrm>
            <a:off x="6483096" y="3927348"/>
            <a:ext cx="2340864" cy="313182"/>
          </a:xfrm>
          <a:prstGeom prst="roundRect">
            <a:avLst>
              <a:gd name="adj" fmla="val 17518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/ take out</a:t>
            </a:r>
            <a:endParaRPr lang="en-US" sz="1150" dirty="0"/>
          </a:p>
        </p:txBody>
      </p:sp>
      <p:sp>
        <p:nvSpPr>
          <p:cNvPr id="42" name="iconBack_114"/>
          <p:cNvSpPr/>
          <p:nvPr/>
        </p:nvSpPr>
        <p:spPr>
          <a:xfrm>
            <a:off x="2788920" y="4331970"/>
            <a:ext cx="349758" cy="34975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11111"/>
            </a:solidFill>
            <a:prstDash val="solid"/>
          </a:ln>
        </p:spPr>
      </p:sp>
      <p:pic>
        <p:nvPicPr>
          <p:cNvPr id="43" name="icon_115" descr="fridge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858872" y="4401922"/>
            <a:ext cx="209855" cy="209855"/>
          </a:xfrm>
          <a:prstGeom prst="rect">
            <a:avLst/>
          </a:prstGeom>
        </p:spPr>
      </p:pic>
      <p:sp>
        <p:nvSpPr>
          <p:cNvPr id="44" name="box_116"/>
          <p:cNvSpPr txBox="1"/>
          <p:nvPr/>
        </p:nvSpPr>
        <p:spPr>
          <a:xfrm>
            <a:off x="3193542" y="4331970"/>
            <a:ext cx="3216402" cy="349758"/>
          </a:xfrm>
          <a:prstGeom prst="rect">
            <a:avLst/>
          </a:prstGeom>
          <a:solidFill>
            <a:srgbClr val="FCE7F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 You ___ fish in the fridge.</a:t>
            </a:r>
            <a:endParaRPr lang="en-US" sz="1250" dirty="0"/>
          </a:p>
        </p:txBody>
      </p:sp>
      <p:sp>
        <p:nvSpPr>
          <p:cNvPr id="45" name="R1_m7"/>
          <p:cNvSpPr txBox="1"/>
          <p:nvPr/>
        </p:nvSpPr>
        <p:spPr>
          <a:xfrm>
            <a:off x="6483096" y="4350258"/>
            <a:ext cx="2340864" cy="313182"/>
          </a:xfrm>
          <a:prstGeom prst="roundRect">
            <a:avLst>
              <a:gd name="adj" fmla="val 17518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/ store</a:t>
            </a:r>
            <a:endParaRPr lang="en-US" sz="11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velFrame_117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C9B3F0"/>
            </a:solidFill>
            <a:prstDash val="solid"/>
          </a:ln>
        </p:spPr>
      </p:sp>
      <p:pic>
        <p:nvPicPr>
          <p:cNvPr id="4" name="logo_118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5" name="objective_119"/>
          <p:cNvSpPr txBox="1"/>
          <p:nvPr/>
        </p:nvSpPr>
        <p:spPr>
          <a:xfrm>
            <a:off x="320040" y="182880"/>
            <a:ext cx="475488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GRAMMAR · there is / are · prepositions</a:t>
            </a:r>
            <a:endParaRPr lang="en-US" sz="900" dirty="0"/>
          </a:p>
        </p:txBody>
      </p:sp>
      <p:sp>
        <p:nvSpPr>
          <p:cNvPr id="6" name="timer_120"/>
          <p:cNvSpPr txBox="1"/>
          <p:nvPr/>
        </p:nvSpPr>
        <p:spPr>
          <a:xfrm>
            <a:off x="7086600" y="219456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25400">
            <a:solidFill>
              <a:srgbClr val="6D3F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6 min</a:t>
            </a:r>
            <a:endParaRPr lang="en-US" sz="1200" dirty="0"/>
          </a:p>
        </p:txBody>
      </p:sp>
      <p:sp>
        <p:nvSpPr>
          <p:cNvPr id="7" name="footer_121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Kitchen English · L2</a:t>
            </a:r>
            <a:endParaRPr lang="en-US" sz="1000" dirty="0"/>
          </a:p>
        </p:txBody>
      </p:sp>
      <p:sp>
        <p:nvSpPr>
          <p:cNvPr id="8" name="title_122"/>
          <p:cNvSpPr txBox="1"/>
          <p:nvPr/>
        </p:nvSpPr>
        <p:spPr>
          <a:xfrm rot="90000">
            <a:off x="320040" y="676656"/>
            <a:ext cx="5367528" cy="530352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There's a knife on the board</a:t>
            </a:r>
            <a:endParaRPr lang="en-US" sz="1500" dirty="0"/>
          </a:p>
        </p:txBody>
      </p:sp>
      <p:sp>
        <p:nvSpPr>
          <p:cNvPr id="9" name="tape_123"/>
          <p:cNvSpPr/>
          <p:nvPr/>
        </p:nvSpPr>
        <p:spPr>
          <a:xfrm rot="-720000">
            <a:off x="210312" y="585216"/>
            <a:ext cx="685800" cy="219456"/>
          </a:xfrm>
          <a:prstGeom prst="rect">
            <a:avLst/>
          </a:prstGeom>
          <a:solidFill>
            <a:srgbClr val="C9B3F0">
              <a:alpha val="80000"/>
            </a:srgbClr>
          </a:solidFill>
          <a:ln w="6350">
            <a:solidFill>
              <a:srgbClr val="C9B3F0"/>
            </a:solidFill>
            <a:prstDash val="solid"/>
          </a:ln>
        </p:spPr>
      </p:sp>
      <p:sp>
        <p:nvSpPr>
          <p:cNvPr id="10" name="tape_124"/>
          <p:cNvSpPr/>
          <p:nvPr/>
        </p:nvSpPr>
        <p:spPr>
          <a:xfrm rot="-720000">
            <a:off x="5120640" y="1069848"/>
            <a:ext cx="685800" cy="219456"/>
          </a:xfrm>
          <a:prstGeom prst="rect">
            <a:avLst/>
          </a:prstGeom>
          <a:solidFill>
            <a:srgbClr val="C9B3F0">
              <a:alpha val="80000"/>
            </a:srgbClr>
          </a:solidFill>
          <a:ln w="6350">
            <a:solidFill>
              <a:srgbClr val="C9B3F0"/>
            </a:solidFill>
            <a:prstDash val="solid"/>
          </a:ln>
        </p:spPr>
      </p:sp>
      <p:sp>
        <p:nvSpPr>
          <p:cNvPr id="11" name="rh_125"/>
          <p:cNvSpPr txBox="1"/>
          <p:nvPr/>
        </p:nvSpPr>
        <p:spPr>
          <a:xfrm>
            <a:off x="320040" y="1371600"/>
            <a:ext cx="2749296" cy="384048"/>
          </a:xfrm>
          <a:prstGeom prst="rect">
            <a:avLst/>
          </a:prstGeom>
          <a:solidFill>
            <a:srgbClr val="48BDF2"/>
          </a:solidFill>
          <a:ln w="19050">
            <a:solidFill>
              <a:srgbClr val="111111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 thing</a:t>
            </a:r>
            <a:endParaRPr lang="en-US" sz="1300" dirty="0"/>
          </a:p>
        </p:txBody>
      </p:sp>
      <p:sp>
        <p:nvSpPr>
          <p:cNvPr id="12" name="rb_126"/>
          <p:cNvSpPr txBox="1"/>
          <p:nvPr/>
        </p:nvSpPr>
        <p:spPr>
          <a:xfrm>
            <a:off x="320040" y="1810512"/>
            <a:ext cx="2749296" cy="2157984"/>
          </a:xfrm>
          <a:prstGeom prst="rect">
            <a:avLst/>
          </a:prstGeom>
          <a:solidFill>
            <a:srgbClr val="FFFFFF"/>
          </a:solidFill>
          <a:ln w="19050">
            <a:solidFill>
              <a:srgbClr val="111111"/>
            </a:solidFill>
          </a:ln>
        </p:spPr>
        <p:txBody>
          <a:bodyPr wrap="square" lIns="101600" tIns="101600" rIns="101600" bIns="10160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There's a knife on the board.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there a sieve?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isn't a grater.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pan (here)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pan (there)</a:t>
            </a:r>
            <a:endParaRPr lang="en-US" sz="1350" dirty="0"/>
          </a:p>
        </p:txBody>
      </p:sp>
      <p:sp>
        <p:nvSpPr>
          <p:cNvPr id="13" name="rh_127"/>
          <p:cNvSpPr txBox="1"/>
          <p:nvPr/>
        </p:nvSpPr>
        <p:spPr>
          <a:xfrm>
            <a:off x="3197352" y="1371600"/>
            <a:ext cx="2749296" cy="384048"/>
          </a:xfrm>
          <a:prstGeom prst="rect">
            <a:avLst/>
          </a:prstGeom>
          <a:solidFill>
            <a:srgbClr val="EF2F2F"/>
          </a:solidFill>
          <a:ln w="19050">
            <a:solidFill>
              <a:srgbClr val="111111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2+ things</a:t>
            </a:r>
            <a:endParaRPr lang="en-US" sz="1300" dirty="0"/>
          </a:p>
        </p:txBody>
      </p:sp>
      <p:sp>
        <p:nvSpPr>
          <p:cNvPr id="14" name="rb_128"/>
          <p:cNvSpPr txBox="1"/>
          <p:nvPr/>
        </p:nvSpPr>
        <p:spPr>
          <a:xfrm>
            <a:off x="3197352" y="1810512"/>
            <a:ext cx="2749296" cy="2157984"/>
          </a:xfrm>
          <a:prstGeom prst="rect">
            <a:avLst/>
          </a:prstGeom>
          <a:solidFill>
            <a:srgbClr val="FFFFFF"/>
          </a:solidFill>
          <a:ln w="19050">
            <a:solidFill>
              <a:srgbClr val="111111"/>
            </a:solidFill>
          </a:ln>
        </p:spPr>
        <p:txBody>
          <a:bodyPr wrap="square" lIns="101600" tIns="101600" rIns="101600" bIns="10160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are some trays in the oven.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there any clean pans?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aren't any spoons.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pans (here)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those pans (there)</a:t>
            </a:r>
            <a:endParaRPr lang="en-US" sz="1350" dirty="0"/>
          </a:p>
        </p:txBody>
      </p:sp>
      <p:sp>
        <p:nvSpPr>
          <p:cNvPr id="15" name="rh_129"/>
          <p:cNvSpPr txBox="1"/>
          <p:nvPr/>
        </p:nvSpPr>
        <p:spPr>
          <a:xfrm>
            <a:off x="6074664" y="1371600"/>
            <a:ext cx="2749296" cy="384048"/>
          </a:xfrm>
          <a:prstGeom prst="rect">
            <a:avLst/>
          </a:prstGeom>
          <a:solidFill>
            <a:srgbClr val="1FA463"/>
          </a:solidFill>
          <a:ln w="19050">
            <a:solidFill>
              <a:srgbClr val="111111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Where?</a:t>
            </a:r>
            <a:endParaRPr lang="en-US" sz="1300" dirty="0"/>
          </a:p>
        </p:txBody>
      </p:sp>
      <p:sp>
        <p:nvSpPr>
          <p:cNvPr id="16" name="rb_130"/>
          <p:cNvSpPr txBox="1"/>
          <p:nvPr/>
        </p:nvSpPr>
        <p:spPr>
          <a:xfrm>
            <a:off x="6074664" y="1810512"/>
            <a:ext cx="2749296" cy="2157984"/>
          </a:xfrm>
          <a:prstGeom prst="rect">
            <a:avLst/>
          </a:prstGeom>
          <a:solidFill>
            <a:srgbClr val="FFFFFF"/>
          </a:solidFill>
          <a:ln w="19050">
            <a:solidFill>
              <a:srgbClr val="111111"/>
            </a:solidFill>
          </a:ln>
        </p:spPr>
        <p:txBody>
          <a:bodyPr wrap="square" lIns="101600" tIns="101600" rIns="101600" bIns="10160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· on · under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 · behind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to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front of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between</a:t>
            </a:r>
            <a:endParaRPr lang="en-US" sz="1350" dirty="0"/>
          </a:p>
        </p:txBody>
      </p:sp>
      <p:sp>
        <p:nvSpPr>
          <p:cNvPr id="17" name="watch_131"/>
          <p:cNvSpPr txBox="1"/>
          <p:nvPr/>
        </p:nvSpPr>
        <p:spPr>
          <a:xfrm>
            <a:off x="320040" y="4133088"/>
            <a:ext cx="8503920" cy="530352"/>
          </a:xfrm>
          <a:prstGeom prst="rect">
            <a:avLst/>
          </a:prstGeom>
          <a:solidFill>
            <a:srgbClr val="FFE4E6"/>
          </a:solidFill>
          <a:ln w="190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out!  </a:t>
            </a:r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There is two pans → ✓ There are two pans.     ✗ a oven → ✓ an oven.     ✗ This knifes → ✓ These knives.</a:t>
            </a:r>
            <a:endParaRPr lang="en-US" sz="1050" dirty="0"/>
          </a:p>
        </p:txBody>
      </p:sp>
    </p:spTree>
  </p:cSld>
  <p:clrMapOvr>
    <a:masterClrMapping/>
  </p:clrMapOvr>
  <p:transition spd="med">
    <p:push dir="l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velFrame_132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C9B3F0"/>
            </a:solidFill>
            <a:prstDash val="solid"/>
          </a:ln>
        </p:spPr>
      </p:sp>
      <p:pic>
        <p:nvPicPr>
          <p:cNvPr id="4" name="logo_133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5" name="objective_134"/>
          <p:cNvSpPr txBox="1"/>
          <p:nvPr/>
        </p:nvSpPr>
        <p:spPr>
          <a:xfrm>
            <a:off x="320040" y="182880"/>
            <a:ext cx="475488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GRAMMAR · Practice</a:t>
            </a:r>
            <a:endParaRPr lang="en-US" sz="900" dirty="0"/>
          </a:p>
        </p:txBody>
      </p:sp>
      <p:sp>
        <p:nvSpPr>
          <p:cNvPr id="6" name="timer_135"/>
          <p:cNvSpPr txBox="1"/>
          <p:nvPr/>
        </p:nvSpPr>
        <p:spPr>
          <a:xfrm>
            <a:off x="7086600" y="219456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25400">
            <a:solidFill>
              <a:srgbClr val="6D3F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5 min</a:t>
            </a:r>
            <a:endParaRPr lang="en-US" sz="1200" dirty="0"/>
          </a:p>
        </p:txBody>
      </p:sp>
      <p:sp>
        <p:nvSpPr>
          <p:cNvPr id="7" name="footer_136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Kitchen English · L2</a:t>
            </a:r>
            <a:endParaRPr lang="en-US" sz="1000" dirty="0"/>
          </a:p>
        </p:txBody>
      </p:sp>
      <p:sp>
        <p:nvSpPr>
          <p:cNvPr id="8" name="title_137"/>
          <p:cNvSpPr txBox="1"/>
          <p:nvPr/>
        </p:nvSpPr>
        <p:spPr>
          <a:xfrm rot="90000">
            <a:off x="320040" y="676656"/>
            <a:ext cx="4151376" cy="530352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There's or there are?</a:t>
            </a:r>
            <a:endParaRPr lang="en-US" sz="1500" dirty="0"/>
          </a:p>
        </p:txBody>
      </p:sp>
      <p:sp>
        <p:nvSpPr>
          <p:cNvPr id="9" name="tape_138"/>
          <p:cNvSpPr/>
          <p:nvPr/>
        </p:nvSpPr>
        <p:spPr>
          <a:xfrm rot="-720000">
            <a:off x="210312" y="585216"/>
            <a:ext cx="685800" cy="219456"/>
          </a:xfrm>
          <a:prstGeom prst="rect">
            <a:avLst/>
          </a:prstGeom>
          <a:solidFill>
            <a:srgbClr val="C9B3F0">
              <a:alpha val="80000"/>
            </a:srgbClr>
          </a:solidFill>
          <a:ln w="6350">
            <a:solidFill>
              <a:srgbClr val="C9B3F0"/>
            </a:solidFill>
            <a:prstDash val="solid"/>
          </a:ln>
        </p:spPr>
      </p:sp>
      <p:sp>
        <p:nvSpPr>
          <p:cNvPr id="10" name="tape_139"/>
          <p:cNvSpPr/>
          <p:nvPr/>
        </p:nvSpPr>
        <p:spPr>
          <a:xfrm rot="-720000">
            <a:off x="3904488" y="1069848"/>
            <a:ext cx="685800" cy="219456"/>
          </a:xfrm>
          <a:prstGeom prst="rect">
            <a:avLst/>
          </a:prstGeom>
          <a:solidFill>
            <a:srgbClr val="C9B3F0">
              <a:alpha val="80000"/>
            </a:srgbClr>
          </a:solidFill>
          <a:ln w="6350">
            <a:solidFill>
              <a:srgbClr val="C9B3F0"/>
            </a:solidFill>
            <a:prstDash val="solid"/>
          </a:ln>
        </p:spPr>
      </p:sp>
      <p:sp>
        <p:nvSpPr>
          <p:cNvPr id="11" name="post_140"/>
          <p:cNvSpPr/>
          <p:nvPr/>
        </p:nvSpPr>
        <p:spPr>
          <a:xfrm>
            <a:off x="429768" y="1554480"/>
            <a:ext cx="128016" cy="2194560"/>
          </a:xfrm>
          <a:prstGeom prst="rect">
            <a:avLst/>
          </a:prstGeom>
          <a:solidFill>
            <a:srgbClr val="8B5A2B"/>
          </a:solidFill>
          <a:ln w="31750">
            <a:solidFill>
              <a:srgbClr val="111111"/>
            </a:solidFill>
            <a:prstDash val="solid"/>
          </a:ln>
        </p:spPr>
      </p:sp>
      <p:sp>
        <p:nvSpPr>
          <p:cNvPr id="12" name="signA_141"/>
          <p:cNvSpPr txBox="1"/>
          <p:nvPr/>
        </p:nvSpPr>
        <p:spPr>
          <a:xfrm rot="-180000">
            <a:off x="320040" y="1371600"/>
            <a:ext cx="2240280" cy="457200"/>
          </a:xfrm>
          <a:prstGeom prst="homePlate">
            <a:avLst/>
          </a:prstGeom>
          <a:solidFill>
            <a:srgbClr val="6D3FC0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WRITE!</a:t>
            </a:r>
            <a:pPr indent="0" marL="0">
              <a:buNone/>
            </a:pPr>
            <a:r>
              <a:rPr lang="en-US" sz="1000" dirty="0">
                <a:solidFill>
                  <a:srgbClr val="FFF3B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SCRIVI!</a:t>
            </a:r>
            <a:endParaRPr lang="en-US" sz="1500" dirty="0"/>
          </a:p>
        </p:txBody>
      </p:sp>
      <p:sp>
        <p:nvSpPr>
          <p:cNvPr id="13" name="signB_142"/>
          <p:cNvSpPr txBox="1"/>
          <p:nvPr/>
        </p:nvSpPr>
        <p:spPr>
          <a:xfrm rot="120000">
            <a:off x="365760" y="1938528"/>
            <a:ext cx="2240280" cy="105156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Complete: there's · there are · is there · are there</a:t>
            </a:r>
            <a:endParaRPr lang="en-US" sz="1250" dirty="0"/>
          </a:p>
          <a:p>
            <a:pPr indent="0" marL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 con there's / there are / is there / are there</a:t>
            </a:r>
            <a:endParaRPr lang="en-US" sz="1250" dirty="0"/>
          </a:p>
        </p:txBody>
      </p:sp>
      <p:sp>
        <p:nvSpPr>
          <p:cNvPr id="14" name="box_143"/>
          <p:cNvSpPr txBox="1"/>
          <p:nvPr/>
        </p:nvSpPr>
        <p:spPr>
          <a:xfrm>
            <a:off x="2788920" y="1371600"/>
            <a:ext cx="1949318" cy="868680"/>
          </a:xfrm>
          <a:prstGeom prst="rect">
            <a:avLst/>
          </a:prstGeom>
          <a:solidFill>
            <a:srgbClr val="E0F2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___ a problem with the oven.</a:t>
            </a:r>
            <a:endParaRPr lang="en-US" sz="1350" dirty="0"/>
          </a:p>
        </p:txBody>
      </p:sp>
      <p:sp>
        <p:nvSpPr>
          <p:cNvPr id="15" name="R1_a0"/>
          <p:cNvSpPr txBox="1"/>
          <p:nvPr/>
        </p:nvSpPr>
        <p:spPr>
          <a:xfrm>
            <a:off x="4793102" y="1408176"/>
            <a:ext cx="949330" cy="795528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There's</a:t>
            </a:r>
            <a:endParaRPr lang="en-US" sz="1200" dirty="0"/>
          </a:p>
        </p:txBody>
      </p:sp>
      <p:sp>
        <p:nvSpPr>
          <p:cNvPr id="16" name="box_144"/>
          <p:cNvSpPr txBox="1"/>
          <p:nvPr/>
        </p:nvSpPr>
        <p:spPr>
          <a:xfrm>
            <a:off x="5870448" y="1371600"/>
            <a:ext cx="1949318" cy="868680"/>
          </a:xfrm>
          <a:prstGeom prst="rect">
            <a:avLst/>
          </a:prstGeom>
          <a:solidFill>
            <a:srgbClr val="FCE7F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___ any clean spoons?</a:t>
            </a:r>
            <a:endParaRPr lang="en-US" sz="1350" dirty="0"/>
          </a:p>
        </p:txBody>
      </p:sp>
      <p:sp>
        <p:nvSpPr>
          <p:cNvPr id="17" name="R1_a1"/>
          <p:cNvSpPr txBox="1"/>
          <p:nvPr/>
        </p:nvSpPr>
        <p:spPr>
          <a:xfrm>
            <a:off x="7874630" y="1408176"/>
            <a:ext cx="949330" cy="795528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there</a:t>
            </a:r>
            <a:endParaRPr lang="en-US" sz="1200" dirty="0"/>
          </a:p>
        </p:txBody>
      </p:sp>
      <p:sp>
        <p:nvSpPr>
          <p:cNvPr id="18" name="box_145"/>
          <p:cNvSpPr txBox="1"/>
          <p:nvPr/>
        </p:nvSpPr>
        <p:spPr>
          <a:xfrm>
            <a:off x="2788920" y="2368296"/>
            <a:ext cx="1949318" cy="868680"/>
          </a:xfrm>
          <a:prstGeom prst="rect">
            <a:avLst/>
          </a:prstGeom>
          <a:solidFill>
            <a:srgbClr val="FEF9C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___ three chefs in today.</a:t>
            </a:r>
            <a:endParaRPr lang="en-US" sz="1350" dirty="0"/>
          </a:p>
        </p:txBody>
      </p:sp>
      <p:sp>
        <p:nvSpPr>
          <p:cNvPr id="19" name="R1_a2"/>
          <p:cNvSpPr txBox="1"/>
          <p:nvPr/>
        </p:nvSpPr>
        <p:spPr>
          <a:xfrm>
            <a:off x="4793102" y="2404872"/>
            <a:ext cx="949330" cy="795528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are</a:t>
            </a:r>
            <a:endParaRPr lang="en-US" sz="1200" dirty="0"/>
          </a:p>
        </p:txBody>
      </p:sp>
      <p:sp>
        <p:nvSpPr>
          <p:cNvPr id="20" name="box_146"/>
          <p:cNvSpPr txBox="1"/>
          <p:nvPr/>
        </p:nvSpPr>
        <p:spPr>
          <a:xfrm>
            <a:off x="5870448" y="2368296"/>
            <a:ext cx="1949318" cy="868680"/>
          </a:xfrm>
          <a:prstGeom prst="rect">
            <a:avLst/>
          </a:prstGeom>
          <a:solidFill>
            <a:srgbClr val="DCFCE7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___ a sieve in the drawer?</a:t>
            </a:r>
            <a:endParaRPr lang="en-US" sz="1350" dirty="0"/>
          </a:p>
        </p:txBody>
      </p:sp>
      <p:sp>
        <p:nvSpPr>
          <p:cNvPr id="21" name="R1_a3"/>
          <p:cNvSpPr txBox="1"/>
          <p:nvPr/>
        </p:nvSpPr>
        <p:spPr>
          <a:xfrm>
            <a:off x="7874630" y="2404872"/>
            <a:ext cx="949330" cy="795528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there</a:t>
            </a:r>
            <a:endParaRPr lang="en-US" sz="1200" dirty="0"/>
          </a:p>
        </p:txBody>
      </p:sp>
      <p:sp>
        <p:nvSpPr>
          <p:cNvPr id="22" name="box_147"/>
          <p:cNvSpPr txBox="1"/>
          <p:nvPr/>
        </p:nvSpPr>
        <p:spPr>
          <a:xfrm>
            <a:off x="2788920" y="3364992"/>
            <a:ext cx="1949318" cy="868680"/>
          </a:xfrm>
          <a:prstGeom prst="rect">
            <a:avLst/>
          </a:prstGeom>
          <a:solidFill>
            <a:srgbClr val="EDE9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___ no salt! Who used it?</a:t>
            </a:r>
            <a:endParaRPr lang="en-US" sz="1350" dirty="0"/>
          </a:p>
        </p:txBody>
      </p:sp>
      <p:sp>
        <p:nvSpPr>
          <p:cNvPr id="23" name="R1_a4"/>
          <p:cNvSpPr txBox="1"/>
          <p:nvPr/>
        </p:nvSpPr>
        <p:spPr>
          <a:xfrm>
            <a:off x="4793102" y="3401568"/>
            <a:ext cx="949330" cy="795528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There's</a:t>
            </a:r>
            <a:endParaRPr lang="en-US" sz="1200" dirty="0"/>
          </a:p>
        </p:txBody>
      </p:sp>
      <p:sp>
        <p:nvSpPr>
          <p:cNvPr id="24" name="box_148"/>
          <p:cNvSpPr txBox="1"/>
          <p:nvPr/>
        </p:nvSpPr>
        <p:spPr>
          <a:xfrm>
            <a:off x="5870448" y="3364992"/>
            <a:ext cx="1949318" cy="868680"/>
          </a:xfrm>
          <a:prstGeom prst="rect">
            <a:avLst/>
          </a:prstGeom>
          <a:solidFill>
            <a:srgbClr val="FFEDD5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How many knives ___?</a:t>
            </a:r>
            <a:endParaRPr lang="en-US" sz="1350" dirty="0"/>
          </a:p>
        </p:txBody>
      </p:sp>
      <p:sp>
        <p:nvSpPr>
          <p:cNvPr id="25" name="R1_a5"/>
          <p:cNvSpPr txBox="1"/>
          <p:nvPr/>
        </p:nvSpPr>
        <p:spPr>
          <a:xfrm>
            <a:off x="7874630" y="3401568"/>
            <a:ext cx="949330" cy="795528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there</a:t>
            </a:r>
            <a:endParaRPr lang="en-US" sz="12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velFrame_149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C9B3F0"/>
            </a:solidFill>
            <a:prstDash val="solid"/>
          </a:ln>
        </p:spPr>
      </p:sp>
      <p:pic>
        <p:nvPicPr>
          <p:cNvPr id="4" name="logo_150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5" name="objective_151"/>
          <p:cNvSpPr txBox="1"/>
          <p:nvPr/>
        </p:nvSpPr>
        <p:spPr>
          <a:xfrm>
            <a:off x="320040" y="182880"/>
            <a:ext cx="475488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READING · A message</a:t>
            </a:r>
            <a:endParaRPr lang="en-US" sz="900" dirty="0"/>
          </a:p>
        </p:txBody>
      </p:sp>
      <p:sp>
        <p:nvSpPr>
          <p:cNvPr id="6" name="timer_152"/>
          <p:cNvSpPr txBox="1"/>
          <p:nvPr/>
        </p:nvSpPr>
        <p:spPr>
          <a:xfrm>
            <a:off x="7086600" y="219456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25400">
            <a:solidFill>
              <a:srgbClr val="6D3F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6 min</a:t>
            </a:r>
            <a:endParaRPr lang="en-US" sz="1200" dirty="0"/>
          </a:p>
        </p:txBody>
      </p:sp>
      <p:sp>
        <p:nvSpPr>
          <p:cNvPr id="7" name="footer_153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Kitchen English · L2</a:t>
            </a:r>
            <a:endParaRPr lang="en-US" sz="1000" dirty="0"/>
          </a:p>
        </p:txBody>
      </p:sp>
      <p:sp>
        <p:nvSpPr>
          <p:cNvPr id="8" name="title_154"/>
          <p:cNvSpPr txBox="1"/>
          <p:nvPr/>
        </p:nvSpPr>
        <p:spPr>
          <a:xfrm rot="90000">
            <a:off x="320040" y="676656"/>
            <a:ext cx="3108960" cy="530352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Our new kitchen</a:t>
            </a:r>
            <a:endParaRPr lang="en-US" sz="1500" dirty="0"/>
          </a:p>
        </p:txBody>
      </p:sp>
      <p:sp>
        <p:nvSpPr>
          <p:cNvPr id="9" name="tape_155"/>
          <p:cNvSpPr/>
          <p:nvPr/>
        </p:nvSpPr>
        <p:spPr>
          <a:xfrm rot="-720000">
            <a:off x="210312" y="585216"/>
            <a:ext cx="685800" cy="219456"/>
          </a:xfrm>
          <a:prstGeom prst="rect">
            <a:avLst/>
          </a:prstGeom>
          <a:solidFill>
            <a:srgbClr val="C9B3F0">
              <a:alpha val="80000"/>
            </a:srgbClr>
          </a:solidFill>
          <a:ln w="6350">
            <a:solidFill>
              <a:srgbClr val="C9B3F0"/>
            </a:solidFill>
            <a:prstDash val="solid"/>
          </a:ln>
        </p:spPr>
      </p:sp>
      <p:sp>
        <p:nvSpPr>
          <p:cNvPr id="10" name="tape_156"/>
          <p:cNvSpPr/>
          <p:nvPr/>
        </p:nvSpPr>
        <p:spPr>
          <a:xfrm rot="-720000">
            <a:off x="2862072" y="1069848"/>
            <a:ext cx="685800" cy="219456"/>
          </a:xfrm>
          <a:prstGeom prst="rect">
            <a:avLst/>
          </a:prstGeom>
          <a:solidFill>
            <a:srgbClr val="C9B3F0">
              <a:alpha val="80000"/>
            </a:srgbClr>
          </a:solidFill>
          <a:ln w="6350">
            <a:solidFill>
              <a:srgbClr val="C9B3F0"/>
            </a:solidFill>
            <a:prstDash val="solid"/>
          </a:ln>
        </p:spPr>
      </p:sp>
      <p:sp>
        <p:nvSpPr>
          <p:cNvPr id="11" name="rsign_157"/>
          <p:cNvSpPr txBox="1"/>
          <p:nvPr/>
        </p:nvSpPr>
        <p:spPr>
          <a:xfrm>
            <a:off x="320040" y="1298448"/>
            <a:ext cx="8503920" cy="384048"/>
          </a:xfrm>
          <a:prstGeom prst="rect">
            <a:avLst/>
          </a:prstGeom>
          <a:solidFill>
            <a:srgbClr val="48BDF2"/>
          </a:solidFill>
          <a:ln w="190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READ! LEGGI! 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Chef Marco's message. True or false?  </a:t>
            </a:r>
            <a:pPr indent="0" marL="0">
              <a:buNone/>
            </a:pPr>
            <a:r>
              <a:rPr lang="en-US" sz="95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Leggi il messaggio. Vero o falso?</a:t>
            </a:r>
            <a:endParaRPr lang="en-US" sz="1000" dirty="0"/>
          </a:p>
        </p:txBody>
      </p:sp>
      <p:sp>
        <p:nvSpPr>
          <p:cNvPr id="12" name="rtext_158"/>
          <p:cNvSpPr txBox="1"/>
          <p:nvPr/>
        </p:nvSpPr>
        <p:spPr>
          <a:xfrm rot="-30000">
            <a:off x="320040" y="1810512"/>
            <a:ext cx="4343400" cy="2880360"/>
          </a:xfrm>
          <a:prstGeom prst="rect">
            <a:avLst/>
          </a:prstGeom>
          <a:solidFill>
            <a:srgbClr val="FFFDF5"/>
          </a:solidFill>
          <a:ln w="190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14300" tIns="114300" rIns="114300" bIns="11430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From: Chef Marco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 team! Welcome to our new kitchen. There are two big ovens next to the back door, and there's a new hob between them. The fridges are on the left. There isn't a dishwasher yet – it arrives on Friday, sorry KP! The pans are under the table and the knives are on the wall above the sink. Please keep it clean. See you at 8 tomorrow! Marco</a:t>
            </a:r>
            <a:endParaRPr lang="en-US" sz="1300" dirty="0"/>
          </a:p>
        </p:txBody>
      </p:sp>
      <p:sp>
        <p:nvSpPr>
          <p:cNvPr id="13" name="box_159"/>
          <p:cNvSpPr txBox="1"/>
          <p:nvPr/>
        </p:nvSpPr>
        <p:spPr>
          <a:xfrm>
            <a:off x="4828032" y="1810512"/>
            <a:ext cx="2317638" cy="517550"/>
          </a:xfrm>
          <a:prstGeom prst="rect">
            <a:avLst/>
          </a:prstGeom>
          <a:solidFill>
            <a:srgbClr val="E0F2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There are two ovens.</a:t>
            </a:r>
            <a:endParaRPr lang="en-US" sz="1150" dirty="0"/>
          </a:p>
        </p:txBody>
      </p:sp>
      <p:sp>
        <p:nvSpPr>
          <p:cNvPr id="14" name="R1_ra0"/>
          <p:cNvSpPr txBox="1"/>
          <p:nvPr/>
        </p:nvSpPr>
        <p:spPr>
          <a:xfrm>
            <a:off x="7191390" y="1837944"/>
            <a:ext cx="1632570" cy="462686"/>
          </a:xfrm>
          <a:prstGeom prst="roundRect">
            <a:avLst>
              <a:gd name="adj" fmla="val 11858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</a:t>
            </a:r>
            <a:endParaRPr lang="en-US" sz="1050" dirty="0"/>
          </a:p>
        </p:txBody>
      </p:sp>
      <p:sp>
        <p:nvSpPr>
          <p:cNvPr id="15" name="box_160"/>
          <p:cNvSpPr txBox="1"/>
          <p:nvPr/>
        </p:nvSpPr>
        <p:spPr>
          <a:xfrm>
            <a:off x="4828032" y="2401214"/>
            <a:ext cx="2317638" cy="517550"/>
          </a:xfrm>
          <a:prstGeom prst="rect">
            <a:avLst/>
          </a:prstGeom>
          <a:solidFill>
            <a:srgbClr val="FCE7F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The hob is next to the fridges.</a:t>
            </a:r>
            <a:endParaRPr lang="en-US" sz="1150" dirty="0"/>
          </a:p>
        </p:txBody>
      </p:sp>
      <p:sp>
        <p:nvSpPr>
          <p:cNvPr id="16" name="R1_ra1"/>
          <p:cNvSpPr txBox="1"/>
          <p:nvPr/>
        </p:nvSpPr>
        <p:spPr>
          <a:xfrm>
            <a:off x="7191390" y="2428646"/>
            <a:ext cx="1632570" cy="462686"/>
          </a:xfrm>
          <a:prstGeom prst="roundRect">
            <a:avLst>
              <a:gd name="adj" fmla="val 11858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– between the ovens</a:t>
            </a:r>
            <a:endParaRPr lang="en-US" sz="1050" dirty="0"/>
          </a:p>
        </p:txBody>
      </p:sp>
      <p:sp>
        <p:nvSpPr>
          <p:cNvPr id="17" name="box_161"/>
          <p:cNvSpPr txBox="1"/>
          <p:nvPr/>
        </p:nvSpPr>
        <p:spPr>
          <a:xfrm>
            <a:off x="4828032" y="2991917"/>
            <a:ext cx="2317638" cy="517550"/>
          </a:xfrm>
          <a:prstGeom prst="rect">
            <a:avLst/>
          </a:prstGeom>
          <a:solidFill>
            <a:srgbClr val="FEF9C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There's a dishwasher.</a:t>
            </a:r>
            <a:endParaRPr lang="en-US" sz="1150" dirty="0"/>
          </a:p>
        </p:txBody>
      </p:sp>
      <p:sp>
        <p:nvSpPr>
          <p:cNvPr id="18" name="R1_ra2"/>
          <p:cNvSpPr txBox="1"/>
          <p:nvPr/>
        </p:nvSpPr>
        <p:spPr>
          <a:xfrm>
            <a:off x="7191390" y="3019349"/>
            <a:ext cx="1632570" cy="462686"/>
          </a:xfrm>
          <a:prstGeom prst="roundRect">
            <a:avLst>
              <a:gd name="adj" fmla="val 11858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– it arrives Friday</a:t>
            </a:r>
            <a:endParaRPr lang="en-US" sz="1050" dirty="0"/>
          </a:p>
        </p:txBody>
      </p:sp>
      <p:sp>
        <p:nvSpPr>
          <p:cNvPr id="19" name="box_162"/>
          <p:cNvSpPr txBox="1"/>
          <p:nvPr/>
        </p:nvSpPr>
        <p:spPr>
          <a:xfrm>
            <a:off x="4828032" y="3582619"/>
            <a:ext cx="2317638" cy="517550"/>
          </a:xfrm>
          <a:prstGeom prst="rect">
            <a:avLst/>
          </a:prstGeom>
          <a:solidFill>
            <a:srgbClr val="DCFCE7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The knives are above the sink.</a:t>
            </a:r>
            <a:endParaRPr lang="en-US" sz="1150" dirty="0"/>
          </a:p>
        </p:txBody>
      </p:sp>
      <p:sp>
        <p:nvSpPr>
          <p:cNvPr id="20" name="R1_ra3"/>
          <p:cNvSpPr txBox="1"/>
          <p:nvPr/>
        </p:nvSpPr>
        <p:spPr>
          <a:xfrm>
            <a:off x="7191390" y="3610051"/>
            <a:ext cx="1632570" cy="462686"/>
          </a:xfrm>
          <a:prstGeom prst="roundRect">
            <a:avLst>
              <a:gd name="adj" fmla="val 11858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</a:t>
            </a:r>
            <a:endParaRPr lang="en-US" sz="1050" dirty="0"/>
          </a:p>
        </p:txBody>
      </p:sp>
      <p:sp>
        <p:nvSpPr>
          <p:cNvPr id="21" name="box_163"/>
          <p:cNvSpPr txBox="1"/>
          <p:nvPr/>
        </p:nvSpPr>
        <p:spPr>
          <a:xfrm>
            <a:off x="4828032" y="4173322"/>
            <a:ext cx="2317638" cy="517550"/>
          </a:xfrm>
          <a:prstGeom prst="rect">
            <a:avLst/>
          </a:prstGeom>
          <a:solidFill>
            <a:srgbClr val="EDE9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The team starts at 9.</a:t>
            </a:r>
            <a:endParaRPr lang="en-US" sz="1150" dirty="0"/>
          </a:p>
        </p:txBody>
      </p:sp>
      <p:sp>
        <p:nvSpPr>
          <p:cNvPr id="22" name="R1_ra4"/>
          <p:cNvSpPr txBox="1"/>
          <p:nvPr/>
        </p:nvSpPr>
        <p:spPr>
          <a:xfrm>
            <a:off x="7191390" y="4200754"/>
            <a:ext cx="1632570" cy="462686"/>
          </a:xfrm>
          <a:prstGeom prst="roundRect">
            <a:avLst>
              <a:gd name="adj" fmla="val 11858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– at 8</a:t>
            </a:r>
            <a:endParaRPr lang="en-US" sz="10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velFrame_164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C9B3F0"/>
            </a:solidFill>
            <a:prstDash val="solid"/>
          </a:ln>
        </p:spPr>
      </p:sp>
      <p:pic>
        <p:nvPicPr>
          <p:cNvPr id="4" name="logo_165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5" name="objective_166"/>
          <p:cNvSpPr txBox="1"/>
          <p:nvPr/>
        </p:nvSpPr>
        <p:spPr>
          <a:xfrm>
            <a:off x="320040" y="182880"/>
            <a:ext cx="475488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SPEAKING · Information gap</a:t>
            </a:r>
            <a:endParaRPr lang="en-US" sz="900" dirty="0"/>
          </a:p>
        </p:txBody>
      </p:sp>
      <p:sp>
        <p:nvSpPr>
          <p:cNvPr id="6" name="timer_167"/>
          <p:cNvSpPr txBox="1"/>
          <p:nvPr/>
        </p:nvSpPr>
        <p:spPr>
          <a:xfrm>
            <a:off x="7086600" y="219456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25400">
            <a:solidFill>
              <a:srgbClr val="6D3F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10 min</a:t>
            </a:r>
            <a:endParaRPr lang="en-US" sz="1200" dirty="0"/>
          </a:p>
        </p:txBody>
      </p:sp>
      <p:sp>
        <p:nvSpPr>
          <p:cNvPr id="7" name="footer_168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Kitchen English · L2</a:t>
            </a:r>
            <a:endParaRPr lang="en-US" sz="1000" dirty="0"/>
          </a:p>
        </p:txBody>
      </p:sp>
      <p:sp>
        <p:nvSpPr>
          <p:cNvPr id="8" name="title_169"/>
          <p:cNvSpPr txBox="1"/>
          <p:nvPr/>
        </p:nvSpPr>
        <p:spPr>
          <a:xfrm rot="90000">
            <a:off x="320040" y="676656"/>
            <a:ext cx="4846320" cy="530352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Describe it, I'll draw it</a:t>
            </a:r>
            <a:endParaRPr lang="en-US" sz="1500" dirty="0"/>
          </a:p>
        </p:txBody>
      </p:sp>
      <p:sp>
        <p:nvSpPr>
          <p:cNvPr id="9" name="tape_170"/>
          <p:cNvSpPr/>
          <p:nvPr/>
        </p:nvSpPr>
        <p:spPr>
          <a:xfrm rot="-720000">
            <a:off x="210312" y="585216"/>
            <a:ext cx="685800" cy="219456"/>
          </a:xfrm>
          <a:prstGeom prst="rect">
            <a:avLst/>
          </a:prstGeom>
          <a:solidFill>
            <a:srgbClr val="C9B3F0">
              <a:alpha val="80000"/>
            </a:srgbClr>
          </a:solidFill>
          <a:ln w="6350">
            <a:solidFill>
              <a:srgbClr val="C9B3F0"/>
            </a:solidFill>
            <a:prstDash val="solid"/>
          </a:ln>
        </p:spPr>
      </p:sp>
      <p:sp>
        <p:nvSpPr>
          <p:cNvPr id="10" name="tape_171"/>
          <p:cNvSpPr/>
          <p:nvPr/>
        </p:nvSpPr>
        <p:spPr>
          <a:xfrm rot="-720000">
            <a:off x="4599432" y="1069848"/>
            <a:ext cx="685800" cy="219456"/>
          </a:xfrm>
          <a:prstGeom prst="rect">
            <a:avLst/>
          </a:prstGeom>
          <a:solidFill>
            <a:srgbClr val="C9B3F0">
              <a:alpha val="80000"/>
            </a:srgbClr>
          </a:solidFill>
          <a:ln w="6350">
            <a:solidFill>
              <a:srgbClr val="C9B3F0"/>
            </a:solidFill>
            <a:prstDash val="solid"/>
          </a:ln>
        </p:spPr>
      </p:sp>
      <p:sp>
        <p:nvSpPr>
          <p:cNvPr id="11" name="post_172"/>
          <p:cNvSpPr/>
          <p:nvPr/>
        </p:nvSpPr>
        <p:spPr>
          <a:xfrm>
            <a:off x="429768" y="1554480"/>
            <a:ext cx="128016" cy="2194560"/>
          </a:xfrm>
          <a:prstGeom prst="rect">
            <a:avLst/>
          </a:prstGeom>
          <a:solidFill>
            <a:srgbClr val="8B5A2B"/>
          </a:solidFill>
          <a:ln w="31750">
            <a:solidFill>
              <a:srgbClr val="111111"/>
            </a:solidFill>
            <a:prstDash val="solid"/>
          </a:ln>
        </p:spPr>
      </p:sp>
      <p:sp>
        <p:nvSpPr>
          <p:cNvPr id="12" name="signA_173"/>
          <p:cNvSpPr txBox="1"/>
          <p:nvPr/>
        </p:nvSpPr>
        <p:spPr>
          <a:xfrm rot="-180000">
            <a:off x="320040" y="1371600"/>
            <a:ext cx="2240280" cy="457200"/>
          </a:xfrm>
          <a:prstGeom prst="homePlate">
            <a:avLst/>
          </a:prstGeom>
          <a:solidFill>
            <a:srgbClr val="EF2F2F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SPEAK!</a:t>
            </a:r>
            <a:pPr indent="0" marL="0">
              <a:buNone/>
            </a:pPr>
            <a:r>
              <a:rPr lang="en-US" sz="1000" dirty="0">
                <a:solidFill>
                  <a:srgbClr val="FFF3B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PARLA!</a:t>
            </a:r>
            <a:endParaRPr lang="en-US" sz="1500" dirty="0"/>
          </a:p>
        </p:txBody>
      </p:sp>
      <p:sp>
        <p:nvSpPr>
          <p:cNvPr id="13" name="signB_174"/>
          <p:cNvSpPr txBox="1"/>
          <p:nvPr/>
        </p:nvSpPr>
        <p:spPr>
          <a:xfrm rot="120000">
            <a:off x="365760" y="1938528"/>
            <a:ext cx="2240280" cy="105156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your kitchen at work. Your partner draws it.</a:t>
            </a:r>
            <a:endParaRPr lang="en-US" sz="1250" dirty="0"/>
          </a:p>
          <a:p>
            <a:pPr indent="0" marL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Descrivi la tua cucina. Il collega la disegna.</a:t>
            </a:r>
            <a:endParaRPr lang="en-US" sz="1250" dirty="0"/>
          </a:p>
        </p:txBody>
      </p:sp>
      <p:sp>
        <p:nvSpPr>
          <p:cNvPr id="14" name="iconBack_175"/>
          <p:cNvSpPr/>
          <p:nvPr/>
        </p:nvSpPr>
        <p:spPr>
          <a:xfrm>
            <a:off x="685800" y="3246120"/>
            <a:ext cx="1143000" cy="114300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pic>
        <p:nvPicPr>
          <p:cNvPr id="15" name="icon_176" descr="pencil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474720"/>
            <a:ext cx="685800" cy="685800"/>
          </a:xfrm>
          <a:prstGeom prst="rect">
            <a:avLst/>
          </a:prstGeom>
        </p:spPr>
      </p:pic>
      <p:sp>
        <p:nvSpPr>
          <p:cNvPr id="16" name="num_177"/>
          <p:cNvSpPr txBox="1"/>
          <p:nvPr/>
        </p:nvSpPr>
        <p:spPr>
          <a:xfrm>
            <a:off x="2788920" y="1482471"/>
            <a:ext cx="384048" cy="384048"/>
          </a:xfrm>
          <a:prstGeom prst="ellipse">
            <a:avLst/>
          </a:prstGeom>
          <a:solidFill>
            <a:srgbClr val="EF2F2F"/>
          </a:solidFill>
          <a:ln w="19050">
            <a:solidFill>
              <a:srgbClr val="1111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300" dirty="0"/>
          </a:p>
        </p:txBody>
      </p:sp>
      <p:sp>
        <p:nvSpPr>
          <p:cNvPr id="17" name="box_178"/>
          <p:cNvSpPr txBox="1"/>
          <p:nvPr/>
        </p:nvSpPr>
        <p:spPr>
          <a:xfrm>
            <a:off x="3264408" y="1371600"/>
            <a:ext cx="5559552" cy="605790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Chef A describes his / her kitchen at work. Chef B draws it – no looking!</a:t>
            </a:r>
            <a:endParaRPr lang="en-US" sz="1300" dirty="0"/>
          </a:p>
        </p:txBody>
      </p:sp>
      <p:sp>
        <p:nvSpPr>
          <p:cNvPr id="18" name="num_179"/>
          <p:cNvSpPr txBox="1"/>
          <p:nvPr/>
        </p:nvSpPr>
        <p:spPr>
          <a:xfrm>
            <a:off x="2788920" y="2179701"/>
            <a:ext cx="384048" cy="384048"/>
          </a:xfrm>
          <a:prstGeom prst="ellipse">
            <a:avLst/>
          </a:prstGeom>
          <a:solidFill>
            <a:srgbClr val="48BDF2"/>
          </a:solidFill>
          <a:ln w="19050">
            <a:solidFill>
              <a:srgbClr val="1111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300" dirty="0"/>
          </a:p>
        </p:txBody>
      </p:sp>
      <p:sp>
        <p:nvSpPr>
          <p:cNvPr id="19" name="box_180"/>
          <p:cNvSpPr txBox="1"/>
          <p:nvPr/>
        </p:nvSpPr>
        <p:spPr>
          <a:xfrm>
            <a:off x="3264408" y="2068830"/>
            <a:ext cx="5559552" cy="605790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Use: There's a… next to the… / There are two… under the…</a:t>
            </a:r>
            <a:endParaRPr lang="en-US" sz="1300" dirty="0"/>
          </a:p>
        </p:txBody>
      </p:sp>
      <p:sp>
        <p:nvSpPr>
          <p:cNvPr id="20" name="num_181"/>
          <p:cNvSpPr txBox="1"/>
          <p:nvPr/>
        </p:nvSpPr>
        <p:spPr>
          <a:xfrm>
            <a:off x="2788920" y="2876931"/>
            <a:ext cx="384048" cy="384048"/>
          </a:xfrm>
          <a:prstGeom prst="ellipse">
            <a:avLst/>
          </a:prstGeom>
          <a:solidFill>
            <a:srgbClr val="1FA463"/>
          </a:solidFill>
          <a:ln w="19050">
            <a:solidFill>
              <a:srgbClr val="1111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box_182"/>
          <p:cNvSpPr txBox="1"/>
          <p:nvPr/>
        </p:nvSpPr>
        <p:spPr>
          <a:xfrm>
            <a:off x="3264408" y="2766060"/>
            <a:ext cx="5559552" cy="605790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asks questions: Is there a…? Where's the…? Are there any…?</a:t>
            </a:r>
            <a:endParaRPr lang="en-US" sz="1300" dirty="0"/>
          </a:p>
        </p:txBody>
      </p:sp>
      <p:sp>
        <p:nvSpPr>
          <p:cNvPr id="22" name="num_183"/>
          <p:cNvSpPr txBox="1"/>
          <p:nvPr/>
        </p:nvSpPr>
        <p:spPr>
          <a:xfrm>
            <a:off x="2788920" y="3574161"/>
            <a:ext cx="384048" cy="384048"/>
          </a:xfrm>
          <a:prstGeom prst="ellipse">
            <a:avLst/>
          </a:prstGeom>
          <a:solidFill>
            <a:srgbClr val="F59E0B"/>
          </a:solidFill>
          <a:ln w="19050">
            <a:solidFill>
              <a:srgbClr val="1111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box_184"/>
          <p:cNvSpPr txBox="1"/>
          <p:nvPr/>
        </p:nvSpPr>
        <p:spPr>
          <a:xfrm>
            <a:off x="3264408" y="3463290"/>
            <a:ext cx="5559552" cy="605790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the drawing with the real kitchen. Then swap.</a:t>
            </a:r>
            <a:endParaRPr lang="en-US" sz="1300" dirty="0"/>
          </a:p>
        </p:txBody>
      </p:sp>
      <p:sp>
        <p:nvSpPr>
          <p:cNvPr id="24" name="bubble_185"/>
          <p:cNvSpPr txBox="1"/>
          <p:nvPr/>
        </p:nvSpPr>
        <p:spPr>
          <a:xfrm>
            <a:off x="3246120" y="4160520"/>
            <a:ext cx="5577840" cy="502920"/>
          </a:xfrm>
          <a:prstGeom prst="roundRect">
            <a:avLst/>
          </a:prstGeom>
          <a:solidFill>
            <a:srgbClr val="FFD84D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250" b="1" i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There's a big fridge on the left, next to the door. The hob is between…</a:t>
            </a:r>
            <a:endParaRPr lang="en-US" sz="1250" dirty="0"/>
          </a:p>
        </p:txBody>
      </p:sp>
    </p:spTree>
  </p:cSld>
  <p:clrMapOvr>
    <a:masterClrMapping/>
  </p:clrMapOvr>
  <p:transition spd="med">
    <p:push dir="l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velFrame_186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C9B3F0"/>
            </a:solidFill>
            <a:prstDash val="solid"/>
          </a:ln>
        </p:spPr>
      </p:sp>
      <p:pic>
        <p:nvPicPr>
          <p:cNvPr id="4" name="logo_187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5" name="objective_188"/>
          <p:cNvSpPr txBox="1"/>
          <p:nvPr/>
        </p:nvSpPr>
        <p:spPr>
          <a:xfrm>
            <a:off x="320040" y="182880"/>
            <a:ext cx="475488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GAME · equipment + prepositions</a:t>
            </a:r>
            <a:endParaRPr lang="en-US" sz="900" dirty="0"/>
          </a:p>
        </p:txBody>
      </p:sp>
      <p:sp>
        <p:nvSpPr>
          <p:cNvPr id="6" name="timer_189"/>
          <p:cNvSpPr txBox="1"/>
          <p:nvPr/>
        </p:nvSpPr>
        <p:spPr>
          <a:xfrm>
            <a:off x="7086600" y="219456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25400">
            <a:solidFill>
              <a:srgbClr val="6D3F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8 min</a:t>
            </a:r>
            <a:endParaRPr lang="en-US" sz="1200" dirty="0"/>
          </a:p>
        </p:txBody>
      </p:sp>
      <p:sp>
        <p:nvSpPr>
          <p:cNvPr id="7" name="footer_190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Kitchen English · L2</a:t>
            </a:r>
            <a:endParaRPr lang="en-US" sz="1000" dirty="0"/>
          </a:p>
        </p:txBody>
      </p:sp>
      <p:sp>
        <p:nvSpPr>
          <p:cNvPr id="8" name="title_191"/>
          <p:cNvSpPr txBox="1"/>
          <p:nvPr/>
        </p:nvSpPr>
        <p:spPr>
          <a:xfrm rot="90000">
            <a:off x="320040" y="676656"/>
            <a:ext cx="3803904" cy="530352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Pass me the…, Chef!</a:t>
            </a:r>
            <a:endParaRPr lang="en-US" sz="1500" dirty="0"/>
          </a:p>
        </p:txBody>
      </p:sp>
      <p:sp>
        <p:nvSpPr>
          <p:cNvPr id="9" name="tape_192"/>
          <p:cNvSpPr/>
          <p:nvPr/>
        </p:nvSpPr>
        <p:spPr>
          <a:xfrm rot="-720000">
            <a:off x="210312" y="585216"/>
            <a:ext cx="685800" cy="219456"/>
          </a:xfrm>
          <a:prstGeom prst="rect">
            <a:avLst/>
          </a:prstGeom>
          <a:solidFill>
            <a:srgbClr val="C9B3F0">
              <a:alpha val="80000"/>
            </a:srgbClr>
          </a:solidFill>
          <a:ln w="6350">
            <a:solidFill>
              <a:srgbClr val="C9B3F0"/>
            </a:solidFill>
            <a:prstDash val="solid"/>
          </a:ln>
        </p:spPr>
      </p:sp>
      <p:sp>
        <p:nvSpPr>
          <p:cNvPr id="10" name="tape_193"/>
          <p:cNvSpPr/>
          <p:nvPr/>
        </p:nvSpPr>
        <p:spPr>
          <a:xfrm rot="-720000">
            <a:off x="3557016" y="1069848"/>
            <a:ext cx="685800" cy="219456"/>
          </a:xfrm>
          <a:prstGeom prst="rect">
            <a:avLst/>
          </a:prstGeom>
          <a:solidFill>
            <a:srgbClr val="C9B3F0">
              <a:alpha val="80000"/>
            </a:srgbClr>
          </a:solidFill>
          <a:ln w="6350">
            <a:solidFill>
              <a:srgbClr val="C9B3F0"/>
            </a:solidFill>
            <a:prstDash val="solid"/>
          </a:ln>
        </p:spPr>
      </p:sp>
      <p:sp>
        <p:nvSpPr>
          <p:cNvPr id="11" name="post_194"/>
          <p:cNvSpPr/>
          <p:nvPr/>
        </p:nvSpPr>
        <p:spPr>
          <a:xfrm>
            <a:off x="429768" y="1554480"/>
            <a:ext cx="128016" cy="2194560"/>
          </a:xfrm>
          <a:prstGeom prst="rect">
            <a:avLst/>
          </a:prstGeom>
          <a:solidFill>
            <a:srgbClr val="8B5A2B"/>
          </a:solidFill>
          <a:ln w="31750">
            <a:solidFill>
              <a:srgbClr val="111111"/>
            </a:solidFill>
            <a:prstDash val="solid"/>
          </a:ln>
        </p:spPr>
      </p:sp>
      <p:sp>
        <p:nvSpPr>
          <p:cNvPr id="12" name="signA_195"/>
          <p:cNvSpPr txBox="1"/>
          <p:nvPr/>
        </p:nvSpPr>
        <p:spPr>
          <a:xfrm rot="-180000">
            <a:off x="320040" y="1371600"/>
            <a:ext cx="2240280" cy="457200"/>
          </a:xfrm>
          <a:prstGeom prst="homePlate">
            <a:avLst/>
          </a:prstGeom>
          <a:solidFill>
            <a:srgbClr val="1FA463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PLAY!</a:t>
            </a:r>
            <a:pPr indent="0" marL="0">
              <a:buNone/>
            </a:pPr>
            <a:r>
              <a:rPr lang="en-US" sz="1000" dirty="0">
                <a:solidFill>
                  <a:srgbClr val="FFF3B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GIOCA!</a:t>
            </a:r>
            <a:endParaRPr lang="en-US" sz="1500" dirty="0"/>
          </a:p>
        </p:txBody>
      </p:sp>
      <p:sp>
        <p:nvSpPr>
          <p:cNvPr id="13" name="signB_196"/>
          <p:cNvSpPr txBox="1"/>
          <p:nvPr/>
        </p:nvSpPr>
        <p:spPr>
          <a:xfrm rot="120000">
            <a:off x="365760" y="1938528"/>
            <a:ext cx="2240280" cy="105156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for it – your partner points to it fast!</a:t>
            </a:r>
            <a:endParaRPr lang="en-US" sz="1250" dirty="0"/>
          </a:p>
          <a:p>
            <a:pPr indent="0" marL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Chiedi l'oggetto – il collega lo indica veloce!</a:t>
            </a:r>
            <a:endParaRPr lang="en-US" sz="1250" dirty="0"/>
          </a:p>
        </p:txBody>
      </p:sp>
      <p:sp>
        <p:nvSpPr>
          <p:cNvPr id="14" name="iconBack_197"/>
          <p:cNvSpPr/>
          <p:nvPr/>
        </p:nvSpPr>
        <p:spPr>
          <a:xfrm>
            <a:off x="685800" y="3246120"/>
            <a:ext cx="1143000" cy="114300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pic>
        <p:nvPicPr>
          <p:cNvPr id="15" name="icon_198" descr="ladl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474720"/>
            <a:ext cx="685800" cy="685800"/>
          </a:xfrm>
          <a:prstGeom prst="rect">
            <a:avLst/>
          </a:prstGeom>
        </p:spPr>
      </p:pic>
      <p:sp>
        <p:nvSpPr>
          <p:cNvPr id="16" name="num_199"/>
          <p:cNvSpPr txBox="1"/>
          <p:nvPr/>
        </p:nvSpPr>
        <p:spPr>
          <a:xfrm>
            <a:off x="2788920" y="1490472"/>
            <a:ext cx="384048" cy="384048"/>
          </a:xfrm>
          <a:prstGeom prst="ellipse">
            <a:avLst/>
          </a:prstGeom>
          <a:solidFill>
            <a:srgbClr val="EF2F2F"/>
          </a:solidFill>
          <a:ln w="19050">
            <a:solidFill>
              <a:srgbClr val="1111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300" dirty="0"/>
          </a:p>
        </p:txBody>
      </p:sp>
      <p:sp>
        <p:nvSpPr>
          <p:cNvPr id="17" name="box_200"/>
          <p:cNvSpPr txBox="1"/>
          <p:nvPr/>
        </p:nvSpPr>
        <p:spPr>
          <a:xfrm>
            <a:off x="3264408" y="1371600"/>
            <a:ext cx="5559552" cy="621792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the equipment (real things or pictures) on the table.</a:t>
            </a:r>
            <a:endParaRPr lang="en-US" sz="1300" dirty="0"/>
          </a:p>
        </p:txBody>
      </p:sp>
      <p:sp>
        <p:nvSpPr>
          <p:cNvPr id="18" name="num_201"/>
          <p:cNvSpPr txBox="1"/>
          <p:nvPr/>
        </p:nvSpPr>
        <p:spPr>
          <a:xfrm>
            <a:off x="2788920" y="2203704"/>
            <a:ext cx="384048" cy="384048"/>
          </a:xfrm>
          <a:prstGeom prst="ellipse">
            <a:avLst/>
          </a:prstGeom>
          <a:solidFill>
            <a:srgbClr val="48BDF2"/>
          </a:solidFill>
          <a:ln w="19050">
            <a:solidFill>
              <a:srgbClr val="1111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300" dirty="0"/>
          </a:p>
        </p:txBody>
      </p:sp>
      <p:sp>
        <p:nvSpPr>
          <p:cNvPr id="19" name="box_202"/>
          <p:cNvSpPr txBox="1"/>
          <p:nvPr/>
        </p:nvSpPr>
        <p:spPr>
          <a:xfrm>
            <a:off x="3264408" y="2084832"/>
            <a:ext cx="5559552" cy="621792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Chef A: Pass me the ladle, please! – Chef B points or passes it: Here you are, Chef.</a:t>
            </a:r>
            <a:endParaRPr lang="en-US" sz="1300" dirty="0"/>
          </a:p>
        </p:txBody>
      </p:sp>
      <p:sp>
        <p:nvSpPr>
          <p:cNvPr id="20" name="num_203"/>
          <p:cNvSpPr txBox="1"/>
          <p:nvPr/>
        </p:nvSpPr>
        <p:spPr>
          <a:xfrm>
            <a:off x="2788920" y="2916936"/>
            <a:ext cx="384048" cy="384048"/>
          </a:xfrm>
          <a:prstGeom prst="ellipse">
            <a:avLst/>
          </a:prstGeom>
          <a:solidFill>
            <a:srgbClr val="1FA463"/>
          </a:solidFill>
          <a:ln w="19050">
            <a:solidFill>
              <a:srgbClr val="1111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box_204"/>
          <p:cNvSpPr txBox="1"/>
          <p:nvPr/>
        </p:nvSpPr>
        <p:spPr>
          <a:xfrm>
            <a:off x="3264408" y="2798064"/>
            <a:ext cx="5559552" cy="621792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and correct = 1 point. Swap after 10.</a:t>
            </a:r>
            <a:endParaRPr lang="en-US" sz="1300" dirty="0"/>
          </a:p>
        </p:txBody>
      </p:sp>
      <p:sp>
        <p:nvSpPr>
          <p:cNvPr id="22" name="num_205"/>
          <p:cNvSpPr txBox="1"/>
          <p:nvPr/>
        </p:nvSpPr>
        <p:spPr>
          <a:xfrm>
            <a:off x="2788920" y="3630168"/>
            <a:ext cx="384048" cy="384048"/>
          </a:xfrm>
          <a:prstGeom prst="ellipse">
            <a:avLst/>
          </a:prstGeom>
          <a:solidFill>
            <a:srgbClr val="F59E0B"/>
          </a:solidFill>
          <a:ln w="19050">
            <a:solidFill>
              <a:srgbClr val="1111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box_206"/>
          <p:cNvSpPr txBox="1"/>
          <p:nvPr/>
        </p:nvSpPr>
        <p:spPr>
          <a:xfrm>
            <a:off x="3264408" y="3511296"/>
            <a:ext cx="5559552" cy="621792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2: Pass me the tongs. They're next to the frying pan.</a:t>
            </a:r>
            <a:endParaRPr lang="en-US" sz="1300" dirty="0"/>
          </a:p>
        </p:txBody>
      </p:sp>
    </p:spTree>
  </p:cSld>
  <p:clrMapOvr>
    <a:masterClrMapping/>
  </p:clrMapOvr>
  <p:transition spd="med">
    <p:push dir="l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velFrame_207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C9B3F0"/>
            </a:solidFill>
            <a:prstDash val="solid"/>
          </a:ln>
        </p:spPr>
      </p:sp>
      <p:pic>
        <p:nvPicPr>
          <p:cNvPr id="4" name="logo_208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5" name="footer_209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Kitchen English · L2</a:t>
            </a:r>
            <a:endParaRPr lang="en-US" sz="1000" dirty="0"/>
          </a:p>
        </p:txBody>
      </p:sp>
      <p:sp>
        <p:nvSpPr>
          <p:cNvPr id="6" name="title_210"/>
          <p:cNvSpPr txBox="1"/>
          <p:nvPr/>
        </p:nvSpPr>
        <p:spPr>
          <a:xfrm rot="90000">
            <a:off x="320040" y="676656"/>
            <a:ext cx="4151376" cy="530352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Look what you can do!</a:t>
            </a:r>
            <a:endParaRPr lang="en-US" sz="1500" dirty="0"/>
          </a:p>
        </p:txBody>
      </p:sp>
      <p:sp>
        <p:nvSpPr>
          <p:cNvPr id="7" name="tape_211"/>
          <p:cNvSpPr/>
          <p:nvPr/>
        </p:nvSpPr>
        <p:spPr>
          <a:xfrm rot="-720000">
            <a:off x="210312" y="585216"/>
            <a:ext cx="685800" cy="219456"/>
          </a:xfrm>
          <a:prstGeom prst="rect">
            <a:avLst/>
          </a:prstGeom>
          <a:solidFill>
            <a:srgbClr val="C9B3F0">
              <a:alpha val="80000"/>
            </a:srgbClr>
          </a:solidFill>
          <a:ln w="6350">
            <a:solidFill>
              <a:srgbClr val="C9B3F0"/>
            </a:solidFill>
            <a:prstDash val="solid"/>
          </a:ln>
        </p:spPr>
      </p:sp>
      <p:sp>
        <p:nvSpPr>
          <p:cNvPr id="8" name="tape_212"/>
          <p:cNvSpPr/>
          <p:nvPr/>
        </p:nvSpPr>
        <p:spPr>
          <a:xfrm rot="-720000">
            <a:off x="3904488" y="1069848"/>
            <a:ext cx="685800" cy="219456"/>
          </a:xfrm>
          <a:prstGeom prst="rect">
            <a:avLst/>
          </a:prstGeom>
          <a:solidFill>
            <a:srgbClr val="C9B3F0">
              <a:alpha val="80000"/>
            </a:srgbClr>
          </a:solidFill>
          <a:ln w="6350">
            <a:solidFill>
              <a:srgbClr val="C9B3F0"/>
            </a:solidFill>
            <a:prstDash val="solid"/>
          </a:ln>
        </p:spPr>
      </p:sp>
      <p:sp>
        <p:nvSpPr>
          <p:cNvPr id="9" name="sub_213"/>
          <p:cNvSpPr txBox="1"/>
          <p:nvPr/>
        </p:nvSpPr>
        <p:spPr>
          <a:xfrm>
            <a:off x="365760" y="12344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 cosa sai fare adesso!</a:t>
            </a:r>
            <a:endParaRPr lang="en-US" sz="1200" dirty="0"/>
          </a:p>
        </p:txBody>
      </p:sp>
      <p:sp>
        <p:nvSpPr>
          <p:cNvPr id="10" name="box_214"/>
          <p:cNvSpPr txBox="1"/>
          <p:nvPr/>
        </p:nvSpPr>
        <p:spPr>
          <a:xfrm>
            <a:off x="365760" y="1600200"/>
            <a:ext cx="4846320" cy="548640"/>
          </a:xfrm>
          <a:prstGeom prst="rect">
            <a:avLst/>
          </a:prstGeom>
          <a:solidFill>
            <a:srgbClr val="E0F2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 can name kitchen equipment.</a:t>
            </a:r>
            <a:endParaRPr lang="en-US" sz="1350" dirty="0"/>
          </a:p>
        </p:txBody>
      </p:sp>
      <p:sp>
        <p:nvSpPr>
          <p:cNvPr id="11" name="faces_215"/>
          <p:cNvSpPr txBox="1"/>
          <p:nvPr/>
        </p:nvSpPr>
        <p:spPr>
          <a:xfrm>
            <a:off x="5230368" y="160020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😀 🙂 😐</a:t>
            </a:r>
            <a:endParaRPr lang="en-US" sz="1400" dirty="0"/>
          </a:p>
        </p:txBody>
      </p:sp>
      <p:sp>
        <p:nvSpPr>
          <p:cNvPr id="12" name="box_216"/>
          <p:cNvSpPr txBox="1"/>
          <p:nvPr/>
        </p:nvSpPr>
        <p:spPr>
          <a:xfrm>
            <a:off x="365760" y="2240280"/>
            <a:ext cx="4846320" cy="548640"/>
          </a:xfrm>
          <a:prstGeom prst="rect">
            <a:avLst/>
          </a:prstGeom>
          <a:solidFill>
            <a:srgbClr val="FCE7F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 can use there is / there are and this / these.</a:t>
            </a:r>
            <a:endParaRPr lang="en-US" sz="1350" dirty="0"/>
          </a:p>
        </p:txBody>
      </p:sp>
      <p:sp>
        <p:nvSpPr>
          <p:cNvPr id="13" name="faces_217"/>
          <p:cNvSpPr txBox="1"/>
          <p:nvPr/>
        </p:nvSpPr>
        <p:spPr>
          <a:xfrm>
            <a:off x="5230368" y="224028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😀 🙂 😐</a:t>
            </a:r>
            <a:endParaRPr lang="en-US" sz="1400" dirty="0"/>
          </a:p>
        </p:txBody>
      </p:sp>
      <p:sp>
        <p:nvSpPr>
          <p:cNvPr id="14" name="box_218"/>
          <p:cNvSpPr txBox="1"/>
          <p:nvPr/>
        </p:nvSpPr>
        <p:spPr>
          <a:xfrm>
            <a:off x="365760" y="2880360"/>
            <a:ext cx="4846320" cy="548640"/>
          </a:xfrm>
          <a:prstGeom prst="rect">
            <a:avLst/>
          </a:prstGeom>
          <a:solidFill>
            <a:srgbClr val="FEF9C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 can say where things are: next to, under, between…</a:t>
            </a:r>
            <a:endParaRPr lang="en-US" sz="1300" dirty="0"/>
          </a:p>
        </p:txBody>
      </p:sp>
      <p:sp>
        <p:nvSpPr>
          <p:cNvPr id="15" name="faces_219"/>
          <p:cNvSpPr txBox="1"/>
          <p:nvPr/>
        </p:nvSpPr>
        <p:spPr>
          <a:xfrm>
            <a:off x="5230368" y="288036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😀 🙂 😐</a:t>
            </a:r>
            <a:endParaRPr lang="en-US" sz="1400" dirty="0"/>
          </a:p>
        </p:txBody>
      </p:sp>
      <p:sp>
        <p:nvSpPr>
          <p:cNvPr id="16" name="hw_220"/>
          <p:cNvSpPr txBox="1"/>
          <p:nvPr/>
        </p:nvSpPr>
        <p:spPr>
          <a:xfrm rot="90000">
            <a:off x="6446520" y="1325880"/>
            <a:ext cx="2377440" cy="2651760"/>
          </a:xfrm>
          <a:prstGeom prst="rect">
            <a:avLst/>
          </a:prstGeom>
          <a:solidFill>
            <a:srgbClr val="062F67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14300" tIns="114300" rIns="114300" bIns="11430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FFD84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HOMEWORK · COMPITI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5 photos of equipment in your kitchen. Write: This is a… It's next to the…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i="1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teacher can attach the homework sheet in the portal.</a:t>
            </a:r>
            <a:endParaRPr lang="en-US" sz="1250" dirty="0"/>
          </a:p>
        </p:txBody>
      </p:sp>
      <p:sp>
        <p:nvSpPr>
          <p:cNvPr id="17" name="stamp_221"/>
          <p:cNvSpPr txBox="1"/>
          <p:nvPr/>
        </p:nvSpPr>
        <p:spPr>
          <a:xfrm>
            <a:off x="365760" y="3657600"/>
            <a:ext cx="310896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38100">
            <a:solidFill>
              <a:srgbClr val="6D3FC0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lesson: L3 · Ingredients</a:t>
            </a:r>
            <a:endParaRPr lang="en-US" sz="1200" dirty="0"/>
          </a:p>
        </p:txBody>
      </p:sp>
    </p:spTree>
  </p:cSld>
  <p:clrMapOvr>
    <a:masterClrMapping/>
  </p:clrMapOvr>
  <p:transition spd="med">
    <p:push dir="l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velFrame_222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C9B3F0"/>
            </a:solidFill>
            <a:prstDash val="solid"/>
          </a:ln>
        </p:spPr>
      </p:sp>
      <p:pic>
        <p:nvPicPr>
          <p:cNvPr id="4" name="logo_223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5" name="objective_224"/>
          <p:cNvSpPr txBox="1"/>
          <p:nvPr/>
        </p:nvSpPr>
        <p:spPr>
          <a:xfrm>
            <a:off x="320040" y="182880"/>
            <a:ext cx="475488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EXTRA · SPEAKING · Choices</a:t>
            </a:r>
            <a:endParaRPr lang="en-US" sz="900" dirty="0"/>
          </a:p>
        </p:txBody>
      </p:sp>
      <p:sp>
        <p:nvSpPr>
          <p:cNvPr id="6" name="timer_225"/>
          <p:cNvSpPr txBox="1"/>
          <p:nvPr/>
        </p:nvSpPr>
        <p:spPr>
          <a:xfrm>
            <a:off x="7086600" y="219456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25400">
            <a:solidFill>
              <a:srgbClr val="6D3F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6 min</a:t>
            </a:r>
            <a:endParaRPr lang="en-US" sz="1200" dirty="0"/>
          </a:p>
        </p:txBody>
      </p:sp>
      <p:sp>
        <p:nvSpPr>
          <p:cNvPr id="7" name="extra_226"/>
          <p:cNvSpPr txBox="1"/>
          <p:nvPr/>
        </p:nvSpPr>
        <p:spPr>
          <a:xfrm rot="360000">
            <a:off x="5943600" y="201168"/>
            <a:ext cx="1005840" cy="347472"/>
          </a:xfrm>
          <a:prstGeom prst="roundRect">
            <a:avLst>
              <a:gd name="adj" fmla="val 21053"/>
            </a:avLst>
          </a:prstGeom>
          <a:solidFill>
            <a:srgbClr val="1FA463"/>
          </a:solidFill>
          <a:ln w="31750">
            <a:solidFill>
              <a:srgbClr val="111111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EXTRA</a:t>
            </a:r>
            <a:endParaRPr lang="en-US" sz="1300" dirty="0"/>
          </a:p>
        </p:txBody>
      </p:sp>
      <p:sp>
        <p:nvSpPr>
          <p:cNvPr id="8" name="footer_227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Kitchen English · L2</a:t>
            </a:r>
            <a:endParaRPr lang="en-US" sz="1000" dirty="0"/>
          </a:p>
        </p:txBody>
      </p:sp>
      <p:sp>
        <p:nvSpPr>
          <p:cNvPr id="9" name="title_228"/>
          <p:cNvSpPr txBox="1"/>
          <p:nvPr/>
        </p:nvSpPr>
        <p:spPr>
          <a:xfrm rot="90000">
            <a:off x="320040" y="676656"/>
            <a:ext cx="2761488" cy="530352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This or that?</a:t>
            </a:r>
            <a:endParaRPr lang="en-US" sz="1500" dirty="0"/>
          </a:p>
        </p:txBody>
      </p:sp>
      <p:sp>
        <p:nvSpPr>
          <p:cNvPr id="10" name="tape_229"/>
          <p:cNvSpPr/>
          <p:nvPr/>
        </p:nvSpPr>
        <p:spPr>
          <a:xfrm rot="-720000">
            <a:off x="210312" y="585216"/>
            <a:ext cx="685800" cy="219456"/>
          </a:xfrm>
          <a:prstGeom prst="rect">
            <a:avLst/>
          </a:prstGeom>
          <a:solidFill>
            <a:srgbClr val="C9B3F0">
              <a:alpha val="80000"/>
            </a:srgbClr>
          </a:solidFill>
          <a:ln w="6350">
            <a:solidFill>
              <a:srgbClr val="C9B3F0"/>
            </a:solidFill>
            <a:prstDash val="solid"/>
          </a:ln>
        </p:spPr>
      </p:sp>
      <p:sp>
        <p:nvSpPr>
          <p:cNvPr id="11" name="tape_230"/>
          <p:cNvSpPr/>
          <p:nvPr/>
        </p:nvSpPr>
        <p:spPr>
          <a:xfrm rot="-720000">
            <a:off x="2514600" y="1069848"/>
            <a:ext cx="685800" cy="219456"/>
          </a:xfrm>
          <a:prstGeom prst="rect">
            <a:avLst/>
          </a:prstGeom>
          <a:solidFill>
            <a:srgbClr val="C9B3F0">
              <a:alpha val="80000"/>
            </a:srgbClr>
          </a:solidFill>
          <a:ln w="6350">
            <a:solidFill>
              <a:srgbClr val="C9B3F0"/>
            </a:solidFill>
            <a:prstDash val="solid"/>
          </a:ln>
        </p:spPr>
      </p:sp>
      <p:sp>
        <p:nvSpPr>
          <p:cNvPr id="12" name="post_231"/>
          <p:cNvSpPr/>
          <p:nvPr/>
        </p:nvSpPr>
        <p:spPr>
          <a:xfrm>
            <a:off x="429768" y="1554480"/>
            <a:ext cx="128016" cy="2194560"/>
          </a:xfrm>
          <a:prstGeom prst="rect">
            <a:avLst/>
          </a:prstGeom>
          <a:solidFill>
            <a:srgbClr val="8B5A2B"/>
          </a:solidFill>
          <a:ln w="31750">
            <a:solidFill>
              <a:srgbClr val="111111"/>
            </a:solidFill>
            <a:prstDash val="solid"/>
          </a:ln>
        </p:spPr>
      </p:sp>
      <p:sp>
        <p:nvSpPr>
          <p:cNvPr id="13" name="signA_232"/>
          <p:cNvSpPr txBox="1"/>
          <p:nvPr/>
        </p:nvSpPr>
        <p:spPr>
          <a:xfrm rot="-180000">
            <a:off x="320040" y="1371600"/>
            <a:ext cx="2240280" cy="457200"/>
          </a:xfrm>
          <a:prstGeom prst="homePlate">
            <a:avLst/>
          </a:prstGeom>
          <a:solidFill>
            <a:srgbClr val="EF2F2F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SPEAK!</a:t>
            </a:r>
            <a:pPr indent="0" marL="0">
              <a:buNone/>
            </a:pPr>
            <a:r>
              <a:rPr lang="en-US" sz="1000" dirty="0">
                <a:solidFill>
                  <a:srgbClr val="FFF3B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PARLA!</a:t>
            </a:r>
            <a:endParaRPr lang="en-US" sz="1500" dirty="0"/>
          </a:p>
        </p:txBody>
      </p:sp>
      <p:sp>
        <p:nvSpPr>
          <p:cNvPr id="14" name="signB_233"/>
          <p:cNvSpPr txBox="1"/>
          <p:nvPr/>
        </p:nvSpPr>
        <p:spPr>
          <a:xfrm rot="120000">
            <a:off x="365760" y="1938528"/>
            <a:ext cx="2240280" cy="105156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one. Give a reason. No 'both'!</a:t>
            </a:r>
            <a:endParaRPr lang="en-US" sz="1250" dirty="0"/>
          </a:p>
          <a:p>
            <a:pPr indent="0" marL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Scegline uno. Dai un motivo. Non vale 'tutti e due'!</a:t>
            </a:r>
            <a:endParaRPr lang="en-US" sz="1250" dirty="0"/>
          </a:p>
        </p:txBody>
      </p:sp>
      <p:sp>
        <p:nvSpPr>
          <p:cNvPr id="15" name="box_234"/>
          <p:cNvSpPr txBox="1"/>
          <p:nvPr/>
        </p:nvSpPr>
        <p:spPr>
          <a:xfrm>
            <a:off x="2788920" y="1371600"/>
            <a:ext cx="6035040" cy="555955"/>
          </a:xfrm>
          <a:prstGeom prst="rect">
            <a:avLst/>
          </a:prstGeom>
          <a:solidFill>
            <a:srgbClr val="E0F2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A very sharp knife or a very good pan?</a:t>
            </a:r>
            <a:endParaRPr lang="en-US" sz="1400" dirty="0"/>
          </a:p>
        </p:txBody>
      </p:sp>
      <p:sp>
        <p:nvSpPr>
          <p:cNvPr id="16" name="box_235"/>
          <p:cNvSpPr txBox="1"/>
          <p:nvPr/>
        </p:nvSpPr>
        <p:spPr>
          <a:xfrm>
            <a:off x="2788920" y="2055571"/>
            <a:ext cx="6035040" cy="555955"/>
          </a:xfrm>
          <a:prstGeom prst="rect">
            <a:avLst/>
          </a:prstGeom>
          <a:solidFill>
            <a:srgbClr val="FCE7F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A gas hob or an induction hob?</a:t>
            </a:r>
            <a:endParaRPr lang="en-US" sz="1400" dirty="0"/>
          </a:p>
        </p:txBody>
      </p:sp>
      <p:sp>
        <p:nvSpPr>
          <p:cNvPr id="17" name="box_236"/>
          <p:cNvSpPr txBox="1"/>
          <p:nvPr/>
        </p:nvSpPr>
        <p:spPr>
          <a:xfrm>
            <a:off x="2788920" y="2739542"/>
            <a:ext cx="6035040" cy="555955"/>
          </a:xfrm>
          <a:prstGeom prst="rect">
            <a:avLst/>
          </a:prstGeom>
          <a:solidFill>
            <a:srgbClr val="FEF9C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A kitchen with a microwave or a kitchen without one?</a:t>
            </a:r>
            <a:endParaRPr lang="en-US" sz="1400" dirty="0"/>
          </a:p>
        </p:txBody>
      </p:sp>
      <p:sp>
        <p:nvSpPr>
          <p:cNvPr id="18" name="box_237"/>
          <p:cNvSpPr txBox="1"/>
          <p:nvPr/>
        </p:nvSpPr>
        <p:spPr>
          <a:xfrm>
            <a:off x="2788920" y="3423514"/>
            <a:ext cx="6035040" cy="555955"/>
          </a:xfrm>
          <a:prstGeom prst="rect">
            <a:avLst/>
          </a:prstGeom>
          <a:solidFill>
            <a:srgbClr val="DCFCE7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A big kitchen and a small team or a small kitchen and a big team?</a:t>
            </a:r>
            <a:endParaRPr lang="en-US" sz="1400" dirty="0"/>
          </a:p>
        </p:txBody>
      </p:sp>
      <p:sp>
        <p:nvSpPr>
          <p:cNvPr id="19" name="box_238"/>
          <p:cNvSpPr txBox="1"/>
          <p:nvPr/>
        </p:nvSpPr>
        <p:spPr>
          <a:xfrm>
            <a:off x="2788920" y="4107485"/>
            <a:ext cx="6035040" cy="555955"/>
          </a:xfrm>
          <a:prstGeom prst="rect">
            <a:avLst/>
          </a:prstGeom>
          <a:solidFill>
            <a:srgbClr val="EDE9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Your kitchen is on fire! You can save only 3 things. Which ones?</a:t>
            </a:r>
            <a:endParaRPr lang="en-US" sz="1400" dirty="0"/>
          </a:p>
        </p:txBody>
      </p:sp>
    </p:spTree>
  </p:cSld>
  <p:clrMapOvr>
    <a:masterClrMapping/>
  </p:clrMapOvr>
  <p:transition spd="med">
    <p:push dir="l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velFrame_239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C9B3F0"/>
            </a:solidFill>
            <a:prstDash val="solid"/>
          </a:ln>
        </p:spPr>
      </p:sp>
      <p:pic>
        <p:nvPicPr>
          <p:cNvPr id="4" name="logo_240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5" name="objective_241"/>
          <p:cNvSpPr txBox="1"/>
          <p:nvPr/>
        </p:nvSpPr>
        <p:spPr>
          <a:xfrm>
            <a:off x="320040" y="182880"/>
            <a:ext cx="475488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EXTRA · VOCABULARY · Thinking</a:t>
            </a:r>
            <a:endParaRPr lang="en-US" sz="900" dirty="0"/>
          </a:p>
        </p:txBody>
      </p:sp>
      <p:sp>
        <p:nvSpPr>
          <p:cNvPr id="6" name="timer_242"/>
          <p:cNvSpPr txBox="1"/>
          <p:nvPr/>
        </p:nvSpPr>
        <p:spPr>
          <a:xfrm>
            <a:off x="7086600" y="219456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25400">
            <a:solidFill>
              <a:srgbClr val="6D3F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5 min</a:t>
            </a:r>
            <a:endParaRPr lang="en-US" sz="1200" dirty="0"/>
          </a:p>
        </p:txBody>
      </p:sp>
      <p:sp>
        <p:nvSpPr>
          <p:cNvPr id="7" name="extra_243"/>
          <p:cNvSpPr txBox="1"/>
          <p:nvPr/>
        </p:nvSpPr>
        <p:spPr>
          <a:xfrm rot="360000">
            <a:off x="5943600" y="201168"/>
            <a:ext cx="1005840" cy="347472"/>
          </a:xfrm>
          <a:prstGeom prst="roundRect">
            <a:avLst>
              <a:gd name="adj" fmla="val 21053"/>
            </a:avLst>
          </a:prstGeom>
          <a:solidFill>
            <a:srgbClr val="1FA463"/>
          </a:solidFill>
          <a:ln w="31750">
            <a:solidFill>
              <a:srgbClr val="111111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EXTRA</a:t>
            </a:r>
            <a:endParaRPr lang="en-US" sz="1300" dirty="0"/>
          </a:p>
        </p:txBody>
      </p:sp>
      <p:sp>
        <p:nvSpPr>
          <p:cNvPr id="8" name="footer_244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Kitchen English · L2</a:t>
            </a:r>
            <a:endParaRPr lang="en-US" sz="1000" dirty="0"/>
          </a:p>
        </p:txBody>
      </p:sp>
      <p:sp>
        <p:nvSpPr>
          <p:cNvPr id="9" name="title_245"/>
          <p:cNvSpPr txBox="1"/>
          <p:nvPr/>
        </p:nvSpPr>
        <p:spPr>
          <a:xfrm rot="90000">
            <a:off x="320040" y="676656"/>
            <a:ext cx="2414016" cy="530352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Odd one out</a:t>
            </a:r>
            <a:endParaRPr lang="en-US" sz="1500" dirty="0"/>
          </a:p>
        </p:txBody>
      </p:sp>
      <p:sp>
        <p:nvSpPr>
          <p:cNvPr id="10" name="tape_246"/>
          <p:cNvSpPr/>
          <p:nvPr/>
        </p:nvSpPr>
        <p:spPr>
          <a:xfrm rot="-720000">
            <a:off x="210312" y="585216"/>
            <a:ext cx="685800" cy="219456"/>
          </a:xfrm>
          <a:prstGeom prst="rect">
            <a:avLst/>
          </a:prstGeom>
          <a:solidFill>
            <a:srgbClr val="C9B3F0">
              <a:alpha val="80000"/>
            </a:srgbClr>
          </a:solidFill>
          <a:ln w="6350">
            <a:solidFill>
              <a:srgbClr val="C9B3F0"/>
            </a:solidFill>
            <a:prstDash val="solid"/>
          </a:ln>
        </p:spPr>
      </p:sp>
      <p:sp>
        <p:nvSpPr>
          <p:cNvPr id="11" name="tape_247"/>
          <p:cNvSpPr/>
          <p:nvPr/>
        </p:nvSpPr>
        <p:spPr>
          <a:xfrm rot="-720000">
            <a:off x="2167128" y="1069848"/>
            <a:ext cx="685800" cy="219456"/>
          </a:xfrm>
          <a:prstGeom prst="rect">
            <a:avLst/>
          </a:prstGeom>
          <a:solidFill>
            <a:srgbClr val="C9B3F0">
              <a:alpha val="80000"/>
            </a:srgbClr>
          </a:solidFill>
          <a:ln w="6350">
            <a:solidFill>
              <a:srgbClr val="C9B3F0"/>
            </a:solidFill>
            <a:prstDash val="solid"/>
          </a:ln>
        </p:spPr>
      </p:sp>
      <p:sp>
        <p:nvSpPr>
          <p:cNvPr id="12" name="post_248"/>
          <p:cNvSpPr/>
          <p:nvPr/>
        </p:nvSpPr>
        <p:spPr>
          <a:xfrm>
            <a:off x="429768" y="1554480"/>
            <a:ext cx="128016" cy="2194560"/>
          </a:xfrm>
          <a:prstGeom prst="rect">
            <a:avLst/>
          </a:prstGeom>
          <a:solidFill>
            <a:srgbClr val="8B5A2B"/>
          </a:solidFill>
          <a:ln w="31750">
            <a:solidFill>
              <a:srgbClr val="111111"/>
            </a:solidFill>
            <a:prstDash val="solid"/>
          </a:ln>
        </p:spPr>
      </p:sp>
      <p:sp>
        <p:nvSpPr>
          <p:cNvPr id="13" name="signA_249"/>
          <p:cNvSpPr txBox="1"/>
          <p:nvPr/>
        </p:nvSpPr>
        <p:spPr>
          <a:xfrm rot="-180000">
            <a:off x="320040" y="1371600"/>
            <a:ext cx="2240280" cy="457200"/>
          </a:xfrm>
          <a:prstGeom prst="homePlate">
            <a:avLst/>
          </a:prstGeom>
          <a:solidFill>
            <a:srgbClr val="062F67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THINK!</a:t>
            </a:r>
            <a:pPr indent="0" marL="0">
              <a:buNone/>
            </a:pPr>
            <a:r>
              <a:rPr lang="en-US" sz="1000" dirty="0">
                <a:solidFill>
                  <a:srgbClr val="FFF3B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PENSA!</a:t>
            </a:r>
            <a:endParaRPr lang="en-US" sz="1500" dirty="0"/>
          </a:p>
        </p:txBody>
      </p:sp>
      <p:sp>
        <p:nvSpPr>
          <p:cNvPr id="14" name="signB_250"/>
          <p:cNvSpPr txBox="1"/>
          <p:nvPr/>
        </p:nvSpPr>
        <p:spPr>
          <a:xfrm rot="120000">
            <a:off x="365760" y="1938528"/>
            <a:ext cx="2240280" cy="105156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one doesn't belong? Why? More than one answer can be right!</a:t>
            </a:r>
            <a:endParaRPr lang="en-US" sz="1200" dirty="0"/>
          </a:p>
          <a:p>
            <a:pPr indent="0" marL="0">
              <a:buNone/>
            </a:pPr>
            <a:r>
              <a:rPr lang="en-US" sz="105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Quale non c'entra? Perché? Più risposte possibili!</a:t>
            </a:r>
            <a:endParaRPr lang="en-US" sz="1200" dirty="0"/>
          </a:p>
        </p:txBody>
      </p:sp>
      <p:sp>
        <p:nvSpPr>
          <p:cNvPr id="15" name="box_251"/>
          <p:cNvSpPr txBox="1"/>
          <p:nvPr/>
        </p:nvSpPr>
        <p:spPr>
          <a:xfrm>
            <a:off x="2788920" y="1371600"/>
            <a:ext cx="3741725" cy="555955"/>
          </a:xfrm>
          <a:prstGeom prst="rect">
            <a:avLst/>
          </a:prstGeom>
          <a:solidFill>
            <a:srgbClr val="E0F2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knife · peeler · grater · ladle</a:t>
            </a:r>
            <a:endParaRPr lang="en-US" sz="1350" dirty="0"/>
          </a:p>
        </p:txBody>
      </p:sp>
      <p:sp>
        <p:nvSpPr>
          <p:cNvPr id="16" name="R1_a0"/>
          <p:cNvSpPr txBox="1"/>
          <p:nvPr/>
        </p:nvSpPr>
        <p:spPr>
          <a:xfrm>
            <a:off x="6585509" y="1408176"/>
            <a:ext cx="2238451" cy="482803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ladle – it doesn't cut</a:t>
            </a:r>
            <a:endParaRPr lang="en-US" sz="1200" dirty="0"/>
          </a:p>
        </p:txBody>
      </p:sp>
      <p:sp>
        <p:nvSpPr>
          <p:cNvPr id="17" name="box_252"/>
          <p:cNvSpPr txBox="1"/>
          <p:nvPr/>
        </p:nvSpPr>
        <p:spPr>
          <a:xfrm>
            <a:off x="2788920" y="2055571"/>
            <a:ext cx="3741725" cy="555955"/>
          </a:xfrm>
          <a:prstGeom prst="rect">
            <a:avLst/>
          </a:prstGeom>
          <a:solidFill>
            <a:srgbClr val="FCE7F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oven · fridge · freezer · cold room</a:t>
            </a:r>
            <a:endParaRPr lang="en-US" sz="1350" dirty="0"/>
          </a:p>
        </p:txBody>
      </p:sp>
      <p:sp>
        <p:nvSpPr>
          <p:cNvPr id="18" name="R1_a1"/>
          <p:cNvSpPr txBox="1"/>
          <p:nvPr/>
        </p:nvSpPr>
        <p:spPr>
          <a:xfrm>
            <a:off x="6585509" y="2092147"/>
            <a:ext cx="2238451" cy="482803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oven – it's hot</a:t>
            </a:r>
            <a:endParaRPr lang="en-US" sz="1200" dirty="0"/>
          </a:p>
        </p:txBody>
      </p:sp>
      <p:sp>
        <p:nvSpPr>
          <p:cNvPr id="19" name="box_253"/>
          <p:cNvSpPr txBox="1"/>
          <p:nvPr/>
        </p:nvSpPr>
        <p:spPr>
          <a:xfrm>
            <a:off x="2788920" y="2739542"/>
            <a:ext cx="3741725" cy="555955"/>
          </a:xfrm>
          <a:prstGeom prst="rect">
            <a:avLst/>
          </a:prstGeom>
          <a:solidFill>
            <a:srgbClr val="FEF9C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saucepan · frying pan · tray · chopping board</a:t>
            </a:r>
            <a:endParaRPr lang="en-US" sz="1300" dirty="0"/>
          </a:p>
        </p:txBody>
      </p:sp>
      <p:sp>
        <p:nvSpPr>
          <p:cNvPr id="20" name="R1_a2"/>
          <p:cNvSpPr txBox="1"/>
          <p:nvPr/>
        </p:nvSpPr>
        <p:spPr>
          <a:xfrm>
            <a:off x="6585509" y="2776118"/>
            <a:ext cx="2238451" cy="482803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– no cooking</a:t>
            </a:r>
            <a:endParaRPr lang="en-US" sz="1200" dirty="0"/>
          </a:p>
        </p:txBody>
      </p:sp>
      <p:sp>
        <p:nvSpPr>
          <p:cNvPr id="21" name="box_254"/>
          <p:cNvSpPr txBox="1"/>
          <p:nvPr/>
        </p:nvSpPr>
        <p:spPr>
          <a:xfrm>
            <a:off x="2788920" y="3423514"/>
            <a:ext cx="3741725" cy="555955"/>
          </a:xfrm>
          <a:prstGeom prst="rect">
            <a:avLst/>
          </a:prstGeom>
          <a:solidFill>
            <a:srgbClr val="DCFCE7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scales · thermometer · timer · whisk</a:t>
            </a:r>
            <a:endParaRPr lang="en-US" sz="1350" dirty="0"/>
          </a:p>
        </p:txBody>
      </p:sp>
      <p:sp>
        <p:nvSpPr>
          <p:cNvPr id="22" name="R1_a3"/>
          <p:cNvSpPr txBox="1"/>
          <p:nvPr/>
        </p:nvSpPr>
        <p:spPr>
          <a:xfrm>
            <a:off x="6585509" y="3460090"/>
            <a:ext cx="2238451" cy="482803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whisk – no measuring</a:t>
            </a:r>
            <a:endParaRPr lang="en-US" sz="1200" dirty="0"/>
          </a:p>
        </p:txBody>
      </p:sp>
      <p:sp>
        <p:nvSpPr>
          <p:cNvPr id="23" name="box_255"/>
          <p:cNvSpPr txBox="1"/>
          <p:nvPr/>
        </p:nvSpPr>
        <p:spPr>
          <a:xfrm>
            <a:off x="2788920" y="4107485"/>
            <a:ext cx="3741725" cy="555955"/>
          </a:xfrm>
          <a:prstGeom prst="rect">
            <a:avLst/>
          </a:prstGeom>
          <a:solidFill>
            <a:srgbClr val="EDE9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hob · grill · microwave · sink</a:t>
            </a:r>
            <a:endParaRPr lang="en-US" sz="1350" dirty="0"/>
          </a:p>
        </p:txBody>
      </p:sp>
      <p:sp>
        <p:nvSpPr>
          <p:cNvPr id="24" name="R1_a4"/>
          <p:cNvSpPr txBox="1"/>
          <p:nvPr/>
        </p:nvSpPr>
        <p:spPr>
          <a:xfrm>
            <a:off x="6585509" y="4144061"/>
            <a:ext cx="2238451" cy="482803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sink – it doesn't heat</a:t>
            </a:r>
            <a:endParaRPr lang="en-US" sz="12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velFrame_256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C9B3F0"/>
            </a:solidFill>
            <a:prstDash val="solid"/>
          </a:ln>
        </p:spPr>
      </p:sp>
      <p:pic>
        <p:nvPicPr>
          <p:cNvPr id="4" name="logo_257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5" name="objective_258"/>
          <p:cNvSpPr txBox="1"/>
          <p:nvPr/>
        </p:nvSpPr>
        <p:spPr>
          <a:xfrm>
            <a:off x="320040" y="182880"/>
            <a:ext cx="475488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EXTRA · Game · describing</a:t>
            </a:r>
            <a:endParaRPr lang="en-US" sz="900" dirty="0"/>
          </a:p>
        </p:txBody>
      </p:sp>
      <p:sp>
        <p:nvSpPr>
          <p:cNvPr id="6" name="timer_259"/>
          <p:cNvSpPr txBox="1"/>
          <p:nvPr/>
        </p:nvSpPr>
        <p:spPr>
          <a:xfrm>
            <a:off x="7086600" y="219456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25400">
            <a:solidFill>
              <a:srgbClr val="6D3F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8 min</a:t>
            </a:r>
            <a:endParaRPr lang="en-US" sz="1200" dirty="0"/>
          </a:p>
        </p:txBody>
      </p:sp>
      <p:sp>
        <p:nvSpPr>
          <p:cNvPr id="7" name="extra_260"/>
          <p:cNvSpPr txBox="1"/>
          <p:nvPr/>
        </p:nvSpPr>
        <p:spPr>
          <a:xfrm rot="360000">
            <a:off x="5943600" y="201168"/>
            <a:ext cx="1005840" cy="347472"/>
          </a:xfrm>
          <a:prstGeom prst="roundRect">
            <a:avLst>
              <a:gd name="adj" fmla="val 21053"/>
            </a:avLst>
          </a:prstGeom>
          <a:solidFill>
            <a:srgbClr val="1FA463"/>
          </a:solidFill>
          <a:ln w="31750">
            <a:solidFill>
              <a:srgbClr val="111111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EXTRA</a:t>
            </a:r>
            <a:endParaRPr lang="en-US" sz="1300" dirty="0"/>
          </a:p>
        </p:txBody>
      </p:sp>
      <p:sp>
        <p:nvSpPr>
          <p:cNvPr id="8" name="footer_261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Kitchen English · L2</a:t>
            </a:r>
            <a:endParaRPr lang="en-US" sz="1000" dirty="0"/>
          </a:p>
        </p:txBody>
      </p:sp>
      <p:sp>
        <p:nvSpPr>
          <p:cNvPr id="9" name="title_262"/>
          <p:cNvSpPr txBox="1"/>
          <p:nvPr/>
        </p:nvSpPr>
        <p:spPr>
          <a:xfrm rot="90000">
            <a:off x="320040" y="676656"/>
            <a:ext cx="3630168" cy="530352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forbidden word</a:t>
            </a:r>
            <a:endParaRPr lang="en-US" sz="1500" dirty="0"/>
          </a:p>
        </p:txBody>
      </p:sp>
      <p:sp>
        <p:nvSpPr>
          <p:cNvPr id="10" name="tape_263"/>
          <p:cNvSpPr/>
          <p:nvPr/>
        </p:nvSpPr>
        <p:spPr>
          <a:xfrm rot="-720000">
            <a:off x="210312" y="585216"/>
            <a:ext cx="685800" cy="219456"/>
          </a:xfrm>
          <a:prstGeom prst="rect">
            <a:avLst/>
          </a:prstGeom>
          <a:solidFill>
            <a:srgbClr val="C9B3F0">
              <a:alpha val="80000"/>
            </a:srgbClr>
          </a:solidFill>
          <a:ln w="6350">
            <a:solidFill>
              <a:srgbClr val="C9B3F0"/>
            </a:solidFill>
            <a:prstDash val="solid"/>
          </a:ln>
        </p:spPr>
      </p:sp>
      <p:sp>
        <p:nvSpPr>
          <p:cNvPr id="11" name="tape_264"/>
          <p:cNvSpPr/>
          <p:nvPr/>
        </p:nvSpPr>
        <p:spPr>
          <a:xfrm rot="-720000">
            <a:off x="3383280" y="1069848"/>
            <a:ext cx="685800" cy="219456"/>
          </a:xfrm>
          <a:prstGeom prst="rect">
            <a:avLst/>
          </a:prstGeom>
          <a:solidFill>
            <a:srgbClr val="C9B3F0">
              <a:alpha val="80000"/>
            </a:srgbClr>
          </a:solidFill>
          <a:ln w="6350">
            <a:solidFill>
              <a:srgbClr val="C9B3F0"/>
            </a:solidFill>
            <a:prstDash val="solid"/>
          </a:ln>
        </p:spPr>
      </p:sp>
      <p:sp>
        <p:nvSpPr>
          <p:cNvPr id="12" name="post_265"/>
          <p:cNvSpPr/>
          <p:nvPr/>
        </p:nvSpPr>
        <p:spPr>
          <a:xfrm>
            <a:off x="429768" y="1554480"/>
            <a:ext cx="128016" cy="2194560"/>
          </a:xfrm>
          <a:prstGeom prst="rect">
            <a:avLst/>
          </a:prstGeom>
          <a:solidFill>
            <a:srgbClr val="8B5A2B"/>
          </a:solidFill>
          <a:ln w="31750">
            <a:solidFill>
              <a:srgbClr val="111111"/>
            </a:solidFill>
            <a:prstDash val="solid"/>
          </a:ln>
        </p:spPr>
      </p:sp>
      <p:sp>
        <p:nvSpPr>
          <p:cNvPr id="13" name="signA_266"/>
          <p:cNvSpPr txBox="1"/>
          <p:nvPr/>
        </p:nvSpPr>
        <p:spPr>
          <a:xfrm rot="-180000">
            <a:off x="320040" y="1371600"/>
            <a:ext cx="2240280" cy="457200"/>
          </a:xfrm>
          <a:prstGeom prst="homePlate">
            <a:avLst/>
          </a:prstGeom>
          <a:solidFill>
            <a:srgbClr val="1FA463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PLAY!</a:t>
            </a:r>
            <a:pPr indent="0" marL="0">
              <a:buNone/>
            </a:pPr>
            <a:r>
              <a:rPr lang="en-US" sz="1000" dirty="0">
                <a:solidFill>
                  <a:srgbClr val="FFF3B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GIOCA!</a:t>
            </a:r>
            <a:endParaRPr lang="en-US" sz="1500" dirty="0"/>
          </a:p>
        </p:txBody>
      </p:sp>
      <p:sp>
        <p:nvSpPr>
          <p:cNvPr id="14" name="signB_267"/>
          <p:cNvSpPr txBox="1"/>
          <p:nvPr/>
        </p:nvSpPr>
        <p:spPr>
          <a:xfrm rot="120000">
            <a:off x="365760" y="1938528"/>
            <a:ext cx="2240280" cy="105156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the equipment. Don't say its name!</a:t>
            </a:r>
            <a:endParaRPr lang="en-US" sz="1250" dirty="0"/>
          </a:p>
          <a:p>
            <a:pPr indent="0" marL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Descrivi l'oggetto. Non dire il nome!</a:t>
            </a:r>
            <a:endParaRPr lang="en-US" sz="1250" dirty="0"/>
          </a:p>
        </p:txBody>
      </p:sp>
      <p:sp>
        <p:nvSpPr>
          <p:cNvPr id="15" name="iconBack_268"/>
          <p:cNvSpPr/>
          <p:nvPr/>
        </p:nvSpPr>
        <p:spPr>
          <a:xfrm>
            <a:off x="685800" y="3246120"/>
            <a:ext cx="1143000" cy="114300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pic>
        <p:nvPicPr>
          <p:cNvPr id="16" name="icon_269" descr="brai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474720"/>
            <a:ext cx="685800" cy="685800"/>
          </a:xfrm>
          <a:prstGeom prst="rect">
            <a:avLst/>
          </a:prstGeom>
        </p:spPr>
      </p:pic>
      <p:sp>
        <p:nvSpPr>
          <p:cNvPr id="17" name="num_270"/>
          <p:cNvSpPr txBox="1"/>
          <p:nvPr/>
        </p:nvSpPr>
        <p:spPr>
          <a:xfrm>
            <a:off x="2788920" y="1490472"/>
            <a:ext cx="384048" cy="384048"/>
          </a:xfrm>
          <a:prstGeom prst="ellipse">
            <a:avLst/>
          </a:prstGeom>
          <a:solidFill>
            <a:srgbClr val="EF2F2F"/>
          </a:solidFill>
          <a:ln w="19050">
            <a:solidFill>
              <a:srgbClr val="1111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300" dirty="0"/>
          </a:p>
        </p:txBody>
      </p:sp>
      <p:sp>
        <p:nvSpPr>
          <p:cNvPr id="18" name="box_271"/>
          <p:cNvSpPr txBox="1"/>
          <p:nvPr/>
        </p:nvSpPr>
        <p:spPr>
          <a:xfrm>
            <a:off x="3264408" y="1371600"/>
            <a:ext cx="5559552" cy="621792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Chef A thinks of a piece of equipment.</a:t>
            </a:r>
            <a:endParaRPr lang="en-US" sz="1300" dirty="0"/>
          </a:p>
        </p:txBody>
      </p:sp>
      <p:sp>
        <p:nvSpPr>
          <p:cNvPr id="19" name="num_272"/>
          <p:cNvSpPr txBox="1"/>
          <p:nvPr/>
        </p:nvSpPr>
        <p:spPr>
          <a:xfrm>
            <a:off x="2788920" y="2203704"/>
            <a:ext cx="384048" cy="384048"/>
          </a:xfrm>
          <a:prstGeom prst="ellipse">
            <a:avLst/>
          </a:prstGeom>
          <a:solidFill>
            <a:srgbClr val="48BDF2"/>
          </a:solidFill>
          <a:ln w="19050">
            <a:solidFill>
              <a:srgbClr val="1111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300" dirty="0"/>
          </a:p>
        </p:txBody>
      </p:sp>
      <p:sp>
        <p:nvSpPr>
          <p:cNvPr id="20" name="box_273"/>
          <p:cNvSpPr txBox="1"/>
          <p:nvPr/>
        </p:nvSpPr>
        <p:spPr>
          <a:xfrm>
            <a:off x="3264408" y="2084832"/>
            <a:ext cx="5559552" cy="621792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it – but you can't say the name, or 'cook' or 'cut'!</a:t>
            </a:r>
            <a:endParaRPr lang="en-US" sz="1300" dirty="0"/>
          </a:p>
        </p:txBody>
      </p:sp>
      <p:sp>
        <p:nvSpPr>
          <p:cNvPr id="21" name="num_274"/>
          <p:cNvSpPr txBox="1"/>
          <p:nvPr/>
        </p:nvSpPr>
        <p:spPr>
          <a:xfrm>
            <a:off x="2788920" y="2916936"/>
            <a:ext cx="384048" cy="384048"/>
          </a:xfrm>
          <a:prstGeom prst="ellipse">
            <a:avLst/>
          </a:prstGeom>
          <a:solidFill>
            <a:srgbClr val="1FA463"/>
          </a:solidFill>
          <a:ln w="19050">
            <a:solidFill>
              <a:srgbClr val="1111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box_275"/>
          <p:cNvSpPr txBox="1"/>
          <p:nvPr/>
        </p:nvSpPr>
        <p:spPr>
          <a:xfrm>
            <a:off x="3264408" y="2798064"/>
            <a:ext cx="5559552" cy="621792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metal. It's long. You use it for soup… – A ladle!</a:t>
            </a:r>
            <a:endParaRPr lang="en-US" sz="1300" dirty="0"/>
          </a:p>
        </p:txBody>
      </p:sp>
      <p:sp>
        <p:nvSpPr>
          <p:cNvPr id="23" name="num_276"/>
          <p:cNvSpPr txBox="1"/>
          <p:nvPr/>
        </p:nvSpPr>
        <p:spPr>
          <a:xfrm>
            <a:off x="2788920" y="3630168"/>
            <a:ext cx="384048" cy="384048"/>
          </a:xfrm>
          <a:prstGeom prst="ellipse">
            <a:avLst/>
          </a:prstGeom>
          <a:solidFill>
            <a:srgbClr val="F59E0B"/>
          </a:solidFill>
          <a:ln w="19050">
            <a:solidFill>
              <a:srgbClr val="1111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box_277"/>
          <p:cNvSpPr txBox="1"/>
          <p:nvPr/>
        </p:nvSpPr>
        <p:spPr>
          <a:xfrm>
            <a:off x="3264408" y="3511296"/>
            <a:ext cx="5559552" cy="621792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point for each correct guess in 1 minute. Swap!</a:t>
            </a:r>
            <a:endParaRPr lang="en-US" sz="1300" dirty="0"/>
          </a:p>
        </p:txBody>
      </p:sp>
    </p:spTree>
  </p:cSld>
  <p:clrMapOvr>
    <a:masterClrMapping/>
  </p:clrMapOvr>
  <p:transition spd="med">
    <p:push dir="l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 Black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London Language School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Kitchen English L2 Kitchen equipment</dc:title>
  <dc:subject>PptxGenJS Presentation</dc:subject>
  <dc:creator>London Language School</dc:creator>
  <cp:lastModifiedBy>London Language School</cp:lastModifiedBy>
  <cp:revision>1</cp:revision>
  <dcterms:created xsi:type="dcterms:W3CDTF">2026-10-05T06:50:56Z</dcterms:created>
  <dcterms:modified xsi:type="dcterms:W3CDTF">2026-10-05T06:50:56Z</dcterms:modified>
</cp:coreProperties>
</file>