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REVISE AND CHECK 9&amp;10 (60 min) — a game-based review of Files 9 and 10: third conditional, word building (9A); devices, phrasal verbs, quantifiers, ough / augh (9B); indirect questions (PE5); relative clauses, compound nouns (10A); crime vocabulary, question tags (10B). The book's Revise and Check pages are used for the grammar (quiz-show vote), pronunciation and the listening; Vocabulary a–e and the reading text are homework. Revise and Check 9&amp;10 = SB pp.104–105 (Grammar, Vocabulary, Pronunciation p.104; reading The London Dungeon, listening 10.17 and CAN YOU say this in English? p.105). Timing: cover 2 · story order 5 · noughts &amp; crosses 8 · consequence chain 6 · ABC quiz show 8 · stress 5 · video 8 · Scattergories 7 · Just a minute 5 · exit 3 = 57 min. Teams: make two (or three) teams at the start and keep ONE score table on the board for the whole lesson — the winning team chooses the warmer next lesson. Click 1 / 2: question and answer (a question tag!).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REVISION of 10B part 2 (5 min). VARIATION: story sequencing + retelling. Pairs order the events (2 min); click 1 for the answer: S (May meets Walter, they get engaged) → Q (June comes home for the summer holidays) → U (May refuses to speak to June at their father's funeral) → P (Walter dies; at his funeral they are reconciled) → T (May moves into June's house) → R (May finds Walter's last letter — and picks up the gun). Then each pair retells the story in 6 sentences, one each, without looking (1 point per team for a complete, correct retelling). Use the third conditional: If June hadn't come home that summer, 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(8 min). VARIATION: strategy + team competition. Draw a 3×3 grid on the board with the same numbers as the slide. Team X and Team O take turns to choose a square; the teacher reads a question from that category (below); correct answer = they write X / O in that square; wrong = the other team can steal it. Three in a row wins the round; play 2–3 rounds (use the second question if a square comes up again). Questions (our own; answers follow the Grammar Banks): 1 3rd conditional — a) Finish: If I'd known about the party, … (I would have gone.) b) Correct it: If I would have studied, I would have passed. (If I had studied…) c) Make one sentence: I didn't see the sign. I got lost. (If I had seen the sign, I wouldn't have got lost.) · 2 Word building — a) the opposite of careful (careless) b) the adverb of patient (patiently) c) the negative of comfortable (uncomfortable) · 3 Devices — a) Where do you put a plug? (in a socket) b) What do you change TV channels with? (a remote control) c) Turn the music…! It's too loud. (down) · 4 Quantifiers — a) Correct it: I'm too much tired. (too tired) b) a few or a little: I have ___ close friends. (a few) c) Correct it: The room isn't enough big. (big enough) · 5 Polite questions — a) Make it polite: Where's the bank? (Could you tell me where the bank is?) b) Do you know ___ the shop is open? (if / whether) c) Correct it: Can you tell me what time does the film start? (what time the film starts) · 6 Relative clauses — a) That's the man ___ car was stolen. (whose) b) Can you use that here? My sister, who lives in Rome, is a doctor. (No — non-defining) c) This is the town ___ Guttuso was born. (where) · 7 Compound nouns — a) the music of a film (the soundtrack) b) Where's the stress: traffic jam? (TRAFfic) c) a small thing for saving files (a memory stick) · 8 Question tags — a) You're from Bagheria, …? (aren't you) b) She didn't call, …? (did she) c) They've finished, …? (haven't they) · 9 Crime words — a) a person who sees a crime (a witness) b) information that shows who did a crime (evidence) c) the people the police think may be guilty (suspects).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(6 min). VARIATION: memory chain + constraint challenge. Teams in two lines; each team makes its own chain in turn, the teacher counts links. Correct form: If + had (not) + past participle, would (not) have + past participle (watch for ✗ If I would have…, ✗ If I had known, I had done…, the TG's typical mistakes). Weak forms: would have /wədəv/. New chain starters: If I hadn't gone to that party, … · If June hadn't come home that summer, … · If the ticket inspector hadn't helped Bernard, … (9A).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(8 min). VARIATION: quiz show + peer teaching. Answers (TG): 1 b · 2 c · 3 c · 4 b · 5 a · 6 a · 7 b · 8 b · 9 a · 10 c · 11 a · 12 a · 13 b · 14 c · 15 a. The questions (read them aloud if students don't have the book): 1 If you ___ on time, we wouldn't have missed the start of the film. a arrived b 'd arrived c would have arrived · 2 What ___ if that man hadn't helped you? a you would do b you would have done c would you have done · 3 If she ___ me that she was arriving this morning, I would have gone to the airport to pick her up. a told b would tell c had told · 4 I would have finished the exam if I ___ about another ten minutes. a would have had b had had c would have · 5 I'm afraid there's ___ time left. a no b none c any · 6 There are ___ good programmes on tonight. I don't know what to watch. a lots of b a lot c plenty · 7 Is there ___ in the car for me, too? a room enough b enough room c too much room · 8 Most people have ___ close friends. a very little b very few c not much · 9 Is he the man ___ you met at the party? a – b whose c which · 10 Is that the woman ___ husband is a famous writer? a who b that c whose · 11 The Starry Night, ___ was painted in 1889, is by Vincent van Gogh. a which b what c that · 12 I'm very fond of Susan, ___ I used to share a flat with at university. a who b – c that · 13 They're very rich, ___? a are they b aren't they c isn't it · 14 Your brother's been to New Zealand, ___? a wasn't he b isn't he c hasn't he · 15 You won't be late, ___? a will you b won't you c are you. When most of the class is wrong, stop and ask a pair who got it right to explain (student as teacher), then go back to the Grammar Bank rule (9A third conditional · 9B quantifiers · PE5 indirect questions · 10A relative clauses · 10B question tags).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PRONUNCIATION (5 min). First do the book's Pronunciation c (What sound in a do the pink letters have in these words? caught · cough · enough · solve · tough) and d (Underline the stressed syllable: comfortable · adaptor · cable · witness · evidence) in pairs (2 min). TG answers: c 1 caught /ɔː/ · 2 cough /ɒ/ · 3 enough /f/ · 4 solve /v/ · 5 tough /ʌ/ · d 1 comfortable · 2 adaptor · 3 cable · 4 witness · 5 evidence. Then this slide: the five d words + three more from 10B. VARIATION: change the energy — the whole class claps the pattern (big clap on the stress) before the teacher clicks (one answer per click). comfortable has only 3 syllables /ˈkʌmftəbl/; suspect: noun stressed on the 1st syllable, verb on the 2nd (TG 10B).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(8 min). The video is embedded (3 min 54 s): five short street interviews. Before watching: students read the five questions and options a–c on p.105 (the slide shows the stems): 1 Sean helped a little girl who had ___ (a left her toy panda on a train · b dropped her toy panda in the station · c lost her toy panda in the car park) · 2 Because of Google maps, Adrian no longer ___ (a uses his car's satnav · b plans his route in advance · c buys maps) · 3 Nick's favourite detective is ___ (a a female detective in The Killing · b a male detective in The Bridge · c a female detective in The Bridge) · 4 Emma is going to buy a dress by Maggie Sottero ___ (a because she's getting married · b although they're very expensive · c because she saw some in a magazine) · 5 Coleen considers she has been lucky ___ (a because she has never had a car accident · b on many occasions · c because she recently survived a car accident). Play the video once (pause after each speaker if needed); pairs compare; play again if necessary. If the embedded video doesn't play, use audio 10.17. Click 1 for answers (TG): 1 b · 2 b · 3 c · 4 a · 5 b. Evidence from the video script 10.17: Sean found the toy panda on the floor on the other side of the station bridge · Adrian used to map out his route the night before, now he just uses Google maps · Nick likes Nordic noir (The Killing, The Bridge); his favourite is 'the one in The Bridge… her name' · Emma has started wedding dress shopping · Coleen can think of 'an awful lot of times' she's been lucky – the car accident was many years ago. Links to the units: Sean helped a stranger (9A), Adrian relies on technology (9B), Nick likes crime series (10B), Emma likes a designer (10A), Coleen is lucky (9A). VARIATION: personalisation — after each speaker, one student answers the same question about themselves (Have you ever helped a stranger?).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(7 min). VARIATION: beat the clock + vocabulary branching. Round 1: letter S (90 seconds); teams write one word per category. Scoring: a correct word that no other team has = 2 points; a correct word another team also has = 1 point. Click 1 shows possible S answers. Other S answers: science fiction, state school, sequel… Round 2: letter C (charger, cable; crime; car manufacturer, cycle lane, child prodigy; careless, carefully, comfortable; Carrie Fisher, Leonard Cohen ✗ — first name or surname? decide your rule first) — no slide needed, just say the letter. Round 3: letter T (tennis court, traffic jam; turn it up / turn it down; …). Be strict: the word must belong to the category and start with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(5 min). VARIATION: constraint challenge (fluency). A student picks a topic number and must speak for one minute without long hesitation (3 seconds), without repeating the same idea and without changing topic. The other team can 'challenge' — if the challenge is fair, they take over the topic for the rest of the minute. The person speaking when the minute ends gets the point. Easier version for weaker students: 30 seconds, or speak in pairs. Topics = the same as the 10.17 interviews and the CAN YOU…? sections, so everyone has something to say.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Announce the winning team! Homework: Revise and Check 9&amp;10 Vocabulary a–e and 'Can you understand this text?' a, b (answers in the key) + Online Practice Check your progress + the R9-10 homework sheet (easier version available). Tests available in the Teacher's Resource Centre (TG): Quick Test 10, File 10 Test, Progress Test Files 6–10, End-of-course Test. ⚠ Change the 'next' label if your course continues differently.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(8 min). VARIATION: role play + combining two grammar points (indirect questions + question tags).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(6 min). VARIATION: personalisation + reflection — useful feedback for the teacher and for planning next year's course (write down what they say about games and topics).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video" Target="../media/media-7-3.mp4"/><Relationship Id="rId4" Type="http://schemas.microsoft.com/office/2007/relationships/media" Target="../media/media-7-3.mp4"/><Relationship Id="rId5" Type="http://schemas.openxmlformats.org/officeDocument/2006/relationships/image" Target="../media/image-7-5.png"/><Relationship Id="rId6" Type="http://schemas.openxmlformats.org/officeDocument/2006/relationships/image" Target="../media/image-7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sp>
        <p:nvSpPr>
          <p:cNvPr id="4" name="logoBack_2"/>
          <p:cNvSpPr/>
          <p:nvPr/>
        </p:nvSpPr>
        <p:spPr>
          <a:xfrm>
            <a:off x="8229600" y="15544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8E6B4"/>
            </a:solidFill>
            <a:prstDash val="solid"/>
          </a:ln>
        </p:spPr>
      </p:sp>
      <p:pic>
        <p:nvPicPr>
          <p:cNvPr id="5" name="logo_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6" name="footer_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062F6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R&amp;C · Part 1</a:t>
            </a:r>
            <a:endParaRPr lang="en-US" sz="1000" dirty="0"/>
          </a:p>
        </p:txBody>
      </p:sp>
      <p:sp>
        <p:nvSpPr>
          <p:cNvPr id="7" name="unit_5"/>
          <p:cNvSpPr txBox="1"/>
          <p:nvPr/>
        </p:nvSpPr>
        <p:spPr>
          <a:xfrm>
            <a:off x="411480" y="3200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600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R&amp;C</a:t>
            </a:r>
            <a:endParaRPr lang="en-US" sz="4600" dirty="0"/>
          </a:p>
        </p:txBody>
      </p:sp>
      <p:sp>
        <p:nvSpPr>
          <p:cNvPr id="8" name="course_6"/>
          <p:cNvSpPr txBox="1"/>
          <p:nvPr/>
        </p:nvSpPr>
        <p:spPr>
          <a:xfrm>
            <a:off x="2103120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ENGLISH FILE B1 · R&amp;C · Part 1 · SB pp.104–105</a:t>
            </a:r>
            <a:endParaRPr lang="en-US" sz="1000" dirty="0"/>
          </a:p>
        </p:txBody>
      </p:sp>
      <p:sp>
        <p:nvSpPr>
          <p:cNvPr id="9" name="title_7"/>
          <p:cNvSpPr txBox="1"/>
          <p:nvPr/>
        </p:nvSpPr>
        <p:spPr>
          <a:xfrm rot="-180000">
            <a:off x="411480" y="1325880"/>
            <a:ext cx="5120640" cy="777240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REVISE AND CHECK 9&amp;10</a:t>
            </a:r>
            <a:endParaRPr lang="en-US" sz="2200" dirty="0"/>
          </a:p>
        </p:txBody>
      </p:sp>
      <p:sp>
        <p:nvSpPr>
          <p:cNvPr id="10" name="stamp_8"/>
          <p:cNvSpPr txBox="1"/>
          <p:nvPr/>
        </p:nvSpPr>
        <p:spPr>
          <a:xfrm>
            <a:off x="457200" y="2468880"/>
            <a:ext cx="3140964" cy="384048"/>
          </a:xfrm>
          <a:prstGeom prst="roundRect">
            <a:avLst>
              <a:gd name="adj" fmla="val 14286"/>
            </a:avLst>
          </a:prstGeom>
          <a:solidFill>
            <a:srgbClr val="062F67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GAMES · Files 9 &amp; 10 review</a:t>
            </a:r>
            <a:endParaRPr lang="en-US" sz="1200" dirty="0"/>
          </a:p>
        </p:txBody>
      </p:sp>
      <p:sp>
        <p:nvSpPr>
          <p:cNvPr id="11" name="stamp_9"/>
          <p:cNvSpPr txBox="1"/>
          <p:nvPr/>
        </p:nvSpPr>
        <p:spPr>
          <a:xfrm>
            <a:off x="457200" y="2944368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062F67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3rd conditional · quantifiers · relatives · tags</a:t>
            </a:r>
            <a:endParaRPr lang="en-US" sz="1000" dirty="0"/>
          </a:p>
        </p:txBody>
      </p:sp>
      <p:sp>
        <p:nvSpPr>
          <p:cNvPr id="12" name="stamp_10"/>
          <p:cNvSpPr txBox="1"/>
          <p:nvPr/>
        </p:nvSpPr>
        <p:spPr>
          <a:xfrm>
            <a:off x="457200" y="3419856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062F67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LISTENING · Can you understand these people?</a:t>
            </a:r>
            <a:endParaRPr lang="en-US" sz="1200" dirty="0"/>
          </a:p>
        </p:txBody>
      </p:sp>
      <p:sp>
        <p:nvSpPr>
          <p:cNvPr id="13" name="iconBack_11"/>
          <p:cNvSpPr/>
          <p:nvPr/>
        </p:nvSpPr>
        <p:spPr>
          <a:xfrm>
            <a:off x="5669280" y="685800"/>
            <a:ext cx="1737360" cy="1737360"/>
          </a:xfrm>
          <a:prstGeom prst="ellipse">
            <a:avLst/>
          </a:prstGeom>
          <a:solidFill>
            <a:srgbClr val="FFD84D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12" descr="pi:PiTroph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033272"/>
            <a:ext cx="1042416" cy="1042416"/>
          </a:xfrm>
          <a:prstGeom prst="rect">
            <a:avLst/>
          </a:prstGeom>
        </p:spPr>
      </p:pic>
      <p:sp>
        <p:nvSpPr>
          <p:cNvPr id="15" name="iconBack_13"/>
          <p:cNvSpPr/>
          <p:nvPr/>
        </p:nvSpPr>
        <p:spPr>
          <a:xfrm>
            <a:off x="7315200" y="1508760"/>
            <a:ext cx="1097280" cy="10972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con_14" descr="pi:PiGridNi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728216"/>
            <a:ext cx="658368" cy="658368"/>
          </a:xfrm>
          <a:prstGeom prst="rect">
            <a:avLst/>
          </a:prstGeom>
        </p:spPr>
      </p:pic>
      <p:sp>
        <p:nvSpPr>
          <p:cNvPr id="17" name="iconBack_15"/>
          <p:cNvSpPr/>
          <p:nvPr/>
        </p:nvSpPr>
        <p:spPr>
          <a:xfrm>
            <a:off x="5486400" y="2514600"/>
            <a:ext cx="960120" cy="960120"/>
          </a:xfrm>
          <a:prstGeom prst="ellipse">
            <a:avLst/>
          </a:prstGeom>
          <a:solidFill>
            <a:srgbClr val="A8E6B4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8" name="icon_16" descr="pi:PiDiceFiv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2706624"/>
            <a:ext cx="576072" cy="576072"/>
          </a:xfrm>
          <a:prstGeom prst="rect">
            <a:avLst/>
          </a:prstGeom>
        </p:spPr>
      </p:pic>
      <p:sp>
        <p:nvSpPr>
          <p:cNvPr id="19" name="R1_q"/>
          <p:cNvSpPr txBox="1"/>
          <p:nvPr/>
        </p:nvSpPr>
        <p:spPr>
          <a:xfrm>
            <a:off x="5120640" y="3337560"/>
            <a:ext cx="2377440" cy="777240"/>
          </a:xfrm>
          <a:prstGeom prst="wedgeRoundRectCallou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9 and 10 – how much do you remember?</a:t>
            </a:r>
            <a:endParaRPr lang="en-US" sz="1400" dirty="0"/>
          </a:p>
        </p:txBody>
      </p:sp>
      <p:sp>
        <p:nvSpPr>
          <p:cNvPr id="20" name="R2_a"/>
          <p:cNvSpPr txBox="1"/>
          <p:nvPr/>
        </p:nvSpPr>
        <p:spPr>
          <a:xfrm>
            <a:off x="6629400" y="4069080"/>
            <a:ext cx="2148840" cy="59436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Plenty… don't we?</a:t>
            </a:r>
            <a:endParaRPr lang="en-US" sz="1300" dirty="0"/>
          </a:p>
        </p:txBody>
      </p:sp>
      <p:sp>
        <p:nvSpPr>
          <p:cNvPr id="21" name="tnote_17"/>
          <p:cNvSpPr txBox="1"/>
          <p:nvPr/>
        </p:nvSpPr>
        <p:spPr>
          <a:xfrm>
            <a:off x="411480" y="477316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timings, answers and tips are in the slide notes.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REVISION · 10B part 2 · May and June</a:t>
            </a:r>
            <a:endParaRPr lang="en-US" sz="900" dirty="0"/>
          </a:p>
        </p:txBody>
      </p:sp>
      <p:sp>
        <p:nvSpPr>
          <p:cNvPr id="6" name="timer_2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2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R&amp;C · Part 1</a:t>
            </a:r>
            <a:endParaRPr lang="en-US" sz="1000" dirty="0"/>
          </a:p>
        </p:txBody>
      </p:sp>
      <p:sp>
        <p:nvSpPr>
          <p:cNvPr id="8" name="title_23"/>
          <p:cNvSpPr txBox="1"/>
          <p:nvPr/>
        </p:nvSpPr>
        <p:spPr>
          <a:xfrm rot="-120000">
            <a:off x="320040" y="676656"/>
            <a:ext cx="432511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Put the story in order</a:t>
            </a:r>
            <a:endParaRPr lang="en-US" sz="1500" dirty="0"/>
          </a:p>
        </p:txBody>
      </p:sp>
      <p:sp>
        <p:nvSpPr>
          <p:cNvPr id="9" name="post_2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2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B45309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REMEMBER!</a:t>
            </a:r>
            <a:pPr indent="0" marL="0">
              <a:buNone/>
            </a:pPr>
            <a:r>
              <a:rPr lang="en-US" sz="9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RICORDA!</a:t>
            </a:r>
            <a:endParaRPr lang="en-US" sz="1500" dirty="0"/>
          </a:p>
        </p:txBody>
      </p:sp>
      <p:sp>
        <p:nvSpPr>
          <p:cNvPr id="11" name="signB_2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six events in order. Then tell the story!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Metti i sei eventi in ordine. Poi racconta la storia!</a:t>
            </a:r>
            <a:endParaRPr lang="en-US" sz="1250" dirty="0"/>
          </a:p>
        </p:txBody>
      </p:sp>
      <p:sp>
        <p:nvSpPr>
          <p:cNvPr id="12" name="rt_27"/>
          <p:cNvSpPr txBox="1"/>
          <p:nvPr/>
        </p:nvSpPr>
        <p:spPr>
          <a:xfrm>
            <a:off x="2788920" y="1325880"/>
            <a:ext cx="1828800" cy="365760"/>
          </a:xfrm>
          <a:prstGeom prst="rect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FIRST</a:t>
            </a:r>
            <a:endParaRPr lang="en-US" sz="1100" dirty="0"/>
          </a:p>
        </p:txBody>
      </p:sp>
      <p:sp>
        <p:nvSpPr>
          <p:cNvPr id="13" name="rb_28"/>
          <p:cNvSpPr txBox="1"/>
          <p:nvPr/>
        </p:nvSpPr>
        <p:spPr>
          <a:xfrm>
            <a:off x="2788920" y="4297680"/>
            <a:ext cx="1828800" cy="365760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LAST</a:t>
            </a:r>
            <a:endParaRPr lang="en-US" sz="1100" dirty="0"/>
          </a:p>
        </p:txBody>
      </p:sp>
      <p:sp>
        <p:nvSpPr>
          <p:cNvPr id="14" name="arrow_29"/>
          <p:cNvSpPr/>
          <p:nvPr/>
        </p:nvSpPr>
        <p:spPr>
          <a:xfrm>
            <a:off x="3474720" y="1783080"/>
            <a:ext cx="457200" cy="2423160"/>
          </a:xfrm>
          <a:prstGeom prst="upArrow">
            <a:avLst/>
          </a:prstGeom>
          <a:solidFill>
            <a:srgbClr val="A8E6B4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5" name="slot_30"/>
          <p:cNvSpPr txBox="1"/>
          <p:nvPr/>
        </p:nvSpPr>
        <p:spPr>
          <a:xfrm>
            <a:off x="4800600" y="13258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16" name="ri_31" descr="P  Walter dies. The sisters are reconciled.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360170"/>
            <a:ext cx="411480" cy="411480"/>
          </a:xfrm>
          <a:prstGeom prst="rect">
            <a:avLst/>
          </a:prstGeom>
        </p:spPr>
      </p:pic>
      <p:sp>
        <p:nvSpPr>
          <p:cNvPr id="17" name="box_32"/>
          <p:cNvSpPr txBox="1"/>
          <p:nvPr/>
        </p:nvSpPr>
        <p:spPr>
          <a:xfrm>
            <a:off x="5788152" y="1325880"/>
            <a:ext cx="3035808" cy="4800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 Walter dies. The sisters are reconciled.</a:t>
            </a:r>
            <a:endParaRPr lang="en-US" sz="1100" dirty="0"/>
          </a:p>
        </p:txBody>
      </p:sp>
      <p:sp>
        <p:nvSpPr>
          <p:cNvPr id="18" name="slot_33"/>
          <p:cNvSpPr txBox="1"/>
          <p:nvPr/>
        </p:nvSpPr>
        <p:spPr>
          <a:xfrm>
            <a:off x="4800600" y="18973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19" name="ri_34" descr="Q  June comes home for the summer holidays.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931670"/>
            <a:ext cx="411480" cy="411480"/>
          </a:xfrm>
          <a:prstGeom prst="rect">
            <a:avLst/>
          </a:prstGeom>
        </p:spPr>
      </p:pic>
      <p:sp>
        <p:nvSpPr>
          <p:cNvPr id="20" name="box_35"/>
          <p:cNvSpPr txBox="1"/>
          <p:nvPr/>
        </p:nvSpPr>
        <p:spPr>
          <a:xfrm>
            <a:off x="5788152" y="1897380"/>
            <a:ext cx="3035808" cy="4800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June comes home for the summer holidays.</a:t>
            </a:r>
            <a:endParaRPr lang="en-US" sz="1050" dirty="0"/>
          </a:p>
        </p:txBody>
      </p:sp>
      <p:sp>
        <p:nvSpPr>
          <p:cNvPr id="21" name="slot_36"/>
          <p:cNvSpPr txBox="1"/>
          <p:nvPr/>
        </p:nvSpPr>
        <p:spPr>
          <a:xfrm>
            <a:off x="4800600" y="24688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2" name="ri_37" descr="R  May finds Walter's last letter.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2503170"/>
            <a:ext cx="411480" cy="411480"/>
          </a:xfrm>
          <a:prstGeom prst="rect">
            <a:avLst/>
          </a:prstGeom>
        </p:spPr>
      </p:pic>
      <p:sp>
        <p:nvSpPr>
          <p:cNvPr id="23" name="box_38"/>
          <p:cNvSpPr txBox="1"/>
          <p:nvPr/>
        </p:nvSpPr>
        <p:spPr>
          <a:xfrm>
            <a:off x="5788152" y="2468880"/>
            <a:ext cx="3035808" cy="4800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May finds Walter's last letter.</a:t>
            </a:r>
            <a:endParaRPr lang="en-US" sz="1300" dirty="0"/>
          </a:p>
        </p:txBody>
      </p:sp>
      <p:sp>
        <p:nvSpPr>
          <p:cNvPr id="24" name="slot_39"/>
          <p:cNvSpPr txBox="1"/>
          <p:nvPr/>
        </p:nvSpPr>
        <p:spPr>
          <a:xfrm>
            <a:off x="4800600" y="30403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5" name="ri_40" descr="S  May meets Walter. They get engaged.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3074670"/>
            <a:ext cx="411480" cy="411480"/>
          </a:xfrm>
          <a:prstGeom prst="rect">
            <a:avLst/>
          </a:prstGeom>
        </p:spPr>
      </p:pic>
      <p:sp>
        <p:nvSpPr>
          <p:cNvPr id="26" name="box_41"/>
          <p:cNvSpPr txBox="1"/>
          <p:nvPr/>
        </p:nvSpPr>
        <p:spPr>
          <a:xfrm>
            <a:off x="5788152" y="3040380"/>
            <a:ext cx="3035808" cy="4800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 May meets Walter. They get engaged.</a:t>
            </a:r>
            <a:endParaRPr lang="en-US" sz="1100" dirty="0"/>
          </a:p>
        </p:txBody>
      </p:sp>
      <p:sp>
        <p:nvSpPr>
          <p:cNvPr id="27" name="slot_42"/>
          <p:cNvSpPr txBox="1"/>
          <p:nvPr/>
        </p:nvSpPr>
        <p:spPr>
          <a:xfrm>
            <a:off x="4800600" y="36118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8" name="ri_43" descr="T  May moves into June's house.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3646170"/>
            <a:ext cx="411480" cy="411480"/>
          </a:xfrm>
          <a:prstGeom prst="rect">
            <a:avLst/>
          </a:prstGeom>
        </p:spPr>
      </p:pic>
      <p:sp>
        <p:nvSpPr>
          <p:cNvPr id="29" name="box_44"/>
          <p:cNvSpPr txBox="1"/>
          <p:nvPr/>
        </p:nvSpPr>
        <p:spPr>
          <a:xfrm>
            <a:off x="5788152" y="3611880"/>
            <a:ext cx="3035808" cy="4800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 May moves into June's house.</a:t>
            </a:r>
            <a:endParaRPr lang="en-US" sz="1300" dirty="0"/>
          </a:p>
        </p:txBody>
      </p:sp>
      <p:sp>
        <p:nvSpPr>
          <p:cNvPr id="30" name="slot_45"/>
          <p:cNvSpPr txBox="1"/>
          <p:nvPr/>
        </p:nvSpPr>
        <p:spPr>
          <a:xfrm>
            <a:off x="4800600" y="41833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31" name="ri_46" descr="U  May won't speak to June at a funeral.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0" y="4217670"/>
            <a:ext cx="411480" cy="411480"/>
          </a:xfrm>
          <a:prstGeom prst="rect">
            <a:avLst/>
          </a:prstGeom>
        </p:spPr>
      </p:pic>
      <p:sp>
        <p:nvSpPr>
          <p:cNvPr id="32" name="box_47"/>
          <p:cNvSpPr txBox="1"/>
          <p:nvPr/>
        </p:nvSpPr>
        <p:spPr>
          <a:xfrm>
            <a:off x="5788152" y="4183380"/>
            <a:ext cx="3035808" cy="4800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 May won't speak to June at a funeral.</a:t>
            </a:r>
            <a:endParaRPr lang="en-US" sz="1100" dirty="0"/>
          </a:p>
        </p:txBody>
      </p:sp>
      <p:sp>
        <p:nvSpPr>
          <p:cNvPr id="33" name="R1_ans"/>
          <p:cNvSpPr txBox="1"/>
          <p:nvPr/>
        </p:nvSpPr>
        <p:spPr>
          <a:xfrm rot="-120000">
            <a:off x="411480" y="3886200"/>
            <a:ext cx="2240280" cy="77724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Q → U → P → T → R</a:t>
            </a:r>
            <a:endParaRPr lang="en-US" sz="1100" dirty="0"/>
          </a:p>
        </p:txBody>
      </p:sp>
      <p:sp>
        <p:nvSpPr>
          <p:cNvPr id="34" name="pageTag_48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revision of 10B pp.102–103 · audio 10.14–10.16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4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5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5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· Noughts and crosses</a:t>
            </a:r>
            <a:endParaRPr lang="en-US" sz="900" dirty="0"/>
          </a:p>
        </p:txBody>
      </p:sp>
      <p:sp>
        <p:nvSpPr>
          <p:cNvPr id="6" name="timer_5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footer_5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R&amp;C · Part 1</a:t>
            </a:r>
            <a:endParaRPr lang="en-US" sz="1000" dirty="0"/>
          </a:p>
        </p:txBody>
      </p:sp>
      <p:sp>
        <p:nvSpPr>
          <p:cNvPr id="8" name="title_54"/>
          <p:cNvSpPr txBox="1"/>
          <p:nvPr/>
        </p:nvSpPr>
        <p:spPr>
          <a:xfrm rot="-120000">
            <a:off x="320040" y="676656"/>
            <a:ext cx="380390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Noughts and crosses</a:t>
            </a:r>
            <a:endParaRPr lang="en-US" sz="1500" dirty="0"/>
          </a:p>
        </p:txBody>
      </p:sp>
      <p:sp>
        <p:nvSpPr>
          <p:cNvPr id="9" name="post_55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56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1" name="signB_57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square. Answer correctly = your X or O!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 una casella. Risposta giusta = la tua X o O!</a:t>
            </a:r>
            <a:endParaRPr lang="en-US" sz="1250" dirty="0"/>
          </a:p>
        </p:txBody>
      </p:sp>
      <p:sp>
        <p:nvSpPr>
          <p:cNvPr id="12" name="box_58"/>
          <p:cNvSpPr txBox="1"/>
          <p:nvPr/>
        </p:nvSpPr>
        <p:spPr>
          <a:xfrm>
            <a:off x="2788920" y="1371600"/>
            <a:ext cx="1926336" cy="91440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3rd conditional</a:t>
            </a:r>
            <a:endParaRPr lang="en-US" sz="1350" dirty="0"/>
          </a:p>
        </p:txBody>
      </p:sp>
      <p:sp>
        <p:nvSpPr>
          <p:cNvPr id="13" name="box_59"/>
          <p:cNvSpPr txBox="1"/>
          <p:nvPr/>
        </p:nvSpPr>
        <p:spPr>
          <a:xfrm>
            <a:off x="4843272" y="1371600"/>
            <a:ext cx="1926336" cy="91440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Word building</a:t>
            </a:r>
            <a:endParaRPr lang="en-US" sz="1350" dirty="0"/>
          </a:p>
        </p:txBody>
      </p:sp>
      <p:sp>
        <p:nvSpPr>
          <p:cNvPr id="14" name="box_60"/>
          <p:cNvSpPr txBox="1"/>
          <p:nvPr/>
        </p:nvSpPr>
        <p:spPr>
          <a:xfrm>
            <a:off x="6897624" y="1371600"/>
            <a:ext cx="1926336" cy="91440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Devices</a:t>
            </a:r>
            <a:endParaRPr lang="en-US" sz="1350" dirty="0"/>
          </a:p>
        </p:txBody>
      </p:sp>
      <p:sp>
        <p:nvSpPr>
          <p:cNvPr id="15" name="box_61"/>
          <p:cNvSpPr txBox="1"/>
          <p:nvPr/>
        </p:nvSpPr>
        <p:spPr>
          <a:xfrm>
            <a:off x="2788920" y="2414016"/>
            <a:ext cx="1926336" cy="91440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Quantifiers</a:t>
            </a:r>
            <a:endParaRPr lang="en-US" sz="1350" dirty="0"/>
          </a:p>
        </p:txBody>
      </p:sp>
      <p:sp>
        <p:nvSpPr>
          <p:cNvPr id="16" name="box_62"/>
          <p:cNvSpPr txBox="1"/>
          <p:nvPr/>
        </p:nvSpPr>
        <p:spPr>
          <a:xfrm>
            <a:off x="4843272" y="2414016"/>
            <a:ext cx="1926336" cy="91440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Polite questions</a:t>
            </a:r>
            <a:endParaRPr lang="en-US" sz="1350" dirty="0"/>
          </a:p>
        </p:txBody>
      </p:sp>
      <p:sp>
        <p:nvSpPr>
          <p:cNvPr id="17" name="box_63"/>
          <p:cNvSpPr txBox="1"/>
          <p:nvPr/>
        </p:nvSpPr>
        <p:spPr>
          <a:xfrm>
            <a:off x="6897624" y="2414016"/>
            <a:ext cx="1926336" cy="91440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Relative clauses</a:t>
            </a:r>
            <a:endParaRPr lang="en-US" sz="1350" dirty="0"/>
          </a:p>
        </p:txBody>
      </p:sp>
      <p:sp>
        <p:nvSpPr>
          <p:cNvPr id="18" name="box_64"/>
          <p:cNvSpPr txBox="1"/>
          <p:nvPr/>
        </p:nvSpPr>
        <p:spPr>
          <a:xfrm>
            <a:off x="2788920" y="3456432"/>
            <a:ext cx="1926336" cy="91440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Compound nouns</a:t>
            </a:r>
            <a:endParaRPr lang="en-US" sz="1350" dirty="0"/>
          </a:p>
        </p:txBody>
      </p:sp>
      <p:sp>
        <p:nvSpPr>
          <p:cNvPr id="19" name="box_65"/>
          <p:cNvSpPr txBox="1"/>
          <p:nvPr/>
        </p:nvSpPr>
        <p:spPr>
          <a:xfrm>
            <a:off x="4843272" y="3456432"/>
            <a:ext cx="1926336" cy="91440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Question tags</a:t>
            </a:r>
            <a:endParaRPr lang="en-US" sz="1350" dirty="0"/>
          </a:p>
        </p:txBody>
      </p:sp>
      <p:sp>
        <p:nvSpPr>
          <p:cNvPr id="20" name="box_66"/>
          <p:cNvSpPr txBox="1"/>
          <p:nvPr/>
        </p:nvSpPr>
        <p:spPr>
          <a:xfrm>
            <a:off x="6897624" y="3456432"/>
            <a:ext cx="1926336" cy="91440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Crime words</a:t>
            </a:r>
            <a:endParaRPr lang="en-US" sz="1350" dirty="0"/>
          </a:p>
        </p:txBody>
      </p:sp>
      <p:sp>
        <p:nvSpPr>
          <p:cNvPr id="21" name="pageTag_67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review of Grammar Banks 9A–10B · questions in the notes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6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6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7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· Consequence chain</a:t>
            </a:r>
            <a:endParaRPr lang="en-US" sz="900" dirty="0"/>
          </a:p>
        </p:txBody>
      </p:sp>
      <p:sp>
        <p:nvSpPr>
          <p:cNvPr id="6" name="timer_7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7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R&amp;C · Part 1</a:t>
            </a:r>
            <a:endParaRPr lang="en-US" sz="1000" dirty="0"/>
          </a:p>
        </p:txBody>
      </p:sp>
      <p:sp>
        <p:nvSpPr>
          <p:cNvPr id="8" name="title_73"/>
          <p:cNvSpPr txBox="1"/>
          <p:nvPr/>
        </p:nvSpPr>
        <p:spPr>
          <a:xfrm rot="-120000">
            <a:off x="320040" y="676656"/>
            <a:ext cx="380390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If only… the chain!</a:t>
            </a:r>
            <a:endParaRPr lang="en-US" sz="1500" dirty="0"/>
          </a:p>
        </p:txBody>
      </p:sp>
      <p:sp>
        <p:nvSpPr>
          <p:cNvPr id="9" name="post_7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7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1" name="signB_7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the chain with a third conditional. Don't break it!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 la catena con il terzo condizionale. Non romperla!</a:t>
            </a:r>
            <a:endParaRPr lang="en-US" sz="1200" dirty="0"/>
          </a:p>
        </p:txBody>
      </p:sp>
      <p:sp>
        <p:nvSpPr>
          <p:cNvPr id="12" name="iconBack_77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78" descr="pi:PiLinkSimp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num_79"/>
          <p:cNvSpPr txBox="1"/>
          <p:nvPr/>
        </p:nvSpPr>
        <p:spPr>
          <a:xfrm>
            <a:off x="2788920" y="1412748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box_80"/>
          <p:cNvSpPr txBox="1"/>
          <p:nvPr/>
        </p:nvSpPr>
        <p:spPr>
          <a:xfrm>
            <a:off x="3264408" y="1371600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starts: If I hadn't overslept, I wouldn't have missed the bus.</a:t>
            </a:r>
            <a:endParaRPr lang="en-US" sz="1250" dirty="0"/>
          </a:p>
        </p:txBody>
      </p:sp>
      <p:sp>
        <p:nvSpPr>
          <p:cNvPr id="16" name="num_81"/>
          <p:cNvSpPr txBox="1"/>
          <p:nvPr/>
        </p:nvSpPr>
        <p:spPr>
          <a:xfrm>
            <a:off x="2788920" y="1970532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box_82"/>
          <p:cNvSpPr txBox="1"/>
          <p:nvPr/>
        </p:nvSpPr>
        <p:spPr>
          <a:xfrm>
            <a:off x="3264408" y="1929384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student: If I hadn't missed the bus, I wouldn't have…</a:t>
            </a:r>
            <a:endParaRPr lang="en-US" sz="1250" dirty="0"/>
          </a:p>
        </p:txBody>
      </p:sp>
      <p:sp>
        <p:nvSpPr>
          <p:cNvPr id="18" name="num_83"/>
          <p:cNvSpPr txBox="1"/>
          <p:nvPr/>
        </p:nvSpPr>
        <p:spPr>
          <a:xfrm>
            <a:off x="2788920" y="252831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box_84"/>
          <p:cNvSpPr txBox="1"/>
          <p:nvPr/>
        </p:nvSpPr>
        <p:spPr>
          <a:xfrm>
            <a:off x="3264408" y="2487168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starts with the END of the last sentence.</a:t>
            </a:r>
            <a:endParaRPr lang="en-US" sz="1250" dirty="0"/>
          </a:p>
        </p:txBody>
      </p:sp>
      <p:sp>
        <p:nvSpPr>
          <p:cNvPr id="20" name="num_85"/>
          <p:cNvSpPr txBox="1"/>
          <p:nvPr/>
        </p:nvSpPr>
        <p:spPr>
          <a:xfrm>
            <a:off x="2788920" y="3086100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box_86"/>
          <p:cNvSpPr txBox="1"/>
          <p:nvPr/>
        </p:nvSpPr>
        <p:spPr>
          <a:xfrm>
            <a:off x="3264408" y="3044952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form or 5 seconds of silence = the chain breaks. Start a new chain!</a:t>
            </a:r>
            <a:endParaRPr lang="en-US" sz="1250" dirty="0"/>
          </a:p>
        </p:txBody>
      </p:sp>
      <p:sp>
        <p:nvSpPr>
          <p:cNvPr id="22" name="num_87"/>
          <p:cNvSpPr txBox="1"/>
          <p:nvPr/>
        </p:nvSpPr>
        <p:spPr>
          <a:xfrm>
            <a:off x="2788920" y="3643884"/>
            <a:ext cx="384048" cy="384048"/>
          </a:xfrm>
          <a:prstGeom prst="ellipse">
            <a:avLst/>
          </a:prstGeom>
          <a:solidFill>
            <a:srgbClr val="6D3FC0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box_88"/>
          <p:cNvSpPr txBox="1"/>
          <p:nvPr/>
        </p:nvSpPr>
        <p:spPr>
          <a:xfrm>
            <a:off x="3264408" y="3602736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chain wins: count the links on the board.</a:t>
            </a:r>
            <a:endParaRPr lang="en-US" sz="1250" dirty="0"/>
          </a:p>
        </p:txBody>
      </p:sp>
      <p:sp>
        <p:nvSpPr>
          <p:cNvPr id="24" name="bubble_89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hadn't missed the bus, I wouldn't have walked to school in the rain…</a:t>
            </a:r>
            <a:endParaRPr lang="en-US" sz="1150" dirty="0"/>
          </a:p>
        </p:txBody>
      </p:sp>
      <p:sp>
        <p:nvSpPr>
          <p:cNvPr id="25" name="pageTag_90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review of Grammar Bank 9A (third conditional)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9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92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93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· Quiz show · SB Grammar 1–15</a:t>
            </a:r>
            <a:endParaRPr lang="en-US" sz="900" dirty="0"/>
          </a:p>
        </p:txBody>
      </p:sp>
      <p:sp>
        <p:nvSpPr>
          <p:cNvPr id="6" name="timer_94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footer_95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R&amp;C · Part 1</a:t>
            </a:r>
            <a:endParaRPr lang="en-US" sz="1000" dirty="0"/>
          </a:p>
        </p:txBody>
      </p:sp>
      <p:sp>
        <p:nvSpPr>
          <p:cNvPr id="8" name="title_96"/>
          <p:cNvSpPr txBox="1"/>
          <p:nvPr/>
        </p:nvSpPr>
        <p:spPr>
          <a:xfrm rot="-120000">
            <a:off x="320040" y="676656"/>
            <a:ext cx="2761488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ABC quiz show</a:t>
            </a:r>
            <a:endParaRPr lang="en-US" sz="1500" dirty="0"/>
          </a:p>
        </p:txBody>
      </p:sp>
      <p:sp>
        <p:nvSpPr>
          <p:cNvPr id="9" name="post_97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98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1" name="signB_99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Grammar 1–15 in pairs. Then vote with your A, B, C cards!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Fate Grammar 1–15 in coppia. Poi votate con i cartellini A, B, C!</a:t>
            </a:r>
            <a:endParaRPr lang="en-US" sz="1200" dirty="0"/>
          </a:p>
        </p:txBody>
      </p:sp>
      <p:sp>
        <p:nvSpPr>
          <p:cNvPr id="12" name="iconBack_100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01" descr="pi:PiTroph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num_102"/>
          <p:cNvSpPr txBox="1"/>
          <p:nvPr/>
        </p:nvSpPr>
        <p:spPr>
          <a:xfrm>
            <a:off x="2788920" y="1412748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box_103"/>
          <p:cNvSpPr txBox="1"/>
          <p:nvPr/>
        </p:nvSpPr>
        <p:spPr>
          <a:xfrm>
            <a:off x="3264408" y="1371600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Pairs: do Revise and Check 9&amp;10 Grammar 1–15 in the book (4 minutes).</a:t>
            </a:r>
            <a:endParaRPr lang="en-US" sz="1250" dirty="0"/>
          </a:p>
        </p:txBody>
      </p:sp>
      <p:sp>
        <p:nvSpPr>
          <p:cNvPr id="16" name="num_104"/>
          <p:cNvSpPr txBox="1"/>
          <p:nvPr/>
        </p:nvSpPr>
        <p:spPr>
          <a:xfrm>
            <a:off x="2788920" y="1970532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box_105"/>
          <p:cNvSpPr txBox="1"/>
          <p:nvPr/>
        </p:nvSpPr>
        <p:spPr>
          <a:xfrm>
            <a:off x="3264408" y="1929384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three cards: A, B, C (or show 1, 2, 3 fingers).</a:t>
            </a:r>
            <a:endParaRPr lang="en-US" sz="1250" dirty="0"/>
          </a:p>
        </p:txBody>
      </p:sp>
      <p:sp>
        <p:nvSpPr>
          <p:cNvPr id="18" name="num_106"/>
          <p:cNvSpPr txBox="1"/>
          <p:nvPr/>
        </p:nvSpPr>
        <p:spPr>
          <a:xfrm>
            <a:off x="2788920" y="252831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box_107"/>
          <p:cNvSpPr txBox="1"/>
          <p:nvPr/>
        </p:nvSpPr>
        <p:spPr>
          <a:xfrm>
            <a:off x="3264408" y="2487168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reads question 1: 3, 2, 1… everybody shows their answer at the same time!</a:t>
            </a:r>
            <a:endParaRPr lang="en-US" sz="1050" dirty="0"/>
          </a:p>
        </p:txBody>
      </p:sp>
      <p:sp>
        <p:nvSpPr>
          <p:cNvPr id="20" name="num_108"/>
          <p:cNvSpPr txBox="1"/>
          <p:nvPr/>
        </p:nvSpPr>
        <p:spPr>
          <a:xfrm>
            <a:off x="2788920" y="3086100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box_109"/>
          <p:cNvSpPr txBox="1"/>
          <p:nvPr/>
        </p:nvSpPr>
        <p:spPr>
          <a:xfrm>
            <a:off x="3264408" y="3044952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pair = 1 point. If it's 50/50 in the class, a student explains the answer.</a:t>
            </a:r>
            <a:endParaRPr lang="en-US" sz="1200" dirty="0"/>
          </a:p>
        </p:txBody>
      </p:sp>
      <p:sp>
        <p:nvSpPr>
          <p:cNvPr id="22" name="num_110"/>
          <p:cNvSpPr txBox="1"/>
          <p:nvPr/>
        </p:nvSpPr>
        <p:spPr>
          <a:xfrm>
            <a:off x="2788920" y="3643884"/>
            <a:ext cx="384048" cy="384048"/>
          </a:xfrm>
          <a:prstGeom prst="ellipse">
            <a:avLst/>
          </a:prstGeom>
          <a:solidFill>
            <a:srgbClr val="6D3FC0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box_111"/>
          <p:cNvSpPr txBox="1"/>
          <p:nvPr/>
        </p:nvSpPr>
        <p:spPr>
          <a:xfrm>
            <a:off x="3264408" y="3602736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pair with most points is the champion!</a:t>
            </a:r>
            <a:endParaRPr lang="en-US" sz="1250" dirty="0"/>
          </a:p>
        </p:txBody>
      </p:sp>
      <p:sp>
        <p:nvSpPr>
          <p:cNvPr id="24" name="bubble_112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5… three, two, one – show me!</a:t>
            </a:r>
            <a:endParaRPr lang="en-US" sz="1300" dirty="0"/>
          </a:p>
        </p:txBody>
      </p:sp>
      <p:sp>
        <p:nvSpPr>
          <p:cNvPr id="25" name="pageTag_113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p.104 · Revise and Check 9&amp;10 · Grammar 1–15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14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15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16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PRONUNCIATION · Word stress &amp; sounds</a:t>
            </a:r>
            <a:endParaRPr lang="en-US" sz="900" dirty="0"/>
          </a:p>
        </p:txBody>
      </p:sp>
      <p:sp>
        <p:nvSpPr>
          <p:cNvPr id="6" name="timer_117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118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R&amp;C · Part 1</a:t>
            </a:r>
            <a:endParaRPr lang="en-US" sz="1000" dirty="0"/>
          </a:p>
        </p:txBody>
      </p:sp>
      <p:sp>
        <p:nvSpPr>
          <p:cNvPr id="8" name="title_119"/>
          <p:cNvSpPr txBox="1"/>
          <p:nvPr/>
        </p:nvSpPr>
        <p:spPr>
          <a:xfrm rot="-120000">
            <a:off x="320040" y="676656"/>
            <a:ext cx="328269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Clap the stress!</a:t>
            </a:r>
            <a:endParaRPr lang="en-US" sz="1500" dirty="0"/>
          </a:p>
        </p:txBody>
      </p:sp>
      <p:sp>
        <p:nvSpPr>
          <p:cNvPr id="9" name="post_120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21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1" name="signB_122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Clap the stress! Big clap = stressed syllable.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 le mani sull'accento! Colpo forte = sillaba accentata.</a:t>
            </a:r>
            <a:endParaRPr lang="en-US" sz="1250" dirty="0"/>
          </a:p>
        </p:txBody>
      </p:sp>
      <p:sp>
        <p:nvSpPr>
          <p:cNvPr id="12" name="box_123"/>
          <p:cNvSpPr txBox="1"/>
          <p:nvPr/>
        </p:nvSpPr>
        <p:spPr>
          <a:xfrm>
            <a:off x="2788920" y="1371600"/>
            <a:ext cx="1476756" cy="72694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comfortable</a:t>
            </a:r>
            <a:endParaRPr lang="en-US" sz="1400" dirty="0"/>
          </a:p>
        </p:txBody>
      </p:sp>
      <p:sp>
        <p:nvSpPr>
          <p:cNvPr id="13" name="R1_a0"/>
          <p:cNvSpPr txBox="1"/>
          <p:nvPr/>
        </p:nvSpPr>
        <p:spPr>
          <a:xfrm>
            <a:off x="4320540" y="1408176"/>
            <a:ext cx="1421892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●○○</a:t>
            </a:r>
            <a:endParaRPr lang="en-US" sz="1200" dirty="0"/>
          </a:p>
        </p:txBody>
      </p:sp>
      <p:sp>
        <p:nvSpPr>
          <p:cNvPr id="14" name="box_124"/>
          <p:cNvSpPr txBox="1"/>
          <p:nvPr/>
        </p:nvSpPr>
        <p:spPr>
          <a:xfrm>
            <a:off x="5870448" y="1371600"/>
            <a:ext cx="1476756" cy="72694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adaptor</a:t>
            </a:r>
            <a:endParaRPr lang="en-US" sz="1400" dirty="0"/>
          </a:p>
        </p:txBody>
      </p:sp>
      <p:sp>
        <p:nvSpPr>
          <p:cNvPr id="15" name="R2_a1"/>
          <p:cNvSpPr txBox="1"/>
          <p:nvPr/>
        </p:nvSpPr>
        <p:spPr>
          <a:xfrm>
            <a:off x="7402068" y="1408176"/>
            <a:ext cx="1421892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aDAPtor ○●○</a:t>
            </a:r>
            <a:endParaRPr lang="en-US" sz="1200" dirty="0"/>
          </a:p>
        </p:txBody>
      </p:sp>
      <p:sp>
        <p:nvSpPr>
          <p:cNvPr id="16" name="box_125"/>
          <p:cNvSpPr txBox="1"/>
          <p:nvPr/>
        </p:nvSpPr>
        <p:spPr>
          <a:xfrm>
            <a:off x="2788920" y="2226564"/>
            <a:ext cx="1476756" cy="72694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cable</a:t>
            </a:r>
            <a:endParaRPr lang="en-US" sz="1400" dirty="0"/>
          </a:p>
        </p:txBody>
      </p:sp>
      <p:sp>
        <p:nvSpPr>
          <p:cNvPr id="17" name="R3_a2"/>
          <p:cNvSpPr txBox="1"/>
          <p:nvPr/>
        </p:nvSpPr>
        <p:spPr>
          <a:xfrm>
            <a:off x="4320540" y="2263140"/>
            <a:ext cx="1421892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●○</a:t>
            </a:r>
            <a:endParaRPr lang="en-US" sz="1200" dirty="0"/>
          </a:p>
        </p:txBody>
      </p:sp>
      <p:sp>
        <p:nvSpPr>
          <p:cNvPr id="18" name="box_126"/>
          <p:cNvSpPr txBox="1"/>
          <p:nvPr/>
        </p:nvSpPr>
        <p:spPr>
          <a:xfrm>
            <a:off x="5870448" y="2226564"/>
            <a:ext cx="1476756" cy="72694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witness</a:t>
            </a:r>
            <a:endParaRPr lang="en-US" sz="1400" dirty="0"/>
          </a:p>
        </p:txBody>
      </p:sp>
      <p:sp>
        <p:nvSpPr>
          <p:cNvPr id="19" name="R4_a3"/>
          <p:cNvSpPr txBox="1"/>
          <p:nvPr/>
        </p:nvSpPr>
        <p:spPr>
          <a:xfrm>
            <a:off x="7402068" y="2263140"/>
            <a:ext cx="1421892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 ●○</a:t>
            </a:r>
            <a:endParaRPr lang="en-US" sz="1200" dirty="0"/>
          </a:p>
        </p:txBody>
      </p:sp>
      <p:sp>
        <p:nvSpPr>
          <p:cNvPr id="20" name="box_127"/>
          <p:cNvSpPr txBox="1"/>
          <p:nvPr/>
        </p:nvSpPr>
        <p:spPr>
          <a:xfrm>
            <a:off x="2788920" y="3081528"/>
            <a:ext cx="1476756" cy="726948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evidence</a:t>
            </a:r>
            <a:endParaRPr lang="en-US" sz="1400" dirty="0"/>
          </a:p>
        </p:txBody>
      </p:sp>
      <p:sp>
        <p:nvSpPr>
          <p:cNvPr id="21" name="R5_a4"/>
          <p:cNvSpPr txBox="1"/>
          <p:nvPr/>
        </p:nvSpPr>
        <p:spPr>
          <a:xfrm>
            <a:off x="4320540" y="3118104"/>
            <a:ext cx="1421892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●○○</a:t>
            </a:r>
            <a:endParaRPr lang="en-US" sz="1200" dirty="0"/>
          </a:p>
        </p:txBody>
      </p:sp>
      <p:sp>
        <p:nvSpPr>
          <p:cNvPr id="22" name="box_128"/>
          <p:cNvSpPr txBox="1"/>
          <p:nvPr/>
        </p:nvSpPr>
        <p:spPr>
          <a:xfrm>
            <a:off x="5870448" y="3081528"/>
            <a:ext cx="1476756" cy="726948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detective</a:t>
            </a:r>
            <a:endParaRPr lang="en-US" sz="1400" dirty="0"/>
          </a:p>
        </p:txBody>
      </p:sp>
      <p:sp>
        <p:nvSpPr>
          <p:cNvPr id="23" name="R6_a5"/>
          <p:cNvSpPr txBox="1"/>
          <p:nvPr/>
        </p:nvSpPr>
        <p:spPr>
          <a:xfrm>
            <a:off x="7402068" y="3118104"/>
            <a:ext cx="1421892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 ○●○</a:t>
            </a:r>
            <a:endParaRPr lang="en-US" sz="1200" dirty="0"/>
          </a:p>
        </p:txBody>
      </p:sp>
      <p:sp>
        <p:nvSpPr>
          <p:cNvPr id="24" name="box_129"/>
          <p:cNvSpPr txBox="1"/>
          <p:nvPr/>
        </p:nvSpPr>
        <p:spPr>
          <a:xfrm>
            <a:off x="2788920" y="3936492"/>
            <a:ext cx="1476756" cy="72694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suspect (noun)</a:t>
            </a:r>
            <a:endParaRPr lang="en-US" sz="1400" dirty="0"/>
          </a:p>
        </p:txBody>
      </p:sp>
      <p:sp>
        <p:nvSpPr>
          <p:cNvPr id="25" name="R7_a6"/>
          <p:cNvSpPr txBox="1"/>
          <p:nvPr/>
        </p:nvSpPr>
        <p:spPr>
          <a:xfrm>
            <a:off x="4320540" y="3973068"/>
            <a:ext cx="1421892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 ●○</a:t>
            </a:r>
            <a:endParaRPr lang="en-US" sz="1200" dirty="0"/>
          </a:p>
        </p:txBody>
      </p:sp>
      <p:sp>
        <p:nvSpPr>
          <p:cNvPr id="26" name="box_130"/>
          <p:cNvSpPr txBox="1"/>
          <p:nvPr/>
        </p:nvSpPr>
        <p:spPr>
          <a:xfrm>
            <a:off x="5870448" y="3936492"/>
            <a:ext cx="1476756" cy="72694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suspect (verb)</a:t>
            </a:r>
            <a:endParaRPr lang="en-US" sz="1400" dirty="0"/>
          </a:p>
        </p:txBody>
      </p:sp>
      <p:sp>
        <p:nvSpPr>
          <p:cNvPr id="27" name="R8_a7"/>
          <p:cNvSpPr txBox="1"/>
          <p:nvPr/>
        </p:nvSpPr>
        <p:spPr>
          <a:xfrm>
            <a:off x="7402068" y="3973068"/>
            <a:ext cx="1421892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 ○●</a:t>
            </a:r>
            <a:endParaRPr lang="en-US" sz="1200" dirty="0"/>
          </a:p>
        </p:txBody>
      </p:sp>
      <p:sp>
        <p:nvSpPr>
          <p:cNvPr id="28" name="pageTag_131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p.104 · Revise and Check 9&amp;10 · Pronunciation c, d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3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3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3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VIDEO · Can you understand these people? 9&amp;10</a:t>
            </a:r>
            <a:endParaRPr lang="en-US" sz="900" dirty="0"/>
          </a:p>
        </p:txBody>
      </p:sp>
      <p:sp>
        <p:nvSpPr>
          <p:cNvPr id="6" name="timer_13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footer_13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R&amp;C · Part 1</a:t>
            </a:r>
            <a:endParaRPr lang="en-US" sz="1000" dirty="0"/>
          </a:p>
        </p:txBody>
      </p:sp>
      <p:sp>
        <p:nvSpPr>
          <p:cNvPr id="8" name="title_137"/>
          <p:cNvSpPr txBox="1"/>
          <p:nvPr/>
        </p:nvSpPr>
        <p:spPr>
          <a:xfrm rot="-120000">
            <a:off x="320040" y="676656"/>
            <a:ext cx="484632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Five people, five stories</a:t>
            </a:r>
            <a:endParaRPr lang="en-US" sz="1500" dirty="0"/>
          </a:p>
        </p:txBody>
      </p:sp>
      <p:sp>
        <p:nvSpPr>
          <p:cNvPr id="9" name="post_13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3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F59E0B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GUARDA!</a:t>
            </a:r>
            <a:endParaRPr lang="en-US" sz="1500" dirty="0"/>
          </a:p>
        </p:txBody>
      </p:sp>
      <p:sp>
        <p:nvSpPr>
          <p:cNvPr id="11" name="signB_14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five interviews. Choose a, b or c.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le cinque interviste. Scegli a, b o c.</a:t>
            </a:r>
            <a:endParaRPr lang="en-US" sz="1250" dirty="0"/>
          </a:p>
        </p:txBody>
      </p:sp>
      <p:pic>
        <p:nvPicPr>
          <p:cNvPr id="12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788920" y="1371600"/>
            <a:ext cx="2926080" cy="1645920"/>
          </a:xfrm>
          <a:prstGeom prst="rect">
            <a:avLst/>
          </a:prstGeom>
        </p:spPr>
      </p:pic>
      <p:sp>
        <p:nvSpPr>
          <p:cNvPr id="13" name="vt_141"/>
          <p:cNvSpPr txBox="1"/>
          <p:nvPr/>
        </p:nvSpPr>
        <p:spPr>
          <a:xfrm>
            <a:off x="2788920" y="3090672"/>
            <a:ext cx="292608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understand these people? 9&amp;10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and Check 9&amp;10 · SB p.105 · video 10.17 (3'54")</a:t>
            </a:r>
            <a:endParaRPr lang="en-US" sz="1050" dirty="0"/>
          </a:p>
        </p:txBody>
      </p:sp>
      <p:sp>
        <p:nvSpPr>
          <p:cNvPr id="14" name="wyw_142"/>
          <p:cNvSpPr txBox="1"/>
          <p:nvPr/>
        </p:nvSpPr>
        <p:spPr>
          <a:xfrm>
            <a:off x="5852160" y="1371600"/>
            <a:ext cx="2971800" cy="347472"/>
          </a:xfrm>
          <a:prstGeom prst="rect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While you watch · Mentre guardi</a:t>
            </a:r>
            <a:endParaRPr lang="en-US" sz="1150" dirty="0"/>
          </a:p>
        </p:txBody>
      </p:sp>
      <p:sp>
        <p:nvSpPr>
          <p:cNvPr id="15" name="box_143"/>
          <p:cNvSpPr txBox="1"/>
          <p:nvPr/>
        </p:nvSpPr>
        <p:spPr>
          <a:xfrm>
            <a:off x="5852160" y="1810512"/>
            <a:ext cx="1783080" cy="512064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Sean helped a little girl who had…</a:t>
            </a:r>
            <a:endParaRPr lang="en-US" sz="1100" dirty="0"/>
          </a:p>
        </p:txBody>
      </p:sp>
      <p:sp>
        <p:nvSpPr>
          <p:cNvPr id="16" name="R1_va0"/>
          <p:cNvSpPr txBox="1"/>
          <p:nvPr/>
        </p:nvSpPr>
        <p:spPr>
          <a:xfrm>
            <a:off x="7680960" y="1837944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dropped it in the station</a:t>
            </a:r>
            <a:endParaRPr lang="en-US" sz="1050" dirty="0"/>
          </a:p>
        </p:txBody>
      </p:sp>
      <p:sp>
        <p:nvSpPr>
          <p:cNvPr id="17" name="box_144"/>
          <p:cNvSpPr txBox="1"/>
          <p:nvPr/>
        </p:nvSpPr>
        <p:spPr>
          <a:xfrm>
            <a:off x="5852160" y="2395728"/>
            <a:ext cx="1783080" cy="512064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Because of Google maps, Adrian no longer…</a:t>
            </a:r>
            <a:endParaRPr lang="en-US" sz="1050" dirty="0"/>
          </a:p>
        </p:txBody>
      </p:sp>
      <p:sp>
        <p:nvSpPr>
          <p:cNvPr id="18" name="R1_va1"/>
          <p:cNvSpPr txBox="1"/>
          <p:nvPr/>
        </p:nvSpPr>
        <p:spPr>
          <a:xfrm>
            <a:off x="7680960" y="2423160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plans his route</a:t>
            </a:r>
            <a:endParaRPr lang="en-US" sz="1050" dirty="0"/>
          </a:p>
        </p:txBody>
      </p:sp>
      <p:sp>
        <p:nvSpPr>
          <p:cNvPr id="19" name="box_145"/>
          <p:cNvSpPr txBox="1"/>
          <p:nvPr/>
        </p:nvSpPr>
        <p:spPr>
          <a:xfrm>
            <a:off x="5852160" y="2980944"/>
            <a:ext cx="1783080" cy="512064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Nick's favourite detective is…</a:t>
            </a:r>
            <a:endParaRPr lang="en-US" sz="1100" dirty="0"/>
          </a:p>
        </p:txBody>
      </p:sp>
      <p:sp>
        <p:nvSpPr>
          <p:cNvPr id="20" name="R1_va2"/>
          <p:cNvSpPr txBox="1"/>
          <p:nvPr/>
        </p:nvSpPr>
        <p:spPr>
          <a:xfrm>
            <a:off x="7680960" y="3008376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female · The Bridge</a:t>
            </a:r>
            <a:endParaRPr lang="en-US" sz="1050" dirty="0"/>
          </a:p>
        </p:txBody>
      </p:sp>
      <p:sp>
        <p:nvSpPr>
          <p:cNvPr id="21" name="box_146"/>
          <p:cNvSpPr txBox="1"/>
          <p:nvPr/>
        </p:nvSpPr>
        <p:spPr>
          <a:xfrm>
            <a:off x="5852160" y="3566160"/>
            <a:ext cx="1783080" cy="512064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Emma is going to buy a Maggie Sottero dress…</a:t>
            </a:r>
            <a:endParaRPr lang="en-US" sz="1050" dirty="0"/>
          </a:p>
        </p:txBody>
      </p:sp>
      <p:sp>
        <p:nvSpPr>
          <p:cNvPr id="22" name="R1_va3"/>
          <p:cNvSpPr txBox="1"/>
          <p:nvPr/>
        </p:nvSpPr>
        <p:spPr>
          <a:xfrm>
            <a:off x="7680960" y="3593592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she's getting married</a:t>
            </a:r>
            <a:endParaRPr lang="en-US" sz="1050" dirty="0"/>
          </a:p>
        </p:txBody>
      </p:sp>
      <p:sp>
        <p:nvSpPr>
          <p:cNvPr id="23" name="box_147"/>
          <p:cNvSpPr txBox="1"/>
          <p:nvPr/>
        </p:nvSpPr>
        <p:spPr>
          <a:xfrm>
            <a:off x="5852160" y="4151376"/>
            <a:ext cx="1783080" cy="512064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Coleen considers she has been lucky…</a:t>
            </a:r>
            <a:endParaRPr lang="en-US" sz="1100" dirty="0"/>
          </a:p>
        </p:txBody>
      </p:sp>
      <p:sp>
        <p:nvSpPr>
          <p:cNvPr id="24" name="R1_va4"/>
          <p:cNvSpPr txBox="1"/>
          <p:nvPr/>
        </p:nvSpPr>
        <p:spPr>
          <a:xfrm>
            <a:off x="7680960" y="4178808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many occasions</a:t>
            </a:r>
            <a:endParaRPr lang="en-US" sz="1050" dirty="0"/>
          </a:p>
        </p:txBody>
      </p:sp>
      <p:sp>
        <p:nvSpPr>
          <p:cNvPr id="25" name="bubble_148"/>
          <p:cNvSpPr txBox="1"/>
          <p:nvPr/>
        </p:nvSpPr>
        <p:spPr>
          <a:xfrm>
            <a:off x="2788920" y="3931920"/>
            <a:ext cx="2926080" cy="7315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turn: ask a partner one of the five questions!</a:t>
            </a:r>
            <a:endParaRPr lang="en-US" sz="1200" dirty="0"/>
          </a:p>
        </p:txBody>
      </p:sp>
      <p:sp>
        <p:nvSpPr>
          <p:cNvPr id="26" name="pageTag_149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p.105 · Can you understand these people? 1–5 · video / audio 10.17</a:t>
            </a:r>
            <a:endParaRPr lang="en-US" sz="1050" dirty="0"/>
          </a:p>
        </p:txBody>
      </p:sp>
      <p:sp>
        <p:nvSpPr>
          <p:cNvPr id="27" name="pframe_150"/>
          <p:cNvSpPr/>
          <p:nvPr/>
        </p:nvSpPr>
        <p:spPr>
          <a:xfrm rot="-120000">
            <a:off x="384048" y="3429000"/>
            <a:ext cx="2103120" cy="83210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8" name="pimg_151" descr="pictur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 rot="-120000">
            <a:off x="457200" y="3502152"/>
            <a:ext cx="1956816" cy="612648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 vol="80000">
                <p:cTn id="25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5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5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5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· Scattergories</a:t>
            </a:r>
            <a:endParaRPr lang="en-US" sz="900" dirty="0"/>
          </a:p>
        </p:txBody>
      </p:sp>
      <p:sp>
        <p:nvSpPr>
          <p:cNvPr id="6" name="timer_15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7 min</a:t>
            </a:r>
            <a:endParaRPr lang="en-US" sz="1200" dirty="0"/>
          </a:p>
        </p:txBody>
      </p:sp>
      <p:sp>
        <p:nvSpPr>
          <p:cNvPr id="7" name="footer_15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R&amp;C · Part 1</a:t>
            </a:r>
            <a:endParaRPr lang="en-US" sz="1000" dirty="0"/>
          </a:p>
        </p:txBody>
      </p:sp>
      <p:sp>
        <p:nvSpPr>
          <p:cNvPr id="8" name="title_157"/>
          <p:cNvSpPr txBox="1"/>
          <p:nvPr/>
        </p:nvSpPr>
        <p:spPr>
          <a:xfrm rot="-120000">
            <a:off x="320040" y="676656"/>
            <a:ext cx="467258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Scattergories: letter S!</a:t>
            </a:r>
            <a:endParaRPr lang="en-US" sz="1500" dirty="0"/>
          </a:p>
        </p:txBody>
      </p:sp>
      <p:sp>
        <p:nvSpPr>
          <p:cNvPr id="9" name="post_15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5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1" name="signB_16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Teams: one word for each category – it must start with the letter!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Squadre: una parola per categoria – deve iniziare con la lettera!</a:t>
            </a:r>
            <a:endParaRPr lang="en-US" sz="1200" dirty="0"/>
          </a:p>
        </p:txBody>
      </p:sp>
      <p:sp>
        <p:nvSpPr>
          <p:cNvPr id="12" name="iconBack_161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62" descr="pi:PiTim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box_163"/>
          <p:cNvSpPr txBox="1"/>
          <p:nvPr/>
        </p:nvSpPr>
        <p:spPr>
          <a:xfrm>
            <a:off x="2788920" y="1371600"/>
            <a:ext cx="1624432" cy="86868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an electronic device</a:t>
            </a:r>
            <a:endParaRPr lang="en-US" sz="1300" dirty="0"/>
          </a:p>
        </p:txBody>
      </p:sp>
      <p:sp>
        <p:nvSpPr>
          <p:cNvPr id="15" name="R1_a0"/>
          <p:cNvSpPr txBox="1"/>
          <p:nvPr/>
        </p:nvSpPr>
        <p:spPr>
          <a:xfrm>
            <a:off x="4468216" y="1408176"/>
            <a:ext cx="1274216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/ switch / socket</a:t>
            </a:r>
            <a:endParaRPr lang="en-US" sz="1150" dirty="0"/>
          </a:p>
        </p:txBody>
      </p:sp>
      <p:sp>
        <p:nvSpPr>
          <p:cNvPr id="16" name="box_164"/>
          <p:cNvSpPr txBox="1"/>
          <p:nvPr/>
        </p:nvSpPr>
        <p:spPr>
          <a:xfrm>
            <a:off x="5870448" y="1371600"/>
            <a:ext cx="1624432" cy="86868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 crime word</a:t>
            </a:r>
            <a:endParaRPr lang="en-US" sz="1300" dirty="0"/>
          </a:p>
        </p:txBody>
      </p:sp>
      <p:sp>
        <p:nvSpPr>
          <p:cNvPr id="17" name="R1_a1"/>
          <p:cNvSpPr txBox="1"/>
          <p:nvPr/>
        </p:nvSpPr>
        <p:spPr>
          <a:xfrm>
            <a:off x="7549744" y="1408176"/>
            <a:ext cx="1274216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 / solve</a:t>
            </a:r>
            <a:endParaRPr lang="en-US" sz="1150" dirty="0"/>
          </a:p>
        </p:txBody>
      </p:sp>
      <p:sp>
        <p:nvSpPr>
          <p:cNvPr id="18" name="box_165"/>
          <p:cNvSpPr txBox="1"/>
          <p:nvPr/>
        </p:nvSpPr>
        <p:spPr>
          <a:xfrm>
            <a:off x="2788920" y="2368296"/>
            <a:ext cx="1624432" cy="8686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 compound noun</a:t>
            </a:r>
            <a:endParaRPr lang="en-US" sz="1300" dirty="0"/>
          </a:p>
        </p:txBody>
      </p:sp>
      <p:sp>
        <p:nvSpPr>
          <p:cNvPr id="19" name="R1_a2"/>
          <p:cNvSpPr txBox="1"/>
          <p:nvPr/>
        </p:nvSpPr>
        <p:spPr>
          <a:xfrm>
            <a:off x="4468216" y="2404872"/>
            <a:ext cx="1274216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belt / soundtrack</a:t>
            </a:r>
            <a:endParaRPr lang="en-US" sz="1150" dirty="0"/>
          </a:p>
        </p:txBody>
      </p:sp>
      <p:sp>
        <p:nvSpPr>
          <p:cNvPr id="20" name="box_166"/>
          <p:cNvSpPr txBox="1"/>
          <p:nvPr/>
        </p:nvSpPr>
        <p:spPr>
          <a:xfrm>
            <a:off x="5870448" y="2368296"/>
            <a:ext cx="1624432" cy="86868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an adjective or adverb with a prefix or suffix</a:t>
            </a:r>
            <a:endParaRPr lang="en-US" sz="1300" dirty="0"/>
          </a:p>
        </p:txBody>
      </p:sp>
      <p:sp>
        <p:nvSpPr>
          <p:cNvPr id="21" name="R1_a3"/>
          <p:cNvSpPr txBox="1"/>
          <p:nvPr/>
        </p:nvSpPr>
        <p:spPr>
          <a:xfrm>
            <a:off x="7549744" y="2404872"/>
            <a:ext cx="1274216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selfish / successful / safely…</a:t>
            </a:r>
            <a:endParaRPr lang="en-US" sz="1150" dirty="0"/>
          </a:p>
        </p:txBody>
      </p:sp>
      <p:sp>
        <p:nvSpPr>
          <p:cNvPr id="22" name="box_167"/>
          <p:cNvSpPr txBox="1"/>
          <p:nvPr/>
        </p:nvSpPr>
        <p:spPr>
          <a:xfrm>
            <a:off x="2788920" y="3364992"/>
            <a:ext cx="1624432" cy="86868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 famous icon (person)</a:t>
            </a:r>
            <a:endParaRPr lang="en-US" sz="1300" dirty="0"/>
          </a:p>
        </p:txBody>
      </p:sp>
      <p:sp>
        <p:nvSpPr>
          <p:cNvPr id="23" name="R1_a4"/>
          <p:cNvSpPr txBox="1"/>
          <p:nvPr/>
        </p:nvSpPr>
        <p:spPr>
          <a:xfrm>
            <a:off x="4468216" y="3401568"/>
            <a:ext cx="1274216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real person!</a:t>
            </a:r>
            <a:endParaRPr lang="en-US" sz="1150" dirty="0"/>
          </a:p>
        </p:txBody>
      </p:sp>
      <p:sp>
        <p:nvSpPr>
          <p:cNvPr id="24" name="box_168"/>
          <p:cNvSpPr txBox="1"/>
          <p:nvPr/>
        </p:nvSpPr>
        <p:spPr>
          <a:xfrm>
            <a:off x="5870448" y="3364992"/>
            <a:ext cx="1624432" cy="86868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a verb + it + particle</a:t>
            </a:r>
            <a:endParaRPr lang="en-US" sz="1300" dirty="0"/>
          </a:p>
        </p:txBody>
      </p:sp>
      <p:sp>
        <p:nvSpPr>
          <p:cNvPr id="25" name="R1_a5"/>
          <p:cNvSpPr txBox="1"/>
          <p:nvPr/>
        </p:nvSpPr>
        <p:spPr>
          <a:xfrm>
            <a:off x="7549744" y="3401568"/>
            <a:ext cx="1274216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it on / set it</a:t>
            </a:r>
            <a:endParaRPr lang="en-US" sz="1150" dirty="0"/>
          </a:p>
        </p:txBody>
      </p:sp>
      <p:sp>
        <p:nvSpPr>
          <p:cNvPr id="26" name="pageTag_169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review of vocabulary Files 9–10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7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7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7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· Just a minute</a:t>
            </a:r>
            <a:endParaRPr lang="en-US" sz="900" dirty="0"/>
          </a:p>
        </p:txBody>
      </p:sp>
      <p:sp>
        <p:nvSpPr>
          <p:cNvPr id="6" name="timer_173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17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R&amp;C · Part 1</a:t>
            </a:r>
            <a:endParaRPr lang="en-US" sz="1000" dirty="0"/>
          </a:p>
        </p:txBody>
      </p:sp>
      <p:sp>
        <p:nvSpPr>
          <p:cNvPr id="8" name="title_175"/>
          <p:cNvSpPr txBox="1"/>
          <p:nvPr/>
        </p:nvSpPr>
        <p:spPr>
          <a:xfrm rot="-120000">
            <a:off x="320040" y="676656"/>
            <a:ext cx="293522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Just a minute!</a:t>
            </a:r>
            <a:endParaRPr lang="en-US" sz="1500" dirty="0"/>
          </a:p>
        </p:txBody>
      </p:sp>
      <p:sp>
        <p:nvSpPr>
          <p:cNvPr id="9" name="post_176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77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1" name="signB_178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for ONE minute. No stopping, no repeating!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Parla per UN minuto. Senza fermarti, senza ripetere!</a:t>
            </a:r>
            <a:endParaRPr lang="en-US" sz="1250" dirty="0"/>
          </a:p>
        </p:txBody>
      </p:sp>
      <p:sp>
        <p:nvSpPr>
          <p:cNvPr id="12" name="box_179"/>
          <p:cNvSpPr txBox="1"/>
          <p:nvPr/>
        </p:nvSpPr>
        <p:spPr>
          <a:xfrm>
            <a:off x="2788920" y="1371600"/>
            <a:ext cx="2953512" cy="86868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Luck – are you a lucky person?</a:t>
            </a:r>
            <a:endParaRPr lang="en-US" sz="1400" dirty="0"/>
          </a:p>
        </p:txBody>
      </p:sp>
      <p:sp>
        <p:nvSpPr>
          <p:cNvPr id="13" name="box_180"/>
          <p:cNvSpPr txBox="1"/>
          <p:nvPr/>
        </p:nvSpPr>
        <p:spPr>
          <a:xfrm>
            <a:off x="5870448" y="1371600"/>
            <a:ext cx="2953512" cy="86868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My phone and me</a:t>
            </a:r>
            <a:endParaRPr lang="en-US" sz="1400" dirty="0"/>
          </a:p>
        </p:txBody>
      </p:sp>
      <p:sp>
        <p:nvSpPr>
          <p:cNvPr id="14" name="box_181"/>
          <p:cNvSpPr txBox="1"/>
          <p:nvPr/>
        </p:nvSpPr>
        <p:spPr>
          <a:xfrm>
            <a:off x="2788920" y="2368296"/>
            <a:ext cx="2953512" cy="8686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 time someone helped me (or I helped someone)</a:t>
            </a:r>
            <a:endParaRPr lang="en-US" sz="1400" dirty="0"/>
          </a:p>
        </p:txBody>
      </p:sp>
      <p:sp>
        <p:nvSpPr>
          <p:cNvPr id="15" name="box_182"/>
          <p:cNvSpPr txBox="1"/>
          <p:nvPr/>
        </p:nvSpPr>
        <p:spPr>
          <a:xfrm>
            <a:off x="5870448" y="2368296"/>
            <a:ext cx="2953512" cy="86868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An icon I admire</a:t>
            </a:r>
            <a:endParaRPr lang="en-US" sz="1400" dirty="0"/>
          </a:p>
        </p:txBody>
      </p:sp>
      <p:sp>
        <p:nvSpPr>
          <p:cNvPr id="16" name="box_183"/>
          <p:cNvSpPr txBox="1"/>
          <p:nvPr/>
        </p:nvSpPr>
        <p:spPr>
          <a:xfrm>
            <a:off x="2788920" y="3364992"/>
            <a:ext cx="2953512" cy="86868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 crime story, film or series I like</a:t>
            </a:r>
            <a:endParaRPr lang="en-US" sz="1400" dirty="0"/>
          </a:p>
        </p:txBody>
      </p:sp>
      <p:sp>
        <p:nvSpPr>
          <p:cNvPr id="17" name="box_184"/>
          <p:cNvSpPr txBox="1"/>
          <p:nvPr/>
        </p:nvSpPr>
        <p:spPr>
          <a:xfrm>
            <a:off x="5870448" y="3364992"/>
            <a:ext cx="2953512" cy="86868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A weekend without technology</a:t>
            </a:r>
            <a:endParaRPr lang="en-US" sz="1400" dirty="0"/>
          </a:p>
        </p:txBody>
      </p:sp>
      <p:sp>
        <p:nvSpPr>
          <p:cNvPr id="18" name="sticky_185"/>
          <p:cNvSpPr txBox="1"/>
          <p:nvPr/>
        </p:nvSpPr>
        <p:spPr>
          <a:xfrm rot="-120000">
            <a:off x="411480" y="4069080"/>
            <a:ext cx="2194560" cy="64008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'erm…' for more than 3 seconds!</a:t>
            </a:r>
            <a:endParaRPr lang="en-US" sz="1150" dirty="0"/>
          </a:p>
        </p:txBody>
      </p:sp>
      <p:sp>
        <p:nvSpPr>
          <p:cNvPr id="19" name="pageTag_186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speaking review of Files 9–10 (the CAN YOU…? topics)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8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footer_18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R&amp;C · Part 1</a:t>
            </a:r>
            <a:endParaRPr lang="en-US" sz="1000" dirty="0"/>
          </a:p>
        </p:txBody>
      </p:sp>
      <p:sp>
        <p:nvSpPr>
          <p:cNvPr id="6" name="title_190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what you can do!</a:t>
            </a:r>
            <a:endParaRPr lang="en-US" sz="1500" dirty="0"/>
          </a:p>
        </p:txBody>
      </p:sp>
      <p:sp>
        <p:nvSpPr>
          <p:cNvPr id="7" name="sub_191"/>
          <p:cNvSpPr txBox="1"/>
          <p:nvPr/>
        </p:nvSpPr>
        <p:spPr>
          <a:xfrm>
            <a:off x="365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cosa sai fare adesso!</a:t>
            </a:r>
            <a:endParaRPr lang="en-US" sz="1200" dirty="0"/>
          </a:p>
        </p:txBody>
      </p:sp>
      <p:sp>
        <p:nvSpPr>
          <p:cNvPr id="8" name="box_192"/>
          <p:cNvSpPr txBox="1"/>
          <p:nvPr/>
        </p:nvSpPr>
        <p:spPr>
          <a:xfrm>
            <a:off x="365760" y="1600200"/>
            <a:ext cx="4846320" cy="54864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use the grammar of Files 9 and 10.</a:t>
            </a:r>
            <a:endParaRPr lang="en-US" sz="1350" dirty="0"/>
          </a:p>
        </p:txBody>
      </p:sp>
      <p:sp>
        <p:nvSpPr>
          <p:cNvPr id="9" name="faces_193"/>
          <p:cNvSpPr txBox="1"/>
          <p:nvPr/>
        </p:nvSpPr>
        <p:spPr>
          <a:xfrm>
            <a:off x="5230368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0" name="box_194"/>
          <p:cNvSpPr txBox="1"/>
          <p:nvPr/>
        </p:nvSpPr>
        <p:spPr>
          <a:xfrm>
            <a:off x="365760" y="2240280"/>
            <a:ext cx="4846320" cy="54864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understand people talking about luck, technology, icons and crime.</a:t>
            </a:r>
            <a:endParaRPr lang="en-US" sz="1200" dirty="0"/>
          </a:p>
        </p:txBody>
      </p:sp>
      <p:sp>
        <p:nvSpPr>
          <p:cNvPr id="11" name="faces_195"/>
          <p:cNvSpPr txBox="1"/>
          <p:nvPr/>
        </p:nvSpPr>
        <p:spPr>
          <a:xfrm>
            <a:off x="5230368" y="2240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2" name="box_196"/>
          <p:cNvSpPr txBox="1"/>
          <p:nvPr/>
        </p:nvSpPr>
        <p:spPr>
          <a:xfrm>
            <a:off x="365760" y="2880360"/>
            <a:ext cx="4846320" cy="54864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speak for one minute about a topic.</a:t>
            </a:r>
            <a:endParaRPr lang="en-US" sz="1350" dirty="0"/>
          </a:p>
        </p:txBody>
      </p:sp>
      <p:sp>
        <p:nvSpPr>
          <p:cNvPr id="13" name="faces_197"/>
          <p:cNvSpPr txBox="1"/>
          <p:nvPr/>
        </p:nvSpPr>
        <p:spPr>
          <a:xfrm>
            <a:off x="5230368" y="2880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4" name="hw_198"/>
          <p:cNvSpPr txBox="1"/>
          <p:nvPr/>
        </p:nvSpPr>
        <p:spPr>
          <a:xfrm rot="90000">
            <a:off x="6446520" y="1325880"/>
            <a:ext cx="2377440" cy="2651760"/>
          </a:xfrm>
          <a:prstGeom prst="rect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 · COMPITI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SB p.104: Vocabulary a–e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SB p.105: reading text a, b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Online Practice: Check your progress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Homework sheet R9-10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Hand it in on the LLS app · Consegna nell'app LLS</a:t>
            </a:r>
            <a:endParaRPr lang="en-US" sz="1250" dirty="0"/>
          </a:p>
        </p:txBody>
      </p:sp>
      <p:sp>
        <p:nvSpPr>
          <p:cNvPr id="15" name="stamp_199"/>
          <p:cNvSpPr txBox="1"/>
          <p:nvPr/>
        </p:nvSpPr>
        <p:spPr>
          <a:xfrm>
            <a:off x="365760" y="3657600"/>
            <a:ext cx="44805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done – you've finished English File B1!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0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0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Game · Hot seat</a:t>
            </a:r>
            <a:endParaRPr lang="en-US" sz="900" dirty="0"/>
          </a:p>
        </p:txBody>
      </p:sp>
      <p:sp>
        <p:nvSpPr>
          <p:cNvPr id="6" name="timer_203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extra_204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05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R&amp;C · Part 1</a:t>
            </a:r>
            <a:endParaRPr lang="en-US" sz="1000" dirty="0"/>
          </a:p>
        </p:txBody>
      </p:sp>
      <p:sp>
        <p:nvSpPr>
          <p:cNvPr id="9" name="title_206"/>
          <p:cNvSpPr txBox="1"/>
          <p:nvPr/>
        </p:nvSpPr>
        <p:spPr>
          <a:xfrm rot="-120000">
            <a:off x="320040" y="676656"/>
            <a:ext cx="3630168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am I? Hot seat</a:t>
            </a:r>
            <a:endParaRPr lang="en-US" sz="1500" dirty="0"/>
          </a:p>
        </p:txBody>
      </p:sp>
      <p:sp>
        <p:nvSpPr>
          <p:cNvPr id="10" name="post_207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208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2" name="signB_209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student is a famous person from Files 9–10. Ask polite questions!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studente è un personaggio dei File 9–10. Fai domande gentili!</a:t>
            </a:r>
            <a:endParaRPr lang="en-US" sz="1100" dirty="0"/>
          </a:p>
        </p:txBody>
      </p:sp>
      <p:sp>
        <p:nvSpPr>
          <p:cNvPr id="13" name="iconBack_210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211" descr="pi:PiUserFocu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5" name="num_212"/>
          <p:cNvSpPr txBox="1"/>
          <p:nvPr/>
        </p:nvSpPr>
        <p:spPr>
          <a:xfrm>
            <a:off x="2788920" y="1482471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box_213"/>
          <p:cNvSpPr txBox="1"/>
          <p:nvPr/>
        </p:nvSpPr>
        <p:spPr>
          <a:xfrm>
            <a:off x="3264408" y="137160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secretly chooses: Bernard Hare, Anna Magee, Rob, Jenny, Mary Quant, Zaha Hadid, Inspector Morton, May…</a:t>
            </a:r>
            <a:endParaRPr lang="en-US" sz="1300" dirty="0"/>
          </a:p>
        </p:txBody>
      </p:sp>
      <p:sp>
        <p:nvSpPr>
          <p:cNvPr id="17" name="num_214"/>
          <p:cNvSpPr txBox="1"/>
          <p:nvPr/>
        </p:nvSpPr>
        <p:spPr>
          <a:xfrm>
            <a:off x="2788920" y="2179701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box_215"/>
          <p:cNvSpPr txBox="1"/>
          <p:nvPr/>
        </p:nvSpPr>
        <p:spPr>
          <a:xfrm>
            <a:off x="3264408" y="206883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asks ONLY indirect questions: Could you tell me where you work?</a:t>
            </a:r>
            <a:endParaRPr lang="en-US" sz="1300" dirty="0"/>
          </a:p>
        </p:txBody>
      </p:sp>
      <p:sp>
        <p:nvSpPr>
          <p:cNvPr id="19" name="num_216"/>
          <p:cNvSpPr txBox="1"/>
          <p:nvPr/>
        </p:nvSpPr>
        <p:spPr>
          <a:xfrm>
            <a:off x="2788920" y="2876931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box_217"/>
          <p:cNvSpPr txBox="1"/>
          <p:nvPr/>
        </p:nvSpPr>
        <p:spPr>
          <a:xfrm>
            <a:off x="3264408" y="276606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answers in role.</a:t>
            </a:r>
            <a:endParaRPr lang="en-US" sz="1300" dirty="0"/>
          </a:p>
        </p:txBody>
      </p:sp>
      <p:sp>
        <p:nvSpPr>
          <p:cNvPr id="21" name="num_218"/>
          <p:cNvSpPr txBox="1"/>
          <p:nvPr/>
        </p:nvSpPr>
        <p:spPr>
          <a:xfrm>
            <a:off x="2788920" y="3574161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box_219"/>
          <p:cNvSpPr txBox="1"/>
          <p:nvPr/>
        </p:nvSpPr>
        <p:spPr>
          <a:xfrm>
            <a:off x="3264408" y="346329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with a tag: You're Mary Quant, aren't you?</a:t>
            </a:r>
            <a:endParaRPr lang="en-US" sz="1300" dirty="0"/>
          </a:p>
        </p:txBody>
      </p:sp>
      <p:sp>
        <p:nvSpPr>
          <p:cNvPr id="23" name="bubble_220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tell me which city you live in? – New York. – You're Jenny, aren't you?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2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22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23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Speaking · Ranking</a:t>
            </a:r>
            <a:endParaRPr lang="en-US" sz="900" dirty="0"/>
          </a:p>
        </p:txBody>
      </p:sp>
      <p:sp>
        <p:nvSpPr>
          <p:cNvPr id="6" name="timer_224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extra_225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2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R&amp;C · Part 1</a:t>
            </a:r>
            <a:endParaRPr lang="en-US" sz="1000" dirty="0"/>
          </a:p>
        </p:txBody>
      </p:sp>
      <p:sp>
        <p:nvSpPr>
          <p:cNvPr id="9" name="title_227"/>
          <p:cNvSpPr txBox="1"/>
          <p:nvPr/>
        </p:nvSpPr>
        <p:spPr>
          <a:xfrm rot="-120000">
            <a:off x="320040" y="676656"/>
            <a:ext cx="571500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best lesson of the course?</a:t>
            </a:r>
            <a:endParaRPr lang="en-US" sz="1500" dirty="0"/>
          </a:p>
        </p:txBody>
      </p:sp>
      <p:sp>
        <p:nvSpPr>
          <p:cNvPr id="10" name="post_22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22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2" name="signB_23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back at the course. Discuss in groups!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Ripensa al corso. Discutetene in gruppo!</a:t>
            </a:r>
            <a:endParaRPr lang="en-US" sz="1250" dirty="0"/>
          </a:p>
        </p:txBody>
      </p:sp>
      <p:sp>
        <p:nvSpPr>
          <p:cNvPr id="13" name="iconBack_231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232" descr="pi:PiSt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5" name="box_233"/>
          <p:cNvSpPr txBox="1"/>
          <p:nvPr/>
        </p:nvSpPr>
        <p:spPr>
          <a:xfrm>
            <a:off x="2788920" y="1371600"/>
            <a:ext cx="6035040" cy="72694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Which story or text from the book do you remember best?</a:t>
            </a:r>
            <a:endParaRPr lang="en-US" sz="1300" dirty="0"/>
          </a:p>
        </p:txBody>
      </p:sp>
      <p:sp>
        <p:nvSpPr>
          <p:cNvPr id="16" name="box_234"/>
          <p:cNvSpPr txBox="1"/>
          <p:nvPr/>
        </p:nvSpPr>
        <p:spPr>
          <a:xfrm>
            <a:off x="2788920" y="2226564"/>
            <a:ext cx="6035040" cy="72694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Which grammar point was the most useful? The most difficult?</a:t>
            </a:r>
            <a:endParaRPr lang="en-US" sz="1300" dirty="0"/>
          </a:p>
        </p:txBody>
      </p:sp>
      <p:sp>
        <p:nvSpPr>
          <p:cNvPr id="17" name="box_235"/>
          <p:cNvSpPr txBox="1"/>
          <p:nvPr/>
        </p:nvSpPr>
        <p:spPr>
          <a:xfrm>
            <a:off x="2788920" y="3081528"/>
            <a:ext cx="6035040" cy="72694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Which game was your favourite?</a:t>
            </a:r>
            <a:endParaRPr lang="en-US" sz="1300" dirty="0"/>
          </a:p>
        </p:txBody>
      </p:sp>
      <p:sp>
        <p:nvSpPr>
          <p:cNvPr id="18" name="box_236"/>
          <p:cNvSpPr txBox="1"/>
          <p:nvPr/>
        </p:nvSpPr>
        <p:spPr>
          <a:xfrm>
            <a:off x="2788920" y="3936492"/>
            <a:ext cx="6035040" cy="72694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What will you do to keep your English alive this summer?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London Language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B1 R9-10 Revise and Check 9&amp;10</dc:title>
  <dc:subject>PptxGenJS Presentation</dc:subject>
  <dc:creator>London Language School</dc:creator>
  <cp:lastModifiedBy>London Language School</cp:lastModifiedBy>
  <cp:revision>1</cp:revision>
  <dcterms:created xsi:type="dcterms:W3CDTF">2026-10-05T09:39:38Z</dcterms:created>
  <dcterms:modified xsi:type="dcterms:W3CDTF">2026-10-05T09:39:38Z</dcterms:modified>
</cp:coreProperties>
</file>