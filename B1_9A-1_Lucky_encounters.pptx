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9A PART 1 (60 min) · SB pp.86–87. Aims: listen to (and read) the true story of writer Bernard Hare and a kind ticket inspector, and three more stories about strangers; third conditional (Grammar Bank 9A p.148); sentence rhythm and the weak pronunciation of have /əv/; Communication 'Guess the conditional'. Timing: cover 2 · revision 5 · what would you do? 3 · reading 9.1 7 · listening 9.2 5 · listening 9.3 6 · story halves 3 · rule 6 · practice 5 · dictation 9.6 4 · Communication 6 · exit 3 = 55 min. OPTIONAL LEAD-IN (TG): draw a horseshoe – in Britain and America it brings good luck. What brings good / bad luck in Italy? (Keep it for 9A part 2 if time is short – it's the topic there.) Click 1: the question; elicit ideas before click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8B part 2 (5 min). VARIATION: memory test with numbers (listening for numbers recycled). Teams: the number is visible; they have 20 seconds to explain what it refers to in a full sentence – and must use a noun from the Vocabulary Bank where possible (compensation, payment, complaint, success, loss…). Click once per number. All numbers from audio 8.19: it cost him $1,200 to get the guitar repaired · for nine months he tried to claim compensation · the video has had over 16 million views · after 150,000 views United contacted Dave and offered him a payment if he took the video off YouTube (he refused – give it to charity) · he did over 200 interviews in the first three months · United's share price dropped by 10%, a loss of $180 million. Bonus (1 point): 'It would have been much cheaper to repair Dave's guitar!' – what's the grammar? (preview of today's third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(3 min). SB 1a: pairs answer the six questions 'What would you do if…?' (the six situations on the slide are the book's) and say what they would do and why. Make sure students know run out of petrol, hitchhiking / a hitchhiker, upset. VARIATION: forced choice – YES or NO (would you help?), no 'maybe', then one reason. Recycles the second conditional (7B): 'If somebody asked me for money, I'd…'. Situation 6 leads into the story: Bernard Hare had been crying on a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&amp; LISTENING (7 min). TG: Bernard Hare was born in 1958 in Leeds, in the north of England, into a mining family. 1b: go through the words and phrases in the list in the book – the police · a phone box · ill · the last train · hitchhike from Peterborough · the ticket inspector · upset (make sure students know them); play 9.1 while students read the story on p.86 (the slide is a SHORT adapted version – use the book). Pairs summarise what happened using the words in the list (2 min); elicit the summary. Click 1 for answers to our questions (from the audio script 9.1). Q5 = 1c prediction: elicit ideas but DON'T confirm. Background from the script: he didn't open the door to the police because he thought it was about the rent he hadn't paid; there were no mobile phones then. VARIATION: curiosity gap – stop exactly where the book stops ('Ten minutes later, the ticket inspector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(5 min). 1c: play 9.2 once – what really happened? Did anyone guess? 1d: students read the four questions (the slide has the book's questions); play again. TG answers: 1 The ticket inspector radioed Peterborough station and asked them to make the train to Leeds wait for Bernard · 2 He was incredibly grateful. He wanted to give the ticket inspector everything he had · 3 He asked Bernard to help the next person he sees who's in trouble, and to tell them to do the same to someone else · 4 It changed him from a young man who was nearly a criminal into a good (decent) human being. Click 1 for answers. Ask: Would a ticket inspector do this today? Would the other passengers complain? VARIATION: prediction checked + perspective change (the other passengers' point of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(6 min). Teach stranger /ˈstreɪndʒə/. 1e: students look at the three photos and predict words they will hear; play 9.3 once – which stories happened when the speaker was travelling? TG: stories 1 and 3. 1f: play again, pausing after each story – students match three sentences A–I to each story (the slide shortens the book's sentences: A The problem happened at airport security · B The problem happened when the speaker was shopping for food · C The speaker had forgotten an important rule · D The speaker was travelling with his / her family when something happened · E The speaker didn't have enough money to pay for something · F The speaker lost something that was really important for him / her · G A week later, the man returned the items which had been taken away · H The stranger was very scary · I One of the strangers who helped him / her was a child). TG: A 3 · B 2 · C 3 · D 1 · E 2 · F 1 · G 3 · H 1 · I 2. Click 1 for all answers. Details from the audio script: story 1 – on holiday in the USA, a 7-year-old's security blanket flew out of the car window on the way to the Grand Canyon; a frightening biker brought it back; the child gave him a sandwich (book 2a: 'the little girl') · story 2 – the debit card was declined; a little girl and her mother bought all the things he had put back · story 3 – the painter's paints were taken at airport security (liquids); the security man kept them and met her at baggage reclaim a week later. 1g (whole class, 1 min): Which of the four stories do you think is a) the most surprising, b) the most moving? Why? (moving = makes you feel deep emotion). 1h → EXTRA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PRESENTATION (3 min). SB 2a: pairs match the sentence halves about the stories in 1 (the slide = the book's sentences; the endings A–D are revealed in the correct order on click 1). TG: 1 C · 2 B · 3 A · 4 D. 2b: read the two sentences about Bernard's story – which one describes what happened and which an imaginary situation? 1 'If the inspector hadn't stopped the train, he would have missed his connection.' 2 'The inspector stopped the train, so he didn't miss his connection.' TG: sentence 2 describes what happened; sentence 1 describes an imaginary situation. Concept questions: Did the inspector stop the train? (yes) Did Bernard miss his connection? (no) So is sentence 1 real or imaginary? (imaginary – the opposite of what happened). 2c → the Grammar Bank (next slides). 2d–e (complete six sentences in your own words) are used as the 'beat the clock' revision at the start of 9A part 2. VARIATION: reverse the obvious – 'What would have happened if…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Grammar Bank 9A p.148: play 9.4 – students listen and repeat, copying the rhythm (the examples on the slide are from 9.4). Rules: if + past perfect, would / wouldn't have + past participle; used to talk about an imaginary or hypothetical situation in the past, usually the opposite of what really happened; the if-clause can come first or second; could have / might have can replace would have. Typical mistakes (TG): using would have in the if-clause (✗ If I would have known…); using the past perfect in both clauses (✗ If I had known, I had done something). 'd can be had or would: If I'd known (= had), I'd have helped (= would). TG: most students have problems with the 'mechanics' (which verb form goes where) and with contractions – at this level it's more important to UNDERSTAND the weak forms than to produce them. Italian learners: Se l'avessi saputo, ti avrei aiutato – the structure is the same (congiuntivo trapassato + condizionale passato), so map it: avessi saputo = had known, avrei aiutato = would have helped. EXTRA SUPPORT: Grammar photocopiable 9A p.165 = the EXTRA slide 'Third conditional: practice' after the exit (📄 B1_9A_Photocopiables.pdf, page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(5 min). Students do Grammar Bank 9A a 1–5 and b 1–5 in the book. Click 1 for the answers (TG key): a 1 I · 2 F · 3 H · 4 E · 5 A. b 1 If you hadn't taken me to the station, I would have missed my train. · 2 We wouldn't have won the match if the referee hadn't given us a penalty. · 3 You would have enjoyed the weekend if you had come with us. · 4 If I hadn't bought the theatre tickets online, they would have been more expensive. · 5 Mike would have forgotten his wife's birthday if she hadn't reminded him. The slide gaps the verbs from the key; the exact prompts are in the book. Students read the full sentences aloud with good rhythm (preparation for the next slide). VARIATION: student as teacher – pairs swap books and mark each other's answers. Homework: a 6–9, b 6–10.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(4 min). 3a: play 9.5 – students just listen: how is have pronounced after would? (TG: /əv/). Play again, pausing for repetition (the sentences are built up in two halves: If I'd known you were ill, / I would have come to see you…). Stress the information words; would have = /wʊdəv/, 'd is very weak. 3b: play 9.6 – students write the five sentences (pause after each). Click once per sentence (audio script). TG EXTRA IDEA: play again for students to repeat, then pairs practise saying them. VARIATION: dictation as a team race – first team with all five sentences perfectly spelt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 GAME (6 min). Demo first (TG): write on a piece of paper IF I'D KNOWN IT WAS YOUR BIRTHDAY, I WOULD HAVE BOUGHT YOU A PRESENT (don't show it). On the board: IF I'D KNOWN IT WAS YOUR BIRTHDAY, I ______ YOU A PRESENT (+). Elicit guesses (would have got / would have given…) and say 'Try again' until someone says 'I would have bought you a present' – 'That's correct!' Then pairs A / B go to Communication 'Guess the conditional', A p.109, B p.113. Emphasise: only complete the gap when your partner says 'That's correct'. Monitor for the rhythm and weak have /əv/. VARIATION: curiosity gap + constraint (the exact words). ⚠ The sentences are only in the SB Communication pages (not in our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SB 1h ('Have you ever helped a stranger, or been helped by a stranger? What happened?') is the first EXTRA slide. Homework: Workbook 9A 1a, 1b, 1c (third conditional) + 2a (pronunciation – needs the Workbook audio online; 2b is practice only) + Grammar Bank 9A a 6–9, b 6–10 + the 9A-1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(7 min). SB 1h: the TG suggests writing WHERE IT HAPPENED · WHAT THE PROBLEM WAS · WHAT YOU DID TO HELP A STRANGER / WHAT THE STRANGER DID TO HELP YOU on the board. Tell your own story first if you have one. After the four stories, ask: would you change any of your answers to 'What would you do?' VARIATION: personalisation with boundaries – a small, everyday story is perfect; nobody has to share anything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 Grammar photocopiable 9A 'third conditional' (TG p.165). 📄 Print: B1_9A_Photocopiables.pdf, page 1 – one copy per student. a: put the words in order to complete the sentences (1 is the example). b: put the verbs in the correct tense, using contractions where possible (1 is the example). Students work alone, then compare; click 1 for b. Official answers (TG PCM key): a 2 (We wouldn't) have missed the start of the film if you'd been here on time. · 3 (If they) 'd seen the sign, they wouldn't have sat down. · 4 (Ella would) have finished the race if she hadn't fallen over. · 5 (If I) 'd taken my umbrella, I wouldn't have got wet. · 6 (He wouldn't) have crashed if he'd stopped at the red light. b 2 'd known, 'd have taken · 3 'd have enjoyed, 'd gone · 4 'd been, wouldn't have woken up · 5 wouldn't have opened, 'd known · 6 Would you have gone, 'd invited. ACTIVATION (on the sheet): cover the sentences in a, look at the pictures and try to remember them. If there's no time in class: give it as extra homework. VARIATION: memory disruption (the Activation).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(10 min) = Communicative photocopiable 9A 'Sentence race' (TG p.194, notes p.174). 📄 Print: B1_9A_Photocopiables.pdf, page 2 – one worksheet per pair or small group (page 3 = the editable version with blank squares – print it only if you want to write your own beginnings). A track of 18 sentence halves that students complete with a third-conditional clause; the slide shows 8 of the 18 for a version without photocopies. Official procedure (TG): put Sts in pairs or small groups and give out the worksheets; set a time limit, e.g. 10 minutes – they complete as many sentences as possible; the sentences must be grammatically correct and make sense; demonstrate with the first sentence if necessary; monitor and help. When time is up, elicit sentences from different pairs / groups – the pair / group with the most correct sentences wins the race. Official possible answers (TG): 1 We wouldn't have been late if you hadn't overslept. · 2 You would have slept better if you hadn't watched TV until really late. · 3 If you'd told me you were vegan, I would have made you a salad. · 4 We would have seen the film if we had got to the cinema on time. · 5 If I'd had more money, I would have bought a better phone. · 6 We would have picked you up at the airport if we'd known when your flight arrived. · 7 If I hadn't lost my wallet, I wouldn't have had to renew my cards. · 8 If we'd missed our train, we would have phoned you. · 9 We wouldn't have gone to that hotel if we'd read the reviews. · 10 If our team had played better, we would have won. · 11 If you'd used Google maps, you wouldn't have got lost. · 12 I wouldn't have lent you that money if I'd needed it. · 13 If you hadn't left the door open, the cat wouldn't have got out. · 14 We would have bought that house if the bank had given us a mortgage. · 15 If I'd known you were coming, I would have made a cake. · 16 If you hadn't reminded me of the appointment, I would have missed it. · 17 We wouldn't have been able to buy the car if we hadn't asked my parents for a loan. · 18 I would have left a tip at the restaurant if the waiter hadn't been so unpleasant. Any logical, correct ending is fine. Check the form (if + had + past participle / would (not) have + past participle) and the weak have /əv/ when they read them out. VARIATION: beat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9A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9A</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9A · Part 1 · SB pp.86–87</a:t>
            </a:r>
            <a:endParaRPr lang="en-US" sz="1100" dirty="0"/>
          </a:p>
        </p:txBody>
      </p:sp>
      <p:sp>
        <p:nvSpPr>
          <p:cNvPr id="9" name="title_7"/>
          <p:cNvSpPr txBox="1"/>
          <p:nvPr/>
        </p:nvSpPr>
        <p:spPr>
          <a:xfrm rot="-180000">
            <a:off x="411480" y="1325880"/>
            <a:ext cx="4590288"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500" dirty="0">
                <a:solidFill>
                  <a:srgbClr val="111111"/>
                </a:solidFill>
                <a:latin typeface="Arial Black" pitchFamily="34" charset="0"/>
                <a:ea typeface="Arial Black" pitchFamily="34" charset="-122"/>
                <a:cs typeface="Arial Black" pitchFamily="34" charset="-120"/>
              </a:rPr>
              <a:t>LUCKY ENCOUNTERS</a:t>
            </a:r>
            <a:endParaRPr lang="en-US" sz="2500" dirty="0"/>
          </a:p>
        </p:txBody>
      </p:sp>
      <p:sp>
        <p:nvSpPr>
          <p:cNvPr id="10" name="stamp_8"/>
          <p:cNvSpPr txBox="1"/>
          <p:nvPr/>
        </p:nvSpPr>
        <p:spPr>
          <a:xfrm>
            <a:off x="457200" y="2468880"/>
            <a:ext cx="3621024"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Helped by a stranger</a:t>
            </a:r>
            <a:endParaRPr lang="en-US" sz="1200" dirty="0"/>
          </a:p>
        </p:txBody>
      </p:sp>
      <p:sp>
        <p:nvSpPr>
          <p:cNvPr id="11" name="stamp_9"/>
          <p:cNvSpPr txBox="1"/>
          <p:nvPr/>
        </p:nvSpPr>
        <p:spPr>
          <a:xfrm>
            <a:off x="457200" y="2944368"/>
            <a:ext cx="3140964"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third conditional</a:t>
            </a:r>
            <a:endParaRPr lang="en-US" sz="1200" dirty="0"/>
          </a:p>
        </p:txBody>
      </p:sp>
      <p:sp>
        <p:nvSpPr>
          <p:cNvPr id="12" name="stamp_10"/>
          <p:cNvSpPr txBox="1"/>
          <p:nvPr/>
        </p:nvSpPr>
        <p:spPr>
          <a:xfrm>
            <a:off x="457200" y="3419856"/>
            <a:ext cx="4572000"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sentence rhythm, weak have</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Train">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Ticket">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HandHeart">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50" b="1" dirty="0">
                <a:solidFill>
                  <a:srgbClr val="111111"/>
                </a:solidFill>
                <a:latin typeface="Calibri" pitchFamily="34" charset="0"/>
                <a:ea typeface="Calibri" pitchFamily="34" charset="-122"/>
                <a:cs typeface="Calibri" pitchFamily="34" charset="-120"/>
              </a:rPr>
              <a:t>A stranger helps you. How do you pay them back?</a:t>
            </a:r>
            <a:endParaRPr lang="en-US" sz="135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Help the next person in trouble.</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8B part 2 · United Breaks Guitars</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23"/>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the number?</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What does each number mean in Dave's story?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Cosa significa ogni numero nella storia di Dave?</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Guitar">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1810512"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1  $1,200</a:t>
            </a:r>
            <a:endParaRPr lang="en-US" sz="1600" dirty="0"/>
          </a:p>
        </p:txBody>
      </p:sp>
      <p:sp>
        <p:nvSpPr>
          <p:cNvPr id="15" name="R1_a0"/>
          <p:cNvSpPr txBox="1"/>
          <p:nvPr/>
        </p:nvSpPr>
        <p:spPr>
          <a:xfrm>
            <a:off x="4654296" y="1408176"/>
            <a:ext cx="416966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 cost of repairing his guitar</a:t>
            </a:r>
            <a:endParaRPr lang="en-US" sz="1200" dirty="0"/>
          </a:p>
        </p:txBody>
      </p:sp>
      <p:sp>
        <p:nvSpPr>
          <p:cNvPr id="16" name="box_30"/>
          <p:cNvSpPr txBox="1"/>
          <p:nvPr/>
        </p:nvSpPr>
        <p:spPr>
          <a:xfrm>
            <a:off x="2788920" y="1941576"/>
            <a:ext cx="1810512"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2  9 months</a:t>
            </a:r>
            <a:endParaRPr lang="en-US" sz="1600" dirty="0"/>
          </a:p>
        </p:txBody>
      </p:sp>
      <p:sp>
        <p:nvSpPr>
          <p:cNvPr id="17" name="R2_a1"/>
          <p:cNvSpPr txBox="1"/>
          <p:nvPr/>
        </p:nvSpPr>
        <p:spPr>
          <a:xfrm>
            <a:off x="4654296" y="1978152"/>
            <a:ext cx="416966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how long he tried to claim compensation</a:t>
            </a:r>
            <a:endParaRPr lang="en-US" sz="1200" dirty="0"/>
          </a:p>
        </p:txBody>
      </p:sp>
      <p:sp>
        <p:nvSpPr>
          <p:cNvPr id="18" name="box_31"/>
          <p:cNvSpPr txBox="1"/>
          <p:nvPr/>
        </p:nvSpPr>
        <p:spPr>
          <a:xfrm>
            <a:off x="2788920" y="2511552"/>
            <a:ext cx="1810512"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3  16 million</a:t>
            </a:r>
            <a:endParaRPr lang="en-US" sz="1600" dirty="0"/>
          </a:p>
        </p:txBody>
      </p:sp>
      <p:sp>
        <p:nvSpPr>
          <p:cNvPr id="19" name="R3_a2"/>
          <p:cNvSpPr txBox="1"/>
          <p:nvPr/>
        </p:nvSpPr>
        <p:spPr>
          <a:xfrm>
            <a:off x="4654296" y="2548128"/>
            <a:ext cx="416966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views of the video (over 16 million)</a:t>
            </a:r>
            <a:endParaRPr lang="en-US" sz="1200" dirty="0"/>
          </a:p>
        </p:txBody>
      </p:sp>
      <p:sp>
        <p:nvSpPr>
          <p:cNvPr id="20" name="box_32"/>
          <p:cNvSpPr txBox="1"/>
          <p:nvPr/>
        </p:nvSpPr>
        <p:spPr>
          <a:xfrm>
            <a:off x="2788920" y="3081528"/>
            <a:ext cx="1810512"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4  150,000</a:t>
            </a:r>
            <a:endParaRPr lang="en-US" sz="1600" dirty="0"/>
          </a:p>
        </p:txBody>
      </p:sp>
      <p:sp>
        <p:nvSpPr>
          <p:cNvPr id="21" name="R4_a3"/>
          <p:cNvSpPr txBox="1"/>
          <p:nvPr/>
        </p:nvSpPr>
        <p:spPr>
          <a:xfrm>
            <a:off x="4654296" y="3118104"/>
            <a:ext cx="416966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views when United contacted him and offered a payment</a:t>
            </a:r>
            <a:endParaRPr lang="en-US" sz="1200" dirty="0"/>
          </a:p>
        </p:txBody>
      </p:sp>
      <p:sp>
        <p:nvSpPr>
          <p:cNvPr id="22" name="box_33"/>
          <p:cNvSpPr txBox="1"/>
          <p:nvPr/>
        </p:nvSpPr>
        <p:spPr>
          <a:xfrm>
            <a:off x="2788920" y="3651504"/>
            <a:ext cx="1810512"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5  200</a:t>
            </a:r>
            <a:endParaRPr lang="en-US" sz="1600" dirty="0"/>
          </a:p>
        </p:txBody>
      </p:sp>
      <p:sp>
        <p:nvSpPr>
          <p:cNvPr id="23" name="R5_a4"/>
          <p:cNvSpPr txBox="1"/>
          <p:nvPr/>
        </p:nvSpPr>
        <p:spPr>
          <a:xfrm>
            <a:off x="4654296" y="3688080"/>
            <a:ext cx="416966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interviews in the first three months</a:t>
            </a:r>
            <a:endParaRPr lang="en-US" sz="1200" dirty="0"/>
          </a:p>
        </p:txBody>
      </p:sp>
      <p:sp>
        <p:nvSpPr>
          <p:cNvPr id="24" name="box_34"/>
          <p:cNvSpPr txBox="1"/>
          <p:nvPr/>
        </p:nvSpPr>
        <p:spPr>
          <a:xfrm>
            <a:off x="2788920" y="4221480"/>
            <a:ext cx="1810512"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600" b="1" dirty="0">
                <a:solidFill>
                  <a:srgbClr val="111111"/>
                </a:solidFill>
                <a:latin typeface="Calibri" pitchFamily="34" charset="0"/>
                <a:ea typeface="Calibri" pitchFamily="34" charset="-122"/>
                <a:cs typeface="Calibri" pitchFamily="34" charset="-120"/>
              </a:rPr>
              <a:t>6  $180 million</a:t>
            </a:r>
            <a:endParaRPr lang="en-US" sz="1600" dirty="0"/>
          </a:p>
        </p:txBody>
      </p:sp>
      <p:sp>
        <p:nvSpPr>
          <p:cNvPr id="25" name="R6_a5"/>
          <p:cNvSpPr txBox="1"/>
          <p:nvPr/>
        </p:nvSpPr>
        <p:spPr>
          <a:xfrm>
            <a:off x="4654296" y="4258056"/>
            <a:ext cx="4169664"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what United lost (share price −10%)</a:t>
            </a:r>
            <a:endParaRPr lang="en-US" sz="1200" dirty="0"/>
          </a:p>
        </p:txBody>
      </p:sp>
      <p:sp>
        <p:nvSpPr>
          <p:cNvPr id="26"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8B pp.82–83 · audio 8.19 · Vocabulary Bank Word-building p.164</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6"/>
          <p:cNvSpPr/>
          <p:nvPr/>
        </p:nvSpPr>
        <p:spPr>
          <a:xfrm>
            <a:off x="54864" y="54864"/>
            <a:ext cx="9034272" cy="5033772"/>
          </a:xfrm>
          <a:prstGeom prst="rect">
            <a:avLst/>
          </a:prstGeom>
          <a:ln w="114300">
            <a:solidFill>
              <a:srgbClr val="A8E6B4"/>
            </a:solidFill>
            <a:prstDash val="solid"/>
          </a:ln>
        </p:spPr>
      </p:sp>
      <p:pic>
        <p:nvPicPr>
          <p:cNvPr id="4" name="logo_3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Lead-in · 1a</a:t>
            </a:r>
            <a:endParaRPr lang="en-US" sz="900" dirty="0"/>
          </a:p>
        </p:txBody>
      </p:sp>
      <p:sp>
        <p:nvSpPr>
          <p:cNvPr id="6" name="timer_3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41"/>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 would you do if…?</a:t>
            </a:r>
            <a:endParaRPr lang="en-US" sz="1500" dirty="0"/>
          </a:p>
        </p:txBody>
      </p:sp>
      <p:sp>
        <p:nvSpPr>
          <p:cNvPr id="9" name="post_4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4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Would you help? Yes or no – no 'maybe'!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Aiuteresti? Sì o no – niente 'forse'!</a:t>
            </a:r>
            <a:endParaRPr lang="en-US" sz="1250" dirty="0"/>
          </a:p>
        </p:txBody>
      </p:sp>
      <p:sp>
        <p:nvSpPr>
          <p:cNvPr id="12" name="box_45"/>
          <p:cNvSpPr txBox="1"/>
          <p:nvPr/>
        </p:nvSpPr>
        <p:spPr>
          <a:xfrm>
            <a:off x="2788920" y="1371600"/>
            <a:ext cx="6035040"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somebody in the street asked you for money on your way home tonight</a:t>
            </a:r>
            <a:endParaRPr lang="en-US" sz="1150" dirty="0"/>
          </a:p>
        </p:txBody>
      </p:sp>
      <p:sp>
        <p:nvSpPr>
          <p:cNvPr id="13" name="box_46"/>
          <p:cNvSpPr txBox="1"/>
          <p:nvPr/>
        </p:nvSpPr>
        <p:spPr>
          <a:xfrm>
            <a:off x="2788920" y="1941576"/>
            <a:ext cx="6035040"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you were driving home at night and you saw somebody who had run out of petrol</a:t>
            </a:r>
            <a:endParaRPr lang="en-US" sz="1150" dirty="0"/>
          </a:p>
        </p:txBody>
      </p:sp>
      <p:sp>
        <p:nvSpPr>
          <p:cNvPr id="14" name="box_47"/>
          <p:cNvSpPr txBox="1"/>
          <p:nvPr/>
        </p:nvSpPr>
        <p:spPr>
          <a:xfrm>
            <a:off x="2788920" y="2511552"/>
            <a:ext cx="6035040"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you saw an old man being attacked in the street by a couple of teenagers</a:t>
            </a:r>
            <a:endParaRPr lang="en-US" sz="1150" dirty="0"/>
          </a:p>
        </p:txBody>
      </p:sp>
      <p:sp>
        <p:nvSpPr>
          <p:cNvPr id="15" name="box_48"/>
          <p:cNvSpPr txBox="1"/>
          <p:nvPr/>
        </p:nvSpPr>
        <p:spPr>
          <a:xfrm>
            <a:off x="2788920" y="3081528"/>
            <a:ext cx="6035040"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4  you were in a queue at a station or airport and someone asked to go in front of you because he / she was in a hurry</a:t>
            </a:r>
            <a:endParaRPr lang="en-US" sz="900" dirty="0"/>
          </a:p>
        </p:txBody>
      </p:sp>
      <p:sp>
        <p:nvSpPr>
          <p:cNvPr id="16" name="box_49"/>
          <p:cNvSpPr txBox="1"/>
          <p:nvPr/>
        </p:nvSpPr>
        <p:spPr>
          <a:xfrm>
            <a:off x="2788920" y="3651504"/>
            <a:ext cx="6035040"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you were driving to work and you saw someone by the road, hitchhiking</a:t>
            </a:r>
            <a:endParaRPr lang="en-US" sz="1150" dirty="0"/>
          </a:p>
        </p:txBody>
      </p:sp>
      <p:sp>
        <p:nvSpPr>
          <p:cNvPr id="17" name="box_50"/>
          <p:cNvSpPr txBox="1"/>
          <p:nvPr/>
        </p:nvSpPr>
        <p:spPr>
          <a:xfrm>
            <a:off x="2788920" y="4221480"/>
            <a:ext cx="6035040"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6  you saw someone on a bus or train, looking really upset</a:t>
            </a:r>
            <a:endParaRPr lang="en-US" sz="1150" dirty="0"/>
          </a:p>
        </p:txBody>
      </p:sp>
      <p:sp>
        <p:nvSpPr>
          <p:cNvPr id="18" name="sticky_51"/>
          <p:cNvSpPr txBox="1"/>
          <p:nvPr/>
        </p:nvSpPr>
        <p:spPr>
          <a:xfrm rot="-120000">
            <a:off x="411480" y="4206240"/>
            <a:ext cx="2194560" cy="50292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I'd… / I wouldn't… because…</a:t>
            </a:r>
            <a:endParaRPr lang="en-US" sz="1150" dirty="0"/>
          </a:p>
        </p:txBody>
      </p:sp>
      <p:sp>
        <p:nvSpPr>
          <p:cNvPr id="19" name="pageTag_5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p.86 · 1a</a:t>
            </a:r>
            <a:endParaRPr lang="en-US" sz="1050" dirty="0"/>
          </a:p>
        </p:txBody>
      </p:sp>
    </p:spTree>
  </p:cSld>
  <p:clrMapOvr>
    <a:masterClrMapping/>
  </p:clrMapOvr>
  <p:transition spd="med">
    <p:push dir="l"/>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3"/>
          <p:cNvSpPr/>
          <p:nvPr/>
        </p:nvSpPr>
        <p:spPr>
          <a:xfrm>
            <a:off x="54864" y="54864"/>
            <a:ext cx="9034272" cy="5033772"/>
          </a:xfrm>
          <a:prstGeom prst="rect">
            <a:avLst/>
          </a:prstGeom>
          <a:ln w="114300">
            <a:solidFill>
              <a:srgbClr val="A8E6B4"/>
            </a:solidFill>
            <a:prstDash val="solid"/>
          </a:ln>
        </p:spPr>
      </p:sp>
      <p:pic>
        <p:nvPicPr>
          <p:cNvPr id="4" name="logo_5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&amp; LISTENING · audio 9.1</a:t>
            </a:r>
            <a:endParaRPr lang="en-US" sz="900" dirty="0"/>
          </a:p>
        </p:txBody>
      </p:sp>
      <p:sp>
        <p:nvSpPr>
          <p:cNvPr id="6" name="timer_5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5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58"/>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ticket inspector</a:t>
            </a:r>
            <a:endParaRPr lang="en-US" sz="1500" dirty="0"/>
          </a:p>
        </p:txBody>
      </p:sp>
      <p:sp>
        <p:nvSpPr>
          <p:cNvPr id="9" name="rsign_59"/>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Read + listen (p.86). Summarise the story.  </a:t>
            </a:r>
            <a:pPr indent="0" marL="0">
              <a:buNone/>
            </a:pPr>
            <a:r>
              <a:rPr lang="en-US" sz="950" i="1" dirty="0">
                <a:solidFill>
                  <a:srgbClr val="E2E8F0"/>
                </a:solidFill>
                <a:latin typeface="Calibri" pitchFamily="34" charset="0"/>
                <a:ea typeface="Calibri" pitchFamily="34" charset="-122"/>
                <a:cs typeface="Calibri" pitchFamily="34" charset="-120"/>
              </a:rPr>
              <a:t>Leggi e ascolta (p.86). Riassumi la storia.</a:t>
            </a:r>
            <a:endParaRPr lang="en-US" sz="1000" dirty="0"/>
          </a:p>
        </p:txBody>
      </p:sp>
      <p:sp>
        <p:nvSpPr>
          <p:cNvPr id="10" name="rtext_60"/>
          <p:cNvSpPr txBox="1"/>
          <p:nvPr/>
        </p:nvSpPr>
        <p:spPr>
          <a:xfrm rot="-30000">
            <a:off x="320040" y="1810512"/>
            <a:ext cx="457200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The ticket inspector (adapted) – Bernard Hare</a:t>
            </a:r>
            <a:endParaRPr lang="en-US" sz="1300" dirty="0"/>
          </a:p>
          <a:p>
            <a:pPr indent="0" marL="0">
              <a:spcAft>
                <a:spcPts val="400"/>
              </a:spcAft>
              <a:buNone/>
            </a:pPr>
            <a:r>
              <a:rPr lang="en-US" sz="1350" dirty="0">
                <a:solidFill>
                  <a:srgbClr val="111111"/>
                </a:solidFill>
                <a:latin typeface="Calibri" pitchFamily="34" charset="0"/>
                <a:ea typeface="Calibri" pitchFamily="34" charset="-122"/>
                <a:cs typeface="Calibri" pitchFamily="34" charset="-120"/>
              </a:rPr>
              <a:t>Bernard was a student in London. One night the police knocked on his door. He phoned his dad from a phone box: his mum was very ill in hospital in Leeds. At the station he found he'd missed the last train to Leeds, so he took a train to Peterborough – he would miss the connection by about 20 minutes. Maybe he could hitchhike… 'Tickets, please.' The inspector could see he'd been crying. 'Is there anything I can do?' 'You could go away,' Bernard said rudely. But the inspector sat down and listened to his story. Ten minutes later, he came back…</a:t>
            </a:r>
            <a:endParaRPr lang="en-US" sz="1300" dirty="0"/>
          </a:p>
        </p:txBody>
      </p:sp>
      <p:sp>
        <p:nvSpPr>
          <p:cNvPr id="11" name="box_61"/>
          <p:cNvSpPr txBox="1"/>
          <p:nvPr/>
        </p:nvSpPr>
        <p:spPr>
          <a:xfrm>
            <a:off x="5056632" y="1810512"/>
            <a:ext cx="2185050" cy="51755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Why did his dad tell him to go home?</a:t>
            </a:r>
            <a:endParaRPr lang="en-US" sz="1150" dirty="0"/>
          </a:p>
        </p:txBody>
      </p:sp>
      <p:sp>
        <p:nvSpPr>
          <p:cNvPr id="12" name="R1_ra0"/>
          <p:cNvSpPr txBox="1"/>
          <p:nvPr/>
        </p:nvSpPr>
        <p:spPr>
          <a:xfrm>
            <a:off x="7287402" y="1837944"/>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his mum was very ill in hospital</a:t>
            </a:r>
            <a:endParaRPr lang="en-US" sz="1050" dirty="0"/>
          </a:p>
        </p:txBody>
      </p:sp>
      <p:sp>
        <p:nvSpPr>
          <p:cNvPr id="13" name="box_62"/>
          <p:cNvSpPr txBox="1"/>
          <p:nvPr/>
        </p:nvSpPr>
        <p:spPr>
          <a:xfrm>
            <a:off x="5056632" y="2401214"/>
            <a:ext cx="2185050" cy="51755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Why did he take the Peterborough train?</a:t>
            </a:r>
            <a:endParaRPr lang="en-US" sz="1150" dirty="0"/>
          </a:p>
        </p:txBody>
      </p:sp>
      <p:sp>
        <p:nvSpPr>
          <p:cNvPr id="14" name="R1_ra1"/>
          <p:cNvSpPr txBox="1"/>
          <p:nvPr/>
        </p:nvSpPr>
        <p:spPr>
          <a:xfrm>
            <a:off x="7287402" y="2428646"/>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he'd missed the last train to Leeds</a:t>
            </a:r>
            <a:endParaRPr lang="en-US" sz="1050" dirty="0"/>
          </a:p>
        </p:txBody>
      </p:sp>
      <p:sp>
        <p:nvSpPr>
          <p:cNvPr id="15" name="box_63"/>
          <p:cNvSpPr txBox="1"/>
          <p:nvPr/>
        </p:nvSpPr>
        <p:spPr>
          <a:xfrm>
            <a:off x="5056632" y="2991917"/>
            <a:ext cx="2185050" cy="51755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What was his plan in Peterborough?</a:t>
            </a:r>
            <a:endParaRPr lang="en-US" sz="1150" dirty="0"/>
          </a:p>
        </p:txBody>
      </p:sp>
      <p:sp>
        <p:nvSpPr>
          <p:cNvPr id="16" name="R1_ra2"/>
          <p:cNvSpPr txBox="1"/>
          <p:nvPr/>
        </p:nvSpPr>
        <p:spPr>
          <a:xfrm>
            <a:off x="7287402" y="3019349"/>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to hitchhike to Leeds</a:t>
            </a:r>
            <a:endParaRPr lang="en-US" sz="1050" dirty="0"/>
          </a:p>
        </p:txBody>
      </p:sp>
      <p:sp>
        <p:nvSpPr>
          <p:cNvPr id="17" name="box_64"/>
          <p:cNvSpPr txBox="1"/>
          <p:nvPr/>
        </p:nvSpPr>
        <p:spPr>
          <a:xfrm>
            <a:off x="5056632" y="3582619"/>
            <a:ext cx="2185050" cy="51755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How did he answer the inspector?</a:t>
            </a:r>
            <a:endParaRPr lang="en-US" sz="1150" dirty="0"/>
          </a:p>
        </p:txBody>
      </p:sp>
      <p:sp>
        <p:nvSpPr>
          <p:cNvPr id="18" name="R1_ra3"/>
          <p:cNvSpPr txBox="1"/>
          <p:nvPr/>
        </p:nvSpPr>
        <p:spPr>
          <a:xfrm>
            <a:off x="7287402" y="3610051"/>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rudely: 'You could go away.'</a:t>
            </a:r>
            <a:endParaRPr lang="en-US" sz="1050" dirty="0"/>
          </a:p>
        </p:txBody>
      </p:sp>
      <p:sp>
        <p:nvSpPr>
          <p:cNvPr id="19" name="box_65"/>
          <p:cNvSpPr txBox="1"/>
          <p:nvPr/>
        </p:nvSpPr>
        <p:spPr>
          <a:xfrm>
            <a:off x="5056632" y="4173322"/>
            <a:ext cx="2185050" cy="51755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What do you think happened next?</a:t>
            </a:r>
            <a:endParaRPr lang="en-US" sz="1150" dirty="0"/>
          </a:p>
        </p:txBody>
      </p:sp>
      <p:sp>
        <p:nvSpPr>
          <p:cNvPr id="20" name="R1_ra4"/>
          <p:cNvSpPr txBox="1"/>
          <p:nvPr/>
        </p:nvSpPr>
        <p:spPr>
          <a:xfrm>
            <a:off x="7287402" y="4200754"/>
            <a:ext cx="1536558" cy="462686"/>
          </a:xfrm>
          <a:prstGeom prst="roundRect">
            <a:avLst>
              <a:gd name="adj" fmla="val 1185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Listen to 9.2!</a:t>
            </a:r>
            <a:endParaRPr lang="en-US" sz="1050" dirty="0"/>
          </a:p>
        </p:txBody>
      </p:sp>
      <p:sp>
        <p:nvSpPr>
          <p:cNvPr id="21" name="pageTag_6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p.86 · 1b · audio 9.1</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67"/>
          <p:cNvSpPr/>
          <p:nvPr/>
        </p:nvSpPr>
        <p:spPr>
          <a:xfrm>
            <a:off x="54864" y="54864"/>
            <a:ext cx="9034272" cy="5033772"/>
          </a:xfrm>
          <a:prstGeom prst="rect">
            <a:avLst/>
          </a:prstGeom>
          <a:ln w="114300">
            <a:solidFill>
              <a:srgbClr val="A8E6B4"/>
            </a:solidFill>
            <a:prstDash val="solid"/>
          </a:ln>
        </p:spPr>
      </p:sp>
      <p:pic>
        <p:nvPicPr>
          <p:cNvPr id="4" name="logo_6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audio 9.2</a:t>
            </a:r>
            <a:endParaRPr lang="en-US" sz="900" dirty="0"/>
          </a:p>
        </p:txBody>
      </p:sp>
      <p:sp>
        <p:nvSpPr>
          <p:cNvPr id="6" name="timer_7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7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72"/>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 did he do?</a:t>
            </a:r>
            <a:endParaRPr lang="en-US" sz="1500" dirty="0"/>
          </a:p>
        </p:txBody>
      </p:sp>
      <p:sp>
        <p:nvSpPr>
          <p:cNvPr id="9" name="post_7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74"/>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7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Were you right? Listen and answer.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Avevi ragione? Ascolta e rispondi.</a:t>
            </a:r>
            <a:endParaRPr lang="en-US" sz="1250" dirty="0"/>
          </a:p>
        </p:txBody>
      </p:sp>
      <p:sp>
        <p:nvSpPr>
          <p:cNvPr id="12" name="tr_76"/>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9.2</a:t>
            </a:r>
            <a:endParaRPr lang="en-US" sz="1400" dirty="0"/>
          </a:p>
        </p:txBody>
      </p:sp>
      <p:sp>
        <p:nvSpPr>
          <p:cNvPr id="13" name="box_77"/>
          <p:cNvSpPr txBox="1"/>
          <p:nvPr/>
        </p:nvSpPr>
        <p:spPr>
          <a:xfrm>
            <a:off x="2788920" y="2103120"/>
            <a:ext cx="301752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What did the ticket inspector do for Bernard?</a:t>
            </a:r>
            <a:endParaRPr lang="en-US" sz="1200" dirty="0"/>
          </a:p>
        </p:txBody>
      </p:sp>
      <p:sp>
        <p:nvSpPr>
          <p:cNvPr id="14" name="R1_la0"/>
          <p:cNvSpPr txBox="1"/>
          <p:nvPr/>
        </p:nvSpPr>
        <p:spPr>
          <a:xfrm>
            <a:off x="5861304" y="2130552"/>
            <a:ext cx="296265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radioed Peterborough – the Leeds train waited for him</a:t>
            </a:r>
            <a:endParaRPr lang="en-US" sz="1100" dirty="0"/>
          </a:p>
        </p:txBody>
      </p:sp>
      <p:sp>
        <p:nvSpPr>
          <p:cNvPr id="15" name="box_78"/>
          <p:cNvSpPr txBox="1"/>
          <p:nvPr/>
        </p:nvSpPr>
        <p:spPr>
          <a:xfrm>
            <a:off x="2788920" y="2743200"/>
            <a:ext cx="301752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How did Bernard react?</a:t>
            </a:r>
            <a:endParaRPr lang="en-US" sz="1200" dirty="0"/>
          </a:p>
        </p:txBody>
      </p:sp>
      <p:sp>
        <p:nvSpPr>
          <p:cNvPr id="16" name="R1_la1"/>
          <p:cNvSpPr txBox="1"/>
          <p:nvPr/>
        </p:nvSpPr>
        <p:spPr>
          <a:xfrm>
            <a:off x="5861304" y="2770632"/>
            <a:ext cx="296265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incredibly grateful – wanted to give him everything he had</a:t>
            </a:r>
            <a:endParaRPr lang="en-US" sz="1100" dirty="0"/>
          </a:p>
        </p:txBody>
      </p:sp>
      <p:sp>
        <p:nvSpPr>
          <p:cNvPr id="17" name="box_79"/>
          <p:cNvSpPr txBox="1"/>
          <p:nvPr/>
        </p:nvSpPr>
        <p:spPr>
          <a:xfrm>
            <a:off x="2788920" y="3383280"/>
            <a:ext cx="301752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What did the ticket inspector then ask Bernard to do?</a:t>
            </a:r>
            <a:endParaRPr lang="en-US" sz="1200" dirty="0"/>
          </a:p>
        </p:txBody>
      </p:sp>
      <p:sp>
        <p:nvSpPr>
          <p:cNvPr id="18" name="R1_la2"/>
          <p:cNvSpPr txBox="1"/>
          <p:nvPr/>
        </p:nvSpPr>
        <p:spPr>
          <a:xfrm>
            <a:off x="5861304" y="3410712"/>
            <a:ext cx="296265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help the next person in trouble – and tell them to do the same</a:t>
            </a:r>
            <a:endParaRPr lang="en-US" sz="1100" dirty="0"/>
          </a:p>
        </p:txBody>
      </p:sp>
      <p:sp>
        <p:nvSpPr>
          <p:cNvPr id="19" name="box_80"/>
          <p:cNvSpPr txBox="1"/>
          <p:nvPr/>
        </p:nvSpPr>
        <p:spPr>
          <a:xfrm>
            <a:off x="2788920" y="4023360"/>
            <a:ext cx="301752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How did this experience change him?</a:t>
            </a:r>
            <a:endParaRPr lang="en-US" sz="1200" dirty="0"/>
          </a:p>
        </p:txBody>
      </p:sp>
      <p:sp>
        <p:nvSpPr>
          <p:cNvPr id="20" name="R1_la3"/>
          <p:cNvSpPr txBox="1"/>
          <p:nvPr/>
        </p:nvSpPr>
        <p:spPr>
          <a:xfrm>
            <a:off x="5861304" y="4050792"/>
            <a:ext cx="296265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from nearly a criminal into a good human being</a:t>
            </a:r>
            <a:endParaRPr lang="en-US" sz="1100" dirty="0"/>
          </a:p>
        </p:txBody>
      </p:sp>
      <p:sp>
        <p:nvSpPr>
          <p:cNvPr id="21" name="pageTag_8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p.86 · 1c, 1d · audio 9.2</a:t>
            </a:r>
            <a:endParaRPr lang="en-US" sz="1050" dirty="0"/>
          </a:p>
        </p:txBody>
      </p:sp>
      <p:sp>
        <p:nvSpPr>
          <p:cNvPr id="22" name="pframe_82"/>
          <p:cNvSpPr/>
          <p:nvPr/>
        </p:nvSpPr>
        <p:spPr>
          <a:xfrm rot="-120000">
            <a:off x="548640" y="3127248"/>
            <a:ext cx="1280160" cy="1554480"/>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3" name="pimg_83" descr="Bernard Hare">    </p:cNvPr>
          <p:cNvPicPr>
            <a:picLocks noChangeAspect="1"/>
          </p:cNvPicPr>
          <p:nvPr/>
        </p:nvPicPr>
        <p:blipFill>
          <a:blip r:embed="rId3"/>
          <a:srcRect l="0" r="0" t="0" b="0"/>
          <a:stretch/>
        </p:blipFill>
        <p:spPr>
          <a:xfrm rot="-120000">
            <a:off x="621792" y="3200400"/>
            <a:ext cx="1133856" cy="1133856"/>
          </a:xfrm>
          <a:prstGeom prst="rect">
            <a:avLst/>
          </a:prstGeom>
        </p:spPr>
      </p:pic>
      <p:sp>
        <p:nvSpPr>
          <p:cNvPr id="24" name="pcap_84"/>
          <p:cNvSpPr txBox="1"/>
          <p:nvPr/>
        </p:nvSpPr>
        <p:spPr>
          <a:xfrm rot="-120000">
            <a:off x="548640" y="4343400"/>
            <a:ext cx="128016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Bernard Hare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5"/>
          <p:cNvSpPr/>
          <p:nvPr/>
        </p:nvSpPr>
        <p:spPr>
          <a:xfrm>
            <a:off x="54864" y="54864"/>
            <a:ext cx="9034272" cy="5033772"/>
          </a:xfrm>
          <a:prstGeom prst="rect">
            <a:avLst/>
          </a:prstGeom>
          <a:ln w="114300">
            <a:solidFill>
              <a:srgbClr val="A8E6B4"/>
            </a:solidFill>
            <a:prstDash val="solid"/>
          </a:ln>
        </p:spPr>
      </p:sp>
      <p:pic>
        <p:nvPicPr>
          <p:cNvPr id="4" name="logo_8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audio 9.3</a:t>
            </a:r>
            <a:endParaRPr lang="en-US" sz="900" dirty="0"/>
          </a:p>
        </p:txBody>
      </p:sp>
      <p:sp>
        <p:nvSpPr>
          <p:cNvPr id="6" name="timer_8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8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90"/>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Three kind strangers</a:t>
            </a:r>
            <a:endParaRPr lang="en-US" sz="1500" dirty="0"/>
          </a:p>
        </p:txBody>
      </p:sp>
      <p:sp>
        <p:nvSpPr>
          <p:cNvPr id="9" name="post_9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92"/>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9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Look at the photos. Guess the words. Then listen.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le foto. Indovina le parole. Poi ascolta.</a:t>
            </a:r>
            <a:endParaRPr lang="en-US" sz="1250" dirty="0"/>
          </a:p>
        </p:txBody>
      </p:sp>
      <p:sp>
        <p:nvSpPr>
          <p:cNvPr id="12" name="tr_94"/>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9.3</a:t>
            </a:r>
            <a:endParaRPr lang="en-US" sz="1400" dirty="0"/>
          </a:p>
        </p:txBody>
      </p:sp>
      <p:sp>
        <p:nvSpPr>
          <p:cNvPr id="13" name="box_95"/>
          <p:cNvSpPr txBox="1"/>
          <p:nvPr/>
        </p:nvSpPr>
        <p:spPr>
          <a:xfrm>
            <a:off x="2788920" y="2103120"/>
            <a:ext cx="446593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e Which one(s) happened when the people were travelling?</a:t>
            </a:r>
            <a:endParaRPr lang="en-US" sz="1150" dirty="0"/>
          </a:p>
        </p:txBody>
      </p:sp>
      <p:sp>
        <p:nvSpPr>
          <p:cNvPr id="14" name="R1_la0"/>
          <p:cNvSpPr txBox="1"/>
          <p:nvPr/>
        </p:nvSpPr>
        <p:spPr>
          <a:xfrm>
            <a:off x="7309714" y="2130552"/>
            <a:ext cx="151424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1 and 3</a:t>
            </a:r>
            <a:endParaRPr lang="en-US" sz="1150" dirty="0"/>
          </a:p>
        </p:txBody>
      </p:sp>
      <p:sp>
        <p:nvSpPr>
          <p:cNvPr id="15" name="box_96"/>
          <p:cNvSpPr txBox="1"/>
          <p:nvPr/>
        </p:nvSpPr>
        <p:spPr>
          <a:xfrm>
            <a:off x="2788920" y="2743200"/>
            <a:ext cx="446593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A at airport security · B shopping for food · C had forgotten an important rule</a:t>
            </a:r>
            <a:endParaRPr lang="en-US" sz="1150" dirty="0"/>
          </a:p>
        </p:txBody>
      </p:sp>
      <p:sp>
        <p:nvSpPr>
          <p:cNvPr id="16" name="R1_la1"/>
          <p:cNvSpPr txBox="1"/>
          <p:nvPr/>
        </p:nvSpPr>
        <p:spPr>
          <a:xfrm>
            <a:off x="7309714" y="2770632"/>
            <a:ext cx="151424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3 · B 2 · C 3</a:t>
            </a:r>
            <a:endParaRPr lang="en-US" sz="1150" dirty="0"/>
          </a:p>
        </p:txBody>
      </p:sp>
      <p:sp>
        <p:nvSpPr>
          <p:cNvPr id="17" name="box_97"/>
          <p:cNvSpPr txBox="1"/>
          <p:nvPr/>
        </p:nvSpPr>
        <p:spPr>
          <a:xfrm>
            <a:off x="2788920" y="3383280"/>
            <a:ext cx="446593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D travelling with his / her family · E not enough money to pay · F lost something really important</a:t>
            </a:r>
            <a:endParaRPr lang="en-US" sz="1150" dirty="0"/>
          </a:p>
        </p:txBody>
      </p:sp>
      <p:sp>
        <p:nvSpPr>
          <p:cNvPr id="18" name="R1_la2"/>
          <p:cNvSpPr txBox="1"/>
          <p:nvPr/>
        </p:nvSpPr>
        <p:spPr>
          <a:xfrm>
            <a:off x="7309714" y="3410712"/>
            <a:ext cx="151424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D 1 · E 2 · F 1</a:t>
            </a:r>
            <a:endParaRPr lang="en-US" sz="1150" dirty="0"/>
          </a:p>
        </p:txBody>
      </p:sp>
      <p:sp>
        <p:nvSpPr>
          <p:cNvPr id="19" name="box_98"/>
          <p:cNvSpPr txBox="1"/>
          <p:nvPr/>
        </p:nvSpPr>
        <p:spPr>
          <a:xfrm>
            <a:off x="2788920" y="4023360"/>
            <a:ext cx="446593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G a week later, the man returned the items · H the stranger was very scary · I one helper was a child</a:t>
            </a:r>
            <a:endParaRPr lang="en-US" sz="1150" dirty="0"/>
          </a:p>
        </p:txBody>
      </p:sp>
      <p:sp>
        <p:nvSpPr>
          <p:cNvPr id="20" name="R1_la3"/>
          <p:cNvSpPr txBox="1"/>
          <p:nvPr/>
        </p:nvSpPr>
        <p:spPr>
          <a:xfrm>
            <a:off x="7309714" y="4050792"/>
            <a:ext cx="1514246"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G 3 · H 1 · I 2</a:t>
            </a:r>
            <a:endParaRPr lang="en-US" sz="1150" dirty="0"/>
          </a:p>
        </p:txBody>
      </p:sp>
      <p:sp>
        <p:nvSpPr>
          <p:cNvPr id="21" name="pageTag_9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p.87 · 1e, 1f, 1g · audio 9.3</a:t>
            </a:r>
            <a:endParaRPr lang="en-US" sz="1050" dirty="0"/>
          </a:p>
        </p:txBody>
      </p:sp>
      <p:sp>
        <p:nvSpPr>
          <p:cNvPr id="22" name="pframe_100"/>
          <p:cNvSpPr/>
          <p:nvPr/>
        </p:nvSpPr>
        <p:spPr>
          <a:xfrm rot="-120000">
            <a:off x="502920" y="3090672"/>
            <a:ext cx="1600200" cy="170078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3" name="pimg_101" descr="picture">    </p:cNvPr>
          <p:cNvPicPr>
            <a:picLocks noChangeAspect="1"/>
          </p:cNvPicPr>
          <p:nvPr/>
        </p:nvPicPr>
        <p:blipFill>
          <a:blip r:embed="rId3"/>
          <a:srcRect l="0" r="0" t="0" b="0"/>
          <a:stretch/>
        </p:blipFill>
        <p:spPr>
          <a:xfrm rot="-120000">
            <a:off x="576072" y="3163824"/>
            <a:ext cx="1453896" cy="148132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2"/>
          <p:cNvSpPr/>
          <p:nvPr/>
        </p:nvSpPr>
        <p:spPr>
          <a:xfrm>
            <a:off x="54864" y="54864"/>
            <a:ext cx="9034272" cy="5033772"/>
          </a:xfrm>
          <a:prstGeom prst="rect">
            <a:avLst/>
          </a:prstGeom>
          <a:ln w="114300">
            <a:solidFill>
              <a:srgbClr val="A8E6B4"/>
            </a:solidFill>
            <a:prstDash val="solid"/>
          </a:ln>
        </p:spPr>
      </p:sp>
      <p:pic>
        <p:nvPicPr>
          <p:cNvPr id="4" name="logo_10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0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Presentation · 2a, 2b</a:t>
            </a:r>
            <a:endParaRPr lang="en-US" sz="900" dirty="0"/>
          </a:p>
        </p:txBody>
      </p:sp>
      <p:sp>
        <p:nvSpPr>
          <p:cNvPr id="6" name="timer_10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0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107"/>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If it hadn't happened…</a:t>
            </a:r>
            <a:endParaRPr lang="en-US" sz="1500" dirty="0"/>
          </a:p>
        </p:txBody>
      </p:sp>
      <p:sp>
        <p:nvSpPr>
          <p:cNvPr id="9" name="post_10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09"/>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11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Match the halves. Did it really happen?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Abbina le metà. È successo davvero?</a:t>
            </a:r>
            <a:endParaRPr lang="en-US" sz="1250" dirty="0"/>
          </a:p>
        </p:txBody>
      </p:sp>
      <p:sp>
        <p:nvSpPr>
          <p:cNvPr id="12" name="iconBack_11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12" descr="pi:PiShuffle">    </p:cNvPr>
          <p:cNvPicPr>
            <a:picLocks noChangeAspect="1"/>
          </p:cNvPicPr>
          <p:nvPr/>
        </p:nvPicPr>
        <p:blipFill>
          <a:blip r:embed="rId3"/>
          <a:stretch>
            <a:fillRect/>
          </a:stretch>
        </p:blipFill>
        <p:spPr>
          <a:xfrm>
            <a:off x="914400" y="3474720"/>
            <a:ext cx="685800" cy="685800"/>
          </a:xfrm>
          <a:prstGeom prst="rect">
            <a:avLst/>
          </a:prstGeom>
        </p:spPr>
      </p:pic>
      <p:sp>
        <p:nvSpPr>
          <p:cNvPr id="14" name="box_113"/>
          <p:cNvSpPr txBox="1"/>
          <p:nvPr/>
        </p:nvSpPr>
        <p:spPr>
          <a:xfrm>
            <a:off x="2788920" y="1371600"/>
            <a:ext cx="3017520" cy="4572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1  If the inspector hadn't stopped the train to Leeds,…</a:t>
            </a:r>
            <a:endParaRPr lang="en-US" sz="950" dirty="0"/>
          </a:p>
        </p:txBody>
      </p:sp>
      <p:sp>
        <p:nvSpPr>
          <p:cNvPr id="15" name="R1_m0"/>
          <p:cNvSpPr txBox="1"/>
          <p:nvPr/>
        </p:nvSpPr>
        <p:spPr>
          <a:xfrm>
            <a:off x="5879592" y="1389888"/>
            <a:ext cx="2944368"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  Bernard would have missed his connection.</a:t>
            </a:r>
            <a:endParaRPr lang="en-US" sz="1150" dirty="0"/>
          </a:p>
        </p:txBody>
      </p:sp>
      <p:sp>
        <p:nvSpPr>
          <p:cNvPr id="16" name="box_114"/>
          <p:cNvSpPr txBox="1"/>
          <p:nvPr/>
        </p:nvSpPr>
        <p:spPr>
          <a:xfrm>
            <a:off x="2788920" y="1901952"/>
            <a:ext cx="3017520" cy="4572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If the biker hadn't found the little girl's blanket,…</a:t>
            </a:r>
            <a:endParaRPr lang="en-US" sz="950" dirty="0"/>
          </a:p>
        </p:txBody>
      </p:sp>
      <p:sp>
        <p:nvSpPr>
          <p:cNvPr id="17" name="R1_m1"/>
          <p:cNvSpPr txBox="1"/>
          <p:nvPr/>
        </p:nvSpPr>
        <p:spPr>
          <a:xfrm>
            <a:off x="5879592" y="1920240"/>
            <a:ext cx="2944368"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B  she wouldn't have been able to sleep.</a:t>
            </a:r>
            <a:endParaRPr lang="en-US" sz="1150" dirty="0"/>
          </a:p>
        </p:txBody>
      </p:sp>
      <p:sp>
        <p:nvSpPr>
          <p:cNvPr id="18" name="box_115"/>
          <p:cNvSpPr txBox="1"/>
          <p:nvPr/>
        </p:nvSpPr>
        <p:spPr>
          <a:xfrm>
            <a:off x="2788920" y="2432304"/>
            <a:ext cx="3017520" cy="45720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3  If the girl and her mother hadn't bought the groceries,…</a:t>
            </a:r>
            <a:endParaRPr lang="en-US" sz="950" dirty="0"/>
          </a:p>
        </p:txBody>
      </p:sp>
      <p:sp>
        <p:nvSpPr>
          <p:cNvPr id="19" name="R1_m2"/>
          <p:cNvSpPr txBox="1"/>
          <p:nvPr/>
        </p:nvSpPr>
        <p:spPr>
          <a:xfrm>
            <a:off x="5879592" y="2450592"/>
            <a:ext cx="2944368"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the man and his wife wouldn't have had anything to eat.</a:t>
            </a:r>
            <a:endParaRPr lang="en-US" sz="1150" dirty="0"/>
          </a:p>
        </p:txBody>
      </p:sp>
      <p:sp>
        <p:nvSpPr>
          <p:cNvPr id="20" name="box_116"/>
          <p:cNvSpPr txBox="1"/>
          <p:nvPr/>
        </p:nvSpPr>
        <p:spPr>
          <a:xfrm>
            <a:off x="2788920" y="2962656"/>
            <a:ext cx="3017520" cy="45720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4  If the security man hadn't kept the woman's paints away,…</a:t>
            </a:r>
            <a:endParaRPr lang="en-US" sz="950" dirty="0"/>
          </a:p>
        </p:txBody>
      </p:sp>
      <p:sp>
        <p:nvSpPr>
          <p:cNvPr id="21" name="R1_m3"/>
          <p:cNvSpPr txBox="1"/>
          <p:nvPr/>
        </p:nvSpPr>
        <p:spPr>
          <a:xfrm>
            <a:off x="5879592" y="2980944"/>
            <a:ext cx="2944368"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D  she wouldn't have got them back.</a:t>
            </a:r>
            <a:endParaRPr lang="en-US" sz="1150" dirty="0"/>
          </a:p>
        </p:txBody>
      </p:sp>
      <p:sp>
        <p:nvSpPr>
          <p:cNvPr id="22" name="pageTag_11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p.87 · 2a, 2b</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8"/>
          <p:cNvSpPr/>
          <p:nvPr/>
        </p:nvSpPr>
        <p:spPr>
          <a:xfrm>
            <a:off x="54864" y="54864"/>
            <a:ext cx="9034272" cy="5033772"/>
          </a:xfrm>
          <a:prstGeom prst="rect">
            <a:avLst/>
          </a:prstGeom>
          <a:ln w="114300">
            <a:solidFill>
              <a:srgbClr val="A8E6B4"/>
            </a:solidFill>
            <a:prstDash val="solid"/>
          </a:ln>
        </p:spPr>
      </p:sp>
      <p:pic>
        <p:nvPicPr>
          <p:cNvPr id="4" name="logo_1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9A p.148</a:t>
            </a:r>
            <a:endParaRPr lang="en-US" sz="900" dirty="0"/>
          </a:p>
        </p:txBody>
      </p:sp>
      <p:sp>
        <p:nvSpPr>
          <p:cNvPr id="6" name="timer_1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123"/>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Third conditional</a:t>
            </a:r>
            <a:endParaRPr lang="en-US" sz="1500" dirty="0"/>
          </a:p>
        </p:txBody>
      </p:sp>
      <p:sp>
        <p:nvSpPr>
          <p:cNvPr id="9" name="rh_124"/>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Form</a:t>
            </a:r>
            <a:endParaRPr lang="en-US" sz="1300" dirty="0"/>
          </a:p>
        </p:txBody>
      </p:sp>
      <p:sp>
        <p:nvSpPr>
          <p:cNvPr id="10" name="rb_125"/>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If + had + past participle,</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would / wouldn't have + past participle</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If I'd known you had a problem, I would have helped you.</a:t>
            </a:r>
            <a:endParaRPr lang="en-US" sz="13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2 clauses, any order</a:t>
            </a:r>
            <a:endParaRPr lang="en-US" sz="1300" dirty="0"/>
          </a:p>
        </p:txBody>
      </p:sp>
      <p:sp>
        <p:nvSpPr>
          <p:cNvPr id="11" name="rh_126"/>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Use</a:t>
            </a:r>
            <a:endParaRPr lang="en-US" sz="1300" dirty="0"/>
          </a:p>
        </p:txBody>
      </p:sp>
      <p:sp>
        <p:nvSpPr>
          <p:cNvPr id="12" name="rb_127"/>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an imaginary situation in the PAST – the opposite of what happened:</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If Paul hadn't gone to Brazil, he wouldn't have met his wife.</a:t>
            </a:r>
            <a:endParaRPr lang="en-US" sz="13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(He went. He met her.)</a:t>
            </a:r>
            <a:endParaRPr lang="en-US" sz="1300" dirty="0"/>
          </a:p>
        </p:txBody>
      </p:sp>
      <p:sp>
        <p:nvSpPr>
          <p:cNvPr id="13" name="rh_128"/>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Questions + sound</a:t>
            </a:r>
            <a:endParaRPr lang="en-US" sz="1300" dirty="0"/>
          </a:p>
        </p:txBody>
      </p:sp>
      <p:sp>
        <p:nvSpPr>
          <p:cNvPr id="14" name="rb_129"/>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Would you have gone to the party if you'd known Lisa was there?</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would have = /wʊdəv/</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'd = had (if-clause) or would</a:t>
            </a:r>
            <a:endParaRPr lang="en-US" sz="1300" dirty="0"/>
          </a:p>
        </p:txBody>
      </p:sp>
      <p:sp>
        <p:nvSpPr>
          <p:cNvPr id="15" name="watch_130"/>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100" b="1" dirty="0">
                <a:solidFill>
                  <a:srgbClr val="EF2F2F"/>
                </a:solidFill>
                <a:latin typeface="Calibri" pitchFamily="34" charset="0"/>
                <a:ea typeface="Calibri" pitchFamily="34" charset="-122"/>
                <a:cs typeface="Calibri" pitchFamily="34" charset="-120"/>
              </a:rPr>
              <a:t>Watch out!  </a:t>
            </a:r>
            <a:pPr indent="0" marL="0">
              <a:buNone/>
            </a:pPr>
            <a:r>
              <a:rPr lang="en-US" sz="1100" dirty="0">
                <a:solidFill>
                  <a:srgbClr val="111111"/>
                </a:solidFill>
                <a:latin typeface="Calibri" pitchFamily="34" charset="0"/>
                <a:ea typeface="Calibri" pitchFamily="34" charset="-122"/>
                <a:cs typeface="Calibri" pitchFamily="34" charset="-120"/>
              </a:rPr>
              <a:t>✗ If I would have known… → ✓ If I had known…   ✗ If I had known, I had helped → ✓ I would have helped</a:t>
            </a:r>
            <a:endParaRPr lang="en-US" sz="1100" dirty="0"/>
          </a:p>
        </p:txBody>
      </p:sp>
      <p:sp>
        <p:nvSpPr>
          <p:cNvPr id="16" name="pageTag_13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9A p.148 · audio 9.4</a:t>
            </a:r>
            <a:endParaRPr lang="en-US" sz="105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2"/>
          <p:cNvSpPr/>
          <p:nvPr/>
        </p:nvSpPr>
        <p:spPr>
          <a:xfrm>
            <a:off x="54864" y="54864"/>
            <a:ext cx="9034272" cy="5033772"/>
          </a:xfrm>
          <a:prstGeom prst="rect">
            <a:avLst/>
          </a:prstGeom>
          <a:ln w="114300">
            <a:solidFill>
              <a:srgbClr val="A8E6B4"/>
            </a:solidFill>
            <a:prstDash val="solid"/>
          </a:ln>
        </p:spPr>
      </p:sp>
      <p:pic>
        <p:nvPicPr>
          <p:cNvPr id="4" name="logo_13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Grammar Bank 9A · practice</a:t>
            </a:r>
            <a:endParaRPr lang="en-US" sz="900" dirty="0"/>
          </a:p>
        </p:txBody>
      </p:sp>
      <p:sp>
        <p:nvSpPr>
          <p:cNvPr id="6" name="timer_13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3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137"/>
          <p:cNvSpPr txBox="1"/>
          <p:nvPr/>
        </p:nvSpPr>
        <p:spPr>
          <a:xfrm rot="-120000">
            <a:off x="320040" y="676656"/>
            <a:ext cx="467258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Complete the conditional</a:t>
            </a:r>
            <a:endParaRPr lang="en-US" sz="1500" dirty="0"/>
          </a:p>
        </p:txBody>
      </p:sp>
      <p:sp>
        <p:nvSpPr>
          <p:cNvPr id="9" name="post_13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39"/>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14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Grammar Bank 9A: a 1–5 and b 1–5.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Grammar Bank 9A: a 1–5 e b 1–5. Poi controlla!</a:t>
            </a:r>
            <a:endParaRPr lang="en-US" sz="1250" dirty="0"/>
          </a:p>
        </p:txBody>
      </p:sp>
      <p:sp>
        <p:nvSpPr>
          <p:cNvPr id="12" name="iconBack_14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42"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4" name="box_143"/>
          <p:cNvSpPr txBox="1"/>
          <p:nvPr/>
        </p:nvSpPr>
        <p:spPr>
          <a:xfrm>
            <a:off x="2788920" y="1371600"/>
            <a:ext cx="3621024"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a 1–5  (match in your book, p.148)</a:t>
            </a:r>
            <a:endParaRPr lang="en-US" sz="1150" dirty="0"/>
          </a:p>
        </p:txBody>
      </p:sp>
      <p:sp>
        <p:nvSpPr>
          <p:cNvPr id="15" name="R1_a0"/>
          <p:cNvSpPr txBox="1"/>
          <p:nvPr/>
        </p:nvSpPr>
        <p:spPr>
          <a:xfrm>
            <a:off x="6464808" y="1408176"/>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 I · 2 F · 3 H · 4 E · 5 A</a:t>
            </a:r>
            <a:endParaRPr lang="en-US" sz="1100" dirty="0"/>
          </a:p>
        </p:txBody>
      </p:sp>
      <p:sp>
        <p:nvSpPr>
          <p:cNvPr id="16" name="box_144"/>
          <p:cNvSpPr txBox="1"/>
          <p:nvPr/>
        </p:nvSpPr>
        <p:spPr>
          <a:xfrm>
            <a:off x="2788920" y="1941576"/>
            <a:ext cx="3621024"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b1  If you ___ me to the station, I ___ my train.</a:t>
            </a:r>
            <a:endParaRPr lang="en-US" sz="1150" dirty="0"/>
          </a:p>
        </p:txBody>
      </p:sp>
      <p:sp>
        <p:nvSpPr>
          <p:cNvPr id="17" name="R1_a1"/>
          <p:cNvSpPr txBox="1"/>
          <p:nvPr/>
        </p:nvSpPr>
        <p:spPr>
          <a:xfrm>
            <a:off x="6464808" y="1978152"/>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hadn't taken · would have missed</a:t>
            </a:r>
            <a:endParaRPr lang="en-US" sz="1100" dirty="0"/>
          </a:p>
        </p:txBody>
      </p:sp>
      <p:sp>
        <p:nvSpPr>
          <p:cNvPr id="18" name="box_145"/>
          <p:cNvSpPr txBox="1"/>
          <p:nvPr/>
        </p:nvSpPr>
        <p:spPr>
          <a:xfrm>
            <a:off x="2788920" y="2511552"/>
            <a:ext cx="3621024"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b2  We ___ the match if the referee ___ us a penalty.</a:t>
            </a:r>
            <a:endParaRPr lang="en-US" sz="1100" dirty="0"/>
          </a:p>
        </p:txBody>
      </p:sp>
      <p:sp>
        <p:nvSpPr>
          <p:cNvPr id="19" name="R1_a2"/>
          <p:cNvSpPr txBox="1"/>
          <p:nvPr/>
        </p:nvSpPr>
        <p:spPr>
          <a:xfrm>
            <a:off x="6464808" y="2548128"/>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wouldn't have won · hadn't given</a:t>
            </a:r>
            <a:endParaRPr lang="en-US" sz="1100" dirty="0"/>
          </a:p>
        </p:txBody>
      </p:sp>
      <p:sp>
        <p:nvSpPr>
          <p:cNvPr id="20" name="box_146"/>
          <p:cNvSpPr txBox="1"/>
          <p:nvPr/>
        </p:nvSpPr>
        <p:spPr>
          <a:xfrm>
            <a:off x="2788920" y="3081528"/>
            <a:ext cx="3621024"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b3  You ___ the weekend if you ___ with us.</a:t>
            </a:r>
            <a:endParaRPr lang="en-US" sz="1150" dirty="0"/>
          </a:p>
        </p:txBody>
      </p:sp>
      <p:sp>
        <p:nvSpPr>
          <p:cNvPr id="21" name="R1_a3"/>
          <p:cNvSpPr txBox="1"/>
          <p:nvPr/>
        </p:nvSpPr>
        <p:spPr>
          <a:xfrm>
            <a:off x="6464808" y="3118104"/>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would have enjoyed · had come</a:t>
            </a:r>
            <a:endParaRPr lang="en-US" sz="1100" dirty="0"/>
          </a:p>
        </p:txBody>
      </p:sp>
      <p:sp>
        <p:nvSpPr>
          <p:cNvPr id="22" name="box_147"/>
          <p:cNvSpPr txBox="1"/>
          <p:nvPr/>
        </p:nvSpPr>
        <p:spPr>
          <a:xfrm>
            <a:off x="2788920" y="3651504"/>
            <a:ext cx="3621024"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b4  If I ___ the tickets online, they ___ more expensive.</a:t>
            </a:r>
            <a:endParaRPr lang="en-US" sz="1050" dirty="0"/>
          </a:p>
        </p:txBody>
      </p:sp>
      <p:sp>
        <p:nvSpPr>
          <p:cNvPr id="23" name="R1_a4"/>
          <p:cNvSpPr txBox="1"/>
          <p:nvPr/>
        </p:nvSpPr>
        <p:spPr>
          <a:xfrm>
            <a:off x="6464808" y="3688080"/>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hadn't bought · would have been</a:t>
            </a:r>
            <a:endParaRPr lang="en-US" sz="1100" dirty="0"/>
          </a:p>
        </p:txBody>
      </p:sp>
      <p:sp>
        <p:nvSpPr>
          <p:cNvPr id="24" name="box_148"/>
          <p:cNvSpPr txBox="1"/>
          <p:nvPr/>
        </p:nvSpPr>
        <p:spPr>
          <a:xfrm>
            <a:off x="2788920" y="4221480"/>
            <a:ext cx="3621024"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b5  Mike ___ his wife's birthday if she ___ him.</a:t>
            </a:r>
            <a:endParaRPr lang="en-US" sz="1150" dirty="0"/>
          </a:p>
        </p:txBody>
      </p:sp>
      <p:sp>
        <p:nvSpPr>
          <p:cNvPr id="25" name="R1_a5"/>
          <p:cNvSpPr txBox="1"/>
          <p:nvPr/>
        </p:nvSpPr>
        <p:spPr>
          <a:xfrm>
            <a:off x="6464808" y="4258056"/>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would have forgotten · hadn't reminded</a:t>
            </a:r>
            <a:endParaRPr lang="en-US" sz="1000" dirty="0"/>
          </a:p>
        </p:txBody>
      </p:sp>
      <p:sp>
        <p:nvSpPr>
          <p:cNvPr id="26" name="pageTag_14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9A p.148 · a 1–5, b 1–5 (a 6–9, b 6–10 = homework)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0"/>
          <p:cNvSpPr/>
          <p:nvPr/>
        </p:nvSpPr>
        <p:spPr>
          <a:xfrm>
            <a:off x="54864" y="54864"/>
            <a:ext cx="9034272" cy="5033772"/>
          </a:xfrm>
          <a:prstGeom prst="rect">
            <a:avLst/>
          </a:prstGeom>
          <a:ln w="114300">
            <a:solidFill>
              <a:srgbClr val="A8E6B4"/>
            </a:solidFill>
            <a:prstDash val="solid"/>
          </a:ln>
        </p:spPr>
      </p:sp>
      <p:pic>
        <p:nvPicPr>
          <p:cNvPr id="4" name="logo_15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audio 9.5, 9.6</a:t>
            </a:r>
            <a:endParaRPr lang="en-US" sz="900" dirty="0"/>
          </a:p>
        </p:txBody>
      </p:sp>
      <p:sp>
        <p:nvSpPr>
          <p:cNvPr id="6" name="timer_15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5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155"/>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Write what you hear</a:t>
            </a:r>
            <a:endParaRPr lang="en-US" sz="1500" dirty="0"/>
          </a:p>
        </p:txBody>
      </p:sp>
      <p:sp>
        <p:nvSpPr>
          <p:cNvPr id="9" name="post_15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57"/>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15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Listen and repeat (9.5). Then write the 5 sentences (9.6).</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Ascolta e ripeti (9.5). Poi scrivi le 5 frasi (9.6).</a:t>
            </a:r>
            <a:endParaRPr lang="en-US" sz="1200" dirty="0"/>
          </a:p>
        </p:txBody>
      </p:sp>
      <p:sp>
        <p:nvSpPr>
          <p:cNvPr id="12" name="iconBack_15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60" descr="pi:PiSpeakerHigh">    </p:cNvPr>
          <p:cNvPicPr>
            <a:picLocks noChangeAspect="1"/>
          </p:cNvPicPr>
          <p:nvPr/>
        </p:nvPicPr>
        <p:blipFill>
          <a:blip r:embed="rId3"/>
          <a:stretch>
            <a:fillRect/>
          </a:stretch>
        </p:blipFill>
        <p:spPr>
          <a:xfrm>
            <a:off x="914400" y="3474720"/>
            <a:ext cx="685800" cy="685800"/>
          </a:xfrm>
          <a:prstGeom prst="rect">
            <a:avLst/>
          </a:prstGeom>
        </p:spPr>
      </p:pic>
      <p:sp>
        <p:nvSpPr>
          <p:cNvPr id="14" name="tr_161"/>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9.5</a:t>
            </a:r>
            <a:endParaRPr lang="en-US" sz="1400" dirty="0"/>
          </a:p>
        </p:txBody>
      </p:sp>
      <p:sp>
        <p:nvSpPr>
          <p:cNvPr id="15" name="tr_162"/>
          <p:cNvSpPr txBox="1"/>
          <p:nvPr/>
        </p:nvSpPr>
        <p:spPr>
          <a:xfrm>
            <a:off x="434340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9.6</a:t>
            </a:r>
            <a:endParaRPr lang="en-US" sz="1400" dirty="0"/>
          </a:p>
        </p:txBody>
      </p:sp>
      <p:sp>
        <p:nvSpPr>
          <p:cNvPr id="16" name="box_163"/>
          <p:cNvSpPr txBox="1"/>
          <p:nvPr/>
        </p:nvSpPr>
        <p:spPr>
          <a:xfrm>
            <a:off x="2788920" y="2103120"/>
            <a:ext cx="603504" cy="453542"/>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a:t>
            </a:r>
            <a:endParaRPr lang="en-US" sz="1250" dirty="0"/>
          </a:p>
        </p:txBody>
      </p:sp>
      <p:sp>
        <p:nvSpPr>
          <p:cNvPr id="17" name="R1_la0"/>
          <p:cNvSpPr txBox="1"/>
          <p:nvPr/>
        </p:nvSpPr>
        <p:spPr>
          <a:xfrm>
            <a:off x="3447288" y="2130552"/>
            <a:ext cx="537667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It would have been much quicker if we'd taken a taxi.</a:t>
            </a:r>
            <a:endParaRPr lang="en-US" sz="1150" dirty="0"/>
          </a:p>
        </p:txBody>
      </p:sp>
      <p:sp>
        <p:nvSpPr>
          <p:cNvPr id="18" name="box_164"/>
          <p:cNvSpPr txBox="1"/>
          <p:nvPr/>
        </p:nvSpPr>
        <p:spPr>
          <a:xfrm>
            <a:off x="2788920" y="2629814"/>
            <a:ext cx="603504" cy="453542"/>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a:t>
            </a:r>
            <a:endParaRPr lang="en-US" sz="1250" dirty="0"/>
          </a:p>
        </p:txBody>
      </p:sp>
      <p:sp>
        <p:nvSpPr>
          <p:cNvPr id="19" name="R2_la1"/>
          <p:cNvSpPr txBox="1"/>
          <p:nvPr/>
        </p:nvSpPr>
        <p:spPr>
          <a:xfrm>
            <a:off x="3447288" y="2657246"/>
            <a:ext cx="537667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She wouldn't have found out if you hadn't told her.</a:t>
            </a:r>
            <a:endParaRPr lang="en-US" sz="1150" dirty="0"/>
          </a:p>
        </p:txBody>
      </p:sp>
      <p:sp>
        <p:nvSpPr>
          <p:cNvPr id="20" name="box_165"/>
          <p:cNvSpPr txBox="1"/>
          <p:nvPr/>
        </p:nvSpPr>
        <p:spPr>
          <a:xfrm>
            <a:off x="2788920" y="3156509"/>
            <a:ext cx="603504" cy="453542"/>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a:t>
            </a:r>
            <a:endParaRPr lang="en-US" sz="1250" dirty="0"/>
          </a:p>
        </p:txBody>
      </p:sp>
      <p:sp>
        <p:nvSpPr>
          <p:cNvPr id="21" name="R3_la2"/>
          <p:cNvSpPr txBox="1"/>
          <p:nvPr/>
        </p:nvSpPr>
        <p:spPr>
          <a:xfrm>
            <a:off x="3447288" y="3183941"/>
            <a:ext cx="537667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 tickets would have been cheaper if we'd booked them earlier.</a:t>
            </a:r>
            <a:endParaRPr lang="en-US" sz="1150" dirty="0"/>
          </a:p>
        </p:txBody>
      </p:sp>
      <p:sp>
        <p:nvSpPr>
          <p:cNvPr id="22" name="box_166"/>
          <p:cNvSpPr txBox="1"/>
          <p:nvPr/>
        </p:nvSpPr>
        <p:spPr>
          <a:xfrm>
            <a:off x="2788920" y="3683203"/>
            <a:ext cx="603504" cy="453542"/>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a:t>
            </a:r>
            <a:endParaRPr lang="en-US" sz="1250" dirty="0"/>
          </a:p>
        </p:txBody>
      </p:sp>
      <p:sp>
        <p:nvSpPr>
          <p:cNvPr id="23" name="R4_la3"/>
          <p:cNvSpPr txBox="1"/>
          <p:nvPr/>
        </p:nvSpPr>
        <p:spPr>
          <a:xfrm>
            <a:off x="3447288" y="3710635"/>
            <a:ext cx="537667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If you hadn't done your homework so quickly, you wouldn't have made so many mistakes.</a:t>
            </a:r>
            <a:endParaRPr lang="en-US" sz="1100" dirty="0"/>
          </a:p>
        </p:txBody>
      </p:sp>
      <p:sp>
        <p:nvSpPr>
          <p:cNvPr id="24" name="box_167"/>
          <p:cNvSpPr txBox="1"/>
          <p:nvPr/>
        </p:nvSpPr>
        <p:spPr>
          <a:xfrm>
            <a:off x="2788920" y="4209898"/>
            <a:ext cx="603504" cy="453542"/>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a:t>
            </a:r>
            <a:endParaRPr lang="en-US" sz="1250" dirty="0"/>
          </a:p>
        </p:txBody>
      </p:sp>
      <p:sp>
        <p:nvSpPr>
          <p:cNvPr id="25" name="R5_la4"/>
          <p:cNvSpPr txBox="1"/>
          <p:nvPr/>
        </p:nvSpPr>
        <p:spPr>
          <a:xfrm>
            <a:off x="3447288" y="4237330"/>
            <a:ext cx="5376672" cy="398678"/>
          </a:xfrm>
          <a:prstGeom prst="roundRect">
            <a:avLst>
              <a:gd name="adj" fmla="val 1376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 would have lent you some money if you'd asked me.</a:t>
            </a:r>
            <a:endParaRPr lang="en-US" sz="1150" dirty="0"/>
          </a:p>
        </p:txBody>
      </p:sp>
      <p:sp>
        <p:nvSpPr>
          <p:cNvPr id="26" name="pageTag_16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p.87 · 3a, 3b · audio 9.5, 9.6</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9"/>
          <p:cNvSpPr/>
          <p:nvPr/>
        </p:nvSpPr>
        <p:spPr>
          <a:xfrm>
            <a:off x="54864" y="54864"/>
            <a:ext cx="9034272" cy="5033772"/>
          </a:xfrm>
          <a:prstGeom prst="rect">
            <a:avLst/>
          </a:prstGeom>
          <a:ln w="114300">
            <a:solidFill>
              <a:srgbClr val="A8E6B4"/>
            </a:solidFill>
            <a:prstDash val="solid"/>
          </a:ln>
        </p:spPr>
      </p:sp>
      <p:pic>
        <p:nvPicPr>
          <p:cNvPr id="4" name="logo_17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Communication pp.109, 113</a:t>
            </a:r>
            <a:endParaRPr lang="en-US" sz="900" dirty="0"/>
          </a:p>
        </p:txBody>
      </p:sp>
      <p:sp>
        <p:nvSpPr>
          <p:cNvPr id="6" name="timer_17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7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8" name="title_174"/>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Guess the conditional</a:t>
            </a:r>
            <a:endParaRPr lang="en-US" sz="1500" dirty="0"/>
          </a:p>
        </p:txBody>
      </p:sp>
      <p:sp>
        <p:nvSpPr>
          <p:cNvPr id="9" name="post_17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76"/>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17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A p.109, B p.113. Guess your partner's EXACT sentence!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A p.109, B p.113. Indovina la frase ESATTA del compagno!</a:t>
            </a:r>
            <a:endParaRPr lang="en-US" sz="1200" dirty="0"/>
          </a:p>
        </p:txBody>
      </p:sp>
      <p:sp>
        <p:nvSpPr>
          <p:cNvPr id="12" name="iconBack_17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79" descr="pi:PiPuzzlePiece">    </p:cNvPr>
          <p:cNvPicPr>
            <a:picLocks noChangeAspect="1"/>
          </p:cNvPicPr>
          <p:nvPr/>
        </p:nvPicPr>
        <p:blipFill>
          <a:blip r:embed="rId3"/>
          <a:stretch>
            <a:fillRect/>
          </a:stretch>
        </p:blipFill>
        <p:spPr>
          <a:xfrm>
            <a:off x="914400" y="3474720"/>
            <a:ext cx="685800" cy="685800"/>
          </a:xfrm>
          <a:prstGeom prst="rect">
            <a:avLst/>
          </a:prstGeom>
        </p:spPr>
      </p:pic>
      <p:sp>
        <p:nvSpPr>
          <p:cNvPr id="14" name="num_180"/>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81"/>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Look at your sentences. Your partner has the complete sentences – you only have the beginning.</a:t>
            </a:r>
            <a:endParaRPr lang="en-US" sz="950" dirty="0"/>
          </a:p>
        </p:txBody>
      </p:sp>
      <p:sp>
        <p:nvSpPr>
          <p:cNvPr id="16" name="num_182"/>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83"/>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Guess the missing verb phrase (+ = positive, – = negative).</a:t>
            </a:r>
            <a:endParaRPr lang="en-US" sz="1250" dirty="0"/>
          </a:p>
        </p:txBody>
      </p:sp>
      <p:sp>
        <p:nvSpPr>
          <p:cNvPr id="18" name="num_184"/>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85"/>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Your partner says 'Try again' or 'That's correct!'</a:t>
            </a:r>
            <a:endParaRPr lang="en-US" sz="1250" dirty="0"/>
          </a:p>
        </p:txBody>
      </p:sp>
      <p:sp>
        <p:nvSpPr>
          <p:cNvPr id="20" name="num_186"/>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87"/>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Write it only when your partner says 'That's correct!' Then swap.</a:t>
            </a:r>
            <a:endParaRPr lang="en-US" sz="1250" dirty="0"/>
          </a:p>
        </p:txBody>
      </p:sp>
      <p:sp>
        <p:nvSpPr>
          <p:cNvPr id="22" name="num_188"/>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89"/>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The first pair to finish all sentences wins.</a:t>
            </a:r>
            <a:endParaRPr lang="en-US" sz="1250" dirty="0"/>
          </a:p>
        </p:txBody>
      </p:sp>
      <p:sp>
        <p:nvSpPr>
          <p:cNvPr id="24" name="bubble_190"/>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If I'd known it was your birthday, I ___ you a present (+). → would have bought</a:t>
            </a:r>
            <a:endParaRPr lang="en-US" sz="1100" dirty="0"/>
          </a:p>
        </p:txBody>
      </p:sp>
      <p:sp>
        <p:nvSpPr>
          <p:cNvPr id="25" name="pageTag_19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p.87 · 3c · Communication Guess the conditional, A p.109, B p.113</a:t>
            </a:r>
            <a:endParaRPr lang="en-US" sz="105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2"/>
          <p:cNvSpPr/>
          <p:nvPr/>
        </p:nvSpPr>
        <p:spPr>
          <a:xfrm>
            <a:off x="54864" y="54864"/>
            <a:ext cx="9034272" cy="5033772"/>
          </a:xfrm>
          <a:prstGeom prst="rect">
            <a:avLst/>
          </a:prstGeom>
          <a:ln w="114300">
            <a:solidFill>
              <a:srgbClr val="A8E6B4"/>
            </a:solidFill>
            <a:prstDash val="solid"/>
          </a:ln>
        </p:spPr>
      </p:sp>
      <p:pic>
        <p:nvPicPr>
          <p:cNvPr id="4" name="logo_19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19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6" name="title_195"/>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196"/>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197"/>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true stories about kind strangers.</a:t>
            </a:r>
            <a:endParaRPr lang="en-US" sz="1350" dirty="0"/>
          </a:p>
        </p:txBody>
      </p:sp>
      <p:sp>
        <p:nvSpPr>
          <p:cNvPr id="9" name="faces_198"/>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199"/>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  I can use the third conditional to talk about the past.</a:t>
            </a:r>
            <a:endParaRPr lang="en-US" sz="1300" dirty="0"/>
          </a:p>
        </p:txBody>
      </p:sp>
      <p:sp>
        <p:nvSpPr>
          <p:cNvPr id="11" name="faces_200"/>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01"/>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say would have with the right rhythm.</a:t>
            </a:r>
            <a:endParaRPr lang="en-US" sz="1350" dirty="0"/>
          </a:p>
        </p:txBody>
      </p:sp>
      <p:sp>
        <p:nvSpPr>
          <p:cNvPr id="13" name="faces_202"/>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203"/>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9A: 1a, 1b, 1c (2a: audio)</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Grammar Bank 9A: a 6–9, b 6–10</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9A-1</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204"/>
          <p:cNvSpPr txBox="1"/>
          <p:nvPr/>
        </p:nvSpPr>
        <p:spPr>
          <a:xfrm>
            <a:off x="365760" y="3657600"/>
            <a:ext cx="493776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9A part 2 · How to improve your luck</a:t>
            </a:r>
            <a:endParaRPr lang="en-US" sz="12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5"/>
          <p:cNvSpPr/>
          <p:nvPr/>
        </p:nvSpPr>
        <p:spPr>
          <a:xfrm>
            <a:off x="54864" y="54864"/>
            <a:ext cx="9034272" cy="5033772"/>
          </a:xfrm>
          <a:prstGeom prst="rect">
            <a:avLst/>
          </a:prstGeom>
          <a:ln w="114300">
            <a:solidFill>
              <a:srgbClr val="A8E6B4"/>
            </a:solidFill>
            <a:prstDash val="solid"/>
          </a:ln>
        </p:spPr>
      </p:sp>
      <p:pic>
        <p:nvPicPr>
          <p:cNvPr id="4" name="logo_20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1h</a:t>
            </a:r>
            <a:endParaRPr lang="en-US" sz="900" dirty="0"/>
          </a:p>
        </p:txBody>
      </p:sp>
      <p:sp>
        <p:nvSpPr>
          <p:cNvPr id="6" name="timer_20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20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1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9" name="title_211"/>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Have you ever been helped?</a:t>
            </a:r>
            <a:endParaRPr lang="en-US" sz="1500" dirty="0"/>
          </a:p>
        </p:txBody>
      </p:sp>
      <p:sp>
        <p:nvSpPr>
          <p:cNvPr id="10" name="post_212"/>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13"/>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1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Tell a partner about a time a stranger helped you (or you helped one).</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Racconta di quando uno sconosciuto ti ha aiutato (o hai aiutato tu).</a:t>
            </a:r>
            <a:endParaRPr lang="en-US" sz="1050" dirty="0"/>
          </a:p>
        </p:txBody>
      </p:sp>
      <p:sp>
        <p:nvSpPr>
          <p:cNvPr id="13" name="iconBack_21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16" descr="pi:PiChatsCircle">    </p:cNvPr>
          <p:cNvPicPr>
            <a:picLocks noChangeAspect="1"/>
          </p:cNvPicPr>
          <p:nvPr/>
        </p:nvPicPr>
        <p:blipFill>
          <a:blip r:embed="rId3"/>
          <a:stretch>
            <a:fillRect/>
          </a:stretch>
        </p:blipFill>
        <p:spPr>
          <a:xfrm>
            <a:off x="914400" y="3474720"/>
            <a:ext cx="685800" cy="685800"/>
          </a:xfrm>
          <a:prstGeom prst="rect">
            <a:avLst/>
          </a:prstGeom>
        </p:spPr>
      </p:pic>
      <p:sp>
        <p:nvSpPr>
          <p:cNvPr id="15" name="num_217"/>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18"/>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Think of a time a stranger helped you – or you helped a stranger.</a:t>
            </a:r>
            <a:endParaRPr lang="en-US" sz="1300" dirty="0"/>
          </a:p>
        </p:txBody>
      </p:sp>
      <p:sp>
        <p:nvSpPr>
          <p:cNvPr id="17" name="num_219"/>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20"/>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Where did it happen?</a:t>
            </a:r>
            <a:endParaRPr lang="en-US" sz="1300" dirty="0"/>
          </a:p>
        </p:txBody>
      </p:sp>
      <p:sp>
        <p:nvSpPr>
          <p:cNvPr id="19" name="num_221"/>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22"/>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What was the problem?</a:t>
            </a:r>
            <a:endParaRPr lang="en-US" sz="1300" dirty="0"/>
          </a:p>
        </p:txBody>
      </p:sp>
      <p:sp>
        <p:nvSpPr>
          <p:cNvPr id="21" name="num_223"/>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24"/>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What did the stranger do? / What did you do?</a:t>
            </a:r>
            <a:endParaRPr lang="en-US" sz="1300" dirty="0"/>
          </a:p>
        </p:txBody>
      </p:sp>
      <p:sp>
        <p:nvSpPr>
          <p:cNvPr id="23" name="num_225"/>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226"/>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Finish with a third conditional: If he hadn't…, I would have…</a:t>
            </a:r>
            <a:endParaRPr lang="en-US" sz="1300" dirty="0"/>
          </a:p>
        </p:txBody>
      </p:sp>
      <p:sp>
        <p:nvSpPr>
          <p:cNvPr id="25" name="bubble_227"/>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i="1" dirty="0">
                <a:solidFill>
                  <a:srgbClr val="111111"/>
                </a:solidFill>
                <a:latin typeface="Calibri" pitchFamily="34" charset="0"/>
                <a:ea typeface="Calibri" pitchFamily="34" charset="-122"/>
                <a:cs typeface="Calibri" pitchFamily="34" charset="-120"/>
              </a:rPr>
              <a:t>If that woman hadn't found my wallet, I would have lost all my documents.</a:t>
            </a:r>
            <a:endParaRPr lang="en-US" sz="1150" dirty="0"/>
          </a:p>
        </p:txBody>
      </p:sp>
      <p:sp>
        <p:nvSpPr>
          <p:cNvPr id="26" name="pageTag_22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p.87 · 1h</a:t>
            </a:r>
            <a:endParaRPr lang="en-US" sz="105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9"/>
          <p:cNvSpPr/>
          <p:nvPr/>
        </p:nvSpPr>
        <p:spPr>
          <a:xfrm>
            <a:off x="54864" y="54864"/>
            <a:ext cx="9034272" cy="5033772"/>
          </a:xfrm>
          <a:prstGeom prst="rect">
            <a:avLst/>
          </a:prstGeom>
          <a:ln w="114300">
            <a:solidFill>
              <a:srgbClr val="A8E6B4"/>
            </a:solidFill>
            <a:prstDash val="solid"/>
          </a:ln>
        </p:spPr>
      </p:sp>
      <p:pic>
        <p:nvPicPr>
          <p:cNvPr id="4" name="logo_23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3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Grammar photocopiable 9A</a:t>
            </a:r>
            <a:endParaRPr lang="en-US" sz="900" dirty="0"/>
          </a:p>
        </p:txBody>
      </p:sp>
      <p:sp>
        <p:nvSpPr>
          <p:cNvPr id="6" name="timer_23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33"/>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3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9" name="title_235"/>
          <p:cNvSpPr txBox="1"/>
          <p:nvPr/>
        </p:nvSpPr>
        <p:spPr>
          <a:xfrm rot="-120000">
            <a:off x="320040" y="676656"/>
            <a:ext cx="519379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Third conditional: practice</a:t>
            </a:r>
            <a:endParaRPr lang="en-US" sz="1500" dirty="0"/>
          </a:p>
        </p:txBody>
      </p:sp>
      <p:sp>
        <p:nvSpPr>
          <p:cNvPr id="10" name="post_236"/>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37"/>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2" name="signB_23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Handout: a – put the words in order · b – complete with the right tense.</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Scheda: a – metti le parole in ordine · b – completa con il tempo giusto.</a:t>
            </a:r>
            <a:endParaRPr lang="en-US" sz="1050" dirty="0"/>
          </a:p>
        </p:txBody>
      </p:sp>
      <p:sp>
        <p:nvSpPr>
          <p:cNvPr id="13" name="iconBack_23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240"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5" name="box_241"/>
          <p:cNvSpPr txBox="1"/>
          <p:nvPr/>
        </p:nvSpPr>
        <p:spPr>
          <a:xfrm>
            <a:off x="2788920" y="1371600"/>
            <a:ext cx="3741725"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b2  If I ___ (know) how cold it was going to be in London, I ___ (take) warmer clothes.</a:t>
            </a:r>
            <a:endParaRPr lang="en-US" sz="1150" dirty="0"/>
          </a:p>
        </p:txBody>
      </p:sp>
      <p:sp>
        <p:nvSpPr>
          <p:cNvPr id="16" name="R1_a0"/>
          <p:cNvSpPr txBox="1"/>
          <p:nvPr/>
        </p:nvSpPr>
        <p:spPr>
          <a:xfrm>
            <a:off x="6585509" y="1408176"/>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'd known · 'd have taken</a:t>
            </a:r>
            <a:endParaRPr lang="en-US" sz="1100" dirty="0"/>
          </a:p>
        </p:txBody>
      </p:sp>
      <p:sp>
        <p:nvSpPr>
          <p:cNvPr id="17" name="box_242"/>
          <p:cNvSpPr txBox="1"/>
          <p:nvPr/>
        </p:nvSpPr>
        <p:spPr>
          <a:xfrm>
            <a:off x="2788920" y="2055571"/>
            <a:ext cx="3741725"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b3  You ___ (enjoy) the party if you ___ (go).</a:t>
            </a:r>
            <a:endParaRPr lang="en-US" sz="1150" dirty="0"/>
          </a:p>
        </p:txBody>
      </p:sp>
      <p:sp>
        <p:nvSpPr>
          <p:cNvPr id="18" name="R1_a1"/>
          <p:cNvSpPr txBox="1"/>
          <p:nvPr/>
        </p:nvSpPr>
        <p:spPr>
          <a:xfrm>
            <a:off x="6585509" y="2092147"/>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'd have enjoyed · 'd gone</a:t>
            </a:r>
            <a:endParaRPr lang="en-US" sz="1100" dirty="0"/>
          </a:p>
        </p:txBody>
      </p:sp>
      <p:sp>
        <p:nvSpPr>
          <p:cNvPr id="19" name="box_243"/>
          <p:cNvSpPr txBox="1"/>
          <p:nvPr/>
        </p:nvSpPr>
        <p:spPr>
          <a:xfrm>
            <a:off x="2788920" y="2739542"/>
            <a:ext cx="3741725"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b4  If you ___ (be) quieter, the baby ___ (not wake up).</a:t>
            </a:r>
            <a:endParaRPr lang="en-US" sz="1150" dirty="0"/>
          </a:p>
        </p:txBody>
      </p:sp>
      <p:sp>
        <p:nvSpPr>
          <p:cNvPr id="20" name="R1_a2"/>
          <p:cNvSpPr txBox="1"/>
          <p:nvPr/>
        </p:nvSpPr>
        <p:spPr>
          <a:xfrm>
            <a:off x="6585509" y="2776118"/>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'd been · wouldn't have woken up</a:t>
            </a:r>
            <a:endParaRPr lang="en-US" sz="1100" dirty="0"/>
          </a:p>
        </p:txBody>
      </p:sp>
      <p:sp>
        <p:nvSpPr>
          <p:cNvPr id="21" name="box_244"/>
          <p:cNvSpPr txBox="1"/>
          <p:nvPr/>
        </p:nvSpPr>
        <p:spPr>
          <a:xfrm>
            <a:off x="2788920" y="3423514"/>
            <a:ext cx="3741725"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b5  I ___ (not open) the attachment if I ___ (know) that it had a virus.</a:t>
            </a:r>
            <a:endParaRPr lang="en-US" sz="1150" dirty="0"/>
          </a:p>
        </p:txBody>
      </p:sp>
      <p:sp>
        <p:nvSpPr>
          <p:cNvPr id="22" name="R1_a3"/>
          <p:cNvSpPr txBox="1"/>
          <p:nvPr/>
        </p:nvSpPr>
        <p:spPr>
          <a:xfrm>
            <a:off x="6585509" y="3460090"/>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wouldn't have opened · 'd known</a:t>
            </a:r>
            <a:endParaRPr lang="en-US" sz="1100" dirty="0"/>
          </a:p>
        </p:txBody>
      </p:sp>
      <p:sp>
        <p:nvSpPr>
          <p:cNvPr id="23" name="box_245"/>
          <p:cNvSpPr txBox="1"/>
          <p:nvPr/>
        </p:nvSpPr>
        <p:spPr>
          <a:xfrm>
            <a:off x="2788920" y="4107485"/>
            <a:ext cx="3741725"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b6  ___ (you / go) to Katia's wedding if she ___ (invite) you?</a:t>
            </a:r>
            <a:endParaRPr lang="en-US" sz="1150" dirty="0"/>
          </a:p>
        </p:txBody>
      </p:sp>
      <p:sp>
        <p:nvSpPr>
          <p:cNvPr id="24" name="R1_a4"/>
          <p:cNvSpPr txBox="1"/>
          <p:nvPr/>
        </p:nvSpPr>
        <p:spPr>
          <a:xfrm>
            <a:off x="6585509" y="4144061"/>
            <a:ext cx="2238451"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Would you have gone · 'd invited</a:t>
            </a:r>
            <a:endParaRPr lang="en-US" sz="1100" dirty="0"/>
          </a:p>
        </p:txBody>
      </p:sp>
      <p:sp>
        <p:nvSpPr>
          <p:cNvPr id="25" name="pageTag_24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 Print: B1_9A_Photocopiables.pdf, page 1 · Teacher: Grammar photocopiable 9A p.165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7"/>
          <p:cNvSpPr/>
          <p:nvPr/>
        </p:nvSpPr>
        <p:spPr>
          <a:xfrm>
            <a:off x="54864" y="54864"/>
            <a:ext cx="9034272" cy="5033772"/>
          </a:xfrm>
          <a:prstGeom prst="rect">
            <a:avLst/>
          </a:prstGeom>
          <a:ln w="114300">
            <a:solidFill>
              <a:srgbClr val="A8E6B4"/>
            </a:solidFill>
            <a:prstDash val="solid"/>
          </a:ln>
        </p:spPr>
      </p:sp>
      <p:pic>
        <p:nvPicPr>
          <p:cNvPr id="4" name="logo_24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Communicative photocopiable 9A</a:t>
            </a:r>
            <a:endParaRPr lang="en-US" sz="900" dirty="0"/>
          </a:p>
        </p:txBody>
      </p:sp>
      <p:sp>
        <p:nvSpPr>
          <p:cNvPr id="6" name="timer_25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extra_25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5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9A · Part 1</a:t>
            </a:r>
            <a:endParaRPr lang="en-US" sz="1000" dirty="0"/>
          </a:p>
        </p:txBody>
      </p:sp>
      <p:sp>
        <p:nvSpPr>
          <p:cNvPr id="9" name="title_253"/>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Sentence race</a:t>
            </a:r>
            <a:endParaRPr lang="en-US" sz="1500" dirty="0"/>
          </a:p>
        </p:txBody>
      </p:sp>
      <p:sp>
        <p:nvSpPr>
          <p:cNvPr id="10" name="post_254"/>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55"/>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2" name="signB_25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Pairs: complete as many sentences as you can in 10 minutes!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In coppia: completate più frasi possibili in 10 minuti!</a:t>
            </a:r>
            <a:endParaRPr lang="en-US" sz="1200" dirty="0"/>
          </a:p>
        </p:txBody>
      </p:sp>
      <p:sp>
        <p:nvSpPr>
          <p:cNvPr id="13" name="box_257"/>
          <p:cNvSpPr txBox="1"/>
          <p:nvPr/>
        </p:nvSpPr>
        <p:spPr>
          <a:xfrm>
            <a:off x="2788920" y="1371600"/>
            <a:ext cx="295351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We wouldn't have been late if…</a:t>
            </a:r>
            <a:endParaRPr lang="en-US" sz="1200" dirty="0"/>
          </a:p>
        </p:txBody>
      </p:sp>
      <p:sp>
        <p:nvSpPr>
          <p:cNvPr id="14" name="box_258"/>
          <p:cNvSpPr txBox="1"/>
          <p:nvPr/>
        </p:nvSpPr>
        <p:spPr>
          <a:xfrm>
            <a:off x="5870448" y="1371600"/>
            <a:ext cx="295351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You would have slept better if…</a:t>
            </a:r>
            <a:endParaRPr lang="en-US" sz="1200" dirty="0"/>
          </a:p>
        </p:txBody>
      </p:sp>
      <p:sp>
        <p:nvSpPr>
          <p:cNvPr id="15" name="box_259"/>
          <p:cNvSpPr txBox="1"/>
          <p:nvPr/>
        </p:nvSpPr>
        <p:spPr>
          <a:xfrm>
            <a:off x="2788920" y="2226564"/>
            <a:ext cx="2953512"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If you'd told me you were vegan, I…</a:t>
            </a:r>
            <a:endParaRPr lang="en-US" sz="1200" dirty="0"/>
          </a:p>
        </p:txBody>
      </p:sp>
      <p:sp>
        <p:nvSpPr>
          <p:cNvPr id="16" name="box_260"/>
          <p:cNvSpPr txBox="1"/>
          <p:nvPr/>
        </p:nvSpPr>
        <p:spPr>
          <a:xfrm>
            <a:off x="5870448" y="2226564"/>
            <a:ext cx="2953512"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We would have seen the film if…</a:t>
            </a:r>
            <a:endParaRPr lang="en-US" sz="1200" dirty="0"/>
          </a:p>
        </p:txBody>
      </p:sp>
      <p:sp>
        <p:nvSpPr>
          <p:cNvPr id="17" name="box_261"/>
          <p:cNvSpPr txBox="1"/>
          <p:nvPr/>
        </p:nvSpPr>
        <p:spPr>
          <a:xfrm>
            <a:off x="2788920" y="3081528"/>
            <a:ext cx="2953512"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If I'd had more money, I…</a:t>
            </a:r>
            <a:endParaRPr lang="en-US" sz="1200" dirty="0"/>
          </a:p>
        </p:txBody>
      </p:sp>
      <p:sp>
        <p:nvSpPr>
          <p:cNvPr id="18" name="box_262"/>
          <p:cNvSpPr txBox="1"/>
          <p:nvPr/>
        </p:nvSpPr>
        <p:spPr>
          <a:xfrm>
            <a:off x="5870448" y="3081528"/>
            <a:ext cx="2953512"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If I hadn't lost my wallet, I…</a:t>
            </a:r>
            <a:endParaRPr lang="en-US" sz="1200" dirty="0"/>
          </a:p>
        </p:txBody>
      </p:sp>
      <p:sp>
        <p:nvSpPr>
          <p:cNvPr id="19" name="box_263"/>
          <p:cNvSpPr txBox="1"/>
          <p:nvPr/>
        </p:nvSpPr>
        <p:spPr>
          <a:xfrm>
            <a:off x="2788920" y="3936492"/>
            <a:ext cx="295351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7  If we'd missed our train, we…</a:t>
            </a:r>
            <a:endParaRPr lang="en-US" sz="1200" dirty="0"/>
          </a:p>
        </p:txBody>
      </p:sp>
      <p:sp>
        <p:nvSpPr>
          <p:cNvPr id="20" name="box_264"/>
          <p:cNvSpPr txBox="1"/>
          <p:nvPr/>
        </p:nvSpPr>
        <p:spPr>
          <a:xfrm>
            <a:off x="5870448" y="3936492"/>
            <a:ext cx="295351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8  If our team had played better,…</a:t>
            </a:r>
            <a:endParaRPr lang="en-US" sz="1200" dirty="0"/>
          </a:p>
        </p:txBody>
      </p:sp>
      <p:sp>
        <p:nvSpPr>
          <p:cNvPr id="21" name="sticky_265"/>
          <p:cNvSpPr txBox="1"/>
          <p:nvPr/>
        </p:nvSpPr>
        <p:spPr>
          <a:xfrm rot="-120000">
            <a:off x="411480" y="4224528"/>
            <a:ext cx="2194560" cy="45720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dirty="0">
                <a:solidFill>
                  <a:srgbClr val="111111"/>
                </a:solidFill>
                <a:latin typeface="Calibri" pitchFamily="34" charset="0"/>
                <a:ea typeface="Calibri" pitchFamily="34" charset="-122"/>
                <a:cs typeface="Calibri" pitchFamily="34" charset="-120"/>
              </a:rPr>
              <a:t>Correct AND logical = 1 point</a:t>
            </a:r>
            <a:endParaRPr lang="en-US" sz="1100" dirty="0"/>
          </a:p>
        </p:txBody>
      </p:sp>
      <p:sp>
        <p:nvSpPr>
          <p:cNvPr id="22" name="pageTag_26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950" dirty="0">
                <a:solidFill>
                  <a:srgbClr val="334155"/>
                </a:solidFill>
                <a:latin typeface="Calibri" pitchFamily="34" charset="0"/>
                <a:ea typeface="Calibri" pitchFamily="34" charset="-122"/>
                <a:cs typeface="Calibri" pitchFamily="34" charset="-120"/>
              </a:rPr>
              <a:t>📖 📄 Print: B1_9A_Photocopiables.pdf, page 2 · Teacher: Communicative photocopiable 9A 'Sentence race' p.194</a:t>
            </a:r>
            <a:endParaRPr lang="en-US" sz="9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9A-1 Lucky encounters</dc:title>
  <dc:subject>PptxGenJS Presentation</dc:subject>
  <dc:creator>London Language School</dc:creator>
  <cp:lastModifiedBy>London Language School</cp:lastModifiedBy>
  <cp:revision>1</cp:revision>
  <dcterms:created xsi:type="dcterms:W3CDTF">2026-10-05T09:39:33Z</dcterms:created>
  <dcterms:modified xsi:type="dcterms:W3CDTF">2026-10-05T09:39:33Z</dcterms:modified>
</cp:coreProperties>
</file>