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 (60 min). Aims: ingredients, countable/uncountable, some/any, how much/how many, checking a delivery.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part 1 (2 min). VARIATION: memory disruption. Show for 20 seconds, then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part 2 (3 min). Students say what's missing AND where it was: The ladle was next to the knife. Click 1: answers. Then: What other equipment do you remember from last lesson? (tongs, peeler, grater, sieve, chopping board…)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(8 min). Then categorise quickly: vegetables, fruit, meat &amp; poultry, fish &amp; seafood, dairy, dry store. Elicit 2 more words for each group (onion, pepper, pork, lamb, cod, cream, rice, sugar, oil).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(6 min). Click 1. This is how we count uncountable food: two bottles of oil (not two oils). Italian: sacchetto, bottiglia, scatola, lattina, cartone, mazzo, spicchio, pizzico.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 Quick test: say a word, they say 'much' or 'many' (rice → much, prawns → many, garlic → much / cloves of garlic → many).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(5 min). Pairs, then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Students answer with How much / How many language. Follow-up: Would you accept limes instead of lemons? For which dishes?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(10 min). VARIATION: student-generated content + curiosity gap. Click 4 times to open the basket (fish, lemon, cheese, chilli — the famous 'no cheese with fish' rule makes it fun: let them argue). Round 2: teacher chooses 4 new ingredients.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ROLE-PLAY (10 min). Second time: use the real order from their restaurant. Third time: B invents 2 problems (wrong amount, out of date).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 sheet L3 in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(6 min). VARIATION: negative experiences + follow-ups — people have more to say about what they hate. Keep it light; don't push for personal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(6 min). Memory chain — used only in this lesson in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4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4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B3F0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040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182880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ENGLISH · Lesson 3 of 10</a:t>
            </a:r>
            <a:endParaRPr lang="en-US" sz="12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3355848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6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INGREDIENTS</a:t>
            </a:r>
            <a:endParaRPr lang="en-US" sz="265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3717036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food and ingredients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countable / uncountable · some / any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2756916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the delivery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bo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carr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C9B3F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chee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we got any butter?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Chef. We've run out!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Lesson 2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-120000">
            <a:off x="320040" y="676656"/>
            <a:ext cx="397764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for 20 seconds…</a:t>
            </a:r>
            <a:endParaRPr lang="en-US" sz="1500" dirty="0"/>
          </a:p>
        </p:txBody>
      </p:sp>
      <p:sp>
        <p:nvSpPr>
          <p:cNvPr id="9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B45309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REMEMBER!</a:t>
            </a:r>
            <a:pPr indent="0" marL="0">
              <a:buNone/>
            </a:pPr>
            <a:r>
              <a:rPr lang="en-US" sz="9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RICORDA!</a:t>
            </a:r>
            <a:endParaRPr lang="en-US" sz="1350" dirty="0"/>
          </a:p>
        </p:txBody>
      </p:sp>
      <p:sp>
        <p:nvSpPr>
          <p:cNvPr id="11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and remember! You have 20 seconds.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 ricorda! Hai 20 secondi.</a:t>
            </a:r>
            <a:endParaRPr lang="en-US" sz="1250" dirty="0"/>
          </a:p>
        </p:txBody>
      </p:sp>
      <p:sp>
        <p:nvSpPr>
          <p:cNvPr id="12" name="tile_27"/>
          <p:cNvSpPr/>
          <p:nvPr/>
        </p:nvSpPr>
        <p:spPr>
          <a:xfrm>
            <a:off x="2788920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3" name="ti_28" descr="a knif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107" y="1426464"/>
            <a:ext cx="412090" cy="412090"/>
          </a:xfrm>
          <a:prstGeom prst="rect">
            <a:avLst/>
          </a:prstGeom>
        </p:spPr>
      </p:pic>
      <p:sp>
        <p:nvSpPr>
          <p:cNvPr id="14" name="tw_29"/>
          <p:cNvSpPr txBox="1"/>
          <p:nvPr/>
        </p:nvSpPr>
        <p:spPr>
          <a:xfrm>
            <a:off x="2825496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knife</a:t>
            </a:r>
            <a:endParaRPr lang="en-US" sz="1250" dirty="0"/>
          </a:p>
        </p:txBody>
      </p:sp>
      <p:sp>
        <p:nvSpPr>
          <p:cNvPr id="15" name="tile_30"/>
          <p:cNvSpPr/>
          <p:nvPr/>
        </p:nvSpPr>
        <p:spPr>
          <a:xfrm>
            <a:off x="4325112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6" name="ti_31" descr="a lad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299" y="1426464"/>
            <a:ext cx="412090" cy="412090"/>
          </a:xfrm>
          <a:prstGeom prst="rect">
            <a:avLst/>
          </a:prstGeom>
        </p:spPr>
      </p:pic>
      <p:sp>
        <p:nvSpPr>
          <p:cNvPr id="17" name="tw_32"/>
          <p:cNvSpPr txBox="1"/>
          <p:nvPr/>
        </p:nvSpPr>
        <p:spPr>
          <a:xfrm>
            <a:off x="4361688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ladle</a:t>
            </a:r>
            <a:endParaRPr lang="en-US" sz="1250" dirty="0"/>
          </a:p>
        </p:txBody>
      </p:sp>
      <p:sp>
        <p:nvSpPr>
          <p:cNvPr id="18" name="tile_33"/>
          <p:cNvSpPr/>
          <p:nvPr/>
        </p:nvSpPr>
        <p:spPr>
          <a:xfrm>
            <a:off x="5861304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9" name="ti_34" descr="a whis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491" y="1426464"/>
            <a:ext cx="412090" cy="412090"/>
          </a:xfrm>
          <a:prstGeom prst="rect">
            <a:avLst/>
          </a:prstGeom>
        </p:spPr>
      </p:pic>
      <p:sp>
        <p:nvSpPr>
          <p:cNvPr id="20" name="tw_35"/>
          <p:cNvSpPr txBox="1"/>
          <p:nvPr/>
        </p:nvSpPr>
        <p:spPr>
          <a:xfrm>
            <a:off x="5897880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whisk</a:t>
            </a:r>
            <a:endParaRPr lang="en-US" sz="1250" dirty="0"/>
          </a:p>
        </p:txBody>
      </p:sp>
      <p:sp>
        <p:nvSpPr>
          <p:cNvPr id="21" name="tile_36"/>
          <p:cNvSpPr/>
          <p:nvPr/>
        </p:nvSpPr>
        <p:spPr>
          <a:xfrm>
            <a:off x="7397496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2" name="ti_37" descr="scal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4683" y="1426464"/>
            <a:ext cx="412090" cy="412090"/>
          </a:xfrm>
          <a:prstGeom prst="rect">
            <a:avLst/>
          </a:prstGeom>
        </p:spPr>
      </p:pic>
      <p:sp>
        <p:nvSpPr>
          <p:cNvPr id="23" name="tw_38"/>
          <p:cNvSpPr txBox="1"/>
          <p:nvPr/>
        </p:nvSpPr>
        <p:spPr>
          <a:xfrm>
            <a:off x="7434072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</a:t>
            </a:r>
            <a:endParaRPr lang="en-US" sz="1250" dirty="0"/>
          </a:p>
        </p:txBody>
      </p:sp>
      <p:sp>
        <p:nvSpPr>
          <p:cNvPr id="24" name="tile_39"/>
          <p:cNvSpPr/>
          <p:nvPr/>
        </p:nvSpPr>
        <p:spPr>
          <a:xfrm>
            <a:off x="2788920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5" name="ti_40" descr="an ove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6107" y="2566416"/>
            <a:ext cx="412090" cy="412090"/>
          </a:xfrm>
          <a:prstGeom prst="rect">
            <a:avLst/>
          </a:prstGeom>
        </p:spPr>
      </p:pic>
      <p:sp>
        <p:nvSpPr>
          <p:cNvPr id="26" name="tw_41"/>
          <p:cNvSpPr txBox="1"/>
          <p:nvPr/>
        </p:nvSpPr>
        <p:spPr>
          <a:xfrm>
            <a:off x="2825496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oven</a:t>
            </a:r>
            <a:endParaRPr lang="en-US" sz="1250" dirty="0"/>
          </a:p>
        </p:txBody>
      </p:sp>
      <p:sp>
        <p:nvSpPr>
          <p:cNvPr id="27" name="tile_42"/>
          <p:cNvSpPr/>
          <p:nvPr/>
        </p:nvSpPr>
        <p:spPr>
          <a:xfrm>
            <a:off x="4325112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8" name="ti_43" descr="a fridg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299" y="2566416"/>
            <a:ext cx="412090" cy="412090"/>
          </a:xfrm>
          <a:prstGeom prst="rect">
            <a:avLst/>
          </a:prstGeom>
        </p:spPr>
      </p:pic>
      <p:sp>
        <p:nvSpPr>
          <p:cNvPr id="29" name="tw_44"/>
          <p:cNvSpPr txBox="1"/>
          <p:nvPr/>
        </p:nvSpPr>
        <p:spPr>
          <a:xfrm>
            <a:off x="4361688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fridge</a:t>
            </a:r>
            <a:endParaRPr lang="en-US" sz="1250" dirty="0"/>
          </a:p>
        </p:txBody>
      </p:sp>
      <p:sp>
        <p:nvSpPr>
          <p:cNvPr id="30" name="tile_45"/>
          <p:cNvSpPr/>
          <p:nvPr/>
        </p:nvSpPr>
        <p:spPr>
          <a:xfrm>
            <a:off x="5861304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1" name="ti_46" descr="a saucepa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8491" y="2566416"/>
            <a:ext cx="412090" cy="412090"/>
          </a:xfrm>
          <a:prstGeom prst="rect">
            <a:avLst/>
          </a:prstGeom>
        </p:spPr>
      </p:pic>
      <p:sp>
        <p:nvSpPr>
          <p:cNvPr id="32" name="tw_47"/>
          <p:cNvSpPr txBox="1"/>
          <p:nvPr/>
        </p:nvSpPr>
        <p:spPr>
          <a:xfrm>
            <a:off x="5897880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saucepan</a:t>
            </a:r>
            <a:endParaRPr lang="en-US" sz="1250" dirty="0"/>
          </a:p>
        </p:txBody>
      </p:sp>
      <p:sp>
        <p:nvSpPr>
          <p:cNvPr id="33" name="tile_48"/>
          <p:cNvSpPr/>
          <p:nvPr/>
        </p:nvSpPr>
        <p:spPr>
          <a:xfrm>
            <a:off x="7397496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4" name="ti_49" descr="a microwav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4683" y="2566416"/>
            <a:ext cx="412090" cy="412090"/>
          </a:xfrm>
          <a:prstGeom prst="rect">
            <a:avLst/>
          </a:prstGeom>
        </p:spPr>
      </p:pic>
      <p:sp>
        <p:nvSpPr>
          <p:cNvPr id="35" name="tw_50"/>
          <p:cNvSpPr txBox="1"/>
          <p:nvPr/>
        </p:nvSpPr>
        <p:spPr>
          <a:xfrm>
            <a:off x="7434072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microwave</a:t>
            </a:r>
            <a:endParaRPr lang="en-US" sz="1250" dirty="0"/>
          </a:p>
        </p:txBody>
      </p:sp>
      <p:sp>
        <p:nvSpPr>
          <p:cNvPr id="36" name="tile_51"/>
          <p:cNvSpPr/>
          <p:nvPr/>
        </p:nvSpPr>
        <p:spPr>
          <a:xfrm>
            <a:off x="2788920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7" name="ti_52" descr="a wooden spo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6107" y="3706368"/>
            <a:ext cx="412090" cy="412090"/>
          </a:xfrm>
          <a:prstGeom prst="rect">
            <a:avLst/>
          </a:prstGeom>
        </p:spPr>
      </p:pic>
      <p:sp>
        <p:nvSpPr>
          <p:cNvPr id="38" name="tw_53"/>
          <p:cNvSpPr txBox="1"/>
          <p:nvPr/>
        </p:nvSpPr>
        <p:spPr>
          <a:xfrm>
            <a:off x="2825496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wooden spoon</a:t>
            </a:r>
            <a:endParaRPr lang="en-US" sz="1250" dirty="0"/>
          </a:p>
        </p:txBody>
      </p:sp>
      <p:sp>
        <p:nvSpPr>
          <p:cNvPr id="39" name="tile_54"/>
          <p:cNvSpPr/>
          <p:nvPr/>
        </p:nvSpPr>
        <p:spPr>
          <a:xfrm>
            <a:off x="4325112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0" name="ti_55" descr="oven glove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2299" y="3706368"/>
            <a:ext cx="412090" cy="412090"/>
          </a:xfrm>
          <a:prstGeom prst="rect">
            <a:avLst/>
          </a:prstGeom>
        </p:spPr>
      </p:pic>
      <p:sp>
        <p:nvSpPr>
          <p:cNvPr id="41" name="tw_56"/>
          <p:cNvSpPr txBox="1"/>
          <p:nvPr/>
        </p:nvSpPr>
        <p:spPr>
          <a:xfrm>
            <a:off x="4361688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gloves</a:t>
            </a:r>
            <a:endParaRPr lang="en-US" sz="1250" dirty="0"/>
          </a:p>
        </p:txBody>
      </p:sp>
      <p:sp>
        <p:nvSpPr>
          <p:cNvPr id="42" name="tile_57"/>
          <p:cNvSpPr/>
          <p:nvPr/>
        </p:nvSpPr>
        <p:spPr>
          <a:xfrm>
            <a:off x="5861304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3" name="ti_58" descr="a cleave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8491" y="3706368"/>
            <a:ext cx="412090" cy="412090"/>
          </a:xfrm>
          <a:prstGeom prst="rect">
            <a:avLst/>
          </a:prstGeom>
        </p:spPr>
      </p:pic>
      <p:sp>
        <p:nvSpPr>
          <p:cNvPr id="44" name="tw_59"/>
          <p:cNvSpPr txBox="1"/>
          <p:nvPr/>
        </p:nvSpPr>
        <p:spPr>
          <a:xfrm>
            <a:off x="5897880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cleaver</a:t>
            </a:r>
            <a:endParaRPr lang="en-US" sz="1250" dirty="0"/>
          </a:p>
        </p:txBody>
      </p:sp>
      <p:sp>
        <p:nvSpPr>
          <p:cNvPr id="45" name="tile_60"/>
          <p:cNvSpPr/>
          <p:nvPr/>
        </p:nvSpPr>
        <p:spPr>
          <a:xfrm>
            <a:off x="7397496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6" name="ti_61" descr="a hob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4683" y="3706368"/>
            <a:ext cx="412090" cy="412090"/>
          </a:xfrm>
          <a:prstGeom prst="rect">
            <a:avLst/>
          </a:prstGeom>
        </p:spPr>
      </p:pic>
      <p:sp>
        <p:nvSpPr>
          <p:cNvPr id="47" name="tw_62"/>
          <p:cNvSpPr txBox="1"/>
          <p:nvPr/>
        </p:nvSpPr>
        <p:spPr>
          <a:xfrm>
            <a:off x="7434072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hob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6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6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6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Lesson 2</a:t>
            </a:r>
            <a:endParaRPr lang="en-US" sz="900" dirty="0"/>
          </a:p>
        </p:txBody>
      </p:sp>
      <p:sp>
        <p:nvSpPr>
          <p:cNvPr id="6" name="timer_6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200" dirty="0"/>
          </a:p>
        </p:txBody>
      </p:sp>
      <p:sp>
        <p:nvSpPr>
          <p:cNvPr id="7" name="footer_6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8" name="title_68"/>
          <p:cNvSpPr txBox="1"/>
          <p:nvPr/>
        </p:nvSpPr>
        <p:spPr>
          <a:xfrm rot="-120000">
            <a:off x="320040" y="676656"/>
            <a:ext cx="310896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missing?</a:t>
            </a:r>
            <a:endParaRPr lang="en-US" sz="1500" dirty="0"/>
          </a:p>
        </p:txBody>
      </p:sp>
      <p:sp>
        <p:nvSpPr>
          <p:cNvPr id="9" name="post_6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7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B45309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REMEMBER!</a:t>
            </a:r>
            <a:pPr indent="0" marL="0">
              <a:buNone/>
            </a:pPr>
            <a:r>
              <a:rPr lang="en-US" sz="9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RICORDA!</a:t>
            </a:r>
            <a:endParaRPr lang="en-US" sz="1350" dirty="0"/>
          </a:p>
        </p:txBody>
      </p:sp>
      <p:sp>
        <p:nvSpPr>
          <p:cNvPr id="11" name="signB_7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things are missing. What are they? Where were they?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Mancano 3 oggetti. Quali? Dov'erano?</a:t>
            </a:r>
            <a:endParaRPr lang="en-US" sz="1250" dirty="0"/>
          </a:p>
        </p:txBody>
      </p:sp>
      <p:sp>
        <p:nvSpPr>
          <p:cNvPr id="12" name="tile_72"/>
          <p:cNvSpPr/>
          <p:nvPr/>
        </p:nvSpPr>
        <p:spPr>
          <a:xfrm>
            <a:off x="2788920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3" name="ti_73" descr="a knif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107" y="1426464"/>
            <a:ext cx="412090" cy="412090"/>
          </a:xfrm>
          <a:prstGeom prst="rect">
            <a:avLst/>
          </a:prstGeom>
        </p:spPr>
      </p:pic>
      <p:sp>
        <p:nvSpPr>
          <p:cNvPr id="14" name="tw_74"/>
          <p:cNvSpPr txBox="1"/>
          <p:nvPr/>
        </p:nvSpPr>
        <p:spPr>
          <a:xfrm>
            <a:off x="2825496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knife</a:t>
            </a:r>
            <a:endParaRPr lang="en-US" sz="1250" dirty="0"/>
          </a:p>
        </p:txBody>
      </p:sp>
      <p:sp>
        <p:nvSpPr>
          <p:cNvPr id="15" name="tile_75"/>
          <p:cNvSpPr/>
          <p:nvPr/>
        </p:nvSpPr>
        <p:spPr>
          <a:xfrm>
            <a:off x="4325112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6" name="ti_76" descr="?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299" y="1426464"/>
            <a:ext cx="412090" cy="412090"/>
          </a:xfrm>
          <a:prstGeom prst="rect">
            <a:avLst/>
          </a:prstGeom>
        </p:spPr>
      </p:pic>
      <p:sp>
        <p:nvSpPr>
          <p:cNvPr id="17" name="tw_77"/>
          <p:cNvSpPr txBox="1"/>
          <p:nvPr/>
        </p:nvSpPr>
        <p:spPr>
          <a:xfrm>
            <a:off x="4361688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50" dirty="0"/>
          </a:p>
        </p:txBody>
      </p:sp>
      <p:sp>
        <p:nvSpPr>
          <p:cNvPr id="18" name="R1_it1"/>
          <p:cNvSpPr txBox="1"/>
          <p:nvPr/>
        </p:nvSpPr>
        <p:spPr>
          <a:xfrm>
            <a:off x="4361688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ladle</a:t>
            </a:r>
            <a:endParaRPr lang="en-US" sz="1050" dirty="0"/>
          </a:p>
        </p:txBody>
      </p:sp>
      <p:sp>
        <p:nvSpPr>
          <p:cNvPr id="19" name="tile_78"/>
          <p:cNvSpPr/>
          <p:nvPr/>
        </p:nvSpPr>
        <p:spPr>
          <a:xfrm>
            <a:off x="5861304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0" name="ti_79" descr="a whis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491" y="1426464"/>
            <a:ext cx="412090" cy="412090"/>
          </a:xfrm>
          <a:prstGeom prst="rect">
            <a:avLst/>
          </a:prstGeom>
        </p:spPr>
      </p:pic>
      <p:sp>
        <p:nvSpPr>
          <p:cNvPr id="21" name="tw_80"/>
          <p:cNvSpPr txBox="1"/>
          <p:nvPr/>
        </p:nvSpPr>
        <p:spPr>
          <a:xfrm>
            <a:off x="5897880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whisk</a:t>
            </a:r>
            <a:endParaRPr lang="en-US" sz="1250" dirty="0"/>
          </a:p>
        </p:txBody>
      </p:sp>
      <p:sp>
        <p:nvSpPr>
          <p:cNvPr id="22" name="tile_81"/>
          <p:cNvSpPr/>
          <p:nvPr/>
        </p:nvSpPr>
        <p:spPr>
          <a:xfrm>
            <a:off x="7397496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3" name="ti_82" descr="scal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4683" y="1426464"/>
            <a:ext cx="412090" cy="412090"/>
          </a:xfrm>
          <a:prstGeom prst="rect">
            <a:avLst/>
          </a:prstGeom>
        </p:spPr>
      </p:pic>
      <p:sp>
        <p:nvSpPr>
          <p:cNvPr id="24" name="tw_83"/>
          <p:cNvSpPr txBox="1"/>
          <p:nvPr/>
        </p:nvSpPr>
        <p:spPr>
          <a:xfrm>
            <a:off x="7434072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</a:t>
            </a:r>
            <a:endParaRPr lang="en-US" sz="1250" dirty="0"/>
          </a:p>
        </p:txBody>
      </p:sp>
      <p:sp>
        <p:nvSpPr>
          <p:cNvPr id="25" name="tile_84"/>
          <p:cNvSpPr/>
          <p:nvPr/>
        </p:nvSpPr>
        <p:spPr>
          <a:xfrm>
            <a:off x="2788920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6" name="ti_85" descr="an ove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6107" y="2566416"/>
            <a:ext cx="412090" cy="412090"/>
          </a:xfrm>
          <a:prstGeom prst="rect">
            <a:avLst/>
          </a:prstGeom>
        </p:spPr>
      </p:pic>
      <p:sp>
        <p:nvSpPr>
          <p:cNvPr id="27" name="tw_86"/>
          <p:cNvSpPr txBox="1"/>
          <p:nvPr/>
        </p:nvSpPr>
        <p:spPr>
          <a:xfrm>
            <a:off x="2825496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oven</a:t>
            </a:r>
            <a:endParaRPr lang="en-US" sz="1250" dirty="0"/>
          </a:p>
        </p:txBody>
      </p:sp>
      <p:sp>
        <p:nvSpPr>
          <p:cNvPr id="28" name="tile_87"/>
          <p:cNvSpPr/>
          <p:nvPr/>
        </p:nvSpPr>
        <p:spPr>
          <a:xfrm>
            <a:off x="4325112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9" name="ti_88" descr="?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299" y="2566416"/>
            <a:ext cx="412090" cy="412090"/>
          </a:xfrm>
          <a:prstGeom prst="rect">
            <a:avLst/>
          </a:prstGeom>
        </p:spPr>
      </p:pic>
      <p:sp>
        <p:nvSpPr>
          <p:cNvPr id="30" name="tw_89"/>
          <p:cNvSpPr txBox="1"/>
          <p:nvPr/>
        </p:nvSpPr>
        <p:spPr>
          <a:xfrm>
            <a:off x="4361688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50" dirty="0"/>
          </a:p>
        </p:txBody>
      </p:sp>
      <p:sp>
        <p:nvSpPr>
          <p:cNvPr id="31" name="R1_it5"/>
          <p:cNvSpPr txBox="1"/>
          <p:nvPr/>
        </p:nvSpPr>
        <p:spPr>
          <a:xfrm>
            <a:off x="4361688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fridge</a:t>
            </a:r>
            <a:endParaRPr lang="en-US" sz="1050" dirty="0"/>
          </a:p>
        </p:txBody>
      </p:sp>
      <p:sp>
        <p:nvSpPr>
          <p:cNvPr id="32" name="tile_90"/>
          <p:cNvSpPr/>
          <p:nvPr/>
        </p:nvSpPr>
        <p:spPr>
          <a:xfrm>
            <a:off x="5861304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3" name="ti_91" descr="a saucepa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8491" y="2566416"/>
            <a:ext cx="412090" cy="412090"/>
          </a:xfrm>
          <a:prstGeom prst="rect">
            <a:avLst/>
          </a:prstGeom>
        </p:spPr>
      </p:pic>
      <p:sp>
        <p:nvSpPr>
          <p:cNvPr id="34" name="tw_92"/>
          <p:cNvSpPr txBox="1"/>
          <p:nvPr/>
        </p:nvSpPr>
        <p:spPr>
          <a:xfrm>
            <a:off x="5897880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saucepan</a:t>
            </a:r>
            <a:endParaRPr lang="en-US" sz="1250" dirty="0"/>
          </a:p>
        </p:txBody>
      </p:sp>
      <p:sp>
        <p:nvSpPr>
          <p:cNvPr id="35" name="tile_93"/>
          <p:cNvSpPr/>
          <p:nvPr/>
        </p:nvSpPr>
        <p:spPr>
          <a:xfrm>
            <a:off x="7397496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6" name="ti_94" descr="a microwav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4683" y="2566416"/>
            <a:ext cx="412090" cy="412090"/>
          </a:xfrm>
          <a:prstGeom prst="rect">
            <a:avLst/>
          </a:prstGeom>
        </p:spPr>
      </p:pic>
      <p:sp>
        <p:nvSpPr>
          <p:cNvPr id="37" name="tw_95"/>
          <p:cNvSpPr txBox="1"/>
          <p:nvPr/>
        </p:nvSpPr>
        <p:spPr>
          <a:xfrm>
            <a:off x="7434072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microwave</a:t>
            </a:r>
            <a:endParaRPr lang="en-US" sz="1250" dirty="0"/>
          </a:p>
        </p:txBody>
      </p:sp>
      <p:sp>
        <p:nvSpPr>
          <p:cNvPr id="38" name="tile_96"/>
          <p:cNvSpPr/>
          <p:nvPr/>
        </p:nvSpPr>
        <p:spPr>
          <a:xfrm>
            <a:off x="2788920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9" name="ti_97" descr="a wooden spo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6107" y="3706368"/>
            <a:ext cx="412090" cy="412090"/>
          </a:xfrm>
          <a:prstGeom prst="rect">
            <a:avLst/>
          </a:prstGeom>
        </p:spPr>
      </p:pic>
      <p:sp>
        <p:nvSpPr>
          <p:cNvPr id="40" name="tw_98"/>
          <p:cNvSpPr txBox="1"/>
          <p:nvPr/>
        </p:nvSpPr>
        <p:spPr>
          <a:xfrm>
            <a:off x="2825496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wooden spoon</a:t>
            </a:r>
            <a:endParaRPr lang="en-US" sz="1250" dirty="0"/>
          </a:p>
        </p:txBody>
      </p:sp>
      <p:sp>
        <p:nvSpPr>
          <p:cNvPr id="41" name="tile_99"/>
          <p:cNvSpPr/>
          <p:nvPr/>
        </p:nvSpPr>
        <p:spPr>
          <a:xfrm>
            <a:off x="4325112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2" name="ti_100" descr="?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2299" y="3706368"/>
            <a:ext cx="412090" cy="412090"/>
          </a:xfrm>
          <a:prstGeom prst="rect">
            <a:avLst/>
          </a:prstGeom>
        </p:spPr>
      </p:pic>
      <p:sp>
        <p:nvSpPr>
          <p:cNvPr id="43" name="tw_101"/>
          <p:cNvSpPr txBox="1"/>
          <p:nvPr/>
        </p:nvSpPr>
        <p:spPr>
          <a:xfrm>
            <a:off x="4361688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50" dirty="0"/>
          </a:p>
        </p:txBody>
      </p:sp>
      <p:sp>
        <p:nvSpPr>
          <p:cNvPr id="44" name="R1_it9"/>
          <p:cNvSpPr txBox="1"/>
          <p:nvPr/>
        </p:nvSpPr>
        <p:spPr>
          <a:xfrm>
            <a:off x="4361688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gloves</a:t>
            </a:r>
            <a:endParaRPr lang="en-US" sz="1050" dirty="0"/>
          </a:p>
        </p:txBody>
      </p:sp>
      <p:sp>
        <p:nvSpPr>
          <p:cNvPr id="45" name="tile_102"/>
          <p:cNvSpPr/>
          <p:nvPr/>
        </p:nvSpPr>
        <p:spPr>
          <a:xfrm>
            <a:off x="5861304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6" name="ti_103" descr="a cleave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8491" y="3706368"/>
            <a:ext cx="412090" cy="412090"/>
          </a:xfrm>
          <a:prstGeom prst="rect">
            <a:avLst/>
          </a:prstGeom>
        </p:spPr>
      </p:pic>
      <p:sp>
        <p:nvSpPr>
          <p:cNvPr id="47" name="tw_104"/>
          <p:cNvSpPr txBox="1"/>
          <p:nvPr/>
        </p:nvSpPr>
        <p:spPr>
          <a:xfrm>
            <a:off x="5897880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cleaver</a:t>
            </a:r>
            <a:endParaRPr lang="en-US" sz="1250" dirty="0"/>
          </a:p>
        </p:txBody>
      </p:sp>
      <p:sp>
        <p:nvSpPr>
          <p:cNvPr id="48" name="tile_105"/>
          <p:cNvSpPr/>
          <p:nvPr/>
        </p:nvSpPr>
        <p:spPr>
          <a:xfrm>
            <a:off x="7397496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9" name="ti_106" descr="a hob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4683" y="3706368"/>
            <a:ext cx="412090" cy="412090"/>
          </a:xfrm>
          <a:prstGeom prst="rect">
            <a:avLst/>
          </a:prstGeom>
        </p:spPr>
      </p:pic>
      <p:sp>
        <p:nvSpPr>
          <p:cNvPr id="50" name="tw_107"/>
          <p:cNvSpPr txBox="1"/>
          <p:nvPr/>
        </p:nvSpPr>
        <p:spPr>
          <a:xfrm>
            <a:off x="7434072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hob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0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0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1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Ingredients</a:t>
            </a:r>
            <a:endParaRPr lang="en-US" sz="900" dirty="0"/>
          </a:p>
        </p:txBody>
      </p:sp>
      <p:sp>
        <p:nvSpPr>
          <p:cNvPr id="6" name="timer_11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11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8" name="title_113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the cold room</a:t>
            </a:r>
            <a:endParaRPr lang="en-US" sz="1500" dirty="0"/>
          </a:p>
        </p:txBody>
      </p:sp>
      <p:sp>
        <p:nvSpPr>
          <p:cNvPr id="9" name="post_11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1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11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them in English. Which do you use every day?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Dille in inglese. Quali usi ogni giorno?</a:t>
            </a:r>
            <a:endParaRPr lang="en-US" sz="1200" dirty="0"/>
          </a:p>
        </p:txBody>
      </p:sp>
      <p:sp>
        <p:nvSpPr>
          <p:cNvPr id="12" name="tile_117"/>
          <p:cNvSpPr/>
          <p:nvPr/>
        </p:nvSpPr>
        <p:spPr>
          <a:xfrm>
            <a:off x="2788920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3" name="ti_118" descr="garli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105" y="1426464"/>
            <a:ext cx="298094" cy="298094"/>
          </a:xfrm>
          <a:prstGeom prst="rect">
            <a:avLst/>
          </a:prstGeom>
        </p:spPr>
      </p:pic>
      <p:sp>
        <p:nvSpPr>
          <p:cNvPr id="14" name="tw_119"/>
          <p:cNvSpPr txBox="1"/>
          <p:nvPr/>
        </p:nvSpPr>
        <p:spPr>
          <a:xfrm>
            <a:off x="2825496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garlic</a:t>
            </a:r>
            <a:endParaRPr lang="en-US" sz="1250" dirty="0"/>
          </a:p>
        </p:txBody>
      </p:sp>
      <p:sp>
        <p:nvSpPr>
          <p:cNvPr id="15" name="R1_it0"/>
          <p:cNvSpPr txBox="1"/>
          <p:nvPr/>
        </p:nvSpPr>
        <p:spPr>
          <a:xfrm>
            <a:off x="2825496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aglio</a:t>
            </a:r>
            <a:endParaRPr lang="en-US" sz="1050" dirty="0"/>
          </a:p>
        </p:txBody>
      </p:sp>
      <p:sp>
        <p:nvSpPr>
          <p:cNvPr id="16" name="tile_120"/>
          <p:cNvSpPr/>
          <p:nvPr/>
        </p:nvSpPr>
        <p:spPr>
          <a:xfrm>
            <a:off x="4325112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7" name="ti_121" descr="a carr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297" y="1426464"/>
            <a:ext cx="298094" cy="298094"/>
          </a:xfrm>
          <a:prstGeom prst="rect">
            <a:avLst/>
          </a:prstGeom>
        </p:spPr>
      </p:pic>
      <p:sp>
        <p:nvSpPr>
          <p:cNvPr id="18" name="tw_122"/>
          <p:cNvSpPr txBox="1"/>
          <p:nvPr/>
        </p:nvSpPr>
        <p:spPr>
          <a:xfrm>
            <a:off x="4361688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carrot</a:t>
            </a:r>
            <a:endParaRPr lang="en-US" sz="1250" dirty="0"/>
          </a:p>
        </p:txBody>
      </p:sp>
      <p:sp>
        <p:nvSpPr>
          <p:cNvPr id="19" name="R1_it1"/>
          <p:cNvSpPr txBox="1"/>
          <p:nvPr/>
        </p:nvSpPr>
        <p:spPr>
          <a:xfrm>
            <a:off x="4361688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carota</a:t>
            </a:r>
            <a:endParaRPr lang="en-US" sz="1050" dirty="0"/>
          </a:p>
        </p:txBody>
      </p:sp>
      <p:sp>
        <p:nvSpPr>
          <p:cNvPr id="20" name="tile_123"/>
          <p:cNvSpPr/>
          <p:nvPr/>
        </p:nvSpPr>
        <p:spPr>
          <a:xfrm>
            <a:off x="5861304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1" name="ti_124" descr="a pota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489" y="1426464"/>
            <a:ext cx="298094" cy="298094"/>
          </a:xfrm>
          <a:prstGeom prst="rect">
            <a:avLst/>
          </a:prstGeom>
        </p:spPr>
      </p:pic>
      <p:sp>
        <p:nvSpPr>
          <p:cNvPr id="22" name="tw_125"/>
          <p:cNvSpPr txBox="1"/>
          <p:nvPr/>
        </p:nvSpPr>
        <p:spPr>
          <a:xfrm>
            <a:off x="5897880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potato</a:t>
            </a:r>
            <a:endParaRPr lang="en-US" sz="1250" dirty="0"/>
          </a:p>
        </p:txBody>
      </p:sp>
      <p:sp>
        <p:nvSpPr>
          <p:cNvPr id="23" name="R1_it2"/>
          <p:cNvSpPr txBox="1"/>
          <p:nvPr/>
        </p:nvSpPr>
        <p:spPr>
          <a:xfrm>
            <a:off x="5897880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patata</a:t>
            </a:r>
            <a:endParaRPr lang="en-US" sz="1050" dirty="0"/>
          </a:p>
        </p:txBody>
      </p:sp>
      <p:sp>
        <p:nvSpPr>
          <p:cNvPr id="24" name="tile_126"/>
          <p:cNvSpPr/>
          <p:nvPr/>
        </p:nvSpPr>
        <p:spPr>
          <a:xfrm>
            <a:off x="7397496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5" name="ti_127" descr="a tomat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1681" y="1426464"/>
            <a:ext cx="298094" cy="298094"/>
          </a:xfrm>
          <a:prstGeom prst="rect">
            <a:avLst/>
          </a:prstGeom>
        </p:spPr>
      </p:pic>
      <p:sp>
        <p:nvSpPr>
          <p:cNvPr id="26" name="tw_128"/>
          <p:cNvSpPr txBox="1"/>
          <p:nvPr/>
        </p:nvSpPr>
        <p:spPr>
          <a:xfrm>
            <a:off x="7434072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tomato</a:t>
            </a:r>
            <a:endParaRPr lang="en-US" sz="1250" dirty="0"/>
          </a:p>
        </p:txBody>
      </p:sp>
      <p:sp>
        <p:nvSpPr>
          <p:cNvPr id="27" name="R1_it3"/>
          <p:cNvSpPr txBox="1"/>
          <p:nvPr/>
        </p:nvSpPr>
        <p:spPr>
          <a:xfrm>
            <a:off x="7434072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</a:t>
            </a:r>
            <a:endParaRPr lang="en-US" sz="1050" dirty="0"/>
          </a:p>
        </p:txBody>
      </p:sp>
      <p:sp>
        <p:nvSpPr>
          <p:cNvPr id="28" name="tile_129"/>
          <p:cNvSpPr/>
          <p:nvPr/>
        </p:nvSpPr>
        <p:spPr>
          <a:xfrm>
            <a:off x="2788920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9" name="ti_130" descr="a lem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3105" y="2281428"/>
            <a:ext cx="298094" cy="298094"/>
          </a:xfrm>
          <a:prstGeom prst="rect">
            <a:avLst/>
          </a:prstGeom>
        </p:spPr>
      </p:pic>
      <p:sp>
        <p:nvSpPr>
          <p:cNvPr id="30" name="tw_131"/>
          <p:cNvSpPr txBox="1"/>
          <p:nvPr/>
        </p:nvSpPr>
        <p:spPr>
          <a:xfrm>
            <a:off x="2825496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lemon</a:t>
            </a:r>
            <a:endParaRPr lang="en-US" sz="1250" dirty="0"/>
          </a:p>
        </p:txBody>
      </p:sp>
      <p:sp>
        <p:nvSpPr>
          <p:cNvPr id="31" name="R1_it4"/>
          <p:cNvSpPr txBox="1"/>
          <p:nvPr/>
        </p:nvSpPr>
        <p:spPr>
          <a:xfrm>
            <a:off x="2825496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limone</a:t>
            </a:r>
            <a:endParaRPr lang="en-US" sz="1050" dirty="0"/>
          </a:p>
        </p:txBody>
      </p:sp>
      <p:sp>
        <p:nvSpPr>
          <p:cNvPr id="32" name="tile_132"/>
          <p:cNvSpPr/>
          <p:nvPr/>
        </p:nvSpPr>
        <p:spPr>
          <a:xfrm>
            <a:off x="4325112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3" name="ti_133" descr="herb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9297" y="2281428"/>
            <a:ext cx="298094" cy="298094"/>
          </a:xfrm>
          <a:prstGeom prst="rect">
            <a:avLst/>
          </a:prstGeom>
        </p:spPr>
      </p:pic>
      <p:sp>
        <p:nvSpPr>
          <p:cNvPr id="34" name="tw_134"/>
          <p:cNvSpPr txBox="1"/>
          <p:nvPr/>
        </p:nvSpPr>
        <p:spPr>
          <a:xfrm>
            <a:off x="4361688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herbs</a:t>
            </a:r>
            <a:endParaRPr lang="en-US" sz="1250" dirty="0"/>
          </a:p>
        </p:txBody>
      </p:sp>
      <p:sp>
        <p:nvSpPr>
          <p:cNvPr id="35" name="R1_it5"/>
          <p:cNvSpPr txBox="1"/>
          <p:nvPr/>
        </p:nvSpPr>
        <p:spPr>
          <a:xfrm>
            <a:off x="4361688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erbe aromatiche</a:t>
            </a:r>
            <a:endParaRPr lang="en-US" sz="1050" dirty="0"/>
          </a:p>
        </p:txBody>
      </p:sp>
      <p:sp>
        <p:nvSpPr>
          <p:cNvPr id="36" name="tile_135"/>
          <p:cNvSpPr/>
          <p:nvPr/>
        </p:nvSpPr>
        <p:spPr>
          <a:xfrm>
            <a:off x="5861304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7" name="ti_136" descr="beef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5489" y="2281428"/>
            <a:ext cx="298094" cy="298094"/>
          </a:xfrm>
          <a:prstGeom prst="rect">
            <a:avLst/>
          </a:prstGeom>
        </p:spPr>
      </p:pic>
      <p:sp>
        <p:nvSpPr>
          <p:cNvPr id="38" name="tw_137"/>
          <p:cNvSpPr txBox="1"/>
          <p:nvPr/>
        </p:nvSpPr>
        <p:spPr>
          <a:xfrm>
            <a:off x="5897880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</a:t>
            </a:r>
            <a:endParaRPr lang="en-US" sz="1250" dirty="0"/>
          </a:p>
        </p:txBody>
      </p:sp>
      <p:sp>
        <p:nvSpPr>
          <p:cNvPr id="39" name="R1_it6"/>
          <p:cNvSpPr txBox="1"/>
          <p:nvPr/>
        </p:nvSpPr>
        <p:spPr>
          <a:xfrm>
            <a:off x="5897880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manzo</a:t>
            </a:r>
            <a:endParaRPr lang="en-US" sz="1050" dirty="0"/>
          </a:p>
        </p:txBody>
      </p:sp>
      <p:sp>
        <p:nvSpPr>
          <p:cNvPr id="40" name="tile_138"/>
          <p:cNvSpPr/>
          <p:nvPr/>
        </p:nvSpPr>
        <p:spPr>
          <a:xfrm>
            <a:off x="7397496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1" name="ti_139" descr="chicke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1681" y="2281428"/>
            <a:ext cx="298094" cy="298094"/>
          </a:xfrm>
          <a:prstGeom prst="rect">
            <a:avLst/>
          </a:prstGeom>
        </p:spPr>
      </p:pic>
      <p:sp>
        <p:nvSpPr>
          <p:cNvPr id="42" name="tw_140"/>
          <p:cNvSpPr txBox="1"/>
          <p:nvPr/>
        </p:nvSpPr>
        <p:spPr>
          <a:xfrm>
            <a:off x="7434072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</a:t>
            </a:r>
            <a:endParaRPr lang="en-US" sz="1250" dirty="0"/>
          </a:p>
        </p:txBody>
      </p:sp>
      <p:sp>
        <p:nvSpPr>
          <p:cNvPr id="43" name="R1_it7"/>
          <p:cNvSpPr txBox="1"/>
          <p:nvPr/>
        </p:nvSpPr>
        <p:spPr>
          <a:xfrm>
            <a:off x="7434072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pollo</a:t>
            </a:r>
            <a:endParaRPr lang="en-US" sz="1050" dirty="0"/>
          </a:p>
        </p:txBody>
      </p:sp>
      <p:sp>
        <p:nvSpPr>
          <p:cNvPr id="44" name="tile_141"/>
          <p:cNvSpPr/>
          <p:nvPr/>
        </p:nvSpPr>
        <p:spPr>
          <a:xfrm>
            <a:off x="2788920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5" name="ti_142" descr="fish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3105" y="3136392"/>
            <a:ext cx="298094" cy="298094"/>
          </a:xfrm>
          <a:prstGeom prst="rect">
            <a:avLst/>
          </a:prstGeom>
        </p:spPr>
      </p:pic>
      <p:sp>
        <p:nvSpPr>
          <p:cNvPr id="46" name="tw_143"/>
          <p:cNvSpPr txBox="1"/>
          <p:nvPr/>
        </p:nvSpPr>
        <p:spPr>
          <a:xfrm>
            <a:off x="2825496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</a:t>
            </a:r>
            <a:endParaRPr lang="en-US" sz="1250" dirty="0"/>
          </a:p>
        </p:txBody>
      </p:sp>
      <p:sp>
        <p:nvSpPr>
          <p:cNvPr id="47" name="R1_it8"/>
          <p:cNvSpPr txBox="1"/>
          <p:nvPr/>
        </p:nvSpPr>
        <p:spPr>
          <a:xfrm>
            <a:off x="2825496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pesce</a:t>
            </a:r>
            <a:endParaRPr lang="en-US" sz="1050" dirty="0"/>
          </a:p>
        </p:txBody>
      </p:sp>
      <p:sp>
        <p:nvSpPr>
          <p:cNvPr id="48" name="tile_144"/>
          <p:cNvSpPr/>
          <p:nvPr/>
        </p:nvSpPr>
        <p:spPr>
          <a:xfrm>
            <a:off x="4325112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9" name="ti_145" descr="prawn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9297" y="3136392"/>
            <a:ext cx="298094" cy="298094"/>
          </a:xfrm>
          <a:prstGeom prst="rect">
            <a:avLst/>
          </a:prstGeom>
        </p:spPr>
      </p:pic>
      <p:sp>
        <p:nvSpPr>
          <p:cNvPr id="50" name="tw_146"/>
          <p:cNvSpPr txBox="1"/>
          <p:nvPr/>
        </p:nvSpPr>
        <p:spPr>
          <a:xfrm>
            <a:off x="4361688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prawns</a:t>
            </a:r>
            <a:endParaRPr lang="en-US" sz="1250" dirty="0"/>
          </a:p>
        </p:txBody>
      </p:sp>
      <p:sp>
        <p:nvSpPr>
          <p:cNvPr id="51" name="R1_it9"/>
          <p:cNvSpPr txBox="1"/>
          <p:nvPr/>
        </p:nvSpPr>
        <p:spPr>
          <a:xfrm>
            <a:off x="4361688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gamberi</a:t>
            </a:r>
            <a:endParaRPr lang="en-US" sz="1050" dirty="0"/>
          </a:p>
        </p:txBody>
      </p:sp>
      <p:sp>
        <p:nvSpPr>
          <p:cNvPr id="52" name="tile_147"/>
          <p:cNvSpPr/>
          <p:nvPr/>
        </p:nvSpPr>
        <p:spPr>
          <a:xfrm>
            <a:off x="5861304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3" name="ti_148" descr="mussel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5489" y="3136392"/>
            <a:ext cx="298094" cy="298094"/>
          </a:xfrm>
          <a:prstGeom prst="rect">
            <a:avLst/>
          </a:prstGeom>
        </p:spPr>
      </p:pic>
      <p:sp>
        <p:nvSpPr>
          <p:cNvPr id="54" name="tw_149"/>
          <p:cNvSpPr txBox="1"/>
          <p:nvPr/>
        </p:nvSpPr>
        <p:spPr>
          <a:xfrm>
            <a:off x="5897880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mussels</a:t>
            </a:r>
            <a:endParaRPr lang="en-US" sz="1250" dirty="0"/>
          </a:p>
        </p:txBody>
      </p:sp>
      <p:sp>
        <p:nvSpPr>
          <p:cNvPr id="55" name="R1_it10"/>
          <p:cNvSpPr txBox="1"/>
          <p:nvPr/>
        </p:nvSpPr>
        <p:spPr>
          <a:xfrm>
            <a:off x="5897880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cozze</a:t>
            </a:r>
            <a:endParaRPr lang="en-US" sz="1050" dirty="0"/>
          </a:p>
        </p:txBody>
      </p:sp>
      <p:sp>
        <p:nvSpPr>
          <p:cNvPr id="56" name="tile_150"/>
          <p:cNvSpPr/>
          <p:nvPr/>
        </p:nvSpPr>
        <p:spPr>
          <a:xfrm>
            <a:off x="7397496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7" name="ti_151" descr="butter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61681" y="3136392"/>
            <a:ext cx="298094" cy="298094"/>
          </a:xfrm>
          <a:prstGeom prst="rect">
            <a:avLst/>
          </a:prstGeom>
        </p:spPr>
      </p:pic>
      <p:sp>
        <p:nvSpPr>
          <p:cNvPr id="58" name="tw_152"/>
          <p:cNvSpPr txBox="1"/>
          <p:nvPr/>
        </p:nvSpPr>
        <p:spPr>
          <a:xfrm>
            <a:off x="7434072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</a:t>
            </a:r>
            <a:endParaRPr lang="en-US" sz="1250" dirty="0"/>
          </a:p>
        </p:txBody>
      </p:sp>
      <p:sp>
        <p:nvSpPr>
          <p:cNvPr id="59" name="R1_it11"/>
          <p:cNvSpPr txBox="1"/>
          <p:nvPr/>
        </p:nvSpPr>
        <p:spPr>
          <a:xfrm>
            <a:off x="7434072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burro</a:t>
            </a:r>
            <a:endParaRPr lang="en-US" sz="1050" dirty="0"/>
          </a:p>
        </p:txBody>
      </p:sp>
      <p:sp>
        <p:nvSpPr>
          <p:cNvPr id="60" name="tile_153"/>
          <p:cNvSpPr/>
          <p:nvPr/>
        </p:nvSpPr>
        <p:spPr>
          <a:xfrm>
            <a:off x="2788920" y="3936492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61" name="ti_154" descr="chees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53105" y="3991356"/>
            <a:ext cx="298094" cy="298094"/>
          </a:xfrm>
          <a:prstGeom prst="rect">
            <a:avLst/>
          </a:prstGeom>
        </p:spPr>
      </p:pic>
      <p:sp>
        <p:nvSpPr>
          <p:cNvPr id="62" name="tw_155"/>
          <p:cNvSpPr txBox="1"/>
          <p:nvPr/>
        </p:nvSpPr>
        <p:spPr>
          <a:xfrm>
            <a:off x="2825496" y="430773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</a:t>
            </a:r>
            <a:endParaRPr lang="en-US" sz="1250" dirty="0"/>
          </a:p>
        </p:txBody>
      </p:sp>
      <p:sp>
        <p:nvSpPr>
          <p:cNvPr id="63" name="R1_it12"/>
          <p:cNvSpPr txBox="1"/>
          <p:nvPr/>
        </p:nvSpPr>
        <p:spPr>
          <a:xfrm>
            <a:off x="2825496" y="453633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formaggio</a:t>
            </a:r>
            <a:endParaRPr lang="en-US" sz="1050" dirty="0"/>
          </a:p>
        </p:txBody>
      </p:sp>
      <p:sp>
        <p:nvSpPr>
          <p:cNvPr id="64" name="tile_156"/>
          <p:cNvSpPr/>
          <p:nvPr/>
        </p:nvSpPr>
        <p:spPr>
          <a:xfrm>
            <a:off x="4325112" y="3936492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65" name="ti_157" descr="milk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89297" y="3991356"/>
            <a:ext cx="298094" cy="298094"/>
          </a:xfrm>
          <a:prstGeom prst="rect">
            <a:avLst/>
          </a:prstGeom>
        </p:spPr>
      </p:pic>
      <p:sp>
        <p:nvSpPr>
          <p:cNvPr id="66" name="tw_158"/>
          <p:cNvSpPr txBox="1"/>
          <p:nvPr/>
        </p:nvSpPr>
        <p:spPr>
          <a:xfrm>
            <a:off x="4361688" y="430773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250" dirty="0"/>
          </a:p>
        </p:txBody>
      </p:sp>
      <p:sp>
        <p:nvSpPr>
          <p:cNvPr id="67" name="R1_it13"/>
          <p:cNvSpPr txBox="1"/>
          <p:nvPr/>
        </p:nvSpPr>
        <p:spPr>
          <a:xfrm>
            <a:off x="4361688" y="453633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050" dirty="0"/>
          </a:p>
        </p:txBody>
      </p:sp>
      <p:sp>
        <p:nvSpPr>
          <p:cNvPr id="68" name="tile_159"/>
          <p:cNvSpPr/>
          <p:nvPr/>
        </p:nvSpPr>
        <p:spPr>
          <a:xfrm>
            <a:off x="5861304" y="3936492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69" name="ti_160" descr="an eg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5489" y="3991356"/>
            <a:ext cx="298094" cy="298094"/>
          </a:xfrm>
          <a:prstGeom prst="rect">
            <a:avLst/>
          </a:prstGeom>
        </p:spPr>
      </p:pic>
      <p:sp>
        <p:nvSpPr>
          <p:cNvPr id="70" name="tw_161"/>
          <p:cNvSpPr txBox="1"/>
          <p:nvPr/>
        </p:nvSpPr>
        <p:spPr>
          <a:xfrm>
            <a:off x="5897880" y="430773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egg</a:t>
            </a:r>
            <a:endParaRPr lang="en-US" sz="1250" dirty="0"/>
          </a:p>
        </p:txBody>
      </p:sp>
      <p:sp>
        <p:nvSpPr>
          <p:cNvPr id="71" name="R1_it14"/>
          <p:cNvSpPr txBox="1"/>
          <p:nvPr/>
        </p:nvSpPr>
        <p:spPr>
          <a:xfrm>
            <a:off x="5897880" y="453633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uovo</a:t>
            </a:r>
            <a:endParaRPr lang="en-US" sz="1050" dirty="0"/>
          </a:p>
        </p:txBody>
      </p:sp>
      <p:sp>
        <p:nvSpPr>
          <p:cNvPr id="72" name="tile_162"/>
          <p:cNvSpPr/>
          <p:nvPr/>
        </p:nvSpPr>
        <p:spPr>
          <a:xfrm>
            <a:off x="7397496" y="3936492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73" name="ti_163" descr="flour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61681" y="3991356"/>
            <a:ext cx="298094" cy="298094"/>
          </a:xfrm>
          <a:prstGeom prst="rect">
            <a:avLst/>
          </a:prstGeom>
        </p:spPr>
      </p:pic>
      <p:sp>
        <p:nvSpPr>
          <p:cNvPr id="74" name="tw_164"/>
          <p:cNvSpPr txBox="1"/>
          <p:nvPr/>
        </p:nvSpPr>
        <p:spPr>
          <a:xfrm>
            <a:off x="7434072" y="430773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</a:t>
            </a:r>
            <a:endParaRPr lang="en-US" sz="1250" dirty="0"/>
          </a:p>
        </p:txBody>
      </p:sp>
      <p:sp>
        <p:nvSpPr>
          <p:cNvPr id="75" name="R1_it15"/>
          <p:cNvSpPr txBox="1"/>
          <p:nvPr/>
        </p:nvSpPr>
        <p:spPr>
          <a:xfrm>
            <a:off x="7434072" y="453633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farina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6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6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6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Containers &amp; quantities</a:t>
            </a:r>
            <a:endParaRPr lang="en-US" sz="900" dirty="0"/>
          </a:p>
        </p:txBody>
      </p:sp>
      <p:sp>
        <p:nvSpPr>
          <p:cNvPr id="6" name="timer_16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6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8" name="title_170"/>
          <p:cNvSpPr txBox="1"/>
          <p:nvPr/>
        </p:nvSpPr>
        <p:spPr>
          <a:xfrm rot="-120000">
            <a:off x="320040" y="676656"/>
            <a:ext cx="432511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bag of… a bottle of…</a:t>
            </a:r>
            <a:endParaRPr lang="en-US" sz="1500" dirty="0"/>
          </a:p>
        </p:txBody>
      </p:sp>
      <p:sp>
        <p:nvSpPr>
          <p:cNvPr id="9" name="post_17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7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17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word? Then make an order: 'Two bags of flour, please.'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parola? Poi fai un ordine.</a:t>
            </a:r>
            <a:endParaRPr lang="en-US" sz="1250" dirty="0"/>
          </a:p>
        </p:txBody>
      </p:sp>
      <p:sp>
        <p:nvSpPr>
          <p:cNvPr id="12" name="iconBack_174"/>
          <p:cNvSpPr/>
          <p:nvPr/>
        </p:nvSpPr>
        <p:spPr>
          <a:xfrm>
            <a:off x="2788920" y="137160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3" name="icon_175" descr="flou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872" y="1441552"/>
            <a:ext cx="209855" cy="209855"/>
          </a:xfrm>
          <a:prstGeom prst="rect">
            <a:avLst/>
          </a:prstGeom>
        </p:spPr>
      </p:pic>
      <p:sp>
        <p:nvSpPr>
          <p:cNvPr id="14" name="box_176"/>
          <p:cNvSpPr txBox="1"/>
          <p:nvPr/>
        </p:nvSpPr>
        <p:spPr>
          <a:xfrm>
            <a:off x="3193542" y="1371600"/>
            <a:ext cx="2914650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___ of flour</a:t>
            </a:r>
            <a:endParaRPr lang="en-US" sz="1250" dirty="0"/>
          </a:p>
        </p:txBody>
      </p:sp>
      <p:sp>
        <p:nvSpPr>
          <p:cNvPr id="15" name="R1_m0"/>
          <p:cNvSpPr txBox="1"/>
          <p:nvPr/>
        </p:nvSpPr>
        <p:spPr>
          <a:xfrm>
            <a:off x="6181344" y="138988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</a:t>
            </a:r>
            <a:endParaRPr lang="en-US" sz="1150" dirty="0"/>
          </a:p>
        </p:txBody>
      </p:sp>
      <p:sp>
        <p:nvSpPr>
          <p:cNvPr id="16" name="iconBack_177"/>
          <p:cNvSpPr/>
          <p:nvPr/>
        </p:nvSpPr>
        <p:spPr>
          <a:xfrm>
            <a:off x="2788920" y="179451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7" name="icon_178" descr="s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872" y="1864462"/>
            <a:ext cx="209855" cy="209855"/>
          </a:xfrm>
          <a:prstGeom prst="rect">
            <a:avLst/>
          </a:prstGeom>
        </p:spPr>
      </p:pic>
      <p:sp>
        <p:nvSpPr>
          <p:cNvPr id="18" name="box_179"/>
          <p:cNvSpPr txBox="1"/>
          <p:nvPr/>
        </p:nvSpPr>
        <p:spPr>
          <a:xfrm>
            <a:off x="3193542" y="1794510"/>
            <a:ext cx="2914650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 ___ of olive oil</a:t>
            </a:r>
            <a:endParaRPr lang="en-US" sz="1250" dirty="0"/>
          </a:p>
        </p:txBody>
      </p:sp>
      <p:sp>
        <p:nvSpPr>
          <p:cNvPr id="19" name="R1_m1"/>
          <p:cNvSpPr txBox="1"/>
          <p:nvPr/>
        </p:nvSpPr>
        <p:spPr>
          <a:xfrm>
            <a:off x="6181344" y="181279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</a:t>
            </a:r>
            <a:endParaRPr lang="en-US" sz="1150" dirty="0"/>
          </a:p>
        </p:txBody>
      </p:sp>
      <p:sp>
        <p:nvSpPr>
          <p:cNvPr id="20" name="iconBack_180"/>
          <p:cNvSpPr/>
          <p:nvPr/>
        </p:nvSpPr>
        <p:spPr>
          <a:xfrm>
            <a:off x="2788920" y="221742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1" name="icon_181" descr="eg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8872" y="2287372"/>
            <a:ext cx="209855" cy="209855"/>
          </a:xfrm>
          <a:prstGeom prst="rect">
            <a:avLst/>
          </a:prstGeom>
        </p:spPr>
      </p:pic>
      <p:sp>
        <p:nvSpPr>
          <p:cNvPr id="22" name="box_182"/>
          <p:cNvSpPr txBox="1"/>
          <p:nvPr/>
        </p:nvSpPr>
        <p:spPr>
          <a:xfrm>
            <a:off x="3193542" y="2217420"/>
            <a:ext cx="2914650" cy="34975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 ___ of eggs</a:t>
            </a:r>
            <a:endParaRPr lang="en-US" sz="1250" dirty="0"/>
          </a:p>
        </p:txBody>
      </p:sp>
      <p:sp>
        <p:nvSpPr>
          <p:cNvPr id="23" name="R1_m2"/>
          <p:cNvSpPr txBox="1"/>
          <p:nvPr/>
        </p:nvSpPr>
        <p:spPr>
          <a:xfrm>
            <a:off x="6181344" y="223570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150" dirty="0"/>
          </a:p>
        </p:txBody>
      </p:sp>
      <p:sp>
        <p:nvSpPr>
          <p:cNvPr id="24" name="iconBack_183"/>
          <p:cNvSpPr/>
          <p:nvPr/>
        </p:nvSpPr>
        <p:spPr>
          <a:xfrm>
            <a:off x="2788920" y="264033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5" name="icon_184" descr="tomat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8872" y="2710282"/>
            <a:ext cx="209855" cy="209855"/>
          </a:xfrm>
          <a:prstGeom prst="rect">
            <a:avLst/>
          </a:prstGeom>
        </p:spPr>
      </p:pic>
      <p:sp>
        <p:nvSpPr>
          <p:cNvPr id="26" name="box_185"/>
          <p:cNvSpPr txBox="1"/>
          <p:nvPr/>
        </p:nvSpPr>
        <p:spPr>
          <a:xfrm>
            <a:off x="3193542" y="2640330"/>
            <a:ext cx="2914650" cy="34975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 ___ of tomatoes</a:t>
            </a:r>
            <a:endParaRPr lang="en-US" sz="1250" dirty="0"/>
          </a:p>
        </p:txBody>
      </p:sp>
      <p:sp>
        <p:nvSpPr>
          <p:cNvPr id="27" name="R1_m3"/>
          <p:cNvSpPr txBox="1"/>
          <p:nvPr/>
        </p:nvSpPr>
        <p:spPr>
          <a:xfrm>
            <a:off x="6181344" y="265861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</a:t>
            </a:r>
            <a:endParaRPr lang="en-US" sz="1150" dirty="0"/>
          </a:p>
        </p:txBody>
      </p:sp>
      <p:sp>
        <p:nvSpPr>
          <p:cNvPr id="28" name="iconBack_186"/>
          <p:cNvSpPr/>
          <p:nvPr/>
        </p:nvSpPr>
        <p:spPr>
          <a:xfrm>
            <a:off x="2788920" y="306324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9" name="icon_187" descr="mil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8872" y="3133192"/>
            <a:ext cx="209855" cy="209855"/>
          </a:xfrm>
          <a:prstGeom prst="rect">
            <a:avLst/>
          </a:prstGeom>
        </p:spPr>
      </p:pic>
      <p:sp>
        <p:nvSpPr>
          <p:cNvPr id="30" name="box_188"/>
          <p:cNvSpPr txBox="1"/>
          <p:nvPr/>
        </p:nvSpPr>
        <p:spPr>
          <a:xfrm>
            <a:off x="3193542" y="3063240"/>
            <a:ext cx="2914650" cy="34975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 ___ of milk</a:t>
            </a:r>
            <a:endParaRPr lang="en-US" sz="1250" dirty="0"/>
          </a:p>
        </p:txBody>
      </p:sp>
      <p:sp>
        <p:nvSpPr>
          <p:cNvPr id="31" name="R1_m4"/>
          <p:cNvSpPr txBox="1"/>
          <p:nvPr/>
        </p:nvSpPr>
        <p:spPr>
          <a:xfrm>
            <a:off x="6181344" y="308152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</a:t>
            </a:r>
            <a:endParaRPr lang="en-US" sz="1150" dirty="0"/>
          </a:p>
        </p:txBody>
      </p:sp>
      <p:sp>
        <p:nvSpPr>
          <p:cNvPr id="32" name="iconBack_189"/>
          <p:cNvSpPr/>
          <p:nvPr/>
        </p:nvSpPr>
        <p:spPr>
          <a:xfrm>
            <a:off x="2788920" y="348615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3" name="icon_190" descr="herb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8872" y="3556102"/>
            <a:ext cx="209855" cy="209855"/>
          </a:xfrm>
          <a:prstGeom prst="rect">
            <a:avLst/>
          </a:prstGeom>
        </p:spPr>
      </p:pic>
      <p:sp>
        <p:nvSpPr>
          <p:cNvPr id="34" name="box_191"/>
          <p:cNvSpPr txBox="1"/>
          <p:nvPr/>
        </p:nvSpPr>
        <p:spPr>
          <a:xfrm>
            <a:off x="3193542" y="3486150"/>
            <a:ext cx="2914650" cy="34975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 ___ of basil</a:t>
            </a:r>
            <a:endParaRPr lang="en-US" sz="1250" dirty="0"/>
          </a:p>
        </p:txBody>
      </p:sp>
      <p:sp>
        <p:nvSpPr>
          <p:cNvPr id="35" name="R1_m5"/>
          <p:cNvSpPr txBox="1"/>
          <p:nvPr/>
        </p:nvSpPr>
        <p:spPr>
          <a:xfrm>
            <a:off x="6181344" y="350443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bunch</a:t>
            </a:r>
            <a:endParaRPr lang="en-US" sz="1150" dirty="0"/>
          </a:p>
        </p:txBody>
      </p:sp>
      <p:sp>
        <p:nvSpPr>
          <p:cNvPr id="36" name="iconBack_192"/>
          <p:cNvSpPr/>
          <p:nvPr/>
        </p:nvSpPr>
        <p:spPr>
          <a:xfrm>
            <a:off x="2788920" y="390906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7" name="icon_193" descr="garlic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8872" y="3979012"/>
            <a:ext cx="209855" cy="209855"/>
          </a:xfrm>
          <a:prstGeom prst="rect">
            <a:avLst/>
          </a:prstGeom>
        </p:spPr>
      </p:pic>
      <p:sp>
        <p:nvSpPr>
          <p:cNvPr id="38" name="box_194"/>
          <p:cNvSpPr txBox="1"/>
          <p:nvPr/>
        </p:nvSpPr>
        <p:spPr>
          <a:xfrm>
            <a:off x="3193542" y="3909060"/>
            <a:ext cx="2914650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a ___ of garlic</a:t>
            </a:r>
            <a:endParaRPr lang="en-US" sz="1250" dirty="0"/>
          </a:p>
        </p:txBody>
      </p:sp>
      <p:sp>
        <p:nvSpPr>
          <p:cNvPr id="39" name="R1_m6"/>
          <p:cNvSpPr txBox="1"/>
          <p:nvPr/>
        </p:nvSpPr>
        <p:spPr>
          <a:xfrm>
            <a:off x="6181344" y="392734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clove / head</a:t>
            </a:r>
            <a:endParaRPr lang="en-US" sz="1150" dirty="0"/>
          </a:p>
        </p:txBody>
      </p:sp>
      <p:sp>
        <p:nvSpPr>
          <p:cNvPr id="40" name="iconBack_195"/>
          <p:cNvSpPr/>
          <p:nvPr/>
        </p:nvSpPr>
        <p:spPr>
          <a:xfrm>
            <a:off x="2788920" y="433197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41" name="icon_196" descr="sal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8872" y="4401922"/>
            <a:ext cx="209855" cy="209855"/>
          </a:xfrm>
          <a:prstGeom prst="rect">
            <a:avLst/>
          </a:prstGeom>
        </p:spPr>
      </p:pic>
      <p:sp>
        <p:nvSpPr>
          <p:cNvPr id="42" name="box_197"/>
          <p:cNvSpPr txBox="1"/>
          <p:nvPr/>
        </p:nvSpPr>
        <p:spPr>
          <a:xfrm>
            <a:off x="3193542" y="4331970"/>
            <a:ext cx="2914650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a ___ of salt</a:t>
            </a:r>
            <a:endParaRPr lang="en-US" sz="1250" dirty="0"/>
          </a:p>
        </p:txBody>
      </p:sp>
      <p:sp>
        <p:nvSpPr>
          <p:cNvPr id="43" name="R1_m7"/>
          <p:cNvSpPr txBox="1"/>
          <p:nvPr/>
        </p:nvSpPr>
        <p:spPr>
          <a:xfrm>
            <a:off x="6181344" y="435025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9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9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Countable / uncountable</a:t>
            </a:r>
            <a:endParaRPr lang="en-US" sz="900" dirty="0"/>
          </a:p>
        </p:txBody>
      </p:sp>
      <p:sp>
        <p:nvSpPr>
          <p:cNvPr id="6" name="timer_20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20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8" name="title_203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much? How many?</a:t>
            </a:r>
            <a:endParaRPr lang="en-US" sz="1500" dirty="0"/>
          </a:p>
        </p:txBody>
      </p:sp>
      <p:sp>
        <p:nvSpPr>
          <p:cNvPr id="9" name="rh_204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Countable</a:t>
            </a:r>
            <a:endParaRPr lang="en-US" sz="1300" dirty="0"/>
          </a:p>
        </p:txBody>
      </p:sp>
      <p:sp>
        <p:nvSpPr>
          <p:cNvPr id="10" name="rb_205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onion – two onions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egg – six eggs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eggs?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tomatoes</a:t>
            </a:r>
            <a:endParaRPr lang="en-US" sz="1350" dirty="0"/>
          </a:p>
        </p:txBody>
      </p:sp>
      <p:sp>
        <p:nvSpPr>
          <p:cNvPr id="11" name="rh_206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Uncountable</a:t>
            </a:r>
            <a:endParaRPr lang="en-US" sz="1300" dirty="0"/>
          </a:p>
        </p:txBody>
      </p:sp>
      <p:sp>
        <p:nvSpPr>
          <p:cNvPr id="12" name="rb_207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flour, butter, milk, rice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flour?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salt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litres of milk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(not: two milks)</a:t>
            </a:r>
            <a:endParaRPr lang="en-US" sz="1350" dirty="0"/>
          </a:p>
        </p:txBody>
      </p:sp>
      <p:sp>
        <p:nvSpPr>
          <p:cNvPr id="13" name="rh_208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some / any</a:t>
            </a:r>
            <a:endParaRPr lang="en-US" sz="1300" dirty="0"/>
          </a:p>
        </p:txBody>
      </p:sp>
      <p:sp>
        <p:nvSpPr>
          <p:cNvPr id="14" name="rb_209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We've got some cream.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We haven't got any cream.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Have we got any cream?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run out of… = è finito</a:t>
            </a:r>
            <a:endParaRPr lang="en-US" sz="1350" dirty="0"/>
          </a:p>
        </p:txBody>
      </p:sp>
      <p:sp>
        <p:nvSpPr>
          <p:cNvPr id="15" name="watch_210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How many butter? → ✓ How much butter?     ✗ some informations → ✓ some information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1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1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1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Practice</a:t>
            </a:r>
            <a:endParaRPr lang="en-US" sz="900" dirty="0"/>
          </a:p>
        </p:txBody>
      </p:sp>
      <p:sp>
        <p:nvSpPr>
          <p:cNvPr id="6" name="timer_21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1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8" name="title_216"/>
          <p:cNvSpPr txBox="1"/>
          <p:nvPr/>
        </p:nvSpPr>
        <p:spPr>
          <a:xfrm rot="-120000">
            <a:off x="320040" y="676656"/>
            <a:ext cx="241401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 check</a:t>
            </a:r>
            <a:endParaRPr lang="en-US" sz="1500" dirty="0"/>
          </a:p>
        </p:txBody>
      </p:sp>
      <p:sp>
        <p:nvSpPr>
          <p:cNvPr id="9" name="post_21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1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21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with some, any, much or many.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con some, any, much o many.</a:t>
            </a:r>
            <a:endParaRPr lang="en-US" sz="1250" dirty="0"/>
          </a:p>
        </p:txBody>
      </p:sp>
      <p:sp>
        <p:nvSpPr>
          <p:cNvPr id="12" name="box_220"/>
          <p:cNvSpPr txBox="1"/>
          <p:nvPr/>
        </p:nvSpPr>
        <p:spPr>
          <a:xfrm>
            <a:off x="2788920" y="1371600"/>
            <a:ext cx="2126529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Have we got ___ onions?</a:t>
            </a:r>
            <a:endParaRPr lang="en-US" sz="1350" dirty="0"/>
          </a:p>
        </p:txBody>
      </p:sp>
      <p:sp>
        <p:nvSpPr>
          <p:cNvPr id="13" name="R1_a0"/>
          <p:cNvSpPr txBox="1"/>
          <p:nvPr/>
        </p:nvSpPr>
        <p:spPr>
          <a:xfrm>
            <a:off x="4970313" y="1408176"/>
            <a:ext cx="772119" cy="795528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200" dirty="0"/>
          </a:p>
        </p:txBody>
      </p:sp>
      <p:sp>
        <p:nvSpPr>
          <p:cNvPr id="14" name="box_221"/>
          <p:cNvSpPr txBox="1"/>
          <p:nvPr/>
        </p:nvSpPr>
        <p:spPr>
          <a:xfrm>
            <a:off x="5870448" y="1371600"/>
            <a:ext cx="2126529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How ___ butter do we need?</a:t>
            </a:r>
            <a:endParaRPr lang="en-US" sz="1350" dirty="0"/>
          </a:p>
        </p:txBody>
      </p:sp>
      <p:sp>
        <p:nvSpPr>
          <p:cNvPr id="15" name="R1_a1"/>
          <p:cNvSpPr txBox="1"/>
          <p:nvPr/>
        </p:nvSpPr>
        <p:spPr>
          <a:xfrm>
            <a:off x="8051841" y="1408176"/>
            <a:ext cx="772119" cy="795528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</a:t>
            </a:r>
            <a:endParaRPr lang="en-US" sz="1200" dirty="0"/>
          </a:p>
        </p:txBody>
      </p:sp>
      <p:sp>
        <p:nvSpPr>
          <p:cNvPr id="16" name="box_222"/>
          <p:cNvSpPr txBox="1"/>
          <p:nvPr/>
        </p:nvSpPr>
        <p:spPr>
          <a:xfrm>
            <a:off x="2788920" y="2368296"/>
            <a:ext cx="2126529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We haven't got ___ cream.</a:t>
            </a:r>
            <a:endParaRPr lang="en-US" sz="1350" dirty="0"/>
          </a:p>
        </p:txBody>
      </p:sp>
      <p:sp>
        <p:nvSpPr>
          <p:cNvPr id="17" name="R1_a2"/>
          <p:cNvSpPr txBox="1"/>
          <p:nvPr/>
        </p:nvSpPr>
        <p:spPr>
          <a:xfrm>
            <a:off x="4970313" y="2404872"/>
            <a:ext cx="772119" cy="795528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200" dirty="0"/>
          </a:p>
        </p:txBody>
      </p:sp>
      <p:sp>
        <p:nvSpPr>
          <p:cNvPr id="18" name="box_223"/>
          <p:cNvSpPr txBox="1"/>
          <p:nvPr/>
        </p:nvSpPr>
        <p:spPr>
          <a:xfrm>
            <a:off x="5870448" y="2368296"/>
            <a:ext cx="2126529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How ___ eggs are there?</a:t>
            </a:r>
            <a:endParaRPr lang="en-US" sz="1350" dirty="0"/>
          </a:p>
        </p:txBody>
      </p:sp>
      <p:sp>
        <p:nvSpPr>
          <p:cNvPr id="19" name="R1_a3"/>
          <p:cNvSpPr txBox="1"/>
          <p:nvPr/>
        </p:nvSpPr>
        <p:spPr>
          <a:xfrm>
            <a:off x="8051841" y="2404872"/>
            <a:ext cx="772119" cy="795528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1200" dirty="0"/>
          </a:p>
        </p:txBody>
      </p:sp>
      <p:sp>
        <p:nvSpPr>
          <p:cNvPr id="20" name="box_224"/>
          <p:cNvSpPr txBox="1"/>
          <p:nvPr/>
        </p:nvSpPr>
        <p:spPr>
          <a:xfrm>
            <a:off x="2788920" y="3364992"/>
            <a:ext cx="2126529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There's ___ milk in the fridge.</a:t>
            </a:r>
            <a:endParaRPr lang="en-US" sz="1350" dirty="0"/>
          </a:p>
        </p:txBody>
      </p:sp>
      <p:sp>
        <p:nvSpPr>
          <p:cNvPr id="21" name="R1_a4"/>
          <p:cNvSpPr txBox="1"/>
          <p:nvPr/>
        </p:nvSpPr>
        <p:spPr>
          <a:xfrm>
            <a:off x="4970313" y="3401568"/>
            <a:ext cx="772119" cy="795528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200" dirty="0"/>
          </a:p>
        </p:txBody>
      </p:sp>
      <p:sp>
        <p:nvSpPr>
          <p:cNvPr id="22" name="box_225"/>
          <p:cNvSpPr txBox="1"/>
          <p:nvPr/>
        </p:nvSpPr>
        <p:spPr>
          <a:xfrm>
            <a:off x="5870448" y="3364992"/>
            <a:ext cx="2126529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We need ___ more garlic.</a:t>
            </a:r>
            <a:endParaRPr lang="en-US" sz="1350" dirty="0"/>
          </a:p>
        </p:txBody>
      </p:sp>
      <p:sp>
        <p:nvSpPr>
          <p:cNvPr id="23" name="R1_a5"/>
          <p:cNvSpPr txBox="1"/>
          <p:nvPr/>
        </p:nvSpPr>
        <p:spPr>
          <a:xfrm>
            <a:off x="8051841" y="3401568"/>
            <a:ext cx="772119" cy="795528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2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2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A supplier's email</a:t>
            </a:r>
            <a:endParaRPr lang="en-US" sz="900" dirty="0"/>
          </a:p>
        </p:txBody>
      </p:sp>
      <p:sp>
        <p:nvSpPr>
          <p:cNvPr id="6" name="timer_22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23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8" name="title_231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Tomorrow's delivery</a:t>
            </a:r>
            <a:endParaRPr lang="en-US" sz="1500" dirty="0"/>
          </a:p>
        </p:txBody>
      </p:sp>
      <p:sp>
        <p:nvSpPr>
          <p:cNvPr id="9" name="rsign_232"/>
          <p:cNvSpPr txBox="1"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 LEGGI!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email. Answer the questions.  </a:t>
            </a:r>
            <a:pPr indent="0" marL="0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l'email e rispondi.</a:t>
            </a:r>
            <a:endParaRPr lang="en-US" sz="1000" dirty="0"/>
          </a:p>
        </p:txBody>
      </p:sp>
      <p:sp>
        <p:nvSpPr>
          <p:cNvPr id="10" name="rtext_233"/>
          <p:cNvSpPr txBox="1"/>
          <p:nvPr/>
        </p:nvSpPr>
        <p:spPr>
          <a:xfrm rot="-30000">
            <a:off x="320040" y="1810512"/>
            <a:ext cx="4343400" cy="2880360"/>
          </a:xfrm>
          <a:prstGeom prst="rect">
            <a:avLst/>
          </a:prstGeom>
          <a:solidFill>
            <a:srgbClr val="FFFDF5"/>
          </a:solidFill>
          <a:ln w="190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From: Rosa, Bagheria Fresh Foods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Chef, thank you for your order. Tomorrow we are delivering 10 kilos of potatoes, 5 bags of flour, 4 litres of cream and 2 boxes of eggs. I'm sorry, but we haven't got any lemons this week. We've got some limes – do you want them? There isn't any fresh basil, but we've got some parsley. Delivery time: 7.30 a.m. Best wishes, Rosa</a:t>
            </a:r>
            <a:endParaRPr lang="en-US" sz="1300" dirty="0"/>
          </a:p>
        </p:txBody>
      </p:sp>
      <p:sp>
        <p:nvSpPr>
          <p:cNvPr id="11" name="box_234"/>
          <p:cNvSpPr txBox="1"/>
          <p:nvPr/>
        </p:nvSpPr>
        <p:spPr>
          <a:xfrm>
            <a:off x="4828032" y="1810512"/>
            <a:ext cx="2317638" cy="51755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How many kilos of potatoes?</a:t>
            </a:r>
            <a:endParaRPr lang="en-US" sz="1150" dirty="0"/>
          </a:p>
        </p:txBody>
      </p:sp>
      <p:sp>
        <p:nvSpPr>
          <p:cNvPr id="12" name="R1_ra0"/>
          <p:cNvSpPr txBox="1"/>
          <p:nvPr/>
        </p:nvSpPr>
        <p:spPr>
          <a:xfrm>
            <a:off x="7191390" y="183794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kilos</a:t>
            </a:r>
            <a:endParaRPr lang="en-US" sz="1050" dirty="0"/>
          </a:p>
        </p:txBody>
      </p:sp>
      <p:sp>
        <p:nvSpPr>
          <p:cNvPr id="13" name="box_235"/>
          <p:cNvSpPr txBox="1"/>
          <p:nvPr/>
        </p:nvSpPr>
        <p:spPr>
          <a:xfrm>
            <a:off x="4828032" y="2401214"/>
            <a:ext cx="2317638" cy="51755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How much cream?</a:t>
            </a:r>
            <a:endParaRPr lang="en-US" sz="1150" dirty="0"/>
          </a:p>
        </p:txBody>
      </p:sp>
      <p:sp>
        <p:nvSpPr>
          <p:cNvPr id="14" name="R1_ra1"/>
          <p:cNvSpPr txBox="1"/>
          <p:nvPr/>
        </p:nvSpPr>
        <p:spPr>
          <a:xfrm>
            <a:off x="7191390" y="2428646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litres</a:t>
            </a:r>
            <a:endParaRPr lang="en-US" sz="1050" dirty="0"/>
          </a:p>
        </p:txBody>
      </p:sp>
      <p:sp>
        <p:nvSpPr>
          <p:cNvPr id="15" name="box_236"/>
          <p:cNvSpPr txBox="1"/>
          <p:nvPr/>
        </p:nvSpPr>
        <p:spPr>
          <a:xfrm>
            <a:off x="4828032" y="2991917"/>
            <a:ext cx="2317638" cy="51755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Have they got any lemons?</a:t>
            </a:r>
            <a:endParaRPr lang="en-US" sz="1150" dirty="0"/>
          </a:p>
        </p:txBody>
      </p:sp>
      <p:sp>
        <p:nvSpPr>
          <p:cNvPr id="16" name="R1_ra2"/>
          <p:cNvSpPr txBox="1"/>
          <p:nvPr/>
        </p:nvSpPr>
        <p:spPr>
          <a:xfrm>
            <a:off x="7191390" y="3019349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– limes instead</a:t>
            </a:r>
            <a:endParaRPr lang="en-US" sz="1050" dirty="0"/>
          </a:p>
        </p:txBody>
      </p:sp>
      <p:sp>
        <p:nvSpPr>
          <p:cNvPr id="17" name="box_237"/>
          <p:cNvSpPr txBox="1"/>
          <p:nvPr/>
        </p:nvSpPr>
        <p:spPr>
          <a:xfrm>
            <a:off x="4828032" y="3582619"/>
            <a:ext cx="2317638" cy="51755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Which herb can they send?</a:t>
            </a:r>
            <a:endParaRPr lang="en-US" sz="1150" dirty="0"/>
          </a:p>
        </p:txBody>
      </p:sp>
      <p:sp>
        <p:nvSpPr>
          <p:cNvPr id="18" name="R1_ra3"/>
          <p:cNvSpPr txBox="1"/>
          <p:nvPr/>
        </p:nvSpPr>
        <p:spPr>
          <a:xfrm>
            <a:off x="7191390" y="3610051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parsley</a:t>
            </a:r>
            <a:endParaRPr lang="en-US" sz="1050" dirty="0"/>
          </a:p>
        </p:txBody>
      </p:sp>
      <p:sp>
        <p:nvSpPr>
          <p:cNvPr id="19" name="box_238"/>
          <p:cNvSpPr txBox="1"/>
          <p:nvPr/>
        </p:nvSpPr>
        <p:spPr>
          <a:xfrm>
            <a:off x="4828032" y="4173322"/>
            <a:ext cx="2317638" cy="51755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time is the delivery?</a:t>
            </a:r>
            <a:endParaRPr lang="en-US" sz="1150" dirty="0"/>
          </a:p>
        </p:txBody>
      </p:sp>
      <p:sp>
        <p:nvSpPr>
          <p:cNvPr id="20" name="R1_ra4"/>
          <p:cNvSpPr txBox="1"/>
          <p:nvPr/>
        </p:nvSpPr>
        <p:spPr>
          <a:xfrm>
            <a:off x="7191390" y="420075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7.30 a.m.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3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4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Creative cooking</a:t>
            </a:r>
            <a:endParaRPr lang="en-US" sz="900" dirty="0"/>
          </a:p>
        </p:txBody>
      </p:sp>
      <p:sp>
        <p:nvSpPr>
          <p:cNvPr id="6" name="timer_24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7" name="footer_24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8" name="title_244"/>
          <p:cNvSpPr txBox="1"/>
          <p:nvPr/>
        </p:nvSpPr>
        <p:spPr>
          <a:xfrm rot="-120000">
            <a:off x="320040" y="676656"/>
            <a:ext cx="293522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Mystery basket</a:t>
            </a:r>
            <a:endParaRPr lang="en-US" sz="1500" dirty="0"/>
          </a:p>
        </p:txBody>
      </p:sp>
      <p:sp>
        <p:nvSpPr>
          <p:cNvPr id="9" name="post_24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4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24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secret ingredients. Invent a dish in 2 minutes!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ingredienti segreti. Inventa un piatto in 2 minuti!</a:t>
            </a:r>
            <a:endParaRPr lang="en-US" sz="1250" dirty="0"/>
          </a:p>
        </p:txBody>
      </p:sp>
      <p:sp>
        <p:nvSpPr>
          <p:cNvPr id="12" name="R1_b0_bk"/>
          <p:cNvSpPr/>
          <p:nvPr/>
        </p:nvSpPr>
        <p:spPr>
          <a:xfrm>
            <a:off x="2926080" y="1417320"/>
            <a:ext cx="91440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R1_b0_ic" descr="fi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600200"/>
            <a:ext cx="548640" cy="548640"/>
          </a:xfrm>
          <a:prstGeom prst="rect">
            <a:avLst/>
          </a:prstGeom>
        </p:spPr>
      </p:pic>
      <p:sp>
        <p:nvSpPr>
          <p:cNvPr id="14" name="R2_b1_bk"/>
          <p:cNvSpPr/>
          <p:nvPr/>
        </p:nvSpPr>
        <p:spPr>
          <a:xfrm>
            <a:off x="3977640" y="1417320"/>
            <a:ext cx="914400" cy="91440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R2_b1_ic" descr="lem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600200"/>
            <a:ext cx="548640" cy="548640"/>
          </a:xfrm>
          <a:prstGeom prst="rect">
            <a:avLst/>
          </a:prstGeom>
        </p:spPr>
      </p:pic>
      <p:sp>
        <p:nvSpPr>
          <p:cNvPr id="16" name="R3_b2_bk"/>
          <p:cNvSpPr/>
          <p:nvPr/>
        </p:nvSpPr>
        <p:spPr>
          <a:xfrm>
            <a:off x="5029200" y="1417320"/>
            <a:ext cx="91440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R3_b2_ic" descr="chee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600200"/>
            <a:ext cx="548640" cy="548640"/>
          </a:xfrm>
          <a:prstGeom prst="rect">
            <a:avLst/>
          </a:prstGeom>
        </p:spPr>
      </p:pic>
      <p:sp>
        <p:nvSpPr>
          <p:cNvPr id="18" name="R4_b3_bk"/>
          <p:cNvSpPr/>
          <p:nvPr/>
        </p:nvSpPr>
        <p:spPr>
          <a:xfrm>
            <a:off x="6080760" y="1417320"/>
            <a:ext cx="914400" cy="91440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9" name="R4_b3_ic" descr="pepp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600200"/>
            <a:ext cx="548640" cy="548640"/>
          </a:xfrm>
          <a:prstGeom prst="rect">
            <a:avLst/>
          </a:prstGeom>
        </p:spPr>
      </p:pic>
      <p:sp>
        <p:nvSpPr>
          <p:cNvPr id="20" name="box_248"/>
          <p:cNvSpPr txBox="1"/>
          <p:nvPr/>
        </p:nvSpPr>
        <p:spPr>
          <a:xfrm>
            <a:off x="2788920" y="2560320"/>
            <a:ext cx="603504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Click to open the basket: 4 ingredients.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Pairs: 2 minutes to invent a dish. Use all 4!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Present it: We need some… and a little… How much…? How many…?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judge (teacher) asks 2 questions. Best dish wins!</a:t>
            </a:r>
            <a:endParaRPr lang="en-US" sz="1300" dirty="0"/>
          </a:p>
        </p:txBody>
      </p:sp>
      <p:sp>
        <p:nvSpPr>
          <p:cNvPr id="21" name="bubble_249"/>
          <p:cNvSpPr txBox="1"/>
          <p:nvPr/>
        </p:nvSpPr>
        <p:spPr>
          <a:xfrm>
            <a:off x="2788920" y="4160520"/>
            <a:ext cx="60350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some fish, a little cheese, one lemon and…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5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5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5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Role-play</a:t>
            </a:r>
            <a:endParaRPr lang="en-US" sz="900" dirty="0"/>
          </a:p>
        </p:txBody>
      </p:sp>
      <p:sp>
        <p:nvSpPr>
          <p:cNvPr id="6" name="timer_25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25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8" name="title_255"/>
          <p:cNvSpPr txBox="1"/>
          <p:nvPr/>
        </p:nvSpPr>
        <p:spPr>
          <a:xfrm rot="-120000">
            <a:off x="320040" y="676656"/>
            <a:ext cx="258775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delivery</a:t>
            </a:r>
            <a:endParaRPr lang="en-US" sz="1500" dirty="0"/>
          </a:p>
        </p:txBody>
      </p:sp>
      <p:sp>
        <p:nvSpPr>
          <p:cNvPr id="9" name="post_25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25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 the order. B checks the delivery. Then swap!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 l'ordine. B controlla la consegna. Poi scambiatevi!</a:t>
            </a:r>
            <a:endParaRPr lang="en-US" sz="1250" dirty="0"/>
          </a:p>
        </p:txBody>
      </p:sp>
      <p:sp>
        <p:nvSpPr>
          <p:cNvPr id="12" name="line_259"/>
          <p:cNvSpPr txBox="1"/>
          <p:nvPr/>
        </p:nvSpPr>
        <p:spPr>
          <a:xfrm>
            <a:off x="2788920" y="13716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kilos of potatoes are there?</a:t>
            </a:r>
            <a:endParaRPr lang="en-US" sz="1250" dirty="0"/>
          </a:p>
        </p:txBody>
      </p:sp>
      <p:sp>
        <p:nvSpPr>
          <p:cNvPr id="13" name="line_260"/>
          <p:cNvSpPr txBox="1"/>
          <p:nvPr/>
        </p:nvSpPr>
        <p:spPr>
          <a:xfrm>
            <a:off x="3108960" y="193548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ten kilos.</a:t>
            </a:r>
            <a:endParaRPr lang="en-US" sz="1250" dirty="0"/>
          </a:p>
        </p:txBody>
      </p:sp>
      <p:sp>
        <p:nvSpPr>
          <p:cNvPr id="14" name="line_261"/>
          <p:cNvSpPr txBox="1"/>
          <p:nvPr/>
        </p:nvSpPr>
        <p:spPr>
          <a:xfrm>
            <a:off x="2788920" y="249936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Good. And how much cream is there?</a:t>
            </a:r>
            <a:endParaRPr lang="en-US" sz="1250" dirty="0"/>
          </a:p>
        </p:txBody>
      </p:sp>
      <p:sp>
        <p:nvSpPr>
          <p:cNvPr id="15" name="line_262"/>
          <p:cNvSpPr txBox="1"/>
          <p:nvPr/>
        </p:nvSpPr>
        <p:spPr>
          <a:xfrm>
            <a:off x="3108960" y="306324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litres. But there aren't any lemons!</a:t>
            </a:r>
            <a:endParaRPr lang="en-US" sz="1250" dirty="0"/>
          </a:p>
        </p:txBody>
      </p:sp>
      <p:sp>
        <p:nvSpPr>
          <p:cNvPr id="16" name="line_263"/>
          <p:cNvSpPr txBox="1"/>
          <p:nvPr/>
        </p:nvSpPr>
        <p:spPr>
          <a:xfrm>
            <a:off x="2788920" y="362712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no! We've run out of lemons. Call the supplier, please.</a:t>
            </a:r>
            <a:endParaRPr lang="en-US" sz="950" dirty="0"/>
          </a:p>
        </p:txBody>
      </p:sp>
      <p:sp>
        <p:nvSpPr>
          <p:cNvPr id="17" name="line_264"/>
          <p:cNvSpPr txBox="1"/>
          <p:nvPr/>
        </p:nvSpPr>
        <p:spPr>
          <a:xfrm>
            <a:off x="3108960" y="41910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Chef!</a:t>
            </a:r>
            <a:endParaRPr lang="en-US" sz="1250" dirty="0"/>
          </a:p>
        </p:txBody>
      </p:sp>
      <p:sp>
        <p:nvSpPr>
          <p:cNvPr id="18" name="phrases_265"/>
          <p:cNvSpPr txBox="1"/>
          <p:nvPr/>
        </p:nvSpPr>
        <p:spPr>
          <a:xfrm rot="90000">
            <a:off x="6858000" y="1371600"/>
            <a:ext cx="1965960" cy="3310128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phrases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run out of… (è finito)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low on… (ne abbiamo poco)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fresh?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out of date. (scaduto)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 the fridge / freezer.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back!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6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6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26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6" name="title_269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270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271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ingredients and food groups.</a:t>
            </a:r>
            <a:endParaRPr lang="en-US" sz="1350" dirty="0"/>
          </a:p>
        </p:txBody>
      </p:sp>
      <p:sp>
        <p:nvSpPr>
          <p:cNvPr id="9" name="faces_272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273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some / any and How much / How many.</a:t>
            </a:r>
            <a:endParaRPr lang="en-US" sz="1350" dirty="0"/>
          </a:p>
        </p:txBody>
      </p:sp>
      <p:sp>
        <p:nvSpPr>
          <p:cNvPr id="11" name="faces_274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75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check stock and a delivery.</a:t>
            </a:r>
            <a:endParaRPr lang="en-US" sz="1350" dirty="0"/>
          </a:p>
        </p:txBody>
      </p:sp>
      <p:sp>
        <p:nvSpPr>
          <p:cNvPr id="13" name="faces_276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277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tomorrow's shopping list for your restaurant in English: 10 items with quantities.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can attach the homework sheet in the portal.</a:t>
            </a:r>
            <a:endParaRPr lang="en-US" sz="1250" dirty="0"/>
          </a:p>
        </p:txBody>
      </p:sp>
      <p:sp>
        <p:nvSpPr>
          <p:cNvPr id="15" name="stamp_278"/>
          <p:cNvSpPr txBox="1"/>
          <p:nvPr/>
        </p:nvSpPr>
        <p:spPr>
          <a:xfrm>
            <a:off x="365760" y="3657600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L4 · Kitchen commands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7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8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8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Food talk</a:t>
            </a:r>
            <a:endParaRPr lang="en-US" sz="900" dirty="0"/>
          </a:p>
        </p:txBody>
      </p:sp>
      <p:sp>
        <p:nvSpPr>
          <p:cNvPr id="6" name="timer_28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83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8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9" name="title_285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 you love to hate</a:t>
            </a:r>
            <a:endParaRPr lang="en-US" sz="1500" dirty="0"/>
          </a:p>
        </p:txBody>
      </p:sp>
      <p:sp>
        <p:nvSpPr>
          <p:cNvPr id="10" name="post_28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8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28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Answer. Your partner must ask a follow-up question!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Rispondi. Il collega deve fare un'altra domanda!</a:t>
            </a:r>
            <a:endParaRPr lang="en-US" sz="1250" dirty="0"/>
          </a:p>
        </p:txBody>
      </p:sp>
      <p:sp>
        <p:nvSpPr>
          <p:cNvPr id="13" name="box_289"/>
          <p:cNvSpPr txBox="1"/>
          <p:nvPr/>
        </p:nvSpPr>
        <p:spPr>
          <a:xfrm>
            <a:off x="2788920" y="1371600"/>
            <a:ext cx="603504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food you would never eat again. Why?</a:t>
            </a:r>
            <a:endParaRPr lang="en-US" sz="1400" dirty="0"/>
          </a:p>
        </p:txBody>
      </p:sp>
      <p:sp>
        <p:nvSpPr>
          <p:cNvPr id="14" name="box_290"/>
          <p:cNvSpPr txBox="1"/>
          <p:nvPr/>
        </p:nvSpPr>
        <p:spPr>
          <a:xfrm>
            <a:off x="2788920" y="2055571"/>
            <a:ext cx="603504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An ingredient you think is overrated.</a:t>
            </a:r>
            <a:endParaRPr lang="en-US" sz="1400" dirty="0"/>
          </a:p>
        </p:txBody>
      </p:sp>
      <p:sp>
        <p:nvSpPr>
          <p:cNvPr id="15" name="box_291"/>
          <p:cNvSpPr txBox="1"/>
          <p:nvPr/>
        </p:nvSpPr>
        <p:spPr>
          <a:xfrm>
            <a:off x="2788920" y="2739542"/>
            <a:ext cx="603504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strangest thing a customer has asked for.</a:t>
            </a:r>
            <a:endParaRPr lang="en-US" sz="1400" dirty="0"/>
          </a:p>
        </p:txBody>
      </p:sp>
      <p:sp>
        <p:nvSpPr>
          <p:cNvPr id="16" name="box_292"/>
          <p:cNvSpPr txBox="1"/>
          <p:nvPr/>
        </p:nvSpPr>
        <p:spPr>
          <a:xfrm>
            <a:off x="2788920" y="3423514"/>
            <a:ext cx="603504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An ingredient you can't work without.</a:t>
            </a:r>
            <a:endParaRPr lang="en-US" sz="1400" dirty="0"/>
          </a:p>
        </p:txBody>
      </p:sp>
      <p:sp>
        <p:nvSpPr>
          <p:cNvPr id="17" name="box_293"/>
          <p:cNvSpPr txBox="1"/>
          <p:nvPr/>
        </p:nvSpPr>
        <p:spPr>
          <a:xfrm>
            <a:off x="2788920" y="4107485"/>
            <a:ext cx="603504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 food everyone loves, but you don't.</a:t>
            </a:r>
            <a:endParaRPr lang="en-US" sz="1400" dirty="0"/>
          </a:p>
        </p:txBody>
      </p:sp>
      <p:sp>
        <p:nvSpPr>
          <p:cNvPr id="18" name="sticky_294"/>
          <p:cNvSpPr txBox="1"/>
          <p:nvPr/>
        </p:nvSpPr>
        <p:spPr>
          <a:xfrm rot="-120000">
            <a:off x="411480" y="402336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up: Why? Really? What happened? Who disagrees?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9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9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9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memory</a:t>
            </a:r>
            <a:endParaRPr lang="en-US" sz="900" dirty="0"/>
          </a:p>
        </p:txBody>
      </p:sp>
      <p:sp>
        <p:nvSpPr>
          <p:cNvPr id="6" name="timer_29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99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30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9" name="title_301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shopping list</a:t>
            </a:r>
            <a:endParaRPr lang="en-US" sz="1500" dirty="0"/>
          </a:p>
        </p:txBody>
      </p:sp>
      <p:sp>
        <p:nvSpPr>
          <p:cNvPr id="10" name="post_30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30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2" name="signB_30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list and add one more item!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Ripeti la lista e aggiungi un ingrediente!</a:t>
            </a:r>
            <a:endParaRPr lang="en-US" sz="1250" dirty="0"/>
          </a:p>
        </p:txBody>
      </p:sp>
      <p:sp>
        <p:nvSpPr>
          <p:cNvPr id="13" name="iconBack_305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306" descr="c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307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308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We need some onions.</a:t>
            </a:r>
            <a:endParaRPr lang="en-US" sz="1300" dirty="0"/>
          </a:p>
        </p:txBody>
      </p:sp>
      <p:sp>
        <p:nvSpPr>
          <p:cNvPr id="17" name="num_309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310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We need some onions and a litre of milk.</a:t>
            </a:r>
            <a:endParaRPr lang="en-US" sz="1300" dirty="0"/>
          </a:p>
        </p:txBody>
      </p:sp>
      <p:sp>
        <p:nvSpPr>
          <p:cNvPr id="19" name="num_311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312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We need some onions, a litre of milk and six eggs.</a:t>
            </a:r>
            <a:endParaRPr lang="en-US" sz="1300" dirty="0"/>
          </a:p>
        </p:txBody>
      </p:sp>
      <p:sp>
        <p:nvSpPr>
          <p:cNvPr id="21" name="num_313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314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an item or say 'a milk'? You lose the round!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English L3 Ingredients</dc:title>
  <dc:subject>PptxGenJS Presentation</dc:subject>
  <dc:creator>London Language School</dc:creator>
  <cp:lastModifiedBy>London Language School</cp:lastModifiedBy>
  <cp:revision>1</cp:revision>
  <dcterms:created xsi:type="dcterms:W3CDTF">2026-10-05T06:50:56Z</dcterms:created>
  <dcterms:modified xsi:type="dcterms:W3CDTF">2026-10-05T06:50:56Z</dcterms:modified>
</cp:coreProperties>
</file>