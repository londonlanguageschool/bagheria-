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10A PART 2 (60 min) · SB pp.98–99. Aims: listen to an exhibition audio guide about four British design icons (the red phone box, the Anglepoise lamp, Penguin book covers, the miniskirt); talk about your own icons; compound nouns and their stress; a vocabulary race with compound nouns from Files 1–10. Timing: cover 2 · revision 5 · decades 4 · listening 9 · memory 4 · Italian icons 5 · my icons 7 · compound nouns 5 · race 6 · word chain 6 · exit 3 = 56 min. Click 1: the question — let them guess before click 2 (the answer is in today's listening).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of 10A part 1 (5 min). VARIATION: answers first (reverse the obvious, 'Jeopardy' style). Teams have 30 seconds to write a question for each answer; the question MUST contain who / which / where / whose. 1 point for a correct question, +1 if it is a defining clause with the right pronoun. Click once per line to show a model question (any correct question is fine). All facts are from the texts on pp.96–97 and the Eco biography (p.124).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LISTENING (4 min). 5a: look at the four famous examples of British design which featured on stamps – do you have, or have you seen, any of these things? Teach decade /ˈdekeɪd/ (= a period of ten years) and how we say decades: the 1960s = the (nineteen) sixties. VARIATION: prediction — pairs guess the decade of each design (show of hands for each), then play 10.3. Click 1 for answers (TG / audio script): the red phone box – the 1920s (competition in 1924) · the Anglepoise lamp – the 1930s (1935) · the Penguin book covers – the 1940s (1946) · the miniskirt – the 1960s (1966). Drill the years: nineteen twenty-four, nineteen thirty-five…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LISTENING (9 min). 5b: an exhibition audio guide; students make notes about the prompts under each design in the book (1 the Post Office · Liverpool Cathedral and Tate Modern · red, silver, and blue · the Royal Academy of Arts in Piccadilly · libraries and art galleries; 2 suspension systems for cars · Carwardine's company going bankrupt · the human arm · the Anglepoise model 1227 · hospital theatres and military aeroplanes; 3 Allen Lane and a railway platform in 1935 · his secretary · Edward Young and London Zoo · Agatha Christie and Ernest Hemingway · orange, blue, and green covers; 4 the Beatles and the first man on the moon · 'Bazaar' in the King's Road · Mary Quant's school uniform · tap dancers and the Mini · Coco Chanel) (point out the Glossary; icon can also be used for things). Play 10.4, pausing after each design. 5c: compare notes; play again to add more; compare again. Click 1 for the slide answers (all from audio script 10.4). More facts for feedback: the first phone box was built in London in 1926; Scott originally suggested silver with a blue interior; today some are mini-libraries or art galleries. Carwardine had a workshop in his garden; the lamp was inspired by the human arm; the Anglepoise 1227 is still made today. Allen Lane couldn't find good cheap books at a railway bookstall in 1935; Edward Young drew penguins at London Zoo; the 1946 cover is used on mugs and notebooks. Mary Quant had a boutique called Bazaar in the King's Road; tap dancers in short skirts inspired her; Coco Chanel said it was 'just awful'. 5d is the next slide (memory). 5e (whole class): Which of the four do you think has the most attractive design? What would you consider to be examples of iconic design in your country? (→ the Italian icons slide) VARIATION: listening for facts + note-taking.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(4 min). 5d: pairs cover their notes, look at the four designs and see how much they can remember. VARIATION: curiosity gap + memory challenge — the slide gives 'mystery' numbers and phrases from the audio guide; teams explain them; click once per item (answers from audio script 10.4). EXTRA SUPPORT: let them read the script on p.131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(5 min). VARIATION: perspective change + ranking + mild controversy — after four BRITISH icons, students rank six ITALIAN design icons (our choice; no 'right' answer). Pairs agree on an order, then two pairs compare and the class votes for number 1. Push for relative clauses: 'The Vespa is the scooter which…', 'The Moka is a pot which everybody has…'. Optional: Which British icon would an Italian tourist buy as a souvenir?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(7 min). 6a (3 min): students write the names of people, things, or places in as many of the seven rectangles as they can (the categories on the slide are the book's; the book's examples: Captain R. Scott, polar explorer · Malala Yousafzai, activist for women's education · St Paul's Cathedral, London · the Apple logo · the Aalto vase · the Eames lounge chair · The Godfather book cover). Monitor and help with vocabulary. 6b (4 min): in groups of three, students talk about their people, things and places and explain why they admire them. Model: 'My sports icon is Bebe Vio, who won gold at the Paralympics in Rio…' EXTRA IDEA (TG): start by telling them two or three of your own answers. Listeners ask one follow-up question each time; at the end, each group tells the class which icon was the biggest surprise. VARIATION: follow-up questions + personalisation with boundaries (any category can be skipped).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&amp; PRONUNCIATION (5 min). 7a: elicit compound noun (two nouns together; seen in 2A p.17 and Vocabulary Bank Transport p.155). Students match a noun from A with one from B — all are in lesson 10A. 7b: play 10.5 to check; click 1 for answers (audio script): paperback, book cover, child prodigy, car manufacturer, desk lamp, songwriter, phone box. One word: paperback and songwriter (TG). Which noun is stressed more? → the FIRST (TG pronunciation notes — this rule applies whether the compound is one word or two). Italian speakers often stress the second word: drill BUS stop, TRAFfic jam, SUNglasses. Pairs practise saying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/ RACE (6 min). 7c: in pairs, students try to answer all the questions in the Compound nouns race (the book's 12 questions, on the slide) in three minutes – all the answers are compound nouns from Files 1–10. Click 1 for answers (TG): 1 a cycle lane · 2 the rush hour · 3 a parking fine · 4 a tennis court · 5 a traffic jam · 6 a seat belt · 7 the head teacher · 8 the soundtrack · 9 science fiction · 10 a memory stick · 11 the ground floor · 12 a state school. EXTRA IDEA (TG): pairs write their names and answers on paper; collect and redistribute; students correct each other's. The pair with most correct answers wins — +1 for each answer said with the correct stress (first noun stressed).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(6 min). VARIATION: vocabulary branching + beat the clock. Teacher is the judge: real compound nouns only (accept one or two words: football pitch, pitch… ✗ stop!). Starters if a chain dies: traffic jam · ground floor · memory stick · science fiction · tennis court · seat belt · book cover. Model chain: desk lamp → lampshade → … / car park → park bench → bench… Keep it fast and noisy; write the longest chain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Homework: Workbook 10A 2a, 2b, 2c (compound nouns) and 3a, 3b (word stress; 3b uses audio – the key gives the stressed syllables) + learn the 12 compound nouns in 7c + the 10A-2 homework sheet (easier version available).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(5 min). VARIATION: mild controversy. Each student must find one person in the class who disagrees with them and ask one follow-up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(8 min). VARIATION: humour + student-generated content + perspective change (an ordinary object treated as a design icon). The class votes for the most convincing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sp>
        <p:nvSpPr>
          <p:cNvPr id="4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8E6B4"/>
            </a:solidFill>
            <a:prstDash val="solid"/>
          </a:ln>
        </p:spPr>
      </p:sp>
      <p:pic>
        <p:nvPicPr>
          <p:cNvPr id="5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6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20403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2</a:t>
            </a:r>
            <a:endParaRPr lang="en-US" sz="1000" dirty="0"/>
          </a:p>
        </p:txBody>
      </p:sp>
      <p:sp>
        <p:nvSpPr>
          <p:cNvPr id="7" name="unit_5"/>
          <p:cNvSpPr txBox="1"/>
          <p:nvPr/>
        </p:nvSpPr>
        <p:spPr>
          <a:xfrm>
            <a:off x="411480" y="3200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6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10A</a:t>
            </a:r>
            <a:endParaRPr lang="en-US" sz="4600" dirty="0"/>
          </a:p>
        </p:txBody>
      </p:sp>
      <p:sp>
        <p:nvSpPr>
          <p:cNvPr id="8" name="course_6"/>
          <p:cNvSpPr txBox="1"/>
          <p:nvPr/>
        </p:nvSpPr>
        <p:spPr>
          <a:xfrm>
            <a:off x="210312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 FILE B1 · 10A · Part 2 · SB pp.98–99</a:t>
            </a:r>
            <a:endParaRPr lang="en-US" sz="1050" dirty="0"/>
          </a:p>
        </p:txBody>
      </p:sp>
      <p:sp>
        <p:nvSpPr>
          <p:cNvPr id="9" name="title_7"/>
          <p:cNvSpPr txBox="1"/>
          <p:nvPr/>
        </p:nvSpPr>
        <p:spPr>
          <a:xfrm rot="120000">
            <a:off x="411480" y="1325880"/>
            <a:ext cx="4343400" cy="7772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65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IDOLS AND ICONS</a:t>
            </a:r>
            <a:endParaRPr lang="en-US" sz="2650" dirty="0"/>
          </a:p>
        </p:txBody>
      </p:sp>
      <p:sp>
        <p:nvSpPr>
          <p:cNvPr id="10" name="stamp_8"/>
          <p:cNvSpPr txBox="1"/>
          <p:nvPr/>
        </p:nvSpPr>
        <p:spPr>
          <a:xfrm>
            <a:off x="457200" y="2468880"/>
            <a:ext cx="3621024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LISTENING · British design icons</a:t>
            </a:r>
            <a:endParaRPr lang="en-US" sz="1200" dirty="0"/>
          </a:p>
        </p:txBody>
      </p:sp>
      <p:sp>
        <p:nvSpPr>
          <p:cNvPr id="11" name="stamp_9"/>
          <p:cNvSpPr txBox="1"/>
          <p:nvPr/>
        </p:nvSpPr>
        <p:spPr>
          <a:xfrm>
            <a:off x="457200" y="2944368"/>
            <a:ext cx="2372868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My icons</a:t>
            </a:r>
            <a:endParaRPr lang="en-US" sz="1200" dirty="0"/>
          </a:p>
        </p:txBody>
      </p:sp>
      <p:sp>
        <p:nvSpPr>
          <p:cNvPr id="12" name="stamp_10"/>
          <p:cNvSpPr txBox="1"/>
          <p:nvPr/>
        </p:nvSpPr>
        <p:spPr>
          <a:xfrm>
            <a:off x="457200" y="3419856"/>
            <a:ext cx="3140964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compound nouns</a:t>
            </a:r>
            <a:endParaRPr lang="en-US" sz="1200" dirty="0"/>
          </a:p>
        </p:txBody>
      </p:sp>
      <p:sp>
        <p:nvSpPr>
          <p:cNvPr id="13" name="stamp_11"/>
          <p:cNvSpPr txBox="1"/>
          <p:nvPr/>
        </p:nvSpPr>
        <p:spPr>
          <a:xfrm>
            <a:off x="457200" y="3895344"/>
            <a:ext cx="3140964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F59E0B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PRONUNCIATION · word stress</a:t>
            </a:r>
            <a:endParaRPr lang="en-US" sz="1200" dirty="0"/>
          </a:p>
        </p:txBody>
      </p:sp>
      <p:sp>
        <p:nvSpPr>
          <p:cNvPr id="14" name="iconBack_12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13" descr="gi:GiRotaryPh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6" name="iconBack_14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7" name="icon_15" descr="gi:GiPengui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8" name="iconBack_16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A8E6B4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9" name="icon_17" descr="pi:PiLam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20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London phone boxes red?</a:t>
            </a:r>
            <a:endParaRPr lang="en-US" sz="1400" dirty="0"/>
          </a:p>
        </p:txBody>
      </p:sp>
      <p:sp>
        <p:nvSpPr>
          <p:cNvPr id="21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you can see them at a distance!</a:t>
            </a:r>
            <a:endParaRPr lang="en-US" sz="1300" dirty="0"/>
          </a:p>
        </p:txBody>
      </p:sp>
      <p:sp>
        <p:nvSpPr>
          <p:cNvPr id="22" name="tnote_18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10A part 1 · Relative clauses</a:t>
            </a:r>
            <a:endParaRPr lang="en-US" sz="900" dirty="0"/>
          </a:p>
        </p:txBody>
      </p:sp>
      <p:sp>
        <p:nvSpPr>
          <p:cNvPr id="6" name="timer_2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2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2</a:t>
            </a:r>
            <a:endParaRPr lang="en-US" sz="1000" dirty="0"/>
          </a:p>
        </p:txBody>
      </p:sp>
      <p:sp>
        <p:nvSpPr>
          <p:cNvPr id="8" name="title_24"/>
          <p:cNvSpPr txBox="1"/>
          <p:nvPr/>
        </p:nvSpPr>
        <p:spPr>
          <a:xfrm rot="90000">
            <a:off x="320040" y="676656"/>
            <a:ext cx="293522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Answers first!</a:t>
            </a:r>
            <a:endParaRPr lang="en-US" sz="1500" dirty="0"/>
          </a:p>
        </p:txBody>
      </p:sp>
      <p:sp>
        <p:nvSpPr>
          <p:cNvPr id="9" name="tape_25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26"/>
          <p:cNvSpPr/>
          <p:nvPr/>
        </p:nvSpPr>
        <p:spPr>
          <a:xfrm rot="-720000">
            <a:off x="2688336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2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2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3" name="signB_2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ANSWER. Make the question – with a relative clause!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Ecco la RISPOSTA. Fai la domanda – con una frase relativa!</a:t>
            </a:r>
            <a:endParaRPr lang="en-US" sz="1200" dirty="0"/>
          </a:p>
        </p:txBody>
      </p:sp>
      <p:sp>
        <p:nvSpPr>
          <p:cNvPr id="14" name="iconBack_30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31" descr="pi:PiQues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6" name="box_32"/>
          <p:cNvSpPr txBox="1"/>
          <p:nvPr/>
        </p:nvSpPr>
        <p:spPr>
          <a:xfrm>
            <a:off x="2788920" y="1371600"/>
            <a:ext cx="1810512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Zaha Hadid</a:t>
            </a:r>
            <a:endParaRPr lang="en-US" sz="1400" dirty="0"/>
          </a:p>
        </p:txBody>
      </p:sp>
      <p:sp>
        <p:nvSpPr>
          <p:cNvPr id="17" name="R1_a0"/>
          <p:cNvSpPr txBox="1"/>
          <p:nvPr/>
        </p:nvSpPr>
        <p:spPr>
          <a:xfrm>
            <a:off x="4654296" y="1408176"/>
            <a:ext cx="416966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was the architect whose Aquatic Centre was built for London 2012?</a:t>
            </a:r>
            <a:endParaRPr lang="en-US" sz="1000" dirty="0"/>
          </a:p>
        </p:txBody>
      </p:sp>
      <p:sp>
        <p:nvSpPr>
          <p:cNvPr id="18" name="box_33"/>
          <p:cNvSpPr txBox="1"/>
          <p:nvPr/>
        </p:nvSpPr>
        <p:spPr>
          <a:xfrm>
            <a:off x="2788920" y="1941576"/>
            <a:ext cx="1810512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Hydra</a:t>
            </a:r>
            <a:endParaRPr lang="en-US" sz="1400" dirty="0"/>
          </a:p>
        </p:txBody>
      </p:sp>
      <p:sp>
        <p:nvSpPr>
          <p:cNvPr id="19" name="R2_a1"/>
          <p:cNvSpPr txBox="1"/>
          <p:nvPr/>
        </p:nvSpPr>
        <p:spPr>
          <a:xfrm>
            <a:off x="4654296" y="1978152"/>
            <a:ext cx="416966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Greek island where Leonard Cohen lived with Marianne?</a:t>
            </a:r>
            <a:endParaRPr lang="en-US" sz="1000" dirty="0"/>
          </a:p>
        </p:txBody>
      </p:sp>
      <p:sp>
        <p:nvSpPr>
          <p:cNvPr id="20" name="box_34"/>
          <p:cNvSpPr txBox="1"/>
          <p:nvPr/>
        </p:nvSpPr>
        <p:spPr>
          <a:xfrm>
            <a:off x="2788920" y="2511552"/>
            <a:ext cx="1810512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Princess Leia</a:t>
            </a:r>
            <a:endParaRPr lang="en-US" sz="1400" dirty="0"/>
          </a:p>
        </p:txBody>
      </p:sp>
      <p:sp>
        <p:nvSpPr>
          <p:cNvPr id="21" name="R3_a2"/>
          <p:cNvSpPr txBox="1"/>
          <p:nvPr/>
        </p:nvSpPr>
        <p:spPr>
          <a:xfrm>
            <a:off x="4654296" y="2548128"/>
            <a:ext cx="416966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role which made Carrie Fisher famous?</a:t>
            </a:r>
            <a:endParaRPr lang="en-US" sz="1150" dirty="0"/>
          </a:p>
        </p:txBody>
      </p:sp>
      <p:sp>
        <p:nvSpPr>
          <p:cNvPr id="22" name="box_35"/>
          <p:cNvSpPr txBox="1"/>
          <p:nvPr/>
        </p:nvSpPr>
        <p:spPr>
          <a:xfrm>
            <a:off x="2788920" y="3081528"/>
            <a:ext cx="1810512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Blackstar</a:t>
            </a:r>
            <a:endParaRPr lang="en-US" sz="1400" dirty="0"/>
          </a:p>
        </p:txBody>
      </p:sp>
      <p:sp>
        <p:nvSpPr>
          <p:cNvPr id="23" name="R4_a3"/>
          <p:cNvSpPr txBox="1"/>
          <p:nvPr/>
        </p:nvSpPr>
        <p:spPr>
          <a:xfrm>
            <a:off x="4654296" y="3118104"/>
            <a:ext cx="416966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album which Bowie released two days before he died?</a:t>
            </a:r>
            <a:endParaRPr lang="en-US" sz="1050" dirty="0"/>
          </a:p>
        </p:txBody>
      </p:sp>
      <p:sp>
        <p:nvSpPr>
          <p:cNvPr id="24" name="box_36"/>
          <p:cNvSpPr txBox="1"/>
          <p:nvPr/>
        </p:nvSpPr>
        <p:spPr>
          <a:xfrm>
            <a:off x="2788920" y="3651504"/>
            <a:ext cx="1810512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Muhammad Ali</a:t>
            </a:r>
            <a:endParaRPr lang="en-US" sz="1400" dirty="0"/>
          </a:p>
        </p:txBody>
      </p:sp>
      <p:sp>
        <p:nvSpPr>
          <p:cNvPr id="25" name="R5_a4"/>
          <p:cNvSpPr txBox="1"/>
          <p:nvPr/>
        </p:nvSpPr>
        <p:spPr>
          <a:xfrm>
            <a:off x="4654296" y="3688080"/>
            <a:ext cx="416966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was the boxer who was nicknamed 'The Greatest'?</a:t>
            </a:r>
            <a:endParaRPr lang="en-US" sz="1150" dirty="0"/>
          </a:p>
        </p:txBody>
      </p:sp>
      <p:sp>
        <p:nvSpPr>
          <p:cNvPr id="26" name="box_37"/>
          <p:cNvSpPr txBox="1"/>
          <p:nvPr/>
        </p:nvSpPr>
        <p:spPr>
          <a:xfrm>
            <a:off x="2788920" y="4221480"/>
            <a:ext cx="1810512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The Name of the Rose</a:t>
            </a:r>
            <a:endParaRPr lang="en-US" sz="1100" dirty="0"/>
          </a:p>
        </p:txBody>
      </p:sp>
      <p:sp>
        <p:nvSpPr>
          <p:cNvPr id="27" name="R6_a5"/>
          <p:cNvSpPr txBox="1"/>
          <p:nvPr/>
        </p:nvSpPr>
        <p:spPr>
          <a:xfrm>
            <a:off x="4654296" y="4258056"/>
            <a:ext cx="416966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novel which made Umberto Eco an international star?</a:t>
            </a:r>
            <a:endParaRPr lang="en-US" sz="1050" dirty="0"/>
          </a:p>
        </p:txBody>
      </p:sp>
      <p:sp>
        <p:nvSpPr>
          <p:cNvPr id="28" name="pageTag_38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revision of 10A pp.96–97 · Grammar Bank 10A · Writing p.124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3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4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4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LISTENING · Prediction · audio 10.3</a:t>
            </a:r>
            <a:endParaRPr lang="en-US" sz="900" dirty="0"/>
          </a:p>
        </p:txBody>
      </p:sp>
      <p:sp>
        <p:nvSpPr>
          <p:cNvPr id="6" name="timer_4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4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2</a:t>
            </a:r>
            <a:endParaRPr lang="en-US" sz="1000" dirty="0"/>
          </a:p>
        </p:txBody>
      </p:sp>
      <p:sp>
        <p:nvSpPr>
          <p:cNvPr id="8" name="title_44"/>
          <p:cNvSpPr txBox="1"/>
          <p:nvPr/>
        </p:nvSpPr>
        <p:spPr>
          <a:xfrm rot="90000">
            <a:off x="320040" y="676656"/>
            <a:ext cx="2761488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Which decade?</a:t>
            </a:r>
            <a:endParaRPr lang="en-US" sz="1500" dirty="0"/>
          </a:p>
        </p:txBody>
      </p:sp>
      <p:sp>
        <p:nvSpPr>
          <p:cNvPr id="9" name="tape_45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46"/>
          <p:cNvSpPr/>
          <p:nvPr/>
        </p:nvSpPr>
        <p:spPr>
          <a:xfrm rot="-720000">
            <a:off x="2514600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4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4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ASCOLTA!</a:t>
            </a:r>
            <a:endParaRPr lang="en-US" sz="1500" dirty="0"/>
          </a:p>
        </p:txBody>
      </p:sp>
      <p:sp>
        <p:nvSpPr>
          <p:cNvPr id="13" name="signB_4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the decade of each design. Then listen and check.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Indovina il decennio di ogni oggetto. Poi ascolta e controlla.</a:t>
            </a:r>
            <a:endParaRPr lang="en-US" sz="1200" dirty="0"/>
          </a:p>
        </p:txBody>
      </p:sp>
      <p:sp>
        <p:nvSpPr>
          <p:cNvPr id="14" name="iconBack_50"/>
          <p:cNvSpPr/>
          <p:nvPr/>
        </p:nvSpPr>
        <p:spPr>
          <a:xfrm>
            <a:off x="2788920" y="137160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15" name="icon_51" descr="gi:GiRotaryPh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1463040"/>
            <a:ext cx="274320" cy="274320"/>
          </a:xfrm>
          <a:prstGeom prst="rect">
            <a:avLst/>
          </a:prstGeom>
        </p:spPr>
      </p:pic>
      <p:sp>
        <p:nvSpPr>
          <p:cNvPr id="16" name="box_52"/>
          <p:cNvSpPr txBox="1"/>
          <p:nvPr/>
        </p:nvSpPr>
        <p:spPr>
          <a:xfrm>
            <a:off x="3300984" y="1371600"/>
            <a:ext cx="2867558" cy="45720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the red phone box</a:t>
            </a:r>
            <a:endParaRPr lang="en-US" sz="1300" dirty="0"/>
          </a:p>
        </p:txBody>
      </p:sp>
      <p:sp>
        <p:nvSpPr>
          <p:cNvPr id="17" name="R1_m0"/>
          <p:cNvSpPr txBox="1"/>
          <p:nvPr/>
        </p:nvSpPr>
        <p:spPr>
          <a:xfrm>
            <a:off x="6241694" y="1389888"/>
            <a:ext cx="2582266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1920s (1924)</a:t>
            </a:r>
            <a:endParaRPr lang="en-US" sz="1300" dirty="0"/>
          </a:p>
        </p:txBody>
      </p:sp>
      <p:sp>
        <p:nvSpPr>
          <p:cNvPr id="18" name="iconBack_53"/>
          <p:cNvSpPr/>
          <p:nvPr/>
        </p:nvSpPr>
        <p:spPr>
          <a:xfrm>
            <a:off x="2788920" y="1901952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19" name="icon_54" descr="pi:PiLam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1993392"/>
            <a:ext cx="274320" cy="274320"/>
          </a:xfrm>
          <a:prstGeom prst="rect">
            <a:avLst/>
          </a:prstGeom>
        </p:spPr>
      </p:pic>
      <p:sp>
        <p:nvSpPr>
          <p:cNvPr id="20" name="box_55"/>
          <p:cNvSpPr txBox="1"/>
          <p:nvPr/>
        </p:nvSpPr>
        <p:spPr>
          <a:xfrm>
            <a:off x="3300984" y="1901952"/>
            <a:ext cx="2867558" cy="45720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the Anglepoise lamp</a:t>
            </a:r>
            <a:endParaRPr lang="en-US" sz="1300" dirty="0"/>
          </a:p>
        </p:txBody>
      </p:sp>
      <p:sp>
        <p:nvSpPr>
          <p:cNvPr id="21" name="R1_m1"/>
          <p:cNvSpPr txBox="1"/>
          <p:nvPr/>
        </p:nvSpPr>
        <p:spPr>
          <a:xfrm>
            <a:off x="6241694" y="1920240"/>
            <a:ext cx="2582266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1930s (1935)</a:t>
            </a:r>
            <a:endParaRPr lang="en-US" sz="1300" dirty="0"/>
          </a:p>
        </p:txBody>
      </p:sp>
      <p:sp>
        <p:nvSpPr>
          <p:cNvPr id="22" name="iconBack_56"/>
          <p:cNvSpPr/>
          <p:nvPr/>
        </p:nvSpPr>
        <p:spPr>
          <a:xfrm>
            <a:off x="2788920" y="2432304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23" name="icon_57" descr="gi:GiPengui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2523744"/>
            <a:ext cx="274320" cy="274320"/>
          </a:xfrm>
          <a:prstGeom prst="rect">
            <a:avLst/>
          </a:prstGeom>
        </p:spPr>
      </p:pic>
      <p:sp>
        <p:nvSpPr>
          <p:cNvPr id="24" name="box_58"/>
          <p:cNvSpPr txBox="1"/>
          <p:nvPr/>
        </p:nvSpPr>
        <p:spPr>
          <a:xfrm>
            <a:off x="3300984" y="2432304"/>
            <a:ext cx="2867558" cy="45720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 Penguin book covers</a:t>
            </a:r>
            <a:endParaRPr lang="en-US" sz="1300" dirty="0"/>
          </a:p>
        </p:txBody>
      </p:sp>
      <p:sp>
        <p:nvSpPr>
          <p:cNvPr id="25" name="R1_m2"/>
          <p:cNvSpPr txBox="1"/>
          <p:nvPr/>
        </p:nvSpPr>
        <p:spPr>
          <a:xfrm>
            <a:off x="6241694" y="2450592"/>
            <a:ext cx="2582266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1940s (1946)</a:t>
            </a:r>
            <a:endParaRPr lang="en-US" sz="1300" dirty="0"/>
          </a:p>
        </p:txBody>
      </p:sp>
      <p:sp>
        <p:nvSpPr>
          <p:cNvPr id="26" name="iconBack_59"/>
          <p:cNvSpPr/>
          <p:nvPr/>
        </p:nvSpPr>
        <p:spPr>
          <a:xfrm>
            <a:off x="2788920" y="296265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27" name="icon_60" descr="gi:GiSkir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0360" y="3054096"/>
            <a:ext cx="274320" cy="274320"/>
          </a:xfrm>
          <a:prstGeom prst="rect">
            <a:avLst/>
          </a:prstGeom>
        </p:spPr>
      </p:pic>
      <p:sp>
        <p:nvSpPr>
          <p:cNvPr id="28" name="box_61"/>
          <p:cNvSpPr txBox="1"/>
          <p:nvPr/>
        </p:nvSpPr>
        <p:spPr>
          <a:xfrm>
            <a:off x="3300984" y="2962656"/>
            <a:ext cx="2867558" cy="45720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the miniskirt</a:t>
            </a:r>
            <a:endParaRPr lang="en-US" sz="1300" dirty="0"/>
          </a:p>
        </p:txBody>
      </p:sp>
      <p:sp>
        <p:nvSpPr>
          <p:cNvPr id="29" name="R1_m3"/>
          <p:cNvSpPr txBox="1"/>
          <p:nvPr/>
        </p:nvSpPr>
        <p:spPr>
          <a:xfrm>
            <a:off x="6241694" y="2980944"/>
            <a:ext cx="2582266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1960s (1966)</a:t>
            </a:r>
            <a:endParaRPr lang="en-US" sz="1300" dirty="0"/>
          </a:p>
        </p:txBody>
      </p:sp>
      <p:sp>
        <p:nvSpPr>
          <p:cNvPr id="30" name="pageTag_62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p.98 · 5a · audio 10.3</a:t>
            </a:r>
            <a:endParaRPr lang="en-US" sz="1050" dirty="0"/>
          </a:p>
        </p:txBody>
      </p:sp>
      <p:sp>
        <p:nvSpPr>
          <p:cNvPr id="31" name="pframe_63"/>
          <p:cNvSpPr/>
          <p:nvPr/>
        </p:nvSpPr>
        <p:spPr>
          <a:xfrm rot="-120000">
            <a:off x="457200" y="3108960"/>
            <a:ext cx="1737360" cy="1655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32" name="pimg_64" descr="pictur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 rot="-120000">
            <a:off x="530352" y="3182112"/>
            <a:ext cx="1591056" cy="1435608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6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6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6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LISTENING · Listening for facts · audio 10.4</a:t>
            </a:r>
            <a:endParaRPr lang="en-US" sz="900" dirty="0"/>
          </a:p>
        </p:txBody>
      </p:sp>
      <p:sp>
        <p:nvSpPr>
          <p:cNvPr id="6" name="timer_6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9 min</a:t>
            </a:r>
            <a:endParaRPr lang="en-US" sz="1200" dirty="0"/>
          </a:p>
        </p:txBody>
      </p:sp>
      <p:sp>
        <p:nvSpPr>
          <p:cNvPr id="7" name="footer_6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2</a:t>
            </a:r>
            <a:endParaRPr lang="en-US" sz="1000" dirty="0"/>
          </a:p>
        </p:txBody>
      </p:sp>
      <p:sp>
        <p:nvSpPr>
          <p:cNvPr id="8" name="title_70"/>
          <p:cNvSpPr txBox="1"/>
          <p:nvPr/>
        </p:nvSpPr>
        <p:spPr>
          <a:xfrm rot="90000">
            <a:off x="320040" y="676656"/>
            <a:ext cx="397764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British design icons</a:t>
            </a:r>
            <a:endParaRPr lang="en-US" sz="1500" dirty="0"/>
          </a:p>
        </p:txBody>
      </p:sp>
      <p:sp>
        <p:nvSpPr>
          <p:cNvPr id="9" name="tape_71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72"/>
          <p:cNvSpPr/>
          <p:nvPr/>
        </p:nvSpPr>
        <p:spPr>
          <a:xfrm rot="-720000">
            <a:off x="3730752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7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7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ASCOLTA!</a:t>
            </a:r>
            <a:endParaRPr lang="en-US" sz="1500" dirty="0"/>
          </a:p>
        </p:txBody>
      </p:sp>
      <p:sp>
        <p:nvSpPr>
          <p:cNvPr id="13" name="signB_7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the audio guide and make notes. Then answer!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Ascolta l'audioguida e prendi appunti. Poi rispondi!</a:t>
            </a:r>
            <a:endParaRPr lang="en-US" sz="1200" dirty="0"/>
          </a:p>
        </p:txBody>
      </p:sp>
      <p:sp>
        <p:nvSpPr>
          <p:cNvPr id="14" name="tr_76"/>
          <p:cNvSpPr txBox="1"/>
          <p:nvPr/>
        </p:nvSpPr>
        <p:spPr>
          <a:xfrm>
            <a:off x="2788920" y="1371600"/>
            <a:ext cx="1417320" cy="548640"/>
          </a:xfrm>
          <a:prstGeom prst="roundRect">
            <a:avLst>
              <a:gd name="adj" fmla="val 16667"/>
            </a:avLst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🎧 10.4</a:t>
            </a:r>
            <a:endParaRPr lang="en-US" sz="1400" dirty="0"/>
          </a:p>
        </p:txBody>
      </p:sp>
      <p:sp>
        <p:nvSpPr>
          <p:cNvPr id="15" name="box_77"/>
          <p:cNvSpPr txBox="1"/>
          <p:nvPr/>
        </p:nvSpPr>
        <p:spPr>
          <a:xfrm>
            <a:off x="2788920" y="2103120"/>
            <a:ext cx="3138221" cy="3657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Phone box: who designed it?</a:t>
            </a:r>
            <a:endParaRPr lang="en-US" sz="1200" dirty="0"/>
          </a:p>
        </p:txBody>
      </p:sp>
      <p:sp>
        <p:nvSpPr>
          <p:cNvPr id="16" name="R1_la0"/>
          <p:cNvSpPr txBox="1"/>
          <p:nvPr/>
        </p:nvSpPr>
        <p:spPr>
          <a:xfrm>
            <a:off x="5982005" y="2130552"/>
            <a:ext cx="2841955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 Giles Gilbert Scott</a:t>
            </a:r>
            <a:endParaRPr lang="en-US" sz="1050" dirty="0"/>
          </a:p>
        </p:txBody>
      </p:sp>
      <p:sp>
        <p:nvSpPr>
          <p:cNvPr id="17" name="box_78"/>
          <p:cNvSpPr txBox="1"/>
          <p:nvPr/>
        </p:nvSpPr>
        <p:spPr>
          <a:xfrm>
            <a:off x="2788920" y="2542032"/>
            <a:ext cx="3138221" cy="3657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Why red?</a:t>
            </a:r>
            <a:endParaRPr lang="en-US" sz="1200" dirty="0"/>
          </a:p>
        </p:txBody>
      </p:sp>
      <p:sp>
        <p:nvSpPr>
          <p:cNvPr id="18" name="R1_la1"/>
          <p:cNvSpPr txBox="1"/>
          <p:nvPr/>
        </p:nvSpPr>
        <p:spPr>
          <a:xfrm>
            <a:off x="5982005" y="2569464"/>
            <a:ext cx="2841955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easy to see at a distance</a:t>
            </a:r>
            <a:endParaRPr lang="en-US" sz="1050" dirty="0"/>
          </a:p>
        </p:txBody>
      </p:sp>
      <p:sp>
        <p:nvSpPr>
          <p:cNvPr id="19" name="box_79"/>
          <p:cNvSpPr txBox="1"/>
          <p:nvPr/>
        </p:nvSpPr>
        <p:spPr>
          <a:xfrm>
            <a:off x="2788920" y="2980944"/>
            <a:ext cx="3138221" cy="3657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Anglepoise: Carwardine's job?</a:t>
            </a:r>
            <a:endParaRPr lang="en-US" sz="1200" dirty="0"/>
          </a:p>
        </p:txBody>
      </p:sp>
      <p:sp>
        <p:nvSpPr>
          <p:cNvPr id="20" name="R1_la2"/>
          <p:cNvSpPr txBox="1"/>
          <p:nvPr/>
        </p:nvSpPr>
        <p:spPr>
          <a:xfrm>
            <a:off x="5982005" y="3008376"/>
            <a:ext cx="2841955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– car suspension systems</a:t>
            </a:r>
            <a:endParaRPr lang="en-US" sz="1050" dirty="0"/>
          </a:p>
        </p:txBody>
      </p:sp>
      <p:sp>
        <p:nvSpPr>
          <p:cNvPr id="21" name="box_80"/>
          <p:cNvSpPr txBox="1"/>
          <p:nvPr/>
        </p:nvSpPr>
        <p:spPr>
          <a:xfrm>
            <a:off x="2788920" y="3419856"/>
            <a:ext cx="3138221" cy="3657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Penguin: whose idea was the penguin?</a:t>
            </a:r>
            <a:endParaRPr lang="en-US" sz="1200" dirty="0"/>
          </a:p>
        </p:txBody>
      </p:sp>
      <p:sp>
        <p:nvSpPr>
          <p:cNvPr id="22" name="R1_la3"/>
          <p:cNvSpPr txBox="1"/>
          <p:nvPr/>
        </p:nvSpPr>
        <p:spPr>
          <a:xfrm>
            <a:off x="5982005" y="3447288"/>
            <a:ext cx="2841955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 Lane's secretary</a:t>
            </a:r>
            <a:endParaRPr lang="en-US" sz="1050" dirty="0"/>
          </a:p>
        </p:txBody>
      </p:sp>
      <p:sp>
        <p:nvSpPr>
          <p:cNvPr id="23" name="box_81"/>
          <p:cNvSpPr txBox="1"/>
          <p:nvPr/>
        </p:nvSpPr>
        <p:spPr>
          <a:xfrm>
            <a:off x="2788920" y="3858768"/>
            <a:ext cx="3138221" cy="3657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Penguin colours?</a:t>
            </a:r>
            <a:endParaRPr lang="en-US" sz="1200" dirty="0"/>
          </a:p>
        </p:txBody>
      </p:sp>
      <p:sp>
        <p:nvSpPr>
          <p:cNvPr id="24" name="R1_la4"/>
          <p:cNvSpPr txBox="1"/>
          <p:nvPr/>
        </p:nvSpPr>
        <p:spPr>
          <a:xfrm>
            <a:off x="5982005" y="3886200"/>
            <a:ext cx="2841955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fiction · blue biography · green crime</a:t>
            </a:r>
            <a:endParaRPr lang="en-US" sz="1050" dirty="0"/>
          </a:p>
        </p:txBody>
      </p:sp>
      <p:sp>
        <p:nvSpPr>
          <p:cNvPr id="25" name="box_82"/>
          <p:cNvSpPr txBox="1"/>
          <p:nvPr/>
        </p:nvSpPr>
        <p:spPr>
          <a:xfrm>
            <a:off x="2788920" y="4297680"/>
            <a:ext cx="3138221" cy="3657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The miniskirt was named after…?</a:t>
            </a:r>
            <a:endParaRPr lang="en-US" sz="1200" dirty="0"/>
          </a:p>
        </p:txBody>
      </p:sp>
      <p:sp>
        <p:nvSpPr>
          <p:cNvPr id="26" name="R1_la5"/>
          <p:cNvSpPr txBox="1"/>
          <p:nvPr/>
        </p:nvSpPr>
        <p:spPr>
          <a:xfrm>
            <a:off x="5982005" y="4325112"/>
            <a:ext cx="2841955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 Quant's favourite car, the Mini</a:t>
            </a:r>
            <a:endParaRPr lang="en-US" sz="1050" dirty="0"/>
          </a:p>
        </p:txBody>
      </p:sp>
      <p:sp>
        <p:nvSpPr>
          <p:cNvPr id="27" name="pageTag_83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p.98 · 5b, 5c, 5d, 5e · audio 10.4</a:t>
            </a:r>
            <a:endParaRPr lang="en-US" sz="1050" dirty="0"/>
          </a:p>
        </p:txBody>
      </p:sp>
      <p:sp>
        <p:nvSpPr>
          <p:cNvPr id="28" name="pframe_84"/>
          <p:cNvSpPr/>
          <p:nvPr/>
        </p:nvSpPr>
        <p:spPr>
          <a:xfrm rot="-180000">
            <a:off x="365760" y="3127248"/>
            <a:ext cx="1097280" cy="160934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9" name="pimg_85" descr="pictur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-180000">
            <a:off x="438912" y="3200400"/>
            <a:ext cx="950976" cy="1389888"/>
          </a:xfrm>
          <a:prstGeom prst="rect">
            <a:avLst/>
          </a:prstGeom>
        </p:spPr>
      </p:pic>
      <p:sp>
        <p:nvSpPr>
          <p:cNvPr id="30" name="pframe_86"/>
          <p:cNvSpPr/>
          <p:nvPr/>
        </p:nvSpPr>
        <p:spPr>
          <a:xfrm rot="180000">
            <a:off x="1417320" y="3200400"/>
            <a:ext cx="1097280" cy="151790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31" name="pimg_87" descr="pictur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 rot="180000">
            <a:off x="1490472" y="3273552"/>
            <a:ext cx="950976" cy="1298448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8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8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9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LISTENING · Memory challenge</a:t>
            </a:r>
            <a:endParaRPr lang="en-US" sz="900" dirty="0"/>
          </a:p>
        </p:txBody>
      </p:sp>
      <p:sp>
        <p:nvSpPr>
          <p:cNvPr id="6" name="timer_9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9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2</a:t>
            </a:r>
            <a:endParaRPr lang="en-US" sz="1000" dirty="0"/>
          </a:p>
        </p:txBody>
      </p:sp>
      <p:sp>
        <p:nvSpPr>
          <p:cNvPr id="8" name="title_93"/>
          <p:cNvSpPr txBox="1"/>
          <p:nvPr/>
        </p:nvSpPr>
        <p:spPr>
          <a:xfrm rot="90000">
            <a:off x="320040" y="676656"/>
            <a:ext cx="3630168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 they mean?</a:t>
            </a:r>
            <a:endParaRPr lang="en-US" sz="1500" dirty="0"/>
          </a:p>
        </p:txBody>
      </p:sp>
      <p:sp>
        <p:nvSpPr>
          <p:cNvPr id="9" name="tape_94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95"/>
          <p:cNvSpPr/>
          <p:nvPr/>
        </p:nvSpPr>
        <p:spPr>
          <a:xfrm rot="-720000">
            <a:off x="3383280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9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9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B45309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REMEMBER!</a:t>
            </a:r>
            <a:pPr indent="0" marL="0">
              <a:buNone/>
            </a:pPr>
            <a:r>
              <a:rPr lang="en-US" sz="9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RICORDA!</a:t>
            </a:r>
            <a:endParaRPr lang="en-US" sz="1500" dirty="0"/>
          </a:p>
        </p:txBody>
      </p:sp>
      <p:sp>
        <p:nvSpPr>
          <p:cNvPr id="13" name="signB_9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covered! What do these numbers and words mean?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Appunti coperti! Cosa significano questi numeri e parole?</a:t>
            </a:r>
            <a:endParaRPr lang="en-US" sz="1200" dirty="0"/>
          </a:p>
        </p:txBody>
      </p:sp>
      <p:sp>
        <p:nvSpPr>
          <p:cNvPr id="14" name="box_99"/>
          <p:cNvSpPr txBox="1"/>
          <p:nvPr/>
        </p:nvSpPr>
        <p:spPr>
          <a:xfrm>
            <a:off x="2788920" y="1371600"/>
            <a:ext cx="1181405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1  1926</a:t>
            </a:r>
            <a:endParaRPr lang="en-US" sz="1300" dirty="0"/>
          </a:p>
        </p:txBody>
      </p:sp>
      <p:sp>
        <p:nvSpPr>
          <p:cNvPr id="15" name="R1_a0"/>
          <p:cNvSpPr txBox="1"/>
          <p:nvPr/>
        </p:nvSpPr>
        <p:spPr>
          <a:xfrm>
            <a:off x="4025189" y="1408176"/>
            <a:ext cx="1717243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red phone box in London</a:t>
            </a:r>
            <a:endParaRPr lang="en-US" sz="1050" dirty="0"/>
          </a:p>
        </p:txBody>
      </p:sp>
      <p:sp>
        <p:nvSpPr>
          <p:cNvPr id="16" name="box_100"/>
          <p:cNvSpPr txBox="1"/>
          <p:nvPr/>
        </p:nvSpPr>
        <p:spPr>
          <a:xfrm>
            <a:off x="5870448" y="1371600"/>
            <a:ext cx="1181405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silver and blue</a:t>
            </a:r>
            <a:endParaRPr lang="en-US" sz="1300" dirty="0"/>
          </a:p>
        </p:txBody>
      </p:sp>
      <p:sp>
        <p:nvSpPr>
          <p:cNvPr id="17" name="R2_a1"/>
          <p:cNvSpPr txBox="1"/>
          <p:nvPr/>
        </p:nvSpPr>
        <p:spPr>
          <a:xfrm>
            <a:off x="7106717" y="1408176"/>
            <a:ext cx="1717243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Scott's first idea for the phone box</a:t>
            </a:r>
            <a:endParaRPr lang="en-US" sz="1050" dirty="0"/>
          </a:p>
        </p:txBody>
      </p:sp>
      <p:sp>
        <p:nvSpPr>
          <p:cNvPr id="18" name="box_101"/>
          <p:cNvSpPr txBox="1"/>
          <p:nvPr/>
        </p:nvSpPr>
        <p:spPr>
          <a:xfrm>
            <a:off x="2788920" y="2368296"/>
            <a:ext cx="1181405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3  1227</a:t>
            </a:r>
            <a:endParaRPr lang="en-US" sz="1300" dirty="0"/>
          </a:p>
        </p:txBody>
      </p:sp>
      <p:sp>
        <p:nvSpPr>
          <p:cNvPr id="19" name="R3_a2"/>
          <p:cNvSpPr txBox="1"/>
          <p:nvPr/>
        </p:nvSpPr>
        <p:spPr>
          <a:xfrm>
            <a:off x="4025189" y="2404872"/>
            <a:ext cx="1717243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Anglepoise model still made today</a:t>
            </a:r>
            <a:endParaRPr lang="en-US" sz="1050" dirty="0"/>
          </a:p>
        </p:txBody>
      </p:sp>
      <p:sp>
        <p:nvSpPr>
          <p:cNvPr id="20" name="box_102"/>
          <p:cNvSpPr txBox="1"/>
          <p:nvPr/>
        </p:nvSpPr>
        <p:spPr>
          <a:xfrm>
            <a:off x="5870448" y="2368296"/>
            <a:ext cx="1181405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the human arm</a:t>
            </a:r>
            <a:endParaRPr lang="en-US" sz="1300" dirty="0"/>
          </a:p>
        </p:txBody>
      </p:sp>
      <p:sp>
        <p:nvSpPr>
          <p:cNvPr id="21" name="R4_a3"/>
          <p:cNvSpPr txBox="1"/>
          <p:nvPr/>
        </p:nvSpPr>
        <p:spPr>
          <a:xfrm>
            <a:off x="7106717" y="2404872"/>
            <a:ext cx="1717243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the Anglepoise lamp</a:t>
            </a:r>
            <a:endParaRPr lang="en-US" sz="1050" dirty="0"/>
          </a:p>
        </p:txBody>
      </p:sp>
      <p:sp>
        <p:nvSpPr>
          <p:cNvPr id="22" name="box_103"/>
          <p:cNvSpPr txBox="1"/>
          <p:nvPr/>
        </p:nvSpPr>
        <p:spPr>
          <a:xfrm>
            <a:off x="2788920" y="3364992"/>
            <a:ext cx="1181405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London Zoo</a:t>
            </a:r>
            <a:endParaRPr lang="en-US" sz="1300" dirty="0"/>
          </a:p>
        </p:txBody>
      </p:sp>
      <p:sp>
        <p:nvSpPr>
          <p:cNvPr id="23" name="R5_a4"/>
          <p:cNvSpPr txBox="1"/>
          <p:nvPr/>
        </p:nvSpPr>
        <p:spPr>
          <a:xfrm>
            <a:off x="4025189" y="3401568"/>
            <a:ext cx="1717243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Edward Young drew penguins there</a:t>
            </a:r>
            <a:endParaRPr lang="en-US" sz="1050" dirty="0"/>
          </a:p>
        </p:txBody>
      </p:sp>
      <p:sp>
        <p:nvSpPr>
          <p:cNvPr id="24" name="box_104"/>
          <p:cNvSpPr txBox="1"/>
          <p:nvPr/>
        </p:nvSpPr>
        <p:spPr>
          <a:xfrm>
            <a:off x="5870448" y="3364992"/>
            <a:ext cx="1181405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'just awful'</a:t>
            </a:r>
            <a:endParaRPr lang="en-US" sz="1300" dirty="0"/>
          </a:p>
        </p:txBody>
      </p:sp>
      <p:sp>
        <p:nvSpPr>
          <p:cNvPr id="25" name="R6_a5"/>
          <p:cNvSpPr txBox="1"/>
          <p:nvPr/>
        </p:nvSpPr>
        <p:spPr>
          <a:xfrm>
            <a:off x="7106717" y="3401568"/>
            <a:ext cx="1717243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Chanel about the miniskirt</a:t>
            </a:r>
            <a:endParaRPr lang="en-US" sz="1050" dirty="0"/>
          </a:p>
        </p:txBody>
      </p:sp>
      <p:sp>
        <p:nvSpPr>
          <p:cNvPr id="26" name="pageTag_105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p.98 · 5d · audio script 10.4 (p.131)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0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0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0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Perspective change</a:t>
            </a:r>
            <a:endParaRPr lang="en-US" sz="900" dirty="0"/>
          </a:p>
        </p:txBody>
      </p:sp>
      <p:sp>
        <p:nvSpPr>
          <p:cNvPr id="6" name="timer_10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11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2</a:t>
            </a:r>
            <a:endParaRPr lang="en-US" sz="1000" dirty="0"/>
          </a:p>
        </p:txBody>
      </p:sp>
      <p:sp>
        <p:nvSpPr>
          <p:cNvPr id="8" name="title_111"/>
          <p:cNvSpPr txBox="1"/>
          <p:nvPr/>
        </p:nvSpPr>
        <p:spPr>
          <a:xfrm rot="90000">
            <a:off x="320040" y="676656"/>
            <a:ext cx="502005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greatest Italian icon?</a:t>
            </a:r>
            <a:endParaRPr lang="en-US" sz="1500" dirty="0"/>
          </a:p>
        </p:txBody>
      </p:sp>
      <p:sp>
        <p:nvSpPr>
          <p:cNvPr id="9" name="tape_112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113"/>
          <p:cNvSpPr/>
          <p:nvPr/>
        </p:nvSpPr>
        <p:spPr>
          <a:xfrm rot="-720000">
            <a:off x="4773168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11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1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3" name="signB_11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these Italian design icons. Defend your number 1!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Metti in ordine queste icone del design italiano. Difendi il tuo numero 1!</a:t>
            </a:r>
            <a:endParaRPr lang="en-US" sz="1200" dirty="0"/>
          </a:p>
        </p:txBody>
      </p:sp>
      <p:sp>
        <p:nvSpPr>
          <p:cNvPr id="14" name="rt_117"/>
          <p:cNvSpPr txBox="1"/>
          <p:nvPr/>
        </p:nvSpPr>
        <p:spPr>
          <a:xfrm>
            <a:off x="2788920" y="1325880"/>
            <a:ext cx="1828800" cy="365760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GREATEST</a:t>
            </a:r>
            <a:endParaRPr lang="en-US" sz="1100" dirty="0"/>
          </a:p>
        </p:txBody>
      </p:sp>
      <p:sp>
        <p:nvSpPr>
          <p:cNvPr id="15" name="rb_118"/>
          <p:cNvSpPr txBox="1"/>
          <p:nvPr/>
        </p:nvSpPr>
        <p:spPr>
          <a:xfrm>
            <a:off x="2788920" y="4297680"/>
            <a:ext cx="1828800" cy="365760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OVERRATED</a:t>
            </a:r>
            <a:endParaRPr lang="en-US" sz="1100" dirty="0"/>
          </a:p>
        </p:txBody>
      </p:sp>
      <p:sp>
        <p:nvSpPr>
          <p:cNvPr id="16" name="arrow_119"/>
          <p:cNvSpPr/>
          <p:nvPr/>
        </p:nvSpPr>
        <p:spPr>
          <a:xfrm>
            <a:off x="3474720" y="1783080"/>
            <a:ext cx="457200" cy="2423160"/>
          </a:xfrm>
          <a:prstGeom prst="upArrow">
            <a:avLst/>
          </a:prstGeom>
          <a:solidFill>
            <a:srgbClr val="A8E6B4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7" name="slot_120"/>
          <p:cNvSpPr txBox="1"/>
          <p:nvPr/>
        </p:nvSpPr>
        <p:spPr>
          <a:xfrm>
            <a:off x="4800600" y="13258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18" name="ri_121" descr="the Vesp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360170"/>
            <a:ext cx="411480" cy="411480"/>
          </a:xfrm>
          <a:prstGeom prst="rect">
            <a:avLst/>
          </a:prstGeom>
        </p:spPr>
      </p:pic>
      <p:sp>
        <p:nvSpPr>
          <p:cNvPr id="19" name="box_122"/>
          <p:cNvSpPr txBox="1"/>
          <p:nvPr/>
        </p:nvSpPr>
        <p:spPr>
          <a:xfrm>
            <a:off x="5788152" y="1325880"/>
            <a:ext cx="3035808" cy="4800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Vespa</a:t>
            </a:r>
            <a:endParaRPr lang="en-US" sz="1300" dirty="0"/>
          </a:p>
        </p:txBody>
      </p:sp>
      <p:sp>
        <p:nvSpPr>
          <p:cNvPr id="20" name="slot_123"/>
          <p:cNvSpPr txBox="1"/>
          <p:nvPr/>
        </p:nvSpPr>
        <p:spPr>
          <a:xfrm>
            <a:off x="4800600" y="18973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1" name="ri_124" descr="the Moka coffee p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931670"/>
            <a:ext cx="411480" cy="411480"/>
          </a:xfrm>
          <a:prstGeom prst="rect">
            <a:avLst/>
          </a:prstGeom>
        </p:spPr>
      </p:pic>
      <p:sp>
        <p:nvSpPr>
          <p:cNvPr id="22" name="box_125"/>
          <p:cNvSpPr txBox="1"/>
          <p:nvPr/>
        </p:nvSpPr>
        <p:spPr>
          <a:xfrm>
            <a:off x="5788152" y="1897380"/>
            <a:ext cx="3035808" cy="4800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Moka coffee pot</a:t>
            </a:r>
            <a:endParaRPr lang="en-US" sz="1300" dirty="0"/>
          </a:p>
        </p:txBody>
      </p:sp>
      <p:sp>
        <p:nvSpPr>
          <p:cNvPr id="23" name="slot_126"/>
          <p:cNvSpPr txBox="1"/>
          <p:nvPr/>
        </p:nvSpPr>
        <p:spPr>
          <a:xfrm>
            <a:off x="4800600" y="24688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4" name="ri_127" descr="the Fiat 500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503170"/>
            <a:ext cx="411480" cy="411480"/>
          </a:xfrm>
          <a:prstGeom prst="rect">
            <a:avLst/>
          </a:prstGeom>
        </p:spPr>
      </p:pic>
      <p:sp>
        <p:nvSpPr>
          <p:cNvPr id="25" name="box_128"/>
          <p:cNvSpPr txBox="1"/>
          <p:nvPr/>
        </p:nvSpPr>
        <p:spPr>
          <a:xfrm>
            <a:off x="5788152" y="2468880"/>
            <a:ext cx="3035808" cy="4800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Fiat 500</a:t>
            </a:r>
            <a:endParaRPr lang="en-US" sz="1300" dirty="0"/>
          </a:p>
        </p:txBody>
      </p:sp>
      <p:sp>
        <p:nvSpPr>
          <p:cNvPr id="26" name="slot_129"/>
          <p:cNvSpPr txBox="1"/>
          <p:nvPr/>
        </p:nvSpPr>
        <p:spPr>
          <a:xfrm>
            <a:off x="4800600" y="30403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7" name="ri_130" descr="the Nutella ja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3074670"/>
            <a:ext cx="411480" cy="411480"/>
          </a:xfrm>
          <a:prstGeom prst="rect">
            <a:avLst/>
          </a:prstGeom>
        </p:spPr>
      </p:pic>
      <p:sp>
        <p:nvSpPr>
          <p:cNvPr id="28" name="box_131"/>
          <p:cNvSpPr txBox="1"/>
          <p:nvPr/>
        </p:nvSpPr>
        <p:spPr>
          <a:xfrm>
            <a:off x="5788152" y="3040380"/>
            <a:ext cx="3035808" cy="4800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Nutella jar</a:t>
            </a:r>
            <a:endParaRPr lang="en-US" sz="1300" dirty="0"/>
          </a:p>
        </p:txBody>
      </p:sp>
      <p:sp>
        <p:nvSpPr>
          <p:cNvPr id="29" name="slot_132"/>
          <p:cNvSpPr txBox="1"/>
          <p:nvPr/>
        </p:nvSpPr>
        <p:spPr>
          <a:xfrm>
            <a:off x="4800600" y="36118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30" name="ri_133" descr="the Olivetti typewrit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3646170"/>
            <a:ext cx="411480" cy="411480"/>
          </a:xfrm>
          <a:prstGeom prst="rect">
            <a:avLst/>
          </a:prstGeom>
        </p:spPr>
      </p:pic>
      <p:sp>
        <p:nvSpPr>
          <p:cNvPr id="31" name="box_134"/>
          <p:cNvSpPr txBox="1"/>
          <p:nvPr/>
        </p:nvSpPr>
        <p:spPr>
          <a:xfrm>
            <a:off x="5788152" y="3611880"/>
            <a:ext cx="3035808" cy="4800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Olivetti typewriter</a:t>
            </a:r>
            <a:endParaRPr lang="en-US" sz="1300" dirty="0"/>
          </a:p>
        </p:txBody>
      </p:sp>
      <p:sp>
        <p:nvSpPr>
          <p:cNvPr id="32" name="slot_135"/>
          <p:cNvSpPr txBox="1"/>
          <p:nvPr/>
        </p:nvSpPr>
        <p:spPr>
          <a:xfrm>
            <a:off x="4800600" y="41833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33" name="ri_136" descr="Ferrari red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4217670"/>
            <a:ext cx="411480" cy="411480"/>
          </a:xfrm>
          <a:prstGeom prst="rect">
            <a:avLst/>
          </a:prstGeom>
        </p:spPr>
      </p:pic>
      <p:sp>
        <p:nvSpPr>
          <p:cNvPr id="34" name="box_137"/>
          <p:cNvSpPr txBox="1"/>
          <p:nvPr/>
        </p:nvSpPr>
        <p:spPr>
          <a:xfrm>
            <a:off x="5788152" y="4183380"/>
            <a:ext cx="3035808" cy="4800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Ferrari red</a:t>
            </a:r>
            <a:endParaRPr lang="en-US" sz="1300" dirty="0"/>
          </a:p>
        </p:txBody>
      </p:sp>
      <p:sp>
        <p:nvSpPr>
          <p:cNvPr id="35" name="pageTag_138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p.98 · 5e (extended)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3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4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4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My icons · 6a, 6b</a:t>
            </a:r>
            <a:endParaRPr lang="en-US" sz="900" dirty="0"/>
          </a:p>
        </p:txBody>
      </p:sp>
      <p:sp>
        <p:nvSpPr>
          <p:cNvPr id="6" name="timer_14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7" name="footer_14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2</a:t>
            </a:r>
            <a:endParaRPr lang="en-US" sz="1000" dirty="0"/>
          </a:p>
        </p:txBody>
      </p:sp>
      <p:sp>
        <p:nvSpPr>
          <p:cNvPr id="8" name="title_144"/>
          <p:cNvSpPr txBox="1"/>
          <p:nvPr/>
        </p:nvSpPr>
        <p:spPr>
          <a:xfrm rot="90000">
            <a:off x="320040" y="676656"/>
            <a:ext cx="380390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are YOUR icons?</a:t>
            </a:r>
            <a:endParaRPr lang="en-US" sz="1500" dirty="0"/>
          </a:p>
        </p:txBody>
      </p:sp>
      <p:sp>
        <p:nvSpPr>
          <p:cNvPr id="9" name="tape_145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146"/>
          <p:cNvSpPr/>
          <p:nvPr/>
        </p:nvSpPr>
        <p:spPr>
          <a:xfrm rot="-720000">
            <a:off x="3557016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14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4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3" name="signB_14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name or thing for as many as you can. Then tell your group why!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Scrivi un nome o una cosa per più categorie possibili. Poi spiega al gruppo perché!</a:t>
            </a:r>
            <a:endParaRPr lang="en-US" sz="1000" dirty="0"/>
          </a:p>
        </p:txBody>
      </p:sp>
      <p:sp>
        <p:nvSpPr>
          <p:cNvPr id="14" name="iconBack_150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151" descr="pi:Pi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6" name="box_152"/>
          <p:cNvSpPr txBox="1"/>
          <p:nvPr/>
        </p:nvSpPr>
        <p:spPr>
          <a:xfrm>
            <a:off x="2788920" y="1371600"/>
            <a:ext cx="6035040" cy="36053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 famous dead person (who) you admire</a:t>
            </a:r>
            <a:endParaRPr lang="en-US" sz="1200" dirty="0"/>
          </a:p>
        </p:txBody>
      </p:sp>
      <p:sp>
        <p:nvSpPr>
          <p:cNvPr id="17" name="box_153"/>
          <p:cNvSpPr txBox="1"/>
          <p:nvPr/>
        </p:nvSpPr>
        <p:spPr>
          <a:xfrm>
            <a:off x="2788920" y="1860151"/>
            <a:ext cx="6035040" cy="36053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 famous living person (that) you admire</a:t>
            </a:r>
            <a:endParaRPr lang="en-US" sz="1200" dirty="0"/>
          </a:p>
        </p:txBody>
      </p:sp>
      <p:sp>
        <p:nvSpPr>
          <p:cNvPr id="18" name="box_154"/>
          <p:cNvSpPr txBox="1"/>
          <p:nvPr/>
        </p:nvSpPr>
        <p:spPr>
          <a:xfrm>
            <a:off x="2788920" y="2348702"/>
            <a:ext cx="6035040" cy="36053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an iconic landmark (that) you really like</a:t>
            </a:r>
            <a:endParaRPr lang="en-US" sz="1200" dirty="0"/>
          </a:p>
        </p:txBody>
      </p:sp>
      <p:sp>
        <p:nvSpPr>
          <p:cNvPr id="19" name="box_155"/>
          <p:cNvSpPr txBox="1"/>
          <p:nvPr/>
        </p:nvSpPr>
        <p:spPr>
          <a:xfrm>
            <a:off x="2788920" y="2837253"/>
            <a:ext cx="6035040" cy="36053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 company whose design you love</a:t>
            </a:r>
            <a:endParaRPr lang="en-US" sz="1200" dirty="0"/>
          </a:p>
        </p:txBody>
      </p:sp>
      <p:sp>
        <p:nvSpPr>
          <p:cNvPr id="20" name="box_156"/>
          <p:cNvSpPr txBox="1"/>
          <p:nvPr/>
        </p:nvSpPr>
        <p:spPr>
          <a:xfrm>
            <a:off x="2788920" y="3325803"/>
            <a:ext cx="6035040" cy="36053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an everyday object (that) you own that you think has a beautiful design</a:t>
            </a:r>
            <a:endParaRPr lang="en-US" sz="1200" dirty="0"/>
          </a:p>
        </p:txBody>
      </p:sp>
      <p:sp>
        <p:nvSpPr>
          <p:cNvPr id="21" name="box_157"/>
          <p:cNvSpPr txBox="1"/>
          <p:nvPr/>
        </p:nvSpPr>
        <p:spPr>
          <a:xfrm>
            <a:off x="2788920" y="3814354"/>
            <a:ext cx="6035040" cy="360535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an object (which) you would like to own whose design you love</a:t>
            </a:r>
            <a:endParaRPr lang="en-US" sz="1200" dirty="0"/>
          </a:p>
        </p:txBody>
      </p:sp>
      <p:sp>
        <p:nvSpPr>
          <p:cNvPr id="22" name="box_158"/>
          <p:cNvSpPr txBox="1"/>
          <p:nvPr/>
        </p:nvSpPr>
        <p:spPr>
          <a:xfrm>
            <a:off x="2788920" y="4302905"/>
            <a:ext cx="6035040" cy="36053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a DVD cover, film poster, or book cover (that) you think has a great design</a:t>
            </a:r>
            <a:endParaRPr lang="en-US" sz="1200" dirty="0"/>
          </a:p>
        </p:txBody>
      </p:sp>
      <p:sp>
        <p:nvSpPr>
          <p:cNvPr id="23" name="pageTag_159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p.98 · 6a, 6b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6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6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6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Compound nouns · audio 10.5</a:t>
            </a:r>
            <a:endParaRPr lang="en-US" sz="900" dirty="0"/>
          </a:p>
        </p:txBody>
      </p:sp>
      <p:sp>
        <p:nvSpPr>
          <p:cNvPr id="6" name="timer_16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16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2</a:t>
            </a:r>
            <a:endParaRPr lang="en-US" sz="1000" dirty="0"/>
          </a:p>
        </p:txBody>
      </p:sp>
      <p:sp>
        <p:nvSpPr>
          <p:cNvPr id="8" name="title_165"/>
          <p:cNvSpPr txBox="1"/>
          <p:nvPr/>
        </p:nvSpPr>
        <p:spPr>
          <a:xfrm rot="90000">
            <a:off x="320040" y="676656"/>
            <a:ext cx="380390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Make compound nouns</a:t>
            </a:r>
            <a:endParaRPr lang="en-US" sz="1500" dirty="0"/>
          </a:p>
        </p:txBody>
      </p:sp>
      <p:sp>
        <p:nvSpPr>
          <p:cNvPr id="9" name="tape_166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167"/>
          <p:cNvSpPr/>
          <p:nvPr/>
        </p:nvSpPr>
        <p:spPr>
          <a:xfrm rot="-720000">
            <a:off x="3557016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16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6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3" name="signB_17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 + B. One word or two? Where's the stress?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Abbina A + B. Una parola o due? Dov'è l'accento?</a:t>
            </a:r>
            <a:endParaRPr lang="en-US" sz="1250" dirty="0"/>
          </a:p>
        </p:txBody>
      </p:sp>
      <p:sp>
        <p:nvSpPr>
          <p:cNvPr id="14" name="box_171"/>
          <p:cNvSpPr txBox="1"/>
          <p:nvPr/>
        </p:nvSpPr>
        <p:spPr>
          <a:xfrm>
            <a:off x="2788920" y="1371600"/>
            <a:ext cx="2293315" cy="410174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paper</a:t>
            </a:r>
            <a:endParaRPr lang="en-US" sz="1400" dirty="0"/>
          </a:p>
        </p:txBody>
      </p:sp>
      <p:sp>
        <p:nvSpPr>
          <p:cNvPr id="15" name="R1_m0"/>
          <p:cNvSpPr txBox="1"/>
          <p:nvPr/>
        </p:nvSpPr>
        <p:spPr>
          <a:xfrm>
            <a:off x="5155387" y="1389888"/>
            <a:ext cx="3668573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PAPERback (one word)</a:t>
            </a:r>
            <a:endParaRPr lang="en-US" sz="1300" dirty="0"/>
          </a:p>
        </p:txBody>
      </p:sp>
      <p:sp>
        <p:nvSpPr>
          <p:cNvPr id="16" name="box_172"/>
          <p:cNvSpPr txBox="1"/>
          <p:nvPr/>
        </p:nvSpPr>
        <p:spPr>
          <a:xfrm>
            <a:off x="2788920" y="1854926"/>
            <a:ext cx="2293315" cy="410174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book</a:t>
            </a:r>
            <a:endParaRPr lang="en-US" sz="1400" dirty="0"/>
          </a:p>
        </p:txBody>
      </p:sp>
      <p:sp>
        <p:nvSpPr>
          <p:cNvPr id="17" name="R1_m1"/>
          <p:cNvSpPr txBox="1"/>
          <p:nvPr/>
        </p:nvSpPr>
        <p:spPr>
          <a:xfrm>
            <a:off x="5155387" y="1873214"/>
            <a:ext cx="3668573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cover</a:t>
            </a:r>
            <a:endParaRPr lang="en-US" sz="1300" dirty="0"/>
          </a:p>
        </p:txBody>
      </p:sp>
      <p:sp>
        <p:nvSpPr>
          <p:cNvPr id="18" name="box_173"/>
          <p:cNvSpPr txBox="1"/>
          <p:nvPr/>
        </p:nvSpPr>
        <p:spPr>
          <a:xfrm>
            <a:off x="2788920" y="2338251"/>
            <a:ext cx="2293315" cy="410174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child</a:t>
            </a:r>
            <a:endParaRPr lang="en-US" sz="1400" dirty="0"/>
          </a:p>
        </p:txBody>
      </p:sp>
      <p:sp>
        <p:nvSpPr>
          <p:cNvPr id="19" name="R1_m2"/>
          <p:cNvSpPr txBox="1"/>
          <p:nvPr/>
        </p:nvSpPr>
        <p:spPr>
          <a:xfrm>
            <a:off x="5155387" y="2356539"/>
            <a:ext cx="3668573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prodigy</a:t>
            </a:r>
            <a:endParaRPr lang="en-US" sz="1300" dirty="0"/>
          </a:p>
        </p:txBody>
      </p:sp>
      <p:sp>
        <p:nvSpPr>
          <p:cNvPr id="20" name="box_174"/>
          <p:cNvSpPr txBox="1"/>
          <p:nvPr/>
        </p:nvSpPr>
        <p:spPr>
          <a:xfrm>
            <a:off x="2788920" y="2821577"/>
            <a:ext cx="2293315" cy="410174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car</a:t>
            </a:r>
            <a:endParaRPr lang="en-US" sz="1400" dirty="0"/>
          </a:p>
        </p:txBody>
      </p:sp>
      <p:sp>
        <p:nvSpPr>
          <p:cNvPr id="21" name="R1_m3"/>
          <p:cNvSpPr txBox="1"/>
          <p:nvPr/>
        </p:nvSpPr>
        <p:spPr>
          <a:xfrm>
            <a:off x="5155387" y="2839865"/>
            <a:ext cx="3668573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manufacturer</a:t>
            </a:r>
            <a:endParaRPr lang="en-US" sz="1300" dirty="0"/>
          </a:p>
        </p:txBody>
      </p:sp>
      <p:sp>
        <p:nvSpPr>
          <p:cNvPr id="22" name="box_175"/>
          <p:cNvSpPr txBox="1"/>
          <p:nvPr/>
        </p:nvSpPr>
        <p:spPr>
          <a:xfrm>
            <a:off x="2788920" y="3304903"/>
            <a:ext cx="2293315" cy="410174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desk</a:t>
            </a:r>
            <a:endParaRPr lang="en-US" sz="1400" dirty="0"/>
          </a:p>
        </p:txBody>
      </p:sp>
      <p:sp>
        <p:nvSpPr>
          <p:cNvPr id="23" name="R1_m4"/>
          <p:cNvSpPr txBox="1"/>
          <p:nvPr/>
        </p:nvSpPr>
        <p:spPr>
          <a:xfrm>
            <a:off x="5155387" y="3323191"/>
            <a:ext cx="3668573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lamp</a:t>
            </a:r>
            <a:endParaRPr lang="en-US" sz="1300" dirty="0"/>
          </a:p>
        </p:txBody>
      </p:sp>
      <p:sp>
        <p:nvSpPr>
          <p:cNvPr id="24" name="box_176"/>
          <p:cNvSpPr txBox="1"/>
          <p:nvPr/>
        </p:nvSpPr>
        <p:spPr>
          <a:xfrm>
            <a:off x="2788920" y="3788229"/>
            <a:ext cx="2293315" cy="410174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song</a:t>
            </a:r>
            <a:endParaRPr lang="en-US" sz="1400" dirty="0"/>
          </a:p>
        </p:txBody>
      </p:sp>
      <p:sp>
        <p:nvSpPr>
          <p:cNvPr id="25" name="R1_m5"/>
          <p:cNvSpPr txBox="1"/>
          <p:nvPr/>
        </p:nvSpPr>
        <p:spPr>
          <a:xfrm>
            <a:off x="5155387" y="3806517"/>
            <a:ext cx="3668573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SONGwriter (one word)</a:t>
            </a:r>
            <a:endParaRPr lang="en-US" sz="1300" dirty="0"/>
          </a:p>
        </p:txBody>
      </p:sp>
      <p:sp>
        <p:nvSpPr>
          <p:cNvPr id="26" name="box_177"/>
          <p:cNvSpPr txBox="1"/>
          <p:nvPr/>
        </p:nvSpPr>
        <p:spPr>
          <a:xfrm>
            <a:off x="2788920" y="4271554"/>
            <a:ext cx="2293315" cy="410174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phone</a:t>
            </a:r>
            <a:endParaRPr lang="en-US" sz="1400" dirty="0"/>
          </a:p>
        </p:txBody>
      </p:sp>
      <p:sp>
        <p:nvSpPr>
          <p:cNvPr id="27" name="R1_m6"/>
          <p:cNvSpPr txBox="1"/>
          <p:nvPr/>
        </p:nvSpPr>
        <p:spPr>
          <a:xfrm>
            <a:off x="5155387" y="4289842"/>
            <a:ext cx="3668573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box</a:t>
            </a:r>
            <a:endParaRPr lang="en-US" sz="1300" dirty="0"/>
          </a:p>
        </p:txBody>
      </p:sp>
      <p:sp>
        <p:nvSpPr>
          <p:cNvPr id="28" name="pageTag_178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p.99 · 7a, 7b · audio 10.5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7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8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8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Compound nouns race · 7c</a:t>
            </a:r>
            <a:endParaRPr lang="en-US" sz="900" dirty="0"/>
          </a:p>
        </p:txBody>
      </p:sp>
      <p:sp>
        <p:nvSpPr>
          <p:cNvPr id="6" name="timer_18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18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2</a:t>
            </a:r>
            <a:endParaRPr lang="en-US" sz="1000" dirty="0"/>
          </a:p>
        </p:txBody>
      </p:sp>
      <p:sp>
        <p:nvSpPr>
          <p:cNvPr id="8" name="title_184"/>
          <p:cNvSpPr txBox="1"/>
          <p:nvPr/>
        </p:nvSpPr>
        <p:spPr>
          <a:xfrm rot="90000">
            <a:off x="320040" y="676656"/>
            <a:ext cx="293522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3-minute race!</a:t>
            </a:r>
            <a:endParaRPr lang="en-US" sz="1500" dirty="0"/>
          </a:p>
        </p:txBody>
      </p:sp>
      <p:sp>
        <p:nvSpPr>
          <p:cNvPr id="9" name="tape_185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186"/>
          <p:cNvSpPr/>
          <p:nvPr/>
        </p:nvSpPr>
        <p:spPr>
          <a:xfrm rot="-720000">
            <a:off x="2688336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18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8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3" name="signB_18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Pairs: 3 minutes! The answers are compound nouns from Files 1–10.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coppia: 3 minuti! Le risposte sono nomi composti dei File 1–10.</a:t>
            </a:r>
            <a:endParaRPr lang="en-US" sz="1200" dirty="0"/>
          </a:p>
        </p:txBody>
      </p:sp>
      <p:sp>
        <p:nvSpPr>
          <p:cNvPr id="14" name="iconBack_190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191" descr="pi:PiTim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6" name="box_192"/>
          <p:cNvSpPr txBox="1"/>
          <p:nvPr/>
        </p:nvSpPr>
        <p:spPr>
          <a:xfrm>
            <a:off x="2788920" y="1371600"/>
            <a:ext cx="2067458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What do you call part of a road that only bicycles can use?</a:t>
            </a:r>
            <a:endParaRPr lang="en-US" sz="950" dirty="0"/>
          </a:p>
        </p:txBody>
      </p:sp>
      <p:sp>
        <p:nvSpPr>
          <p:cNvPr id="17" name="R1_a0"/>
          <p:cNvSpPr txBox="1"/>
          <p:nvPr/>
        </p:nvSpPr>
        <p:spPr>
          <a:xfrm>
            <a:off x="4911242" y="1408176"/>
            <a:ext cx="83119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cycle lane</a:t>
            </a:r>
            <a:endParaRPr lang="en-US" sz="1050" dirty="0"/>
          </a:p>
        </p:txBody>
      </p:sp>
      <p:sp>
        <p:nvSpPr>
          <p:cNvPr id="18" name="box_193"/>
          <p:cNvSpPr txBox="1"/>
          <p:nvPr/>
        </p:nvSpPr>
        <p:spPr>
          <a:xfrm>
            <a:off x="5870448" y="1371600"/>
            <a:ext cx="2067458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What do you call the busy time of day when many people are going to work or going home?</a:t>
            </a:r>
            <a:endParaRPr lang="en-US" sz="700" dirty="0"/>
          </a:p>
        </p:txBody>
      </p:sp>
      <p:sp>
        <p:nvSpPr>
          <p:cNvPr id="19" name="R1_a1"/>
          <p:cNvSpPr txBox="1"/>
          <p:nvPr/>
        </p:nvSpPr>
        <p:spPr>
          <a:xfrm>
            <a:off x="7992770" y="1408176"/>
            <a:ext cx="83119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rush hour</a:t>
            </a:r>
            <a:endParaRPr lang="en-US" sz="1000" dirty="0"/>
          </a:p>
        </p:txBody>
      </p:sp>
      <p:sp>
        <p:nvSpPr>
          <p:cNvPr id="20" name="box_194"/>
          <p:cNvSpPr txBox="1"/>
          <p:nvPr/>
        </p:nvSpPr>
        <p:spPr>
          <a:xfrm>
            <a:off x="2788920" y="1941576"/>
            <a:ext cx="2067458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What might you have to pay if you park in a place where you shouldn't?</a:t>
            </a:r>
            <a:endParaRPr lang="en-US" sz="900" dirty="0"/>
          </a:p>
        </p:txBody>
      </p:sp>
      <p:sp>
        <p:nvSpPr>
          <p:cNvPr id="21" name="R1_a2"/>
          <p:cNvSpPr txBox="1"/>
          <p:nvPr/>
        </p:nvSpPr>
        <p:spPr>
          <a:xfrm>
            <a:off x="4911242" y="1978152"/>
            <a:ext cx="83119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parking fine</a:t>
            </a:r>
            <a:endParaRPr lang="en-US" sz="1000" dirty="0"/>
          </a:p>
        </p:txBody>
      </p:sp>
      <p:sp>
        <p:nvSpPr>
          <p:cNvPr id="22" name="box_195"/>
          <p:cNvSpPr txBox="1"/>
          <p:nvPr/>
        </p:nvSpPr>
        <p:spPr>
          <a:xfrm>
            <a:off x="5870448" y="1941576"/>
            <a:ext cx="2067458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What do you need to book if you want to play tennis with someone?</a:t>
            </a:r>
            <a:endParaRPr lang="en-US" sz="900" dirty="0"/>
          </a:p>
        </p:txBody>
      </p:sp>
      <p:sp>
        <p:nvSpPr>
          <p:cNvPr id="23" name="R1_a3"/>
          <p:cNvSpPr txBox="1"/>
          <p:nvPr/>
        </p:nvSpPr>
        <p:spPr>
          <a:xfrm>
            <a:off x="7992770" y="1978152"/>
            <a:ext cx="83119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tennis court</a:t>
            </a:r>
            <a:endParaRPr lang="en-US" sz="1000" dirty="0"/>
          </a:p>
        </p:txBody>
      </p:sp>
      <p:sp>
        <p:nvSpPr>
          <p:cNvPr id="24" name="box_196"/>
          <p:cNvSpPr txBox="1"/>
          <p:nvPr/>
        </p:nvSpPr>
        <p:spPr>
          <a:xfrm>
            <a:off x="2788920" y="2511552"/>
            <a:ext cx="2067458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What do you call a long line of cars that can't move?</a:t>
            </a:r>
            <a:endParaRPr lang="en-US" sz="950" dirty="0"/>
          </a:p>
        </p:txBody>
      </p:sp>
      <p:sp>
        <p:nvSpPr>
          <p:cNvPr id="25" name="R1_a4"/>
          <p:cNvSpPr txBox="1"/>
          <p:nvPr/>
        </p:nvSpPr>
        <p:spPr>
          <a:xfrm>
            <a:off x="4911242" y="2548128"/>
            <a:ext cx="83119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traffic jam</a:t>
            </a:r>
            <a:endParaRPr lang="en-US" sz="1050" dirty="0"/>
          </a:p>
        </p:txBody>
      </p:sp>
      <p:sp>
        <p:nvSpPr>
          <p:cNvPr id="26" name="box_197"/>
          <p:cNvSpPr txBox="1"/>
          <p:nvPr/>
        </p:nvSpPr>
        <p:spPr>
          <a:xfrm>
            <a:off x="5870448" y="2511552"/>
            <a:ext cx="2067458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What should you put on when you get into a car?</a:t>
            </a:r>
            <a:endParaRPr lang="en-US" sz="950" dirty="0"/>
          </a:p>
        </p:txBody>
      </p:sp>
      <p:sp>
        <p:nvSpPr>
          <p:cNvPr id="27" name="R1_a5"/>
          <p:cNvSpPr txBox="1"/>
          <p:nvPr/>
        </p:nvSpPr>
        <p:spPr>
          <a:xfrm>
            <a:off x="7992770" y="2548128"/>
            <a:ext cx="83119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seat belt</a:t>
            </a:r>
            <a:endParaRPr lang="en-US" sz="1050" dirty="0"/>
          </a:p>
        </p:txBody>
      </p:sp>
      <p:sp>
        <p:nvSpPr>
          <p:cNvPr id="28" name="box_198"/>
          <p:cNvSpPr txBox="1"/>
          <p:nvPr/>
        </p:nvSpPr>
        <p:spPr>
          <a:xfrm>
            <a:off x="2788920" y="3081528"/>
            <a:ext cx="2067458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What do you call the person who is in charge of a school?</a:t>
            </a:r>
            <a:endParaRPr lang="en-US" sz="950" dirty="0"/>
          </a:p>
        </p:txBody>
      </p:sp>
      <p:sp>
        <p:nvSpPr>
          <p:cNvPr id="29" name="R1_a6"/>
          <p:cNvSpPr txBox="1"/>
          <p:nvPr/>
        </p:nvSpPr>
        <p:spPr>
          <a:xfrm>
            <a:off x="4911242" y="3118104"/>
            <a:ext cx="83119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 teacher</a:t>
            </a:r>
            <a:endParaRPr lang="en-US" sz="1000" dirty="0"/>
          </a:p>
        </p:txBody>
      </p:sp>
      <p:sp>
        <p:nvSpPr>
          <p:cNvPr id="30" name="box_199"/>
          <p:cNvSpPr txBox="1"/>
          <p:nvPr/>
        </p:nvSpPr>
        <p:spPr>
          <a:xfrm>
            <a:off x="5870448" y="3081528"/>
            <a:ext cx="2067458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What do you call the music in a film?</a:t>
            </a:r>
            <a:endParaRPr lang="en-US" sz="950" dirty="0"/>
          </a:p>
        </p:txBody>
      </p:sp>
      <p:sp>
        <p:nvSpPr>
          <p:cNvPr id="31" name="R1_a7"/>
          <p:cNvSpPr txBox="1"/>
          <p:nvPr/>
        </p:nvSpPr>
        <p:spPr>
          <a:xfrm>
            <a:off x="7992770" y="3118104"/>
            <a:ext cx="83119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soundtrack</a:t>
            </a:r>
            <a:endParaRPr lang="en-US" sz="1000" dirty="0"/>
          </a:p>
        </p:txBody>
      </p:sp>
      <p:sp>
        <p:nvSpPr>
          <p:cNvPr id="32" name="box_200"/>
          <p:cNvSpPr txBox="1"/>
          <p:nvPr/>
        </p:nvSpPr>
        <p:spPr>
          <a:xfrm>
            <a:off x="2788920" y="3651504"/>
            <a:ext cx="2067458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What kind of books or films are about the future, often outer space?</a:t>
            </a:r>
            <a:endParaRPr lang="en-US" sz="900" dirty="0"/>
          </a:p>
        </p:txBody>
      </p:sp>
      <p:sp>
        <p:nvSpPr>
          <p:cNvPr id="33" name="R1_a8"/>
          <p:cNvSpPr txBox="1"/>
          <p:nvPr/>
        </p:nvSpPr>
        <p:spPr>
          <a:xfrm>
            <a:off x="4911242" y="3688080"/>
            <a:ext cx="83119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fiction</a:t>
            </a:r>
            <a:endParaRPr lang="en-US" sz="1000" dirty="0"/>
          </a:p>
        </p:txBody>
      </p:sp>
      <p:sp>
        <p:nvSpPr>
          <p:cNvPr id="34" name="box_201"/>
          <p:cNvSpPr txBox="1"/>
          <p:nvPr/>
        </p:nvSpPr>
        <p:spPr>
          <a:xfrm>
            <a:off x="5870448" y="3651504"/>
            <a:ext cx="2067458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What can you use to transfer files from one computer to another if the internet isn't working?</a:t>
            </a:r>
            <a:endParaRPr lang="en-US" sz="700" dirty="0"/>
          </a:p>
        </p:txBody>
      </p:sp>
      <p:sp>
        <p:nvSpPr>
          <p:cNvPr id="35" name="R1_a9"/>
          <p:cNvSpPr txBox="1"/>
          <p:nvPr/>
        </p:nvSpPr>
        <p:spPr>
          <a:xfrm>
            <a:off x="7992770" y="3688080"/>
            <a:ext cx="83119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 stick</a:t>
            </a:r>
            <a:endParaRPr lang="en-US" sz="1000" dirty="0"/>
          </a:p>
        </p:txBody>
      </p:sp>
      <p:sp>
        <p:nvSpPr>
          <p:cNvPr id="36" name="box_202"/>
          <p:cNvSpPr txBox="1"/>
          <p:nvPr/>
        </p:nvSpPr>
        <p:spPr>
          <a:xfrm>
            <a:off x="2788920" y="4221480"/>
            <a:ext cx="2067458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If you are in a lift and you press G, where do you want to go?</a:t>
            </a:r>
            <a:endParaRPr lang="en-US" sz="900" dirty="0"/>
          </a:p>
        </p:txBody>
      </p:sp>
      <p:sp>
        <p:nvSpPr>
          <p:cNvPr id="37" name="R1_a10"/>
          <p:cNvSpPr txBox="1"/>
          <p:nvPr/>
        </p:nvSpPr>
        <p:spPr>
          <a:xfrm>
            <a:off x="4911242" y="4258056"/>
            <a:ext cx="83119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 floor</a:t>
            </a:r>
            <a:endParaRPr lang="en-US" sz="1000" dirty="0"/>
          </a:p>
        </p:txBody>
      </p:sp>
      <p:sp>
        <p:nvSpPr>
          <p:cNvPr id="38" name="box_203"/>
          <p:cNvSpPr txBox="1"/>
          <p:nvPr/>
        </p:nvSpPr>
        <p:spPr>
          <a:xfrm>
            <a:off x="5870448" y="4221480"/>
            <a:ext cx="2067458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What do you call a school which is paid for by the government?</a:t>
            </a:r>
            <a:endParaRPr lang="en-US" sz="900" dirty="0"/>
          </a:p>
        </p:txBody>
      </p:sp>
      <p:sp>
        <p:nvSpPr>
          <p:cNvPr id="39" name="R1_a11"/>
          <p:cNvSpPr txBox="1"/>
          <p:nvPr/>
        </p:nvSpPr>
        <p:spPr>
          <a:xfrm>
            <a:off x="7992770" y="4258056"/>
            <a:ext cx="83119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school</a:t>
            </a:r>
            <a:endParaRPr lang="en-US" sz="1000" dirty="0"/>
          </a:p>
        </p:txBody>
      </p:sp>
      <p:sp>
        <p:nvSpPr>
          <p:cNvPr id="40" name="pageTag_204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p.99 · 7c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0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0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Compound chain</a:t>
            </a:r>
            <a:endParaRPr lang="en-US" sz="900" dirty="0"/>
          </a:p>
        </p:txBody>
      </p:sp>
      <p:sp>
        <p:nvSpPr>
          <p:cNvPr id="6" name="timer_20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20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2</a:t>
            </a:r>
            <a:endParaRPr lang="en-US" sz="1000" dirty="0"/>
          </a:p>
        </p:txBody>
      </p:sp>
      <p:sp>
        <p:nvSpPr>
          <p:cNvPr id="8" name="title_210"/>
          <p:cNvSpPr txBox="1"/>
          <p:nvPr/>
        </p:nvSpPr>
        <p:spPr>
          <a:xfrm rot="90000">
            <a:off x="320040" y="676656"/>
            <a:ext cx="380390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Compound noun chain</a:t>
            </a:r>
            <a:endParaRPr lang="en-US" sz="1500" dirty="0"/>
          </a:p>
        </p:txBody>
      </p:sp>
      <p:sp>
        <p:nvSpPr>
          <p:cNvPr id="9" name="tape_211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212"/>
          <p:cNvSpPr/>
          <p:nvPr/>
        </p:nvSpPr>
        <p:spPr>
          <a:xfrm rot="-720000">
            <a:off x="3557016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21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21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3" name="signB_21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word starts the next one!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L'ultima parola inizia la successiva!</a:t>
            </a:r>
            <a:endParaRPr lang="en-US" sz="1250" dirty="0"/>
          </a:p>
        </p:txBody>
      </p:sp>
      <p:sp>
        <p:nvSpPr>
          <p:cNvPr id="14" name="iconBack_216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217" descr="pi:PiLinkSimp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6" name="num_218"/>
          <p:cNvSpPr txBox="1"/>
          <p:nvPr/>
        </p:nvSpPr>
        <p:spPr>
          <a:xfrm>
            <a:off x="2788920" y="1412748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box_219"/>
          <p:cNvSpPr txBox="1"/>
          <p:nvPr/>
        </p:nvSpPr>
        <p:spPr>
          <a:xfrm>
            <a:off x="3264408" y="1371600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4. The teacher says a compound noun: PHONE BOX.</a:t>
            </a:r>
            <a:endParaRPr lang="en-US" sz="1250" dirty="0"/>
          </a:p>
        </p:txBody>
      </p:sp>
      <p:sp>
        <p:nvSpPr>
          <p:cNvPr id="18" name="num_220"/>
          <p:cNvSpPr txBox="1"/>
          <p:nvPr/>
        </p:nvSpPr>
        <p:spPr>
          <a:xfrm>
            <a:off x="2788920" y="1970532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box_221"/>
          <p:cNvSpPr txBox="1"/>
          <p:nvPr/>
        </p:nvSpPr>
        <p:spPr>
          <a:xfrm>
            <a:off x="3264408" y="1929384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 continues with the 2nd word: BOX office!</a:t>
            </a:r>
            <a:endParaRPr lang="en-US" sz="1250" dirty="0"/>
          </a:p>
        </p:txBody>
      </p:sp>
      <p:sp>
        <p:nvSpPr>
          <p:cNvPr id="20" name="num_222"/>
          <p:cNvSpPr txBox="1"/>
          <p:nvPr/>
        </p:nvSpPr>
        <p:spPr>
          <a:xfrm>
            <a:off x="2788920" y="252831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box_223"/>
          <p:cNvSpPr txBox="1"/>
          <p:nvPr/>
        </p:nvSpPr>
        <p:spPr>
          <a:xfrm>
            <a:off x="3264408" y="2487168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B: OFFICE building! Team A: BUILDING site!…</a:t>
            </a:r>
            <a:endParaRPr lang="en-US" sz="1250" dirty="0"/>
          </a:p>
        </p:txBody>
      </p:sp>
      <p:sp>
        <p:nvSpPr>
          <p:cNvPr id="22" name="num_224"/>
          <p:cNvSpPr txBox="1"/>
          <p:nvPr/>
        </p:nvSpPr>
        <p:spPr>
          <a:xfrm>
            <a:off x="2788920" y="3086100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box_225"/>
          <p:cNvSpPr txBox="1"/>
          <p:nvPr/>
        </p:nvSpPr>
        <p:spPr>
          <a:xfrm>
            <a:off x="3264408" y="3044952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seconds per answer. No answer or a repeated word = the chain breaks: 1 point to the other team.</a:t>
            </a:r>
            <a:endParaRPr lang="en-US" sz="950" dirty="0"/>
          </a:p>
        </p:txBody>
      </p:sp>
      <p:sp>
        <p:nvSpPr>
          <p:cNvPr id="24" name="num_226"/>
          <p:cNvSpPr txBox="1"/>
          <p:nvPr/>
        </p:nvSpPr>
        <p:spPr>
          <a:xfrm>
            <a:off x="2788920" y="3643884"/>
            <a:ext cx="384048" cy="384048"/>
          </a:xfrm>
          <a:prstGeom prst="ellipse">
            <a:avLst/>
          </a:prstGeom>
          <a:solidFill>
            <a:srgbClr val="6D3FC0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box_227"/>
          <p:cNvSpPr txBox="1"/>
          <p:nvPr/>
        </p:nvSpPr>
        <p:spPr>
          <a:xfrm>
            <a:off x="3264408" y="3602736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the FIRST word every time!</a:t>
            </a:r>
            <a:endParaRPr lang="en-US" sz="1250" dirty="0"/>
          </a:p>
        </p:txBody>
      </p:sp>
      <p:sp>
        <p:nvSpPr>
          <p:cNvPr id="26" name="bubble_228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box → box office → office building → building site → site manager…</a:t>
            </a:r>
            <a:endParaRPr lang="en-US" sz="1100" dirty="0"/>
          </a:p>
        </p:txBody>
      </p:sp>
      <p:sp>
        <p:nvSpPr>
          <p:cNvPr id="27" name="pageTag_229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extra practice · compound nouns (SB p.99)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3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3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23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2</a:t>
            </a:r>
            <a:endParaRPr lang="en-US" sz="1000" dirty="0"/>
          </a:p>
        </p:txBody>
      </p:sp>
      <p:sp>
        <p:nvSpPr>
          <p:cNvPr id="6" name="title_233"/>
          <p:cNvSpPr txBox="1"/>
          <p:nvPr/>
        </p:nvSpPr>
        <p:spPr>
          <a:xfrm rot="90000">
            <a:off x="320040" y="676656"/>
            <a:ext cx="415137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1500" dirty="0"/>
          </a:p>
        </p:txBody>
      </p:sp>
      <p:sp>
        <p:nvSpPr>
          <p:cNvPr id="7" name="tape_234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8" name="tape_235"/>
          <p:cNvSpPr/>
          <p:nvPr/>
        </p:nvSpPr>
        <p:spPr>
          <a:xfrm rot="-720000">
            <a:off x="3904488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9" name="sub_236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10" name="box_237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understand an audio guide about design icons.</a:t>
            </a:r>
            <a:endParaRPr lang="en-US" sz="1300" dirty="0"/>
          </a:p>
        </p:txBody>
      </p:sp>
      <p:sp>
        <p:nvSpPr>
          <p:cNvPr id="11" name="faces_238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2" name="box_239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talk about people and things I admire.</a:t>
            </a:r>
            <a:endParaRPr lang="en-US" sz="1350" dirty="0"/>
          </a:p>
        </p:txBody>
      </p:sp>
      <p:sp>
        <p:nvSpPr>
          <p:cNvPr id="13" name="faces_240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4" name="box_241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use and stress compound nouns: TRAFfic jam.</a:t>
            </a:r>
            <a:endParaRPr lang="en-US" sz="1300" dirty="0"/>
          </a:p>
        </p:txBody>
      </p:sp>
      <p:sp>
        <p:nvSpPr>
          <p:cNvPr id="15" name="faces_242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6" name="hw_243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Workbook 10A: 2a, 2b, 2c, 3a, 3b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SB p.99 7c: learn the compound nouns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Homework sheet 10A-2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Hand it in on the LLS app · Consegna nell'app LLS</a:t>
            </a:r>
            <a:endParaRPr lang="en-US" sz="1250" dirty="0"/>
          </a:p>
        </p:txBody>
      </p:sp>
      <p:sp>
        <p:nvSpPr>
          <p:cNvPr id="17" name="stamp_244"/>
          <p:cNvSpPr txBox="1"/>
          <p:nvPr/>
        </p:nvSpPr>
        <p:spPr>
          <a:xfrm>
            <a:off x="365760" y="3657600"/>
            <a:ext cx="5669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10B part 1 · Jack the Ripper · Question tags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4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4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4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Speaking · Mini debate</a:t>
            </a:r>
            <a:endParaRPr lang="en-US" sz="900" dirty="0"/>
          </a:p>
        </p:txBody>
      </p:sp>
      <p:sp>
        <p:nvSpPr>
          <p:cNvPr id="6" name="timer_24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extra_249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5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2</a:t>
            </a:r>
            <a:endParaRPr lang="en-US" sz="1000" dirty="0"/>
          </a:p>
        </p:txBody>
      </p:sp>
      <p:sp>
        <p:nvSpPr>
          <p:cNvPr id="9" name="title_251"/>
          <p:cNvSpPr txBox="1"/>
          <p:nvPr/>
        </p:nvSpPr>
        <p:spPr>
          <a:xfrm rot="90000">
            <a:off x="320040" y="676656"/>
            <a:ext cx="4498848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Icons: agree or no way?</a:t>
            </a:r>
            <a:endParaRPr lang="en-US" sz="1500" dirty="0"/>
          </a:p>
        </p:txBody>
      </p:sp>
      <p:sp>
        <p:nvSpPr>
          <p:cNvPr id="10" name="tape_252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tape_253"/>
          <p:cNvSpPr/>
          <p:nvPr/>
        </p:nvSpPr>
        <p:spPr>
          <a:xfrm rot="-720000">
            <a:off x="4251960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2" name="post_25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3" name="signA_25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4" name="signB_25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or no way? Give a reason!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D'accordo o per niente? Dai un motivo!</a:t>
            </a:r>
            <a:endParaRPr lang="en-US" sz="1250" dirty="0"/>
          </a:p>
        </p:txBody>
      </p:sp>
      <p:sp>
        <p:nvSpPr>
          <p:cNvPr id="15" name="iconBack_25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258" descr="pi:PiSca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7" name="box_259"/>
          <p:cNvSpPr txBox="1"/>
          <p:nvPr/>
        </p:nvSpPr>
        <p:spPr>
          <a:xfrm>
            <a:off x="2788920" y="1371600"/>
            <a:ext cx="4572000" cy="56692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"Old phone boxes should all be removed."</a:t>
            </a:r>
            <a:endParaRPr lang="en-US" sz="1350" dirty="0"/>
          </a:p>
        </p:txBody>
      </p:sp>
      <p:sp>
        <p:nvSpPr>
          <p:cNvPr id="18" name="stamp_260"/>
          <p:cNvSpPr txBox="1"/>
          <p:nvPr/>
        </p:nvSpPr>
        <p:spPr>
          <a:xfrm>
            <a:off x="7434072" y="1417320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A4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AGREE</a:t>
            </a:r>
            <a:endParaRPr lang="en-US" sz="950" dirty="0"/>
          </a:p>
        </p:txBody>
      </p:sp>
      <p:sp>
        <p:nvSpPr>
          <p:cNvPr id="19" name="stamp_261"/>
          <p:cNvSpPr txBox="1"/>
          <p:nvPr/>
        </p:nvSpPr>
        <p:spPr>
          <a:xfrm>
            <a:off x="8129016" y="1417320"/>
            <a:ext cx="69494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WAY</a:t>
            </a:r>
            <a:endParaRPr lang="en-US" sz="950" dirty="0"/>
          </a:p>
        </p:txBody>
      </p:sp>
      <p:sp>
        <p:nvSpPr>
          <p:cNvPr id="20" name="box_262"/>
          <p:cNvSpPr txBox="1"/>
          <p:nvPr/>
        </p:nvSpPr>
        <p:spPr>
          <a:xfrm>
            <a:off x="2788920" y="2029968"/>
            <a:ext cx="4572000" cy="56692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"Paper books will disappear in 20 years."</a:t>
            </a:r>
            <a:endParaRPr lang="en-US" sz="1350" dirty="0"/>
          </a:p>
        </p:txBody>
      </p:sp>
      <p:sp>
        <p:nvSpPr>
          <p:cNvPr id="21" name="stamp_263"/>
          <p:cNvSpPr txBox="1"/>
          <p:nvPr/>
        </p:nvSpPr>
        <p:spPr>
          <a:xfrm>
            <a:off x="7434072" y="2075688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A4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AGREE</a:t>
            </a:r>
            <a:endParaRPr lang="en-US" sz="950" dirty="0"/>
          </a:p>
        </p:txBody>
      </p:sp>
      <p:sp>
        <p:nvSpPr>
          <p:cNvPr id="22" name="stamp_264"/>
          <p:cNvSpPr txBox="1"/>
          <p:nvPr/>
        </p:nvSpPr>
        <p:spPr>
          <a:xfrm>
            <a:off x="8129016" y="2075688"/>
            <a:ext cx="69494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WAY</a:t>
            </a:r>
            <a:endParaRPr lang="en-US" sz="950" dirty="0"/>
          </a:p>
        </p:txBody>
      </p:sp>
      <p:sp>
        <p:nvSpPr>
          <p:cNvPr id="23" name="box_265"/>
          <p:cNvSpPr txBox="1"/>
          <p:nvPr/>
        </p:nvSpPr>
        <p:spPr>
          <a:xfrm>
            <a:off x="2788920" y="2688336"/>
            <a:ext cx="4572000" cy="56692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"Footballers are not real icons."</a:t>
            </a:r>
            <a:endParaRPr lang="en-US" sz="1350" dirty="0"/>
          </a:p>
        </p:txBody>
      </p:sp>
      <p:sp>
        <p:nvSpPr>
          <p:cNvPr id="24" name="stamp_266"/>
          <p:cNvSpPr txBox="1"/>
          <p:nvPr/>
        </p:nvSpPr>
        <p:spPr>
          <a:xfrm>
            <a:off x="7434072" y="2734056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A4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AGREE</a:t>
            </a:r>
            <a:endParaRPr lang="en-US" sz="950" dirty="0"/>
          </a:p>
        </p:txBody>
      </p:sp>
      <p:sp>
        <p:nvSpPr>
          <p:cNvPr id="25" name="stamp_267"/>
          <p:cNvSpPr txBox="1"/>
          <p:nvPr/>
        </p:nvSpPr>
        <p:spPr>
          <a:xfrm>
            <a:off x="8129016" y="2734056"/>
            <a:ext cx="69494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WAY</a:t>
            </a:r>
            <a:endParaRPr lang="en-US" sz="950" dirty="0"/>
          </a:p>
        </p:txBody>
      </p:sp>
      <p:sp>
        <p:nvSpPr>
          <p:cNvPr id="26" name="box_268"/>
          <p:cNvSpPr txBox="1"/>
          <p:nvPr/>
        </p:nvSpPr>
        <p:spPr>
          <a:xfrm>
            <a:off x="2788920" y="3346704"/>
            <a:ext cx="4572000" cy="56692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"Good design is more important than a low price."</a:t>
            </a:r>
            <a:endParaRPr lang="en-US" sz="1350" dirty="0"/>
          </a:p>
        </p:txBody>
      </p:sp>
      <p:sp>
        <p:nvSpPr>
          <p:cNvPr id="27" name="stamp_269"/>
          <p:cNvSpPr txBox="1"/>
          <p:nvPr/>
        </p:nvSpPr>
        <p:spPr>
          <a:xfrm>
            <a:off x="7434072" y="3392424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A4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AGREE</a:t>
            </a:r>
            <a:endParaRPr lang="en-US" sz="950" dirty="0"/>
          </a:p>
        </p:txBody>
      </p:sp>
      <p:sp>
        <p:nvSpPr>
          <p:cNvPr id="28" name="stamp_270"/>
          <p:cNvSpPr txBox="1"/>
          <p:nvPr/>
        </p:nvSpPr>
        <p:spPr>
          <a:xfrm>
            <a:off x="8129016" y="3392424"/>
            <a:ext cx="69494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WAY</a:t>
            </a:r>
            <a:endParaRPr lang="en-US" sz="950" dirty="0"/>
          </a:p>
        </p:txBody>
      </p:sp>
      <p:sp>
        <p:nvSpPr>
          <p:cNvPr id="29" name="bubble_271"/>
          <p:cNvSpPr txBox="1"/>
          <p:nvPr/>
        </p:nvSpPr>
        <p:spPr>
          <a:xfrm>
            <a:off x="2788920" y="4160520"/>
            <a:ext cx="60350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agree, because… · I'm not so sure… · No way! In my opinion…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7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7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7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Speaking · Museum guide</a:t>
            </a:r>
            <a:endParaRPr lang="en-US" sz="900" dirty="0"/>
          </a:p>
        </p:txBody>
      </p:sp>
      <p:sp>
        <p:nvSpPr>
          <p:cNvPr id="6" name="timer_27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extra_276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7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2</a:t>
            </a:r>
            <a:endParaRPr lang="en-US" sz="1000" dirty="0"/>
          </a:p>
        </p:txBody>
      </p:sp>
      <p:sp>
        <p:nvSpPr>
          <p:cNvPr id="9" name="title_278"/>
          <p:cNvSpPr txBox="1"/>
          <p:nvPr/>
        </p:nvSpPr>
        <p:spPr>
          <a:xfrm rot="90000">
            <a:off x="320040" y="676656"/>
            <a:ext cx="380390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 the audio guide!</a:t>
            </a:r>
            <a:endParaRPr lang="en-US" sz="1500" dirty="0"/>
          </a:p>
        </p:txBody>
      </p:sp>
      <p:sp>
        <p:nvSpPr>
          <p:cNvPr id="10" name="tape_279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tape_280"/>
          <p:cNvSpPr/>
          <p:nvPr/>
        </p:nvSpPr>
        <p:spPr>
          <a:xfrm rot="-720000">
            <a:off x="3557016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2" name="post_28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3" name="signA_28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4" name="signB_28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30-second audio guide for an object in our classroom!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Scrivi un'audioguida di 30 secondi per un oggetto della classe!</a:t>
            </a:r>
            <a:endParaRPr lang="en-US" sz="1200" dirty="0"/>
          </a:p>
        </p:txBody>
      </p:sp>
      <p:sp>
        <p:nvSpPr>
          <p:cNvPr id="15" name="iconBack_284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285" descr="pi:PiHeadphon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7" name="num_286"/>
          <p:cNvSpPr txBox="1"/>
          <p:nvPr/>
        </p:nvSpPr>
        <p:spPr>
          <a:xfrm>
            <a:off x="2788920" y="1482471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box_287"/>
          <p:cNvSpPr txBox="1"/>
          <p:nvPr/>
        </p:nvSpPr>
        <p:spPr>
          <a:xfrm>
            <a:off x="3264408" y="137160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choose an object in the classroom (the whiteboard, a chair, a pen…).</a:t>
            </a:r>
            <a:endParaRPr lang="en-US" sz="1300" dirty="0"/>
          </a:p>
        </p:txBody>
      </p:sp>
      <p:sp>
        <p:nvSpPr>
          <p:cNvPr id="19" name="num_288"/>
          <p:cNvSpPr txBox="1"/>
          <p:nvPr/>
        </p:nvSpPr>
        <p:spPr>
          <a:xfrm>
            <a:off x="2788920" y="2179701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box_289"/>
          <p:cNvSpPr txBox="1"/>
          <p:nvPr/>
        </p:nvSpPr>
        <p:spPr>
          <a:xfrm>
            <a:off x="3264408" y="206883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'museum' audio guide: who designed it, when, why it's an icon.</a:t>
            </a:r>
            <a:endParaRPr lang="en-US" sz="1300" dirty="0"/>
          </a:p>
        </p:txBody>
      </p:sp>
      <p:sp>
        <p:nvSpPr>
          <p:cNvPr id="21" name="num_290"/>
          <p:cNvSpPr txBox="1"/>
          <p:nvPr/>
        </p:nvSpPr>
        <p:spPr>
          <a:xfrm>
            <a:off x="2788920" y="2876931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box_291"/>
          <p:cNvSpPr txBox="1"/>
          <p:nvPr/>
        </p:nvSpPr>
        <p:spPr>
          <a:xfrm>
            <a:off x="3264408" y="276606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2 relative clauses and 1 compound noun.</a:t>
            </a:r>
            <a:endParaRPr lang="en-US" sz="1300" dirty="0"/>
          </a:p>
        </p:txBody>
      </p:sp>
      <p:sp>
        <p:nvSpPr>
          <p:cNvPr id="23" name="num_292"/>
          <p:cNvSpPr txBox="1"/>
          <p:nvPr/>
        </p:nvSpPr>
        <p:spPr>
          <a:xfrm>
            <a:off x="2788920" y="3574161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box_293"/>
          <p:cNvSpPr txBox="1"/>
          <p:nvPr/>
        </p:nvSpPr>
        <p:spPr>
          <a:xfrm>
            <a:off x="3264408" y="346329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to the class in a serious museum voice!</a:t>
            </a:r>
            <a:endParaRPr lang="en-US" sz="1300" dirty="0"/>
          </a:p>
        </p:txBody>
      </p:sp>
      <p:sp>
        <p:nvSpPr>
          <p:cNvPr id="25" name="bubble_294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classroom chair, which was designed in 1998, is a true icon of Sicilian school furniture…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B1 10A-2 Idols and icons</dc:title>
  <dc:subject>PptxGenJS Presentation</dc:subject>
  <dc:creator>London Language School</dc:creator>
  <cp:lastModifiedBy>London Language School</cp:lastModifiedBy>
  <cp:revision>1</cp:revision>
  <dcterms:created xsi:type="dcterms:W3CDTF">2026-10-05T09:39:24Z</dcterms:created>
  <dcterms:modified xsi:type="dcterms:W3CDTF">2026-10-05T09:39:24Z</dcterms:modified>
</cp:coreProperties>
</file>