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REVISE AND CHECK 7&amp;8 (60 min) · SB pp.84–85. A game-based review of Files 7 and 8: 7A first conditional + future time clauses, education · 7B second conditional, houses · 8A gerunds and infinitives, work · 8B reported speech, shopping, nouns from verbs. TG: the first page adds up to 50 (grammar 15, vocabulary 25, pronunciation 10) and can be used as a mini-test; here we turn it into team games. Keep the SAME two (or three) teams all lesson and keep a running score on the board. Timing: cover 2 · category race 4 · ABC race 7 · auction 6 · vocabulary relay 7 · pronunciation 4 · Taboo 6 · reading 6 · video 6 · just a minute 5 · exit 3 = 56 min. Teacher's Resource Centre also has Quick Test 8 and the File 8 Test (⚠ not in our files).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WARMER (4 min). VARIATION: beat the clock / category race. Two or three teams with one secretary each. Read the category; teams have 20 seconds to write THREE words; then click to show possible answers (one per click). 1 point per correct word that no other team has (so rarer words are better). Accept any correct word – the answers on the slide are examples from the Vocabulary Banks and Grammar Bank 8A, not a closed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(7 min). Students do Grammar 1–15 on p.84 (choose a, b or c) – 3 minutes alone, then 1 minute to agree in their team. Each team makes three cards: A, B, C. Read each sentence aloud; on 'Show!' every team holds up its card at the same time. Click once per group of five for the official answers (TG key): 1 a · 2 a · 3 b · 4 b · 5 c · 6 b · 7 a · 8 b · 9 a · 10 a · 11 b · 12 c · 13 b · 14 c · 15 c. 1 point per correct card; for any item that most teams got wrong, ask a student from a team that got it right to explain why (student as teacher). The sentences are only in the Student's Book. Grammar of the two Files: first conditional + future time clauses (when, until, as soon as, unless…) · second conditional / choosing between conditionals · gerund or infinitive · reported speech (sentences and questions). VARIATION: change the interaction – simultaneous team answers, nobody can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(6 min). VARIATION: spot the error + risk (auction). Each team has €100 (write it on the board). Read sentence 1: teams bid for it (minimum €10). The highest bidder 'buys' it. Then click to reveal (one per click): if the sentence is correct, the team gets DOUBLE its money back; if it's wrong, they lose the money – but they can win it back if they correct it perfectly. Teams don't have to bid on every sentence. The team with the most money at the end wins. The sentences are ours and practise the typical mistakes in the TG grammar notes: will in the if-clause (7A), would in the if-clause (7B), gerund after mind (8A), said + person (8B). Answers: 1 ✗ If I see her tomorrow, I'll tell her · 2 ✓ · 3 ✓ · 4 ✗ If we had a garden, we'd get a dog · 5 ✗ I don't mind working overtime · 6 ✓ · 7 ✗ He told me (that) he was tired / He said (that) he was tired · 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(7 min). Students do Vocabulary a–d on p.84 in pairs (4 minutes). Then a RELAY: each team stands in a line; the first student runs to the board, writes the answer to a1, gives the pen to the next student… Only one answer per run. The fastest team with correct SPELLING wins the section. Click once per section for the official answers (TG key): a 1 terms · 2 nursery · 3 secondary · 4 behave · 5 boarding · b 1 on · 2 ceiling · 3 gate · 4 on · 5 fireplace · c 1 overtime · 2 shifts · 3 temporary · 4 set · 5 self-employed · d 1 choice · 2 agreement · 3 success · 4 complaint · 5 demonstration · 6 improvement · 7 qualifications · 8 translator · 9 scientists · 10 explanation. VARIATION: change the energy (movement). If your room is small, do it as 'pass the pen' at the desks instead of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(4 min). Pairs do c and d on p.84 (2 minutes). Then each team nominates a speaker for each item: they must SAY the word correctly – the point counts only if the pronunciation is right. Click once per item. c and d answers = TG key (the stressed syllables in d are marked by us in capitals from the standard dictionary stress: SEcondary, unemPLOYED, deLIvery, apPLY, aCHIEVEment). The two bonus items are ours: the letter c (7B: c = /s/ before e, i, y; /k/ before a, o, u) and the letters ai (8B: stressed /eɪ/, unstressed /ə/). The TG says the pronunciation section sends students to the Sound Bank pp.166–167 – there is a mouth-position video for each sound. VARIATION: student as teacher – the other team judges first, then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(6 min). VARIATION: constraint challenge (forbidden words). Two teams. A describer from team A stands with their back to the class, facing the screen; everybody else must not see the screen. Click to show the card; the describer has 1 minute; their team guesses; if the describer says a red word, the card goes to the other team. Swap teams each card. Encourage relative-clause-style definitions: 'It's a place where…', 'It's something you…', 'It's when your boss…'. Words from 7A (boarding school), 7B (chimney, basement), 8A (overtime, sacked, retire), 8B (receipt, bargain).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7.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8.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(6 min). VARIATION: prediction. 1 min: books open at p.85, cover the text; show the photo on the slide (children touching a toy car) and the end of the title, '…TOUCH!' – pairs predict the topic. 2 min: read once for a (choose the best title – the three options on the slide). 3 min: b (complete gaps 1–8 with the best word or phrase – the options on the slide are the book's). Click 1 for the official answers (TG key): a 2 (Look, but don't touch!) · b 1 obey · 2 value · 3 prepared · 4 depending on · 5 longer · 6 encourage · 7 losing · 8 shoppers. The text (adapted from The Times) is about a study from Ohio and Illinois state universities: touching an item (a cheap coffee mug) makes people value it more – some shops encourage customers to touch products. Pre-teach 2–3 words if needed (obey, value, attached). TG: the reading is slightly higher level than the File texts but revises the same grammar and vocabulary. If time is short, set this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(6 min). The video is embedded (2 min 50 s). Before watching: students read the five questions and options a–c on p.85 (the slide shows the question stems): 1 Philomena's maths teachers ___ (a made her want to become a teacher herself · b were very inspiring · c weren't as good as her history teacher) · 2 Adina is happy to buy ___ online (a anything · b most things · c food and clothes) · 3 Daniel remembers being annoyed with a waiter who ___ (a didn't want to serve his table · b complained about the tip · c wasn't polite) · 4 Scott currently ___ (a only has a small garden · b doesn't have a garden · c has a lot of plants in his garden) · 5 At the start of her career, Coleen thought that a good salary was ___ an enjoyable job (a more important than · b less important than · c as important as). Play once; pairs compare; play again if needed. Official answers (TG key): 1 c · 2 a · 3 c · 4 a · 5 a. Details from the video script: 1 Philomena – favourite subject history (her history teacher was inspiring – the reason she became a teacher); she hated maths ('I just don't have a mathematical brain') · 2 Adina – buys clothes, food and beauty products online; there's nothing she wouldn't buy online · 3 Daniel – a waiter was very rude and dropped the plate on the table; he didn't tip the waiter · 4 Scott – he'd like more green space (they have a little patio) · 5 Coleen – first she thought the salary, later an enjoyable job; now she thinks both are important. Click 1 for all answers. After: pairs ask each other the five interview questions (VARIATION: personalisation). If the embedded video doesn't play, use the Teacher's Resource Centre / class video or audio 8.22.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(5 min). VARIATION: constraint challenge + beat the clock. Pairs: A chooses a topic for B; B talks for 30 seconds (A times it) and must use the grammar in brackets at least once; A says 'Stop!' if B hesitates for more than 3 seconds or speaks Italian. Swap, 3 topics each. Topics 1–5 are the SB 'Can you say this in English?' can-dos on p.85 (1 describe the schools you went to · 2 your ideal holiday house · 3 a) what will you do if you don't pass your English exam, b) what would you do if you won a lot of money · 4 report three questions somebody has asked you today and say what you answered); topic 6 is ours (8A). Afterwards students tick the boxes in the book for what they can do (TG). Topic 1: make / let / allowed to are from Vocabulary Bank Education (7A).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Count the team scores and announce the winners. Students choose a face for each can-do – any 😐 faces show you what to recycle in File 9. Homework: finish any part of Revise and Check 7&amp;8 not done in class + Online Practice 'Check your progress' + the R7-8 homework sheet (easier version available). There is no Workbook section for Revise and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Recycles 8A (Dragons' Den, Presenting a product box, audio 8.12: Frame Again) plus first conditional (If you buy…, you'll…) and gerund / infinitive. VARIATION: student-generated content + mild competition. Dragons must use reported speech in feedback: 'They said it would cost €2.99, but I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Choosing between conditionals (7B Grammar Bank: first conditional = a possible / real future situation; second conditional = an imaginary or unlikely situation). Pairs decide which conditional and finish each sentence for themselves, then ask a partner a follow-up question. Click 1 for the conditional type. VARIATION: personalisation with boundaries (item 5 is the same question Scott answers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jp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video" Target="../media/media-17-3.mp4"/><Relationship Id="rId4" Type="http://schemas.microsoft.com/office/2007/relationships/media" Target="../media/media-17-3.mp4"/><Relationship Id="rId5" Type="http://schemas.openxmlformats.org/officeDocument/2006/relationships/image" Target="../media/image-17-5.png"/><Relationship Id="rId6" Type="http://schemas.openxmlformats.org/officeDocument/2006/relationships/image" Target="../media/image-17-6.jp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R7-8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3600" dirty="0">
                <a:solidFill>
                  <a:srgbClr val="FFD84D"/>
                </a:solidFill>
                <a:latin typeface="Arial Black" pitchFamily="34" charset="0"/>
                <a:ea typeface="Arial Black" pitchFamily="34" charset="-122"/>
                <a:cs typeface="Arial Black" pitchFamily="34" charset="-120"/>
              </a:rPr>
              <a:t>R7-8</a:t>
            </a:r>
            <a:endParaRPr lang="en-US" sz="3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050" dirty="0">
                <a:solidFill>
                  <a:srgbClr val="E9E2FB"/>
                </a:solidFill>
                <a:latin typeface="Arial Black" pitchFamily="34" charset="0"/>
                <a:ea typeface="Arial Black" pitchFamily="34" charset="-122"/>
                <a:cs typeface="Arial Black" pitchFamily="34" charset="-120"/>
              </a:rPr>
              <a:t>ENGLISH FILE B1 · R7-8 · Part 1 · SB pp.84–85</a:t>
            </a:r>
            <a:endParaRPr lang="en-US" sz="1050" dirty="0"/>
          </a:p>
        </p:txBody>
      </p:sp>
      <p:sp>
        <p:nvSpPr>
          <p:cNvPr id="9" name="title_7"/>
          <p:cNvSpPr txBox="1"/>
          <p:nvPr/>
        </p:nvSpPr>
        <p:spPr>
          <a:xfrm rot="-180000">
            <a:off x="411480" y="1325880"/>
            <a:ext cx="5120640"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REVISE AND CHECK 7&amp;8</a:t>
            </a:r>
            <a:endParaRPr lang="en-US" sz="2200" dirty="0"/>
          </a:p>
        </p:txBody>
      </p:sp>
      <p:sp>
        <p:nvSpPr>
          <p:cNvPr id="10" name="stamp_8"/>
          <p:cNvSpPr txBox="1"/>
          <p:nvPr/>
        </p:nvSpPr>
        <p:spPr>
          <a:xfrm>
            <a:off x="457200" y="2468880"/>
            <a:ext cx="4572000"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900" dirty="0">
                <a:solidFill>
                  <a:srgbClr val="FFFFFF"/>
                </a:solidFill>
                <a:latin typeface="Arial Black" pitchFamily="34" charset="0"/>
                <a:ea typeface="Arial Black" pitchFamily="34" charset="-122"/>
                <a:cs typeface="Arial Black" pitchFamily="34" charset="-120"/>
              </a:rPr>
              <a:t>GRAMMAR · conditionals · gerund or infinitive · reported speech</a:t>
            </a:r>
            <a:endParaRPr lang="en-US" sz="900" dirty="0"/>
          </a:p>
        </p:txBody>
      </p:sp>
      <p:sp>
        <p:nvSpPr>
          <p:cNvPr id="11" name="stamp_9"/>
          <p:cNvSpPr txBox="1"/>
          <p:nvPr/>
        </p:nvSpPr>
        <p:spPr>
          <a:xfrm>
            <a:off x="457200" y="2944368"/>
            <a:ext cx="4572000"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VOCABULARY · education · houses · work · shopping</a:t>
            </a:r>
            <a:endParaRPr lang="en-US" sz="1100" dirty="0"/>
          </a:p>
        </p:txBody>
      </p:sp>
      <p:sp>
        <p:nvSpPr>
          <p:cNvPr id="12" name="stamp_10"/>
          <p:cNvSpPr txBox="1"/>
          <p:nvPr/>
        </p:nvSpPr>
        <p:spPr>
          <a:xfrm>
            <a:off x="457200" y="3419856"/>
            <a:ext cx="4389120"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VIDEO · Can you understand these people?</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Trophy">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Student">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House">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Files 7 and 8: how much can you remember?</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Let's play and find out!</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WARMER · Files 7 &amp; 8 vocabulary</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8" name="title_23"/>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Category race</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Teams: write 3 words in 20 seconds!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Squadre: scrivete 3 parole in 20 secondi!</a:t>
            </a:r>
            <a:endParaRPr lang="en-US" sz="1250" dirty="0"/>
          </a:p>
        </p:txBody>
      </p:sp>
      <p:sp>
        <p:nvSpPr>
          <p:cNvPr id="12"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8"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4" name="box_29"/>
          <p:cNvSpPr txBox="1"/>
          <p:nvPr/>
        </p:nvSpPr>
        <p:spPr>
          <a:xfrm>
            <a:off x="2788920" y="1371600"/>
            <a:ext cx="3017520"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3 types of school (7A)</a:t>
            </a:r>
            <a:endParaRPr lang="en-US" sz="1300" dirty="0"/>
          </a:p>
        </p:txBody>
      </p:sp>
      <p:sp>
        <p:nvSpPr>
          <p:cNvPr id="15" name="R1_a0"/>
          <p:cNvSpPr txBox="1"/>
          <p:nvPr/>
        </p:nvSpPr>
        <p:spPr>
          <a:xfrm>
            <a:off x="5861304" y="1408176"/>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nursery · primary · secondary · state · private · boarding</a:t>
            </a:r>
            <a:endParaRPr lang="en-US" sz="1000" dirty="0"/>
          </a:p>
        </p:txBody>
      </p:sp>
      <p:sp>
        <p:nvSpPr>
          <p:cNvPr id="16" name="box_30"/>
          <p:cNvSpPr txBox="1"/>
          <p:nvPr/>
        </p:nvSpPr>
        <p:spPr>
          <a:xfrm>
            <a:off x="2788920" y="1941576"/>
            <a:ext cx="3017520"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3 parts of a house (7B)</a:t>
            </a:r>
            <a:endParaRPr lang="en-US" sz="1300" dirty="0"/>
          </a:p>
        </p:txBody>
      </p:sp>
      <p:sp>
        <p:nvSpPr>
          <p:cNvPr id="17" name="R2_a1"/>
          <p:cNvSpPr txBox="1"/>
          <p:nvPr/>
        </p:nvSpPr>
        <p:spPr>
          <a:xfrm>
            <a:off x="5861304" y="1978152"/>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attic · balcony · basement · chimney · roof · gate · steps…</a:t>
            </a:r>
            <a:endParaRPr lang="en-US" sz="1000" dirty="0"/>
          </a:p>
        </p:txBody>
      </p:sp>
      <p:sp>
        <p:nvSpPr>
          <p:cNvPr id="18" name="box_31"/>
          <p:cNvSpPr txBox="1"/>
          <p:nvPr/>
        </p:nvSpPr>
        <p:spPr>
          <a:xfrm>
            <a:off x="2788920" y="2511552"/>
            <a:ext cx="3017520"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3 things that can happen to you at work (8A)</a:t>
            </a:r>
            <a:endParaRPr lang="en-US" sz="1050" dirty="0"/>
          </a:p>
        </p:txBody>
      </p:sp>
      <p:sp>
        <p:nvSpPr>
          <p:cNvPr id="19" name="R3_a2"/>
          <p:cNvSpPr txBox="1"/>
          <p:nvPr/>
        </p:nvSpPr>
        <p:spPr>
          <a:xfrm>
            <a:off x="5861304" y="2548128"/>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get promoted · be sacked · retire · resign · do overtime…</a:t>
            </a:r>
            <a:endParaRPr lang="en-US" sz="1000" dirty="0"/>
          </a:p>
        </p:txBody>
      </p:sp>
      <p:sp>
        <p:nvSpPr>
          <p:cNvPr id="20" name="box_32"/>
          <p:cNvSpPr txBox="1"/>
          <p:nvPr/>
        </p:nvSpPr>
        <p:spPr>
          <a:xfrm>
            <a:off x="2788920" y="3081528"/>
            <a:ext cx="3017520"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3 words you need in a shop (8B)</a:t>
            </a:r>
            <a:endParaRPr lang="en-US" sz="1300" dirty="0"/>
          </a:p>
        </p:txBody>
      </p:sp>
      <p:sp>
        <p:nvSpPr>
          <p:cNvPr id="21" name="R4_a3"/>
          <p:cNvSpPr txBox="1"/>
          <p:nvPr/>
        </p:nvSpPr>
        <p:spPr>
          <a:xfrm>
            <a:off x="5861304" y="3118104"/>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receipt · refund · bargain · discount · changing room…</a:t>
            </a:r>
            <a:endParaRPr lang="en-US" sz="1000" dirty="0"/>
          </a:p>
        </p:txBody>
      </p:sp>
      <p:sp>
        <p:nvSpPr>
          <p:cNvPr id="22" name="box_33"/>
          <p:cNvSpPr txBox="1"/>
          <p:nvPr/>
        </p:nvSpPr>
        <p:spPr>
          <a:xfrm>
            <a:off x="2788920" y="3651504"/>
            <a:ext cx="3017520"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3 verbs + -ing (8A)</a:t>
            </a:r>
            <a:endParaRPr lang="en-US" sz="1300" dirty="0"/>
          </a:p>
        </p:txBody>
      </p:sp>
      <p:sp>
        <p:nvSpPr>
          <p:cNvPr id="23" name="R5_a4"/>
          <p:cNvSpPr txBox="1"/>
          <p:nvPr/>
        </p:nvSpPr>
        <p:spPr>
          <a:xfrm>
            <a:off x="5861304" y="3688080"/>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enjoy · mind · finish · spend time · can't stand…</a:t>
            </a:r>
            <a:endParaRPr lang="en-US" sz="1050" dirty="0"/>
          </a:p>
        </p:txBody>
      </p:sp>
      <p:sp>
        <p:nvSpPr>
          <p:cNvPr id="24" name="box_34"/>
          <p:cNvSpPr txBox="1"/>
          <p:nvPr/>
        </p:nvSpPr>
        <p:spPr>
          <a:xfrm>
            <a:off x="2788920" y="4221480"/>
            <a:ext cx="3017520"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3 nouns ending in -ment (8B)</a:t>
            </a:r>
            <a:endParaRPr lang="en-US" sz="1300" dirty="0"/>
          </a:p>
        </p:txBody>
      </p:sp>
      <p:sp>
        <p:nvSpPr>
          <p:cNvPr id="25" name="R6_a5"/>
          <p:cNvSpPr txBox="1"/>
          <p:nvPr/>
        </p:nvSpPr>
        <p:spPr>
          <a:xfrm>
            <a:off x="5861304" y="4258056"/>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payment · agreement · argument · improvement…</a:t>
            </a:r>
            <a:endParaRPr lang="en-US" sz="1000" dirty="0"/>
          </a:p>
        </p:txBody>
      </p:sp>
      <p:sp>
        <p:nvSpPr>
          <p:cNvPr id="26"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950" dirty="0">
                <a:solidFill>
                  <a:srgbClr val="334155"/>
                </a:solidFill>
                <a:latin typeface="Calibri" pitchFamily="34" charset="0"/>
                <a:ea typeface="Calibri" pitchFamily="34" charset="-122"/>
                <a:cs typeface="Calibri" pitchFamily="34" charset="-120"/>
              </a:rPr>
              <a:t>📖 Teacher: Vocabulary Banks Education (7A), Houses (7B), Work p.163, Word-building p.164 · Grammar Bank 8A</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6"/>
          <p:cNvSpPr/>
          <p:nvPr/>
        </p:nvSpPr>
        <p:spPr>
          <a:xfrm>
            <a:off x="54864" y="54864"/>
            <a:ext cx="9034272" cy="5033772"/>
          </a:xfrm>
          <a:prstGeom prst="rect">
            <a:avLst/>
          </a:prstGeom>
          <a:ln w="114300">
            <a:solidFill>
              <a:srgbClr val="A8E6B4"/>
            </a:solidFill>
            <a:prstDash val="solid"/>
          </a:ln>
        </p:spPr>
      </p:sp>
      <p:pic>
        <p:nvPicPr>
          <p:cNvPr id="4" name="logo_3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SB p.84 · 1–15</a:t>
            </a:r>
            <a:endParaRPr lang="en-US" sz="900" dirty="0"/>
          </a:p>
        </p:txBody>
      </p:sp>
      <p:sp>
        <p:nvSpPr>
          <p:cNvPr id="6" name="timer_3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4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8" name="title_41"/>
          <p:cNvSpPr txBox="1"/>
          <p:nvPr/>
        </p:nvSpPr>
        <p:spPr>
          <a:xfrm rot="-120000">
            <a:off x="320040" y="676656"/>
            <a:ext cx="397764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 b or c? Team race</a:t>
            </a:r>
            <a:endParaRPr lang="en-US" sz="1500" dirty="0"/>
          </a:p>
        </p:txBody>
      </p:sp>
      <p:sp>
        <p:nvSpPr>
          <p:cNvPr id="9" name="post_4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3"/>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4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Do Grammar 1–15 in teams. Hold up a, b or c!</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Fate Grammar 1–15 in squadra. Alzate a, b o c!</a:t>
            </a:r>
            <a:endParaRPr lang="en-US" sz="1250" dirty="0"/>
          </a:p>
        </p:txBody>
      </p:sp>
      <p:sp>
        <p:nvSpPr>
          <p:cNvPr id="12" name="iconBack_4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46" descr="pi:PiCheckSquare">    </p:cNvPr>
          <p:cNvPicPr>
            <a:picLocks noChangeAspect="1"/>
          </p:cNvPicPr>
          <p:nvPr/>
        </p:nvPicPr>
        <p:blipFill>
          <a:blip r:embed="rId3"/>
          <a:stretch>
            <a:fillRect/>
          </a:stretch>
        </p:blipFill>
        <p:spPr>
          <a:xfrm>
            <a:off x="914400" y="3474720"/>
            <a:ext cx="685800" cy="685800"/>
          </a:xfrm>
          <a:prstGeom prst="rect">
            <a:avLst/>
          </a:prstGeom>
        </p:spPr>
      </p:pic>
      <p:sp>
        <p:nvSpPr>
          <p:cNvPr id="14" name="box_47"/>
          <p:cNvSpPr txBox="1"/>
          <p:nvPr/>
        </p:nvSpPr>
        <p:spPr>
          <a:xfrm>
            <a:off x="2788920" y="1371600"/>
            <a:ext cx="2051914"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1  Grammar 1–5</a:t>
            </a:r>
            <a:endParaRPr lang="en-US" sz="1600" dirty="0"/>
          </a:p>
        </p:txBody>
      </p:sp>
      <p:sp>
        <p:nvSpPr>
          <p:cNvPr id="15" name="R1_a0"/>
          <p:cNvSpPr txBox="1"/>
          <p:nvPr/>
        </p:nvSpPr>
        <p:spPr>
          <a:xfrm>
            <a:off x="4895698" y="1408176"/>
            <a:ext cx="3928262"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1 a · 2 a · 3 b · 4 b · 5 c</a:t>
            </a:r>
            <a:endParaRPr lang="en-US" sz="1500" dirty="0"/>
          </a:p>
        </p:txBody>
      </p:sp>
      <p:sp>
        <p:nvSpPr>
          <p:cNvPr id="16" name="box_48"/>
          <p:cNvSpPr txBox="1"/>
          <p:nvPr/>
        </p:nvSpPr>
        <p:spPr>
          <a:xfrm>
            <a:off x="2788920" y="2368296"/>
            <a:ext cx="2051914"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2  Grammar 6–10</a:t>
            </a:r>
            <a:endParaRPr lang="en-US" sz="1600" dirty="0"/>
          </a:p>
        </p:txBody>
      </p:sp>
      <p:sp>
        <p:nvSpPr>
          <p:cNvPr id="17" name="R2_a1"/>
          <p:cNvSpPr txBox="1"/>
          <p:nvPr/>
        </p:nvSpPr>
        <p:spPr>
          <a:xfrm>
            <a:off x="4895698" y="2404872"/>
            <a:ext cx="3928262"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6 b · 7 a · 8 b · 9 a · 10 a</a:t>
            </a:r>
            <a:endParaRPr lang="en-US" sz="1500" dirty="0"/>
          </a:p>
        </p:txBody>
      </p:sp>
      <p:sp>
        <p:nvSpPr>
          <p:cNvPr id="18" name="box_49"/>
          <p:cNvSpPr txBox="1"/>
          <p:nvPr/>
        </p:nvSpPr>
        <p:spPr>
          <a:xfrm>
            <a:off x="2788920" y="3364992"/>
            <a:ext cx="2051914"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3  Grammar 11–15</a:t>
            </a:r>
            <a:endParaRPr lang="en-US" sz="1600" dirty="0"/>
          </a:p>
        </p:txBody>
      </p:sp>
      <p:sp>
        <p:nvSpPr>
          <p:cNvPr id="19" name="R3_a2"/>
          <p:cNvSpPr txBox="1"/>
          <p:nvPr/>
        </p:nvSpPr>
        <p:spPr>
          <a:xfrm>
            <a:off x="4895698" y="3401568"/>
            <a:ext cx="3928262"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11 b · 12 c · 13 b · 14 c · 15 c</a:t>
            </a:r>
            <a:endParaRPr lang="en-US" sz="1500" dirty="0"/>
          </a:p>
        </p:txBody>
      </p:sp>
      <p:sp>
        <p:nvSpPr>
          <p:cNvPr id="20" name="pageTag_5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p.84 · Grammar 1–15</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51"/>
          <p:cNvSpPr/>
          <p:nvPr/>
        </p:nvSpPr>
        <p:spPr>
          <a:xfrm>
            <a:off x="54864" y="54864"/>
            <a:ext cx="9034272" cy="5033772"/>
          </a:xfrm>
          <a:prstGeom prst="rect">
            <a:avLst/>
          </a:prstGeom>
          <a:ln w="114300">
            <a:solidFill>
              <a:srgbClr val="A8E6B4"/>
            </a:solidFill>
            <a:prstDash val="solid"/>
          </a:ln>
        </p:spPr>
      </p:sp>
      <p:pic>
        <p:nvPicPr>
          <p:cNvPr id="4" name="logo_5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5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Grammar auction</a:t>
            </a:r>
            <a:endParaRPr lang="en-US" sz="900" dirty="0"/>
          </a:p>
        </p:txBody>
      </p:sp>
      <p:sp>
        <p:nvSpPr>
          <p:cNvPr id="6" name="timer_5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5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8" name="title_56"/>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Buy the correct sentences!</a:t>
            </a:r>
            <a:endParaRPr lang="en-US" sz="1500" dirty="0"/>
          </a:p>
        </p:txBody>
      </p:sp>
      <p:sp>
        <p:nvSpPr>
          <p:cNvPr id="9" name="post_5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58"/>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5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You have €100. Bid on the sentences you think are CORRECT!</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Avete 100 €. Comprate le frasi che pensate siano CORRETTE!</a:t>
            </a:r>
            <a:endParaRPr lang="en-US" sz="1200" dirty="0"/>
          </a:p>
        </p:txBody>
      </p:sp>
      <p:sp>
        <p:nvSpPr>
          <p:cNvPr id="12" name="iconBack_6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61" descr="pi:PiCoins">    </p:cNvPr>
          <p:cNvPicPr>
            <a:picLocks noChangeAspect="1"/>
          </p:cNvPicPr>
          <p:nvPr/>
        </p:nvPicPr>
        <p:blipFill>
          <a:blip r:embed="rId3"/>
          <a:stretch>
            <a:fillRect/>
          </a:stretch>
        </p:blipFill>
        <p:spPr>
          <a:xfrm>
            <a:off x="914400" y="3474720"/>
            <a:ext cx="685800" cy="685800"/>
          </a:xfrm>
          <a:prstGeom prst="rect">
            <a:avLst/>
          </a:prstGeom>
        </p:spPr>
      </p:pic>
      <p:sp>
        <p:nvSpPr>
          <p:cNvPr id="14" name="box_62"/>
          <p:cNvSpPr txBox="1"/>
          <p:nvPr/>
        </p:nvSpPr>
        <p:spPr>
          <a:xfrm>
            <a:off x="2788920" y="1371600"/>
            <a:ext cx="3741725" cy="299466"/>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1  If I'll see her tomorrow, I'll tell her.</a:t>
            </a:r>
            <a:endParaRPr lang="en-US" sz="850" dirty="0"/>
          </a:p>
        </p:txBody>
      </p:sp>
      <p:sp>
        <p:nvSpPr>
          <p:cNvPr id="15" name="R1_a0"/>
          <p:cNvSpPr txBox="1"/>
          <p:nvPr/>
        </p:nvSpPr>
        <p:spPr>
          <a:xfrm>
            <a:off x="6585509" y="1408176"/>
            <a:ext cx="2238451"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 If I see her…</a:t>
            </a:r>
            <a:endParaRPr lang="en-US" sz="1150" dirty="0"/>
          </a:p>
        </p:txBody>
      </p:sp>
      <p:sp>
        <p:nvSpPr>
          <p:cNvPr id="16" name="box_63"/>
          <p:cNvSpPr txBox="1"/>
          <p:nvPr/>
        </p:nvSpPr>
        <p:spPr>
          <a:xfrm>
            <a:off x="2788920" y="1799082"/>
            <a:ext cx="3741725" cy="299466"/>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2  I won't go out until I finish my homework.</a:t>
            </a:r>
            <a:endParaRPr lang="en-US" sz="850" dirty="0"/>
          </a:p>
        </p:txBody>
      </p:sp>
      <p:sp>
        <p:nvSpPr>
          <p:cNvPr id="17" name="R2_a1"/>
          <p:cNvSpPr txBox="1"/>
          <p:nvPr/>
        </p:nvSpPr>
        <p:spPr>
          <a:xfrm>
            <a:off x="6585509" y="1835658"/>
            <a:ext cx="2238451"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 correct</a:t>
            </a:r>
            <a:endParaRPr lang="en-US" sz="1150" dirty="0"/>
          </a:p>
        </p:txBody>
      </p:sp>
      <p:sp>
        <p:nvSpPr>
          <p:cNvPr id="18" name="box_64"/>
          <p:cNvSpPr txBox="1"/>
          <p:nvPr/>
        </p:nvSpPr>
        <p:spPr>
          <a:xfrm>
            <a:off x="2788920" y="2226564"/>
            <a:ext cx="3741725" cy="299466"/>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3  If I were you, I'd buy a flat in the centre.</a:t>
            </a:r>
            <a:endParaRPr lang="en-US" sz="850" dirty="0"/>
          </a:p>
        </p:txBody>
      </p:sp>
      <p:sp>
        <p:nvSpPr>
          <p:cNvPr id="19" name="R3_a2"/>
          <p:cNvSpPr txBox="1"/>
          <p:nvPr/>
        </p:nvSpPr>
        <p:spPr>
          <a:xfrm>
            <a:off x="6585509" y="2263140"/>
            <a:ext cx="2238451"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 correct</a:t>
            </a:r>
            <a:endParaRPr lang="en-US" sz="1150" dirty="0"/>
          </a:p>
        </p:txBody>
      </p:sp>
      <p:sp>
        <p:nvSpPr>
          <p:cNvPr id="20" name="box_65"/>
          <p:cNvSpPr txBox="1"/>
          <p:nvPr/>
        </p:nvSpPr>
        <p:spPr>
          <a:xfrm>
            <a:off x="2788920" y="2654046"/>
            <a:ext cx="3741725" cy="299466"/>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4  If we would have a garden, we'd get a dog.</a:t>
            </a:r>
            <a:endParaRPr lang="en-US" sz="850" dirty="0"/>
          </a:p>
        </p:txBody>
      </p:sp>
      <p:sp>
        <p:nvSpPr>
          <p:cNvPr id="21" name="R4_a3"/>
          <p:cNvSpPr txBox="1"/>
          <p:nvPr/>
        </p:nvSpPr>
        <p:spPr>
          <a:xfrm>
            <a:off x="6585509" y="2690622"/>
            <a:ext cx="2238451"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 If we had a garden…</a:t>
            </a:r>
            <a:endParaRPr lang="en-US" sz="1150" dirty="0"/>
          </a:p>
        </p:txBody>
      </p:sp>
      <p:sp>
        <p:nvSpPr>
          <p:cNvPr id="22" name="box_66"/>
          <p:cNvSpPr txBox="1"/>
          <p:nvPr/>
        </p:nvSpPr>
        <p:spPr>
          <a:xfrm>
            <a:off x="2788920" y="3081528"/>
            <a:ext cx="3741725" cy="299466"/>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5  I don't mind to work overtime.</a:t>
            </a:r>
            <a:endParaRPr lang="en-US" sz="850" dirty="0"/>
          </a:p>
        </p:txBody>
      </p:sp>
      <p:sp>
        <p:nvSpPr>
          <p:cNvPr id="23" name="R5_a4"/>
          <p:cNvSpPr txBox="1"/>
          <p:nvPr/>
        </p:nvSpPr>
        <p:spPr>
          <a:xfrm>
            <a:off x="6585509" y="3118104"/>
            <a:ext cx="2238451"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 I don't mind working…</a:t>
            </a:r>
            <a:endParaRPr lang="en-US" sz="1150" dirty="0"/>
          </a:p>
        </p:txBody>
      </p:sp>
      <p:sp>
        <p:nvSpPr>
          <p:cNvPr id="24" name="box_67"/>
          <p:cNvSpPr txBox="1"/>
          <p:nvPr/>
        </p:nvSpPr>
        <p:spPr>
          <a:xfrm>
            <a:off x="2788920" y="3509010"/>
            <a:ext cx="3741725" cy="299466"/>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6  She decided to apply for the job.</a:t>
            </a:r>
            <a:endParaRPr lang="en-US" sz="850" dirty="0"/>
          </a:p>
        </p:txBody>
      </p:sp>
      <p:sp>
        <p:nvSpPr>
          <p:cNvPr id="25" name="R6_a5"/>
          <p:cNvSpPr txBox="1"/>
          <p:nvPr/>
        </p:nvSpPr>
        <p:spPr>
          <a:xfrm>
            <a:off x="6585509" y="3545586"/>
            <a:ext cx="2238451"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 correct</a:t>
            </a:r>
            <a:endParaRPr lang="en-US" sz="1150" dirty="0"/>
          </a:p>
        </p:txBody>
      </p:sp>
      <p:sp>
        <p:nvSpPr>
          <p:cNvPr id="26" name="box_68"/>
          <p:cNvSpPr txBox="1"/>
          <p:nvPr/>
        </p:nvSpPr>
        <p:spPr>
          <a:xfrm>
            <a:off x="2788920" y="3936492"/>
            <a:ext cx="3741725" cy="299466"/>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7  He said me that he was tired.</a:t>
            </a:r>
            <a:endParaRPr lang="en-US" sz="850" dirty="0"/>
          </a:p>
        </p:txBody>
      </p:sp>
      <p:sp>
        <p:nvSpPr>
          <p:cNvPr id="27" name="R7_a6"/>
          <p:cNvSpPr txBox="1"/>
          <p:nvPr/>
        </p:nvSpPr>
        <p:spPr>
          <a:xfrm>
            <a:off x="6585509" y="3973068"/>
            <a:ext cx="2238451"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 He told me / He said (that)…</a:t>
            </a:r>
            <a:endParaRPr lang="en-US" sz="1100" dirty="0"/>
          </a:p>
        </p:txBody>
      </p:sp>
      <p:sp>
        <p:nvSpPr>
          <p:cNvPr id="28" name="box_69"/>
          <p:cNvSpPr txBox="1"/>
          <p:nvPr/>
        </p:nvSpPr>
        <p:spPr>
          <a:xfrm>
            <a:off x="2788920" y="4363974"/>
            <a:ext cx="3741725" cy="299466"/>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8  She asked me where I lived.</a:t>
            </a:r>
            <a:endParaRPr lang="en-US" sz="850" dirty="0"/>
          </a:p>
        </p:txBody>
      </p:sp>
      <p:sp>
        <p:nvSpPr>
          <p:cNvPr id="29" name="R8_a7"/>
          <p:cNvSpPr txBox="1"/>
          <p:nvPr/>
        </p:nvSpPr>
        <p:spPr>
          <a:xfrm>
            <a:off x="6585509" y="4400550"/>
            <a:ext cx="2238451"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 correct</a:t>
            </a:r>
            <a:endParaRPr lang="en-US" sz="1150" dirty="0"/>
          </a:p>
        </p:txBody>
      </p:sp>
      <p:sp>
        <p:nvSpPr>
          <p:cNvPr id="30" name="pageTag_7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Banks 7A, 7B, 8A, 8B · our sentences (not from the book)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1"/>
          <p:cNvSpPr/>
          <p:nvPr/>
        </p:nvSpPr>
        <p:spPr>
          <a:xfrm>
            <a:off x="54864" y="54864"/>
            <a:ext cx="9034272" cy="5033772"/>
          </a:xfrm>
          <a:prstGeom prst="rect">
            <a:avLst/>
          </a:prstGeom>
          <a:ln w="114300">
            <a:solidFill>
              <a:srgbClr val="A8E6B4"/>
            </a:solidFill>
            <a:prstDash val="solid"/>
          </a:ln>
        </p:spPr>
      </p:sp>
      <p:pic>
        <p:nvPicPr>
          <p:cNvPr id="4" name="logo_7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SB p.84 · a–d</a:t>
            </a:r>
            <a:endParaRPr lang="en-US" sz="900" dirty="0"/>
          </a:p>
        </p:txBody>
      </p:sp>
      <p:sp>
        <p:nvSpPr>
          <p:cNvPr id="6" name="timer_7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7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8" name="title_76"/>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Vocabulary relay</a:t>
            </a:r>
            <a:endParaRPr lang="en-US" sz="1500" dirty="0"/>
          </a:p>
        </p:txBody>
      </p:sp>
      <p:sp>
        <p:nvSpPr>
          <p:cNvPr id="9" name="post_7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78"/>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7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Do Vocabulary a–d. Then run and write the answers!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Fate Vocabulary a–d. Poi correte a scrivere le risposte!</a:t>
            </a:r>
            <a:endParaRPr lang="en-US" sz="1250" dirty="0"/>
          </a:p>
        </p:txBody>
      </p:sp>
      <p:sp>
        <p:nvSpPr>
          <p:cNvPr id="12" name="iconBack_8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81" descr="pi:PiLightning">    </p:cNvPr>
          <p:cNvPicPr>
            <a:picLocks noChangeAspect="1"/>
          </p:cNvPicPr>
          <p:nvPr/>
        </p:nvPicPr>
        <p:blipFill>
          <a:blip r:embed="rId3"/>
          <a:stretch>
            <a:fillRect/>
          </a:stretch>
        </p:blipFill>
        <p:spPr>
          <a:xfrm>
            <a:off x="914400" y="3474720"/>
            <a:ext cx="685800" cy="685800"/>
          </a:xfrm>
          <a:prstGeom prst="rect">
            <a:avLst/>
          </a:prstGeom>
        </p:spPr>
      </p:pic>
      <p:sp>
        <p:nvSpPr>
          <p:cNvPr id="14" name="box_82"/>
          <p:cNvSpPr txBox="1"/>
          <p:nvPr/>
        </p:nvSpPr>
        <p:spPr>
          <a:xfrm>
            <a:off x="2788920" y="1371600"/>
            <a:ext cx="1810512"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a  Education</a:t>
            </a:r>
            <a:endParaRPr lang="en-US" sz="1300" dirty="0"/>
          </a:p>
        </p:txBody>
      </p:sp>
      <p:sp>
        <p:nvSpPr>
          <p:cNvPr id="15" name="R1_a0"/>
          <p:cNvSpPr txBox="1"/>
          <p:nvPr/>
        </p:nvSpPr>
        <p:spPr>
          <a:xfrm>
            <a:off x="4654296" y="1408176"/>
            <a:ext cx="4169664"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terms · 2 nursery · 3 secondary · 4 behave · 5 boarding</a:t>
            </a:r>
            <a:endParaRPr lang="en-US" sz="1200" dirty="0"/>
          </a:p>
        </p:txBody>
      </p:sp>
      <p:sp>
        <p:nvSpPr>
          <p:cNvPr id="16" name="box_83"/>
          <p:cNvSpPr txBox="1"/>
          <p:nvPr/>
        </p:nvSpPr>
        <p:spPr>
          <a:xfrm>
            <a:off x="2788920" y="2226564"/>
            <a:ext cx="1810512"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b  Houses</a:t>
            </a:r>
            <a:endParaRPr lang="en-US" sz="1300" dirty="0"/>
          </a:p>
        </p:txBody>
      </p:sp>
      <p:sp>
        <p:nvSpPr>
          <p:cNvPr id="17" name="R2_a1"/>
          <p:cNvSpPr txBox="1"/>
          <p:nvPr/>
        </p:nvSpPr>
        <p:spPr>
          <a:xfrm>
            <a:off x="4654296" y="2263140"/>
            <a:ext cx="4169664"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on · 2 ceiling · 3 gate · 4 on · 5 fireplace</a:t>
            </a:r>
            <a:endParaRPr lang="en-US" sz="1200" dirty="0"/>
          </a:p>
        </p:txBody>
      </p:sp>
      <p:sp>
        <p:nvSpPr>
          <p:cNvPr id="18" name="box_84"/>
          <p:cNvSpPr txBox="1"/>
          <p:nvPr/>
        </p:nvSpPr>
        <p:spPr>
          <a:xfrm>
            <a:off x="2788920" y="3081528"/>
            <a:ext cx="1810512"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c  Work</a:t>
            </a:r>
            <a:endParaRPr lang="en-US" sz="1300" dirty="0"/>
          </a:p>
        </p:txBody>
      </p:sp>
      <p:sp>
        <p:nvSpPr>
          <p:cNvPr id="19" name="R3_a2"/>
          <p:cNvSpPr txBox="1"/>
          <p:nvPr/>
        </p:nvSpPr>
        <p:spPr>
          <a:xfrm>
            <a:off x="4654296" y="3118104"/>
            <a:ext cx="4169664"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overtime · 2 shifts · 3 temporary · 4 set · 5 self-employed</a:t>
            </a:r>
            <a:endParaRPr lang="en-US" sz="1200" dirty="0"/>
          </a:p>
        </p:txBody>
      </p:sp>
      <p:sp>
        <p:nvSpPr>
          <p:cNvPr id="20" name="box_85"/>
          <p:cNvSpPr txBox="1"/>
          <p:nvPr/>
        </p:nvSpPr>
        <p:spPr>
          <a:xfrm>
            <a:off x="2788920" y="3936492"/>
            <a:ext cx="1810512"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d  Nouns</a:t>
            </a:r>
            <a:endParaRPr lang="en-US" sz="1300" dirty="0"/>
          </a:p>
        </p:txBody>
      </p:sp>
      <p:sp>
        <p:nvSpPr>
          <p:cNvPr id="21" name="R4_a3"/>
          <p:cNvSpPr txBox="1"/>
          <p:nvPr/>
        </p:nvSpPr>
        <p:spPr>
          <a:xfrm>
            <a:off x="4654296" y="3973068"/>
            <a:ext cx="4169664"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choice · agreement · success · complaint · demonstration · improvement · qualifications · translator · scientists · explanation</a:t>
            </a:r>
            <a:endParaRPr lang="en-US" sz="1200" dirty="0"/>
          </a:p>
        </p:txBody>
      </p:sp>
      <p:sp>
        <p:nvSpPr>
          <p:cNvPr id="22" name="pageTag_8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p.84 · Vocabulary a–d</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7"/>
          <p:cNvSpPr/>
          <p:nvPr/>
        </p:nvSpPr>
        <p:spPr>
          <a:xfrm>
            <a:off x="54864" y="54864"/>
            <a:ext cx="9034272" cy="5033772"/>
          </a:xfrm>
          <a:prstGeom prst="rect">
            <a:avLst/>
          </a:prstGeom>
          <a:ln w="114300">
            <a:solidFill>
              <a:srgbClr val="A8E6B4"/>
            </a:solidFill>
            <a:prstDash val="solid"/>
          </a:ln>
        </p:spPr>
      </p:sp>
      <p:pic>
        <p:nvPicPr>
          <p:cNvPr id="4" name="logo_8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SB p.84 · c, d</a:t>
            </a:r>
            <a:endParaRPr lang="en-US" sz="900" dirty="0"/>
          </a:p>
        </p:txBody>
      </p:sp>
      <p:sp>
        <p:nvSpPr>
          <p:cNvPr id="6" name="timer_9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9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8" name="title_92"/>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Say it to win it</a:t>
            </a:r>
            <a:endParaRPr lang="en-US" sz="1500" dirty="0"/>
          </a:p>
        </p:txBody>
      </p:sp>
      <p:sp>
        <p:nvSpPr>
          <p:cNvPr id="9" name="post_93"/>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94"/>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9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Say the word. Your team scores only if it's perfect!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la parola. La squadra fa punto solo se è perfetta!</a:t>
            </a:r>
            <a:endParaRPr lang="en-US" sz="1250" dirty="0"/>
          </a:p>
        </p:txBody>
      </p:sp>
      <p:sp>
        <p:nvSpPr>
          <p:cNvPr id="12" name="iconBack_96"/>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97" descr="pi:PiMicrophone">    </p:cNvPr>
          <p:cNvPicPr>
            <a:picLocks noChangeAspect="1"/>
          </p:cNvPicPr>
          <p:nvPr/>
        </p:nvPicPr>
        <p:blipFill>
          <a:blip r:embed="rId3"/>
          <a:stretch>
            <a:fillRect/>
          </a:stretch>
        </p:blipFill>
        <p:spPr>
          <a:xfrm>
            <a:off x="914400" y="3474720"/>
            <a:ext cx="685800" cy="685800"/>
          </a:xfrm>
          <a:prstGeom prst="rect">
            <a:avLst/>
          </a:prstGeom>
        </p:spPr>
      </p:pic>
      <p:sp>
        <p:nvSpPr>
          <p:cNvPr id="14" name="box_98"/>
          <p:cNvSpPr txBox="1"/>
          <p:nvPr/>
        </p:nvSpPr>
        <p:spPr>
          <a:xfrm>
            <a:off x="2788920" y="1371600"/>
            <a:ext cx="2172614"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c  Sounds 1–5</a:t>
            </a:r>
            <a:endParaRPr lang="en-US" sz="1300" dirty="0"/>
          </a:p>
        </p:txBody>
      </p:sp>
      <p:sp>
        <p:nvSpPr>
          <p:cNvPr id="15" name="R1_a0"/>
          <p:cNvSpPr txBox="1"/>
          <p:nvPr/>
        </p:nvSpPr>
        <p:spPr>
          <a:xfrm>
            <a:off x="5016398" y="1408176"/>
            <a:ext cx="3807562"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ceiling /s/ · 2 email /eɪ/ · 3 repair /eə/ · 4 roof /uː/ · 5 spacious /ʃ/</a:t>
            </a:r>
            <a:endParaRPr lang="en-US" sz="1200" dirty="0"/>
          </a:p>
        </p:txBody>
      </p:sp>
      <p:sp>
        <p:nvSpPr>
          <p:cNvPr id="16" name="box_99"/>
          <p:cNvSpPr txBox="1"/>
          <p:nvPr/>
        </p:nvSpPr>
        <p:spPr>
          <a:xfrm>
            <a:off x="2788920" y="2226564"/>
            <a:ext cx="2172614"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d  Stress 1–5</a:t>
            </a:r>
            <a:endParaRPr lang="en-US" sz="1300" dirty="0"/>
          </a:p>
        </p:txBody>
      </p:sp>
      <p:sp>
        <p:nvSpPr>
          <p:cNvPr id="17" name="R2_a1"/>
          <p:cNvSpPr txBox="1"/>
          <p:nvPr/>
        </p:nvSpPr>
        <p:spPr>
          <a:xfrm>
            <a:off x="5016398" y="2263140"/>
            <a:ext cx="3807562"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SEcondary · unemPLOYED · deLIvery · apPLY · aCHIEVEment</a:t>
            </a:r>
            <a:endParaRPr lang="en-US" sz="1200" dirty="0"/>
          </a:p>
        </p:txBody>
      </p:sp>
      <p:sp>
        <p:nvSpPr>
          <p:cNvPr id="18" name="box_100"/>
          <p:cNvSpPr txBox="1"/>
          <p:nvPr/>
        </p:nvSpPr>
        <p:spPr>
          <a:xfrm>
            <a:off x="2788920" y="3081528"/>
            <a:ext cx="2172614"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Bonus: ceiling · city · cottage · nice</a:t>
            </a:r>
            <a:endParaRPr lang="en-US" sz="1300" dirty="0"/>
          </a:p>
        </p:txBody>
      </p:sp>
      <p:sp>
        <p:nvSpPr>
          <p:cNvPr id="19" name="R3_a2"/>
          <p:cNvSpPr txBox="1"/>
          <p:nvPr/>
        </p:nvSpPr>
        <p:spPr>
          <a:xfrm>
            <a:off x="5016398" y="3118104"/>
            <a:ext cx="3807562"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cottage – /k/ (the others: /s/)</a:t>
            </a:r>
            <a:endParaRPr lang="en-US" sz="1200" dirty="0"/>
          </a:p>
        </p:txBody>
      </p:sp>
      <p:sp>
        <p:nvSpPr>
          <p:cNvPr id="20" name="box_101"/>
          <p:cNvSpPr txBox="1"/>
          <p:nvPr/>
        </p:nvSpPr>
        <p:spPr>
          <a:xfrm>
            <a:off x="2788920" y="3936492"/>
            <a:ext cx="2172614"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Bonus: bargain · complain · certain</a:t>
            </a:r>
            <a:endParaRPr lang="en-US" sz="1300" dirty="0"/>
          </a:p>
        </p:txBody>
      </p:sp>
      <p:sp>
        <p:nvSpPr>
          <p:cNvPr id="21" name="R4_a3"/>
          <p:cNvSpPr txBox="1"/>
          <p:nvPr/>
        </p:nvSpPr>
        <p:spPr>
          <a:xfrm>
            <a:off x="5016398" y="3973068"/>
            <a:ext cx="3807562"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complain – /eɪ/ (the others: /ə/)</a:t>
            </a:r>
            <a:endParaRPr lang="en-US" sz="1200" dirty="0"/>
          </a:p>
        </p:txBody>
      </p:sp>
      <p:sp>
        <p:nvSpPr>
          <p:cNvPr id="22" name="pageTag_10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p.84 · Pronunciation c, d · Sound Bank pp.166–167</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03"/>
          <p:cNvSpPr/>
          <p:nvPr/>
        </p:nvSpPr>
        <p:spPr>
          <a:xfrm>
            <a:off x="54864" y="54864"/>
            <a:ext cx="9034272" cy="5033772"/>
          </a:xfrm>
          <a:prstGeom prst="rect">
            <a:avLst/>
          </a:prstGeom>
          <a:ln w="114300">
            <a:solidFill>
              <a:srgbClr val="A8E6B4"/>
            </a:solidFill>
            <a:prstDash val="solid"/>
          </a:ln>
        </p:spPr>
      </p:sp>
      <p:pic>
        <p:nvPicPr>
          <p:cNvPr id="4" name="logo_10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0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7 &amp; 8</a:t>
            </a:r>
            <a:endParaRPr lang="en-US" sz="900" dirty="0"/>
          </a:p>
        </p:txBody>
      </p:sp>
      <p:sp>
        <p:nvSpPr>
          <p:cNvPr id="6" name="timer_10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0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8" name="title_108"/>
          <p:cNvSpPr txBox="1"/>
          <p:nvPr/>
        </p:nvSpPr>
        <p:spPr>
          <a:xfrm rot="-120000">
            <a:off x="320040" y="676656"/>
            <a:ext cx="154533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Taboo!</a:t>
            </a:r>
            <a:endParaRPr lang="en-US" sz="1500" dirty="0"/>
          </a:p>
        </p:txBody>
      </p:sp>
      <p:sp>
        <p:nvSpPr>
          <p:cNvPr id="9" name="post_10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10"/>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11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Describe the word. Don't say the red words!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Descrivi la parola. Non dire le parole rosse!</a:t>
            </a:r>
            <a:endParaRPr lang="en-US" sz="1250" dirty="0"/>
          </a:p>
        </p:txBody>
      </p:sp>
      <p:sp>
        <p:nvSpPr>
          <p:cNvPr id="12" name="n_112"/>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3" name="st_113"/>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DESCRIBER stands with their back to the class, facing the screen.</a:t>
            </a:r>
            <a:endParaRPr lang="en-US" sz="1250" dirty="0"/>
          </a:p>
        </p:txBody>
      </p:sp>
      <p:sp>
        <p:nvSpPr>
          <p:cNvPr id="14" name="n_114"/>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5" name="st_115"/>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Everybody else: you must NOT see the screen – turn round or close your eyes!</a:t>
            </a:r>
            <a:endParaRPr lang="en-US" sz="1250" dirty="0"/>
          </a:p>
        </p:txBody>
      </p:sp>
      <p:sp>
        <p:nvSpPr>
          <p:cNvPr id="16" name="n_116"/>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st_117"/>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Teacher: click → ONE card appears. 1 minute to describe it. Don't say the red words!</a:t>
            </a:r>
            <a:endParaRPr lang="en-US" sz="1250" dirty="0"/>
          </a:p>
        </p:txBody>
      </p:sp>
      <p:sp>
        <p:nvSpPr>
          <p:cNvPr id="18" name="n_118"/>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9" name="st_119"/>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The describer's team guesses. Correct = 1 point. A red word = 0.</a:t>
            </a:r>
            <a:endParaRPr lang="en-US" sz="1400" dirty="0"/>
          </a:p>
        </p:txBody>
      </p:sp>
      <p:sp>
        <p:nvSpPr>
          <p:cNvPr id="20" name="n_120"/>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1" name="st_121"/>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Next slide = next card and a NEW describer from the other team.</a:t>
            </a:r>
            <a:endParaRPr lang="en-US" sz="1400" dirty="0"/>
          </a:p>
        </p:txBody>
      </p:sp>
      <p:sp>
        <p:nvSpPr>
          <p:cNvPr id="22" name="pageTag_12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Banks Education, Houses, Work · 8B shopping</a:t>
            </a:r>
            <a:endParaRPr lang="en-US" sz="105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3"/>
          <p:cNvSpPr/>
          <p:nvPr/>
        </p:nvSpPr>
        <p:spPr>
          <a:xfrm>
            <a:off x="54864" y="54864"/>
            <a:ext cx="9034272" cy="5033772"/>
          </a:xfrm>
          <a:prstGeom prst="rect">
            <a:avLst/>
          </a:prstGeom>
          <a:ln w="114300">
            <a:solidFill>
              <a:srgbClr val="A8E6B4"/>
            </a:solidFill>
            <a:prstDash val="solid"/>
          </a:ln>
        </p:spPr>
      </p:sp>
      <p:pic>
        <p:nvPicPr>
          <p:cNvPr id="4" name="logo_12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7 &amp; 8 · card 1 of 8</a:t>
            </a:r>
            <a:endParaRPr lang="en-US" sz="900" dirty="0"/>
          </a:p>
        </p:txBody>
      </p:sp>
      <p:sp>
        <p:nvSpPr>
          <p:cNvPr id="6" name="footer_12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7" name="warn_127"/>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3400" dirty="0">
                <a:solidFill>
                  <a:srgbClr val="062F67"/>
                </a:solidFill>
                <a:latin typeface="Arial Black" pitchFamily="34" charset="0"/>
                <a:ea typeface="Arial Black" pitchFamily="34" charset="-122"/>
                <a:cs typeface="Arial Black" pitchFamily="34" charset="-120"/>
              </a:rPr>
              <a:t>BOARDING SCHOOL</a:t>
            </a:r>
            <a:endParaRPr lang="en-US" sz="34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sleep · live · school</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8"/>
          <p:cNvSpPr/>
          <p:nvPr/>
        </p:nvSpPr>
        <p:spPr>
          <a:xfrm>
            <a:off x="54864" y="54864"/>
            <a:ext cx="9034272" cy="5033772"/>
          </a:xfrm>
          <a:prstGeom prst="rect">
            <a:avLst/>
          </a:prstGeom>
          <a:ln w="114300">
            <a:solidFill>
              <a:srgbClr val="A8E6B4"/>
            </a:solidFill>
            <a:prstDash val="solid"/>
          </a:ln>
        </p:spPr>
      </p:sp>
      <p:pic>
        <p:nvPicPr>
          <p:cNvPr id="4" name="logo_12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7 &amp; 8 · card 2 of 8</a:t>
            </a:r>
            <a:endParaRPr lang="en-US" sz="900" dirty="0"/>
          </a:p>
        </p:txBody>
      </p:sp>
      <p:sp>
        <p:nvSpPr>
          <p:cNvPr id="6" name="footer_13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7" name="warn_132"/>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CHIMNEY</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smoke · fire · roof</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3"/>
          <p:cNvSpPr/>
          <p:nvPr/>
        </p:nvSpPr>
        <p:spPr>
          <a:xfrm>
            <a:off x="54864" y="54864"/>
            <a:ext cx="9034272" cy="5033772"/>
          </a:xfrm>
          <a:prstGeom prst="rect">
            <a:avLst/>
          </a:prstGeom>
          <a:ln w="114300">
            <a:solidFill>
              <a:srgbClr val="A8E6B4"/>
            </a:solidFill>
            <a:prstDash val="solid"/>
          </a:ln>
        </p:spPr>
      </p:sp>
      <p:pic>
        <p:nvPicPr>
          <p:cNvPr id="4" name="logo_13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7 &amp; 8 · card 3 of 8</a:t>
            </a:r>
            <a:endParaRPr lang="en-US" sz="900" dirty="0"/>
          </a:p>
        </p:txBody>
      </p:sp>
      <p:sp>
        <p:nvSpPr>
          <p:cNvPr id="6" name="footer_13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7" name="warn_137"/>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BASEMENT</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under · floor · ground</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8"/>
          <p:cNvSpPr/>
          <p:nvPr/>
        </p:nvSpPr>
        <p:spPr>
          <a:xfrm>
            <a:off x="54864" y="54864"/>
            <a:ext cx="9034272" cy="5033772"/>
          </a:xfrm>
          <a:prstGeom prst="rect">
            <a:avLst/>
          </a:prstGeom>
          <a:ln w="114300">
            <a:solidFill>
              <a:srgbClr val="A8E6B4"/>
            </a:solidFill>
            <a:prstDash val="solid"/>
          </a:ln>
        </p:spPr>
      </p:sp>
      <p:pic>
        <p:nvPicPr>
          <p:cNvPr id="4" name="logo_13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7 &amp; 8 · card 4 of 8</a:t>
            </a:r>
            <a:endParaRPr lang="en-US" sz="900" dirty="0"/>
          </a:p>
        </p:txBody>
      </p:sp>
      <p:sp>
        <p:nvSpPr>
          <p:cNvPr id="6" name="footer_14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7" name="warn_142"/>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OVERTIME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extra · hours · work</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3"/>
          <p:cNvSpPr/>
          <p:nvPr/>
        </p:nvSpPr>
        <p:spPr>
          <a:xfrm>
            <a:off x="54864" y="54864"/>
            <a:ext cx="9034272" cy="5033772"/>
          </a:xfrm>
          <a:prstGeom prst="rect">
            <a:avLst/>
          </a:prstGeom>
          <a:ln w="114300">
            <a:solidFill>
              <a:srgbClr val="A8E6B4"/>
            </a:solidFill>
            <a:prstDash val="solid"/>
          </a:ln>
        </p:spPr>
      </p:sp>
      <p:pic>
        <p:nvPicPr>
          <p:cNvPr id="4" name="logo_14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7 &amp; 8 · card 5 of 8</a:t>
            </a:r>
            <a:endParaRPr lang="en-US" sz="900" dirty="0"/>
          </a:p>
        </p:txBody>
      </p:sp>
      <p:sp>
        <p:nvSpPr>
          <p:cNvPr id="6" name="footer_1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7" name="warn_147"/>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SACKED</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job · lose · boss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8"/>
          <p:cNvSpPr/>
          <p:nvPr/>
        </p:nvSpPr>
        <p:spPr>
          <a:xfrm>
            <a:off x="54864" y="54864"/>
            <a:ext cx="9034272" cy="5033772"/>
          </a:xfrm>
          <a:prstGeom prst="rect">
            <a:avLst/>
          </a:prstGeom>
          <a:ln w="114300">
            <a:solidFill>
              <a:srgbClr val="A8E6B4"/>
            </a:solidFill>
            <a:prstDash val="solid"/>
          </a:ln>
        </p:spPr>
      </p:sp>
      <p:pic>
        <p:nvPicPr>
          <p:cNvPr id="4" name="logo_14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7 &amp; 8 · card 6 of 8</a:t>
            </a:r>
            <a:endParaRPr lang="en-US" sz="900" dirty="0"/>
          </a:p>
        </p:txBody>
      </p:sp>
      <p:sp>
        <p:nvSpPr>
          <p:cNvPr id="6" name="footer_15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7" name="warn_152"/>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RETIRE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old · stop · work</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3"/>
          <p:cNvSpPr/>
          <p:nvPr/>
        </p:nvSpPr>
        <p:spPr>
          <a:xfrm>
            <a:off x="54864" y="54864"/>
            <a:ext cx="9034272" cy="5033772"/>
          </a:xfrm>
          <a:prstGeom prst="rect">
            <a:avLst/>
          </a:prstGeom>
          <a:ln w="114300">
            <a:solidFill>
              <a:srgbClr val="A8E6B4"/>
            </a:solidFill>
            <a:prstDash val="solid"/>
          </a:ln>
        </p:spPr>
      </p:sp>
      <p:pic>
        <p:nvPicPr>
          <p:cNvPr id="4" name="logo_15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7 &amp; 8 · card 7 of 8</a:t>
            </a:r>
            <a:endParaRPr lang="en-US" sz="900" dirty="0"/>
          </a:p>
        </p:txBody>
      </p:sp>
      <p:sp>
        <p:nvSpPr>
          <p:cNvPr id="6" name="footer_15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7" name="warn_157"/>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RECEIPT</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paper · pay · shop</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8"/>
          <p:cNvSpPr/>
          <p:nvPr/>
        </p:nvSpPr>
        <p:spPr>
          <a:xfrm>
            <a:off x="54864" y="54864"/>
            <a:ext cx="9034272" cy="5033772"/>
          </a:xfrm>
          <a:prstGeom prst="rect">
            <a:avLst/>
          </a:prstGeom>
          <a:ln w="114300">
            <a:solidFill>
              <a:srgbClr val="A8E6B4"/>
            </a:solidFill>
            <a:prstDash val="solid"/>
          </a:ln>
        </p:spPr>
      </p:sp>
      <p:pic>
        <p:nvPicPr>
          <p:cNvPr id="4" name="logo_15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7 &amp; 8 · card 8 of 8</a:t>
            </a:r>
            <a:endParaRPr lang="en-US" sz="900" dirty="0"/>
          </a:p>
        </p:txBody>
      </p:sp>
      <p:sp>
        <p:nvSpPr>
          <p:cNvPr id="6" name="footer_16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7" name="warn_162"/>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BARGAIN</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cheap · price · buy</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3"/>
          <p:cNvSpPr/>
          <p:nvPr/>
        </p:nvSpPr>
        <p:spPr>
          <a:xfrm>
            <a:off x="54864" y="54864"/>
            <a:ext cx="9034272" cy="5033772"/>
          </a:xfrm>
          <a:prstGeom prst="rect">
            <a:avLst/>
          </a:prstGeom>
          <a:ln w="114300">
            <a:solidFill>
              <a:srgbClr val="A8E6B4"/>
            </a:solidFill>
            <a:prstDash val="solid"/>
          </a:ln>
        </p:spPr>
      </p:sp>
      <p:pic>
        <p:nvPicPr>
          <p:cNvPr id="4" name="logo_16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Can you understand this text? · SB p.85</a:t>
            </a:r>
            <a:endParaRPr lang="en-US" sz="900" dirty="0"/>
          </a:p>
        </p:txBody>
      </p:sp>
      <p:sp>
        <p:nvSpPr>
          <p:cNvPr id="6" name="timer_16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6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8" name="title_168"/>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Read and race</a:t>
            </a:r>
            <a:endParaRPr lang="en-US" sz="1500" dirty="0"/>
          </a:p>
        </p:txBody>
      </p:sp>
      <p:sp>
        <p:nvSpPr>
          <p:cNvPr id="9" name="post_16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70"/>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1" name="signB_17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the text on p.85. Answer a and b.</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il testo a p.85. Rispondi ad a e b.</a:t>
            </a:r>
            <a:endParaRPr lang="en-US" sz="1250" dirty="0"/>
          </a:p>
        </p:txBody>
      </p:sp>
      <p:sp>
        <p:nvSpPr>
          <p:cNvPr id="12" name="box_172"/>
          <p:cNvSpPr txBox="1"/>
          <p:nvPr/>
        </p:nvSpPr>
        <p:spPr>
          <a:xfrm>
            <a:off x="2788920" y="1371600"/>
            <a:ext cx="3741725"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a  Best title? 1 IT'S GOOD TO… · 2 LOOK, BUT DON'T… · 3 PAY LESS IF YOU DON'T…</a:t>
            </a:r>
            <a:endParaRPr lang="en-US" sz="1150" dirty="0"/>
          </a:p>
        </p:txBody>
      </p:sp>
      <p:sp>
        <p:nvSpPr>
          <p:cNvPr id="13" name="R1_a0"/>
          <p:cNvSpPr txBox="1"/>
          <p:nvPr/>
        </p:nvSpPr>
        <p:spPr>
          <a:xfrm>
            <a:off x="6585509" y="1408176"/>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2 LOOK, BUT DON'T…</a:t>
            </a:r>
            <a:endParaRPr lang="en-US" sz="1100" dirty="0"/>
          </a:p>
        </p:txBody>
      </p:sp>
      <p:sp>
        <p:nvSpPr>
          <p:cNvPr id="14" name="box_173"/>
          <p:cNvSpPr txBox="1"/>
          <p:nvPr/>
        </p:nvSpPr>
        <p:spPr>
          <a:xfrm>
            <a:off x="2788920" y="2055571"/>
            <a:ext cx="3741725"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b1 break / create / obey · b2 value / weight / cost</a:t>
            </a:r>
            <a:endParaRPr lang="en-US" sz="1150" dirty="0"/>
          </a:p>
        </p:txBody>
      </p:sp>
      <p:sp>
        <p:nvSpPr>
          <p:cNvPr id="15" name="R1_a1"/>
          <p:cNvSpPr txBox="1"/>
          <p:nvPr/>
        </p:nvSpPr>
        <p:spPr>
          <a:xfrm>
            <a:off x="6585509" y="2092147"/>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 obey · 2 value</a:t>
            </a:r>
            <a:endParaRPr lang="en-US" sz="1100" dirty="0"/>
          </a:p>
        </p:txBody>
      </p:sp>
      <p:sp>
        <p:nvSpPr>
          <p:cNvPr id="16" name="box_174"/>
          <p:cNvSpPr txBox="1"/>
          <p:nvPr/>
        </p:nvSpPr>
        <p:spPr>
          <a:xfrm>
            <a:off x="2788920" y="2739542"/>
            <a:ext cx="3741725"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b3 able / interested / prepared · b4 choosing between / depending on / thinking of</a:t>
            </a:r>
            <a:endParaRPr lang="en-US" sz="1150" dirty="0"/>
          </a:p>
        </p:txBody>
      </p:sp>
      <p:sp>
        <p:nvSpPr>
          <p:cNvPr id="17" name="R1_a2"/>
          <p:cNvSpPr txBox="1"/>
          <p:nvPr/>
        </p:nvSpPr>
        <p:spPr>
          <a:xfrm>
            <a:off x="6585509" y="2776118"/>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3 prepared · 4 depending on</a:t>
            </a:r>
            <a:endParaRPr lang="en-US" sz="1100" dirty="0"/>
          </a:p>
        </p:txBody>
      </p:sp>
      <p:sp>
        <p:nvSpPr>
          <p:cNvPr id="18" name="box_175"/>
          <p:cNvSpPr txBox="1"/>
          <p:nvPr/>
        </p:nvSpPr>
        <p:spPr>
          <a:xfrm>
            <a:off x="2788920" y="3423514"/>
            <a:ext cx="3741725"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b5 less / longer / shorter · b6 encourage / tell / don't allow</a:t>
            </a:r>
            <a:endParaRPr lang="en-US" sz="1150" dirty="0"/>
          </a:p>
        </p:txBody>
      </p:sp>
      <p:sp>
        <p:nvSpPr>
          <p:cNvPr id="19" name="R1_a3"/>
          <p:cNvSpPr txBox="1"/>
          <p:nvPr/>
        </p:nvSpPr>
        <p:spPr>
          <a:xfrm>
            <a:off x="6585509" y="3460090"/>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5 longer · 6 encourage</a:t>
            </a:r>
            <a:endParaRPr lang="en-US" sz="1100" dirty="0"/>
          </a:p>
        </p:txBody>
      </p:sp>
      <p:sp>
        <p:nvSpPr>
          <p:cNvPr id="20" name="box_176"/>
          <p:cNvSpPr txBox="1"/>
          <p:nvPr/>
        </p:nvSpPr>
        <p:spPr>
          <a:xfrm>
            <a:off x="2788920" y="4107485"/>
            <a:ext cx="3741725"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b7 buying / finding / losing · b8 colleagues / shoppers / sales assistants</a:t>
            </a:r>
            <a:endParaRPr lang="en-US" sz="1150" dirty="0"/>
          </a:p>
        </p:txBody>
      </p:sp>
      <p:sp>
        <p:nvSpPr>
          <p:cNvPr id="21" name="R1_a4"/>
          <p:cNvSpPr txBox="1"/>
          <p:nvPr/>
        </p:nvSpPr>
        <p:spPr>
          <a:xfrm>
            <a:off x="6585509" y="4144061"/>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7 losing · 8 shoppers</a:t>
            </a:r>
            <a:endParaRPr lang="en-US" sz="1100" dirty="0"/>
          </a:p>
        </p:txBody>
      </p:sp>
      <p:sp>
        <p:nvSpPr>
          <p:cNvPr id="22" name="pageTag_17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p.85 · Can you understand this text? a, b</a:t>
            </a:r>
            <a:endParaRPr lang="en-US" sz="1050" dirty="0"/>
          </a:p>
        </p:txBody>
      </p:sp>
      <p:sp>
        <p:nvSpPr>
          <p:cNvPr id="23" name="pframe_178"/>
          <p:cNvSpPr/>
          <p:nvPr/>
        </p:nvSpPr>
        <p:spPr>
          <a:xfrm rot="-120000">
            <a:off x="548640" y="3063240"/>
            <a:ext cx="1600200" cy="162763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4" name="pimg_179" descr="…TOUCH!">    </p:cNvPr>
          <p:cNvPicPr>
            <a:picLocks noChangeAspect="1"/>
          </p:cNvPicPr>
          <p:nvPr/>
        </p:nvPicPr>
        <p:blipFill>
          <a:blip r:embed="rId3"/>
          <a:srcRect l="0" r="0" t="0" b="0"/>
          <a:stretch/>
        </p:blipFill>
        <p:spPr>
          <a:xfrm rot="-120000">
            <a:off x="621792" y="3136392"/>
            <a:ext cx="1453896" cy="1207008"/>
          </a:xfrm>
          <a:prstGeom prst="rect">
            <a:avLst/>
          </a:prstGeom>
        </p:spPr>
      </p:pic>
      <p:sp>
        <p:nvSpPr>
          <p:cNvPr id="25" name="pcap_180"/>
          <p:cNvSpPr txBox="1"/>
          <p:nvPr/>
        </p:nvSpPr>
        <p:spPr>
          <a:xfrm rot="-120000">
            <a:off x="548640" y="4352544"/>
            <a:ext cx="160020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…TOUCH!</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1"/>
          <p:cNvSpPr/>
          <p:nvPr/>
        </p:nvSpPr>
        <p:spPr>
          <a:xfrm>
            <a:off x="54864" y="54864"/>
            <a:ext cx="9034272" cy="5033772"/>
          </a:xfrm>
          <a:prstGeom prst="rect">
            <a:avLst/>
          </a:prstGeom>
          <a:ln w="114300">
            <a:solidFill>
              <a:srgbClr val="A8E6B4"/>
            </a:solidFill>
            <a:prstDash val="solid"/>
          </a:ln>
        </p:spPr>
      </p:sp>
      <p:pic>
        <p:nvPicPr>
          <p:cNvPr id="4" name="logo_18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8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 Can you understand these people? 7&amp;8</a:t>
            </a:r>
            <a:endParaRPr lang="en-US" sz="900" dirty="0"/>
          </a:p>
        </p:txBody>
      </p:sp>
      <p:sp>
        <p:nvSpPr>
          <p:cNvPr id="6" name="timer_18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8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8" name="title_186"/>
          <p:cNvSpPr txBox="1"/>
          <p:nvPr/>
        </p:nvSpPr>
        <p:spPr>
          <a:xfrm rot="-120000">
            <a:off x="320040" y="676656"/>
            <a:ext cx="484632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Five people, five answers</a:t>
            </a:r>
            <a:endParaRPr lang="en-US" sz="1500" dirty="0"/>
          </a:p>
        </p:txBody>
      </p:sp>
      <p:sp>
        <p:nvSpPr>
          <p:cNvPr id="9" name="post_18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88"/>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18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Watch the five interviews. Choose a, b or c.</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le cinque interviste. Scegli a, b o c.</a:t>
            </a:r>
            <a:endParaRPr lang="en-US" sz="125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190"/>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00" b="1" dirty="0">
                <a:solidFill>
                  <a:srgbClr val="111111"/>
                </a:solidFill>
                <a:latin typeface="Calibri" pitchFamily="34" charset="0"/>
                <a:ea typeface="Calibri" pitchFamily="34" charset="-122"/>
                <a:cs typeface="Calibri" pitchFamily="34" charset="-120"/>
              </a:rPr>
              <a:t>Can you understand these people? 7&amp;8</a:t>
            </a:r>
            <a:endParaRPr lang="en-US" sz="1100" dirty="0"/>
          </a:p>
          <a:p>
            <a:pPr indent="0" marL="0">
              <a:buNone/>
            </a:pPr>
            <a:r>
              <a:rPr lang="en-US" sz="950" dirty="0">
                <a:solidFill>
                  <a:srgbClr val="475569"/>
                </a:solidFill>
                <a:latin typeface="Calibri" pitchFamily="34" charset="0"/>
                <a:ea typeface="Calibri" pitchFamily="34" charset="-122"/>
                <a:cs typeface="Calibri" pitchFamily="34" charset="-120"/>
              </a:rPr>
              <a:t>Revise and Check 7&amp;8 · SB p.85 · video 8.22 (2'50")</a:t>
            </a:r>
            <a:endParaRPr lang="en-US" sz="1100" dirty="0"/>
          </a:p>
        </p:txBody>
      </p:sp>
      <p:sp>
        <p:nvSpPr>
          <p:cNvPr id="14" name="wyw_191"/>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192"/>
          <p:cNvSpPr txBox="1"/>
          <p:nvPr/>
        </p:nvSpPr>
        <p:spPr>
          <a:xfrm>
            <a:off x="5852160" y="1810512"/>
            <a:ext cx="1783080" cy="51206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Philomena's maths teachers…</a:t>
            </a:r>
            <a:endParaRPr lang="en-US" sz="1100" dirty="0"/>
          </a:p>
        </p:txBody>
      </p:sp>
      <p:sp>
        <p:nvSpPr>
          <p:cNvPr id="16" name="R1_va0"/>
          <p:cNvSpPr txBox="1"/>
          <p:nvPr/>
        </p:nvSpPr>
        <p:spPr>
          <a:xfrm>
            <a:off x="7680960" y="1837944"/>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a:t>
            </a:r>
            <a:endParaRPr lang="en-US" sz="1050" dirty="0"/>
          </a:p>
        </p:txBody>
      </p:sp>
      <p:sp>
        <p:nvSpPr>
          <p:cNvPr id="17" name="box_193"/>
          <p:cNvSpPr txBox="1"/>
          <p:nvPr/>
        </p:nvSpPr>
        <p:spPr>
          <a:xfrm>
            <a:off x="5852160" y="2395728"/>
            <a:ext cx="1783080" cy="51206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Adina is happy to buy ___ online.</a:t>
            </a:r>
            <a:endParaRPr lang="en-US" sz="1100" dirty="0"/>
          </a:p>
        </p:txBody>
      </p:sp>
      <p:sp>
        <p:nvSpPr>
          <p:cNvPr id="18" name="R1_va1"/>
          <p:cNvSpPr txBox="1"/>
          <p:nvPr/>
        </p:nvSpPr>
        <p:spPr>
          <a:xfrm>
            <a:off x="7680960" y="2423160"/>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 anything</a:t>
            </a:r>
            <a:endParaRPr lang="en-US" sz="1050" dirty="0"/>
          </a:p>
        </p:txBody>
      </p:sp>
      <p:sp>
        <p:nvSpPr>
          <p:cNvPr id="19" name="box_194"/>
          <p:cNvSpPr txBox="1"/>
          <p:nvPr/>
        </p:nvSpPr>
        <p:spPr>
          <a:xfrm>
            <a:off x="5852160" y="2980944"/>
            <a:ext cx="1783080" cy="51206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Daniel: a waiter who…</a:t>
            </a:r>
            <a:endParaRPr lang="en-US" sz="1100" dirty="0"/>
          </a:p>
        </p:txBody>
      </p:sp>
      <p:sp>
        <p:nvSpPr>
          <p:cNvPr id="20" name="R1_va2"/>
          <p:cNvSpPr txBox="1"/>
          <p:nvPr/>
        </p:nvSpPr>
        <p:spPr>
          <a:xfrm>
            <a:off x="7680960" y="3008376"/>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 wasn't polite</a:t>
            </a:r>
            <a:endParaRPr lang="en-US" sz="1050" dirty="0"/>
          </a:p>
        </p:txBody>
      </p:sp>
      <p:sp>
        <p:nvSpPr>
          <p:cNvPr id="21" name="box_195"/>
          <p:cNvSpPr txBox="1"/>
          <p:nvPr/>
        </p:nvSpPr>
        <p:spPr>
          <a:xfrm>
            <a:off x="5852160" y="3566160"/>
            <a:ext cx="1783080" cy="51206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Scott currently…</a:t>
            </a:r>
            <a:endParaRPr lang="en-US" sz="1250" dirty="0"/>
          </a:p>
        </p:txBody>
      </p:sp>
      <p:sp>
        <p:nvSpPr>
          <p:cNvPr id="22" name="R1_va3"/>
          <p:cNvSpPr txBox="1"/>
          <p:nvPr/>
        </p:nvSpPr>
        <p:spPr>
          <a:xfrm>
            <a:off x="7680960" y="3593592"/>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 small garden</a:t>
            </a:r>
            <a:endParaRPr lang="en-US" sz="1050" dirty="0"/>
          </a:p>
        </p:txBody>
      </p:sp>
      <p:sp>
        <p:nvSpPr>
          <p:cNvPr id="23" name="box_196"/>
          <p:cNvSpPr txBox="1"/>
          <p:nvPr/>
        </p:nvSpPr>
        <p:spPr>
          <a:xfrm>
            <a:off x="5852160" y="4151376"/>
            <a:ext cx="1783080" cy="51206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Coleen: a good salary was…</a:t>
            </a:r>
            <a:endParaRPr lang="en-US" sz="1100" dirty="0"/>
          </a:p>
        </p:txBody>
      </p:sp>
      <p:sp>
        <p:nvSpPr>
          <p:cNvPr id="24" name="R1_va4"/>
          <p:cNvSpPr txBox="1"/>
          <p:nvPr/>
        </p:nvSpPr>
        <p:spPr>
          <a:xfrm>
            <a:off x="7680960" y="4178808"/>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 more important</a:t>
            </a:r>
            <a:endParaRPr lang="en-US" sz="1050" dirty="0"/>
          </a:p>
        </p:txBody>
      </p:sp>
      <p:sp>
        <p:nvSpPr>
          <p:cNvPr id="25" name="bubble_197"/>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Your answers? Ask a partner the five questions!</a:t>
            </a:r>
            <a:endParaRPr lang="en-US" sz="1200" dirty="0"/>
          </a:p>
        </p:txBody>
      </p:sp>
      <p:sp>
        <p:nvSpPr>
          <p:cNvPr id="26" name="pageTag_19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p.85 · Can you understand these people? 1–5 · video / audio 8.22</a:t>
            </a:r>
            <a:endParaRPr lang="en-US" sz="1050" dirty="0"/>
          </a:p>
        </p:txBody>
      </p:sp>
      <p:sp>
        <p:nvSpPr>
          <p:cNvPr id="27" name="pframe_199"/>
          <p:cNvSpPr/>
          <p:nvPr/>
        </p:nvSpPr>
        <p:spPr>
          <a:xfrm rot="-120000">
            <a:off x="320040" y="3429000"/>
            <a:ext cx="2377440" cy="89611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8" name="pimg_200" descr="1 Philomena … 5 Coleen">    </p:cNvPr>
          <p:cNvPicPr>
            <a:picLocks noChangeAspect="1"/>
          </p:cNvPicPr>
          <p:nvPr/>
        </p:nvPicPr>
        <p:blipFill>
          <a:blip r:embed="rId6"/>
          <a:srcRect l="0" r="0" t="0" b="0"/>
          <a:stretch/>
        </p:blipFill>
        <p:spPr>
          <a:xfrm rot="-120000">
            <a:off x="393192" y="3502152"/>
            <a:ext cx="2231136" cy="475488"/>
          </a:xfrm>
          <a:prstGeom prst="rect">
            <a:avLst/>
          </a:prstGeom>
        </p:spPr>
      </p:pic>
      <p:sp>
        <p:nvSpPr>
          <p:cNvPr id="29" name="pcap_201"/>
          <p:cNvSpPr txBox="1"/>
          <p:nvPr/>
        </p:nvSpPr>
        <p:spPr>
          <a:xfrm rot="-120000">
            <a:off x="320040" y="3986784"/>
            <a:ext cx="237744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1 Philomena … 5 Coleen</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12"/>
                                        </p:tgtEl>
                                      </p:cBhvr>
                                    </p:cmd>
                                  </p:childTnLst>
                                </p:cTn>
                              </p:par>
                            </p:childTnLst>
                          </p:cTn>
                        </p:par>
                      </p:childTnLst>
                    </p:cTn>
                  </p:par>
                </p:childTnLst>
              </p:cTn>
              <p:nextCondLst>
                <p:cond evt="onClick" delay="0">
                  <p:tgtEl>
                    <p:spTgt spid="12"/>
                  </p:tgtEl>
                </p:cond>
              </p:nextCondLst>
            </p:seq>
            <p:video>
              <p:cMediaNode vol="80000">
                <p:cTn id="25" fill="hold" display="0">
                  <p:stCondLst>
                    <p:cond delay="indefinite"/>
                  </p:stCondLst>
                </p:cTn>
                <p:tgtEl>
                  <p:spTgt spid="12"/>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02"/>
          <p:cNvSpPr/>
          <p:nvPr/>
        </p:nvSpPr>
        <p:spPr>
          <a:xfrm>
            <a:off x="54864" y="54864"/>
            <a:ext cx="9034272" cy="5033772"/>
          </a:xfrm>
          <a:prstGeom prst="rect">
            <a:avLst/>
          </a:prstGeom>
          <a:ln w="114300">
            <a:solidFill>
              <a:srgbClr val="A8E6B4"/>
            </a:solidFill>
            <a:prstDash val="solid"/>
          </a:ln>
        </p:spPr>
      </p:sp>
      <p:pic>
        <p:nvPicPr>
          <p:cNvPr id="4" name="logo_20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Can you…? · SB p.85</a:t>
            </a:r>
            <a:endParaRPr lang="en-US" sz="900" dirty="0"/>
          </a:p>
        </p:txBody>
      </p:sp>
      <p:sp>
        <p:nvSpPr>
          <p:cNvPr id="6" name="timer_20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0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8" name="title_207"/>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Just a minute!</a:t>
            </a:r>
            <a:endParaRPr lang="en-US" sz="1500" dirty="0"/>
          </a:p>
        </p:txBody>
      </p:sp>
      <p:sp>
        <p:nvSpPr>
          <p:cNvPr id="9" name="post_20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09"/>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21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Talk for 30 seconds. Use the grammar in brackets!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Parla per 30 secondi. Usa la grammatica tra parentesi!</a:t>
            </a:r>
            <a:endParaRPr lang="en-US" sz="1250" dirty="0"/>
          </a:p>
        </p:txBody>
      </p:sp>
      <p:sp>
        <p:nvSpPr>
          <p:cNvPr id="12" name="box_211"/>
          <p:cNvSpPr txBox="1"/>
          <p:nvPr/>
        </p:nvSpPr>
        <p:spPr>
          <a:xfrm>
            <a:off x="2788920" y="1371600"/>
            <a:ext cx="2953512"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Describe the schools you went to – what did you like or not like about them?</a:t>
            </a:r>
            <a:endParaRPr lang="en-US" sz="1250" dirty="0"/>
          </a:p>
        </p:txBody>
      </p:sp>
      <p:sp>
        <p:nvSpPr>
          <p:cNvPr id="13" name="box_212"/>
          <p:cNvSpPr txBox="1"/>
          <p:nvPr/>
        </p:nvSpPr>
        <p:spPr>
          <a:xfrm>
            <a:off x="5870448" y="1371600"/>
            <a:ext cx="2953512"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Describe your ideal holiday house. (If I had…, I'd…)</a:t>
            </a:r>
            <a:endParaRPr lang="en-US" sz="1250" dirty="0"/>
          </a:p>
        </p:txBody>
      </p:sp>
      <p:sp>
        <p:nvSpPr>
          <p:cNvPr id="14" name="box_213"/>
          <p:cNvSpPr txBox="1"/>
          <p:nvPr/>
        </p:nvSpPr>
        <p:spPr>
          <a:xfrm>
            <a:off x="2788920" y="2368296"/>
            <a:ext cx="2953512"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What will you do if you don't pass your English exam at the end of the course?</a:t>
            </a:r>
            <a:endParaRPr lang="en-US" sz="1250" dirty="0"/>
          </a:p>
        </p:txBody>
      </p:sp>
      <p:sp>
        <p:nvSpPr>
          <p:cNvPr id="15" name="box_214"/>
          <p:cNvSpPr txBox="1"/>
          <p:nvPr/>
        </p:nvSpPr>
        <p:spPr>
          <a:xfrm>
            <a:off x="5870448" y="2368296"/>
            <a:ext cx="2953512"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What would you do if you won a lot of money?</a:t>
            </a:r>
            <a:endParaRPr lang="en-US" sz="1250" dirty="0"/>
          </a:p>
        </p:txBody>
      </p:sp>
      <p:sp>
        <p:nvSpPr>
          <p:cNvPr id="16" name="box_215"/>
          <p:cNvSpPr txBox="1"/>
          <p:nvPr/>
        </p:nvSpPr>
        <p:spPr>
          <a:xfrm>
            <a:off x="2788920" y="3364992"/>
            <a:ext cx="2953512"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Report three questions somebody has asked you today – and what you answered.</a:t>
            </a:r>
            <a:endParaRPr lang="en-US" sz="1250" dirty="0"/>
          </a:p>
        </p:txBody>
      </p:sp>
      <p:sp>
        <p:nvSpPr>
          <p:cNvPr id="17" name="box_216"/>
          <p:cNvSpPr txBox="1"/>
          <p:nvPr/>
        </p:nvSpPr>
        <p:spPr>
          <a:xfrm>
            <a:off x="5870448" y="3364992"/>
            <a:ext cx="2953512"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A job you'd love / hate (I'd love to… · I hate + -ing)</a:t>
            </a:r>
            <a:endParaRPr lang="en-US" sz="1250" dirty="0"/>
          </a:p>
        </p:txBody>
      </p:sp>
      <p:sp>
        <p:nvSpPr>
          <p:cNvPr id="18" name="sticky_217"/>
          <p:cNvSpPr txBox="1"/>
          <p:nvPr/>
        </p:nvSpPr>
        <p:spPr>
          <a:xfrm rot="-120000">
            <a:off x="411480" y="411480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No 'ehm…' for more than 3 seconds!</a:t>
            </a:r>
            <a:endParaRPr lang="en-US" sz="1150" dirty="0"/>
          </a:p>
        </p:txBody>
      </p:sp>
      <p:sp>
        <p:nvSpPr>
          <p:cNvPr id="19" name="pageTag_21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p.85 · Can you…? speaking challenge</a:t>
            </a:r>
            <a:endParaRPr lang="en-US" sz="105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9"/>
          <p:cNvSpPr/>
          <p:nvPr/>
        </p:nvSpPr>
        <p:spPr>
          <a:xfrm>
            <a:off x="54864" y="54864"/>
            <a:ext cx="9034272" cy="5033772"/>
          </a:xfrm>
          <a:prstGeom prst="rect">
            <a:avLst/>
          </a:prstGeom>
          <a:ln w="114300">
            <a:solidFill>
              <a:srgbClr val="A8E6B4"/>
            </a:solidFill>
            <a:prstDash val="solid"/>
          </a:ln>
        </p:spPr>
      </p:sp>
      <p:pic>
        <p:nvPicPr>
          <p:cNvPr id="4" name="logo_22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2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6" name="title_222"/>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223"/>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224"/>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use conditionals, gerunds / infinitives and reported speech.</a:t>
            </a:r>
            <a:endParaRPr lang="en-US" sz="1200" dirty="0"/>
          </a:p>
        </p:txBody>
      </p:sp>
      <p:sp>
        <p:nvSpPr>
          <p:cNvPr id="9" name="faces_225"/>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226"/>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remember words about school, houses, work and shopping.</a:t>
            </a:r>
            <a:endParaRPr lang="en-US" sz="1200" dirty="0"/>
          </a:p>
        </p:txBody>
      </p:sp>
      <p:sp>
        <p:nvSpPr>
          <p:cNvPr id="11" name="faces_227"/>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28"/>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people talking about these topics.</a:t>
            </a:r>
            <a:endParaRPr lang="en-US" sz="1350" dirty="0"/>
          </a:p>
        </p:txBody>
      </p:sp>
      <p:sp>
        <p:nvSpPr>
          <p:cNvPr id="13" name="faces_229"/>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230"/>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Revise and Check 7&amp;8: finish pp.84–85</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Online Practice: Check your progress</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R7-8</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231"/>
          <p:cNvSpPr txBox="1"/>
          <p:nvPr/>
        </p:nvSpPr>
        <p:spPr>
          <a:xfrm>
            <a:off x="365760" y="3657600"/>
            <a:ext cx="420624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9A part 1 · Lucky encounters</a:t>
            </a:r>
            <a:endParaRPr lang="en-US" sz="12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2"/>
          <p:cNvSpPr/>
          <p:nvPr/>
        </p:nvSpPr>
        <p:spPr>
          <a:xfrm>
            <a:off x="54864" y="54864"/>
            <a:ext cx="9034272" cy="5033772"/>
          </a:xfrm>
          <a:prstGeom prst="rect">
            <a:avLst/>
          </a:prstGeom>
          <a:ln w="114300">
            <a:solidFill>
              <a:srgbClr val="A8E6B4"/>
            </a:solidFill>
            <a:prstDash val="solid"/>
          </a:ln>
        </p:spPr>
      </p:sp>
      <p:pic>
        <p:nvPicPr>
          <p:cNvPr id="4" name="logo_23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8A recycled</a:t>
            </a:r>
            <a:endParaRPr lang="en-US" sz="900" dirty="0"/>
          </a:p>
        </p:txBody>
      </p:sp>
      <p:sp>
        <p:nvSpPr>
          <p:cNvPr id="6" name="timer_23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36"/>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3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9" name="title_238"/>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Speed Dragons' Den</a:t>
            </a:r>
            <a:endParaRPr lang="en-US" sz="1500" dirty="0"/>
          </a:p>
        </p:txBody>
      </p:sp>
      <p:sp>
        <p:nvSpPr>
          <p:cNvPr id="10" name="post_239"/>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4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24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Pitch a product for a language school in 1 minute!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Presenta un prodotto per una scuola di lingue in 1 minuto!</a:t>
            </a:r>
            <a:endParaRPr lang="en-US" sz="1250" dirty="0"/>
          </a:p>
        </p:txBody>
      </p:sp>
      <p:sp>
        <p:nvSpPr>
          <p:cNvPr id="13" name="iconBack_24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43" descr="gi:GiDragonHead">    </p:cNvPr>
          <p:cNvPicPr>
            <a:picLocks noChangeAspect="1"/>
          </p:cNvPicPr>
          <p:nvPr/>
        </p:nvPicPr>
        <p:blipFill>
          <a:blip r:embed="rId3"/>
          <a:stretch>
            <a:fillRect/>
          </a:stretch>
        </p:blipFill>
        <p:spPr>
          <a:xfrm>
            <a:off x="914400" y="3474720"/>
            <a:ext cx="685800" cy="685800"/>
          </a:xfrm>
          <a:prstGeom prst="rect">
            <a:avLst/>
          </a:prstGeom>
        </p:spPr>
      </p:pic>
      <p:sp>
        <p:nvSpPr>
          <p:cNvPr id="15" name="num_244"/>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245"/>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In pairs, invent a product or service for students, e.g. an app, a gadget, a café.</a:t>
            </a:r>
            <a:endParaRPr lang="en-US" sz="1150" dirty="0"/>
          </a:p>
        </p:txBody>
      </p:sp>
      <p:sp>
        <p:nvSpPr>
          <p:cNvPr id="17" name="num_246"/>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247"/>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Prepare a 1-minute pitch: What is it? Who is it for? How much is it? Your slogan?</a:t>
            </a:r>
            <a:endParaRPr lang="en-US" sz="1100" dirty="0"/>
          </a:p>
        </p:txBody>
      </p:sp>
      <p:sp>
        <p:nvSpPr>
          <p:cNvPr id="19" name="num_248"/>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249"/>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Present it. The 'Dragons' (the class) listen and ask one question each.</a:t>
            </a:r>
            <a:endParaRPr lang="en-US" sz="1300" dirty="0"/>
          </a:p>
        </p:txBody>
      </p:sp>
      <p:sp>
        <p:nvSpPr>
          <p:cNvPr id="21" name="num_250"/>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251"/>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Dragons decide: 'I'm in!' or 'I'm out!' – and say why.</a:t>
            </a:r>
            <a:endParaRPr lang="en-US" sz="1300" dirty="0"/>
          </a:p>
        </p:txBody>
      </p:sp>
      <p:sp>
        <p:nvSpPr>
          <p:cNvPr id="23" name="num_252"/>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box_253"/>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 product with the most 'I'm in!' wins.</a:t>
            </a:r>
            <a:endParaRPr lang="en-US" sz="1300" dirty="0"/>
          </a:p>
        </p:txBody>
      </p:sp>
      <p:sp>
        <p:nvSpPr>
          <p:cNvPr id="25" name="bubble_254"/>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i="1" dirty="0">
                <a:solidFill>
                  <a:srgbClr val="111111"/>
                </a:solidFill>
                <a:latin typeface="Calibri" pitchFamily="34" charset="0"/>
                <a:ea typeface="Calibri" pitchFamily="34" charset="-122"/>
                <a:cs typeface="Calibri" pitchFamily="34" charset="-120"/>
              </a:rPr>
              <a:t>If you buy our app, you'll never forget a word again! It costs only €2.99…</a:t>
            </a:r>
            <a:endParaRPr lang="en-US" sz="115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5"/>
          <p:cNvSpPr/>
          <p:nvPr/>
        </p:nvSpPr>
        <p:spPr>
          <a:xfrm>
            <a:off x="54864" y="54864"/>
            <a:ext cx="9034272" cy="5033772"/>
          </a:xfrm>
          <a:prstGeom prst="rect">
            <a:avLst/>
          </a:prstGeom>
          <a:ln w="114300">
            <a:solidFill>
              <a:srgbClr val="A8E6B4"/>
            </a:solidFill>
            <a:prstDash val="solid"/>
          </a:ln>
        </p:spPr>
      </p:sp>
      <p:pic>
        <p:nvPicPr>
          <p:cNvPr id="4" name="logo_25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Conditionals</a:t>
            </a:r>
            <a:endParaRPr lang="en-US" sz="900" dirty="0"/>
          </a:p>
        </p:txBody>
      </p:sp>
      <p:sp>
        <p:nvSpPr>
          <p:cNvPr id="6" name="timer_25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59"/>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6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R7-8 · Part 1</a:t>
            </a:r>
            <a:endParaRPr lang="en-US" sz="1000" dirty="0"/>
          </a:p>
        </p:txBody>
      </p:sp>
      <p:sp>
        <p:nvSpPr>
          <p:cNvPr id="9" name="title_261"/>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Would you or will you?</a:t>
            </a:r>
            <a:endParaRPr lang="en-US" sz="1500" dirty="0"/>
          </a:p>
        </p:txBody>
      </p:sp>
      <p:sp>
        <p:nvSpPr>
          <p:cNvPr id="10" name="post_262"/>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63"/>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26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Real or imaginary? Finish the sentence and ask a partner.</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Reale o immaginaria? Completa la frase e chiedi a un compagno.</a:t>
            </a:r>
            <a:endParaRPr lang="en-US" sz="1200" dirty="0"/>
          </a:p>
        </p:txBody>
      </p:sp>
      <p:sp>
        <p:nvSpPr>
          <p:cNvPr id="13" name="box_265"/>
          <p:cNvSpPr txBox="1"/>
          <p:nvPr/>
        </p:nvSpPr>
        <p:spPr>
          <a:xfrm>
            <a:off x="2788920" y="1371600"/>
            <a:ext cx="3741725"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If I pass my B1 exam, …</a:t>
            </a:r>
            <a:endParaRPr lang="en-US" sz="1300" dirty="0"/>
          </a:p>
        </p:txBody>
      </p:sp>
      <p:sp>
        <p:nvSpPr>
          <p:cNvPr id="14" name="R1_a0"/>
          <p:cNvSpPr txBox="1"/>
          <p:nvPr/>
        </p:nvSpPr>
        <p:spPr>
          <a:xfrm>
            <a:off x="6585509" y="1408176"/>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real → 1st: I'll…</a:t>
            </a:r>
            <a:endParaRPr lang="en-US" sz="1150" dirty="0"/>
          </a:p>
        </p:txBody>
      </p:sp>
      <p:sp>
        <p:nvSpPr>
          <p:cNvPr id="15" name="box_266"/>
          <p:cNvSpPr txBox="1"/>
          <p:nvPr/>
        </p:nvSpPr>
        <p:spPr>
          <a:xfrm>
            <a:off x="2788920" y="2055571"/>
            <a:ext cx="3741725"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If I won a house anywhere in the world, …</a:t>
            </a:r>
            <a:endParaRPr lang="en-US" sz="1300" dirty="0"/>
          </a:p>
        </p:txBody>
      </p:sp>
      <p:sp>
        <p:nvSpPr>
          <p:cNvPr id="16" name="R1_a1"/>
          <p:cNvSpPr txBox="1"/>
          <p:nvPr/>
        </p:nvSpPr>
        <p:spPr>
          <a:xfrm>
            <a:off x="6585509" y="2092147"/>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imaginary → 2nd: I'd…</a:t>
            </a:r>
            <a:endParaRPr lang="en-US" sz="1150" dirty="0"/>
          </a:p>
        </p:txBody>
      </p:sp>
      <p:sp>
        <p:nvSpPr>
          <p:cNvPr id="17" name="box_267"/>
          <p:cNvSpPr txBox="1"/>
          <p:nvPr/>
        </p:nvSpPr>
        <p:spPr>
          <a:xfrm>
            <a:off x="2788920" y="2739542"/>
            <a:ext cx="3741725"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As soon as I get home today, …</a:t>
            </a:r>
            <a:endParaRPr lang="en-US" sz="1300" dirty="0"/>
          </a:p>
        </p:txBody>
      </p:sp>
      <p:sp>
        <p:nvSpPr>
          <p:cNvPr id="18" name="R1_a2"/>
          <p:cNvSpPr txBox="1"/>
          <p:nvPr/>
        </p:nvSpPr>
        <p:spPr>
          <a:xfrm>
            <a:off x="6585509" y="2776118"/>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real → I'll…</a:t>
            </a:r>
            <a:endParaRPr lang="en-US" sz="1150" dirty="0"/>
          </a:p>
        </p:txBody>
      </p:sp>
      <p:sp>
        <p:nvSpPr>
          <p:cNvPr id="19" name="box_268"/>
          <p:cNvSpPr txBox="1"/>
          <p:nvPr/>
        </p:nvSpPr>
        <p:spPr>
          <a:xfrm>
            <a:off x="2788920" y="3423514"/>
            <a:ext cx="3741725"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If I were the head teacher of this school, …</a:t>
            </a:r>
            <a:endParaRPr lang="en-US" sz="1300" dirty="0"/>
          </a:p>
        </p:txBody>
      </p:sp>
      <p:sp>
        <p:nvSpPr>
          <p:cNvPr id="20" name="R1_a3"/>
          <p:cNvSpPr txBox="1"/>
          <p:nvPr/>
        </p:nvSpPr>
        <p:spPr>
          <a:xfrm>
            <a:off x="6585509" y="3460090"/>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imaginary → I'd…</a:t>
            </a:r>
            <a:endParaRPr lang="en-US" sz="1150" dirty="0"/>
          </a:p>
        </p:txBody>
      </p:sp>
      <p:sp>
        <p:nvSpPr>
          <p:cNvPr id="21" name="box_269"/>
          <p:cNvSpPr txBox="1"/>
          <p:nvPr/>
        </p:nvSpPr>
        <p:spPr>
          <a:xfrm>
            <a:off x="2788920" y="4107485"/>
            <a:ext cx="3741725"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If I could change one thing about my home, …</a:t>
            </a:r>
            <a:endParaRPr lang="en-US" sz="1300" dirty="0"/>
          </a:p>
        </p:txBody>
      </p:sp>
      <p:sp>
        <p:nvSpPr>
          <p:cNvPr id="22" name="R1_a4"/>
          <p:cNvSpPr txBox="1"/>
          <p:nvPr/>
        </p:nvSpPr>
        <p:spPr>
          <a:xfrm>
            <a:off x="6585509" y="4144061"/>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imaginary → I'd…</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R7-8 Revise and Check 7&amp;8</dc:title>
  <dc:subject>PptxGenJS Presentation</dc:subject>
  <dc:creator>London Language School</dc:creator>
  <cp:lastModifiedBy>London Language School</cp:lastModifiedBy>
  <cp:revision>1</cp:revision>
  <dcterms:created xsi:type="dcterms:W3CDTF">2026-10-05T09:39:38Z</dcterms:created>
  <dcterms:modified xsi:type="dcterms:W3CDTF">2026-10-05T09:39:38Z</dcterms:modified>
</cp:coreProperties>
</file>