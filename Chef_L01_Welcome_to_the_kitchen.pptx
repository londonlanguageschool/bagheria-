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 (60 min). Aims: kitchen jobs, the verb be (+ – ?), introductions, first kitchen calls. First lesson of the course, so no revision slide. Click 1: question. Let them answer before click 2. Ask: Who is the boss? Is he/she strict?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(7 min). VARIATION: spot the lie + curiosity gap — they need questions to find the lie. Teacher models first with 3 sentences about yourself. Listen for be errors (I have 30 years / he is chef) and keep them for the 'Spot the error'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(8 min). Pairs match using the word bank (bottom left), then click 1 for all answers with Italian. Drill pronunciation: sous /suː/ chef, commis /ˈkɒmi/, de partie /də pɑːˈtiː/. Ask: Who has these jobs in YOUR kitchen?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(5 min). VARIATION: ranking + forbidden easy answer. After 1 minute, click 1: they cannot say 'difficult' any more. Pre-teach: stressful, tiring, boring, hard work, well paid, badly paid. Follow-up: Who disagrees? Convince me!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(6 min). Elicit from the warm-up sentences. Italian learners: avere for age, no article before jobs, word order in questions. Students copy the Watch out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SPOT THE ERROR (5 min). VARIATION: student as teacher. Pairs correct, click 1 for answers. Then each chef writes ONE wrong sentence about the team for the partner to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ROLE-PLAY (12 min). 1) Read once. 2) Swap roles, book closed, real names and real kitchens. 3) Change the rule: B must ask ONE extra follow-up question (Really? How long…? Is it hot on the grill?). VARIATION: perspective change (new person vs boss) + unexpected follow-ups.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LEXICON (6 min). VARIATION: change the energy — get them standing. Teacher mimes (carry a hot pan, walk behind them with a 'knife' = a pen, come round a corner); students shout the call. Then swap: they mime, the teacher shouts. Click 1 shows the Italian. We use these calls in every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Students choose a face for each can-do. Homework: the L1 homework sheet (attach it in the portal).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GAME (8 min) if there is time, or next lesson as a filler. Practises be questions and short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(8 min). VARIATION: constraint challenge (only Wh- questions). Teacher chooses a famous chef (e.g. Gordon Ramsay, Massimo Bottura) — students guess who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B3F0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0403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182880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ENGLISH · Lesson 1 of 10</a:t>
            </a:r>
            <a:endParaRPr lang="en-US" sz="120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5120640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WELCOME TO THE KITCHEN</a:t>
            </a:r>
            <a:endParaRPr lang="en-US" sz="220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3332988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the kitchen team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3717036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the verb be + questions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2948940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your first day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to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C9B3F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knif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the boss in your kitchen?</a:t>
            </a:r>
            <a:endParaRPr lang="en-US" sz="140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head chef is…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Warm-up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-120000">
            <a:off x="320040" y="676656"/>
            <a:ext cx="397764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truths and a lie</a:t>
            </a:r>
            <a:endParaRPr lang="en-US" sz="1500" dirty="0"/>
          </a:p>
        </p:txBody>
      </p:sp>
      <p:sp>
        <p:nvSpPr>
          <p:cNvPr id="9" name="post_2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2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3 things about you. One is a lie!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Di' 3 cose su di te. Una è una bugia!</a:t>
            </a:r>
            <a:endParaRPr lang="en-US" sz="1250" dirty="0"/>
          </a:p>
        </p:txBody>
      </p:sp>
      <p:sp>
        <p:nvSpPr>
          <p:cNvPr id="12" name="iconBack_2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8" descr="ques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29"/>
          <p:cNvSpPr txBox="1"/>
          <p:nvPr/>
        </p:nvSpPr>
        <p:spPr>
          <a:xfrm>
            <a:off x="2788920" y="1482471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30"/>
          <p:cNvSpPr txBox="1"/>
          <p:nvPr/>
        </p:nvSpPr>
        <p:spPr>
          <a:xfrm>
            <a:off x="3264408" y="137160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short sentences about you and your job. Two are true. One is a lie.</a:t>
            </a:r>
            <a:endParaRPr lang="en-US" sz="1300" dirty="0"/>
          </a:p>
        </p:txBody>
      </p:sp>
      <p:sp>
        <p:nvSpPr>
          <p:cNvPr id="16" name="num_31"/>
          <p:cNvSpPr txBox="1"/>
          <p:nvPr/>
        </p:nvSpPr>
        <p:spPr>
          <a:xfrm>
            <a:off x="2788920" y="2179701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32"/>
          <p:cNvSpPr txBox="1"/>
          <p:nvPr/>
        </p:nvSpPr>
        <p:spPr>
          <a:xfrm>
            <a:off x="3264408" y="206883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them to your partner.</a:t>
            </a:r>
            <a:endParaRPr lang="en-US" sz="1300" dirty="0"/>
          </a:p>
        </p:txBody>
      </p:sp>
      <p:sp>
        <p:nvSpPr>
          <p:cNvPr id="18" name="num_33"/>
          <p:cNvSpPr txBox="1"/>
          <p:nvPr/>
        </p:nvSpPr>
        <p:spPr>
          <a:xfrm>
            <a:off x="2788920" y="2876931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34"/>
          <p:cNvSpPr txBox="1"/>
          <p:nvPr/>
        </p:nvSpPr>
        <p:spPr>
          <a:xfrm>
            <a:off x="3264408" y="276606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asks 2 questions: Are you really…? Where is…? Is it…?</a:t>
            </a:r>
            <a:endParaRPr lang="en-US" sz="1300" dirty="0"/>
          </a:p>
        </p:txBody>
      </p:sp>
      <p:sp>
        <p:nvSpPr>
          <p:cNvPr id="20" name="num_35"/>
          <p:cNvSpPr txBox="1"/>
          <p:nvPr/>
        </p:nvSpPr>
        <p:spPr>
          <a:xfrm>
            <a:off x="2788920" y="3574161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36"/>
          <p:cNvSpPr txBox="1"/>
          <p:nvPr/>
        </p:nvSpPr>
        <p:spPr>
          <a:xfrm>
            <a:off x="3264408" y="346329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lie! Then swap.</a:t>
            </a:r>
            <a:endParaRPr lang="en-US" sz="1300" dirty="0"/>
          </a:p>
        </p:txBody>
      </p:sp>
      <p:sp>
        <p:nvSpPr>
          <p:cNvPr id="22" name="bubble_37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from Palermo. · I'm a pastry chef. · My restaurant is open on Mondays.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3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4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The kitchen team</a:t>
            </a:r>
            <a:endParaRPr lang="en-US" sz="900" dirty="0"/>
          </a:p>
        </p:txBody>
      </p:sp>
      <p:sp>
        <p:nvSpPr>
          <p:cNvPr id="6" name="timer_4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4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8" name="title_43"/>
          <p:cNvSpPr txBox="1"/>
          <p:nvPr/>
        </p:nvSpPr>
        <p:spPr>
          <a:xfrm rot="-120000">
            <a:off x="320040" y="676656"/>
            <a:ext cx="484632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Who's who in the kitchen?</a:t>
            </a:r>
            <a:endParaRPr lang="en-US" sz="1500" dirty="0"/>
          </a:p>
        </p:txBody>
      </p:sp>
      <p:sp>
        <p:nvSpPr>
          <p:cNvPr id="9" name="post_4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4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4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jobs to the descriptions.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Abbina i lavori alle descrizioni.</a:t>
            </a:r>
            <a:endParaRPr lang="en-US" sz="1250" dirty="0"/>
          </a:p>
        </p:txBody>
      </p:sp>
      <p:sp>
        <p:nvSpPr>
          <p:cNvPr id="12" name="iconBack_47"/>
          <p:cNvSpPr/>
          <p:nvPr/>
        </p:nvSpPr>
        <p:spPr>
          <a:xfrm>
            <a:off x="2788920" y="1371600"/>
            <a:ext cx="410174" cy="41017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3" name="icon_48" descr="to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955" y="1453635"/>
            <a:ext cx="246104" cy="246104"/>
          </a:xfrm>
          <a:prstGeom prst="rect">
            <a:avLst/>
          </a:prstGeom>
        </p:spPr>
      </p:pic>
      <p:sp>
        <p:nvSpPr>
          <p:cNvPr id="14" name="box_49"/>
          <p:cNvSpPr txBox="1"/>
          <p:nvPr/>
        </p:nvSpPr>
        <p:spPr>
          <a:xfrm>
            <a:off x="3253958" y="1371600"/>
            <a:ext cx="2914585" cy="41017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the boss – he / she writes the menu</a:t>
            </a:r>
            <a:endParaRPr lang="en-US" sz="1200" dirty="0"/>
          </a:p>
        </p:txBody>
      </p:sp>
      <p:sp>
        <p:nvSpPr>
          <p:cNvPr id="15" name="R1_m0"/>
          <p:cNvSpPr txBox="1"/>
          <p:nvPr/>
        </p:nvSpPr>
        <p:spPr>
          <a:xfrm>
            <a:off x="6241694" y="1389888"/>
            <a:ext cx="2582266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chef – capo chef</a:t>
            </a:r>
            <a:endParaRPr lang="en-US" sz="1150" dirty="0"/>
          </a:p>
        </p:txBody>
      </p:sp>
      <p:sp>
        <p:nvSpPr>
          <p:cNvPr id="16" name="iconBack_50"/>
          <p:cNvSpPr/>
          <p:nvPr/>
        </p:nvSpPr>
        <p:spPr>
          <a:xfrm>
            <a:off x="2788920" y="1854926"/>
            <a:ext cx="410174" cy="41017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7" name="icon_51" descr="clipbo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955" y="1936960"/>
            <a:ext cx="246104" cy="246104"/>
          </a:xfrm>
          <a:prstGeom prst="rect">
            <a:avLst/>
          </a:prstGeom>
        </p:spPr>
      </p:pic>
      <p:sp>
        <p:nvSpPr>
          <p:cNvPr id="18" name="box_52"/>
          <p:cNvSpPr txBox="1"/>
          <p:nvPr/>
        </p:nvSpPr>
        <p:spPr>
          <a:xfrm>
            <a:off x="3253958" y="1854926"/>
            <a:ext cx="2914585" cy="410174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the second in charge – helps the boss</a:t>
            </a:r>
            <a:endParaRPr lang="en-US" sz="1100" dirty="0"/>
          </a:p>
        </p:txBody>
      </p:sp>
      <p:sp>
        <p:nvSpPr>
          <p:cNvPr id="19" name="R1_m1"/>
          <p:cNvSpPr txBox="1"/>
          <p:nvPr/>
        </p:nvSpPr>
        <p:spPr>
          <a:xfrm>
            <a:off x="6241694" y="1873214"/>
            <a:ext cx="2582266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chef – vice capo</a:t>
            </a:r>
            <a:endParaRPr lang="en-US" sz="1150" dirty="0"/>
          </a:p>
        </p:txBody>
      </p:sp>
      <p:sp>
        <p:nvSpPr>
          <p:cNvPr id="20" name="iconBack_53"/>
          <p:cNvSpPr/>
          <p:nvPr/>
        </p:nvSpPr>
        <p:spPr>
          <a:xfrm>
            <a:off x="2788920" y="2338251"/>
            <a:ext cx="410174" cy="41017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1" name="icon_54" descr="p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0955" y="2420286"/>
            <a:ext cx="246104" cy="246104"/>
          </a:xfrm>
          <a:prstGeom prst="rect">
            <a:avLst/>
          </a:prstGeom>
        </p:spPr>
      </p:pic>
      <p:sp>
        <p:nvSpPr>
          <p:cNvPr id="22" name="box_55"/>
          <p:cNvSpPr txBox="1"/>
          <p:nvPr/>
        </p:nvSpPr>
        <p:spPr>
          <a:xfrm>
            <a:off x="3253958" y="2338251"/>
            <a:ext cx="2914585" cy="410174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responsible for one section, e.g. sauces</a:t>
            </a:r>
            <a:endParaRPr lang="en-US" sz="1100" dirty="0"/>
          </a:p>
        </p:txBody>
      </p:sp>
      <p:sp>
        <p:nvSpPr>
          <p:cNvPr id="23" name="R1_m2"/>
          <p:cNvSpPr txBox="1"/>
          <p:nvPr/>
        </p:nvSpPr>
        <p:spPr>
          <a:xfrm>
            <a:off x="6241694" y="2356539"/>
            <a:ext cx="2582266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partie – capo partita</a:t>
            </a:r>
            <a:endParaRPr lang="en-US" sz="1150" dirty="0"/>
          </a:p>
        </p:txBody>
      </p:sp>
      <p:sp>
        <p:nvSpPr>
          <p:cNvPr id="24" name="iconBack_56"/>
          <p:cNvSpPr/>
          <p:nvPr/>
        </p:nvSpPr>
        <p:spPr>
          <a:xfrm>
            <a:off x="2788920" y="2821577"/>
            <a:ext cx="410174" cy="41017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5" name="icon_57" descr="knif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0955" y="2903612"/>
            <a:ext cx="246104" cy="246104"/>
          </a:xfrm>
          <a:prstGeom prst="rect">
            <a:avLst/>
          </a:prstGeom>
        </p:spPr>
      </p:pic>
      <p:sp>
        <p:nvSpPr>
          <p:cNvPr id="26" name="box_58"/>
          <p:cNvSpPr txBox="1"/>
          <p:nvPr/>
        </p:nvSpPr>
        <p:spPr>
          <a:xfrm>
            <a:off x="3253958" y="2821577"/>
            <a:ext cx="2914585" cy="410174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 junior chef – still learning</a:t>
            </a:r>
            <a:endParaRPr lang="en-US" sz="1250" dirty="0"/>
          </a:p>
        </p:txBody>
      </p:sp>
      <p:sp>
        <p:nvSpPr>
          <p:cNvPr id="27" name="R1_m3"/>
          <p:cNvSpPr txBox="1"/>
          <p:nvPr/>
        </p:nvSpPr>
        <p:spPr>
          <a:xfrm>
            <a:off x="6241694" y="2839865"/>
            <a:ext cx="2582266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 chef – aiuto cuoco</a:t>
            </a:r>
            <a:endParaRPr lang="en-US" sz="1150" dirty="0"/>
          </a:p>
        </p:txBody>
      </p:sp>
      <p:sp>
        <p:nvSpPr>
          <p:cNvPr id="28" name="iconBack_59"/>
          <p:cNvSpPr/>
          <p:nvPr/>
        </p:nvSpPr>
        <p:spPr>
          <a:xfrm>
            <a:off x="2788920" y="3304903"/>
            <a:ext cx="410174" cy="41017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9" name="icon_60" descr="cak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955" y="3386938"/>
            <a:ext cx="246104" cy="246104"/>
          </a:xfrm>
          <a:prstGeom prst="rect">
            <a:avLst/>
          </a:prstGeom>
        </p:spPr>
      </p:pic>
      <p:sp>
        <p:nvSpPr>
          <p:cNvPr id="30" name="box_61"/>
          <p:cNvSpPr txBox="1"/>
          <p:nvPr/>
        </p:nvSpPr>
        <p:spPr>
          <a:xfrm>
            <a:off x="3253958" y="3304903"/>
            <a:ext cx="2914585" cy="410174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makes desserts, bread and cakes</a:t>
            </a:r>
            <a:endParaRPr lang="en-US" sz="1250" dirty="0"/>
          </a:p>
        </p:txBody>
      </p:sp>
      <p:sp>
        <p:nvSpPr>
          <p:cNvPr id="31" name="R1_m4"/>
          <p:cNvSpPr txBox="1"/>
          <p:nvPr/>
        </p:nvSpPr>
        <p:spPr>
          <a:xfrm>
            <a:off x="6241694" y="3323191"/>
            <a:ext cx="2582266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pastry chef – pasticciere</a:t>
            </a:r>
            <a:endParaRPr lang="en-US" sz="1150" dirty="0"/>
          </a:p>
        </p:txBody>
      </p:sp>
      <p:sp>
        <p:nvSpPr>
          <p:cNvPr id="32" name="iconBack_62"/>
          <p:cNvSpPr/>
          <p:nvPr/>
        </p:nvSpPr>
        <p:spPr>
          <a:xfrm>
            <a:off x="2788920" y="3788229"/>
            <a:ext cx="410174" cy="41017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3" name="icon_63" descr="broom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0955" y="3870263"/>
            <a:ext cx="246104" cy="246104"/>
          </a:xfrm>
          <a:prstGeom prst="rect">
            <a:avLst/>
          </a:prstGeom>
        </p:spPr>
      </p:pic>
      <p:sp>
        <p:nvSpPr>
          <p:cNvPr id="34" name="box_64"/>
          <p:cNvSpPr txBox="1"/>
          <p:nvPr/>
        </p:nvSpPr>
        <p:spPr>
          <a:xfrm>
            <a:off x="3253958" y="3788229"/>
            <a:ext cx="2914585" cy="410174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washes the pots and cleans</a:t>
            </a:r>
            <a:endParaRPr lang="en-US" sz="1250" dirty="0"/>
          </a:p>
        </p:txBody>
      </p:sp>
      <p:sp>
        <p:nvSpPr>
          <p:cNvPr id="35" name="R1_m5"/>
          <p:cNvSpPr txBox="1"/>
          <p:nvPr/>
        </p:nvSpPr>
        <p:spPr>
          <a:xfrm>
            <a:off x="6241694" y="3806517"/>
            <a:ext cx="2582266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porter (KP) – lavapiatti</a:t>
            </a:r>
            <a:endParaRPr lang="en-US" sz="1150" dirty="0"/>
          </a:p>
        </p:txBody>
      </p:sp>
      <p:sp>
        <p:nvSpPr>
          <p:cNvPr id="36" name="iconBack_65"/>
          <p:cNvSpPr/>
          <p:nvPr/>
        </p:nvSpPr>
        <p:spPr>
          <a:xfrm>
            <a:off x="2788920" y="4271554"/>
            <a:ext cx="410174" cy="41017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7" name="icon_66" descr="bel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0955" y="4353589"/>
            <a:ext cx="246104" cy="246104"/>
          </a:xfrm>
          <a:prstGeom prst="rect">
            <a:avLst/>
          </a:prstGeom>
        </p:spPr>
      </p:pic>
      <p:sp>
        <p:nvSpPr>
          <p:cNvPr id="38" name="box_67"/>
          <p:cNvSpPr txBox="1"/>
          <p:nvPr/>
        </p:nvSpPr>
        <p:spPr>
          <a:xfrm>
            <a:off x="3253958" y="4271554"/>
            <a:ext cx="2914585" cy="41017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takes the food to the customers</a:t>
            </a:r>
            <a:endParaRPr lang="en-US" sz="1250" dirty="0"/>
          </a:p>
        </p:txBody>
      </p:sp>
      <p:sp>
        <p:nvSpPr>
          <p:cNvPr id="39" name="R1_m6"/>
          <p:cNvSpPr txBox="1"/>
          <p:nvPr/>
        </p:nvSpPr>
        <p:spPr>
          <a:xfrm>
            <a:off x="6241694" y="4289842"/>
            <a:ext cx="2582266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/ waitress – cameriere/a</a:t>
            </a:r>
            <a:endParaRPr lang="en-US" sz="1150" dirty="0"/>
          </a:p>
        </p:txBody>
      </p:sp>
      <p:sp>
        <p:nvSpPr>
          <p:cNvPr id="40" name="sticky_68"/>
          <p:cNvSpPr txBox="1"/>
          <p:nvPr/>
        </p:nvSpPr>
        <p:spPr>
          <a:xfrm rot="-120000">
            <a:off x="365760" y="3794760"/>
            <a:ext cx="2286000" cy="91440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partie  ·  commis chef  ·  head chef  ·  kitchen porter (KP)  ·  pastry chef  ·  sous chef  ·  waiter / waitress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6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7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7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Opinions</a:t>
            </a:r>
            <a:endParaRPr lang="en-US" sz="900" dirty="0"/>
          </a:p>
        </p:txBody>
      </p:sp>
      <p:sp>
        <p:nvSpPr>
          <p:cNvPr id="6" name="timer_7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7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8" name="title_74"/>
          <p:cNvSpPr txBox="1"/>
          <p:nvPr/>
        </p:nvSpPr>
        <p:spPr>
          <a:xfrm rot="-120000">
            <a:off x="320040" y="676656"/>
            <a:ext cx="588873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hardest job in the kitchen?</a:t>
            </a:r>
            <a:endParaRPr lang="en-US" sz="1500" dirty="0"/>
          </a:p>
        </p:txBody>
      </p:sp>
      <p:sp>
        <p:nvSpPr>
          <p:cNvPr id="9" name="post_7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7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7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an order. Explain your top and bottom!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Mettetevi d'accordo. Spiegate il primo e l'ultimo!</a:t>
            </a:r>
            <a:endParaRPr lang="en-US" sz="1250" dirty="0"/>
          </a:p>
        </p:txBody>
      </p:sp>
      <p:sp>
        <p:nvSpPr>
          <p:cNvPr id="12" name="rt_78"/>
          <p:cNvSpPr txBox="1"/>
          <p:nvPr/>
        </p:nvSpPr>
        <p:spPr>
          <a:xfrm>
            <a:off x="2788920" y="1325880"/>
            <a:ext cx="1828800" cy="365760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HARDEST</a:t>
            </a:r>
            <a:endParaRPr lang="en-US" sz="1100" dirty="0"/>
          </a:p>
        </p:txBody>
      </p:sp>
      <p:sp>
        <p:nvSpPr>
          <p:cNvPr id="13" name="rb_79"/>
          <p:cNvSpPr txBox="1"/>
          <p:nvPr/>
        </p:nvSpPr>
        <p:spPr>
          <a:xfrm>
            <a:off x="2788920" y="4297680"/>
            <a:ext cx="1828800" cy="365760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EASIEST</a:t>
            </a:r>
            <a:endParaRPr lang="en-US" sz="1100" dirty="0"/>
          </a:p>
        </p:txBody>
      </p:sp>
      <p:sp>
        <p:nvSpPr>
          <p:cNvPr id="14" name="arrow_80"/>
          <p:cNvSpPr/>
          <p:nvPr/>
        </p:nvSpPr>
        <p:spPr>
          <a:xfrm>
            <a:off x="3474720" y="1783080"/>
            <a:ext cx="457200" cy="2423160"/>
          </a:xfrm>
          <a:prstGeom prst="upArrow">
            <a:avLst/>
          </a:prstGeom>
          <a:solidFill>
            <a:srgbClr val="C9B3F0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5" name="slot_81"/>
          <p:cNvSpPr txBox="1"/>
          <p:nvPr/>
        </p:nvSpPr>
        <p:spPr>
          <a:xfrm>
            <a:off x="4800600" y="1325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16" name="ri_82" descr="head che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60170"/>
            <a:ext cx="411480" cy="411480"/>
          </a:xfrm>
          <a:prstGeom prst="rect">
            <a:avLst/>
          </a:prstGeom>
        </p:spPr>
      </p:pic>
      <p:sp>
        <p:nvSpPr>
          <p:cNvPr id="17" name="box_83"/>
          <p:cNvSpPr txBox="1"/>
          <p:nvPr/>
        </p:nvSpPr>
        <p:spPr>
          <a:xfrm>
            <a:off x="5788152" y="1325880"/>
            <a:ext cx="3035808" cy="4800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chef</a:t>
            </a:r>
            <a:endParaRPr lang="en-US" sz="1300" dirty="0"/>
          </a:p>
        </p:txBody>
      </p:sp>
      <p:sp>
        <p:nvSpPr>
          <p:cNvPr id="18" name="slot_84"/>
          <p:cNvSpPr txBox="1"/>
          <p:nvPr/>
        </p:nvSpPr>
        <p:spPr>
          <a:xfrm>
            <a:off x="4800600" y="1897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19" name="ri_85" descr="sous che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931670"/>
            <a:ext cx="411480" cy="411480"/>
          </a:xfrm>
          <a:prstGeom prst="rect">
            <a:avLst/>
          </a:prstGeom>
        </p:spPr>
      </p:pic>
      <p:sp>
        <p:nvSpPr>
          <p:cNvPr id="20" name="box_86"/>
          <p:cNvSpPr txBox="1"/>
          <p:nvPr/>
        </p:nvSpPr>
        <p:spPr>
          <a:xfrm>
            <a:off x="5788152" y="1897380"/>
            <a:ext cx="3035808" cy="4800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chef</a:t>
            </a:r>
            <a:endParaRPr lang="en-US" sz="1300" dirty="0"/>
          </a:p>
        </p:txBody>
      </p:sp>
      <p:sp>
        <p:nvSpPr>
          <p:cNvPr id="21" name="slot_87"/>
          <p:cNvSpPr txBox="1"/>
          <p:nvPr/>
        </p:nvSpPr>
        <p:spPr>
          <a:xfrm>
            <a:off x="4800600" y="2468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2" name="ri_88" descr="pastry che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503170"/>
            <a:ext cx="411480" cy="411480"/>
          </a:xfrm>
          <a:prstGeom prst="rect">
            <a:avLst/>
          </a:prstGeom>
        </p:spPr>
      </p:pic>
      <p:sp>
        <p:nvSpPr>
          <p:cNvPr id="23" name="box_89"/>
          <p:cNvSpPr txBox="1"/>
          <p:nvPr/>
        </p:nvSpPr>
        <p:spPr>
          <a:xfrm>
            <a:off x="5788152" y="2468880"/>
            <a:ext cx="3035808" cy="4800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pastry chef</a:t>
            </a:r>
            <a:endParaRPr lang="en-US" sz="1300" dirty="0"/>
          </a:p>
        </p:txBody>
      </p:sp>
      <p:sp>
        <p:nvSpPr>
          <p:cNvPr id="24" name="slot_90"/>
          <p:cNvSpPr txBox="1"/>
          <p:nvPr/>
        </p:nvSpPr>
        <p:spPr>
          <a:xfrm>
            <a:off x="4800600" y="3040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5" name="ri_91" descr="commis chef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074670"/>
            <a:ext cx="411480" cy="411480"/>
          </a:xfrm>
          <a:prstGeom prst="rect">
            <a:avLst/>
          </a:prstGeom>
        </p:spPr>
      </p:pic>
      <p:sp>
        <p:nvSpPr>
          <p:cNvPr id="26" name="box_92"/>
          <p:cNvSpPr txBox="1"/>
          <p:nvPr/>
        </p:nvSpPr>
        <p:spPr>
          <a:xfrm>
            <a:off x="5788152" y="3040380"/>
            <a:ext cx="3035808" cy="4800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 chef</a:t>
            </a:r>
            <a:endParaRPr lang="en-US" sz="1300" dirty="0"/>
          </a:p>
        </p:txBody>
      </p:sp>
      <p:sp>
        <p:nvSpPr>
          <p:cNvPr id="27" name="slot_93"/>
          <p:cNvSpPr txBox="1"/>
          <p:nvPr/>
        </p:nvSpPr>
        <p:spPr>
          <a:xfrm>
            <a:off x="4800600" y="3611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8" name="ri_94" descr="kitchen port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646170"/>
            <a:ext cx="411480" cy="411480"/>
          </a:xfrm>
          <a:prstGeom prst="rect">
            <a:avLst/>
          </a:prstGeom>
        </p:spPr>
      </p:pic>
      <p:sp>
        <p:nvSpPr>
          <p:cNvPr id="29" name="box_95"/>
          <p:cNvSpPr txBox="1"/>
          <p:nvPr/>
        </p:nvSpPr>
        <p:spPr>
          <a:xfrm>
            <a:off x="5788152" y="3611880"/>
            <a:ext cx="3035808" cy="4800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porter</a:t>
            </a:r>
            <a:endParaRPr lang="en-US" sz="1300" dirty="0"/>
          </a:p>
        </p:txBody>
      </p:sp>
      <p:sp>
        <p:nvSpPr>
          <p:cNvPr id="30" name="slot_96"/>
          <p:cNvSpPr txBox="1"/>
          <p:nvPr/>
        </p:nvSpPr>
        <p:spPr>
          <a:xfrm>
            <a:off x="4800600" y="4183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31" name="ri_97" descr="waiter / waitres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4217670"/>
            <a:ext cx="411480" cy="411480"/>
          </a:xfrm>
          <a:prstGeom prst="rect">
            <a:avLst/>
          </a:prstGeom>
        </p:spPr>
      </p:pic>
      <p:sp>
        <p:nvSpPr>
          <p:cNvPr id="32" name="box_98"/>
          <p:cNvSpPr txBox="1"/>
          <p:nvPr/>
        </p:nvSpPr>
        <p:spPr>
          <a:xfrm>
            <a:off x="5788152" y="4183380"/>
            <a:ext cx="3035808" cy="4800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/ waitress</a:t>
            </a:r>
            <a:endParaRPr lang="en-US" sz="1300" dirty="0"/>
          </a:p>
        </p:txBody>
      </p:sp>
      <p:sp>
        <p:nvSpPr>
          <p:cNvPr id="33" name="R1_ans"/>
          <p:cNvSpPr txBox="1"/>
          <p:nvPr/>
        </p:nvSpPr>
        <p:spPr>
          <a:xfrm rot="-120000">
            <a:off x="411480" y="3886200"/>
            <a:ext cx="2240280" cy="77724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Click: NEW RULE! ✗ difficult  ✓ stressful · tiring · hot · boring · hard work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9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0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0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The verb be</a:t>
            </a:r>
            <a:endParaRPr lang="en-US" sz="900" dirty="0"/>
          </a:p>
        </p:txBody>
      </p:sp>
      <p:sp>
        <p:nvSpPr>
          <p:cNvPr id="6" name="timer_10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0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8" name="title_104"/>
          <p:cNvSpPr txBox="1"/>
          <p:nvPr/>
        </p:nvSpPr>
        <p:spPr>
          <a:xfrm rot="-120000">
            <a:off x="320040" y="676656"/>
            <a:ext cx="241401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verb be</a:t>
            </a:r>
            <a:endParaRPr lang="en-US" sz="1500" dirty="0"/>
          </a:p>
        </p:txBody>
      </p:sp>
      <p:sp>
        <p:nvSpPr>
          <p:cNvPr id="9" name="rh_105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300" dirty="0"/>
          </a:p>
        </p:txBody>
      </p:sp>
      <p:sp>
        <p:nvSpPr>
          <p:cNvPr id="10" name="rb_106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chef.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He's the head chef.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She's from Naples.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 team.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waiters.</a:t>
            </a:r>
            <a:endParaRPr lang="en-US" sz="1350" dirty="0"/>
          </a:p>
        </p:txBody>
      </p:sp>
      <p:sp>
        <p:nvSpPr>
          <p:cNvPr id="11" name="rh_107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</a:t>
            </a:r>
            <a:endParaRPr lang="en-US" sz="1300" dirty="0"/>
          </a:p>
        </p:txBody>
      </p:sp>
      <p:sp>
        <p:nvSpPr>
          <p:cNvPr id="12" name="rb_108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the boss.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isn't here today.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aren't ready.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sono / non è / non siamo</a:t>
            </a:r>
            <a:endParaRPr lang="en-US" sz="1350" dirty="0"/>
          </a:p>
        </p:txBody>
      </p:sp>
      <p:sp>
        <p:nvSpPr>
          <p:cNvPr id="13" name="rh_109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300" dirty="0"/>
          </a:p>
        </p:txBody>
      </p:sp>
      <p:sp>
        <p:nvSpPr>
          <p:cNvPr id="14" name="rb_110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the sous chef?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she new?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Where's the KP?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am. / No, she isn't.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(not: Yes, I'm.)</a:t>
            </a:r>
            <a:endParaRPr lang="en-US" sz="1350" dirty="0"/>
          </a:p>
        </p:txBody>
      </p:sp>
      <p:sp>
        <p:nvSpPr>
          <p:cNvPr id="15" name="watch_111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 have 35 years → ✓ I'm 35.     ✗ He is chef → ✓ He's a chef.     ✗ Where you are from? → ✓ Where are you from?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1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1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1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Be the teacher</a:t>
            </a:r>
            <a:endParaRPr lang="en-US" sz="900" dirty="0"/>
          </a:p>
        </p:txBody>
      </p:sp>
      <p:sp>
        <p:nvSpPr>
          <p:cNvPr id="6" name="timer_11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1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8" name="title_117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 the mistake!</a:t>
            </a:r>
            <a:endParaRPr lang="en-US" sz="1500" dirty="0"/>
          </a:p>
        </p:txBody>
      </p:sp>
      <p:sp>
        <p:nvSpPr>
          <p:cNvPr id="9" name="post_11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1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12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mistake in each sentence. Correct it!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errore in ogni frase. Correggilo!</a:t>
            </a:r>
            <a:endParaRPr lang="en-US" sz="1250" dirty="0"/>
          </a:p>
        </p:txBody>
      </p:sp>
      <p:sp>
        <p:nvSpPr>
          <p:cNvPr id="12" name="box_121"/>
          <p:cNvSpPr txBox="1"/>
          <p:nvPr/>
        </p:nvSpPr>
        <p:spPr>
          <a:xfrm>
            <a:off x="2788920" y="1371600"/>
            <a:ext cx="1535826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He is chef.</a:t>
            </a:r>
            <a:endParaRPr lang="en-US" sz="1350" dirty="0"/>
          </a:p>
        </p:txBody>
      </p:sp>
      <p:sp>
        <p:nvSpPr>
          <p:cNvPr id="13" name="R1_a0"/>
          <p:cNvSpPr txBox="1"/>
          <p:nvPr/>
        </p:nvSpPr>
        <p:spPr>
          <a:xfrm>
            <a:off x="4379610" y="1408176"/>
            <a:ext cx="136282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He's a chef.</a:t>
            </a:r>
            <a:endParaRPr lang="en-US" sz="1200" dirty="0"/>
          </a:p>
        </p:txBody>
      </p:sp>
      <p:sp>
        <p:nvSpPr>
          <p:cNvPr id="14" name="box_122"/>
          <p:cNvSpPr txBox="1"/>
          <p:nvPr/>
        </p:nvSpPr>
        <p:spPr>
          <a:xfrm>
            <a:off x="5870448" y="1371600"/>
            <a:ext cx="1535826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 have 35 years.</a:t>
            </a:r>
            <a:endParaRPr lang="en-US" sz="1350" dirty="0"/>
          </a:p>
        </p:txBody>
      </p:sp>
      <p:sp>
        <p:nvSpPr>
          <p:cNvPr id="15" name="R1_a1"/>
          <p:cNvSpPr txBox="1"/>
          <p:nvPr/>
        </p:nvSpPr>
        <p:spPr>
          <a:xfrm>
            <a:off x="7461138" y="1408176"/>
            <a:ext cx="136282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35.</a:t>
            </a:r>
            <a:endParaRPr lang="en-US" sz="1200" dirty="0"/>
          </a:p>
        </p:txBody>
      </p:sp>
      <p:sp>
        <p:nvSpPr>
          <p:cNvPr id="16" name="box_123"/>
          <p:cNvSpPr txBox="1"/>
          <p:nvPr/>
        </p:nvSpPr>
        <p:spPr>
          <a:xfrm>
            <a:off x="2788920" y="2368296"/>
            <a:ext cx="1535826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Where you are from?</a:t>
            </a:r>
            <a:endParaRPr lang="en-US" sz="1350" dirty="0"/>
          </a:p>
        </p:txBody>
      </p:sp>
      <p:sp>
        <p:nvSpPr>
          <p:cNvPr id="17" name="R1_a2"/>
          <p:cNvSpPr txBox="1"/>
          <p:nvPr/>
        </p:nvSpPr>
        <p:spPr>
          <a:xfrm>
            <a:off x="4379610" y="2404872"/>
            <a:ext cx="136282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from?</a:t>
            </a:r>
            <a:endParaRPr lang="en-US" sz="1200" dirty="0"/>
          </a:p>
        </p:txBody>
      </p:sp>
      <p:sp>
        <p:nvSpPr>
          <p:cNvPr id="18" name="box_124"/>
          <p:cNvSpPr txBox="1"/>
          <p:nvPr/>
        </p:nvSpPr>
        <p:spPr>
          <a:xfrm>
            <a:off x="5870448" y="2368296"/>
            <a:ext cx="1535826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They is in the kitchen.</a:t>
            </a:r>
            <a:endParaRPr lang="en-US" sz="1350" dirty="0"/>
          </a:p>
        </p:txBody>
      </p:sp>
      <p:sp>
        <p:nvSpPr>
          <p:cNvPr id="19" name="R1_a3"/>
          <p:cNvSpPr txBox="1"/>
          <p:nvPr/>
        </p:nvSpPr>
        <p:spPr>
          <a:xfrm>
            <a:off x="7461138" y="2404872"/>
            <a:ext cx="136282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in the kitchen.</a:t>
            </a:r>
            <a:endParaRPr lang="en-US" sz="1200" dirty="0"/>
          </a:p>
        </p:txBody>
      </p:sp>
      <p:sp>
        <p:nvSpPr>
          <p:cNvPr id="20" name="box_125"/>
          <p:cNvSpPr txBox="1"/>
          <p:nvPr/>
        </p:nvSpPr>
        <p:spPr>
          <a:xfrm>
            <a:off x="2788920" y="3364992"/>
            <a:ext cx="1535826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Are you new? – Yes, I'm.</a:t>
            </a:r>
            <a:endParaRPr lang="en-US" sz="1350" dirty="0"/>
          </a:p>
        </p:txBody>
      </p:sp>
      <p:sp>
        <p:nvSpPr>
          <p:cNvPr id="21" name="R1_a4"/>
          <p:cNvSpPr txBox="1"/>
          <p:nvPr/>
        </p:nvSpPr>
        <p:spPr>
          <a:xfrm>
            <a:off x="4379610" y="3401568"/>
            <a:ext cx="136282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am.</a:t>
            </a:r>
            <a:endParaRPr lang="en-US" sz="1200" dirty="0"/>
          </a:p>
        </p:txBody>
      </p:sp>
      <p:sp>
        <p:nvSpPr>
          <p:cNvPr id="22" name="box_126"/>
          <p:cNvSpPr txBox="1"/>
          <p:nvPr/>
        </p:nvSpPr>
        <p:spPr>
          <a:xfrm>
            <a:off x="5870448" y="3364992"/>
            <a:ext cx="1535826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My colleagues is from Bagheria.</a:t>
            </a:r>
            <a:endParaRPr lang="en-US" sz="1350" dirty="0"/>
          </a:p>
        </p:txBody>
      </p:sp>
      <p:sp>
        <p:nvSpPr>
          <p:cNvPr id="23" name="R1_a5"/>
          <p:cNvSpPr txBox="1"/>
          <p:nvPr/>
        </p:nvSpPr>
        <p:spPr>
          <a:xfrm>
            <a:off x="7461138" y="3401568"/>
            <a:ext cx="136282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colleagues are from…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2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2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2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Role-play</a:t>
            </a:r>
            <a:endParaRPr lang="en-US" sz="900" dirty="0"/>
          </a:p>
        </p:txBody>
      </p:sp>
      <p:sp>
        <p:nvSpPr>
          <p:cNvPr id="6" name="timer_13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12 min</a:t>
            </a:r>
            <a:endParaRPr lang="en-US" sz="1200" dirty="0"/>
          </a:p>
        </p:txBody>
      </p:sp>
      <p:sp>
        <p:nvSpPr>
          <p:cNvPr id="7" name="footer_13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8" name="title_132"/>
          <p:cNvSpPr txBox="1"/>
          <p:nvPr/>
        </p:nvSpPr>
        <p:spPr>
          <a:xfrm rot="-120000">
            <a:off x="320040" y="676656"/>
            <a:ext cx="293522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first day</a:t>
            </a:r>
            <a:endParaRPr lang="en-US" sz="1500" dirty="0"/>
          </a:p>
        </p:txBody>
      </p:sp>
      <p:sp>
        <p:nvSpPr>
          <p:cNvPr id="9" name="post_13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3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13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new. B is the sous chef. Then swap!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è nuovo. B è il sous chef. Poi scambiatevi!</a:t>
            </a:r>
            <a:endParaRPr lang="en-US" sz="1250" dirty="0"/>
          </a:p>
        </p:txBody>
      </p:sp>
      <p:sp>
        <p:nvSpPr>
          <p:cNvPr id="12" name="line_136"/>
          <p:cNvSpPr txBox="1"/>
          <p:nvPr/>
        </p:nvSpPr>
        <p:spPr>
          <a:xfrm>
            <a:off x="2788920" y="137160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Are you the new commis chef?</a:t>
            </a:r>
            <a:endParaRPr lang="en-US" sz="1250" dirty="0"/>
          </a:p>
        </p:txBody>
      </p:sp>
      <p:sp>
        <p:nvSpPr>
          <p:cNvPr id="13" name="line_137"/>
          <p:cNvSpPr txBox="1"/>
          <p:nvPr/>
        </p:nvSpPr>
        <p:spPr>
          <a:xfrm>
            <a:off x="3108960" y="193548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am. I'm… Nice to meet you.</a:t>
            </a:r>
            <a:endParaRPr lang="en-US" sz="1250" dirty="0"/>
          </a:p>
        </p:txBody>
      </p:sp>
      <p:sp>
        <p:nvSpPr>
          <p:cNvPr id="14" name="line_138"/>
          <p:cNvSpPr txBox="1"/>
          <p:nvPr/>
        </p:nvSpPr>
        <p:spPr>
          <a:xfrm>
            <a:off x="2788920" y="249936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 too. I'm…, the sous chef. Where are you from?</a:t>
            </a:r>
            <a:endParaRPr lang="en-US" sz="950" dirty="0"/>
          </a:p>
        </p:txBody>
      </p:sp>
      <p:sp>
        <p:nvSpPr>
          <p:cNvPr id="15" name="line_139"/>
          <p:cNvSpPr txBox="1"/>
          <p:nvPr/>
        </p:nvSpPr>
        <p:spPr>
          <a:xfrm>
            <a:off x="3108960" y="306324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from… Where's the changing room?</a:t>
            </a:r>
            <a:endParaRPr lang="en-US" sz="1250" dirty="0"/>
          </a:p>
        </p:txBody>
      </p:sp>
      <p:sp>
        <p:nvSpPr>
          <p:cNvPr id="16" name="line_140"/>
          <p:cNvSpPr txBox="1"/>
          <p:nvPr/>
        </p:nvSpPr>
        <p:spPr>
          <a:xfrm>
            <a:off x="2788920" y="362712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next to the office. Your section is the grill.</a:t>
            </a:r>
            <a:endParaRPr lang="en-US" sz="1250" dirty="0"/>
          </a:p>
        </p:txBody>
      </p:sp>
      <p:sp>
        <p:nvSpPr>
          <p:cNvPr id="17" name="line_141"/>
          <p:cNvSpPr txBox="1"/>
          <p:nvPr/>
        </p:nvSpPr>
        <p:spPr>
          <a:xfrm>
            <a:off x="3108960" y="419100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OK. What time is service?</a:t>
            </a:r>
            <a:endParaRPr lang="en-US" sz="1250" dirty="0"/>
          </a:p>
        </p:txBody>
      </p:sp>
      <p:sp>
        <p:nvSpPr>
          <p:cNvPr id="18" name="phrases_142"/>
          <p:cNvSpPr txBox="1"/>
          <p:nvPr/>
        </p:nvSpPr>
        <p:spPr>
          <a:xfrm rot="90000">
            <a:off x="6858000" y="1371600"/>
            <a:ext cx="1965960" cy="3310128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phrases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Where's / Where are…?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is…?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the…?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Sorry, can you repeat that?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spell that?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4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4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4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LEXICON · Kitchen calls</a:t>
            </a:r>
            <a:endParaRPr lang="en-US" sz="900" dirty="0"/>
          </a:p>
        </p:txBody>
      </p:sp>
      <p:sp>
        <p:nvSpPr>
          <p:cNvPr id="6" name="timer_14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4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8" name="title_148"/>
          <p:cNvSpPr txBox="1"/>
          <p:nvPr/>
        </p:nvSpPr>
        <p:spPr>
          <a:xfrm rot="-120000">
            <a:off x="320040" y="676656"/>
            <a:ext cx="206654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Shout it!</a:t>
            </a:r>
            <a:endParaRPr lang="en-US" sz="1500" dirty="0"/>
          </a:p>
        </p:txBody>
      </p:sp>
      <p:sp>
        <p:nvSpPr>
          <p:cNvPr id="9" name="post_14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5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15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acts it out. You shout the call – fast!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L'insegnante mima. Tu gridi la parola – veloce!</a:t>
            </a:r>
            <a:endParaRPr lang="en-US" sz="1250" dirty="0"/>
          </a:p>
        </p:txBody>
      </p:sp>
      <p:sp>
        <p:nvSpPr>
          <p:cNvPr id="12" name="tile_152"/>
          <p:cNvSpPr/>
          <p:nvPr/>
        </p:nvSpPr>
        <p:spPr>
          <a:xfrm>
            <a:off x="2788920" y="137160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3" name="ti_153" descr="Yes, Chef!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072" y="1568196"/>
            <a:ext cx="566928" cy="566928"/>
          </a:xfrm>
          <a:prstGeom prst="rect">
            <a:avLst/>
          </a:prstGeom>
        </p:spPr>
      </p:pic>
      <p:sp>
        <p:nvSpPr>
          <p:cNvPr id="14" name="tw_154"/>
          <p:cNvSpPr txBox="1"/>
          <p:nvPr/>
        </p:nvSpPr>
        <p:spPr>
          <a:xfrm>
            <a:off x="3447288" y="1417320"/>
            <a:ext cx="12435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Chef!</a:t>
            </a:r>
            <a:endParaRPr lang="en-US" sz="1300" dirty="0"/>
          </a:p>
        </p:txBody>
      </p:sp>
      <p:sp>
        <p:nvSpPr>
          <p:cNvPr id="15" name="R1_it0"/>
          <p:cNvSpPr txBox="1"/>
          <p:nvPr/>
        </p:nvSpPr>
        <p:spPr>
          <a:xfrm>
            <a:off x="3447288" y="1943100"/>
            <a:ext cx="124358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Sì, Chef!</a:t>
            </a:r>
            <a:endParaRPr lang="en-US" sz="1150" dirty="0"/>
          </a:p>
        </p:txBody>
      </p:sp>
      <p:sp>
        <p:nvSpPr>
          <p:cNvPr id="16" name="tile_155"/>
          <p:cNvSpPr/>
          <p:nvPr/>
        </p:nvSpPr>
        <p:spPr>
          <a:xfrm>
            <a:off x="4837176" y="137160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7" name="ti_156" descr="Heard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568196"/>
            <a:ext cx="566928" cy="566928"/>
          </a:xfrm>
          <a:prstGeom prst="rect">
            <a:avLst/>
          </a:prstGeom>
        </p:spPr>
      </p:pic>
      <p:sp>
        <p:nvSpPr>
          <p:cNvPr id="18" name="tw_157"/>
          <p:cNvSpPr txBox="1"/>
          <p:nvPr/>
        </p:nvSpPr>
        <p:spPr>
          <a:xfrm>
            <a:off x="5495544" y="1417320"/>
            <a:ext cx="12435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Heard!</a:t>
            </a:r>
            <a:endParaRPr lang="en-US" sz="1300" dirty="0"/>
          </a:p>
        </p:txBody>
      </p:sp>
      <p:sp>
        <p:nvSpPr>
          <p:cNvPr id="19" name="R1_it1"/>
          <p:cNvSpPr txBox="1"/>
          <p:nvPr/>
        </p:nvSpPr>
        <p:spPr>
          <a:xfrm>
            <a:off x="5495544" y="1943100"/>
            <a:ext cx="124358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Ricevuto!</a:t>
            </a:r>
            <a:endParaRPr lang="en-US" sz="1150" dirty="0"/>
          </a:p>
        </p:txBody>
      </p:sp>
      <p:sp>
        <p:nvSpPr>
          <p:cNvPr id="20" name="tile_158"/>
          <p:cNvSpPr/>
          <p:nvPr/>
        </p:nvSpPr>
        <p:spPr>
          <a:xfrm>
            <a:off x="6885432" y="137160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1" name="ti_159" descr="Hot!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584" y="1568196"/>
            <a:ext cx="566928" cy="566928"/>
          </a:xfrm>
          <a:prstGeom prst="rect">
            <a:avLst/>
          </a:prstGeom>
        </p:spPr>
      </p:pic>
      <p:sp>
        <p:nvSpPr>
          <p:cNvPr id="22" name="tw_160"/>
          <p:cNvSpPr txBox="1"/>
          <p:nvPr/>
        </p:nvSpPr>
        <p:spPr>
          <a:xfrm>
            <a:off x="7543800" y="1417320"/>
            <a:ext cx="12435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Hot!</a:t>
            </a:r>
            <a:endParaRPr lang="en-US" sz="1300" dirty="0"/>
          </a:p>
        </p:txBody>
      </p:sp>
      <p:sp>
        <p:nvSpPr>
          <p:cNvPr id="23" name="R1_it2"/>
          <p:cNvSpPr txBox="1"/>
          <p:nvPr/>
        </p:nvSpPr>
        <p:spPr>
          <a:xfrm>
            <a:off x="7543800" y="1943100"/>
            <a:ext cx="124358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Caldo! Attenzione!</a:t>
            </a:r>
            <a:endParaRPr lang="en-US" sz="1150" dirty="0"/>
          </a:p>
        </p:txBody>
      </p:sp>
      <p:sp>
        <p:nvSpPr>
          <p:cNvPr id="24" name="tile_161"/>
          <p:cNvSpPr/>
          <p:nvPr/>
        </p:nvSpPr>
        <p:spPr>
          <a:xfrm>
            <a:off x="2788920" y="2624328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5" name="ti_162" descr="Sharp! / Knife!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820924"/>
            <a:ext cx="566928" cy="566928"/>
          </a:xfrm>
          <a:prstGeom prst="rect">
            <a:avLst/>
          </a:prstGeom>
        </p:spPr>
      </p:pic>
      <p:sp>
        <p:nvSpPr>
          <p:cNvPr id="26" name="tw_163"/>
          <p:cNvSpPr txBox="1"/>
          <p:nvPr/>
        </p:nvSpPr>
        <p:spPr>
          <a:xfrm>
            <a:off x="3447288" y="2670048"/>
            <a:ext cx="12435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Sharp! / Knife!</a:t>
            </a:r>
            <a:endParaRPr lang="en-US" sz="1300" dirty="0"/>
          </a:p>
        </p:txBody>
      </p:sp>
      <p:sp>
        <p:nvSpPr>
          <p:cNvPr id="27" name="R1_it3"/>
          <p:cNvSpPr txBox="1"/>
          <p:nvPr/>
        </p:nvSpPr>
        <p:spPr>
          <a:xfrm>
            <a:off x="3447288" y="3195828"/>
            <a:ext cx="124358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Coltello! (lo sto portando)</a:t>
            </a:r>
            <a:endParaRPr lang="en-US" sz="1150" dirty="0"/>
          </a:p>
        </p:txBody>
      </p:sp>
      <p:sp>
        <p:nvSpPr>
          <p:cNvPr id="28" name="tile_164"/>
          <p:cNvSpPr/>
          <p:nvPr/>
        </p:nvSpPr>
        <p:spPr>
          <a:xfrm>
            <a:off x="4837176" y="2624328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9" name="ti_165" descr="Behind!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820924"/>
            <a:ext cx="566928" cy="566928"/>
          </a:xfrm>
          <a:prstGeom prst="rect">
            <a:avLst/>
          </a:prstGeom>
        </p:spPr>
      </p:pic>
      <p:sp>
        <p:nvSpPr>
          <p:cNvPr id="30" name="tw_166"/>
          <p:cNvSpPr txBox="1"/>
          <p:nvPr/>
        </p:nvSpPr>
        <p:spPr>
          <a:xfrm>
            <a:off x="5495544" y="2670048"/>
            <a:ext cx="12435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Behind!</a:t>
            </a:r>
            <a:endParaRPr lang="en-US" sz="1300" dirty="0"/>
          </a:p>
        </p:txBody>
      </p:sp>
      <p:sp>
        <p:nvSpPr>
          <p:cNvPr id="31" name="R1_it4"/>
          <p:cNvSpPr txBox="1"/>
          <p:nvPr/>
        </p:nvSpPr>
        <p:spPr>
          <a:xfrm>
            <a:off x="5495544" y="3195828"/>
            <a:ext cx="124358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Dietro di te!</a:t>
            </a:r>
            <a:endParaRPr lang="en-US" sz="1150" dirty="0"/>
          </a:p>
        </p:txBody>
      </p:sp>
      <p:sp>
        <p:nvSpPr>
          <p:cNvPr id="32" name="tile_167"/>
          <p:cNvSpPr/>
          <p:nvPr/>
        </p:nvSpPr>
        <p:spPr>
          <a:xfrm>
            <a:off x="6885432" y="2624328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3" name="ti_168" descr="Corner!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8584" y="2820924"/>
            <a:ext cx="566928" cy="566928"/>
          </a:xfrm>
          <a:prstGeom prst="rect">
            <a:avLst/>
          </a:prstGeom>
        </p:spPr>
      </p:pic>
      <p:sp>
        <p:nvSpPr>
          <p:cNvPr id="34" name="tw_169"/>
          <p:cNvSpPr txBox="1"/>
          <p:nvPr/>
        </p:nvSpPr>
        <p:spPr>
          <a:xfrm>
            <a:off x="7543800" y="2670048"/>
            <a:ext cx="12435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Corner!</a:t>
            </a:r>
            <a:endParaRPr lang="en-US" sz="1300" dirty="0"/>
          </a:p>
        </p:txBody>
      </p:sp>
      <p:sp>
        <p:nvSpPr>
          <p:cNvPr id="35" name="R1_it5"/>
          <p:cNvSpPr txBox="1"/>
          <p:nvPr/>
        </p:nvSpPr>
        <p:spPr>
          <a:xfrm>
            <a:off x="7543800" y="3195828"/>
            <a:ext cx="124358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Angolo!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7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7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17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6" name="title_173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sub_174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8" name="box_175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name the jobs in a kitchen team.</a:t>
            </a:r>
            <a:endParaRPr lang="en-US" sz="1350" dirty="0"/>
          </a:p>
        </p:txBody>
      </p:sp>
      <p:sp>
        <p:nvSpPr>
          <p:cNvPr id="9" name="faces_176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0" name="box_177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the verb be: I'm / he isn't / Are you…?</a:t>
            </a:r>
            <a:endParaRPr lang="en-US" sz="1350" dirty="0"/>
          </a:p>
        </p:txBody>
      </p:sp>
      <p:sp>
        <p:nvSpPr>
          <p:cNvPr id="11" name="faces_178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179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introduce myself on my first day.</a:t>
            </a:r>
            <a:endParaRPr lang="en-US" sz="1350" dirty="0"/>
          </a:p>
        </p:txBody>
      </p:sp>
      <p:sp>
        <p:nvSpPr>
          <p:cNvPr id="13" name="faces_180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hw_181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6 sentences about your kitchen team. Marco is our head chef. He's from…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 can attach the homework sheet in the portal.</a:t>
            </a:r>
            <a:endParaRPr lang="en-US" sz="1250" dirty="0"/>
          </a:p>
        </p:txBody>
      </p:sp>
      <p:sp>
        <p:nvSpPr>
          <p:cNvPr id="15" name="stamp_182"/>
          <p:cNvSpPr txBox="1"/>
          <p:nvPr/>
        </p:nvSpPr>
        <p:spPr>
          <a:xfrm>
            <a:off x="365760" y="3657600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L2 · Kitchen equipment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8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8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yes / no questions</a:t>
            </a:r>
            <a:endParaRPr lang="en-US" sz="900" dirty="0"/>
          </a:p>
        </p:txBody>
      </p:sp>
      <p:sp>
        <p:nvSpPr>
          <p:cNvPr id="6" name="timer_18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187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18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9" name="title_189"/>
          <p:cNvSpPr txBox="1"/>
          <p:nvPr/>
        </p:nvSpPr>
        <p:spPr>
          <a:xfrm rot="-120000">
            <a:off x="320040" y="676656"/>
            <a:ext cx="206654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am I?</a:t>
            </a:r>
            <a:endParaRPr lang="en-US" sz="1500" dirty="0"/>
          </a:p>
        </p:txBody>
      </p:sp>
      <p:sp>
        <p:nvSpPr>
          <p:cNvPr id="10" name="post_19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19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2" name="signB_19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secret kitchen job. Your partner asks questions.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 un lavoro segreto. Il collega fa domande.</a:t>
            </a:r>
            <a:endParaRPr lang="en-US" sz="1250" dirty="0"/>
          </a:p>
        </p:txBody>
      </p:sp>
      <p:sp>
        <p:nvSpPr>
          <p:cNvPr id="13" name="iconBack_193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94" descr="ques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195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196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secret job: head chef, KP, pastry chef, waiter…</a:t>
            </a:r>
            <a:endParaRPr lang="en-US" sz="1300" dirty="0"/>
          </a:p>
        </p:txBody>
      </p:sp>
      <p:sp>
        <p:nvSpPr>
          <p:cNvPr id="17" name="num_197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198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asks yes / no questions: Are you the boss? Is your job hot?</a:t>
            </a:r>
            <a:endParaRPr lang="en-US" sz="1300" dirty="0"/>
          </a:p>
        </p:txBody>
      </p:sp>
      <p:sp>
        <p:nvSpPr>
          <p:cNvPr id="19" name="num_199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200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only: Yes, I am. / No, I'm not. / Yes, it is. / No, it isn't.</a:t>
            </a:r>
            <a:endParaRPr lang="en-US" sz="1300" dirty="0"/>
          </a:p>
        </p:txBody>
      </p:sp>
      <p:sp>
        <p:nvSpPr>
          <p:cNvPr id="21" name="num_201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202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in 8 questions or fewer = 1 point. Swap!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0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0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questions with be</a:t>
            </a:r>
            <a:endParaRPr lang="en-US" sz="900" dirty="0"/>
          </a:p>
        </p:txBody>
      </p:sp>
      <p:sp>
        <p:nvSpPr>
          <p:cNvPr id="6" name="timer_20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207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0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9" name="title_209"/>
          <p:cNvSpPr txBox="1"/>
          <p:nvPr/>
        </p:nvSpPr>
        <p:spPr>
          <a:xfrm rot="-120000">
            <a:off x="320040" y="676656"/>
            <a:ext cx="502005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Interview a celebrity chef</a:t>
            </a:r>
            <a:endParaRPr lang="en-US" sz="1500" dirty="0"/>
          </a:p>
        </p:txBody>
      </p:sp>
      <p:sp>
        <p:nvSpPr>
          <p:cNvPr id="10" name="post_21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1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21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is a famous chef. Ask! No yes / no questions allowed!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L'insegnante è uno chef famoso. Niente domande sì / no!</a:t>
            </a:r>
            <a:endParaRPr lang="en-US" sz="1200" dirty="0"/>
          </a:p>
        </p:txBody>
      </p:sp>
      <p:sp>
        <p:nvSpPr>
          <p:cNvPr id="13" name="box_213"/>
          <p:cNvSpPr txBox="1"/>
          <p:nvPr/>
        </p:nvSpPr>
        <p:spPr>
          <a:xfrm>
            <a:off x="2788920" y="1371600"/>
            <a:ext cx="2953512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Where…from?</a:t>
            </a:r>
            <a:endParaRPr lang="en-US" sz="1350" dirty="0"/>
          </a:p>
        </p:txBody>
      </p:sp>
      <p:sp>
        <p:nvSpPr>
          <p:cNvPr id="14" name="box_214"/>
          <p:cNvSpPr txBox="1"/>
          <p:nvPr/>
        </p:nvSpPr>
        <p:spPr>
          <a:xfrm>
            <a:off x="5870448" y="1371600"/>
            <a:ext cx="2953512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How old…?</a:t>
            </a:r>
            <a:endParaRPr lang="en-US" sz="1350" dirty="0"/>
          </a:p>
        </p:txBody>
      </p:sp>
      <p:sp>
        <p:nvSpPr>
          <p:cNvPr id="15" name="box_215"/>
          <p:cNvSpPr txBox="1"/>
          <p:nvPr/>
        </p:nvSpPr>
        <p:spPr>
          <a:xfrm>
            <a:off x="2788920" y="2368296"/>
            <a:ext cx="2953512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What…favourite dish?</a:t>
            </a:r>
            <a:endParaRPr lang="en-US" sz="1350" dirty="0"/>
          </a:p>
        </p:txBody>
      </p:sp>
      <p:sp>
        <p:nvSpPr>
          <p:cNvPr id="16" name="box_216"/>
          <p:cNvSpPr txBox="1"/>
          <p:nvPr/>
        </p:nvSpPr>
        <p:spPr>
          <a:xfrm>
            <a:off x="5870448" y="2368296"/>
            <a:ext cx="2953512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Where…restaurant?</a:t>
            </a:r>
            <a:endParaRPr lang="en-US" sz="1350" dirty="0"/>
          </a:p>
        </p:txBody>
      </p:sp>
      <p:sp>
        <p:nvSpPr>
          <p:cNvPr id="17" name="box_217"/>
          <p:cNvSpPr txBox="1"/>
          <p:nvPr/>
        </p:nvSpPr>
        <p:spPr>
          <a:xfrm>
            <a:off x="2788920" y="3364992"/>
            <a:ext cx="2953512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Who…your hero?</a:t>
            </a:r>
            <a:endParaRPr lang="en-US" sz="1350" dirty="0"/>
          </a:p>
        </p:txBody>
      </p:sp>
      <p:sp>
        <p:nvSpPr>
          <p:cNvPr id="18" name="box_218"/>
          <p:cNvSpPr txBox="1"/>
          <p:nvPr/>
        </p:nvSpPr>
        <p:spPr>
          <a:xfrm>
            <a:off x="5870448" y="3364992"/>
            <a:ext cx="2953512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What…worst thing about the job?</a:t>
            </a:r>
            <a:endParaRPr lang="en-US" sz="135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Kitchen English L1 Welcome to the kitchen</dc:title>
  <dc:subject>PptxGenJS Presentation</dc:subject>
  <dc:creator>London Language School</dc:creator>
  <cp:lastModifiedBy>London Language School</cp:lastModifiedBy>
  <cp:revision>1</cp:revision>
  <dcterms:created xsi:type="dcterms:W3CDTF">2026-10-04T20:37:08Z</dcterms:created>
  <dcterms:modified xsi:type="dcterms:W3CDTF">2026-10-04T20:37:08Z</dcterms:modified>
</cp:coreProperties>
</file>